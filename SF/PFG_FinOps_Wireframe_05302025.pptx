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40"/>
  </p:notesMasterIdLst>
  <p:sldIdLst>
    <p:sldId id="2147483636" r:id="rId5"/>
    <p:sldId id="260" r:id="rId6"/>
    <p:sldId id="257" r:id="rId7"/>
    <p:sldId id="258" r:id="rId8"/>
    <p:sldId id="2147483646" r:id="rId9"/>
    <p:sldId id="256" r:id="rId10"/>
    <p:sldId id="274" r:id="rId11"/>
    <p:sldId id="2147483647" r:id="rId12"/>
    <p:sldId id="263" r:id="rId13"/>
    <p:sldId id="264" r:id="rId14"/>
    <p:sldId id="265" r:id="rId15"/>
    <p:sldId id="275" r:id="rId16"/>
    <p:sldId id="276" r:id="rId17"/>
    <p:sldId id="280" r:id="rId18"/>
    <p:sldId id="281" r:id="rId19"/>
    <p:sldId id="266" r:id="rId20"/>
    <p:sldId id="277" r:id="rId21"/>
    <p:sldId id="269" r:id="rId22"/>
    <p:sldId id="267" r:id="rId23"/>
    <p:sldId id="261" r:id="rId24"/>
    <p:sldId id="268" r:id="rId25"/>
    <p:sldId id="282" r:id="rId26"/>
    <p:sldId id="278" r:id="rId27"/>
    <p:sldId id="283" r:id="rId28"/>
    <p:sldId id="279" r:id="rId29"/>
    <p:sldId id="284" r:id="rId30"/>
    <p:sldId id="286" r:id="rId31"/>
    <p:sldId id="287" r:id="rId32"/>
    <p:sldId id="262" r:id="rId33"/>
    <p:sldId id="270" r:id="rId34"/>
    <p:sldId id="271" r:id="rId35"/>
    <p:sldId id="259" r:id="rId36"/>
    <p:sldId id="285" r:id="rId37"/>
    <p:sldId id="272" r:id="rId38"/>
    <p:sldId id="273"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D40B2D8-86BA-47D4-932A-49579D22499A}">
          <p14:sldIdLst>
            <p14:sldId id="2147483636"/>
            <p14:sldId id="260"/>
            <p14:sldId id="257"/>
            <p14:sldId id="258"/>
            <p14:sldId id="2147483646"/>
            <p14:sldId id="256"/>
            <p14:sldId id="274"/>
            <p14:sldId id="2147483647"/>
            <p14:sldId id="263"/>
            <p14:sldId id="264"/>
            <p14:sldId id="265"/>
            <p14:sldId id="275"/>
            <p14:sldId id="276"/>
            <p14:sldId id="280"/>
            <p14:sldId id="281"/>
            <p14:sldId id="266"/>
            <p14:sldId id="277"/>
            <p14:sldId id="269"/>
            <p14:sldId id="267"/>
            <p14:sldId id="261"/>
            <p14:sldId id="268"/>
            <p14:sldId id="282"/>
            <p14:sldId id="278"/>
            <p14:sldId id="283"/>
            <p14:sldId id="279"/>
            <p14:sldId id="284"/>
            <p14:sldId id="286"/>
            <p14:sldId id="287"/>
            <p14:sldId id="262"/>
            <p14:sldId id="270"/>
            <p14:sldId id="271"/>
            <p14:sldId id="259"/>
            <p14:sldId id="285"/>
            <p14:sldId id="272"/>
            <p14:sldId id="27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06E4CC0-98CC-9779-FF31-5EAB3FE30740}" name="Srinivasan, Hariharan" initials="HS" userId="S::hsrinivasan@deloitte.com::255ce1d2-57bf-433a-ae7b-48cf26471b8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8DCD"/>
    <a:srgbClr val="0076CF"/>
    <a:srgbClr val="2894FF"/>
    <a:srgbClr val="F0F0F0"/>
    <a:srgbClr val="0072B3"/>
    <a:srgbClr val="E7E8E9"/>
    <a:srgbClr val="CBCD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4CA1D9-02D2-43AF-A0CE-EB8E170BEEFD}" v="1" dt="2025-06-16T15:45:02.8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39" autoAdjust="0"/>
    <p:restoredTop sz="94660"/>
  </p:normalViewPr>
  <p:slideViewPr>
    <p:cSldViewPr snapToGrid="0">
      <p:cViewPr varScale="1">
        <p:scale>
          <a:sx n="75" d="100"/>
          <a:sy n="75" d="100"/>
        </p:scale>
        <p:origin x="1013" y="43"/>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8/10/relationships/authors" Target="authors.xml"/><Relationship Id="rId20" Type="http://schemas.openxmlformats.org/officeDocument/2006/relationships/slide" Target="slides/slide16.xml"/><Relationship Id="rId41"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7458E7-BAF7-406A-9E6F-597A392E6992}" type="datetimeFigureOut">
              <a:rPr lang="en-US" smtClean="0"/>
              <a:t>9/5/2025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CBA512-3885-4DCC-AA4B-68F9B4E82E79}" type="slidenum">
              <a:rPr lang="en-US" smtClean="0"/>
              <a:t>‹#›</a:t>
            </a:fld>
            <a:endParaRPr lang="en-US"/>
          </a:p>
        </p:txBody>
      </p:sp>
    </p:spTree>
    <p:extLst>
      <p:ext uri="{BB962C8B-B14F-4D97-AF65-F5344CB8AC3E}">
        <p14:creationId xmlns:p14="http://schemas.microsoft.com/office/powerpoint/2010/main" val="2432247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18209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B9065-E3AB-A333-E786-B2E3B67AAA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03EED-813F-3328-7086-8385B270CC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031D3A-C38F-4801-F409-3590A59FBC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994C399-15AB-4771-E413-85139CB9422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966219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B9065-E3AB-A333-E786-B2E3B67AAA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03EED-813F-3328-7086-8385B270CC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031D3A-C38F-4801-F409-3590A59FBC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994C399-15AB-4771-E413-85139CB9422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893276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B9065-E3AB-A333-E786-B2E3B67AAA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03EED-813F-3328-7086-8385B270CC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031D3A-C38F-4801-F409-3590A59FBC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994C399-15AB-4771-E413-85139CB9422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211397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6822D-5C2C-4C48-C8DC-51A48DFCB4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0FF0C4-B404-31CD-24DD-D3007BA418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3CCAED-A72B-338F-9A8C-D6C476B208E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251725D-3EE4-B980-1A8E-E2303242DD3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624068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6822D-5C2C-4C48-C8DC-51A48DFCB4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0FF0C4-B404-31CD-24DD-D3007BA418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3CCAED-A72B-338F-9A8C-D6C476B208E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251725D-3EE4-B980-1A8E-E2303242DD3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200216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782C6-82EF-9D31-B3F8-EB1BDFA961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9BEE6A-CBD0-B4FD-3793-3D1D671C06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B95885-348F-13CA-25B1-CC2EEF3E2FD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37A3D23-4417-05DA-102D-882A0622CF4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675685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6822D-5C2C-4C48-C8DC-51A48DFCB4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0FF0C4-B404-31CD-24DD-D3007BA418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3CCAED-A72B-338F-9A8C-D6C476B208E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251725D-3EE4-B980-1A8E-E2303242DD3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004841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782C6-82EF-9D31-B3F8-EB1BDFA961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9BEE6A-CBD0-B4FD-3793-3D1D671C06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B95885-348F-13CA-25B1-CC2EEF3E2FD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37A3D23-4417-05DA-102D-882A0622CF4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682469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DA37B-82F1-E806-0A47-6FC85872B6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656A21-0B49-2B0A-ED83-1936EA05F6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B20953-EB31-5D5C-2E56-78EDC1D02A0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AD77A87-5CDF-B3D8-73CE-94113003E81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707219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17D7A-BDD9-CEFE-4DEF-D9FD67312C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E8176D-0E37-36EB-912F-D7AD8EAB83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BE0700-2CF3-DA51-4DB1-0EE192F9BBE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0718A9A-A6C6-7AC1-BD7F-DEC68C0BB61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6563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DA37B-82F1-E806-0A47-6FC85872B6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656A21-0B49-2B0A-ED83-1936EA05F6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B20953-EB31-5D5C-2E56-78EDC1D02A0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AD77A87-5CDF-B3D8-73CE-94113003E81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71254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17D7A-BDD9-CEFE-4DEF-D9FD67312C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E8176D-0E37-36EB-912F-D7AD8EAB83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BE0700-2CF3-DA51-4DB1-0EE192F9BBE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0718A9A-A6C6-7AC1-BD7F-DEC68C0BB61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277712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4FDF5-3C63-7B7D-47FA-6153EF8953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A72335-42B8-ADBC-7FB9-2AFA9C4C02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EF0388-344F-531C-1BC7-32E00A1DC98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1A96533-DFCB-6B99-A69B-C3EB1DA65D6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414135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C95B0-90FC-D596-81D7-6C75315186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884143-8DD5-F928-22A4-82444AA315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4BF59F-BF6A-7439-3CD5-E6CEB93C1A2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EB4C20E-5C99-6B6A-1289-DEA3E2E9DA2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889009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8535E-FD3B-A5BE-8E33-DE91DF30DF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0217B8-02C3-A973-A987-0A6197D35A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128D55-F308-F589-860F-1717BD5830C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7FF9300-2E3B-23B2-F338-15CF0AAFF50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136350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E5424-1EB9-4FD0-6F91-3BEDD8DD56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5643A9-9BCC-4FC8-524A-A51ED2390C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CD16D6-E3B4-561B-ABD5-548A33872B8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427A51B-1D5D-C5A5-E644-537A207E8AA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8380090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4FDF5-3C63-7B7D-47FA-6153EF8953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A72335-42B8-ADBC-7FB9-2AFA9C4C02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EF0388-344F-531C-1BC7-32E00A1DC98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1A96533-DFCB-6B99-A69B-C3EB1DA65D6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11738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C95B0-90FC-D596-81D7-6C75315186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884143-8DD5-F928-22A4-82444AA315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4BF59F-BF6A-7439-3CD5-E6CEB93C1A2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EB4C20E-5C99-6B6A-1289-DEA3E2E9DA2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114219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782C6-82EF-9D31-B3F8-EB1BDFA961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9BEE6A-CBD0-B4FD-3793-3D1D671C06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B95885-348F-13CA-25B1-CC2EEF3E2FD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37A3D23-4417-05DA-102D-882A0622CF4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530276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4FDF5-3C63-7B7D-47FA-6153EF8953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A72335-42B8-ADBC-7FB9-2AFA9C4C02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EF0388-344F-531C-1BC7-32E00A1DC98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1A96533-DFCB-6B99-A69B-C3EB1DA65D6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107277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C95B0-90FC-D596-81D7-6C75315186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884143-8DD5-F928-22A4-82444AA315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4BF59F-BF6A-7439-3CD5-E6CEB93C1A2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EB4C20E-5C99-6B6A-1289-DEA3E2E9DA2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081068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4FDF5-3C63-7B7D-47FA-6153EF8953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A72335-42B8-ADBC-7FB9-2AFA9C4C02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EF0388-344F-531C-1BC7-32E00A1DC98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1A96533-DFCB-6B99-A69B-C3EB1DA65D6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065964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C95B0-90FC-D596-81D7-6C75315186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884143-8DD5-F928-22A4-82444AA315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4BF59F-BF6A-7439-3CD5-E6CEB93C1A2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EB4C20E-5C99-6B6A-1289-DEA3E2E9DA2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176682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4FDF5-3C63-7B7D-47FA-6153EF8953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A72335-42B8-ADBC-7FB9-2AFA9C4C02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EF0388-344F-531C-1BC7-32E00A1DC98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1A96533-DFCB-6B99-A69B-C3EB1DA65D6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494067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C95B0-90FC-D596-81D7-6C75315186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884143-8DD5-F928-22A4-82444AA315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4BF59F-BF6A-7439-3CD5-E6CEB93C1A2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EB4C20E-5C99-6B6A-1289-DEA3E2E9DA2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90098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4FDF5-3C63-7B7D-47FA-6153EF8953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A72335-42B8-ADBC-7FB9-2AFA9C4C02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EF0388-344F-531C-1BC7-32E00A1DC98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1A96533-DFCB-6B99-A69B-C3EB1DA65D6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567422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C95B0-90FC-D596-81D7-6C75315186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884143-8DD5-F928-22A4-82444AA315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4BF59F-BF6A-7439-3CD5-E6CEB93C1A2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EB4C20E-5C99-6B6A-1289-DEA3E2E9DA2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65752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782C6-82EF-9D31-B3F8-EB1BDFA961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9BEE6A-CBD0-B4FD-3793-3D1D671C06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B95885-348F-13CA-25B1-CC2EEF3E2FD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37A3D23-4417-05DA-102D-882A0622CF4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342089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250EE-B956-F713-09F3-F2BAF1E1B5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E8C6E9-B417-62A5-1551-EECBE3197C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6BA1C4-E695-F9AB-812E-698A491F522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DB0B8F6-0A30-C2FE-D8FA-B5A0E1C39F7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985496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3DFC4A-1469-972F-E42D-18588570B6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09C1F6-52D8-FB0F-9019-03F2C6D274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8620BD-02D7-BF88-0789-55701EC03E4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DF4A651-D0DB-7243-99FF-B38748DB76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07296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782C6-82EF-9D31-B3F8-EB1BDFA961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9BEE6A-CBD0-B4FD-3793-3D1D671C06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B95885-348F-13CA-25B1-CC2EEF3E2FD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37A3D23-4417-05DA-102D-882A0622CF4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03860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4FDF5-3C63-7B7D-47FA-6153EF8953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A72335-42B8-ADBC-7FB9-2AFA9C4C02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EF0388-344F-531C-1BC7-32E00A1DC98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1A96533-DFCB-6B99-A69B-C3EB1DA65D6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425617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6822D-5C2C-4C48-C8DC-51A48DFCB4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0FF0C4-B404-31CD-24DD-D3007BA418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3CCAED-A72B-338F-9A8C-D6C476B208E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251725D-3EE4-B980-1A8E-E2303242DD3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6019930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B002232-2BA3-C349-AFD1-802FA144F459}"/>
              </a:ext>
            </a:extLst>
          </p:cNvPr>
          <p:cNvSpPr/>
          <p:nvPr userDrawn="1"/>
        </p:nvSpPr>
        <p:spPr>
          <a:xfrm>
            <a:off x="0" y="0"/>
            <a:ext cx="12192000" cy="6858000"/>
          </a:xfrm>
          <a:prstGeom prst="rect">
            <a:avLst/>
          </a:prstGeom>
          <a:gradFill flip="none" rotWithShape="1">
            <a:gsLst>
              <a:gs pos="25000">
                <a:schemeClr val="tx2"/>
              </a:gs>
              <a:gs pos="98000">
                <a:srgbClr val="0091DA"/>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Graphic 16">
            <a:extLst>
              <a:ext uri="{FF2B5EF4-FFF2-40B4-BE49-F238E27FC236}">
                <a16:creationId xmlns:a16="http://schemas.microsoft.com/office/drawing/2014/main" id="{8C19767B-59C7-9542-B619-00C2DC51AE4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60952" y="499218"/>
            <a:ext cx="1600200" cy="459632"/>
          </a:xfrm>
          <a:prstGeom prst="rect">
            <a:avLst/>
          </a:prstGeom>
        </p:spPr>
      </p:pic>
      <p:sp>
        <p:nvSpPr>
          <p:cNvPr id="13" name="Title 9">
            <a:extLst>
              <a:ext uri="{FF2B5EF4-FFF2-40B4-BE49-F238E27FC236}">
                <a16:creationId xmlns:a16="http://schemas.microsoft.com/office/drawing/2014/main" id="{A0F55347-793E-994F-A860-388685180F6F}"/>
              </a:ext>
            </a:extLst>
          </p:cNvPr>
          <p:cNvSpPr>
            <a:spLocks noGrp="1"/>
          </p:cNvSpPr>
          <p:nvPr>
            <p:ph type="title"/>
          </p:nvPr>
        </p:nvSpPr>
        <p:spPr>
          <a:xfrm>
            <a:off x="577701" y="3679825"/>
            <a:ext cx="10972800" cy="457200"/>
          </a:xfrm>
        </p:spPr>
        <p:txBody>
          <a:bodyPr/>
          <a:lstStyle>
            <a:lvl1pPr marL="0" algn="l" defTabSz="914400" rtl="0" eaLnBrk="1" latinLnBrk="0" hangingPunct="1">
              <a:lnSpc>
                <a:spcPct val="100000"/>
              </a:lnSpc>
              <a:spcBef>
                <a:spcPct val="0"/>
              </a:spcBef>
              <a:buNone/>
              <a:defRPr lang="en-US" sz="6000" b="0" i="0" kern="1200" dirty="0">
                <a:solidFill>
                  <a:schemeClr val="bg1"/>
                </a:solidFill>
                <a:latin typeface="FS Elliot Pro Light" panose="02000503040000020004" pitchFamily="2" charset="0"/>
                <a:ea typeface="+mj-ea"/>
                <a:cs typeface="+mj-cs"/>
              </a:defRPr>
            </a:lvl1pPr>
          </a:lstStyle>
          <a:p>
            <a:r>
              <a:rPr lang="en-US"/>
              <a:t>Click to edit Master title style</a:t>
            </a:r>
          </a:p>
        </p:txBody>
      </p:sp>
      <p:sp>
        <p:nvSpPr>
          <p:cNvPr id="22" name="Text Placeholder 20">
            <a:extLst>
              <a:ext uri="{FF2B5EF4-FFF2-40B4-BE49-F238E27FC236}">
                <a16:creationId xmlns:a16="http://schemas.microsoft.com/office/drawing/2014/main" id="{F056900D-AB2D-D945-A21C-3529479F4457}"/>
              </a:ext>
            </a:extLst>
          </p:cNvPr>
          <p:cNvSpPr>
            <a:spLocks noGrp="1"/>
          </p:cNvSpPr>
          <p:nvPr>
            <p:ph type="body" sz="quarter" idx="10" hasCustomPrompt="1"/>
          </p:nvPr>
        </p:nvSpPr>
        <p:spPr>
          <a:xfrm>
            <a:off x="619539" y="5248600"/>
            <a:ext cx="10930962" cy="222218"/>
          </a:xfrm>
        </p:spPr>
        <p:txBody>
          <a:bodyPr/>
          <a:lstStyle>
            <a:lvl1pPr marL="0" indent="0">
              <a:buNone/>
              <a:defRPr sz="1800" b="1" i="0" spc="300">
                <a:solidFill>
                  <a:srgbClr val="FFFFFF"/>
                </a:solidFill>
                <a:latin typeface="FS Elliot Pro" panose="02000503040000020004" pitchFamily="2" charset="0"/>
              </a:defRPr>
            </a:lvl1pPr>
          </a:lstStyle>
          <a:p>
            <a:pPr lvl="0"/>
            <a:r>
              <a:rPr lang="en-US"/>
              <a:t>PRESENTER NAME (ALL CAPS)</a:t>
            </a:r>
          </a:p>
        </p:txBody>
      </p:sp>
      <p:sp>
        <p:nvSpPr>
          <p:cNvPr id="25" name="Text Placeholder 23">
            <a:extLst>
              <a:ext uri="{FF2B5EF4-FFF2-40B4-BE49-F238E27FC236}">
                <a16:creationId xmlns:a16="http://schemas.microsoft.com/office/drawing/2014/main" id="{6C449667-522C-4F46-AFE1-31761BB0E1F3}"/>
              </a:ext>
            </a:extLst>
          </p:cNvPr>
          <p:cNvSpPr>
            <a:spLocks noGrp="1"/>
          </p:cNvSpPr>
          <p:nvPr>
            <p:ph type="body" sz="quarter" idx="11" hasCustomPrompt="1"/>
          </p:nvPr>
        </p:nvSpPr>
        <p:spPr>
          <a:xfrm>
            <a:off x="619539" y="5598612"/>
            <a:ext cx="10930962" cy="457200"/>
          </a:xfrm>
        </p:spPr>
        <p:txBody>
          <a:bodyPr/>
          <a:lstStyle>
            <a:lvl1pPr marL="0" indent="0">
              <a:buFontTx/>
              <a:buNone/>
              <a:defRPr sz="1800" b="0" i="0">
                <a:solidFill>
                  <a:schemeClr val="bg1"/>
                </a:solidFill>
                <a:latin typeface="FS Elliot Pro Light" panose="02000503040000020004" pitchFamily="2" charset="0"/>
              </a:defRPr>
            </a:lvl1pPr>
          </a:lstStyle>
          <a:p>
            <a:pPr lvl="0"/>
            <a:r>
              <a:rPr lang="en-US"/>
              <a:t>Title</a:t>
            </a:r>
          </a:p>
        </p:txBody>
      </p:sp>
    </p:spTree>
    <p:extLst>
      <p:ext uri="{BB962C8B-B14F-4D97-AF65-F5344CB8AC3E}">
        <p14:creationId xmlns:p14="http://schemas.microsoft.com/office/powerpoint/2010/main" val="7840150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9E8B5FB-6590-E14F-846A-4A8FBA953F2D}"/>
              </a:ext>
            </a:extLst>
          </p:cNvPr>
          <p:cNvSpPr/>
          <p:nvPr userDrawn="1"/>
        </p:nvSpPr>
        <p:spPr>
          <a:xfrm>
            <a:off x="0" y="0"/>
            <a:ext cx="12192000" cy="6858000"/>
          </a:xfrm>
          <a:prstGeom prst="rect">
            <a:avLst/>
          </a:prstGeom>
          <a:gradFill flip="none" rotWithShape="1">
            <a:gsLst>
              <a:gs pos="25000">
                <a:schemeClr val="tx2"/>
              </a:gs>
              <a:gs pos="99000">
                <a:srgbClr val="0091DA"/>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571500" y="768350"/>
            <a:ext cx="10972800" cy="2852737"/>
          </a:xfrm>
        </p:spPr>
        <p:txBody>
          <a:bodyPr anchor="b">
            <a:noAutofit/>
          </a:bodyPr>
          <a:lstStyle>
            <a:lvl1pPr>
              <a:lnSpc>
                <a:spcPct val="100000"/>
              </a:lnSpc>
              <a:defRPr sz="6000">
                <a:solidFill>
                  <a:schemeClr val="bg1"/>
                </a:solidFill>
              </a:defRPr>
            </a:lvl1pPr>
          </a:lstStyle>
          <a:p>
            <a:r>
              <a:rPr lang="en-US"/>
              <a:t>Click to edit section title</a:t>
            </a:r>
          </a:p>
        </p:txBody>
      </p:sp>
      <p:sp>
        <p:nvSpPr>
          <p:cNvPr id="3" name="Text Placeholder 2"/>
          <p:cNvSpPr>
            <a:spLocks noGrp="1"/>
          </p:cNvSpPr>
          <p:nvPr>
            <p:ph type="body" idx="1" hasCustomPrompt="1"/>
          </p:nvPr>
        </p:nvSpPr>
        <p:spPr>
          <a:xfrm>
            <a:off x="571500" y="3639343"/>
            <a:ext cx="10972800" cy="1500187"/>
          </a:xfrm>
        </p:spPr>
        <p:txBody>
          <a:bodyPr>
            <a:noAutofit/>
          </a:bodyPr>
          <a:lstStyle>
            <a:lvl1pPr marL="0" indent="0">
              <a:lnSpc>
                <a:spcPct val="100000"/>
              </a:lnSpc>
              <a:buNone/>
              <a:defRPr sz="2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sub-header</a:t>
            </a:r>
          </a:p>
        </p:txBody>
      </p:sp>
      <p:pic>
        <p:nvPicPr>
          <p:cNvPr id="7" name="Picture 6">
            <a:extLst>
              <a:ext uri="{FF2B5EF4-FFF2-40B4-BE49-F238E27FC236}">
                <a16:creationId xmlns:a16="http://schemas.microsoft.com/office/drawing/2014/main" id="{A9EA11BA-C213-1041-BCA5-D7B3BD79CCEE}"/>
              </a:ext>
            </a:extLst>
          </p:cNvPr>
          <p:cNvPicPr>
            <a:picLocks noChangeAspect="1"/>
          </p:cNvPicPr>
          <p:nvPr userDrawn="1"/>
        </p:nvPicPr>
        <p:blipFill>
          <a:blip r:embed="rId2"/>
          <a:stretch>
            <a:fillRect/>
          </a:stretch>
        </p:blipFill>
        <p:spPr>
          <a:xfrm>
            <a:off x="10956517" y="6410513"/>
            <a:ext cx="1033272" cy="301032"/>
          </a:xfrm>
          <a:prstGeom prst="rect">
            <a:avLst/>
          </a:prstGeom>
        </p:spPr>
      </p:pic>
    </p:spTree>
    <p:extLst>
      <p:ext uri="{BB962C8B-B14F-4D97-AF65-F5344CB8AC3E}">
        <p14:creationId xmlns:p14="http://schemas.microsoft.com/office/powerpoint/2010/main" val="1547759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nchor="b"/>
          <a:lstStyle/>
          <a:p>
            <a:fld id="{13CF28CE-A392-6E4E-B8A8-233A7BF58CFD}" type="slidenum">
              <a:rPr lang="en-US" smtClean="0"/>
              <a:t>‹#›</a:t>
            </a:fld>
            <a:endParaRPr lang="en-US"/>
          </a:p>
        </p:txBody>
      </p:sp>
      <p:pic>
        <p:nvPicPr>
          <p:cNvPr id="6" name="Picture 5" descr="Logo&#10;&#10;Description automatically generated">
            <a:extLst>
              <a:ext uri="{FF2B5EF4-FFF2-40B4-BE49-F238E27FC236}">
                <a16:creationId xmlns:a16="http://schemas.microsoft.com/office/drawing/2014/main" id="{D8A789BE-8DD2-DD44-B6F4-AB2E8755F0A6}"/>
              </a:ext>
            </a:extLst>
          </p:cNvPr>
          <p:cNvPicPr>
            <a:picLocks noChangeAspect="1"/>
          </p:cNvPicPr>
          <p:nvPr userDrawn="1"/>
        </p:nvPicPr>
        <p:blipFill>
          <a:blip r:embed="rId2"/>
          <a:stretch>
            <a:fillRect/>
          </a:stretch>
        </p:blipFill>
        <p:spPr>
          <a:xfrm>
            <a:off x="10919327" y="6408629"/>
            <a:ext cx="1092200" cy="304800"/>
          </a:xfrm>
          <a:prstGeom prst="rect">
            <a:avLst/>
          </a:prstGeom>
        </p:spPr>
      </p:pic>
    </p:spTree>
    <p:extLst>
      <p:ext uri="{BB962C8B-B14F-4D97-AF65-F5344CB8AC3E}">
        <p14:creationId xmlns:p14="http://schemas.microsoft.com/office/powerpoint/2010/main" val="213112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nchor="b"/>
          <a:lstStyle/>
          <a:p>
            <a:fld id="{13CF28CE-A392-6E4E-B8A8-233A7BF58CFD}" type="slidenum">
              <a:rPr lang="en-US" smtClean="0"/>
              <a:t>‹#›</a:t>
            </a:fld>
            <a:endParaRPr lang="en-US"/>
          </a:p>
        </p:txBody>
      </p:sp>
      <p:pic>
        <p:nvPicPr>
          <p:cNvPr id="6" name="Picture 5" descr="Logo&#10;&#10;Description automatically generated">
            <a:extLst>
              <a:ext uri="{FF2B5EF4-FFF2-40B4-BE49-F238E27FC236}">
                <a16:creationId xmlns:a16="http://schemas.microsoft.com/office/drawing/2014/main" id="{D8A789BE-8DD2-DD44-B6F4-AB2E8755F0A6}"/>
              </a:ext>
            </a:extLst>
          </p:cNvPr>
          <p:cNvPicPr>
            <a:picLocks noChangeAspect="1"/>
          </p:cNvPicPr>
          <p:nvPr userDrawn="1"/>
        </p:nvPicPr>
        <p:blipFill>
          <a:blip r:embed="rId2"/>
          <a:stretch>
            <a:fillRect/>
          </a:stretch>
        </p:blipFill>
        <p:spPr>
          <a:xfrm>
            <a:off x="10919327" y="6408629"/>
            <a:ext cx="1092200" cy="304800"/>
          </a:xfrm>
          <a:prstGeom prst="rect">
            <a:avLst/>
          </a:prstGeom>
        </p:spPr>
      </p:pic>
    </p:spTree>
    <p:extLst>
      <p:ext uri="{BB962C8B-B14F-4D97-AF65-F5344CB8AC3E}">
        <p14:creationId xmlns:p14="http://schemas.microsoft.com/office/powerpoint/2010/main" val="14717863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1_Title">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B002232-2BA3-C349-AFD1-802FA144F459}"/>
              </a:ext>
            </a:extLst>
          </p:cNvPr>
          <p:cNvSpPr/>
          <p:nvPr userDrawn="1"/>
        </p:nvSpPr>
        <p:spPr>
          <a:xfrm>
            <a:off x="0" y="0"/>
            <a:ext cx="12192000" cy="6858000"/>
          </a:xfrm>
          <a:prstGeom prst="rect">
            <a:avLst/>
          </a:prstGeom>
          <a:gradFill flip="none" rotWithShape="1">
            <a:gsLst>
              <a:gs pos="25000">
                <a:schemeClr val="tx2"/>
              </a:gs>
              <a:gs pos="98000">
                <a:srgbClr val="0091DA"/>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Graphic 16">
            <a:extLst>
              <a:ext uri="{FF2B5EF4-FFF2-40B4-BE49-F238E27FC236}">
                <a16:creationId xmlns:a16="http://schemas.microsoft.com/office/drawing/2014/main" id="{8C19767B-59C7-9542-B619-00C2DC51AE4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60952" y="499218"/>
            <a:ext cx="1600200" cy="459632"/>
          </a:xfrm>
          <a:prstGeom prst="rect">
            <a:avLst/>
          </a:prstGeom>
        </p:spPr>
      </p:pic>
      <p:sp>
        <p:nvSpPr>
          <p:cNvPr id="13" name="Title 9">
            <a:extLst>
              <a:ext uri="{FF2B5EF4-FFF2-40B4-BE49-F238E27FC236}">
                <a16:creationId xmlns:a16="http://schemas.microsoft.com/office/drawing/2014/main" id="{A0F55347-793E-994F-A860-388685180F6F}"/>
              </a:ext>
            </a:extLst>
          </p:cNvPr>
          <p:cNvSpPr>
            <a:spLocks noGrp="1"/>
          </p:cNvSpPr>
          <p:nvPr>
            <p:ph type="title"/>
          </p:nvPr>
        </p:nvSpPr>
        <p:spPr>
          <a:xfrm>
            <a:off x="577701" y="3679825"/>
            <a:ext cx="10972800" cy="457200"/>
          </a:xfrm>
        </p:spPr>
        <p:txBody>
          <a:bodyPr/>
          <a:lstStyle>
            <a:lvl1pPr marL="0" algn="l" defTabSz="914400" rtl="0" eaLnBrk="1" latinLnBrk="0" hangingPunct="1">
              <a:lnSpc>
                <a:spcPct val="100000"/>
              </a:lnSpc>
              <a:spcBef>
                <a:spcPct val="0"/>
              </a:spcBef>
              <a:buNone/>
              <a:defRPr lang="en-US" sz="6000" b="0" i="0" kern="1200" dirty="0">
                <a:solidFill>
                  <a:schemeClr val="bg1"/>
                </a:solidFill>
                <a:latin typeface="FS Elliot Pro Light" panose="02000503040000020004" pitchFamily="2" charset="0"/>
                <a:ea typeface="+mj-ea"/>
                <a:cs typeface="+mj-cs"/>
              </a:defRPr>
            </a:lvl1pPr>
          </a:lstStyle>
          <a:p>
            <a:r>
              <a:rPr lang="en-US"/>
              <a:t>Click to edit Master title style</a:t>
            </a:r>
          </a:p>
        </p:txBody>
      </p:sp>
      <p:sp>
        <p:nvSpPr>
          <p:cNvPr id="22" name="Text Placeholder 20">
            <a:extLst>
              <a:ext uri="{FF2B5EF4-FFF2-40B4-BE49-F238E27FC236}">
                <a16:creationId xmlns:a16="http://schemas.microsoft.com/office/drawing/2014/main" id="{F056900D-AB2D-D945-A21C-3529479F4457}"/>
              </a:ext>
            </a:extLst>
          </p:cNvPr>
          <p:cNvSpPr>
            <a:spLocks noGrp="1"/>
          </p:cNvSpPr>
          <p:nvPr>
            <p:ph type="body" sz="quarter" idx="10" hasCustomPrompt="1"/>
          </p:nvPr>
        </p:nvSpPr>
        <p:spPr>
          <a:xfrm>
            <a:off x="619539" y="5248600"/>
            <a:ext cx="10930962" cy="222218"/>
          </a:xfrm>
        </p:spPr>
        <p:txBody>
          <a:bodyPr/>
          <a:lstStyle>
            <a:lvl1pPr marL="0" indent="0">
              <a:buNone/>
              <a:defRPr sz="1800" b="1" i="0" spc="300">
                <a:solidFill>
                  <a:srgbClr val="FFFFFF"/>
                </a:solidFill>
                <a:latin typeface="FS Elliot Pro" panose="02000503040000020004" pitchFamily="2" charset="0"/>
              </a:defRPr>
            </a:lvl1pPr>
          </a:lstStyle>
          <a:p>
            <a:pPr lvl="0"/>
            <a:r>
              <a:rPr lang="en-US"/>
              <a:t>PRESENTER NAME (ALL CAPS)</a:t>
            </a:r>
          </a:p>
        </p:txBody>
      </p:sp>
      <p:sp>
        <p:nvSpPr>
          <p:cNvPr id="25" name="Text Placeholder 23">
            <a:extLst>
              <a:ext uri="{FF2B5EF4-FFF2-40B4-BE49-F238E27FC236}">
                <a16:creationId xmlns:a16="http://schemas.microsoft.com/office/drawing/2014/main" id="{6C449667-522C-4F46-AFE1-31761BB0E1F3}"/>
              </a:ext>
            </a:extLst>
          </p:cNvPr>
          <p:cNvSpPr>
            <a:spLocks noGrp="1"/>
          </p:cNvSpPr>
          <p:nvPr>
            <p:ph type="body" sz="quarter" idx="11" hasCustomPrompt="1"/>
          </p:nvPr>
        </p:nvSpPr>
        <p:spPr>
          <a:xfrm>
            <a:off x="619539" y="5598612"/>
            <a:ext cx="10930962" cy="457200"/>
          </a:xfrm>
        </p:spPr>
        <p:txBody>
          <a:bodyPr/>
          <a:lstStyle>
            <a:lvl1pPr marL="0" indent="0">
              <a:buFontTx/>
              <a:buNone/>
              <a:defRPr sz="1800" b="0" i="0">
                <a:solidFill>
                  <a:schemeClr val="bg1"/>
                </a:solidFill>
                <a:latin typeface="FS Elliot Pro Light" panose="02000503040000020004" pitchFamily="2" charset="0"/>
              </a:defRPr>
            </a:lvl1pPr>
          </a:lstStyle>
          <a:p>
            <a:pPr lvl="0"/>
            <a:r>
              <a:rPr lang="en-US"/>
              <a:t>Title</a:t>
            </a:r>
          </a:p>
        </p:txBody>
      </p:sp>
    </p:spTree>
    <p:extLst>
      <p:ext uri="{BB962C8B-B14F-4D97-AF65-F5344CB8AC3E}">
        <p14:creationId xmlns:p14="http://schemas.microsoft.com/office/powerpoint/2010/main" val="299873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Head, sub, text sub, bullets">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03CEFE81-FD4C-4741-B57D-E20508647F8E}"/>
              </a:ext>
            </a:extLst>
          </p:cNvPr>
          <p:cNvSpPr>
            <a:spLocks noGrp="1"/>
          </p:cNvSpPr>
          <p:nvPr>
            <p:ph idx="1" hasCustomPrompt="1"/>
          </p:nvPr>
        </p:nvSpPr>
        <p:spPr>
          <a:xfrm>
            <a:off x="571500" y="2119746"/>
            <a:ext cx="10972800" cy="4187075"/>
          </a:xfrm>
        </p:spPr>
        <p:txBody>
          <a:bodyPr>
            <a:noAutofit/>
          </a:bodyPr>
          <a:lstStyle>
            <a:lvl1pPr marL="182880" indent="-182880">
              <a:lnSpc>
                <a:spcPct val="90000"/>
              </a:lnSpc>
              <a:spcBef>
                <a:spcPts val="0"/>
              </a:spcBef>
              <a:spcAft>
                <a:spcPts val="600"/>
              </a:spcAft>
              <a:defRPr sz="1800"/>
            </a:lvl1pPr>
            <a:lvl2pPr marL="640080" indent="-182880">
              <a:lnSpc>
                <a:spcPct val="90000"/>
              </a:lnSpc>
              <a:spcBef>
                <a:spcPts val="0"/>
              </a:spcBef>
              <a:spcAft>
                <a:spcPts val="600"/>
              </a:spcAft>
              <a:buFont typeface="STIXGeneral-Regular" pitchFamily="2" charset="2"/>
              <a:buChar char="⎯"/>
              <a:defRPr sz="1600"/>
            </a:lvl2pPr>
            <a:lvl3pPr marL="1097280" indent="-182880">
              <a:lnSpc>
                <a:spcPct val="90000"/>
              </a:lnSpc>
              <a:spcBef>
                <a:spcPts val="0"/>
              </a:spcBef>
              <a:spcAft>
                <a:spcPts val="600"/>
              </a:spcAft>
              <a:buFont typeface=".PingFang SC Regular"/>
              <a:buChar char="・"/>
              <a:defRPr sz="1400"/>
            </a:lvl3pPr>
            <a:lvl4pPr>
              <a:defRPr sz="1400"/>
            </a:lvl4pPr>
            <a:lvl5pPr>
              <a:defRPr sz="1200"/>
            </a:lvl5pPr>
          </a:lstStyle>
          <a:p>
            <a:pPr lvl="0"/>
            <a:r>
              <a:rPr lang="en-US"/>
              <a:t>Click to edit bullet</a:t>
            </a:r>
          </a:p>
          <a:p>
            <a:pPr lvl="1"/>
            <a:r>
              <a:rPr lang="en-US"/>
              <a:t>Second level</a:t>
            </a:r>
          </a:p>
          <a:p>
            <a:pPr lvl="2"/>
            <a:r>
              <a:rPr lang="en-US"/>
              <a:t>Third level</a:t>
            </a:r>
          </a:p>
        </p:txBody>
      </p:sp>
      <p:sp>
        <p:nvSpPr>
          <p:cNvPr id="9" name="Text Placeholder 8">
            <a:extLst>
              <a:ext uri="{FF2B5EF4-FFF2-40B4-BE49-F238E27FC236}">
                <a16:creationId xmlns:a16="http://schemas.microsoft.com/office/drawing/2014/main" id="{895A2A21-E833-0C42-927D-5FE74D930385}"/>
              </a:ext>
            </a:extLst>
          </p:cNvPr>
          <p:cNvSpPr>
            <a:spLocks noGrp="1"/>
          </p:cNvSpPr>
          <p:nvPr>
            <p:ph type="body" sz="quarter" idx="12" hasCustomPrompt="1"/>
          </p:nvPr>
        </p:nvSpPr>
        <p:spPr>
          <a:xfrm>
            <a:off x="571500" y="1156133"/>
            <a:ext cx="10975975" cy="274320"/>
          </a:xfrm>
        </p:spPr>
        <p:txBody>
          <a:bodyPr anchor="t"/>
          <a:lstStyle>
            <a:lvl1pPr marL="0" indent="0">
              <a:lnSpc>
                <a:spcPct val="100000"/>
              </a:lnSpc>
              <a:buNone/>
              <a:defRPr sz="2000"/>
            </a:lvl1pPr>
            <a:lvl2pPr marL="457200" indent="0">
              <a:buNone/>
              <a:defRPr/>
            </a:lvl2pPr>
          </a:lstStyle>
          <a:p>
            <a:pPr lvl="0"/>
            <a:r>
              <a:rPr lang="en-US"/>
              <a:t>Click to edit sub-header</a:t>
            </a:r>
          </a:p>
        </p:txBody>
      </p:sp>
      <p:sp>
        <p:nvSpPr>
          <p:cNvPr id="11" name="Text Placeholder 2">
            <a:extLst>
              <a:ext uri="{FF2B5EF4-FFF2-40B4-BE49-F238E27FC236}">
                <a16:creationId xmlns:a16="http://schemas.microsoft.com/office/drawing/2014/main" id="{CCA2F667-5CD7-1345-8F44-1FF1A1F9E366}"/>
              </a:ext>
            </a:extLst>
          </p:cNvPr>
          <p:cNvSpPr>
            <a:spLocks noGrp="1"/>
          </p:cNvSpPr>
          <p:nvPr>
            <p:ph type="body" idx="13" hasCustomPrompt="1"/>
          </p:nvPr>
        </p:nvSpPr>
        <p:spPr>
          <a:xfrm>
            <a:off x="571500" y="1523928"/>
            <a:ext cx="10972800" cy="518882"/>
          </a:xfrm>
        </p:spPr>
        <p:txBody>
          <a:bodyPr anchor="b">
            <a:noAutofit/>
          </a:bodyPr>
          <a:lstStyle>
            <a:lvl1pPr marL="0" indent="0">
              <a:lnSpc>
                <a:spcPct val="100000"/>
              </a:lnSpc>
              <a:buNone/>
              <a:defRPr sz="1800" b="1" i="0">
                <a:solidFill>
                  <a:srgbClr val="0076CF"/>
                </a:solidFill>
                <a:latin typeface="FS Elliot Pro" panose="02000503040000020004"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 sub-header</a:t>
            </a:r>
          </a:p>
        </p:txBody>
      </p:sp>
      <p:sp>
        <p:nvSpPr>
          <p:cNvPr id="8" name="Footer Placeholder 4">
            <a:extLst>
              <a:ext uri="{FF2B5EF4-FFF2-40B4-BE49-F238E27FC236}">
                <a16:creationId xmlns:a16="http://schemas.microsoft.com/office/drawing/2014/main" id="{ADA06521-DD89-5F43-996A-AF8051110D1D}"/>
              </a:ext>
            </a:extLst>
          </p:cNvPr>
          <p:cNvSpPr>
            <a:spLocks noGrp="1"/>
          </p:cNvSpPr>
          <p:nvPr>
            <p:ph type="ftr" sz="quarter" idx="3"/>
          </p:nvPr>
        </p:nvSpPr>
        <p:spPr>
          <a:xfrm>
            <a:off x="583563" y="6247663"/>
            <a:ext cx="10200584" cy="365125"/>
          </a:xfrm>
          <a:prstGeom prst="rect">
            <a:avLst/>
          </a:prstGeom>
        </p:spPr>
        <p:txBody>
          <a:bodyPr vert="horz" lIns="0" tIns="0" rIns="0" bIns="0" rtlCol="0" anchor="b"/>
          <a:lstStyle>
            <a:lvl1pPr algn="l">
              <a:lnSpc>
                <a:spcPct val="90000"/>
              </a:lnSpc>
              <a:spcAft>
                <a:spcPts val="200"/>
              </a:spcAft>
              <a:defRPr sz="800">
                <a:solidFill>
                  <a:srgbClr val="333333"/>
                </a:solidFill>
                <a:latin typeface="FS Elliot Pro" panose="02000503040000020004" pitchFamily="2" charset="0"/>
              </a:defRPr>
            </a:lvl1pPr>
          </a:lstStyle>
          <a:p>
            <a:pPr marL="0" marR="0" lvl="0" indent="0" algn="l" defTabSz="457200" rtl="0" eaLnBrk="1" fontAlgn="auto" latinLnBrk="0" hangingPunct="1">
              <a:lnSpc>
                <a:spcPct val="90000"/>
              </a:lnSpc>
              <a:spcBef>
                <a:spcPts val="0"/>
              </a:spcBef>
              <a:spcAft>
                <a:spcPts val="200"/>
              </a:spcAft>
              <a:buClrTx/>
              <a:buSzTx/>
              <a:buFontTx/>
              <a:buNone/>
              <a:tabLst/>
              <a:defRPr/>
            </a:pPr>
            <a:endParaRPr kumimoji="0" lang="en-US" sz="800" b="0" i="0" u="none" strike="noStrike" kern="1200" cap="none" spc="0" normalizeH="0" baseline="0" noProof="0">
              <a:ln>
                <a:noFill/>
              </a:ln>
              <a:solidFill>
                <a:srgbClr val="333333"/>
              </a:solidFill>
              <a:effectLst/>
              <a:uLnTx/>
              <a:uFillTx/>
              <a:latin typeface="FS Elliot Pro" panose="02000503040000020004" pitchFamily="2" charset="0"/>
              <a:ea typeface="+mn-ea"/>
              <a:cs typeface="+mn-cs"/>
            </a:endParaRPr>
          </a:p>
        </p:txBody>
      </p:sp>
      <p:sp>
        <p:nvSpPr>
          <p:cNvPr id="10" name="Slide Number Placeholder 5">
            <a:extLst>
              <a:ext uri="{FF2B5EF4-FFF2-40B4-BE49-F238E27FC236}">
                <a16:creationId xmlns:a16="http://schemas.microsoft.com/office/drawing/2014/main" id="{E1C8CC88-2E59-C04C-BFBB-390FBCC0BE56}"/>
              </a:ext>
            </a:extLst>
          </p:cNvPr>
          <p:cNvSpPr>
            <a:spLocks noGrp="1"/>
          </p:cNvSpPr>
          <p:nvPr>
            <p:ph type="sldNum" sz="quarter" idx="4"/>
          </p:nvPr>
        </p:nvSpPr>
        <p:spPr>
          <a:xfrm>
            <a:off x="159989" y="6247663"/>
            <a:ext cx="417711" cy="377825"/>
          </a:xfrm>
          <a:prstGeom prst="rect">
            <a:avLst/>
          </a:prstGeom>
        </p:spPr>
        <p:txBody>
          <a:bodyPr vert="horz" lIns="0" tIns="0" rIns="0" bIns="0" rtlCol="0" anchor="b"/>
          <a:lstStyle>
            <a:lvl1pPr algn="l">
              <a:defRPr sz="900">
                <a:solidFill>
                  <a:srgbClr val="333333"/>
                </a:solidFill>
                <a:latin typeface="FS Elliot Pro" panose="02000503040000020004" pitchFamily="2"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13CF28CE-A392-6E4E-B8A8-233A7BF58CFD}" type="slidenum">
              <a:rPr kumimoji="0" lang="en-US" sz="900" b="0" i="0" u="none" strike="noStrike" kern="1200" cap="none" spc="0" normalizeH="0" baseline="0" noProof="0" smtClean="0">
                <a:ln>
                  <a:noFill/>
                </a:ln>
                <a:solidFill>
                  <a:srgbClr val="333333"/>
                </a:solidFill>
                <a:effectLst/>
                <a:uLnTx/>
                <a:uFillTx/>
                <a:latin typeface="FS Elliot Pro" panose="02000503040000020004" pitchFamily="2" charset="0"/>
                <a:ea typeface="+mn-ea"/>
                <a:cs typeface="+mn-cs"/>
              </a:rPr>
              <a:pPr marL="0" marR="0" lvl="0" indent="0" algn="l" defTabSz="4572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333333"/>
              </a:solidFill>
              <a:effectLst/>
              <a:uLnTx/>
              <a:uFillTx/>
              <a:latin typeface="FS Elliot Pro" panose="02000503040000020004" pitchFamily="2" charset="0"/>
              <a:ea typeface="+mn-ea"/>
              <a:cs typeface="+mn-cs"/>
            </a:endParaRPr>
          </a:p>
        </p:txBody>
      </p:sp>
      <p:sp>
        <p:nvSpPr>
          <p:cNvPr id="12" name="Title Placeholder 1">
            <a:extLst>
              <a:ext uri="{FF2B5EF4-FFF2-40B4-BE49-F238E27FC236}">
                <a16:creationId xmlns:a16="http://schemas.microsoft.com/office/drawing/2014/main" id="{52DE5F74-D4DB-E948-BA07-AA84DA99F565}"/>
              </a:ext>
            </a:extLst>
          </p:cNvPr>
          <p:cNvSpPr>
            <a:spLocks noGrp="1"/>
          </p:cNvSpPr>
          <p:nvPr>
            <p:ph type="title"/>
          </p:nvPr>
        </p:nvSpPr>
        <p:spPr>
          <a:xfrm>
            <a:off x="577701" y="620233"/>
            <a:ext cx="10972800" cy="457200"/>
          </a:xfrm>
          <a:prstGeom prst="rect">
            <a:avLst/>
          </a:prstGeom>
        </p:spPr>
        <p:txBody>
          <a:bodyPr vert="horz" lIns="0" tIns="0" rIns="0" bIns="0" rtlCol="0" anchor="ctr">
            <a:noAutofit/>
          </a:bodyPr>
          <a:lstStyle/>
          <a:p>
            <a:r>
              <a:rPr lang="en-US"/>
              <a:t>Click to edit Master title style</a:t>
            </a:r>
          </a:p>
        </p:txBody>
      </p:sp>
    </p:spTree>
    <p:extLst>
      <p:ext uri="{BB962C8B-B14F-4D97-AF65-F5344CB8AC3E}">
        <p14:creationId xmlns:p14="http://schemas.microsoft.com/office/powerpoint/2010/main" val="2033223107"/>
      </p:ext>
    </p:extLst>
  </p:cSld>
  <p:clrMapOvr>
    <a:masterClrMapping/>
  </p:clrMapOvr>
  <p:extLst>
    <p:ext uri="{DCECCB84-F9BA-43D5-87BE-67443E8EF086}">
      <p15:sldGuideLst xmlns:p15="http://schemas.microsoft.com/office/powerpoint/2012/main">
        <p15:guide id="1" orient="horz" pos="384">
          <p15:clr>
            <a:srgbClr val="FBAE40"/>
          </p15:clr>
        </p15:guide>
        <p15:guide id="2" orient="horz" pos="216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ags" Target="../tags/tag1.xml"/><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11BBD338-0855-AD0A-877C-1298834BD33F}"/>
              </a:ext>
            </a:extLst>
          </p:cNvPr>
          <p:cNvGraphicFramePr>
            <a:graphicFrameLocks noChangeAspect="1"/>
          </p:cNvGraphicFramePr>
          <p:nvPr userDrawn="1">
            <p:custDataLst>
              <p:tags r:id="rId8"/>
            </p:custDataLst>
            <p:extLst>
              <p:ext uri="{D42A27DB-BD31-4B8C-83A1-F6EECF244321}">
                <p14:modId xmlns:p14="http://schemas.microsoft.com/office/powerpoint/2010/main" val="16404285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5" imgH="416" progId="TCLayout.ActiveDocument.1">
                  <p:embed/>
                </p:oleObj>
              </mc:Choice>
              <mc:Fallback>
                <p:oleObj name="think-cell Slide" r:id="rId9" imgW="415" imgH="416" progId="TCLayout.ActiveDocument.1">
                  <p:embed/>
                  <p:pic>
                    <p:nvPicPr>
                      <p:cNvPr id="9" name="think-cell data - do not delete" hidden="1">
                        <a:extLst>
                          <a:ext uri="{FF2B5EF4-FFF2-40B4-BE49-F238E27FC236}">
                            <a16:creationId xmlns:a16="http://schemas.microsoft.com/office/drawing/2014/main" id="{11BBD338-0855-AD0A-877C-1298834BD33F}"/>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577701" y="620233"/>
            <a:ext cx="10972800" cy="457200"/>
          </a:xfrm>
          <a:prstGeom prst="rect">
            <a:avLst/>
          </a:prstGeom>
        </p:spPr>
        <p:txBody>
          <a:bodyPr vert="horz" lIns="0" tIns="0" rIns="0" bIns="0" rtlCol="0" anchor="ctr">
            <a:noAutofit/>
          </a:bodyPr>
          <a:lstStyle/>
          <a:p>
            <a:r>
              <a:rPr lang="en-US"/>
              <a:t>Click to edit header</a:t>
            </a:r>
          </a:p>
        </p:txBody>
      </p:sp>
      <p:sp>
        <p:nvSpPr>
          <p:cNvPr id="3" name="Text Placeholder 2"/>
          <p:cNvSpPr>
            <a:spLocks noGrp="1"/>
          </p:cNvSpPr>
          <p:nvPr>
            <p:ph type="body" idx="1"/>
          </p:nvPr>
        </p:nvSpPr>
        <p:spPr>
          <a:xfrm>
            <a:off x="577701" y="1286757"/>
            <a:ext cx="10972800" cy="4880046"/>
          </a:xfrm>
          <a:prstGeom prst="rect">
            <a:avLst/>
          </a:prstGeom>
        </p:spPr>
        <p:txBody>
          <a:bodyPr vert="horz" lIns="0" tIns="0" rIns="0" bIns="0" rtlCol="0">
            <a:noAutofit/>
          </a:bodyPr>
          <a:lstStyle/>
          <a:p>
            <a:pPr lvl="0"/>
            <a:r>
              <a:rPr lang="en-US"/>
              <a:t>Click to edit bullet</a:t>
            </a:r>
          </a:p>
          <a:p>
            <a:pPr marL="640080" lvl="1" indent="-182880" algn="l" defTabSz="914400" rtl="0" eaLnBrk="1" latinLnBrk="0" hangingPunct="1">
              <a:lnSpc>
                <a:spcPct val="100000"/>
              </a:lnSpc>
              <a:spcBef>
                <a:spcPts val="0"/>
              </a:spcBef>
              <a:spcAft>
                <a:spcPts val="600"/>
              </a:spcAft>
              <a:buFont typeface="STIXGeneral-Regular" pitchFamily="2" charset="2"/>
              <a:buChar char="⎯"/>
            </a:pPr>
            <a:r>
              <a:rPr lang="en-US"/>
              <a:t>Second level</a:t>
            </a:r>
          </a:p>
          <a:p>
            <a:pPr lvl="2"/>
            <a:r>
              <a:rPr lang="en-US"/>
              <a:t>Third level</a:t>
            </a:r>
          </a:p>
        </p:txBody>
      </p:sp>
      <p:sp>
        <p:nvSpPr>
          <p:cNvPr id="5" name="Footer Placeholder 4"/>
          <p:cNvSpPr>
            <a:spLocks noGrp="1"/>
          </p:cNvSpPr>
          <p:nvPr>
            <p:ph type="ftr" sz="quarter" idx="3"/>
          </p:nvPr>
        </p:nvSpPr>
        <p:spPr>
          <a:xfrm>
            <a:off x="583563" y="6247663"/>
            <a:ext cx="10200584" cy="365125"/>
          </a:xfrm>
          <a:prstGeom prst="rect">
            <a:avLst/>
          </a:prstGeom>
        </p:spPr>
        <p:txBody>
          <a:bodyPr vert="horz" lIns="0" tIns="0" rIns="0" bIns="0" rtlCol="0" anchor="b"/>
          <a:lstStyle>
            <a:lvl1pPr algn="l">
              <a:lnSpc>
                <a:spcPct val="90000"/>
              </a:lnSpc>
              <a:spcAft>
                <a:spcPts val="200"/>
              </a:spcAft>
              <a:defRPr sz="800">
                <a:solidFill>
                  <a:srgbClr val="333333"/>
                </a:solidFill>
                <a:latin typeface="FS Elliot Pro" panose="02000503040000020004" pitchFamily="2" charset="0"/>
              </a:defRPr>
            </a:lvl1pPr>
          </a:lstStyle>
          <a:p>
            <a:endParaRPr lang="en-US"/>
          </a:p>
        </p:txBody>
      </p:sp>
      <p:sp>
        <p:nvSpPr>
          <p:cNvPr id="6" name="Slide Number Placeholder 5"/>
          <p:cNvSpPr>
            <a:spLocks noGrp="1"/>
          </p:cNvSpPr>
          <p:nvPr>
            <p:ph type="sldNum" sz="quarter" idx="4"/>
          </p:nvPr>
        </p:nvSpPr>
        <p:spPr>
          <a:xfrm>
            <a:off x="11757037" y="6473687"/>
            <a:ext cx="417711" cy="377825"/>
          </a:xfrm>
          <a:prstGeom prst="rect">
            <a:avLst/>
          </a:prstGeom>
        </p:spPr>
        <p:txBody>
          <a:bodyPr vert="horz" lIns="0" tIns="0" rIns="0" bIns="0" rtlCol="0" anchor="b"/>
          <a:lstStyle>
            <a:lvl1pPr algn="l">
              <a:defRPr sz="900">
                <a:solidFill>
                  <a:srgbClr val="333333"/>
                </a:solidFill>
                <a:latin typeface="FS Elliot Pro" panose="02000503040000020004" pitchFamily="2" charset="0"/>
              </a:defRPr>
            </a:lvl1pPr>
          </a:lstStyle>
          <a:p>
            <a:fld id="{13CF28CE-A392-6E4E-B8A8-233A7BF58CFD}" type="slidenum">
              <a:rPr lang="en-US" smtClean="0"/>
              <a:pPr/>
              <a:t>‹#›</a:t>
            </a:fld>
            <a:endParaRPr lang="en-US"/>
          </a:p>
        </p:txBody>
      </p:sp>
    </p:spTree>
    <p:extLst>
      <p:ext uri="{BB962C8B-B14F-4D97-AF65-F5344CB8AC3E}">
        <p14:creationId xmlns:p14="http://schemas.microsoft.com/office/powerpoint/2010/main" val="17870917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ftr="0" dt="0"/>
  <p:txStyles>
    <p:titleStyle>
      <a:lvl1pPr algn="l" defTabSz="914400" rtl="0" eaLnBrk="1" latinLnBrk="0" hangingPunct="1">
        <a:lnSpc>
          <a:spcPct val="100000"/>
        </a:lnSpc>
        <a:spcBef>
          <a:spcPct val="0"/>
        </a:spcBef>
        <a:buNone/>
        <a:defRPr sz="3400" b="0" i="0" kern="1200">
          <a:solidFill>
            <a:srgbClr val="0076CF"/>
          </a:solidFill>
          <a:latin typeface="FS Elliot Pro Light" panose="02000503040000020004" pitchFamily="2" charset="0"/>
          <a:ea typeface="+mj-ea"/>
          <a:cs typeface="+mj-cs"/>
        </a:defRPr>
      </a:lvl1pPr>
    </p:titleStyle>
    <p:bodyStyle>
      <a:lvl1pPr marL="228600" indent="-228600" algn="l" defTabSz="914400" rtl="0" eaLnBrk="1" latinLnBrk="0" hangingPunct="1">
        <a:lnSpc>
          <a:spcPct val="90000"/>
        </a:lnSpc>
        <a:spcBef>
          <a:spcPts val="1000"/>
        </a:spcBef>
        <a:spcAft>
          <a:spcPts val="600"/>
        </a:spcAft>
        <a:buFont typeface="Arial" panose="020B0604020202020204" pitchFamily="34" charset="0"/>
        <a:buChar char="•"/>
        <a:defRPr sz="2600" b="0" i="0" kern="1200">
          <a:solidFill>
            <a:schemeClr val="tx1"/>
          </a:solidFill>
          <a:latin typeface="FS Elliot Pro Light" panose="02000503040000020004" pitchFamily="2" charset="0"/>
          <a:ea typeface="+mn-ea"/>
          <a:cs typeface="+mn-cs"/>
        </a:defRPr>
      </a:lvl1pPr>
      <a:lvl2pPr marL="685800" indent="-228600" algn="l" defTabSz="914400" rtl="0" eaLnBrk="1" latinLnBrk="0" hangingPunct="1">
        <a:lnSpc>
          <a:spcPct val="90000"/>
        </a:lnSpc>
        <a:spcBef>
          <a:spcPts val="500"/>
        </a:spcBef>
        <a:spcAft>
          <a:spcPts val="600"/>
        </a:spcAft>
        <a:buFont typeface="Monaco" pitchFamily="2" charset="77"/>
        <a:buChar char="⎼"/>
        <a:defRPr lang="en-US" sz="2400" b="0" i="0" kern="1200" dirty="0" smtClean="0">
          <a:solidFill>
            <a:schemeClr val="tx1"/>
          </a:solidFill>
          <a:latin typeface="FS Elliot Pro Light" panose="02000503040000020004" pitchFamily="2" charset="0"/>
          <a:ea typeface="+mn-ea"/>
          <a:cs typeface="+mn-cs"/>
        </a:defRPr>
      </a:lvl2pPr>
      <a:lvl3pPr marL="1097280" indent="-182880" algn="l" defTabSz="914400" rtl="0" eaLnBrk="1" latinLnBrk="0" hangingPunct="1">
        <a:lnSpc>
          <a:spcPct val="90000"/>
        </a:lnSpc>
        <a:spcBef>
          <a:spcPts val="500"/>
        </a:spcBef>
        <a:spcAft>
          <a:spcPts val="600"/>
        </a:spcAft>
        <a:buFont typeface=".PingFang SC Regular"/>
        <a:buChar char="・"/>
        <a:defRPr sz="2000" b="0" i="0" kern="1200">
          <a:solidFill>
            <a:schemeClr val="tx1"/>
          </a:solidFill>
          <a:latin typeface="FS Elliot Pro Light" panose="02000503040000020004" pitchFamily="2" charset="0"/>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800" b="0" i="0" kern="1200">
          <a:solidFill>
            <a:schemeClr val="tx1"/>
          </a:solidFill>
          <a:latin typeface="FS Elliot Pro Light" panose="02000503040000020004" pitchFamily="2" charset="0"/>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b="0" i="0" kern="1200">
          <a:solidFill>
            <a:schemeClr val="tx1"/>
          </a:solidFill>
          <a:latin typeface="FS Elliot Pro Light" panose="02000503040000020004"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60">
          <p15:clr>
            <a:srgbClr val="F26B43"/>
          </p15:clr>
        </p15:guide>
        <p15:guide id="2" pos="7554">
          <p15:clr>
            <a:srgbClr val="F26B43"/>
          </p15:clr>
        </p15:guide>
        <p15:guide id="3" pos="96">
          <p15:clr>
            <a:srgbClr val="F26B43"/>
          </p15:clr>
        </p15:guide>
        <p15:guide id="4" orient="horz" pos="4152">
          <p15:clr>
            <a:srgbClr val="F26B43"/>
          </p15:clr>
        </p15:guide>
        <p15:guide id="5" orient="horz" pos="2160">
          <p15:clr>
            <a:srgbClr val="F26B43"/>
          </p15:clr>
        </p15:guide>
        <p15:guide id="6" pos="7296">
          <p15:clr>
            <a:srgbClr val="F26B43"/>
          </p15:clr>
        </p15:guide>
        <p15:guide id="7" orient="horz" pos="384">
          <p15:clr>
            <a:srgbClr val="F26B43"/>
          </p15:clr>
        </p15:guide>
        <p15:guide id="8"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5" Type="http://schemas.openxmlformats.org/officeDocument/2006/relationships/image" Target="../media/image6.emf"/><Relationship Id="rId4" Type="http://schemas.openxmlformats.org/officeDocument/2006/relationships/oleObject" Target="../embeddings/oleObject2.bin"/></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 Target="slide29.xml"/><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slide" Target="slide9.xml"/><Relationship Id="rId4" Type="http://schemas.openxmlformats.org/officeDocument/2006/relationships/slide" Target="slide2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23.png"/><Relationship Id="rId2" Type="http://schemas.openxmlformats.org/officeDocument/2006/relationships/notesSlide" Target="../notesSlides/notesSlide34.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B409E23D-7231-81C4-B3D8-09DC338F785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3" name="think-cell data - do not delete" hidden="1">
                        <a:extLst>
                          <a:ext uri="{FF2B5EF4-FFF2-40B4-BE49-F238E27FC236}">
                            <a16:creationId xmlns:a16="http://schemas.microsoft.com/office/drawing/2014/main" id="{B409E23D-7231-81C4-B3D8-09DC338F785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cxnSp>
        <p:nvCxnSpPr>
          <p:cNvPr id="8" name="Straight Connector 7">
            <a:extLst>
              <a:ext uri="{FF2B5EF4-FFF2-40B4-BE49-F238E27FC236}">
                <a16:creationId xmlns:a16="http://schemas.microsoft.com/office/drawing/2014/main" id="{EC3AF7CD-AD7E-1344-82D1-68E336091591}"/>
              </a:ext>
            </a:extLst>
          </p:cNvPr>
          <p:cNvCxnSpPr/>
          <p:nvPr/>
        </p:nvCxnSpPr>
        <p:spPr>
          <a:xfrm>
            <a:off x="609599" y="4789716"/>
            <a:ext cx="685800" cy="0"/>
          </a:xfrm>
          <a:prstGeom prst="line">
            <a:avLst/>
          </a:prstGeom>
          <a:ln w="63500">
            <a:solidFill>
              <a:srgbClr val="00C4D9"/>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EFE040C0-659D-354D-9FA6-DF544CB8F2DC}"/>
              </a:ext>
            </a:extLst>
          </p:cNvPr>
          <p:cNvSpPr>
            <a:spLocks noGrp="1"/>
          </p:cNvSpPr>
          <p:nvPr>
            <p:ph type="title"/>
          </p:nvPr>
        </p:nvSpPr>
        <p:spPr>
          <a:xfrm>
            <a:off x="577701" y="2483708"/>
            <a:ext cx="10972800" cy="2614522"/>
          </a:xfrm>
        </p:spPr>
        <p:txBody>
          <a:bodyPr vert="horz"/>
          <a:lstStyle/>
          <a:p>
            <a:r>
              <a:rPr lang="en-US" sz="4000">
                <a:latin typeface="FS Elliot Pro Light"/>
              </a:rPr>
              <a:t>Financial Operations Dashboards</a:t>
            </a:r>
            <a:br>
              <a:rPr lang="en-US" sz="4000"/>
            </a:br>
            <a:r>
              <a:rPr lang="en-US" sz="2400">
                <a:latin typeface="FS Elliot Pro Light"/>
              </a:rPr>
              <a:t>Wireframes</a:t>
            </a:r>
            <a:br>
              <a:rPr lang="en-US" sz="2400"/>
            </a:br>
            <a:endParaRPr lang="en-US" sz="4000"/>
          </a:p>
        </p:txBody>
      </p:sp>
      <p:sp>
        <p:nvSpPr>
          <p:cNvPr id="9" name="Subtitle 2">
            <a:extLst>
              <a:ext uri="{FF2B5EF4-FFF2-40B4-BE49-F238E27FC236}">
                <a16:creationId xmlns:a16="http://schemas.microsoft.com/office/drawing/2014/main" id="{95FFABCB-C6AF-244E-331C-77E201DF1663}"/>
              </a:ext>
            </a:extLst>
          </p:cNvPr>
          <p:cNvSpPr txBox="1">
            <a:spLocks/>
          </p:cNvSpPr>
          <p:nvPr/>
        </p:nvSpPr>
        <p:spPr>
          <a:xfrm>
            <a:off x="609599" y="5098230"/>
            <a:ext cx="9669137" cy="307777"/>
          </a:xfrm>
          <a:prstGeom prst="rect">
            <a:avLst/>
          </a:prstGeom>
          <a:noFill/>
          <a:ln/>
          <a:extLst>
            <a:ext uri="{909E8E84-426E-40DD-AFC4-6F175D3DCCD1}">
              <a14:hiddenFill xmlns:a14="http://schemas.microsoft.com/office/drawing/2010/main">
                <a:solidFill>
                  <a:srgbClr val="FFFFFF"/>
                </a:solidFill>
              </a14:hiddenFill>
            </a:ext>
          </a:extLst>
        </p:spPr>
        <p:txBody>
          <a:bodyPr vert="horz" wrap="square" lIns="0" tIns="0" rIns="0" bIns="0" rtlCol="0" anchor="t" anchorCtr="0">
            <a:spAutoFit/>
          </a:bodyPr>
          <a:lstStyle>
            <a:lvl1pPr marL="0" indent="0" algn="l" defTabSz="914400" rtl="0" eaLnBrk="1" latinLnBrk="0" hangingPunct="1">
              <a:lnSpc>
                <a:spcPct val="100000"/>
              </a:lnSpc>
              <a:spcBef>
                <a:spcPts val="300"/>
              </a:spcBef>
              <a:spcAft>
                <a:spcPts val="300"/>
              </a:spcAft>
              <a:buClr>
                <a:schemeClr val="tx1"/>
              </a:buClr>
              <a:buSzPct val="100000"/>
              <a:buFont typeface="Segoe UI" panose="020B0502040204020203" pitchFamily="34" charset="0"/>
              <a:buChar char="​"/>
              <a:defRPr lang="en-US" sz="2000" kern="1200" dirty="0">
                <a:solidFill>
                  <a:schemeClr val="tx1"/>
                </a:solidFill>
                <a:latin typeface="+mn-lt"/>
                <a:ea typeface="+mn-ea"/>
                <a:cs typeface="Arial" panose="020B0604020202020204" pitchFamily="34" charset="0"/>
              </a:defRPr>
            </a:lvl1pPr>
            <a:lvl2pPr marL="228600" indent="-228600" algn="l" defTabSz="914400" rtl="0" eaLnBrk="1" latinLnBrk="0" hangingPunct="1">
              <a:lnSpc>
                <a:spcPct val="100000"/>
              </a:lnSpc>
              <a:spcBef>
                <a:spcPts val="0"/>
              </a:spcBef>
              <a:spcAft>
                <a:spcPts val="300"/>
              </a:spcAft>
              <a:buClr>
                <a:schemeClr val="tx1"/>
              </a:buClr>
              <a:buSzPct val="110000"/>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438912" indent="-210312" algn="l" defTabSz="914400" rtl="0" eaLnBrk="1" latinLnBrk="0" hangingPunct="1">
              <a:lnSpc>
                <a:spcPct val="100000"/>
              </a:lnSpc>
              <a:spcBef>
                <a:spcPts val="0"/>
              </a:spcBef>
              <a:spcAft>
                <a:spcPts val="300"/>
              </a:spcAft>
              <a:buClr>
                <a:schemeClr val="tx1"/>
              </a:buClr>
              <a:buSzPct val="110000"/>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594360" indent="-155448"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813816" indent="-146304"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None/>
              <a:tabLst/>
              <a:defRPr/>
            </a:pPr>
            <a:r>
              <a:rPr lang="en-US">
                <a:solidFill>
                  <a:srgbClr val="FFFFFF"/>
                </a:solidFill>
                <a:latin typeface="FS Elliot Pro Light"/>
              </a:rPr>
              <a:t>27</a:t>
            </a:r>
            <a:r>
              <a:rPr kumimoji="0" lang="en-US" sz="2000" b="0" i="0" u="none" strike="noStrike" kern="1200" cap="none" spc="0" normalizeH="0" baseline="30000" noProof="0" err="1">
                <a:ln>
                  <a:noFill/>
                </a:ln>
                <a:solidFill>
                  <a:srgbClr val="FFFFFF"/>
                </a:solidFill>
                <a:effectLst/>
                <a:uLnTx/>
                <a:uFillTx/>
                <a:latin typeface="FS Elliot Pro Light"/>
                <a:ea typeface="+mn-ea"/>
                <a:cs typeface="Arial" panose="020B0604020202020204" pitchFamily="34" charset="0"/>
              </a:rPr>
              <a:t>th</a:t>
            </a:r>
            <a:r>
              <a:rPr kumimoji="0" lang="en-US" sz="2000" b="0" i="0" u="none" strike="noStrike" kern="1200" cap="none" spc="0" normalizeH="0" baseline="0" noProof="0">
                <a:ln>
                  <a:noFill/>
                </a:ln>
                <a:solidFill>
                  <a:srgbClr val="FFFFFF"/>
                </a:solidFill>
                <a:effectLst/>
                <a:uLnTx/>
                <a:uFillTx/>
                <a:latin typeface="FS Elliot Pro Light"/>
                <a:ea typeface="+mn-ea"/>
                <a:cs typeface="Arial" panose="020B0604020202020204" pitchFamily="34" charset="0"/>
              </a:rPr>
              <a:t> – 28</a:t>
            </a:r>
            <a:r>
              <a:rPr kumimoji="0" lang="en-US" sz="2000" b="0" i="0" u="none" strike="noStrike" kern="1200" cap="none" spc="0" normalizeH="0" baseline="30000" noProof="0">
                <a:ln>
                  <a:noFill/>
                </a:ln>
                <a:solidFill>
                  <a:srgbClr val="FFFFFF"/>
                </a:solidFill>
                <a:effectLst/>
                <a:uLnTx/>
                <a:uFillTx/>
                <a:latin typeface="FS Elliot Pro Light"/>
                <a:ea typeface="+mn-ea"/>
                <a:cs typeface="Arial" panose="020B0604020202020204" pitchFamily="34" charset="0"/>
              </a:rPr>
              <a:t>th</a:t>
            </a:r>
            <a:r>
              <a:rPr kumimoji="0" lang="en-US" sz="2000" b="0" i="0" u="none" strike="noStrike" kern="1200" cap="none" spc="0" normalizeH="0" baseline="0" noProof="0">
                <a:ln>
                  <a:noFill/>
                </a:ln>
                <a:solidFill>
                  <a:srgbClr val="FFFFFF"/>
                </a:solidFill>
                <a:effectLst/>
                <a:uLnTx/>
                <a:uFillTx/>
                <a:latin typeface="FS Elliot Pro Light"/>
                <a:ea typeface="+mn-ea"/>
                <a:cs typeface="Arial" panose="020B0604020202020204" pitchFamily="34" charset="0"/>
              </a:rPr>
              <a:t> May, 2025</a:t>
            </a:r>
          </a:p>
        </p:txBody>
      </p:sp>
    </p:spTree>
    <p:extLst>
      <p:ext uri="{BB962C8B-B14F-4D97-AF65-F5344CB8AC3E}">
        <p14:creationId xmlns:p14="http://schemas.microsoft.com/office/powerpoint/2010/main" val="8372206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EDCB7-11BF-21A7-171C-60006E887D56}"/>
            </a:ext>
          </a:extLst>
        </p:cNvPr>
        <p:cNvGrpSpPr/>
        <p:nvPr/>
      </p:nvGrpSpPr>
      <p:grpSpPr>
        <a:xfrm>
          <a:off x="0" y="0"/>
          <a:ext cx="0" cy="0"/>
          <a:chOff x="0" y="0"/>
          <a:chExt cx="0" cy="0"/>
        </a:xfrm>
      </p:grpSpPr>
      <p:pic>
        <p:nvPicPr>
          <p:cNvPr id="7" name="Picture 6" descr="A picture containing text, electronics, circuit">
            <a:extLst>
              <a:ext uri="{FF2B5EF4-FFF2-40B4-BE49-F238E27FC236}">
                <a16:creationId xmlns:a16="http://schemas.microsoft.com/office/drawing/2014/main" id="{96E91A7E-AE14-1773-88EC-AB5889F325EC}"/>
              </a:ext>
            </a:extLst>
          </p:cNvPr>
          <p:cNvPicPr>
            <a:picLocks noChangeAspect="1"/>
          </p:cNvPicPr>
          <p:nvPr/>
        </p:nvPicPr>
        <p:blipFill rotWithShape="1">
          <a:blip r:embed="rId3">
            <a:duotone>
              <a:schemeClr val="accent2">
                <a:shade val="45000"/>
                <a:satMod val="135000"/>
              </a:schemeClr>
              <a:prstClr val="white"/>
            </a:duotone>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l="26076" t="14499" r="10611"/>
          <a:stretch/>
        </p:blipFill>
        <p:spPr>
          <a:xfrm>
            <a:off x="4848446" y="105"/>
            <a:ext cx="7343553" cy="6368797"/>
          </a:xfrm>
          <a:prstGeom prst="rect">
            <a:avLst/>
          </a:prstGeom>
        </p:spPr>
      </p:pic>
      <p:sp>
        <p:nvSpPr>
          <p:cNvPr id="4" name="Title 1">
            <a:extLst>
              <a:ext uri="{FF2B5EF4-FFF2-40B4-BE49-F238E27FC236}">
                <a16:creationId xmlns:a16="http://schemas.microsoft.com/office/drawing/2014/main" id="{D841295B-88D5-57FC-A3F5-389C49A69AB6}"/>
              </a:ext>
            </a:extLst>
          </p:cNvPr>
          <p:cNvSpPr txBox="1">
            <a:spLocks/>
          </p:cNvSpPr>
          <p:nvPr/>
        </p:nvSpPr>
        <p:spPr>
          <a:xfrm>
            <a:off x="284550" y="216713"/>
            <a:ext cx="11904087" cy="509780"/>
          </a:xfrm>
          <a:prstGeom prst="rect">
            <a:avLst/>
          </a:prstGeom>
        </p:spPr>
        <p:txBody>
          <a:bodyPr/>
          <a:lstStyle>
            <a:lvl1pPr algn="l" defTabSz="914400" rtl="0" eaLnBrk="1" latinLnBrk="0" hangingPunct="1">
              <a:lnSpc>
                <a:spcPct val="100000"/>
              </a:lnSpc>
              <a:spcBef>
                <a:spcPct val="0"/>
              </a:spcBef>
              <a:buNone/>
              <a:defRPr sz="3400" b="0" i="0" kern="1200">
                <a:solidFill>
                  <a:srgbClr val="0076CF"/>
                </a:solidFill>
                <a:latin typeface="FS Elliot Pro Light" panose="02000503040000020004" pitchFamily="2"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a:ln>
                  <a:noFill/>
                </a:ln>
                <a:solidFill>
                  <a:srgbClr val="0076CF"/>
                </a:solidFill>
                <a:effectLst/>
                <a:uLnTx/>
                <a:uFillTx/>
                <a:latin typeface="FS Elliot Pro Light" panose="02000503040000020004" pitchFamily="2" charset="0"/>
                <a:ea typeface="+mj-ea"/>
                <a:cs typeface="+mj-cs"/>
              </a:rPr>
              <a:t>Agenda</a:t>
            </a:r>
          </a:p>
        </p:txBody>
      </p:sp>
      <p:sp>
        <p:nvSpPr>
          <p:cNvPr id="8" name="Rectangle 7">
            <a:extLst>
              <a:ext uri="{FF2B5EF4-FFF2-40B4-BE49-F238E27FC236}">
                <a16:creationId xmlns:a16="http://schemas.microsoft.com/office/drawing/2014/main" id="{881FC505-CEC4-6733-4159-6EDDCDB47A9E}"/>
              </a:ext>
            </a:extLst>
          </p:cNvPr>
          <p:cNvSpPr/>
          <p:nvPr/>
        </p:nvSpPr>
        <p:spPr bwMode="gray">
          <a:xfrm>
            <a:off x="4848446" y="-105"/>
            <a:ext cx="7340191" cy="6369007"/>
          </a:xfrm>
          <a:prstGeom prst="rect">
            <a:avLst/>
          </a:prstGeom>
          <a:gradFill flip="none" rotWithShape="1">
            <a:gsLst>
              <a:gs pos="16000">
                <a:schemeClr val="bg1"/>
              </a:gs>
              <a:gs pos="100000">
                <a:schemeClr val="bg1">
                  <a:alpha val="75000"/>
                </a:schemeClr>
              </a:gs>
            </a:gsLst>
            <a:lin ang="0" scaled="1"/>
            <a:tileRect/>
          </a:gradFill>
          <a:ln w="19050" algn="ctr">
            <a:no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600" b="1" i="0" u="none" strike="noStrike" kern="1200" cap="none" spc="0" normalizeH="0" baseline="0" noProof="0">
              <a:ln>
                <a:noFill/>
              </a:ln>
              <a:solidFill>
                <a:prstClr val="white"/>
              </a:solidFill>
              <a:effectLst/>
              <a:uLnTx/>
              <a:uFillTx/>
              <a:latin typeface="Open Sans"/>
              <a:ea typeface="+mn-ea"/>
              <a:cs typeface="+mn-cs"/>
            </a:endParaRPr>
          </a:p>
        </p:txBody>
      </p:sp>
      <p:graphicFrame>
        <p:nvGraphicFramePr>
          <p:cNvPr id="2" name="Table 1">
            <a:extLst>
              <a:ext uri="{FF2B5EF4-FFF2-40B4-BE49-F238E27FC236}">
                <a16:creationId xmlns:a16="http://schemas.microsoft.com/office/drawing/2014/main" id="{10F0FF85-A47C-48C7-0C26-1D58E6A79552}"/>
              </a:ext>
            </a:extLst>
          </p:cNvPr>
          <p:cNvGraphicFramePr>
            <a:graphicFrameLocks noGrp="1"/>
          </p:cNvGraphicFramePr>
          <p:nvPr/>
        </p:nvGraphicFramePr>
        <p:xfrm>
          <a:off x="284550" y="1247425"/>
          <a:ext cx="5485509" cy="4363149"/>
        </p:xfrm>
        <a:graphic>
          <a:graphicData uri="http://schemas.openxmlformats.org/drawingml/2006/table">
            <a:tbl>
              <a:tblPr firstRow="1" bandRow="1">
                <a:tableStyleId>{5C22544A-7EE6-4342-B048-85BDC9FD1C3A}</a:tableStyleId>
              </a:tblPr>
              <a:tblGrid>
                <a:gridCol w="5485509">
                  <a:extLst>
                    <a:ext uri="{9D8B030D-6E8A-4147-A177-3AD203B41FA5}">
                      <a16:colId xmlns:a16="http://schemas.microsoft.com/office/drawing/2014/main" val="3275003962"/>
                    </a:ext>
                  </a:extLst>
                </a:gridCol>
              </a:tblGrid>
              <a:tr h="73152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333333"/>
                          </a:solidFill>
                          <a:effectLst/>
                          <a:uLnTx/>
                          <a:uFillTx/>
                          <a:latin typeface="+mn-lt"/>
                          <a:ea typeface="+mn-ea"/>
                          <a:cs typeface="Calibri" panose="020F0502020204030204" pitchFamily="34" charset="0"/>
                        </a:rPr>
                        <a:t>Requirements Summary</a:t>
                      </a:r>
                      <a:endParaRPr lang="en-US" sz="1800" b="1" kern="1200">
                        <a:solidFill>
                          <a:schemeClr val="lt1"/>
                        </a:solidFill>
                        <a:latin typeface="+mn-lt"/>
                        <a:ea typeface="+mn-ea"/>
                        <a:cs typeface="Calibri" panose="020F0502020204030204" pitchFamily="34" charset="0"/>
                      </a:endParaRPr>
                    </a:p>
                  </a:txBody>
                  <a:tcPr anchor="ctr">
                    <a:lnL w="12700" cmpd="sng">
                      <a:noFill/>
                    </a:lnL>
                    <a:lnR w="12700" cmpd="sng">
                      <a:noFill/>
                    </a:lnR>
                    <a:lnT w="12700" cmpd="sng">
                      <a:noFill/>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68442811"/>
                  </a:ext>
                </a:extLst>
              </a:tr>
              <a:tr h="731520">
                <a:tc>
                  <a:txBody>
                    <a:bodyPr/>
                    <a:lstStyle/>
                    <a:p>
                      <a:r>
                        <a:rPr lang="en-US" sz="1800" b="1">
                          <a:solidFill>
                            <a:schemeClr val="tx1"/>
                          </a:solidFill>
                        </a:rPr>
                        <a:t>Financial Operations Reporting Architecture</a:t>
                      </a:r>
                      <a:endParaRPr lang="en-US" sz="1000" b="0" i="1">
                        <a:solidFill>
                          <a:schemeClr val="tx1"/>
                        </a:solidFill>
                      </a:endParaRPr>
                    </a:p>
                  </a:txBody>
                  <a:tcPr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012841"/>
                  </a:ext>
                </a:extLst>
              </a:tr>
              <a:tr h="731520">
                <a:tc>
                  <a:txBody>
                    <a:bodyPr/>
                    <a:lstStyle/>
                    <a:p>
                      <a:r>
                        <a:rPr lang="en-US" sz="1800" b="1">
                          <a:solidFill>
                            <a:schemeClr val="tx1"/>
                          </a:solidFill>
                        </a:rPr>
                        <a:t>Dimensions &amp; Key Performance Indicators</a:t>
                      </a:r>
                    </a:p>
                  </a:txBody>
                  <a:tcPr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9409594"/>
                  </a:ext>
                </a:extLst>
              </a:tr>
              <a:tr h="1437069">
                <a:tc>
                  <a:txBody>
                    <a:bodyPr/>
                    <a:lstStyle/>
                    <a:p>
                      <a:r>
                        <a:rPr lang="en-US" sz="1800" b="1">
                          <a:solidFill>
                            <a:schemeClr val="tx1"/>
                          </a:solidFill>
                        </a:rPr>
                        <a:t>Wireframes</a:t>
                      </a:r>
                    </a:p>
                    <a:p>
                      <a:pPr marL="460375" indent="-285750">
                        <a:buFont typeface="Calibri" panose="020F0502020204030204" pitchFamily="34" charset="0"/>
                        <a:buChar char="‐"/>
                      </a:pPr>
                      <a:r>
                        <a:rPr lang="en-US" sz="1600" b="1">
                          <a:solidFill>
                            <a:schemeClr val="tx1"/>
                          </a:solidFill>
                        </a:rPr>
                        <a:t>Summary Page</a:t>
                      </a:r>
                    </a:p>
                    <a:p>
                      <a:pPr marL="460375" indent="-285750">
                        <a:buFont typeface="Calibri" panose="020F0502020204030204" pitchFamily="34" charset="0"/>
                        <a:buChar char="‐"/>
                      </a:pPr>
                      <a:r>
                        <a:rPr lang="en-US" sz="1600" b="1">
                          <a:solidFill>
                            <a:schemeClr val="tx1"/>
                          </a:solidFill>
                        </a:rPr>
                        <a:t>Cost Management</a:t>
                      </a:r>
                    </a:p>
                    <a:p>
                      <a:pPr marL="460375" indent="-285750">
                        <a:buFont typeface="Calibri" panose="020F0502020204030204" pitchFamily="34" charset="0"/>
                        <a:buChar char="‐"/>
                      </a:pPr>
                      <a:r>
                        <a:rPr lang="en-US" sz="1600" b="1">
                          <a:solidFill>
                            <a:schemeClr val="tx1"/>
                          </a:solidFill>
                        </a:rPr>
                        <a:t>Performance Management</a:t>
                      </a:r>
                    </a:p>
                    <a:p>
                      <a:pPr marL="460375" indent="-285750">
                        <a:buFont typeface="Calibri" panose="020F0502020204030204" pitchFamily="34" charset="0"/>
                        <a:buChar char="‐"/>
                      </a:pPr>
                      <a:r>
                        <a:rPr lang="en-US" sz="1600" b="1">
                          <a:solidFill>
                            <a:schemeClr val="tx1"/>
                          </a:solidFill>
                        </a:rPr>
                        <a:t>Product Usage</a:t>
                      </a:r>
                    </a:p>
                  </a:txBody>
                  <a:tcPr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5158142"/>
                  </a:ext>
                </a:extLst>
              </a:tr>
              <a:tr h="731520">
                <a:tc>
                  <a:txBody>
                    <a:bodyPr/>
                    <a:lstStyle/>
                    <a:p>
                      <a:r>
                        <a:rPr lang="en-US" sz="1800" b="1">
                          <a:solidFill>
                            <a:schemeClr val="tx1"/>
                          </a:solidFill>
                        </a:rPr>
                        <a:t>New Product Onboard Forecast</a:t>
                      </a:r>
                    </a:p>
                  </a:txBody>
                  <a:tcPr anchor="ctr">
                    <a:lnL w="12700" cmpd="sng">
                      <a:noFill/>
                    </a:lnL>
                    <a:lnR w="12700" cmpd="sng">
                      <a:noFill/>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3149207"/>
                  </a:ext>
                </a:extLst>
              </a:tr>
            </a:tbl>
          </a:graphicData>
        </a:graphic>
      </p:graphicFrame>
    </p:spTree>
    <p:extLst>
      <p:ext uri="{BB962C8B-B14F-4D97-AF65-F5344CB8AC3E}">
        <p14:creationId xmlns:p14="http://schemas.microsoft.com/office/powerpoint/2010/main" val="6338053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EDCB7-11BF-21A7-171C-60006E887D5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D841295B-88D5-57FC-A3F5-389C49A69AB6}"/>
              </a:ext>
            </a:extLst>
          </p:cNvPr>
          <p:cNvSpPr txBox="1">
            <a:spLocks/>
          </p:cNvSpPr>
          <p:nvPr/>
        </p:nvSpPr>
        <p:spPr>
          <a:xfrm>
            <a:off x="284550" y="216713"/>
            <a:ext cx="11904087" cy="509780"/>
          </a:xfrm>
          <a:prstGeom prst="rect">
            <a:avLst/>
          </a:prstGeom>
        </p:spPr>
        <p:txBody>
          <a:bodyPr/>
          <a:lstStyle>
            <a:lvl1pPr algn="l" defTabSz="914400" rtl="0" eaLnBrk="1" latinLnBrk="0" hangingPunct="1">
              <a:lnSpc>
                <a:spcPct val="100000"/>
              </a:lnSpc>
              <a:spcBef>
                <a:spcPct val="0"/>
              </a:spcBef>
              <a:buNone/>
              <a:defRPr sz="3400" b="0" i="0" kern="1200">
                <a:solidFill>
                  <a:srgbClr val="0076CF"/>
                </a:solidFill>
                <a:latin typeface="FS Elliot Pro Light" panose="02000503040000020004" pitchFamily="2"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a:ln>
                  <a:noFill/>
                </a:ln>
                <a:solidFill>
                  <a:srgbClr val="0076CF"/>
                </a:solidFill>
                <a:effectLst/>
                <a:uLnTx/>
                <a:uFillTx/>
                <a:latin typeface="FS Elliot Pro Light" panose="02000503040000020004" pitchFamily="2" charset="0"/>
                <a:ea typeface="+mj-ea"/>
                <a:cs typeface="+mj-cs"/>
              </a:rPr>
              <a:t>Requirements Summary</a:t>
            </a:r>
          </a:p>
        </p:txBody>
      </p:sp>
      <p:graphicFrame>
        <p:nvGraphicFramePr>
          <p:cNvPr id="2" name="Table 1">
            <a:extLst>
              <a:ext uri="{FF2B5EF4-FFF2-40B4-BE49-F238E27FC236}">
                <a16:creationId xmlns:a16="http://schemas.microsoft.com/office/drawing/2014/main" id="{F3645EB4-0E87-6D92-E196-9CABB954E7D1}"/>
              </a:ext>
            </a:extLst>
          </p:cNvPr>
          <p:cNvGraphicFramePr>
            <a:graphicFrameLocks noGrp="1"/>
          </p:cNvGraphicFramePr>
          <p:nvPr>
            <p:extLst>
              <p:ext uri="{D42A27DB-BD31-4B8C-83A1-F6EECF244321}">
                <p14:modId xmlns:p14="http://schemas.microsoft.com/office/powerpoint/2010/main" val="1861706970"/>
              </p:ext>
            </p:extLst>
          </p:nvPr>
        </p:nvGraphicFramePr>
        <p:xfrm>
          <a:off x="170250" y="814522"/>
          <a:ext cx="11704320" cy="5635581"/>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3899209182"/>
                    </a:ext>
                  </a:extLst>
                </a:gridCol>
                <a:gridCol w="1828800">
                  <a:extLst>
                    <a:ext uri="{9D8B030D-6E8A-4147-A177-3AD203B41FA5}">
                      <a16:colId xmlns:a16="http://schemas.microsoft.com/office/drawing/2014/main" val="2620389439"/>
                    </a:ext>
                  </a:extLst>
                </a:gridCol>
                <a:gridCol w="5760720">
                  <a:extLst>
                    <a:ext uri="{9D8B030D-6E8A-4147-A177-3AD203B41FA5}">
                      <a16:colId xmlns:a16="http://schemas.microsoft.com/office/drawing/2014/main" val="3427785433"/>
                    </a:ext>
                  </a:extLst>
                </a:gridCol>
                <a:gridCol w="731520">
                  <a:extLst>
                    <a:ext uri="{9D8B030D-6E8A-4147-A177-3AD203B41FA5}">
                      <a16:colId xmlns:a16="http://schemas.microsoft.com/office/drawing/2014/main" val="3857769172"/>
                    </a:ext>
                  </a:extLst>
                </a:gridCol>
                <a:gridCol w="822960">
                  <a:extLst>
                    <a:ext uri="{9D8B030D-6E8A-4147-A177-3AD203B41FA5}">
                      <a16:colId xmlns:a16="http://schemas.microsoft.com/office/drawing/2014/main" val="1688793258"/>
                    </a:ext>
                  </a:extLst>
                </a:gridCol>
                <a:gridCol w="822960">
                  <a:extLst>
                    <a:ext uri="{9D8B030D-6E8A-4147-A177-3AD203B41FA5}">
                      <a16:colId xmlns:a16="http://schemas.microsoft.com/office/drawing/2014/main" val="1923920002"/>
                    </a:ext>
                  </a:extLst>
                </a:gridCol>
                <a:gridCol w="822960">
                  <a:extLst>
                    <a:ext uri="{9D8B030D-6E8A-4147-A177-3AD203B41FA5}">
                      <a16:colId xmlns:a16="http://schemas.microsoft.com/office/drawing/2014/main" val="2460729748"/>
                    </a:ext>
                  </a:extLst>
                </a:gridCol>
              </a:tblGrid>
              <a:tr h="271101">
                <a:tc rowSpan="2">
                  <a:txBody>
                    <a:bodyPr/>
                    <a:lstStyle/>
                    <a:p>
                      <a:pPr algn="ctr"/>
                      <a:r>
                        <a:rPr lang="en-US" sz="1100">
                          <a:latin typeface="+mj-lt"/>
                        </a:rPr>
                        <a:t>Category</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338DCD"/>
                    </a:solidFill>
                  </a:tcPr>
                </a:tc>
                <a:tc rowSpan="2">
                  <a:txBody>
                    <a:bodyPr/>
                    <a:lstStyle/>
                    <a:p>
                      <a:pPr algn="ctr"/>
                      <a:r>
                        <a:rPr lang="en-US" sz="1100">
                          <a:latin typeface="+mj-lt"/>
                        </a:rPr>
                        <a:t>Category</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338DCD"/>
                    </a:solidFill>
                  </a:tcPr>
                </a:tc>
                <a:tc rowSpan="2">
                  <a:txBody>
                    <a:bodyPr/>
                    <a:lstStyle/>
                    <a:p>
                      <a:pPr algn="ctr"/>
                      <a:r>
                        <a:rPr lang="en-US" sz="1100">
                          <a:latin typeface="+mj-lt"/>
                        </a:rPr>
                        <a:t>Requirement</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338DCD"/>
                    </a:solidFill>
                  </a:tcPr>
                </a:tc>
                <a:tc rowSpan="2">
                  <a:txBody>
                    <a:bodyPr/>
                    <a:lstStyle/>
                    <a:p>
                      <a:pPr algn="ctr"/>
                      <a:r>
                        <a:rPr lang="en-US" sz="1100" dirty="0">
                          <a:latin typeface="+mj-lt"/>
                        </a:rPr>
                        <a:t>Priority (1- Low</a:t>
                      </a:r>
                    </a:p>
                    <a:p>
                      <a:pPr algn="ctr"/>
                      <a:r>
                        <a:rPr lang="en-US" sz="1100" dirty="0">
                          <a:latin typeface="+mj-lt"/>
                        </a:rPr>
                        <a:t>5 - High)</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338DCD"/>
                    </a:solidFill>
                  </a:tcPr>
                </a:tc>
                <a:tc gridSpan="3">
                  <a:txBody>
                    <a:bodyPr/>
                    <a:lstStyle/>
                    <a:p>
                      <a:pPr algn="ctr"/>
                      <a:r>
                        <a:rPr lang="en-US" sz="1100"/>
                        <a:t>Applicable Persona</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338DC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477258189"/>
                  </a:ext>
                </a:extLst>
              </a:tr>
              <a:tr h="311745">
                <a:tc vMerge="1">
                  <a:txBody>
                    <a:bodyPr/>
                    <a:lstStyle/>
                    <a:p>
                      <a:endParaRPr lang="en-US"/>
                    </a:p>
                  </a:txBody>
                  <a:tcPr/>
                </a:tc>
                <a:tc vMerge="1">
                  <a:txBody>
                    <a:bodyPr/>
                    <a:lstStyle/>
                    <a:p>
                      <a:endParaRPr lang="en-US" sz="1000"/>
                    </a:p>
                  </a:txBody>
                  <a:tcPr/>
                </a:tc>
                <a:tc vMerge="1">
                  <a:txBody>
                    <a:bodyPr/>
                    <a:lstStyle/>
                    <a:p>
                      <a:endParaRPr lang="en-US" sz="1000"/>
                    </a:p>
                  </a:txBody>
                  <a:tcPr/>
                </a:tc>
                <a:tc vMerge="1">
                  <a:txBody>
                    <a:bodyPr/>
                    <a:lstStyle/>
                    <a:p>
                      <a:endParaRPr lang="en-US"/>
                    </a:p>
                  </a:txBody>
                  <a:tcPr/>
                </a:tc>
                <a:tc>
                  <a:txBody>
                    <a:bodyPr/>
                    <a:lstStyle/>
                    <a:p>
                      <a:pPr algn="ctr"/>
                      <a:r>
                        <a:rPr lang="en-US" sz="1100">
                          <a:latin typeface="+mj-lt"/>
                        </a:rPr>
                        <a:t>EDF Platform</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sz="1100">
                          <a:latin typeface="+mj-lt"/>
                        </a:rPr>
                        <a:t>Data Producers</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sz="1100">
                          <a:latin typeface="+mj-lt"/>
                        </a:rPr>
                        <a:t>Data Consumers</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706059849"/>
                  </a:ext>
                </a:extLst>
              </a:tr>
              <a:tr h="548640">
                <a:tc rowSpan="6">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latin typeface="+mn-lt"/>
                        </a:rPr>
                        <a:t>Cost Management</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rgbClr val="2894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latin typeface="+mn-lt"/>
                        </a:rPr>
                        <a:t>Budget &amp; Alerting</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lvl="0" algn="l">
                        <a:buNone/>
                      </a:pPr>
                      <a:r>
                        <a:rPr lang="en-US" sz="1000" b="0" i="0" u="none" strike="noStrike" noProof="0">
                          <a:latin typeface="+mn-lt"/>
                        </a:rPr>
                        <a:t>To identify and set budget limits for different functional roles, data product, department. </a:t>
                      </a:r>
                      <a:r>
                        <a:rPr lang="en-US" sz="1000" b="0">
                          <a:latin typeface="+mn-lt"/>
                        </a:rPr>
                        <a:t>Alerts as spending nears or exceeds predefined thresholds / budget.</a:t>
                      </a:r>
                      <a:endParaRPr lang="en-US" sz="1000" b="0" i="0" u="none" strike="noStrike" noProof="0">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1000" b="0" i="0" u="none" strike="noStrike" noProof="0">
                          <a:latin typeface="+mn-lt"/>
                        </a:rPr>
                        <a:t>4</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00" b="0">
                          <a:solidFill>
                            <a:srgbClr val="338DCD"/>
                          </a:solidFill>
                          <a:latin typeface="+mn-lt"/>
                          <a:sym typeface="Wingdings" panose="05000000000000000000" pitchFamily="2" charset="2"/>
                        </a:rPr>
                        <a:t></a:t>
                      </a:r>
                      <a:endParaRPr lang="en-US" sz="1000" b="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1000" b="0" i="0" u="none" strike="noStrike" noProof="0">
                          <a:solidFill>
                            <a:srgbClr val="338DCD"/>
                          </a:solidFill>
                          <a:latin typeface="+mn-lt"/>
                          <a:sym typeface="Wingdings"/>
                        </a:rPr>
                        <a:t></a:t>
                      </a:r>
                      <a:endParaRPr lang="en-US" sz="1000" b="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u="none" strike="noStrike" noProof="0">
                          <a:solidFill>
                            <a:srgbClr val="338DCD"/>
                          </a:solidFill>
                          <a:latin typeface="+mn-lt"/>
                          <a:sym typeface="Wingdings"/>
                        </a:rPr>
                        <a:t></a:t>
                      </a:r>
                      <a:endParaRPr lang="en-US" sz="1000" b="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3089015"/>
                  </a:ext>
                </a:extLst>
              </a:tr>
              <a:tr h="548640">
                <a:tc vMerge="1">
                  <a:txBody>
                    <a:bodyPr/>
                    <a:lstStyle/>
                    <a:p>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sz="1000" b="1">
                          <a:latin typeface="+mn-lt"/>
                        </a:rPr>
                        <a:t>Anomaly Detection</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lvl="0" algn="l">
                        <a:lnSpc>
                          <a:spcPct val="100000"/>
                        </a:lnSpc>
                        <a:spcBef>
                          <a:spcPts val="0"/>
                        </a:spcBef>
                        <a:spcAft>
                          <a:spcPts val="0"/>
                        </a:spcAft>
                        <a:buNone/>
                      </a:pPr>
                      <a:r>
                        <a:rPr lang="en-US" sz="1000" b="0" i="0" u="none" strike="noStrike" noProof="0">
                          <a:solidFill>
                            <a:srgbClr val="404040"/>
                          </a:solidFill>
                          <a:latin typeface="+mn-lt"/>
                        </a:rPr>
                        <a:t>Detect and flag anomalies, such as sudden spikes in spend or usage during the day, week or month.</a:t>
                      </a:r>
                      <a:endParaRPr lang="en-US" sz="1000" b="0" i="0" u="none" strike="noStrike" noProof="0">
                        <a:solidFill>
                          <a:srgbClr val="000000"/>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1000" b="0">
                          <a:latin typeface="+mn-lt"/>
                        </a:rPr>
                        <a:t>4</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u="none" strike="noStrike" noProof="0">
                          <a:solidFill>
                            <a:srgbClr val="338DCD"/>
                          </a:solidFill>
                          <a:latin typeface="+mn-lt"/>
                          <a:sym typeface="Wingdings"/>
                        </a:rPr>
                        <a:t></a:t>
                      </a:r>
                      <a:endParaRPr lang="en-US" sz="1000" b="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u="none" strike="noStrike" noProof="0">
                          <a:solidFill>
                            <a:srgbClr val="338DCD"/>
                          </a:solidFill>
                          <a:latin typeface="+mn-lt"/>
                          <a:sym typeface="Wingdings"/>
                        </a:rPr>
                        <a:t></a:t>
                      </a:r>
                      <a:endParaRPr lang="en-US" sz="1000" b="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u="none" strike="noStrike" noProof="0">
                          <a:solidFill>
                            <a:srgbClr val="338DCD"/>
                          </a:solidFill>
                          <a:latin typeface="+mn-lt"/>
                          <a:sym typeface="Wingdings"/>
                        </a:rPr>
                        <a:t></a:t>
                      </a:r>
                      <a:endParaRPr lang="en-US" sz="1000" b="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6775505"/>
                  </a:ext>
                </a:extLst>
              </a:tr>
              <a:tr h="548640">
                <a:tc vMerge="1">
                  <a:txBody>
                    <a:bodyPr/>
                    <a:lstStyle/>
                    <a:p>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latin typeface="+mn-lt"/>
                        </a:rPr>
                        <a:t>Contract Management</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lvl="0" algn="l">
                        <a:lnSpc>
                          <a:spcPct val="100000"/>
                        </a:lnSpc>
                        <a:spcBef>
                          <a:spcPts val="0"/>
                        </a:spcBef>
                        <a:spcAft>
                          <a:spcPts val="0"/>
                        </a:spcAft>
                        <a:buNone/>
                      </a:pPr>
                      <a:r>
                        <a:rPr lang="en-US" sz="1000" b="0" i="0" u="none" strike="noStrike" noProof="0">
                          <a:solidFill>
                            <a:schemeClr val="tx1"/>
                          </a:solidFill>
                          <a:latin typeface="+mn-lt"/>
                        </a:rPr>
                        <a:t>Analyze and compare Snowflake contract terms vs actual usage to identify consumption trends and gaps</a:t>
                      </a:r>
                      <a:r>
                        <a:rPr lang="en-US" sz="1000" b="0" i="0" u="none" strike="noStrike" noProof="0">
                          <a:solidFill>
                            <a:srgbClr val="C00000"/>
                          </a:solidFill>
                          <a:latin typeface="+mn-lt"/>
                        </a:rPr>
                        <a:t>.</a:t>
                      </a:r>
                      <a:endParaRPr lang="en-US" sz="1000">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1000">
                          <a:latin typeface="+mn-lt"/>
                        </a:rPr>
                        <a:t>5</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1000" b="0" i="0" u="none" strike="noStrike" noProof="0">
                          <a:solidFill>
                            <a:srgbClr val="338DCD"/>
                          </a:solidFill>
                          <a:latin typeface="+mn-lt"/>
                          <a:sym typeface="Wingdings"/>
                        </a:rPr>
                        <a:t></a:t>
                      </a:r>
                      <a:endParaRPr lang="en-US" sz="1000" b="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000" b="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000" b="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5046529"/>
                  </a:ext>
                </a:extLst>
              </a:tr>
              <a:tr h="548640">
                <a:tc vMerge="1">
                  <a:txBody>
                    <a:bodyPr/>
                    <a:lstStyle/>
                    <a:p>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i="0" u="none" strike="noStrike" noProof="0">
                          <a:solidFill>
                            <a:srgbClr val="404040"/>
                          </a:solidFill>
                          <a:latin typeface="+mn-lt"/>
                        </a:rPr>
                        <a:t>Credit Usage visibility</a:t>
                      </a:r>
                      <a:endParaRPr lang="en-US" sz="1000" b="1">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lvl="0" algn="l">
                        <a:lnSpc>
                          <a:spcPct val="100000"/>
                        </a:lnSpc>
                        <a:spcBef>
                          <a:spcPts val="0"/>
                        </a:spcBef>
                        <a:spcAft>
                          <a:spcPts val="0"/>
                        </a:spcAft>
                        <a:buNone/>
                      </a:pPr>
                      <a:r>
                        <a:rPr lang="en-US" sz="1000">
                          <a:latin typeface="+mn-lt"/>
                        </a:rPr>
                        <a:t>Provide detailed breakdown of Snowflake credit usage, segmented by data producers and consumers. Highlight top users and identify unusual consumption patterns over time.</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1000">
                          <a:latin typeface="+mn-lt"/>
                        </a:rPr>
                        <a:t>5</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1000" b="0" i="0" u="none" strike="noStrike" noProof="0">
                          <a:solidFill>
                            <a:srgbClr val="338DCD"/>
                          </a:solidFill>
                          <a:latin typeface="+mn-lt"/>
                          <a:sym typeface="Wingdings"/>
                        </a:rPr>
                        <a:t></a:t>
                      </a:r>
                      <a:endParaRPr lang="en-US" sz="1000" b="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1000" b="0" i="0" u="none" strike="noStrike" noProof="0">
                          <a:solidFill>
                            <a:srgbClr val="338DCD"/>
                          </a:solidFill>
                          <a:latin typeface="+mn-lt"/>
                          <a:sym typeface="Wingdings"/>
                        </a:rPr>
                        <a:t></a:t>
                      </a:r>
                      <a:endParaRPr lang="en-US" sz="1000" b="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1000" b="0" i="0" u="none" strike="noStrike" noProof="0">
                          <a:solidFill>
                            <a:srgbClr val="338DCD"/>
                          </a:solidFill>
                          <a:latin typeface="Wingdings"/>
                          <a:sym typeface="Wingdings"/>
                        </a:rPr>
                        <a:t></a:t>
                      </a:r>
                      <a:endParaRPr lang="en-US"/>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85949657"/>
                  </a:ext>
                </a:extLst>
              </a:tr>
              <a:tr h="548640">
                <a:tc vMerge="1">
                  <a:txBody>
                    <a:bodyPr/>
                    <a:lstStyle/>
                    <a:p>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sz="1000" b="1" kern="0">
                          <a:solidFill>
                            <a:prstClr val="black">
                              <a:lumMod val="75000"/>
                              <a:lumOff val="25000"/>
                            </a:prstClr>
                          </a:solidFill>
                          <a:latin typeface="+mn-lt"/>
                          <a:ea typeface="Open Sans"/>
                          <a:cs typeface="Open Sans"/>
                        </a:rPr>
                        <a:t>Forecasting &amp; Historical Analysis</a:t>
                      </a:r>
                      <a:endParaRPr lang="en-US" sz="1000" b="1">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u="none" strike="noStrike" noProof="0">
                          <a:latin typeface="+mn-lt"/>
                        </a:rPr>
                        <a:t>Use historical data to forecast future expenses and usage.</a:t>
                      </a:r>
                      <a:endParaRPr lang="en-US" sz="1000" b="0">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1000" b="0" i="0" u="none" strike="noStrike" noProof="0">
                          <a:latin typeface="+mn-lt"/>
                        </a:rPr>
                        <a:t>5</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a:solidFill>
                            <a:srgbClr val="338DCD"/>
                          </a:solidFill>
                          <a:latin typeface="+mn-lt"/>
                          <a:sym typeface="Wingdings" panose="05000000000000000000" pitchFamily="2" charset="2"/>
                        </a:rPr>
                        <a:t></a:t>
                      </a:r>
                      <a:endParaRPr lang="en-US" sz="1000" b="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en-US" sz="1000" b="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1000" b="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1916456"/>
                  </a:ext>
                </a:extLst>
              </a:tr>
              <a:tr h="548640">
                <a:tc vMerge="1">
                  <a:txBody>
                    <a:bodyPr/>
                    <a:lstStyle/>
                    <a:p>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i="0" u="none" strike="noStrike" noProof="0">
                          <a:solidFill>
                            <a:srgbClr val="404040"/>
                          </a:solidFill>
                          <a:latin typeface="+mn-lt"/>
                        </a:rPr>
                        <a:t>Snowflake spending by BU</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rgbClr val="2894FF"/>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u="none" strike="noStrike" noProof="0">
                          <a:solidFill>
                            <a:schemeClr val="tx1"/>
                          </a:solidFill>
                          <a:latin typeface="+mn-lt"/>
                        </a:rPr>
                        <a:t>Monitor spending by Business Unit (BU) to identify cost trends, compare expenditures over time.</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rgbClr val="2894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1000">
                          <a:latin typeface="+mn-lt"/>
                        </a:rPr>
                        <a:t>5</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rgbClr val="2894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u="none" strike="noStrike" noProof="0">
                          <a:solidFill>
                            <a:srgbClr val="338DCD"/>
                          </a:solidFill>
                          <a:latin typeface="+mn-lt"/>
                          <a:sym typeface="Wingdings"/>
                        </a:rPr>
                        <a:t></a:t>
                      </a:r>
                      <a:endParaRPr lang="en-US" sz="1000" b="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rgbClr val="2894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a:solidFill>
                            <a:srgbClr val="338DCD"/>
                          </a:solidFill>
                          <a:latin typeface="+mn-lt"/>
                          <a:sym typeface="Wingdings" panose="05000000000000000000" pitchFamily="2" charset="2"/>
                        </a:rPr>
                        <a:t></a:t>
                      </a:r>
                      <a:endParaRPr lang="en-US" sz="1000" b="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rgbClr val="2894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u="none" strike="noStrike" noProof="0">
                          <a:solidFill>
                            <a:srgbClr val="338DCD"/>
                          </a:solidFill>
                          <a:latin typeface="+mn-lt"/>
                          <a:sym typeface="Wingdings"/>
                        </a:rPr>
                        <a:t></a:t>
                      </a:r>
                      <a:endParaRPr lang="en-US" sz="1000" b="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rgbClr val="2894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46945549"/>
                  </a:ext>
                </a:extLst>
              </a:tr>
              <a:tr h="548640">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i="0" u="none" strike="noStrike" noProof="0">
                          <a:solidFill>
                            <a:srgbClr val="404040"/>
                          </a:solidFill>
                          <a:latin typeface="+mn-lt"/>
                        </a:rPr>
                        <a:t>Performance Management</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rgbClr val="2894FF"/>
                      </a:solidFill>
                      <a:prstDash val="solid"/>
                      <a:round/>
                      <a:headEnd type="none" w="med" len="med"/>
                      <a:tailEnd type="none" w="med" len="med"/>
                    </a:lnT>
                    <a:lnB w="12700" cap="flat" cmpd="sng" algn="ctr">
                      <a:solidFill>
                        <a:srgbClr val="2894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i="0" u="none" strike="noStrike" noProof="0">
                          <a:solidFill>
                            <a:srgbClr val="404040"/>
                          </a:solidFill>
                          <a:latin typeface="+mn-lt"/>
                        </a:rPr>
                        <a:t>Storage Management</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rgbClr val="2894FF"/>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u="none" strike="noStrike" noProof="0">
                          <a:solidFill>
                            <a:schemeClr val="tx1"/>
                          </a:solidFill>
                          <a:latin typeface="+mn-lt"/>
                        </a:rPr>
                        <a:t>Identify storage utilization and split between Permanent, Transient and Temporary tables.</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rgbClr val="2894FF"/>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1000">
                          <a:latin typeface="+mn-lt"/>
                        </a:rPr>
                        <a:t>3</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rgbClr val="2894FF"/>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1000" b="0" i="0" u="none" strike="noStrike" noProof="0">
                          <a:solidFill>
                            <a:srgbClr val="338DCD"/>
                          </a:solidFill>
                          <a:latin typeface="+mn-lt"/>
                          <a:sym typeface="Wingdings"/>
                        </a:rPr>
                        <a:t></a:t>
                      </a:r>
                      <a:endParaRPr lang="en-US" sz="100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rgbClr val="2894FF"/>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u="none" strike="noStrike" noProof="0">
                          <a:solidFill>
                            <a:srgbClr val="338DCD"/>
                          </a:solidFill>
                          <a:latin typeface="+mn-lt"/>
                          <a:sym typeface="Wingdings"/>
                        </a:rPr>
                        <a:t></a:t>
                      </a:r>
                      <a:endParaRPr lang="en-US" sz="100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rgbClr val="2894FF"/>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en-US" sz="100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rgbClr val="2894FF"/>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59332524"/>
                  </a:ext>
                </a:extLst>
              </a:tr>
              <a:tr h="5486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1">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a:buNone/>
                      </a:pPr>
                      <a:r>
                        <a:rPr lang="en-US" sz="1000" b="1" i="0" u="none" strike="noStrike" noProof="0">
                          <a:solidFill>
                            <a:srgbClr val="404040"/>
                          </a:solidFill>
                          <a:latin typeface="+mn-lt"/>
                        </a:rPr>
                        <a:t>Query performance Metrics</a:t>
                      </a:r>
                      <a:endParaRPr lang="en-US" sz="1000" b="1">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lvl="0" algn="l">
                        <a:lnSpc>
                          <a:spcPct val="100000"/>
                        </a:lnSpc>
                        <a:spcBef>
                          <a:spcPts val="0"/>
                        </a:spcBef>
                        <a:spcAft>
                          <a:spcPts val="0"/>
                        </a:spcAft>
                        <a:buNone/>
                      </a:pPr>
                      <a:r>
                        <a:rPr lang="en-US" sz="1000" b="0" i="0" u="none" strike="noStrike" noProof="0">
                          <a:solidFill>
                            <a:srgbClr val="404040"/>
                          </a:solidFill>
                          <a:latin typeface="+mn-lt"/>
                        </a:rPr>
                        <a:t>Identify long-running queries, query origin, top data consumers and their usage patterns. </a:t>
                      </a:r>
                    </a:p>
                    <a:p>
                      <a:pPr lvl="0" algn="l">
                        <a:lnSpc>
                          <a:spcPct val="100000"/>
                        </a:lnSpc>
                        <a:spcBef>
                          <a:spcPts val="0"/>
                        </a:spcBef>
                        <a:spcAft>
                          <a:spcPts val="0"/>
                        </a:spcAft>
                        <a:buNone/>
                      </a:pPr>
                      <a:r>
                        <a:rPr lang="en-US" sz="1000" b="0" i="0" u="none" strike="noStrike" noProof="0">
                          <a:solidFill>
                            <a:srgbClr val="404040"/>
                          </a:solidFill>
                          <a:latin typeface="+mn-lt"/>
                        </a:rPr>
                        <a:t>Average query response time per data product.</a:t>
                      </a:r>
                      <a:endParaRPr lang="en-US" sz="1000" b="0">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1000" b="0">
                          <a:latin typeface="+mn-lt"/>
                        </a:rPr>
                        <a:t>4</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u="none" strike="noStrike" noProof="0">
                          <a:solidFill>
                            <a:srgbClr val="338DCD"/>
                          </a:solidFill>
                          <a:latin typeface="+mn-lt"/>
                          <a:sym typeface="Wingdings"/>
                        </a:rPr>
                        <a:t></a:t>
                      </a:r>
                      <a:endParaRPr lang="en-US" sz="1000" b="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1000" b="0" i="0" u="none" strike="noStrike" noProof="0">
                          <a:solidFill>
                            <a:srgbClr val="338DCD"/>
                          </a:solidFill>
                          <a:latin typeface="+mn-lt"/>
                          <a:sym typeface="Wingdings"/>
                        </a:rPr>
                        <a:t></a:t>
                      </a:r>
                      <a:endParaRPr lang="en-US" sz="1000" b="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1000" b="0" i="0" u="none" strike="noStrike" noProof="0">
                          <a:solidFill>
                            <a:srgbClr val="338DCD"/>
                          </a:solidFill>
                          <a:latin typeface="+mn-lt"/>
                          <a:sym typeface="Wingdings"/>
                        </a:rPr>
                        <a:t></a:t>
                      </a:r>
                      <a:endParaRPr lang="en-US" sz="1000" b="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69196642"/>
                  </a:ext>
                </a:extLst>
              </a:tr>
              <a:tr h="5486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1">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i="0" u="none" strike="noStrike" noProof="0">
                          <a:solidFill>
                            <a:srgbClr val="404040"/>
                          </a:solidFill>
                          <a:latin typeface="+mn-lt"/>
                        </a:rPr>
                        <a:t>Warehouse usage monitoring</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rgbClr val="2894FF"/>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u="none" strike="noStrike" noProof="0">
                          <a:solidFill>
                            <a:schemeClr val="tx1"/>
                          </a:solidFill>
                          <a:latin typeface="+mn-lt"/>
                        </a:rPr>
                        <a:t>Granular monitoring of warehouse usage and identify underutilized or over-provisioned warehouses.</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rgbClr val="2894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1000">
                          <a:latin typeface="+mn-lt"/>
                        </a:rPr>
                        <a:t>5</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rgbClr val="2894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u="none" strike="noStrike" noProof="0">
                          <a:solidFill>
                            <a:srgbClr val="338DCD"/>
                          </a:solidFill>
                          <a:latin typeface="+mn-lt"/>
                          <a:sym typeface="Wingdings"/>
                        </a:rPr>
                        <a:t></a:t>
                      </a:r>
                      <a:endParaRPr lang="en-US" sz="100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rgbClr val="2894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rgbClr val="2894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endParaRPr lang="en-US" sz="1000" dirty="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rgbClr val="2894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35846664"/>
                  </a:ext>
                </a:extLst>
              </a:tr>
            </a:tbl>
          </a:graphicData>
        </a:graphic>
      </p:graphicFrame>
    </p:spTree>
    <p:extLst>
      <p:ext uri="{BB962C8B-B14F-4D97-AF65-F5344CB8AC3E}">
        <p14:creationId xmlns:p14="http://schemas.microsoft.com/office/powerpoint/2010/main" val="38972036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EDCB7-11BF-21A7-171C-60006E887D5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D841295B-88D5-57FC-A3F5-389C49A69AB6}"/>
              </a:ext>
            </a:extLst>
          </p:cNvPr>
          <p:cNvSpPr txBox="1">
            <a:spLocks/>
          </p:cNvSpPr>
          <p:nvPr/>
        </p:nvSpPr>
        <p:spPr>
          <a:xfrm>
            <a:off x="284550" y="216713"/>
            <a:ext cx="11904087" cy="509780"/>
          </a:xfrm>
          <a:prstGeom prst="rect">
            <a:avLst/>
          </a:prstGeom>
        </p:spPr>
        <p:txBody>
          <a:bodyPr/>
          <a:lstStyle>
            <a:lvl1pPr algn="l" defTabSz="914400" rtl="0" eaLnBrk="1" latinLnBrk="0" hangingPunct="1">
              <a:lnSpc>
                <a:spcPct val="100000"/>
              </a:lnSpc>
              <a:spcBef>
                <a:spcPct val="0"/>
              </a:spcBef>
              <a:buNone/>
              <a:defRPr sz="3400" b="0" i="0" kern="1200">
                <a:solidFill>
                  <a:srgbClr val="0076CF"/>
                </a:solidFill>
                <a:latin typeface="FS Elliot Pro Light" panose="02000503040000020004" pitchFamily="2"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a:ln>
                  <a:noFill/>
                </a:ln>
                <a:solidFill>
                  <a:srgbClr val="0076CF"/>
                </a:solidFill>
                <a:effectLst/>
                <a:uLnTx/>
                <a:uFillTx/>
                <a:latin typeface="FS Elliot Pro Light" panose="02000503040000020004" pitchFamily="2" charset="0"/>
                <a:ea typeface="+mj-ea"/>
                <a:cs typeface="+mj-cs"/>
              </a:rPr>
              <a:t>Requirements Summary</a:t>
            </a:r>
          </a:p>
        </p:txBody>
      </p:sp>
      <p:graphicFrame>
        <p:nvGraphicFramePr>
          <p:cNvPr id="2" name="Table 1">
            <a:extLst>
              <a:ext uri="{FF2B5EF4-FFF2-40B4-BE49-F238E27FC236}">
                <a16:creationId xmlns:a16="http://schemas.microsoft.com/office/drawing/2014/main" id="{F3645EB4-0E87-6D92-E196-9CABB954E7D1}"/>
              </a:ext>
            </a:extLst>
          </p:cNvPr>
          <p:cNvGraphicFramePr>
            <a:graphicFrameLocks noGrp="1"/>
          </p:cNvGraphicFramePr>
          <p:nvPr>
            <p:extLst>
              <p:ext uri="{D42A27DB-BD31-4B8C-83A1-F6EECF244321}">
                <p14:modId xmlns:p14="http://schemas.microsoft.com/office/powerpoint/2010/main" val="2654222793"/>
              </p:ext>
            </p:extLst>
          </p:nvPr>
        </p:nvGraphicFramePr>
        <p:xfrm>
          <a:off x="170250" y="814522"/>
          <a:ext cx="11704320" cy="5086941"/>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3899209182"/>
                    </a:ext>
                  </a:extLst>
                </a:gridCol>
                <a:gridCol w="1828800">
                  <a:extLst>
                    <a:ext uri="{9D8B030D-6E8A-4147-A177-3AD203B41FA5}">
                      <a16:colId xmlns:a16="http://schemas.microsoft.com/office/drawing/2014/main" val="2620389439"/>
                    </a:ext>
                  </a:extLst>
                </a:gridCol>
                <a:gridCol w="5760720">
                  <a:extLst>
                    <a:ext uri="{9D8B030D-6E8A-4147-A177-3AD203B41FA5}">
                      <a16:colId xmlns:a16="http://schemas.microsoft.com/office/drawing/2014/main" val="3427785433"/>
                    </a:ext>
                  </a:extLst>
                </a:gridCol>
                <a:gridCol w="731520">
                  <a:extLst>
                    <a:ext uri="{9D8B030D-6E8A-4147-A177-3AD203B41FA5}">
                      <a16:colId xmlns:a16="http://schemas.microsoft.com/office/drawing/2014/main" val="3857769172"/>
                    </a:ext>
                  </a:extLst>
                </a:gridCol>
                <a:gridCol w="822960">
                  <a:extLst>
                    <a:ext uri="{9D8B030D-6E8A-4147-A177-3AD203B41FA5}">
                      <a16:colId xmlns:a16="http://schemas.microsoft.com/office/drawing/2014/main" val="1688793258"/>
                    </a:ext>
                  </a:extLst>
                </a:gridCol>
                <a:gridCol w="822960">
                  <a:extLst>
                    <a:ext uri="{9D8B030D-6E8A-4147-A177-3AD203B41FA5}">
                      <a16:colId xmlns:a16="http://schemas.microsoft.com/office/drawing/2014/main" val="1923920002"/>
                    </a:ext>
                  </a:extLst>
                </a:gridCol>
                <a:gridCol w="822960">
                  <a:extLst>
                    <a:ext uri="{9D8B030D-6E8A-4147-A177-3AD203B41FA5}">
                      <a16:colId xmlns:a16="http://schemas.microsoft.com/office/drawing/2014/main" val="2460729748"/>
                    </a:ext>
                  </a:extLst>
                </a:gridCol>
              </a:tblGrid>
              <a:tr h="271101">
                <a:tc rowSpan="2">
                  <a:txBody>
                    <a:bodyPr/>
                    <a:lstStyle/>
                    <a:p>
                      <a:pPr algn="ctr"/>
                      <a:r>
                        <a:rPr lang="en-US" sz="1100">
                          <a:latin typeface="+mj-lt"/>
                        </a:rPr>
                        <a:t>Category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338DCD"/>
                    </a:solidFill>
                  </a:tcPr>
                </a:tc>
                <a:tc rowSpan="2">
                  <a:txBody>
                    <a:bodyPr/>
                    <a:lstStyle/>
                    <a:p>
                      <a:pPr algn="ctr"/>
                      <a:r>
                        <a:rPr lang="en-US" sz="1100">
                          <a:latin typeface="+mj-lt"/>
                        </a:rPr>
                        <a:t>Category</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338DCD"/>
                    </a:solidFill>
                  </a:tcPr>
                </a:tc>
                <a:tc rowSpan="2">
                  <a:txBody>
                    <a:bodyPr/>
                    <a:lstStyle/>
                    <a:p>
                      <a:pPr algn="ctr"/>
                      <a:r>
                        <a:rPr lang="en-US" sz="1100">
                          <a:latin typeface="+mj-lt"/>
                        </a:rPr>
                        <a:t>Requirement</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338DCD"/>
                    </a:solidFill>
                  </a:tcPr>
                </a:tc>
                <a:tc rowSpan="2">
                  <a:txBody>
                    <a:bodyPr/>
                    <a:lstStyle/>
                    <a:p>
                      <a:pPr algn="ctr"/>
                      <a:r>
                        <a:rPr lang="en-US" sz="1100" b="1" kern="1200" dirty="0">
                          <a:solidFill>
                            <a:schemeClr val="lt1"/>
                          </a:solidFill>
                          <a:latin typeface="+mn-lt"/>
                          <a:ea typeface="+mn-ea"/>
                          <a:cs typeface="+mn-cs"/>
                        </a:rPr>
                        <a:t>Priority (1- Low</a:t>
                      </a:r>
                    </a:p>
                    <a:p>
                      <a:pPr algn="ctr"/>
                      <a:r>
                        <a:rPr lang="en-US" sz="1100" b="1" kern="1200">
                          <a:solidFill>
                            <a:schemeClr val="lt1"/>
                          </a:solidFill>
                          <a:latin typeface="+mn-lt"/>
                          <a:ea typeface="+mn-ea"/>
                          <a:cs typeface="+mn-cs"/>
                        </a:rPr>
                        <a:t>5 - High)</a:t>
                      </a:r>
                      <a:endParaRPr lang="en-US" sz="1100" b="1" kern="1200" dirty="0">
                        <a:solidFill>
                          <a:schemeClr val="lt1"/>
                        </a:solidFill>
                        <a:latin typeface="+mn-lt"/>
                        <a:ea typeface="+mn-ea"/>
                        <a:cs typeface="+mn-cs"/>
                      </a:endParaRP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338DCD"/>
                    </a:solidFill>
                  </a:tcPr>
                </a:tc>
                <a:tc gridSpan="3">
                  <a:txBody>
                    <a:bodyPr/>
                    <a:lstStyle/>
                    <a:p>
                      <a:pPr algn="ctr"/>
                      <a:r>
                        <a:rPr lang="en-US" sz="1100"/>
                        <a:t>Applicable Persona</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338DCD"/>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477258189"/>
                  </a:ext>
                </a:extLst>
              </a:tr>
              <a:tr h="311745">
                <a:tc vMerge="1">
                  <a:txBody>
                    <a:bodyPr/>
                    <a:lstStyle/>
                    <a:p>
                      <a:endParaRPr lang="en-US"/>
                    </a:p>
                  </a:txBody>
                  <a:tcPr>
                    <a:lnT w="12700" cap="flat" cmpd="sng" algn="ctr">
                      <a:solidFill>
                        <a:schemeClr val="bg1">
                          <a:lumMod val="95000"/>
                        </a:schemeClr>
                      </a:solidFill>
                      <a:prstDash val="solid"/>
                      <a:round/>
                      <a:headEnd type="none" w="med" len="med"/>
                      <a:tailEnd type="none" w="med" len="med"/>
                    </a:lnT>
                  </a:tcPr>
                </a:tc>
                <a:tc vMerge="1">
                  <a:txBody>
                    <a:bodyPr/>
                    <a:lstStyle/>
                    <a:p>
                      <a:endParaRPr lang="en-US" sz="1000"/>
                    </a:p>
                  </a:txBody>
                  <a:tcPr/>
                </a:tc>
                <a:tc vMerge="1">
                  <a:txBody>
                    <a:bodyPr/>
                    <a:lstStyle/>
                    <a:p>
                      <a:endParaRPr lang="en-US" sz="1000"/>
                    </a:p>
                  </a:txBody>
                  <a:tcPr/>
                </a:tc>
                <a:tc vMerge="1">
                  <a:txBody>
                    <a:bodyPr/>
                    <a:lstStyle/>
                    <a:p>
                      <a:endParaRPr lang="en-US"/>
                    </a:p>
                  </a:txBody>
                  <a:tcPr/>
                </a:tc>
                <a:tc>
                  <a:txBody>
                    <a:bodyPr/>
                    <a:lstStyle/>
                    <a:p>
                      <a:pPr algn="ctr"/>
                      <a:r>
                        <a:rPr lang="en-US" sz="1100">
                          <a:latin typeface="+mj-lt"/>
                        </a:rPr>
                        <a:t>EDF Platform</a:t>
                      </a:r>
                    </a:p>
                  </a:txBody>
                  <a:tcPr marL="45720" marR="45720" anchor="ctr">
                    <a:lnL w="12700" cap="flat" cmpd="sng" algn="ctr">
                      <a:solidFill>
                        <a:schemeClr val="bg1"/>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sz="1100">
                          <a:latin typeface="+mj-lt"/>
                        </a:rPr>
                        <a:t>Data Producers</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algn="ctr"/>
                      <a:r>
                        <a:rPr lang="en-US" sz="1100">
                          <a:latin typeface="+mj-lt"/>
                        </a:rPr>
                        <a:t>Data Consumers</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extLst>
                  <a:ext uri="{0D108BD9-81ED-4DB2-BD59-A6C34878D82A}">
                    <a16:rowId xmlns:a16="http://schemas.microsoft.com/office/drawing/2014/main" val="1706059849"/>
                  </a:ext>
                </a:extLst>
              </a:tr>
              <a:tr h="548640">
                <a:tc rowSpan="8">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i="0" u="none" strike="noStrike" noProof="0">
                          <a:solidFill>
                            <a:srgbClr val="404040"/>
                          </a:solidFill>
                          <a:latin typeface="+mn-lt"/>
                        </a:rPr>
                        <a:t>Product Usage</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rgbClr val="2894FF"/>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lvl="0" algn="ctr">
                        <a:buNone/>
                      </a:pPr>
                      <a:r>
                        <a:rPr lang="en-US" sz="1000" b="1" i="0" u="none" strike="noStrike" noProof="0">
                          <a:solidFill>
                            <a:srgbClr val="404040"/>
                          </a:solidFill>
                          <a:latin typeface="+mn-lt"/>
                        </a:rPr>
                        <a:t>Data product usage patterns by roles </a:t>
                      </a:r>
                      <a:endParaRPr lang="en-US" sz="1000" b="1">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u="none" strike="noStrike" noProof="0">
                          <a:solidFill>
                            <a:srgbClr val="404040"/>
                          </a:solidFill>
                          <a:latin typeface="+mn-lt"/>
                        </a:rPr>
                        <a:t>Identify which roles are most engaged with specific data products, frequency of usage and cost driving factors.</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1000" b="0">
                          <a:latin typeface="+mn-lt"/>
                        </a:rPr>
                        <a:t>5</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u="none" strike="noStrike" noProof="0">
                          <a:solidFill>
                            <a:srgbClr val="338DCD"/>
                          </a:solidFill>
                          <a:latin typeface="+mn-lt"/>
                          <a:sym typeface="Wingdings"/>
                        </a:rPr>
                        <a:t></a:t>
                      </a:r>
                      <a:endParaRPr lang="en-US" sz="1000" b="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1000" b="0" i="0" u="none" strike="noStrike" noProof="0">
                          <a:solidFill>
                            <a:srgbClr val="338DCD"/>
                          </a:solidFill>
                          <a:latin typeface="+mn-lt"/>
                          <a:sym typeface="Wingdings"/>
                        </a:rPr>
                        <a:t></a:t>
                      </a:r>
                      <a:endParaRPr lang="en-US" sz="1000" b="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6858136"/>
                  </a:ext>
                </a:extLst>
              </a:tr>
              <a:tr h="5486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1" i="0" u="none" strike="noStrike" noProof="0">
                        <a:solidFill>
                          <a:srgbClr val="404040"/>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i="0" u="none" strike="noStrike" noProof="0">
                          <a:solidFill>
                            <a:srgbClr val="404040"/>
                          </a:solidFill>
                          <a:latin typeface="+mn-lt"/>
                        </a:rPr>
                        <a:t>Comparison across producers &amp; consumers</a:t>
                      </a:r>
                      <a:endParaRPr lang="en-US" sz="1000" b="1">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lvl="0" algn="l">
                        <a:lnSpc>
                          <a:spcPct val="100000"/>
                        </a:lnSpc>
                        <a:spcBef>
                          <a:spcPts val="0"/>
                        </a:spcBef>
                        <a:spcAft>
                          <a:spcPts val="0"/>
                        </a:spcAft>
                        <a:buNone/>
                      </a:pPr>
                      <a:r>
                        <a:rPr lang="en-US" sz="1000" b="0" i="0" u="none" strike="noStrike" noProof="0">
                          <a:solidFill>
                            <a:srgbClr val="404040"/>
                          </a:solidFill>
                          <a:latin typeface="+mn-lt"/>
                        </a:rPr>
                        <a:t>Usage split between data producers and data consumers. Split between cost of producing data products and the costs of consuming them.</a:t>
                      </a:r>
                      <a:endParaRPr lang="en-US" sz="1000" b="0">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1000" b="0">
                          <a:latin typeface="+mn-lt"/>
                        </a:rPr>
                        <a:t>5</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u="none" strike="noStrike" noProof="0">
                          <a:solidFill>
                            <a:srgbClr val="338DCD"/>
                          </a:solidFill>
                          <a:latin typeface="+mn-lt"/>
                          <a:sym typeface="Wingdings"/>
                        </a:rPr>
                        <a:t></a:t>
                      </a:r>
                      <a:endParaRPr lang="en-US" sz="1000" b="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u="none" strike="noStrike" noProof="0">
                          <a:solidFill>
                            <a:srgbClr val="338DCD"/>
                          </a:solidFill>
                          <a:latin typeface="+mn-lt"/>
                          <a:sym typeface="Wingdings"/>
                        </a:rPr>
                        <a:t></a:t>
                      </a:r>
                      <a:endParaRPr lang="en-US" sz="1000" b="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42734055"/>
                  </a:ext>
                </a:extLst>
              </a:tr>
              <a:tr h="5486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1" i="0" u="none" strike="noStrike" noProof="0">
                        <a:solidFill>
                          <a:srgbClr val="404040"/>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i="0" u="none" strike="noStrike" noProof="0">
                          <a:solidFill>
                            <a:srgbClr val="404040"/>
                          </a:solidFill>
                          <a:latin typeface="+mn-lt"/>
                        </a:rPr>
                        <a:t>Cost / Usage by consumption tools</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u="none" strike="noStrike" noProof="0">
                          <a:solidFill>
                            <a:srgbClr val="404040"/>
                          </a:solidFill>
                          <a:latin typeface="+mn-lt"/>
                        </a:rPr>
                        <a:t>Monitor cost and usage by different data consumption tools to identify the most and least cost-effective tools.</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1000" b="0">
                          <a:latin typeface="+mn-lt"/>
                        </a:rPr>
                        <a:t>3</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u="none" strike="noStrike" noProof="0">
                          <a:solidFill>
                            <a:srgbClr val="338DCD"/>
                          </a:solidFill>
                          <a:latin typeface="+mn-lt"/>
                          <a:sym typeface="Wingdings"/>
                        </a:rPr>
                        <a:t></a:t>
                      </a:r>
                      <a:endParaRPr lang="en-US" sz="1000" b="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u="none" strike="noStrike" noProof="0">
                          <a:solidFill>
                            <a:srgbClr val="338DCD"/>
                          </a:solidFill>
                          <a:latin typeface="+mn-lt"/>
                          <a:sym typeface="Wingdings"/>
                        </a:rPr>
                        <a:t></a:t>
                      </a:r>
                      <a:endParaRPr lang="en-US" sz="1000" b="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3531207"/>
                  </a:ext>
                </a:extLst>
              </a:tr>
              <a:tr h="5486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1" i="0" u="none" strike="noStrike" noProof="0">
                        <a:solidFill>
                          <a:srgbClr val="404040"/>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i="0" u="none" strike="noStrike" noProof="0">
                          <a:solidFill>
                            <a:srgbClr val="404040"/>
                          </a:solidFill>
                          <a:latin typeface="+mn-lt"/>
                        </a:rPr>
                        <a:t>Impact Analysis</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t>Identify users or teams impacted by changes in data products.</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1000">
                          <a:latin typeface="+mn-lt"/>
                        </a:rPr>
                        <a:t>4</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u="none" strike="noStrike" noProof="0">
                          <a:solidFill>
                            <a:srgbClr val="338DCD"/>
                          </a:solidFill>
                          <a:latin typeface="+mn-lt"/>
                          <a:sym typeface="Wingdings"/>
                        </a:rPr>
                        <a:t></a:t>
                      </a:r>
                      <a:endParaRPr lang="en-US" sz="1000" b="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4795033"/>
                  </a:ext>
                </a:extLst>
              </a:tr>
              <a:tr h="5486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1" i="0" u="none" strike="noStrike" noProof="0">
                        <a:solidFill>
                          <a:srgbClr val="404040"/>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i="0" u="none" strike="noStrike" noProof="0">
                          <a:solidFill>
                            <a:srgbClr val="404040"/>
                          </a:solidFill>
                          <a:latin typeface="+mn-lt"/>
                        </a:rPr>
                        <a:t>Transparency on data usage</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u="none" strike="noStrike" noProof="0">
                          <a:solidFill>
                            <a:schemeClr val="tx1"/>
                          </a:solidFill>
                          <a:latin typeface="+mn-lt"/>
                        </a:rPr>
                        <a:t>To provide actionable insights on data product usage vs data users/groups</a:t>
                      </a:r>
                      <a:r>
                        <a:rPr lang="en-US" sz="1000" b="0" i="0" u="none" strike="noStrike" noProof="0">
                          <a:solidFill>
                            <a:srgbClr val="404040"/>
                          </a:solidFill>
                          <a:latin typeface="+mn-lt"/>
                        </a:rPr>
                        <a:t> by functional roles</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1000">
                          <a:latin typeface="+mn-lt"/>
                        </a:rPr>
                        <a:t>3</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u="none" strike="noStrike" noProof="0">
                          <a:solidFill>
                            <a:srgbClr val="338DCD"/>
                          </a:solidFill>
                          <a:latin typeface="+mn-lt"/>
                          <a:sym typeface="Wingdings"/>
                        </a:rPr>
                        <a:t></a:t>
                      </a:r>
                      <a:endParaRPr lang="en-US" sz="100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2671746"/>
                  </a:ext>
                </a:extLst>
              </a:tr>
              <a:tr h="5486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1" i="0" u="none" strike="noStrike" noProof="0">
                        <a:solidFill>
                          <a:srgbClr val="404040"/>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i="0" u="none" strike="noStrike" noProof="0">
                          <a:solidFill>
                            <a:srgbClr val="404040"/>
                          </a:solidFill>
                          <a:latin typeface="+mn-lt"/>
                        </a:rPr>
                        <a:t>Query consumption Pattern</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u="none" strike="noStrike" noProof="0">
                          <a:solidFill>
                            <a:srgbClr val="404040"/>
                          </a:solidFill>
                          <a:latin typeface="+mn-lt"/>
                        </a:rPr>
                        <a:t>To display the query consumption time, query frequency, response time for queries within a specific data product. Identifying top consumers of data and understanding their usage patterns.</a:t>
                      </a:r>
                      <a:endParaRPr lang="en-US" sz="1000"/>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1000">
                          <a:latin typeface="+mn-lt"/>
                        </a:rPr>
                        <a:t>4</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u="none" strike="noStrike" noProof="0">
                          <a:solidFill>
                            <a:srgbClr val="338DCD"/>
                          </a:solidFill>
                          <a:latin typeface="+mn-lt"/>
                          <a:sym typeface="Wingdings"/>
                        </a:rPr>
                        <a:t></a:t>
                      </a:r>
                      <a:endParaRPr lang="en-US" sz="1000" b="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91079611"/>
                  </a:ext>
                </a:extLst>
              </a:tr>
              <a:tr h="5486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1" i="0" u="none" strike="noStrike" noProof="0">
                        <a:solidFill>
                          <a:srgbClr val="404040"/>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i="0" u="none" strike="noStrike" noProof="0">
                          <a:solidFill>
                            <a:srgbClr val="404040"/>
                          </a:solidFill>
                          <a:latin typeface="+mn-lt"/>
                        </a:rPr>
                        <a:t>Dashboard Improvement</a:t>
                      </a:r>
                      <a:endParaRPr lang="en-US" sz="1000" b="1">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lvl="0" algn="l">
                        <a:lnSpc>
                          <a:spcPct val="100000"/>
                        </a:lnSpc>
                        <a:spcBef>
                          <a:spcPts val="0"/>
                        </a:spcBef>
                        <a:spcAft>
                          <a:spcPts val="0"/>
                        </a:spcAft>
                        <a:buNone/>
                      </a:pPr>
                      <a:r>
                        <a:rPr lang="en-US" sz="1000" b="0" i="0" u="none" strike="noStrike" noProof="0">
                          <a:solidFill>
                            <a:schemeClr val="tx1"/>
                          </a:solidFill>
                          <a:latin typeface="+mn-lt"/>
                        </a:rPr>
                        <a:t>Enhance interactivity with filters, drill-up/downs views for monthly, weekly and daily usage, tooltips and ability to customize views by persona.</a:t>
                      </a:r>
                      <a:endParaRPr lang="en-US" sz="1000" b="0">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1000" b="0">
                          <a:latin typeface="+mn-lt"/>
                        </a:rPr>
                        <a:t>5</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u="none" strike="noStrike" noProof="0">
                          <a:solidFill>
                            <a:srgbClr val="338DCD"/>
                          </a:solidFill>
                          <a:latin typeface="+mn-lt"/>
                          <a:sym typeface="Wingdings"/>
                        </a:rPr>
                        <a:t></a:t>
                      </a:r>
                      <a:endParaRPr lang="en-US" sz="1000" b="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u="none" strike="noStrike" noProof="0">
                          <a:solidFill>
                            <a:srgbClr val="338DCD"/>
                          </a:solidFill>
                          <a:latin typeface="+mn-lt"/>
                          <a:sym typeface="Wingdings"/>
                        </a:rPr>
                        <a:t></a:t>
                      </a:r>
                      <a:endParaRPr lang="en-US" sz="1000" b="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91629207"/>
                  </a:ext>
                </a:extLst>
              </a:tr>
              <a:tr h="548640">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1" i="0" u="none" strike="noStrike" noProof="0">
                        <a:solidFill>
                          <a:srgbClr val="404040"/>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lToBr w="12700" cmpd="sng">
                      <a:noFill/>
                      <a:prstDash val="solid"/>
                    </a:lnTlToBr>
                    <a:lnBlToTr w="12700" cmpd="sng">
                      <a:noFill/>
                      <a:prstDash val="solid"/>
                    </a:lnBlToTr>
                    <a:solidFill>
                      <a:schemeClr val="accent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a:latin typeface="+mn-lt"/>
                        </a:rPr>
                        <a:t>Usage Trend</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rgbClr val="2894FF"/>
                      </a:solidFill>
                      <a:prstDash val="solid"/>
                      <a:round/>
                      <a:headEnd type="none" w="med" len="med"/>
                      <a:tailEnd type="none" w="med" len="med"/>
                    </a:lnB>
                    <a:lnTlToBr w="12700" cmpd="sng">
                      <a:noFill/>
                      <a:prstDash val="solid"/>
                    </a:lnTlToBr>
                    <a:lnBlToTr w="12700" cmpd="sng">
                      <a:noFill/>
                      <a:prstDash val="solid"/>
                    </a:lnBlToTr>
                    <a:solidFill>
                      <a:schemeClr val="accent2">
                        <a:lumMod val="20000"/>
                        <a:lumOff val="80000"/>
                      </a:schemeClr>
                    </a:solidFill>
                  </a:tcPr>
                </a:tc>
                <a:tc>
                  <a:txBody>
                    <a:bodyPr/>
                    <a:lstStyle/>
                    <a:p>
                      <a:pPr lvl="0" algn="l">
                        <a:lnSpc>
                          <a:spcPct val="100000"/>
                        </a:lnSpc>
                        <a:spcBef>
                          <a:spcPts val="0"/>
                        </a:spcBef>
                        <a:spcAft>
                          <a:spcPts val="0"/>
                        </a:spcAft>
                        <a:buNone/>
                      </a:pPr>
                      <a:r>
                        <a:rPr lang="en-US" sz="1000" b="0">
                          <a:latin typeface="+mn-lt"/>
                        </a:rPr>
                        <a:t>Data product usage comparison by Month, Quarter, Year</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rgbClr val="2894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lvl="0" algn="ctr">
                        <a:buNone/>
                      </a:pPr>
                      <a:r>
                        <a:rPr lang="en-US" sz="1000" b="0">
                          <a:latin typeface="+mn-lt"/>
                        </a:rPr>
                        <a:t>5</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rgbClr val="2894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rgbClr val="2894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rgbClr val="2894F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00" b="0" dirty="0">
                        <a:solidFill>
                          <a:srgbClr val="338DCD"/>
                        </a:solidFill>
                        <a:latin typeface="+mn-lt"/>
                      </a:endParaRP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rgbClr val="2894F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951739"/>
                  </a:ext>
                </a:extLst>
              </a:tr>
            </a:tbl>
          </a:graphicData>
        </a:graphic>
      </p:graphicFrame>
    </p:spTree>
    <p:extLst>
      <p:ext uri="{BB962C8B-B14F-4D97-AF65-F5344CB8AC3E}">
        <p14:creationId xmlns:p14="http://schemas.microsoft.com/office/powerpoint/2010/main" val="40151722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D37E8-35FF-5ACB-C8C8-329B09E82E99}"/>
            </a:ext>
          </a:extLst>
        </p:cNvPr>
        <p:cNvGrpSpPr/>
        <p:nvPr/>
      </p:nvGrpSpPr>
      <p:grpSpPr>
        <a:xfrm>
          <a:off x="0" y="0"/>
          <a:ext cx="0" cy="0"/>
          <a:chOff x="0" y="0"/>
          <a:chExt cx="0" cy="0"/>
        </a:xfrm>
      </p:grpSpPr>
      <p:sp>
        <p:nvSpPr>
          <p:cNvPr id="64" name="Rectangle 63">
            <a:extLst>
              <a:ext uri="{FF2B5EF4-FFF2-40B4-BE49-F238E27FC236}">
                <a16:creationId xmlns:a16="http://schemas.microsoft.com/office/drawing/2014/main" id="{B40A1F5D-693D-FF02-8A20-4E9D3F32A1B7}"/>
              </a:ext>
            </a:extLst>
          </p:cNvPr>
          <p:cNvSpPr/>
          <p:nvPr/>
        </p:nvSpPr>
        <p:spPr>
          <a:xfrm>
            <a:off x="9197789" y="3348237"/>
            <a:ext cx="1245023" cy="474033"/>
          </a:xfrm>
          <a:prstGeom prst="rect">
            <a:avLst/>
          </a:prstGeom>
          <a:solidFill>
            <a:schemeClr val="bg1">
              <a:lumMod val="95000"/>
            </a:schemeClr>
          </a:solidFill>
          <a:ln w="19050">
            <a:solidFill>
              <a:schemeClr val="tx2">
                <a:lumMod val="60000"/>
                <a:lumOff val="4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sz="1200">
              <a:solidFill>
                <a:schemeClr val="tx1">
                  <a:lumMod val="50000"/>
                </a:schemeClr>
              </a:solidFill>
            </a:endParaRPr>
          </a:p>
        </p:txBody>
      </p:sp>
      <p:sp>
        <p:nvSpPr>
          <p:cNvPr id="4" name="Title 1">
            <a:extLst>
              <a:ext uri="{FF2B5EF4-FFF2-40B4-BE49-F238E27FC236}">
                <a16:creationId xmlns:a16="http://schemas.microsoft.com/office/drawing/2014/main" id="{607D78D1-5D2F-EE34-B336-45D0E7162A36}"/>
              </a:ext>
            </a:extLst>
          </p:cNvPr>
          <p:cNvSpPr txBox="1">
            <a:spLocks/>
          </p:cNvSpPr>
          <p:nvPr/>
        </p:nvSpPr>
        <p:spPr>
          <a:xfrm>
            <a:off x="284550" y="216713"/>
            <a:ext cx="11904087" cy="509780"/>
          </a:xfrm>
          <a:prstGeom prst="rect">
            <a:avLst/>
          </a:prstGeom>
        </p:spPr>
        <p:txBody>
          <a:bodyPr/>
          <a:lstStyle>
            <a:lvl1pPr algn="l" defTabSz="914400" rtl="0" eaLnBrk="1" latinLnBrk="0" hangingPunct="1">
              <a:lnSpc>
                <a:spcPct val="100000"/>
              </a:lnSpc>
              <a:spcBef>
                <a:spcPct val="0"/>
              </a:spcBef>
              <a:buNone/>
              <a:defRPr sz="3400" b="0" i="0" kern="1200">
                <a:solidFill>
                  <a:srgbClr val="0076CF"/>
                </a:solidFill>
                <a:latin typeface="FS Elliot Pro Light" panose="02000503040000020004" pitchFamily="2"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z="3200"/>
              <a:t>Financial Operations Reporting Architecture</a:t>
            </a:r>
            <a:endParaRPr kumimoji="0" lang="en-US" sz="3200" b="0" i="0" u="none" strike="noStrike" kern="1200" cap="none" spc="0" normalizeH="0" baseline="0" noProof="0">
              <a:ln>
                <a:noFill/>
              </a:ln>
              <a:solidFill>
                <a:srgbClr val="0076CF"/>
              </a:solidFill>
              <a:effectLst/>
              <a:uLnTx/>
              <a:uFillTx/>
              <a:latin typeface="FS Elliot Pro Light" panose="02000503040000020004" pitchFamily="2" charset="0"/>
              <a:ea typeface="+mj-ea"/>
              <a:cs typeface="+mj-cs"/>
            </a:endParaRPr>
          </a:p>
        </p:txBody>
      </p:sp>
      <p:sp>
        <p:nvSpPr>
          <p:cNvPr id="5" name="TextBox 4">
            <a:extLst>
              <a:ext uri="{FF2B5EF4-FFF2-40B4-BE49-F238E27FC236}">
                <a16:creationId xmlns:a16="http://schemas.microsoft.com/office/drawing/2014/main" id="{D93280EA-5879-4052-61E4-476D75AF6C7C}"/>
              </a:ext>
            </a:extLst>
          </p:cNvPr>
          <p:cNvSpPr txBox="1"/>
          <p:nvPr/>
        </p:nvSpPr>
        <p:spPr>
          <a:xfrm>
            <a:off x="284550" y="973324"/>
            <a:ext cx="11486800" cy="984885"/>
          </a:xfrm>
          <a:prstGeom prst="rect">
            <a:avLst/>
          </a:prstGeom>
          <a:noFill/>
        </p:spPr>
        <p:txBody>
          <a:bodyPr wrap="square">
            <a:spAutoFit/>
          </a:bodyPr>
          <a:lstStyle/>
          <a:p>
            <a:r>
              <a:rPr lang="en-US" sz="1600" kern="1200">
                <a:solidFill>
                  <a:schemeClr val="tx1"/>
                </a:solidFill>
                <a:latin typeface="+mn-lt"/>
                <a:ea typeface="+mn-ea"/>
                <a:cs typeface="+mn-cs"/>
              </a:rPr>
              <a:t>Below architecture depicts the method of data extraction required for financial operations dashboards:</a:t>
            </a:r>
          </a:p>
          <a:p>
            <a:pPr marL="574675" indent="-285750">
              <a:buFont typeface="Calibri" panose="020F0502020204030204" pitchFamily="34" charset="0"/>
              <a:buChar char="‐"/>
            </a:pPr>
            <a:r>
              <a:rPr lang="en-US" sz="1400"/>
              <a:t>The dataset loaded from multiple Snowflake  accounts through the AWS based pipelines into Snowflake Source Data Product layer will be considered as a source for the dashboards</a:t>
            </a:r>
          </a:p>
          <a:p>
            <a:pPr marL="574675" indent="-285750">
              <a:buFont typeface="Calibri" panose="020F0502020204030204" pitchFamily="34" charset="0"/>
              <a:buChar char="‐"/>
            </a:pPr>
            <a:r>
              <a:rPr lang="en-US" sz="1400"/>
              <a:t>Modeled layer will be created on the Curated Data Product layer in Snowflake</a:t>
            </a:r>
          </a:p>
        </p:txBody>
      </p:sp>
      <p:sp>
        <p:nvSpPr>
          <p:cNvPr id="2" name="Rectangle 1">
            <a:extLst>
              <a:ext uri="{FF2B5EF4-FFF2-40B4-BE49-F238E27FC236}">
                <a16:creationId xmlns:a16="http://schemas.microsoft.com/office/drawing/2014/main" id="{C2AE4AAA-9FC2-0391-5452-B1508F99019B}"/>
              </a:ext>
            </a:extLst>
          </p:cNvPr>
          <p:cNvSpPr/>
          <p:nvPr/>
        </p:nvSpPr>
        <p:spPr>
          <a:xfrm>
            <a:off x="480229" y="2843261"/>
            <a:ext cx="4274539" cy="3150466"/>
          </a:xfrm>
          <a:prstGeom prst="rect">
            <a:avLst/>
          </a:prstGeom>
          <a:noFill/>
          <a:ln w="9525">
            <a:solidFill>
              <a:schemeClr val="bg1">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t"/>
          <a:lstStyle/>
          <a:p>
            <a:pPr algn="ctr"/>
            <a:endParaRPr lang="en-US" b="1">
              <a:solidFill>
                <a:srgbClr val="0070C0"/>
              </a:solidFill>
            </a:endParaRPr>
          </a:p>
        </p:txBody>
      </p:sp>
      <p:pic>
        <p:nvPicPr>
          <p:cNvPr id="3" name="Picture 2">
            <a:extLst>
              <a:ext uri="{FF2B5EF4-FFF2-40B4-BE49-F238E27FC236}">
                <a16:creationId xmlns:a16="http://schemas.microsoft.com/office/drawing/2014/main" id="{E51E64E3-3DCA-9F85-508A-A387FD6EB473}"/>
              </a:ext>
            </a:extLst>
          </p:cNvPr>
          <p:cNvPicPr>
            <a:picLocks noChangeAspect="1"/>
          </p:cNvPicPr>
          <p:nvPr/>
        </p:nvPicPr>
        <p:blipFill>
          <a:blip r:embed="rId3"/>
          <a:srcRect b="31336"/>
          <a:stretch/>
        </p:blipFill>
        <p:spPr>
          <a:xfrm>
            <a:off x="2203962" y="2691327"/>
            <a:ext cx="1594358" cy="450410"/>
          </a:xfrm>
          <a:prstGeom prst="rect">
            <a:avLst/>
          </a:prstGeom>
        </p:spPr>
      </p:pic>
      <p:sp>
        <p:nvSpPr>
          <p:cNvPr id="7" name="Rectangle 6">
            <a:extLst>
              <a:ext uri="{FF2B5EF4-FFF2-40B4-BE49-F238E27FC236}">
                <a16:creationId xmlns:a16="http://schemas.microsoft.com/office/drawing/2014/main" id="{AFBB5C2B-A69F-C27E-958C-3D9596A6EE10}"/>
              </a:ext>
            </a:extLst>
          </p:cNvPr>
          <p:cNvSpPr/>
          <p:nvPr/>
        </p:nvSpPr>
        <p:spPr>
          <a:xfrm>
            <a:off x="695531" y="4687445"/>
            <a:ext cx="1280160" cy="609655"/>
          </a:xfrm>
          <a:prstGeom prst="rect">
            <a:avLst/>
          </a:prstGeom>
          <a:solidFill>
            <a:schemeClr val="bg1">
              <a:lumMod val="95000"/>
            </a:schemeClr>
          </a:solidFill>
          <a:ln>
            <a:solidFill>
              <a:srgbClr val="92D050"/>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a:solidFill>
                  <a:schemeClr val="tx1">
                    <a:lumMod val="50000"/>
                  </a:schemeClr>
                </a:solidFill>
              </a:rPr>
              <a:t>Information/ Account Usage Schema</a:t>
            </a:r>
          </a:p>
        </p:txBody>
      </p:sp>
      <p:sp>
        <p:nvSpPr>
          <p:cNvPr id="8" name="Rectangle 7">
            <a:extLst>
              <a:ext uri="{FF2B5EF4-FFF2-40B4-BE49-F238E27FC236}">
                <a16:creationId xmlns:a16="http://schemas.microsoft.com/office/drawing/2014/main" id="{5B20F489-985C-65BE-503F-EA78F3284BA3}"/>
              </a:ext>
            </a:extLst>
          </p:cNvPr>
          <p:cNvSpPr/>
          <p:nvPr/>
        </p:nvSpPr>
        <p:spPr>
          <a:xfrm>
            <a:off x="2033984" y="4687445"/>
            <a:ext cx="1260017" cy="609655"/>
          </a:xfrm>
          <a:prstGeom prst="rect">
            <a:avLst/>
          </a:prstGeom>
          <a:solidFill>
            <a:schemeClr val="bg1">
              <a:lumMod val="95000"/>
            </a:schemeClr>
          </a:solidFill>
          <a:ln>
            <a:solidFill>
              <a:srgbClr val="92D050"/>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a:solidFill>
                  <a:schemeClr val="tx1">
                    <a:lumMod val="50000"/>
                  </a:schemeClr>
                </a:solidFill>
              </a:rPr>
              <a:t>Information/ Account Usage Schema</a:t>
            </a:r>
          </a:p>
        </p:txBody>
      </p:sp>
      <p:sp>
        <p:nvSpPr>
          <p:cNvPr id="9" name="Rectangle 8">
            <a:extLst>
              <a:ext uri="{FF2B5EF4-FFF2-40B4-BE49-F238E27FC236}">
                <a16:creationId xmlns:a16="http://schemas.microsoft.com/office/drawing/2014/main" id="{F9666816-D591-C154-7C97-C4F31019A3B9}"/>
              </a:ext>
            </a:extLst>
          </p:cNvPr>
          <p:cNvSpPr/>
          <p:nvPr/>
        </p:nvSpPr>
        <p:spPr>
          <a:xfrm>
            <a:off x="3358199" y="4687445"/>
            <a:ext cx="1260017" cy="609655"/>
          </a:xfrm>
          <a:prstGeom prst="rect">
            <a:avLst/>
          </a:prstGeom>
          <a:solidFill>
            <a:schemeClr val="bg1">
              <a:lumMod val="95000"/>
            </a:schemeClr>
          </a:solidFill>
          <a:ln>
            <a:solidFill>
              <a:srgbClr val="92D050"/>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a:solidFill>
                  <a:schemeClr val="tx1">
                    <a:lumMod val="50000"/>
                  </a:schemeClr>
                </a:solidFill>
              </a:rPr>
              <a:t>Information/ Account Usage Schema</a:t>
            </a:r>
          </a:p>
        </p:txBody>
      </p:sp>
      <p:sp>
        <p:nvSpPr>
          <p:cNvPr id="10" name="Rectangle 9">
            <a:extLst>
              <a:ext uri="{FF2B5EF4-FFF2-40B4-BE49-F238E27FC236}">
                <a16:creationId xmlns:a16="http://schemas.microsoft.com/office/drawing/2014/main" id="{69C27DA1-3C58-23D9-B827-4234CB43415D}"/>
              </a:ext>
            </a:extLst>
          </p:cNvPr>
          <p:cNvSpPr/>
          <p:nvPr/>
        </p:nvSpPr>
        <p:spPr>
          <a:xfrm>
            <a:off x="695530" y="4548795"/>
            <a:ext cx="1280160" cy="1351414"/>
          </a:xfrm>
          <a:prstGeom prst="rect">
            <a:avLst/>
          </a:prstGeom>
          <a:noFill/>
          <a:ln w="190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F133FC17-6BE3-3FEC-05BF-759C310D7DDD}"/>
              </a:ext>
            </a:extLst>
          </p:cNvPr>
          <p:cNvSpPr txBox="1"/>
          <p:nvPr/>
        </p:nvSpPr>
        <p:spPr>
          <a:xfrm>
            <a:off x="776468" y="5394697"/>
            <a:ext cx="1057342" cy="261610"/>
          </a:xfrm>
          <a:prstGeom prst="rect">
            <a:avLst/>
          </a:prstGeom>
          <a:noFill/>
          <a:ln>
            <a:solidFill>
              <a:srgbClr val="92D050"/>
            </a:solidFill>
          </a:ln>
        </p:spPr>
        <p:txBody>
          <a:bodyPr wrap="square" rtlCol="0">
            <a:spAutoFit/>
          </a:bodyPr>
          <a:lstStyle/>
          <a:p>
            <a:pPr algn="ctr"/>
            <a:r>
              <a:rPr lang="en-US" sz="1100"/>
              <a:t>Account 1</a:t>
            </a:r>
          </a:p>
        </p:txBody>
      </p:sp>
      <p:sp>
        <p:nvSpPr>
          <p:cNvPr id="12" name="Rectangle 11">
            <a:extLst>
              <a:ext uri="{FF2B5EF4-FFF2-40B4-BE49-F238E27FC236}">
                <a16:creationId xmlns:a16="http://schemas.microsoft.com/office/drawing/2014/main" id="{9A323A5F-34E5-4751-5DBA-38D334493967}"/>
              </a:ext>
            </a:extLst>
          </p:cNvPr>
          <p:cNvSpPr/>
          <p:nvPr/>
        </p:nvSpPr>
        <p:spPr>
          <a:xfrm>
            <a:off x="2023410" y="4548795"/>
            <a:ext cx="1280160" cy="1351414"/>
          </a:xfrm>
          <a:prstGeom prst="rect">
            <a:avLst/>
          </a:prstGeom>
          <a:noFill/>
          <a:ln w="190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F81E8BA-2AEB-C98A-5025-83DE6156782A}"/>
              </a:ext>
            </a:extLst>
          </p:cNvPr>
          <p:cNvSpPr/>
          <p:nvPr/>
        </p:nvSpPr>
        <p:spPr>
          <a:xfrm>
            <a:off x="3353041" y="4540478"/>
            <a:ext cx="1280160" cy="1351414"/>
          </a:xfrm>
          <a:prstGeom prst="rect">
            <a:avLst/>
          </a:prstGeom>
          <a:noFill/>
          <a:ln w="190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8C003E58-98A3-BA2B-F45F-E2F9BD6AE68F}"/>
              </a:ext>
            </a:extLst>
          </p:cNvPr>
          <p:cNvSpPr txBox="1"/>
          <p:nvPr/>
        </p:nvSpPr>
        <p:spPr>
          <a:xfrm>
            <a:off x="2160389" y="5403825"/>
            <a:ext cx="1057342" cy="261610"/>
          </a:xfrm>
          <a:prstGeom prst="rect">
            <a:avLst/>
          </a:prstGeom>
          <a:noFill/>
          <a:ln>
            <a:solidFill>
              <a:srgbClr val="92D050"/>
            </a:solidFill>
          </a:ln>
        </p:spPr>
        <p:txBody>
          <a:bodyPr wrap="square" rtlCol="0">
            <a:spAutoFit/>
          </a:bodyPr>
          <a:lstStyle/>
          <a:p>
            <a:pPr algn="ctr"/>
            <a:r>
              <a:rPr lang="en-US" sz="1100"/>
              <a:t>Account 2</a:t>
            </a:r>
          </a:p>
        </p:txBody>
      </p:sp>
      <p:sp>
        <p:nvSpPr>
          <p:cNvPr id="15" name="TextBox 14">
            <a:extLst>
              <a:ext uri="{FF2B5EF4-FFF2-40B4-BE49-F238E27FC236}">
                <a16:creationId xmlns:a16="http://schemas.microsoft.com/office/drawing/2014/main" id="{6168CA21-FFB1-5980-65DC-AC845481198B}"/>
              </a:ext>
            </a:extLst>
          </p:cNvPr>
          <p:cNvSpPr txBox="1"/>
          <p:nvPr/>
        </p:nvSpPr>
        <p:spPr>
          <a:xfrm>
            <a:off x="3452862" y="5403245"/>
            <a:ext cx="1057342" cy="261610"/>
          </a:xfrm>
          <a:prstGeom prst="rect">
            <a:avLst/>
          </a:prstGeom>
          <a:noFill/>
          <a:ln>
            <a:solidFill>
              <a:srgbClr val="92D050"/>
            </a:solidFill>
          </a:ln>
        </p:spPr>
        <p:txBody>
          <a:bodyPr wrap="square" rtlCol="0">
            <a:spAutoFit/>
          </a:bodyPr>
          <a:lstStyle/>
          <a:p>
            <a:pPr algn="ctr"/>
            <a:r>
              <a:rPr lang="en-US" sz="1100"/>
              <a:t>Account 3</a:t>
            </a:r>
          </a:p>
        </p:txBody>
      </p:sp>
      <p:sp>
        <p:nvSpPr>
          <p:cNvPr id="16" name="TextBox 15">
            <a:extLst>
              <a:ext uri="{FF2B5EF4-FFF2-40B4-BE49-F238E27FC236}">
                <a16:creationId xmlns:a16="http://schemas.microsoft.com/office/drawing/2014/main" id="{2133D041-10C8-BE43-2E51-A54E8E7506D8}"/>
              </a:ext>
            </a:extLst>
          </p:cNvPr>
          <p:cNvSpPr txBox="1"/>
          <p:nvPr/>
        </p:nvSpPr>
        <p:spPr>
          <a:xfrm>
            <a:off x="5264180" y="3289610"/>
            <a:ext cx="1057282" cy="646331"/>
          </a:xfrm>
          <a:prstGeom prst="rect">
            <a:avLst/>
          </a:prstGeom>
          <a:noFill/>
        </p:spPr>
        <p:txBody>
          <a:bodyPr wrap="square" rtlCol="0">
            <a:spAutoFit/>
          </a:bodyPr>
          <a:lstStyle/>
          <a:p>
            <a:pPr algn="ctr"/>
            <a:r>
              <a:rPr lang="en-US" sz="1200"/>
              <a:t>AWS based ingestion pipelines</a:t>
            </a:r>
          </a:p>
        </p:txBody>
      </p:sp>
      <p:sp>
        <p:nvSpPr>
          <p:cNvPr id="17" name="Rectangle 16">
            <a:extLst>
              <a:ext uri="{FF2B5EF4-FFF2-40B4-BE49-F238E27FC236}">
                <a16:creationId xmlns:a16="http://schemas.microsoft.com/office/drawing/2014/main" id="{04AC6040-6C87-519F-0CEF-799071EF8F97}"/>
              </a:ext>
            </a:extLst>
          </p:cNvPr>
          <p:cNvSpPr/>
          <p:nvPr/>
        </p:nvSpPr>
        <p:spPr>
          <a:xfrm>
            <a:off x="776468" y="3121035"/>
            <a:ext cx="2226498" cy="956633"/>
          </a:xfrm>
          <a:prstGeom prst="rect">
            <a:avLst/>
          </a:prstGeom>
          <a:noFill/>
          <a:ln w="190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A53A8EA-AA8B-0BC2-12C8-0296E651018A}"/>
              </a:ext>
            </a:extLst>
          </p:cNvPr>
          <p:cNvSpPr/>
          <p:nvPr/>
        </p:nvSpPr>
        <p:spPr>
          <a:xfrm>
            <a:off x="1178906" y="3280624"/>
            <a:ext cx="1260017" cy="609655"/>
          </a:xfrm>
          <a:prstGeom prst="rect">
            <a:avLst/>
          </a:prstGeom>
          <a:solidFill>
            <a:schemeClr val="bg1">
              <a:lumMod val="95000"/>
            </a:schemeClr>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a:solidFill>
                  <a:schemeClr val="tx1">
                    <a:lumMod val="50000"/>
                  </a:schemeClr>
                </a:solidFill>
              </a:rPr>
              <a:t>Global Org Admin Account</a:t>
            </a:r>
          </a:p>
        </p:txBody>
      </p:sp>
      <p:cxnSp>
        <p:nvCxnSpPr>
          <p:cNvPr id="19" name="Connector: Elbow 18">
            <a:extLst>
              <a:ext uri="{FF2B5EF4-FFF2-40B4-BE49-F238E27FC236}">
                <a16:creationId xmlns:a16="http://schemas.microsoft.com/office/drawing/2014/main" id="{E579E57F-304E-CB8E-BDDC-ED488E712025}"/>
              </a:ext>
            </a:extLst>
          </p:cNvPr>
          <p:cNvCxnSpPr>
            <a:cxnSpLocks/>
            <a:stCxn id="10" idx="0"/>
            <a:endCxn id="17" idx="2"/>
          </p:cNvCxnSpPr>
          <p:nvPr/>
        </p:nvCxnSpPr>
        <p:spPr>
          <a:xfrm rot="5400000" flipH="1" flipV="1">
            <a:off x="1377100" y="4036179"/>
            <a:ext cx="471127" cy="554107"/>
          </a:xfrm>
          <a:prstGeom prst="bentConnector3">
            <a:avLst>
              <a:gd name="adj1" fmla="val 51417"/>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E8C62C7B-173C-208A-4B16-406586F56CD9}"/>
              </a:ext>
            </a:extLst>
          </p:cNvPr>
          <p:cNvCxnSpPr>
            <a:cxnSpLocks/>
            <a:stCxn id="13" idx="0"/>
            <a:endCxn id="17" idx="2"/>
          </p:cNvCxnSpPr>
          <p:nvPr/>
        </p:nvCxnSpPr>
        <p:spPr>
          <a:xfrm rot="16200000" flipV="1">
            <a:off x="2710014" y="3257371"/>
            <a:ext cx="462810" cy="2103404"/>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Connector: Elbow 20">
            <a:extLst>
              <a:ext uri="{FF2B5EF4-FFF2-40B4-BE49-F238E27FC236}">
                <a16:creationId xmlns:a16="http://schemas.microsoft.com/office/drawing/2014/main" id="{D8F80131-CEF0-97D7-F592-88E5ADE6081D}"/>
              </a:ext>
            </a:extLst>
          </p:cNvPr>
          <p:cNvCxnSpPr>
            <a:cxnSpLocks/>
            <a:stCxn id="12" idx="0"/>
            <a:endCxn id="27" idx="2"/>
          </p:cNvCxnSpPr>
          <p:nvPr/>
        </p:nvCxnSpPr>
        <p:spPr>
          <a:xfrm rot="5400000" flipH="1" flipV="1">
            <a:off x="3995590" y="2731667"/>
            <a:ext cx="485028" cy="3149228"/>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536A5A0F-D56B-0CB2-D76B-D40E08967AD0}"/>
              </a:ext>
            </a:extLst>
          </p:cNvPr>
          <p:cNvSpPr/>
          <p:nvPr/>
        </p:nvSpPr>
        <p:spPr>
          <a:xfrm>
            <a:off x="6735600" y="3303336"/>
            <a:ext cx="993553" cy="609655"/>
          </a:xfrm>
          <a:prstGeom prst="rect">
            <a:avLst/>
          </a:prstGeom>
          <a:solidFill>
            <a:schemeClr val="bg1">
              <a:lumMod val="95000"/>
            </a:schemeClr>
          </a:solidFill>
          <a:ln w="19050">
            <a:solidFill>
              <a:srgbClr val="92D050"/>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a:solidFill>
                  <a:schemeClr val="tx1">
                    <a:lumMod val="50000"/>
                  </a:schemeClr>
                </a:solidFill>
              </a:rPr>
              <a:t>Source Data Products</a:t>
            </a:r>
          </a:p>
        </p:txBody>
      </p:sp>
      <p:sp>
        <p:nvSpPr>
          <p:cNvPr id="24" name="TextBox 23">
            <a:extLst>
              <a:ext uri="{FF2B5EF4-FFF2-40B4-BE49-F238E27FC236}">
                <a16:creationId xmlns:a16="http://schemas.microsoft.com/office/drawing/2014/main" id="{24C070ED-2A9E-9658-47C4-548F0592213F}"/>
              </a:ext>
            </a:extLst>
          </p:cNvPr>
          <p:cNvSpPr txBox="1"/>
          <p:nvPr/>
        </p:nvSpPr>
        <p:spPr>
          <a:xfrm>
            <a:off x="10580459" y="3926180"/>
            <a:ext cx="1539379" cy="600164"/>
          </a:xfrm>
          <a:prstGeom prst="rect">
            <a:avLst/>
          </a:prstGeom>
          <a:noFill/>
        </p:spPr>
        <p:txBody>
          <a:bodyPr wrap="square" rtlCol="0">
            <a:spAutoFit/>
          </a:bodyPr>
          <a:lstStyle/>
          <a:p>
            <a:pPr algn="ctr"/>
            <a:r>
              <a:rPr lang="en-US" sz="1100"/>
              <a:t>FinOps</a:t>
            </a:r>
          </a:p>
          <a:p>
            <a:pPr algn="ctr"/>
            <a:r>
              <a:rPr lang="en-US" sz="1100"/>
              <a:t>Users, Data Producers, Data Consumers</a:t>
            </a:r>
          </a:p>
        </p:txBody>
      </p:sp>
      <p:sp>
        <p:nvSpPr>
          <p:cNvPr id="27" name="Rectangle 26">
            <a:extLst>
              <a:ext uri="{FF2B5EF4-FFF2-40B4-BE49-F238E27FC236}">
                <a16:creationId xmlns:a16="http://schemas.microsoft.com/office/drawing/2014/main" id="{304E01F5-04AB-652F-73B7-C54EE1EB1BB6}"/>
              </a:ext>
            </a:extLst>
          </p:cNvPr>
          <p:cNvSpPr/>
          <p:nvPr/>
        </p:nvSpPr>
        <p:spPr>
          <a:xfrm>
            <a:off x="5157206" y="3107134"/>
            <a:ext cx="1311024" cy="956633"/>
          </a:xfrm>
          <a:prstGeom prst="rect">
            <a:avLst/>
          </a:prstGeom>
          <a:noFill/>
          <a:ln w="190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0" name="Straight Arrow Connector 29">
            <a:extLst>
              <a:ext uri="{FF2B5EF4-FFF2-40B4-BE49-F238E27FC236}">
                <a16:creationId xmlns:a16="http://schemas.microsoft.com/office/drawing/2014/main" id="{A8A8FCD7-8168-2C08-09B2-D7ED634206A3}"/>
              </a:ext>
            </a:extLst>
          </p:cNvPr>
          <p:cNvCxnSpPr>
            <a:cxnSpLocks/>
            <a:stCxn id="27" idx="3"/>
            <a:endCxn id="50" idx="1"/>
          </p:cNvCxnSpPr>
          <p:nvPr/>
        </p:nvCxnSpPr>
        <p:spPr>
          <a:xfrm flipV="1">
            <a:off x="6468230" y="3585450"/>
            <a:ext cx="198025"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6BEB0B4E-E2BD-574D-AD65-C1FD7632D5AC}"/>
              </a:ext>
            </a:extLst>
          </p:cNvPr>
          <p:cNvCxnSpPr>
            <a:cxnSpLocks/>
            <a:stCxn id="17" idx="3"/>
            <a:endCxn id="27" idx="1"/>
          </p:cNvCxnSpPr>
          <p:nvPr/>
        </p:nvCxnSpPr>
        <p:spPr>
          <a:xfrm flipV="1">
            <a:off x="3002966" y="3585451"/>
            <a:ext cx="2154240" cy="139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34" name="Graphic 33" descr="Users outline">
            <a:extLst>
              <a:ext uri="{FF2B5EF4-FFF2-40B4-BE49-F238E27FC236}">
                <a16:creationId xmlns:a16="http://schemas.microsoft.com/office/drawing/2014/main" id="{ABE1023E-BF3D-7726-67F4-16A0E6471E2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856950" y="3134731"/>
            <a:ext cx="914400" cy="914400"/>
          </a:xfrm>
          <a:prstGeom prst="rect">
            <a:avLst/>
          </a:prstGeom>
        </p:spPr>
      </p:pic>
      <p:cxnSp>
        <p:nvCxnSpPr>
          <p:cNvPr id="35" name="Straight Arrow Connector 34">
            <a:extLst>
              <a:ext uri="{FF2B5EF4-FFF2-40B4-BE49-F238E27FC236}">
                <a16:creationId xmlns:a16="http://schemas.microsoft.com/office/drawing/2014/main" id="{57409A1E-BB53-BEA8-19F6-91EE001F2039}"/>
              </a:ext>
            </a:extLst>
          </p:cNvPr>
          <p:cNvCxnSpPr>
            <a:cxnSpLocks/>
            <a:stCxn id="50" idx="3"/>
            <a:endCxn id="64" idx="1"/>
          </p:cNvCxnSpPr>
          <p:nvPr/>
        </p:nvCxnSpPr>
        <p:spPr>
          <a:xfrm flipV="1">
            <a:off x="8892753" y="3585254"/>
            <a:ext cx="305036" cy="1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44" name="Picture 43">
            <a:extLst>
              <a:ext uri="{FF2B5EF4-FFF2-40B4-BE49-F238E27FC236}">
                <a16:creationId xmlns:a16="http://schemas.microsoft.com/office/drawing/2014/main" id="{DBAE3661-040F-9E90-8B62-18A2D88DD069}"/>
              </a:ext>
            </a:extLst>
          </p:cNvPr>
          <p:cNvPicPr>
            <a:picLocks noChangeAspect="1"/>
          </p:cNvPicPr>
          <p:nvPr/>
        </p:nvPicPr>
        <p:blipFill>
          <a:blip r:embed="rId6"/>
          <a:srcRect t="23842" b="24049"/>
          <a:stretch/>
        </p:blipFill>
        <p:spPr>
          <a:xfrm>
            <a:off x="9322976" y="3475792"/>
            <a:ext cx="978428" cy="282872"/>
          </a:xfrm>
          <a:prstGeom prst="rect">
            <a:avLst/>
          </a:prstGeom>
        </p:spPr>
      </p:pic>
      <p:cxnSp>
        <p:nvCxnSpPr>
          <p:cNvPr id="47" name="Straight Arrow Connector 46">
            <a:extLst>
              <a:ext uri="{FF2B5EF4-FFF2-40B4-BE49-F238E27FC236}">
                <a16:creationId xmlns:a16="http://schemas.microsoft.com/office/drawing/2014/main" id="{7749A881-5F77-E422-1EB0-E9CD109DDCB7}"/>
              </a:ext>
            </a:extLst>
          </p:cNvPr>
          <p:cNvCxnSpPr>
            <a:cxnSpLocks/>
            <a:stCxn id="64" idx="3"/>
            <a:endCxn id="34" idx="1"/>
          </p:cNvCxnSpPr>
          <p:nvPr/>
        </p:nvCxnSpPr>
        <p:spPr>
          <a:xfrm>
            <a:off x="10442812" y="3585254"/>
            <a:ext cx="414138" cy="66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0" name="Rectangle 49">
            <a:extLst>
              <a:ext uri="{FF2B5EF4-FFF2-40B4-BE49-F238E27FC236}">
                <a16:creationId xmlns:a16="http://schemas.microsoft.com/office/drawing/2014/main" id="{FDBE4DB6-4374-91A2-509A-3C7F35166D75}"/>
              </a:ext>
            </a:extLst>
          </p:cNvPr>
          <p:cNvSpPr/>
          <p:nvPr/>
        </p:nvSpPr>
        <p:spPr>
          <a:xfrm>
            <a:off x="6666255" y="3107133"/>
            <a:ext cx="2226498" cy="95663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A2EF17B2-4266-A8F0-6AE3-A5E597611A50}"/>
              </a:ext>
            </a:extLst>
          </p:cNvPr>
          <p:cNvSpPr/>
          <p:nvPr/>
        </p:nvSpPr>
        <p:spPr>
          <a:xfrm>
            <a:off x="7779504" y="3305891"/>
            <a:ext cx="993553" cy="609655"/>
          </a:xfrm>
          <a:prstGeom prst="rect">
            <a:avLst/>
          </a:prstGeom>
          <a:solidFill>
            <a:schemeClr val="bg1">
              <a:lumMod val="95000"/>
            </a:schemeClr>
          </a:solidFill>
          <a:ln w="19050">
            <a:solidFill>
              <a:schemeClr val="tx2">
                <a:lumMod val="60000"/>
                <a:lumOff val="4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a:solidFill>
                  <a:schemeClr val="tx1">
                    <a:lumMod val="50000"/>
                  </a:schemeClr>
                </a:solidFill>
              </a:rPr>
              <a:t>Curated Data Products</a:t>
            </a:r>
          </a:p>
        </p:txBody>
      </p:sp>
      <p:sp>
        <p:nvSpPr>
          <p:cNvPr id="71" name="Rectangle 70">
            <a:extLst>
              <a:ext uri="{FF2B5EF4-FFF2-40B4-BE49-F238E27FC236}">
                <a16:creationId xmlns:a16="http://schemas.microsoft.com/office/drawing/2014/main" id="{A7E43E6D-4E12-65C9-1943-D156CFF66AFC}"/>
              </a:ext>
            </a:extLst>
          </p:cNvPr>
          <p:cNvSpPr/>
          <p:nvPr/>
        </p:nvSpPr>
        <p:spPr>
          <a:xfrm>
            <a:off x="8838178" y="5553421"/>
            <a:ext cx="1609014" cy="274320"/>
          </a:xfrm>
          <a:prstGeom prst="rect">
            <a:avLst/>
          </a:prstGeom>
          <a:noFill/>
          <a:ln w="19050">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PFG: Currently Present</a:t>
            </a:r>
          </a:p>
        </p:txBody>
      </p:sp>
      <p:sp>
        <p:nvSpPr>
          <p:cNvPr id="72" name="Rectangle 71">
            <a:extLst>
              <a:ext uri="{FF2B5EF4-FFF2-40B4-BE49-F238E27FC236}">
                <a16:creationId xmlns:a16="http://schemas.microsoft.com/office/drawing/2014/main" id="{12979A04-360B-BB00-3544-1F0EAAE201D8}"/>
              </a:ext>
            </a:extLst>
          </p:cNvPr>
          <p:cNvSpPr/>
          <p:nvPr/>
        </p:nvSpPr>
        <p:spPr>
          <a:xfrm>
            <a:off x="10580459" y="5553421"/>
            <a:ext cx="1497867" cy="274320"/>
          </a:xfrm>
          <a:prstGeom prst="rect">
            <a:avLst/>
          </a:prstGeom>
          <a:noFill/>
          <a:ln w="19050">
            <a:solidFill>
              <a:schemeClr val="tx2">
                <a:lumMod val="60000"/>
                <a:lumOff val="4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200">
                <a:solidFill>
                  <a:schemeClr val="tx1">
                    <a:lumMod val="50000"/>
                  </a:schemeClr>
                </a:solidFill>
              </a:rPr>
              <a:t>Deloitte: To be Built</a:t>
            </a:r>
          </a:p>
        </p:txBody>
      </p:sp>
      <p:pic>
        <p:nvPicPr>
          <p:cNvPr id="88" name="Picture 87">
            <a:extLst>
              <a:ext uri="{FF2B5EF4-FFF2-40B4-BE49-F238E27FC236}">
                <a16:creationId xmlns:a16="http://schemas.microsoft.com/office/drawing/2014/main" id="{EA1F1EB7-4CC1-CF6C-0BEF-2031904B1BCA}"/>
              </a:ext>
            </a:extLst>
          </p:cNvPr>
          <p:cNvPicPr>
            <a:picLocks noChangeAspect="1"/>
          </p:cNvPicPr>
          <p:nvPr/>
        </p:nvPicPr>
        <p:blipFill>
          <a:blip r:embed="rId3"/>
          <a:srcRect b="31336"/>
          <a:stretch/>
        </p:blipFill>
        <p:spPr>
          <a:xfrm>
            <a:off x="6982325" y="2749629"/>
            <a:ext cx="1594358" cy="450410"/>
          </a:xfrm>
          <a:prstGeom prst="rect">
            <a:avLst/>
          </a:prstGeom>
        </p:spPr>
      </p:pic>
    </p:spTree>
    <p:extLst>
      <p:ext uri="{BB962C8B-B14F-4D97-AF65-F5344CB8AC3E}">
        <p14:creationId xmlns:p14="http://schemas.microsoft.com/office/powerpoint/2010/main" val="34050984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D37E8-35FF-5ACB-C8C8-329B09E82E9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07D78D1-5D2F-EE34-B336-45D0E7162A36}"/>
              </a:ext>
            </a:extLst>
          </p:cNvPr>
          <p:cNvSpPr txBox="1">
            <a:spLocks/>
          </p:cNvSpPr>
          <p:nvPr/>
        </p:nvSpPr>
        <p:spPr>
          <a:xfrm>
            <a:off x="284550" y="216713"/>
            <a:ext cx="11904087" cy="509780"/>
          </a:xfrm>
          <a:prstGeom prst="rect">
            <a:avLst/>
          </a:prstGeom>
        </p:spPr>
        <p:txBody>
          <a:bodyPr/>
          <a:lstStyle>
            <a:lvl1pPr algn="l" defTabSz="914400" rtl="0" eaLnBrk="1" latinLnBrk="0" hangingPunct="1">
              <a:lnSpc>
                <a:spcPct val="100000"/>
              </a:lnSpc>
              <a:spcBef>
                <a:spcPct val="0"/>
              </a:spcBef>
              <a:buNone/>
              <a:defRPr sz="3400" b="0" i="0" kern="1200">
                <a:solidFill>
                  <a:srgbClr val="0076CF"/>
                </a:solidFill>
                <a:latin typeface="FS Elliot Pro Light" panose="02000503040000020004" pitchFamily="2"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a:ln>
                  <a:noFill/>
                </a:ln>
                <a:solidFill>
                  <a:srgbClr val="0076CF"/>
                </a:solidFill>
                <a:effectLst/>
                <a:uLnTx/>
                <a:uFillTx/>
                <a:latin typeface="FS Elliot Pro Light" panose="02000503040000020004" pitchFamily="2" charset="0"/>
                <a:ea typeface="+mj-ea"/>
                <a:cs typeface="+mj-cs"/>
              </a:rPr>
              <a:t>Dimensions and Key Performance Indicators</a:t>
            </a:r>
          </a:p>
        </p:txBody>
      </p:sp>
      <p:sp>
        <p:nvSpPr>
          <p:cNvPr id="36" name="Rectangle 35">
            <a:extLst>
              <a:ext uri="{FF2B5EF4-FFF2-40B4-BE49-F238E27FC236}">
                <a16:creationId xmlns:a16="http://schemas.microsoft.com/office/drawing/2014/main" id="{3B77BC12-8CBC-40D4-C41C-F4396F546534}"/>
              </a:ext>
            </a:extLst>
          </p:cNvPr>
          <p:cNvSpPr/>
          <p:nvPr/>
        </p:nvSpPr>
        <p:spPr bwMode="gray">
          <a:xfrm>
            <a:off x="394953" y="1285895"/>
            <a:ext cx="10958292" cy="5118414"/>
          </a:xfrm>
          <a:prstGeom prst="rect">
            <a:avLst/>
          </a:prstGeom>
          <a:solidFill>
            <a:sysClr val="window" lastClr="FFFFFF">
              <a:lumMod val="95000"/>
            </a:sysClr>
          </a:solidFill>
          <a:ln w="19050" algn="ctr">
            <a:noFill/>
            <a:miter lim="800000"/>
            <a:headEnd/>
            <a:tailEnd/>
          </a:ln>
        </p:spPr>
        <p:txBody>
          <a:bodyPr wrap="square" lIns="100753" tIns="100753" rIns="100753" bIns="100753" rtlCol="0" anchor="ctr"/>
          <a:lstStyle/>
          <a:p>
            <a:pPr marL="0" marR="0" lvl="0" indent="0" algn="ctr" defTabSz="518145" eaLnBrk="1" fontAlgn="auto" latinLnBrk="0" hangingPunct="1">
              <a:lnSpc>
                <a:spcPct val="106000"/>
              </a:lnSpc>
              <a:spcBef>
                <a:spcPts val="0"/>
              </a:spcBef>
              <a:spcAft>
                <a:spcPts val="0"/>
              </a:spcAft>
              <a:buClrTx/>
              <a:buSzTx/>
              <a:buFontTx/>
              <a:buNone/>
              <a:tabLst/>
              <a:defRPr/>
            </a:pPr>
            <a:endParaRPr kumimoji="0" lang="en-US" sz="12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5" name="Rectangle 44">
            <a:extLst>
              <a:ext uri="{FF2B5EF4-FFF2-40B4-BE49-F238E27FC236}">
                <a16:creationId xmlns:a16="http://schemas.microsoft.com/office/drawing/2014/main" id="{C9523C22-88AE-9C27-4ABA-989ECE3AFDF0}"/>
              </a:ext>
            </a:extLst>
          </p:cNvPr>
          <p:cNvSpPr/>
          <p:nvPr/>
        </p:nvSpPr>
        <p:spPr>
          <a:xfrm>
            <a:off x="394952" y="1219540"/>
            <a:ext cx="900448" cy="361309"/>
          </a:xfrm>
          <a:prstGeom prst="rect">
            <a:avLst/>
          </a:prstGeom>
          <a:no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00" name="TextBox 99">
            <a:extLst>
              <a:ext uri="{FF2B5EF4-FFF2-40B4-BE49-F238E27FC236}">
                <a16:creationId xmlns:a16="http://schemas.microsoft.com/office/drawing/2014/main" id="{EF2A48E5-A726-B578-9C24-04E693F3DCA4}"/>
              </a:ext>
            </a:extLst>
          </p:cNvPr>
          <p:cNvSpPr txBox="1"/>
          <p:nvPr/>
        </p:nvSpPr>
        <p:spPr>
          <a:xfrm>
            <a:off x="284550" y="698720"/>
            <a:ext cx="10490823" cy="338554"/>
          </a:xfrm>
          <a:prstGeom prst="rect">
            <a:avLst/>
          </a:prstGeom>
          <a:noFill/>
        </p:spPr>
        <p:txBody>
          <a:bodyPr wrap="square">
            <a:spAutoFit/>
          </a:bodyPr>
          <a:lstStyle/>
          <a:p>
            <a:r>
              <a:rPr lang="en-US" sz="1600" kern="1200">
                <a:solidFill>
                  <a:schemeClr val="tx1"/>
                </a:solidFill>
                <a:latin typeface="+mn-lt"/>
                <a:ea typeface="+mn-ea"/>
                <a:cs typeface="+mn-cs"/>
              </a:rPr>
              <a:t>Below are the identified dimensions and Key Performance indicators identified from the requirements</a:t>
            </a:r>
          </a:p>
        </p:txBody>
      </p:sp>
      <p:graphicFrame>
        <p:nvGraphicFramePr>
          <p:cNvPr id="2" name="Table 1">
            <a:extLst>
              <a:ext uri="{FF2B5EF4-FFF2-40B4-BE49-F238E27FC236}">
                <a16:creationId xmlns:a16="http://schemas.microsoft.com/office/drawing/2014/main" id="{D7A19EB2-2BBE-540E-36BC-D1C2C97A5CFA}"/>
              </a:ext>
            </a:extLst>
          </p:cNvPr>
          <p:cNvGraphicFramePr>
            <a:graphicFrameLocks noGrp="1"/>
          </p:cNvGraphicFramePr>
          <p:nvPr/>
        </p:nvGraphicFramePr>
        <p:xfrm>
          <a:off x="514739" y="1400194"/>
          <a:ext cx="2425888" cy="4148915"/>
        </p:xfrm>
        <a:graphic>
          <a:graphicData uri="http://schemas.openxmlformats.org/drawingml/2006/table">
            <a:tbl>
              <a:tblPr firstRow="1" bandRow="1">
                <a:tableStyleId>{5C22544A-7EE6-4342-B048-85BDC9FD1C3A}</a:tableStyleId>
              </a:tblPr>
              <a:tblGrid>
                <a:gridCol w="2425888">
                  <a:extLst>
                    <a:ext uri="{9D8B030D-6E8A-4147-A177-3AD203B41FA5}">
                      <a16:colId xmlns:a16="http://schemas.microsoft.com/office/drawing/2014/main" val="3427785433"/>
                    </a:ext>
                  </a:extLst>
                </a:gridCol>
              </a:tblGrid>
              <a:tr h="511235">
                <a:tc>
                  <a:txBody>
                    <a:bodyPr/>
                    <a:lstStyle/>
                    <a:p>
                      <a:pPr algn="ctr"/>
                      <a:r>
                        <a:rPr lang="en-US" sz="1500">
                          <a:latin typeface="+mn-lt"/>
                        </a:rPr>
                        <a:t>Snowflake Platform Dimensions</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338DCD"/>
                    </a:solidFill>
                  </a:tcPr>
                </a:tc>
                <a:extLst>
                  <a:ext uri="{0D108BD9-81ED-4DB2-BD59-A6C34878D82A}">
                    <a16:rowId xmlns:a16="http://schemas.microsoft.com/office/drawing/2014/main" val="1477258189"/>
                  </a:ext>
                </a:extLst>
              </a:tr>
              <a:tr h="298220">
                <a:tc>
                  <a:txBody>
                    <a:bodyPr/>
                    <a:lstStyle/>
                    <a:p>
                      <a:pPr marL="58738" marR="6223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kern="1200">
                          <a:solidFill>
                            <a:schemeClr val="tx1"/>
                          </a:solidFill>
                          <a:latin typeface="+mn-lt"/>
                          <a:ea typeface="+mn-ea"/>
                          <a:cs typeface="+mn-cs"/>
                        </a:rPr>
                        <a:t>Account</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6350" cap="flat" cmpd="sng" algn="ctr">
                      <a:solidFill>
                        <a:srgbClr val="338D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3089015"/>
                  </a:ext>
                </a:extLst>
              </a:tr>
              <a:tr h="298220">
                <a:tc>
                  <a:txBody>
                    <a:bodyPr/>
                    <a:lstStyle/>
                    <a:p>
                      <a:pPr marL="58738" marR="6223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kern="1200">
                          <a:solidFill>
                            <a:schemeClr val="tx1"/>
                          </a:solidFill>
                          <a:latin typeface="+mn-lt"/>
                          <a:ea typeface="+mn-ea"/>
                          <a:cs typeface="+mn-cs"/>
                        </a:rPr>
                        <a:t>Warehouse</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338DCD"/>
                      </a:solidFill>
                      <a:prstDash val="solid"/>
                      <a:round/>
                      <a:headEnd type="none" w="med" len="med"/>
                      <a:tailEnd type="none" w="med" len="med"/>
                    </a:lnT>
                    <a:lnB w="6350" cap="flat" cmpd="sng" algn="ctr">
                      <a:solidFill>
                        <a:srgbClr val="338D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27183899"/>
                  </a:ext>
                </a:extLst>
              </a:tr>
              <a:tr h="298220">
                <a:tc>
                  <a:txBody>
                    <a:bodyPr/>
                    <a:lstStyle/>
                    <a:p>
                      <a:pPr marL="58738" marR="6223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kern="1200">
                          <a:solidFill>
                            <a:schemeClr val="tx1"/>
                          </a:solidFill>
                          <a:latin typeface="+mn-lt"/>
                          <a:ea typeface="+mn-ea"/>
                          <a:cs typeface="+mn-cs"/>
                        </a:rPr>
                        <a:t>Database</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338DCD"/>
                      </a:solidFill>
                      <a:prstDash val="solid"/>
                      <a:round/>
                      <a:headEnd type="none" w="med" len="med"/>
                      <a:tailEnd type="none" w="med" len="med"/>
                    </a:lnT>
                    <a:lnB w="6350" cap="flat" cmpd="sng" algn="ctr">
                      <a:solidFill>
                        <a:srgbClr val="338D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3822384"/>
                  </a:ext>
                </a:extLst>
              </a:tr>
              <a:tr h="298220">
                <a:tc>
                  <a:txBody>
                    <a:bodyPr/>
                    <a:lstStyle/>
                    <a:p>
                      <a:pPr marL="58738" marR="6223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kern="1200">
                          <a:solidFill>
                            <a:schemeClr val="tx1"/>
                          </a:solidFill>
                          <a:latin typeface="+mn-lt"/>
                          <a:ea typeface="+mn-ea"/>
                          <a:cs typeface="+mn-cs"/>
                        </a:rPr>
                        <a:t>Schema</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338DCD"/>
                      </a:solidFill>
                      <a:prstDash val="solid"/>
                      <a:round/>
                      <a:headEnd type="none" w="med" len="med"/>
                      <a:tailEnd type="none" w="med" len="med"/>
                    </a:lnT>
                    <a:lnB w="6350" cap="flat" cmpd="sng" algn="ctr">
                      <a:solidFill>
                        <a:srgbClr val="338D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4485140"/>
                  </a:ext>
                </a:extLst>
              </a:tr>
              <a:tr h="298220">
                <a:tc>
                  <a:txBody>
                    <a:bodyPr/>
                    <a:lstStyle/>
                    <a:p>
                      <a:pPr marL="58738" marR="6223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kern="1200">
                          <a:solidFill>
                            <a:schemeClr val="tx1"/>
                          </a:solidFill>
                          <a:latin typeface="+mn-lt"/>
                          <a:ea typeface="+mn-ea"/>
                          <a:cs typeface="+mn-cs"/>
                        </a:rPr>
                        <a:t>Objects</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338DCD"/>
                      </a:solidFill>
                      <a:prstDash val="solid"/>
                      <a:round/>
                      <a:headEnd type="none" w="med" len="med"/>
                      <a:tailEnd type="none" w="med" len="med"/>
                    </a:lnT>
                    <a:lnB w="6350" cap="flat" cmpd="sng" algn="ctr">
                      <a:solidFill>
                        <a:srgbClr val="338D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5437326"/>
                  </a:ext>
                </a:extLst>
              </a:tr>
              <a:tr h="298220">
                <a:tc>
                  <a:txBody>
                    <a:bodyPr/>
                    <a:lstStyle/>
                    <a:p>
                      <a:pPr marL="58738" marR="6223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kern="1200">
                          <a:solidFill>
                            <a:schemeClr val="tx1"/>
                          </a:solidFill>
                          <a:latin typeface="+mn-lt"/>
                          <a:ea typeface="+mn-ea"/>
                          <a:cs typeface="+mn-cs"/>
                        </a:rPr>
                        <a:t>Service Type</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338DCD"/>
                      </a:solidFill>
                      <a:prstDash val="solid"/>
                      <a:round/>
                      <a:headEnd type="none" w="med" len="med"/>
                      <a:tailEnd type="none" w="med" len="med"/>
                    </a:lnT>
                    <a:lnB w="6350" cap="flat" cmpd="sng" algn="ctr">
                      <a:solidFill>
                        <a:srgbClr val="338D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04524938"/>
                  </a:ext>
                </a:extLst>
              </a:tr>
              <a:tr h="298220">
                <a:tc>
                  <a:txBody>
                    <a:bodyPr/>
                    <a:lstStyle/>
                    <a:p>
                      <a:pPr marL="58738" marR="6223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kern="1200">
                          <a:solidFill>
                            <a:schemeClr val="tx1"/>
                          </a:solidFill>
                          <a:latin typeface="+mn-lt"/>
                          <a:ea typeface="+mn-ea"/>
                          <a:cs typeface="+mn-cs"/>
                        </a:rPr>
                        <a:t>Credit Type</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338DCD"/>
                      </a:solidFill>
                      <a:prstDash val="solid"/>
                      <a:round/>
                      <a:headEnd type="none" w="med" len="med"/>
                      <a:tailEnd type="none" w="med" len="med"/>
                    </a:lnT>
                    <a:lnB w="6350" cap="flat" cmpd="sng" algn="ctr">
                      <a:solidFill>
                        <a:srgbClr val="338D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47151737"/>
                  </a:ext>
                </a:extLst>
              </a:tr>
              <a:tr h="298220">
                <a:tc>
                  <a:txBody>
                    <a:bodyPr/>
                    <a:lstStyle/>
                    <a:p>
                      <a:pPr marL="58738" marR="6223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kern="1200">
                          <a:solidFill>
                            <a:schemeClr val="tx1"/>
                          </a:solidFill>
                          <a:latin typeface="+mn-lt"/>
                          <a:ea typeface="+mn-ea"/>
                          <a:cs typeface="+mn-cs"/>
                        </a:rPr>
                        <a:t>Query Status</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338DCD"/>
                      </a:solidFill>
                      <a:prstDash val="solid"/>
                      <a:round/>
                      <a:headEnd type="none" w="med" len="med"/>
                      <a:tailEnd type="none" w="med" len="med"/>
                    </a:lnT>
                    <a:lnB w="6350" cap="flat" cmpd="sng" algn="ctr">
                      <a:solidFill>
                        <a:srgbClr val="338D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66020219"/>
                  </a:ext>
                </a:extLst>
              </a:tr>
              <a:tr h="298220">
                <a:tc>
                  <a:txBody>
                    <a:bodyPr/>
                    <a:lstStyle/>
                    <a:p>
                      <a:pPr marL="58738" marR="6223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kern="1200">
                          <a:solidFill>
                            <a:schemeClr val="tx1"/>
                          </a:solidFill>
                          <a:latin typeface="+mn-lt"/>
                          <a:ea typeface="+mn-ea"/>
                          <a:cs typeface="+mn-cs"/>
                        </a:rPr>
                        <a:t>Storage Type</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338DCD"/>
                      </a:solidFill>
                      <a:prstDash val="solid"/>
                      <a:round/>
                      <a:headEnd type="none" w="med" len="med"/>
                      <a:tailEnd type="none" w="med" len="med"/>
                    </a:lnT>
                    <a:lnB w="6350" cap="flat" cmpd="sng" algn="ctr">
                      <a:solidFill>
                        <a:srgbClr val="338D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71302509"/>
                  </a:ext>
                </a:extLst>
              </a:tr>
              <a:tr h="319855">
                <a:tc>
                  <a:txBody>
                    <a:bodyPr/>
                    <a:lstStyle/>
                    <a:p>
                      <a:pPr marL="58738" marR="6223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kern="1200">
                          <a:solidFill>
                            <a:schemeClr val="tx1"/>
                          </a:solidFill>
                          <a:latin typeface="+mn-lt"/>
                          <a:ea typeface="+mn-ea"/>
                          <a:cs typeface="+mn-cs"/>
                        </a:rPr>
                        <a:t>Data Transfer (Category)</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338DCD"/>
                      </a:solidFill>
                      <a:prstDash val="solid"/>
                      <a:round/>
                      <a:headEnd type="none" w="med" len="med"/>
                      <a:tailEnd type="none" w="med" len="med"/>
                    </a:lnT>
                    <a:lnB w="6350" cap="flat" cmpd="sng" algn="ctr">
                      <a:solidFill>
                        <a:srgbClr val="338D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4996659"/>
                  </a:ext>
                </a:extLst>
              </a:tr>
              <a:tr h="298220">
                <a:tc>
                  <a:txBody>
                    <a:bodyPr/>
                    <a:lstStyle/>
                    <a:p>
                      <a:pPr marL="58738" marR="6223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kern="1200">
                          <a:solidFill>
                            <a:schemeClr val="tx1"/>
                          </a:solidFill>
                          <a:latin typeface="+mn-lt"/>
                          <a:ea typeface="+mn-ea"/>
                          <a:cs typeface="+mn-cs"/>
                        </a:rPr>
                        <a:t>Query Type</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338DCD"/>
                      </a:solidFill>
                      <a:prstDash val="solid"/>
                      <a:round/>
                      <a:headEnd type="none" w="med" len="med"/>
                      <a:tailEnd type="none" w="med" len="med"/>
                    </a:lnT>
                    <a:lnB w="6350" cap="flat" cmpd="sng" algn="ctr">
                      <a:solidFill>
                        <a:srgbClr val="338D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09802378"/>
                  </a:ext>
                </a:extLst>
              </a:tr>
              <a:tr h="298220">
                <a:tc>
                  <a:txBody>
                    <a:bodyPr/>
                    <a:lstStyle/>
                    <a:p>
                      <a:pPr marL="58738" marR="6223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kern="1200">
                          <a:solidFill>
                            <a:schemeClr val="tx1"/>
                          </a:solidFill>
                          <a:latin typeface="+mn-lt"/>
                          <a:ea typeface="+mn-ea"/>
                          <a:cs typeface="+mn-cs"/>
                        </a:rPr>
                        <a:t>Query Text(Query ID)</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338DCD"/>
                      </a:solidFill>
                      <a:prstDash val="solid"/>
                      <a:round/>
                      <a:headEnd type="none" w="med" len="med"/>
                      <a:tailEnd type="none" w="med" len="med"/>
                    </a:lnT>
                    <a:lnB w="6350" cap="flat" cmpd="sng" algn="ctr">
                      <a:solidFill>
                        <a:srgbClr val="338D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6045888"/>
                  </a:ext>
                </a:extLst>
              </a:tr>
            </a:tbl>
          </a:graphicData>
        </a:graphic>
      </p:graphicFrame>
      <p:graphicFrame>
        <p:nvGraphicFramePr>
          <p:cNvPr id="3" name="Table 2">
            <a:extLst>
              <a:ext uri="{FF2B5EF4-FFF2-40B4-BE49-F238E27FC236}">
                <a16:creationId xmlns:a16="http://schemas.microsoft.com/office/drawing/2014/main" id="{1BBDEDB7-DAF2-25CA-5405-FCF0C8C74B21}"/>
              </a:ext>
            </a:extLst>
          </p:cNvPr>
          <p:cNvGraphicFramePr>
            <a:graphicFrameLocks noGrp="1"/>
          </p:cNvGraphicFramePr>
          <p:nvPr/>
        </p:nvGraphicFramePr>
        <p:xfrm>
          <a:off x="3237829" y="1401625"/>
          <a:ext cx="2425888" cy="2194560"/>
        </p:xfrm>
        <a:graphic>
          <a:graphicData uri="http://schemas.openxmlformats.org/drawingml/2006/table">
            <a:tbl>
              <a:tblPr firstRow="1" bandRow="1">
                <a:tableStyleId>{5C22544A-7EE6-4342-B048-85BDC9FD1C3A}</a:tableStyleId>
              </a:tblPr>
              <a:tblGrid>
                <a:gridCol w="2425888">
                  <a:extLst>
                    <a:ext uri="{9D8B030D-6E8A-4147-A177-3AD203B41FA5}">
                      <a16:colId xmlns:a16="http://schemas.microsoft.com/office/drawing/2014/main" val="3427785433"/>
                    </a:ext>
                  </a:extLst>
                </a:gridCol>
              </a:tblGrid>
              <a:tr h="548640">
                <a:tc>
                  <a:txBody>
                    <a:bodyPr/>
                    <a:lstStyle/>
                    <a:p>
                      <a:pPr algn="ctr"/>
                      <a:r>
                        <a:rPr lang="en-US" sz="1500">
                          <a:latin typeface="+mn-lt"/>
                        </a:rPr>
                        <a:t>Time Dimensions</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338DCD"/>
                    </a:solidFill>
                  </a:tcPr>
                </a:tc>
                <a:extLst>
                  <a:ext uri="{0D108BD9-81ED-4DB2-BD59-A6C34878D82A}">
                    <a16:rowId xmlns:a16="http://schemas.microsoft.com/office/drawing/2014/main" val="1477258189"/>
                  </a:ext>
                </a:extLst>
              </a:tr>
              <a:tr h="0">
                <a:tc>
                  <a:txBody>
                    <a:bodyPr/>
                    <a:lstStyle/>
                    <a:p>
                      <a:pPr marL="58738" marR="6223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kern="1200">
                          <a:solidFill>
                            <a:schemeClr val="tx1"/>
                          </a:solidFill>
                          <a:latin typeface="+mn-lt"/>
                          <a:ea typeface="+mn-ea"/>
                          <a:cs typeface="+mn-cs"/>
                        </a:rPr>
                        <a:t>Yearly</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6350" cap="flat" cmpd="sng" algn="ctr">
                      <a:solidFill>
                        <a:srgbClr val="338D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3089015"/>
                  </a:ext>
                </a:extLst>
              </a:tr>
              <a:tr h="0">
                <a:tc>
                  <a:txBody>
                    <a:bodyPr/>
                    <a:lstStyle/>
                    <a:p>
                      <a:pPr marL="58738" marR="6223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kern="1200">
                          <a:solidFill>
                            <a:schemeClr val="tx1"/>
                          </a:solidFill>
                          <a:latin typeface="+mn-lt"/>
                          <a:ea typeface="+mn-ea"/>
                          <a:cs typeface="+mn-cs"/>
                        </a:rPr>
                        <a:t>Quarterly</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338DCD"/>
                      </a:solidFill>
                      <a:prstDash val="solid"/>
                      <a:round/>
                      <a:headEnd type="none" w="med" len="med"/>
                      <a:tailEnd type="none" w="med" len="med"/>
                    </a:lnT>
                    <a:lnB w="6350" cap="flat" cmpd="sng" algn="ctr">
                      <a:solidFill>
                        <a:srgbClr val="338D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27183899"/>
                  </a:ext>
                </a:extLst>
              </a:tr>
              <a:tr h="0">
                <a:tc>
                  <a:txBody>
                    <a:bodyPr/>
                    <a:lstStyle/>
                    <a:p>
                      <a:pPr marL="58738" marR="6223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kern="1200">
                          <a:solidFill>
                            <a:schemeClr val="tx1"/>
                          </a:solidFill>
                          <a:latin typeface="+mn-lt"/>
                          <a:ea typeface="+mn-ea"/>
                          <a:cs typeface="+mn-cs"/>
                        </a:rPr>
                        <a:t>Monthly</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338DCD"/>
                      </a:solidFill>
                      <a:prstDash val="solid"/>
                      <a:round/>
                      <a:headEnd type="none" w="med" len="med"/>
                      <a:tailEnd type="none" w="med" len="med"/>
                    </a:lnT>
                    <a:lnB w="6350" cap="flat" cmpd="sng" algn="ctr">
                      <a:solidFill>
                        <a:srgbClr val="338D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3822384"/>
                  </a:ext>
                </a:extLst>
              </a:tr>
              <a:tr h="0">
                <a:tc>
                  <a:txBody>
                    <a:bodyPr/>
                    <a:lstStyle/>
                    <a:p>
                      <a:pPr marL="58738" marR="6223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kern="1200">
                          <a:solidFill>
                            <a:schemeClr val="tx1"/>
                          </a:solidFill>
                          <a:latin typeface="+mn-lt"/>
                          <a:ea typeface="+mn-ea"/>
                          <a:cs typeface="+mn-cs"/>
                        </a:rPr>
                        <a:t>Weekly</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338DCD"/>
                      </a:solidFill>
                      <a:prstDash val="solid"/>
                      <a:round/>
                      <a:headEnd type="none" w="med" len="med"/>
                      <a:tailEnd type="none" w="med" len="med"/>
                    </a:lnT>
                    <a:lnB w="6350" cap="flat" cmpd="sng" algn="ctr">
                      <a:solidFill>
                        <a:srgbClr val="338D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5967632"/>
                  </a:ext>
                </a:extLst>
              </a:tr>
              <a:tr h="0">
                <a:tc>
                  <a:txBody>
                    <a:bodyPr/>
                    <a:lstStyle/>
                    <a:p>
                      <a:pPr marL="58738" marR="6223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kern="1200">
                          <a:solidFill>
                            <a:schemeClr val="tx1"/>
                          </a:solidFill>
                          <a:latin typeface="+mn-lt"/>
                          <a:ea typeface="+mn-ea"/>
                          <a:cs typeface="+mn-cs"/>
                        </a:rPr>
                        <a:t>Daily</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338DCD"/>
                      </a:solidFill>
                      <a:prstDash val="solid"/>
                      <a:round/>
                      <a:headEnd type="none" w="med" len="med"/>
                      <a:tailEnd type="none" w="med" len="med"/>
                    </a:lnT>
                    <a:lnB w="6350" cap="flat" cmpd="sng" algn="ctr">
                      <a:solidFill>
                        <a:srgbClr val="338D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46594299"/>
                  </a:ext>
                </a:extLst>
              </a:tr>
              <a:tr h="0">
                <a:tc>
                  <a:txBody>
                    <a:bodyPr/>
                    <a:lstStyle/>
                    <a:p>
                      <a:pPr marL="58738" marR="6223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kern="1200">
                          <a:solidFill>
                            <a:schemeClr val="tx1"/>
                          </a:solidFill>
                          <a:latin typeface="+mn-lt"/>
                          <a:ea typeface="+mn-ea"/>
                          <a:cs typeface="+mn-cs"/>
                        </a:rPr>
                        <a:t>Hourly</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338DCD"/>
                      </a:solidFill>
                      <a:prstDash val="solid"/>
                      <a:round/>
                      <a:headEnd type="none" w="med" len="med"/>
                      <a:tailEnd type="none" w="med" len="med"/>
                    </a:lnT>
                    <a:lnB w="6350" cap="flat" cmpd="sng" algn="ctr">
                      <a:solidFill>
                        <a:srgbClr val="338D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53800974"/>
                  </a:ext>
                </a:extLst>
              </a:tr>
            </a:tbl>
          </a:graphicData>
        </a:graphic>
      </p:graphicFrame>
      <p:graphicFrame>
        <p:nvGraphicFramePr>
          <p:cNvPr id="5" name="Table 4">
            <a:extLst>
              <a:ext uri="{FF2B5EF4-FFF2-40B4-BE49-F238E27FC236}">
                <a16:creationId xmlns:a16="http://schemas.microsoft.com/office/drawing/2014/main" id="{39EC6E41-BD6F-A6E4-6D0A-49C5747CB5DE}"/>
              </a:ext>
            </a:extLst>
          </p:cNvPr>
          <p:cNvGraphicFramePr>
            <a:graphicFrameLocks noGrp="1"/>
          </p:cNvGraphicFramePr>
          <p:nvPr/>
        </p:nvGraphicFramePr>
        <p:xfrm>
          <a:off x="5960919" y="1403056"/>
          <a:ext cx="2425888" cy="2514600"/>
        </p:xfrm>
        <a:graphic>
          <a:graphicData uri="http://schemas.openxmlformats.org/drawingml/2006/table">
            <a:tbl>
              <a:tblPr firstRow="1" bandRow="1">
                <a:tableStyleId>{5C22544A-7EE6-4342-B048-85BDC9FD1C3A}</a:tableStyleId>
              </a:tblPr>
              <a:tblGrid>
                <a:gridCol w="2425888">
                  <a:extLst>
                    <a:ext uri="{9D8B030D-6E8A-4147-A177-3AD203B41FA5}">
                      <a16:colId xmlns:a16="http://schemas.microsoft.com/office/drawing/2014/main" val="3427785433"/>
                    </a:ext>
                  </a:extLst>
                </a:gridCol>
              </a:tblGrid>
              <a:tr h="119921">
                <a:tc>
                  <a:txBody>
                    <a:bodyPr/>
                    <a:lstStyle/>
                    <a:p>
                      <a:pPr algn="ctr"/>
                      <a:r>
                        <a:rPr lang="en-US" sz="1500">
                          <a:latin typeface="+mn-lt"/>
                        </a:rPr>
                        <a:t>Organizational Dimensions</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338DCD"/>
                    </a:solidFill>
                  </a:tcPr>
                </a:tc>
                <a:extLst>
                  <a:ext uri="{0D108BD9-81ED-4DB2-BD59-A6C34878D82A}">
                    <a16:rowId xmlns:a16="http://schemas.microsoft.com/office/drawing/2014/main" val="1477258189"/>
                  </a:ext>
                </a:extLst>
              </a:tr>
              <a:tr h="0">
                <a:tc>
                  <a:txBody>
                    <a:bodyPr/>
                    <a:lstStyle/>
                    <a:p>
                      <a:pPr marL="58738" marR="6223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kern="1200">
                          <a:solidFill>
                            <a:schemeClr val="tx1"/>
                          </a:solidFill>
                          <a:latin typeface="+mn-lt"/>
                          <a:ea typeface="+mn-ea"/>
                          <a:cs typeface="+mn-cs"/>
                        </a:rPr>
                        <a:t>Organization</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6350" cap="flat" cmpd="sng" algn="ctr">
                      <a:solidFill>
                        <a:srgbClr val="338D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3089015"/>
                  </a:ext>
                </a:extLst>
              </a:tr>
              <a:tr h="0">
                <a:tc>
                  <a:txBody>
                    <a:bodyPr/>
                    <a:lstStyle/>
                    <a:p>
                      <a:pPr marL="58738" marR="6223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kern="1200">
                          <a:solidFill>
                            <a:schemeClr val="tx1"/>
                          </a:solidFill>
                          <a:latin typeface="+mn-lt"/>
                          <a:ea typeface="+mn-ea"/>
                          <a:cs typeface="+mn-cs"/>
                        </a:rPr>
                        <a:t>Environment</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338DCD"/>
                      </a:solidFill>
                      <a:prstDash val="solid"/>
                      <a:round/>
                      <a:headEnd type="none" w="med" len="med"/>
                      <a:tailEnd type="none" w="med" len="med"/>
                    </a:lnT>
                    <a:lnB w="6350" cap="flat" cmpd="sng" algn="ctr">
                      <a:solidFill>
                        <a:srgbClr val="338D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27183899"/>
                  </a:ext>
                </a:extLst>
              </a:tr>
              <a:tr h="0">
                <a:tc>
                  <a:txBody>
                    <a:bodyPr/>
                    <a:lstStyle/>
                    <a:p>
                      <a:pPr marL="58738" marR="6223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kern="1200">
                          <a:solidFill>
                            <a:schemeClr val="tx1"/>
                          </a:solidFill>
                          <a:latin typeface="+mn-lt"/>
                          <a:ea typeface="+mn-ea"/>
                          <a:cs typeface="+mn-cs"/>
                        </a:rPr>
                        <a:t>Accounts</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338DCD"/>
                      </a:solidFill>
                      <a:prstDash val="solid"/>
                      <a:round/>
                      <a:headEnd type="none" w="med" len="med"/>
                      <a:tailEnd type="none" w="med" len="med"/>
                    </a:lnT>
                    <a:lnB w="6350" cap="flat" cmpd="sng" algn="ctr">
                      <a:solidFill>
                        <a:srgbClr val="338D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3822384"/>
                  </a:ext>
                </a:extLst>
              </a:tr>
              <a:tr h="0">
                <a:tc>
                  <a:txBody>
                    <a:bodyPr/>
                    <a:lstStyle/>
                    <a:p>
                      <a:pPr marL="58738" marR="6223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kern="1200">
                          <a:solidFill>
                            <a:schemeClr val="tx1"/>
                          </a:solidFill>
                          <a:latin typeface="+mn-lt"/>
                          <a:ea typeface="+mn-ea"/>
                          <a:cs typeface="+mn-cs"/>
                        </a:rPr>
                        <a:t>Warehouse</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338DCD"/>
                      </a:solidFill>
                      <a:prstDash val="solid"/>
                      <a:round/>
                      <a:headEnd type="none" w="med" len="med"/>
                      <a:tailEnd type="none" w="med" len="med"/>
                    </a:lnT>
                    <a:lnB w="6350" cap="flat" cmpd="sng" algn="ctr">
                      <a:solidFill>
                        <a:srgbClr val="338D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7106524"/>
                  </a:ext>
                </a:extLst>
              </a:tr>
              <a:tr h="0">
                <a:tc>
                  <a:txBody>
                    <a:bodyPr/>
                    <a:lstStyle/>
                    <a:p>
                      <a:pPr marL="58738" marR="6223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kern="1200">
                          <a:solidFill>
                            <a:schemeClr val="tx1"/>
                          </a:solidFill>
                          <a:latin typeface="+mn-lt"/>
                          <a:ea typeface="+mn-ea"/>
                          <a:cs typeface="+mn-cs"/>
                        </a:rPr>
                        <a:t>BU/Division</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338DCD"/>
                      </a:solidFill>
                      <a:prstDash val="solid"/>
                      <a:round/>
                      <a:headEnd type="none" w="med" len="med"/>
                      <a:tailEnd type="none" w="med" len="med"/>
                    </a:lnT>
                    <a:lnB w="6350" cap="flat" cmpd="sng" algn="ctr">
                      <a:solidFill>
                        <a:srgbClr val="338D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36534226"/>
                  </a:ext>
                </a:extLst>
              </a:tr>
              <a:tr h="0">
                <a:tc>
                  <a:txBody>
                    <a:bodyPr/>
                    <a:lstStyle/>
                    <a:p>
                      <a:pPr marL="58738" marR="6223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kern="1200">
                          <a:solidFill>
                            <a:schemeClr val="tx1"/>
                          </a:solidFill>
                          <a:latin typeface="+mn-lt"/>
                          <a:ea typeface="+mn-ea"/>
                          <a:cs typeface="+mn-cs"/>
                        </a:rPr>
                        <a:t>Department</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338DCD"/>
                      </a:solidFill>
                      <a:prstDash val="solid"/>
                      <a:round/>
                      <a:headEnd type="none" w="med" len="med"/>
                      <a:tailEnd type="none" w="med" len="med"/>
                    </a:lnT>
                    <a:lnB w="6350" cap="flat" cmpd="sng" algn="ctr">
                      <a:solidFill>
                        <a:srgbClr val="338D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39050591"/>
                  </a:ext>
                </a:extLst>
              </a:tr>
              <a:tr h="0">
                <a:tc>
                  <a:txBody>
                    <a:bodyPr/>
                    <a:lstStyle/>
                    <a:p>
                      <a:pPr marL="58738" marR="6223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kern="1200">
                          <a:solidFill>
                            <a:schemeClr val="tx1"/>
                          </a:solidFill>
                          <a:latin typeface="+mn-lt"/>
                          <a:ea typeface="+mn-ea"/>
                          <a:cs typeface="+mn-cs"/>
                        </a:rPr>
                        <a:t>Data Products</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338DCD"/>
                      </a:solidFill>
                      <a:prstDash val="solid"/>
                      <a:round/>
                      <a:headEnd type="none" w="med" len="med"/>
                      <a:tailEnd type="none" w="med" len="med"/>
                    </a:lnT>
                    <a:lnB w="6350" cap="flat" cmpd="sng" algn="ctr">
                      <a:solidFill>
                        <a:srgbClr val="338D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1102818"/>
                  </a:ext>
                </a:extLst>
              </a:tr>
              <a:tr h="0">
                <a:tc>
                  <a:txBody>
                    <a:bodyPr/>
                    <a:lstStyle/>
                    <a:p>
                      <a:pPr marL="58738" marR="6223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kern="1200">
                          <a:solidFill>
                            <a:schemeClr val="tx1"/>
                          </a:solidFill>
                          <a:latin typeface="+mn-lt"/>
                          <a:ea typeface="+mn-ea"/>
                          <a:cs typeface="+mn-cs"/>
                        </a:rPr>
                        <a:t>Users/Role</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338DCD"/>
                      </a:solidFill>
                      <a:prstDash val="solid"/>
                      <a:round/>
                      <a:headEnd type="none" w="med" len="med"/>
                      <a:tailEnd type="none" w="med" len="med"/>
                    </a:lnT>
                    <a:lnB w="6350" cap="flat" cmpd="sng" algn="ctr">
                      <a:solidFill>
                        <a:srgbClr val="338D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72372948"/>
                  </a:ext>
                </a:extLst>
              </a:tr>
            </a:tbl>
          </a:graphicData>
        </a:graphic>
      </p:graphicFrame>
      <p:graphicFrame>
        <p:nvGraphicFramePr>
          <p:cNvPr id="7" name="Table 6">
            <a:extLst>
              <a:ext uri="{FF2B5EF4-FFF2-40B4-BE49-F238E27FC236}">
                <a16:creationId xmlns:a16="http://schemas.microsoft.com/office/drawing/2014/main" id="{73438B09-06BD-B75F-658B-03EA5E53C870}"/>
              </a:ext>
            </a:extLst>
          </p:cNvPr>
          <p:cNvGraphicFramePr>
            <a:graphicFrameLocks noGrp="1"/>
          </p:cNvGraphicFramePr>
          <p:nvPr/>
        </p:nvGraphicFramePr>
        <p:xfrm>
          <a:off x="8684009" y="1403680"/>
          <a:ext cx="2425888" cy="4892335"/>
        </p:xfrm>
        <a:graphic>
          <a:graphicData uri="http://schemas.openxmlformats.org/drawingml/2006/table">
            <a:tbl>
              <a:tblPr firstRow="1" bandRow="1">
                <a:tableStyleId>{5C22544A-7EE6-4342-B048-85BDC9FD1C3A}</a:tableStyleId>
              </a:tblPr>
              <a:tblGrid>
                <a:gridCol w="2425888">
                  <a:extLst>
                    <a:ext uri="{9D8B030D-6E8A-4147-A177-3AD203B41FA5}">
                      <a16:colId xmlns:a16="http://schemas.microsoft.com/office/drawing/2014/main" val="3427785433"/>
                    </a:ext>
                  </a:extLst>
                </a:gridCol>
              </a:tblGrid>
              <a:tr h="533519">
                <a:tc>
                  <a:txBody>
                    <a:bodyPr/>
                    <a:lstStyle/>
                    <a:p>
                      <a:pPr algn="ctr"/>
                      <a:r>
                        <a:rPr lang="en-US" sz="1500">
                          <a:latin typeface="+mn-lt"/>
                        </a:rPr>
                        <a:t>KPIs(Measures)</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rgbClr val="338DCD"/>
                    </a:solidFill>
                  </a:tcPr>
                </a:tc>
                <a:extLst>
                  <a:ext uri="{0D108BD9-81ED-4DB2-BD59-A6C34878D82A}">
                    <a16:rowId xmlns:a16="http://schemas.microsoft.com/office/drawing/2014/main" val="1477258189"/>
                  </a:ext>
                </a:extLst>
              </a:tr>
              <a:tr h="266759">
                <a:tc>
                  <a:txBody>
                    <a:bodyPr/>
                    <a:lstStyle/>
                    <a:p>
                      <a:pPr marL="58738" marR="6223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kern="1200">
                          <a:solidFill>
                            <a:schemeClr val="tx1"/>
                          </a:solidFill>
                          <a:latin typeface="+mn-lt"/>
                          <a:ea typeface="+mn-ea"/>
                          <a:cs typeface="+mn-cs"/>
                        </a:rPr>
                        <a:t>Credits</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6350" cap="flat" cmpd="sng" algn="ctr">
                      <a:solidFill>
                        <a:srgbClr val="338D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3089015"/>
                  </a:ext>
                </a:extLst>
              </a:tr>
              <a:tr h="266759">
                <a:tc>
                  <a:txBody>
                    <a:bodyPr/>
                    <a:lstStyle/>
                    <a:p>
                      <a:pPr marL="58738" marR="6223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kern="1200">
                          <a:solidFill>
                            <a:schemeClr val="tx1"/>
                          </a:solidFill>
                          <a:latin typeface="+mn-lt"/>
                          <a:ea typeface="+mn-ea"/>
                          <a:cs typeface="+mn-cs"/>
                        </a:rPr>
                        <a:t>Contract Capacity (balance)</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338DCD"/>
                      </a:solidFill>
                      <a:prstDash val="solid"/>
                      <a:round/>
                      <a:headEnd type="none" w="med" len="med"/>
                      <a:tailEnd type="none" w="med" len="med"/>
                    </a:lnT>
                    <a:lnB w="6350" cap="flat" cmpd="sng" algn="ctr">
                      <a:solidFill>
                        <a:srgbClr val="338D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27183899"/>
                  </a:ext>
                </a:extLst>
              </a:tr>
              <a:tr h="266759">
                <a:tc>
                  <a:txBody>
                    <a:bodyPr/>
                    <a:lstStyle/>
                    <a:p>
                      <a:pPr marL="58738" marR="6223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kern="1200">
                          <a:solidFill>
                            <a:schemeClr val="tx1"/>
                          </a:solidFill>
                          <a:latin typeface="+mn-lt"/>
                          <a:ea typeface="+mn-ea"/>
                          <a:cs typeface="+mn-cs"/>
                        </a:rPr>
                        <a:t>Rollover Capacity (balance)</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338DCD"/>
                      </a:solidFill>
                      <a:prstDash val="solid"/>
                      <a:round/>
                      <a:headEnd type="none" w="med" len="med"/>
                      <a:tailEnd type="none" w="med" len="med"/>
                    </a:lnT>
                    <a:lnB w="6350" cap="flat" cmpd="sng" algn="ctr">
                      <a:solidFill>
                        <a:srgbClr val="338D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3822384"/>
                  </a:ext>
                </a:extLst>
              </a:tr>
              <a:tr h="266759">
                <a:tc>
                  <a:txBody>
                    <a:bodyPr/>
                    <a:lstStyle/>
                    <a:p>
                      <a:pPr marL="58738" marR="6223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kern="1200">
                          <a:solidFill>
                            <a:schemeClr val="tx1"/>
                          </a:solidFill>
                          <a:latin typeface="+mn-lt"/>
                          <a:ea typeface="+mn-ea"/>
                          <a:cs typeface="+mn-cs"/>
                        </a:rPr>
                        <a:t>Total Capacity (balance)</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338DCD"/>
                      </a:solidFill>
                      <a:prstDash val="solid"/>
                      <a:round/>
                      <a:headEnd type="none" w="med" len="med"/>
                      <a:tailEnd type="none" w="med" len="med"/>
                    </a:lnT>
                    <a:lnB w="6350" cap="flat" cmpd="sng" algn="ctr">
                      <a:solidFill>
                        <a:srgbClr val="338D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71375681"/>
                  </a:ext>
                </a:extLst>
              </a:tr>
              <a:tr h="266759">
                <a:tc>
                  <a:txBody>
                    <a:bodyPr/>
                    <a:lstStyle/>
                    <a:p>
                      <a:pPr marL="58738" marR="6223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kern="1200">
                          <a:solidFill>
                            <a:schemeClr val="tx1"/>
                          </a:solidFill>
                          <a:latin typeface="+mn-lt"/>
                          <a:ea typeface="+mn-ea"/>
                          <a:cs typeface="+mn-cs"/>
                        </a:rPr>
                        <a:t>Total Enterprise Currency Usage </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338DCD"/>
                      </a:solidFill>
                      <a:prstDash val="solid"/>
                      <a:round/>
                      <a:headEnd type="none" w="med" len="med"/>
                      <a:tailEnd type="none" w="med" len="med"/>
                    </a:lnT>
                    <a:lnB w="6350" cap="flat" cmpd="sng" algn="ctr">
                      <a:solidFill>
                        <a:srgbClr val="338D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53998840"/>
                  </a:ext>
                </a:extLst>
              </a:tr>
              <a:tr h="444599">
                <a:tc>
                  <a:txBody>
                    <a:bodyPr/>
                    <a:lstStyle/>
                    <a:p>
                      <a:pPr marL="58738" marR="6223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kern="1200">
                          <a:solidFill>
                            <a:schemeClr val="tx1"/>
                          </a:solidFill>
                          <a:latin typeface="+mn-lt"/>
                          <a:ea typeface="+mn-ea"/>
                          <a:cs typeface="+mn-cs"/>
                        </a:rPr>
                        <a:t>Contract Capacity/ Roll Over Balance (USD)</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338DCD"/>
                      </a:solidFill>
                      <a:prstDash val="solid"/>
                      <a:round/>
                      <a:headEnd type="none" w="med" len="med"/>
                      <a:tailEnd type="none" w="med" len="med"/>
                    </a:lnT>
                    <a:lnB w="6350" cap="flat" cmpd="sng" algn="ctr">
                      <a:solidFill>
                        <a:srgbClr val="338D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3712870"/>
                  </a:ext>
                </a:extLst>
              </a:tr>
              <a:tr h="266759">
                <a:tc>
                  <a:txBody>
                    <a:bodyPr/>
                    <a:lstStyle/>
                    <a:p>
                      <a:pPr marL="58738" marR="6223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kern="1200">
                          <a:solidFill>
                            <a:schemeClr val="tx1"/>
                          </a:solidFill>
                          <a:latin typeface="+mn-lt"/>
                          <a:ea typeface="+mn-ea"/>
                          <a:cs typeface="+mn-cs"/>
                        </a:rPr>
                        <a:t>Budget</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338DCD"/>
                      </a:solidFill>
                      <a:prstDash val="solid"/>
                      <a:round/>
                      <a:headEnd type="none" w="med" len="med"/>
                      <a:tailEnd type="none" w="med" len="med"/>
                    </a:lnT>
                    <a:lnB w="6350" cap="flat" cmpd="sng" algn="ctr">
                      <a:solidFill>
                        <a:srgbClr val="338D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0978592"/>
                  </a:ext>
                </a:extLst>
              </a:tr>
              <a:tr h="266759">
                <a:tc>
                  <a:txBody>
                    <a:bodyPr/>
                    <a:lstStyle/>
                    <a:p>
                      <a:pPr marL="58738" marR="6223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kern="1200">
                          <a:solidFill>
                            <a:schemeClr val="tx1"/>
                          </a:solidFill>
                          <a:latin typeface="+mn-lt"/>
                          <a:ea typeface="+mn-ea"/>
                          <a:cs typeface="+mn-cs"/>
                        </a:rPr>
                        <a:t>Data Transfer (GB)</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338DCD"/>
                      </a:solidFill>
                      <a:prstDash val="solid"/>
                      <a:round/>
                      <a:headEnd type="none" w="med" len="med"/>
                      <a:tailEnd type="none" w="med" len="med"/>
                    </a:lnT>
                    <a:lnB w="6350" cap="flat" cmpd="sng" algn="ctr">
                      <a:solidFill>
                        <a:srgbClr val="338D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644961"/>
                  </a:ext>
                </a:extLst>
              </a:tr>
              <a:tr h="266759">
                <a:tc>
                  <a:txBody>
                    <a:bodyPr/>
                    <a:lstStyle/>
                    <a:p>
                      <a:pPr marL="58738" marR="6223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kern="1200">
                          <a:solidFill>
                            <a:schemeClr val="tx1"/>
                          </a:solidFill>
                          <a:latin typeface="+mn-lt"/>
                          <a:ea typeface="+mn-ea"/>
                          <a:cs typeface="+mn-cs"/>
                        </a:rPr>
                        <a:t>Queries Count</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338DCD"/>
                      </a:solidFill>
                      <a:prstDash val="solid"/>
                      <a:round/>
                      <a:headEnd type="none" w="med" len="med"/>
                      <a:tailEnd type="none" w="med" len="med"/>
                    </a:lnT>
                    <a:lnB w="6350" cap="flat" cmpd="sng" algn="ctr">
                      <a:solidFill>
                        <a:srgbClr val="338D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06424010"/>
                  </a:ext>
                </a:extLst>
              </a:tr>
              <a:tr h="266759">
                <a:tc>
                  <a:txBody>
                    <a:bodyPr/>
                    <a:lstStyle/>
                    <a:p>
                      <a:pPr marL="58738" marR="6223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kern="1200">
                          <a:solidFill>
                            <a:schemeClr val="tx1"/>
                          </a:solidFill>
                          <a:latin typeface="+mn-lt"/>
                          <a:ea typeface="+mn-ea"/>
                          <a:cs typeface="+mn-cs"/>
                        </a:rPr>
                        <a:t>Queries Execution Time</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338DCD"/>
                      </a:solidFill>
                      <a:prstDash val="solid"/>
                      <a:round/>
                      <a:headEnd type="none" w="med" len="med"/>
                      <a:tailEnd type="none" w="med" len="med"/>
                    </a:lnT>
                    <a:lnB w="6350" cap="flat" cmpd="sng" algn="ctr">
                      <a:solidFill>
                        <a:srgbClr val="338D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87698675"/>
                  </a:ext>
                </a:extLst>
              </a:tr>
              <a:tr h="266759">
                <a:tc>
                  <a:txBody>
                    <a:bodyPr/>
                    <a:lstStyle/>
                    <a:p>
                      <a:pPr marL="58738" marR="6223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kern="1200">
                          <a:solidFill>
                            <a:schemeClr val="tx1"/>
                          </a:solidFill>
                          <a:latin typeface="+mn-lt"/>
                          <a:ea typeface="+mn-ea"/>
                          <a:cs typeface="+mn-cs"/>
                        </a:rPr>
                        <a:t>Local/Remote Spillage (MB/GB)</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338DCD"/>
                      </a:solidFill>
                      <a:prstDash val="solid"/>
                      <a:round/>
                      <a:headEnd type="none" w="med" len="med"/>
                      <a:tailEnd type="none" w="med" len="med"/>
                    </a:lnT>
                    <a:lnB w="6350" cap="flat" cmpd="sng" algn="ctr">
                      <a:solidFill>
                        <a:srgbClr val="338D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4412667"/>
                  </a:ext>
                </a:extLst>
              </a:tr>
              <a:tr h="266759">
                <a:tc>
                  <a:txBody>
                    <a:bodyPr/>
                    <a:lstStyle/>
                    <a:p>
                      <a:pPr marL="58738" marR="6223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kern="1200">
                          <a:solidFill>
                            <a:schemeClr val="tx1"/>
                          </a:solidFill>
                          <a:latin typeface="+mn-lt"/>
                          <a:ea typeface="+mn-ea"/>
                          <a:cs typeface="+mn-cs"/>
                        </a:rPr>
                        <a:t>Cluster Count</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338DCD"/>
                      </a:solidFill>
                      <a:prstDash val="solid"/>
                      <a:round/>
                      <a:headEnd type="none" w="med" len="med"/>
                      <a:tailEnd type="none" w="med" len="med"/>
                    </a:lnT>
                    <a:lnB w="6350" cap="flat" cmpd="sng" algn="ctr">
                      <a:solidFill>
                        <a:srgbClr val="338D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17476667"/>
                  </a:ext>
                </a:extLst>
              </a:tr>
              <a:tr h="266759">
                <a:tc>
                  <a:txBody>
                    <a:bodyPr/>
                    <a:lstStyle/>
                    <a:p>
                      <a:pPr marL="58738" marR="6223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kern="1200">
                          <a:solidFill>
                            <a:schemeClr val="tx1"/>
                          </a:solidFill>
                          <a:latin typeface="+mn-lt"/>
                          <a:ea typeface="+mn-ea"/>
                          <a:cs typeface="+mn-cs"/>
                        </a:rPr>
                        <a:t>Storage(GB/TB)</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338DCD"/>
                      </a:solidFill>
                      <a:prstDash val="solid"/>
                      <a:round/>
                      <a:headEnd type="none" w="med" len="med"/>
                      <a:tailEnd type="none" w="med" len="med"/>
                    </a:lnT>
                    <a:lnB w="6350" cap="flat" cmpd="sng" algn="ctr">
                      <a:solidFill>
                        <a:srgbClr val="338D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84200471"/>
                  </a:ext>
                </a:extLst>
              </a:tr>
              <a:tr h="335456">
                <a:tc>
                  <a:txBody>
                    <a:bodyPr/>
                    <a:lstStyle/>
                    <a:p>
                      <a:pPr marL="58738" marR="6223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kern="1200">
                          <a:solidFill>
                            <a:schemeClr val="tx1"/>
                          </a:solidFill>
                          <a:latin typeface="+mn-lt"/>
                          <a:ea typeface="+mn-ea"/>
                          <a:cs typeface="+mn-cs"/>
                        </a:rPr>
                        <a:t>Warehouse/DB/Table Size</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338DCD"/>
                      </a:solidFill>
                      <a:prstDash val="solid"/>
                      <a:round/>
                      <a:headEnd type="none" w="med" len="med"/>
                      <a:tailEnd type="none" w="med" len="med"/>
                    </a:lnT>
                    <a:lnB w="6350" cap="flat" cmpd="sng" algn="ctr">
                      <a:solidFill>
                        <a:srgbClr val="338D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50502178"/>
                  </a:ext>
                </a:extLst>
              </a:tr>
              <a:tr h="266759">
                <a:tc>
                  <a:txBody>
                    <a:bodyPr/>
                    <a:lstStyle/>
                    <a:p>
                      <a:pPr marL="58738" marR="62230" lvl="0" indent="0" algn="l" defTabSz="914400" rtl="0" eaLnBrk="1" fontAlgn="auto" latinLnBrk="0" hangingPunct="1">
                        <a:lnSpc>
                          <a:spcPct val="100000"/>
                        </a:lnSpc>
                        <a:spcBef>
                          <a:spcPts val="300"/>
                        </a:spcBef>
                        <a:spcAft>
                          <a:spcPts val="0"/>
                        </a:spcAft>
                        <a:buClrTx/>
                        <a:buSzTx/>
                        <a:buFont typeface="Arial" panose="020B0604020202020204" pitchFamily="34" charset="0"/>
                        <a:buNone/>
                        <a:tabLst/>
                        <a:defRPr/>
                      </a:pPr>
                      <a:r>
                        <a:rPr lang="en-US" sz="1200" kern="1200">
                          <a:solidFill>
                            <a:schemeClr val="tx1"/>
                          </a:solidFill>
                          <a:latin typeface="+mn-lt"/>
                          <a:ea typeface="+mn-ea"/>
                          <a:cs typeface="+mn-cs"/>
                        </a:rPr>
                        <a:t>Query Text</a:t>
                      </a:r>
                    </a:p>
                  </a:txBody>
                  <a:tcPr marL="45720" marR="45720"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6350" cap="flat" cmpd="sng" algn="ctr">
                      <a:solidFill>
                        <a:srgbClr val="338DCD"/>
                      </a:solidFill>
                      <a:prstDash val="solid"/>
                      <a:round/>
                      <a:headEnd type="none" w="med" len="med"/>
                      <a:tailEnd type="none" w="med" len="med"/>
                    </a:lnT>
                    <a:lnB w="6350" cap="flat" cmpd="sng" algn="ctr">
                      <a:solidFill>
                        <a:srgbClr val="338DCD"/>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206992"/>
                  </a:ext>
                </a:extLst>
              </a:tr>
            </a:tbl>
          </a:graphicData>
        </a:graphic>
      </p:graphicFrame>
    </p:spTree>
    <p:extLst>
      <p:ext uri="{BB962C8B-B14F-4D97-AF65-F5344CB8AC3E}">
        <p14:creationId xmlns:p14="http://schemas.microsoft.com/office/powerpoint/2010/main" val="17884417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FA592-79BA-CF81-F340-9009ABA228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C7B181-E044-8129-D777-2EFBEB32CD0E}"/>
              </a:ext>
            </a:extLst>
          </p:cNvPr>
          <p:cNvSpPr>
            <a:spLocks noGrp="1"/>
          </p:cNvSpPr>
          <p:nvPr>
            <p:ph type="title"/>
          </p:nvPr>
        </p:nvSpPr>
        <p:spPr/>
        <p:txBody>
          <a:bodyPr/>
          <a:lstStyle/>
          <a:p>
            <a:r>
              <a:rPr lang="en-US"/>
              <a:t>Summary Page</a:t>
            </a:r>
          </a:p>
        </p:txBody>
      </p:sp>
    </p:spTree>
    <p:extLst>
      <p:ext uri="{BB962C8B-B14F-4D97-AF65-F5344CB8AC3E}">
        <p14:creationId xmlns:p14="http://schemas.microsoft.com/office/powerpoint/2010/main" val="42582226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D37E8-35FF-5ACB-C8C8-329B09E82E9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07D78D1-5D2F-EE34-B336-45D0E7162A36}"/>
              </a:ext>
            </a:extLst>
          </p:cNvPr>
          <p:cNvSpPr txBox="1">
            <a:spLocks/>
          </p:cNvSpPr>
          <p:nvPr/>
        </p:nvSpPr>
        <p:spPr>
          <a:xfrm>
            <a:off x="284550" y="216713"/>
            <a:ext cx="11904087" cy="509780"/>
          </a:xfrm>
          <a:prstGeom prst="rect">
            <a:avLst/>
          </a:prstGeom>
        </p:spPr>
        <p:txBody>
          <a:bodyPr/>
          <a:lstStyle>
            <a:lvl1pPr algn="l" defTabSz="914400" rtl="0" eaLnBrk="1" latinLnBrk="0" hangingPunct="1">
              <a:lnSpc>
                <a:spcPct val="100000"/>
              </a:lnSpc>
              <a:spcBef>
                <a:spcPct val="0"/>
              </a:spcBef>
              <a:buNone/>
              <a:defRPr sz="3400" b="0" i="0" kern="1200">
                <a:solidFill>
                  <a:srgbClr val="0076CF"/>
                </a:solidFill>
                <a:latin typeface="FS Elliot Pro Light" panose="02000503040000020004" pitchFamily="2"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z="3200"/>
              <a:t>Summary Page</a:t>
            </a:r>
            <a:endParaRPr kumimoji="0" lang="en-US" sz="3200" b="0" i="0" u="none" strike="noStrike" kern="1200" cap="none" spc="0" normalizeH="0" baseline="0" noProof="0">
              <a:ln>
                <a:noFill/>
              </a:ln>
              <a:solidFill>
                <a:srgbClr val="0076CF"/>
              </a:solidFill>
              <a:effectLst/>
              <a:uLnTx/>
              <a:uFillTx/>
              <a:latin typeface="FS Elliot Pro Light" panose="02000503040000020004" pitchFamily="2" charset="0"/>
              <a:ea typeface="+mj-ea"/>
              <a:cs typeface="+mj-cs"/>
            </a:endParaRPr>
          </a:p>
        </p:txBody>
      </p:sp>
      <p:sp>
        <p:nvSpPr>
          <p:cNvPr id="36" name="Rectangle 35">
            <a:extLst>
              <a:ext uri="{FF2B5EF4-FFF2-40B4-BE49-F238E27FC236}">
                <a16:creationId xmlns:a16="http://schemas.microsoft.com/office/drawing/2014/main" id="{3B77BC12-8CBC-40D4-C41C-F4396F546534}"/>
              </a:ext>
            </a:extLst>
          </p:cNvPr>
          <p:cNvSpPr/>
          <p:nvPr/>
        </p:nvSpPr>
        <p:spPr bwMode="gray">
          <a:xfrm>
            <a:off x="636064" y="1219540"/>
            <a:ext cx="11323871" cy="5021290"/>
          </a:xfrm>
          <a:prstGeom prst="rect">
            <a:avLst/>
          </a:prstGeom>
          <a:solidFill>
            <a:sysClr val="window" lastClr="FFFFFF">
              <a:lumMod val="95000"/>
            </a:sysClr>
          </a:solidFill>
          <a:ln w="19050" algn="ctr">
            <a:noFill/>
            <a:miter lim="800000"/>
            <a:headEnd/>
            <a:tailEnd/>
          </a:ln>
        </p:spPr>
        <p:txBody>
          <a:bodyPr wrap="square" lIns="100753" tIns="100753" rIns="100753" bIns="100753" rtlCol="0" anchor="ctr"/>
          <a:lstStyle/>
          <a:p>
            <a:pPr marL="0" marR="0" lvl="0" indent="0" algn="ctr" defTabSz="518145" eaLnBrk="1" fontAlgn="auto" latinLnBrk="0" hangingPunct="1">
              <a:lnSpc>
                <a:spcPct val="106000"/>
              </a:lnSpc>
              <a:spcBef>
                <a:spcPts val="0"/>
              </a:spcBef>
              <a:spcAft>
                <a:spcPts val="0"/>
              </a:spcAft>
              <a:buClrTx/>
              <a:buSzTx/>
              <a:buFontTx/>
              <a:buNone/>
              <a:tabLst/>
              <a:defRPr/>
            </a:pPr>
            <a:endParaRPr kumimoji="0" lang="en-US" sz="1200" b="1" i="0" u="none" strike="noStrike" kern="0" cap="none" spc="0" normalizeH="0" baseline="0" noProof="0">
              <a:ln>
                <a:noFill/>
              </a:ln>
              <a:solidFill>
                <a:prstClr val="white"/>
              </a:solidFill>
              <a:effectLst/>
              <a:uLnTx/>
              <a:uFillTx/>
              <a:latin typeface="Arial" panose="020B0604020202020204" pitchFamily="34" charset="0"/>
              <a:cs typeface="Arial" panose="020B0604020202020204" pitchFamily="34" charset="0"/>
            </a:endParaRPr>
          </a:p>
        </p:txBody>
      </p:sp>
      <p:sp>
        <p:nvSpPr>
          <p:cNvPr id="41" name="Rectangle 40">
            <a:hlinkClick r:id="rId3" action="ppaction://hlinksldjump"/>
            <a:extLst>
              <a:ext uri="{FF2B5EF4-FFF2-40B4-BE49-F238E27FC236}">
                <a16:creationId xmlns:a16="http://schemas.microsoft.com/office/drawing/2014/main" id="{703953EB-E953-D4C9-4849-F1ED6CDCB180}"/>
              </a:ext>
            </a:extLst>
          </p:cNvPr>
          <p:cNvSpPr/>
          <p:nvPr/>
        </p:nvSpPr>
        <p:spPr>
          <a:xfrm>
            <a:off x="8494865" y="1912901"/>
            <a:ext cx="3108960" cy="411480"/>
          </a:xfrm>
          <a:prstGeom prst="rect">
            <a:avLst/>
          </a:prstGeom>
          <a:solidFill>
            <a:schemeClr val="accent2"/>
          </a:solidFill>
          <a:ln w="25400" cap="flat" cmpd="sng" algn="ctr">
            <a:noFill/>
            <a:prstDash val="solid"/>
          </a:ln>
          <a:effectLst/>
        </p:spPr>
        <p:txBody>
          <a:bodyPr rot="0" spcFirstLastPara="0" vertOverflow="overflow" horzOverflow="overflow" vert="horz" wrap="square" lIns="8255" tIns="463246" rIns="8255" bIns="463245" numCol="1" spcCol="1270" rtlCol="0" fromWordArt="0" anchor="ctr" anchorCtr="0" forceAA="0" compatLnSpc="1">
            <a:prstTxWarp prst="textNoShape">
              <a:avLst/>
            </a:prstTxWarp>
            <a:noAutofit/>
          </a:bodyPr>
          <a:lstStyle/>
          <a:p>
            <a:pPr algn="ctr" defTabSz="577850">
              <a:lnSpc>
                <a:spcPct val="90000"/>
              </a:lnSpc>
              <a:spcBef>
                <a:spcPct val="0"/>
              </a:spcBef>
              <a:spcAft>
                <a:spcPct val="35000"/>
              </a:spcAft>
            </a:pPr>
            <a:r>
              <a:rPr lang="en-US" sz="1600" b="1" kern="0">
                <a:solidFill>
                  <a:schemeClr val="bg1"/>
                </a:solidFill>
                <a:cs typeface="Arial" panose="020B0604020202020204" pitchFamily="34" charset="0"/>
              </a:rPr>
              <a:t>Product Usage</a:t>
            </a:r>
          </a:p>
        </p:txBody>
      </p:sp>
      <p:sp>
        <p:nvSpPr>
          <p:cNvPr id="44" name="Rectangle 43">
            <a:hlinkClick r:id="rId4" action="ppaction://hlinksldjump"/>
            <a:extLst>
              <a:ext uri="{FF2B5EF4-FFF2-40B4-BE49-F238E27FC236}">
                <a16:creationId xmlns:a16="http://schemas.microsoft.com/office/drawing/2014/main" id="{54E8710C-553A-98E2-D975-94A73683C026}"/>
              </a:ext>
            </a:extLst>
          </p:cNvPr>
          <p:cNvSpPr/>
          <p:nvPr/>
        </p:nvSpPr>
        <p:spPr>
          <a:xfrm>
            <a:off x="4670021" y="1929227"/>
            <a:ext cx="3108960" cy="411480"/>
          </a:xfrm>
          <a:prstGeom prst="rect">
            <a:avLst/>
          </a:prstGeom>
          <a:solidFill>
            <a:schemeClr val="tx2">
              <a:lumMod val="60000"/>
              <a:lumOff val="40000"/>
            </a:schemeClr>
          </a:soli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chemeClr val="bg1"/>
                </a:solidFill>
                <a:effectLst/>
                <a:uLnTx/>
                <a:uFillTx/>
                <a:ea typeface="+mn-ea"/>
                <a:cs typeface="Arial" panose="020B0604020202020204" pitchFamily="34" charset="0"/>
              </a:rPr>
              <a:t>Performance Management</a:t>
            </a:r>
          </a:p>
        </p:txBody>
      </p:sp>
      <p:sp>
        <p:nvSpPr>
          <p:cNvPr id="45" name="Rectangle 44">
            <a:extLst>
              <a:ext uri="{FF2B5EF4-FFF2-40B4-BE49-F238E27FC236}">
                <a16:creationId xmlns:a16="http://schemas.microsoft.com/office/drawing/2014/main" id="{C9523C22-88AE-9C27-4ABA-989ECE3AFDF0}"/>
              </a:ext>
            </a:extLst>
          </p:cNvPr>
          <p:cNvSpPr/>
          <p:nvPr/>
        </p:nvSpPr>
        <p:spPr>
          <a:xfrm>
            <a:off x="394952" y="1219540"/>
            <a:ext cx="900448" cy="361309"/>
          </a:xfrm>
          <a:prstGeom prst="rect">
            <a:avLst/>
          </a:prstGeom>
          <a:no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60" name="Rectangle 59">
            <a:hlinkClick r:id="rId5" action="ppaction://hlinksldjump"/>
            <a:extLst>
              <a:ext uri="{FF2B5EF4-FFF2-40B4-BE49-F238E27FC236}">
                <a16:creationId xmlns:a16="http://schemas.microsoft.com/office/drawing/2014/main" id="{01FA6F1D-610C-FE0E-95A6-F26AC6A708CA}"/>
              </a:ext>
            </a:extLst>
          </p:cNvPr>
          <p:cNvSpPr/>
          <p:nvPr/>
        </p:nvSpPr>
        <p:spPr>
          <a:xfrm>
            <a:off x="845176" y="1912901"/>
            <a:ext cx="3108960" cy="411480"/>
          </a:xfrm>
          <a:prstGeom prst="rect">
            <a:avLst/>
          </a:prstGeom>
          <a:solidFill>
            <a:schemeClr val="tx2">
              <a:lumMod val="40000"/>
              <a:lumOff val="60000"/>
            </a:schemeClr>
          </a:soli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chemeClr val="bg1"/>
                </a:solidFill>
                <a:effectLst/>
                <a:uLnTx/>
                <a:uFillTx/>
                <a:ea typeface="+mn-ea"/>
                <a:cs typeface="Arial" panose="020B0604020202020204" pitchFamily="34" charset="0"/>
              </a:rPr>
              <a:t>Cost Management</a:t>
            </a:r>
          </a:p>
        </p:txBody>
      </p:sp>
      <p:sp>
        <p:nvSpPr>
          <p:cNvPr id="69" name="TextBox 68">
            <a:extLst>
              <a:ext uri="{FF2B5EF4-FFF2-40B4-BE49-F238E27FC236}">
                <a16:creationId xmlns:a16="http://schemas.microsoft.com/office/drawing/2014/main" id="{16F99336-07B1-FB83-E7F7-FDC64BC02589}"/>
              </a:ext>
            </a:extLst>
          </p:cNvPr>
          <p:cNvSpPr txBox="1"/>
          <p:nvPr/>
        </p:nvSpPr>
        <p:spPr>
          <a:xfrm>
            <a:off x="1635321" y="1620690"/>
            <a:ext cx="1528670" cy="285598"/>
          </a:xfrm>
          <a:prstGeom prst="rect">
            <a:avLst/>
          </a:prstGeom>
          <a:noFill/>
        </p:spPr>
        <p:txBody>
          <a:bodyPr wrap="square" rtlCol="0">
            <a:spAutoFit/>
          </a:bodyPr>
          <a:lstStyle/>
          <a:p>
            <a:r>
              <a:rPr lang="en-US" sz="1200" b="1"/>
              <a:t>Dashboard Link-1</a:t>
            </a:r>
          </a:p>
        </p:txBody>
      </p:sp>
      <p:sp>
        <p:nvSpPr>
          <p:cNvPr id="72" name="Rectangle 71">
            <a:hlinkClick r:id="rId5" action="ppaction://hlinksldjump"/>
            <a:extLst>
              <a:ext uri="{FF2B5EF4-FFF2-40B4-BE49-F238E27FC236}">
                <a16:creationId xmlns:a16="http://schemas.microsoft.com/office/drawing/2014/main" id="{E4F7E960-0D20-9789-E6F1-FE1C3D2FAF98}"/>
              </a:ext>
            </a:extLst>
          </p:cNvPr>
          <p:cNvSpPr/>
          <p:nvPr/>
        </p:nvSpPr>
        <p:spPr>
          <a:xfrm>
            <a:off x="845176" y="2498037"/>
            <a:ext cx="3108960" cy="274320"/>
          </a:xfrm>
          <a:prstGeom prst="rect">
            <a:avLst/>
          </a:prstGeom>
          <a:solidFill>
            <a:schemeClr val="tx2">
              <a:lumMod val="40000"/>
              <a:lumOff val="60000"/>
            </a:schemeClr>
          </a:solidFill>
          <a:ln>
            <a:noFill/>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chemeClr val="bg1"/>
                </a:solidFill>
                <a:effectLst/>
                <a:uLnTx/>
                <a:uFillTx/>
                <a:ea typeface="+mn-ea"/>
                <a:cs typeface="Arial" panose="020B0604020202020204" pitchFamily="34" charset="0"/>
              </a:rPr>
              <a:t>Overview</a:t>
            </a:r>
          </a:p>
        </p:txBody>
      </p:sp>
      <p:sp>
        <p:nvSpPr>
          <p:cNvPr id="75" name="Rectangle 74">
            <a:hlinkClick r:id="rId5" action="ppaction://hlinksldjump"/>
            <a:extLst>
              <a:ext uri="{FF2B5EF4-FFF2-40B4-BE49-F238E27FC236}">
                <a16:creationId xmlns:a16="http://schemas.microsoft.com/office/drawing/2014/main" id="{0D34244D-C15C-D887-CF42-91F8CD1F79B5}"/>
              </a:ext>
            </a:extLst>
          </p:cNvPr>
          <p:cNvSpPr/>
          <p:nvPr/>
        </p:nvSpPr>
        <p:spPr>
          <a:xfrm>
            <a:off x="845176" y="2829514"/>
            <a:ext cx="3108960" cy="274320"/>
          </a:xfrm>
          <a:prstGeom prst="rect">
            <a:avLst/>
          </a:prstGeom>
          <a:solidFill>
            <a:schemeClr val="tx2">
              <a:lumMod val="40000"/>
              <a:lumOff val="60000"/>
            </a:schemeClr>
          </a:solidFill>
          <a:ln>
            <a:noFill/>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chemeClr val="bg1"/>
                </a:solidFill>
                <a:effectLst/>
                <a:uLnTx/>
                <a:uFillTx/>
                <a:ea typeface="+mn-ea"/>
                <a:cs typeface="Arial" panose="020B0604020202020204" pitchFamily="34" charset="0"/>
              </a:rPr>
              <a:t>Usage overview</a:t>
            </a:r>
          </a:p>
        </p:txBody>
      </p:sp>
      <p:sp>
        <p:nvSpPr>
          <p:cNvPr id="76" name="Rectangle 75">
            <a:hlinkClick r:id="rId5" action="ppaction://hlinksldjump"/>
            <a:extLst>
              <a:ext uri="{FF2B5EF4-FFF2-40B4-BE49-F238E27FC236}">
                <a16:creationId xmlns:a16="http://schemas.microsoft.com/office/drawing/2014/main" id="{2B4CDB42-3EC1-E1C1-30F3-C54F55516723}"/>
              </a:ext>
            </a:extLst>
          </p:cNvPr>
          <p:cNvSpPr/>
          <p:nvPr/>
        </p:nvSpPr>
        <p:spPr>
          <a:xfrm>
            <a:off x="845176" y="3160991"/>
            <a:ext cx="3108960" cy="274320"/>
          </a:xfrm>
          <a:prstGeom prst="rect">
            <a:avLst/>
          </a:prstGeom>
          <a:solidFill>
            <a:schemeClr val="tx2">
              <a:lumMod val="40000"/>
              <a:lumOff val="60000"/>
            </a:schemeClr>
          </a:solidFill>
          <a:ln>
            <a:noFill/>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chemeClr val="bg1"/>
                </a:solidFill>
                <a:effectLst/>
                <a:uLnTx/>
                <a:uFillTx/>
                <a:ea typeface="+mn-ea"/>
                <a:cs typeface="Arial" panose="020B0604020202020204" pitchFamily="34" charset="0"/>
              </a:rPr>
              <a:t>Usage details</a:t>
            </a:r>
          </a:p>
        </p:txBody>
      </p:sp>
      <p:sp>
        <p:nvSpPr>
          <p:cNvPr id="77" name="Rectangle 76">
            <a:hlinkClick r:id="rId5" action="ppaction://hlinksldjump"/>
            <a:extLst>
              <a:ext uri="{FF2B5EF4-FFF2-40B4-BE49-F238E27FC236}">
                <a16:creationId xmlns:a16="http://schemas.microsoft.com/office/drawing/2014/main" id="{7F72F5CD-5B0B-EBF8-ECF7-273E939C63D7}"/>
              </a:ext>
            </a:extLst>
          </p:cNvPr>
          <p:cNvSpPr/>
          <p:nvPr/>
        </p:nvSpPr>
        <p:spPr>
          <a:xfrm>
            <a:off x="845176" y="3492468"/>
            <a:ext cx="3108960" cy="274320"/>
          </a:xfrm>
          <a:prstGeom prst="rect">
            <a:avLst/>
          </a:prstGeom>
          <a:solidFill>
            <a:schemeClr val="tx2">
              <a:lumMod val="40000"/>
              <a:lumOff val="60000"/>
            </a:schemeClr>
          </a:solidFill>
          <a:ln>
            <a:noFill/>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chemeClr val="bg1"/>
                </a:solidFill>
                <a:effectLst/>
                <a:uLnTx/>
                <a:uFillTx/>
                <a:ea typeface="+mn-ea"/>
                <a:cs typeface="Arial" panose="020B0604020202020204" pitchFamily="34" charset="0"/>
              </a:rPr>
              <a:t>Division usage overview</a:t>
            </a:r>
          </a:p>
        </p:txBody>
      </p:sp>
      <p:sp>
        <p:nvSpPr>
          <p:cNvPr id="78" name="Rectangle 77">
            <a:hlinkClick r:id="rId5" action="ppaction://hlinksldjump"/>
            <a:extLst>
              <a:ext uri="{FF2B5EF4-FFF2-40B4-BE49-F238E27FC236}">
                <a16:creationId xmlns:a16="http://schemas.microsoft.com/office/drawing/2014/main" id="{135E1985-7518-7A3E-CE51-E897E1923571}"/>
              </a:ext>
            </a:extLst>
          </p:cNvPr>
          <p:cNvSpPr/>
          <p:nvPr/>
        </p:nvSpPr>
        <p:spPr>
          <a:xfrm>
            <a:off x="845176" y="3823945"/>
            <a:ext cx="3108960" cy="274320"/>
          </a:xfrm>
          <a:prstGeom prst="rect">
            <a:avLst/>
          </a:prstGeom>
          <a:solidFill>
            <a:schemeClr val="tx2">
              <a:lumMod val="40000"/>
              <a:lumOff val="60000"/>
            </a:schemeClr>
          </a:solidFill>
          <a:ln>
            <a:noFill/>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chemeClr val="bg1"/>
                </a:solidFill>
                <a:effectLst/>
                <a:uLnTx/>
                <a:uFillTx/>
                <a:ea typeface="+mn-ea"/>
                <a:cs typeface="Arial" panose="020B0604020202020204" pitchFamily="34" charset="0"/>
              </a:rPr>
              <a:t>Forecast overview</a:t>
            </a:r>
          </a:p>
        </p:txBody>
      </p:sp>
      <p:sp>
        <p:nvSpPr>
          <p:cNvPr id="86" name="Rectangle 85">
            <a:extLst>
              <a:ext uri="{FF2B5EF4-FFF2-40B4-BE49-F238E27FC236}">
                <a16:creationId xmlns:a16="http://schemas.microsoft.com/office/drawing/2014/main" id="{67E182E5-8DEA-0079-A24B-5F041733EAAF}"/>
              </a:ext>
            </a:extLst>
          </p:cNvPr>
          <p:cNvSpPr/>
          <p:nvPr/>
        </p:nvSpPr>
        <p:spPr>
          <a:xfrm>
            <a:off x="4670021" y="2498037"/>
            <a:ext cx="3108960" cy="274320"/>
          </a:xfrm>
          <a:prstGeom prst="rect">
            <a:avLst/>
          </a:prstGeom>
          <a:solidFill>
            <a:srgbClr val="2894FF"/>
          </a:solidFill>
          <a:ln>
            <a:noFill/>
          </a:ln>
          <a:effectLst/>
        </p:spPr>
        <p:txBody>
          <a:bodyPr rtlCol="0" anchor="ctr"/>
          <a:lstStyle/>
          <a:p>
            <a:pPr>
              <a:defRPr/>
            </a:pPr>
            <a:r>
              <a:rPr kumimoji="0" lang="en-US" sz="1100" b="1" i="0" u="none" strike="noStrike" kern="0" cap="none" spc="0" normalizeH="0" baseline="0" noProof="0">
                <a:ln>
                  <a:noFill/>
                </a:ln>
                <a:solidFill>
                  <a:schemeClr val="bg1"/>
                </a:solidFill>
                <a:effectLst/>
                <a:uLnTx/>
                <a:uFillTx/>
                <a:ea typeface="+mn-ea"/>
                <a:cs typeface="Arial" panose="020B0604020202020204" pitchFamily="34" charset="0"/>
              </a:rPr>
              <a:t>Storage Management</a:t>
            </a:r>
          </a:p>
        </p:txBody>
      </p:sp>
      <p:sp>
        <p:nvSpPr>
          <p:cNvPr id="87" name="Rectangle 86">
            <a:extLst>
              <a:ext uri="{FF2B5EF4-FFF2-40B4-BE49-F238E27FC236}">
                <a16:creationId xmlns:a16="http://schemas.microsoft.com/office/drawing/2014/main" id="{0E0C668F-1BF2-B5B9-46D5-7CAB9D50B4D8}"/>
              </a:ext>
            </a:extLst>
          </p:cNvPr>
          <p:cNvSpPr/>
          <p:nvPr/>
        </p:nvSpPr>
        <p:spPr>
          <a:xfrm>
            <a:off x="4670021" y="2828512"/>
            <a:ext cx="3108960" cy="274320"/>
          </a:xfrm>
          <a:prstGeom prst="rect">
            <a:avLst/>
          </a:prstGeom>
          <a:solidFill>
            <a:srgbClr val="2894FF"/>
          </a:solidFill>
          <a:ln>
            <a:noFill/>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chemeClr val="bg1"/>
                </a:solidFill>
                <a:effectLst/>
                <a:uLnTx/>
                <a:uFillTx/>
                <a:ea typeface="+mn-ea"/>
                <a:cs typeface="Arial" panose="020B0604020202020204" pitchFamily="34" charset="0"/>
              </a:rPr>
              <a:t>Query Performance Metrics</a:t>
            </a:r>
          </a:p>
        </p:txBody>
      </p:sp>
      <p:sp>
        <p:nvSpPr>
          <p:cNvPr id="92" name="Rectangle 91">
            <a:extLst>
              <a:ext uri="{FF2B5EF4-FFF2-40B4-BE49-F238E27FC236}">
                <a16:creationId xmlns:a16="http://schemas.microsoft.com/office/drawing/2014/main" id="{537DBC31-42B3-20B7-1A52-A800B924FA21}"/>
              </a:ext>
            </a:extLst>
          </p:cNvPr>
          <p:cNvSpPr/>
          <p:nvPr/>
        </p:nvSpPr>
        <p:spPr>
          <a:xfrm>
            <a:off x="8494865" y="3160991"/>
            <a:ext cx="3108960" cy="274320"/>
          </a:xfrm>
          <a:prstGeom prst="rect">
            <a:avLst/>
          </a:prstGeom>
          <a:solidFill>
            <a:srgbClr val="0076CF"/>
          </a:solidFill>
          <a:ln>
            <a:noFill/>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chemeClr val="bg1"/>
                </a:solidFill>
                <a:effectLst/>
                <a:uLnTx/>
                <a:uFillTx/>
                <a:ea typeface="+mn-ea"/>
                <a:cs typeface="Arial" panose="020B0604020202020204" pitchFamily="34" charset="0"/>
              </a:rPr>
              <a:t>Usage Trend</a:t>
            </a:r>
          </a:p>
        </p:txBody>
      </p:sp>
      <p:sp>
        <p:nvSpPr>
          <p:cNvPr id="93" name="Rectangle 92">
            <a:extLst>
              <a:ext uri="{FF2B5EF4-FFF2-40B4-BE49-F238E27FC236}">
                <a16:creationId xmlns:a16="http://schemas.microsoft.com/office/drawing/2014/main" id="{CB4F4A79-6B7C-A239-3728-AC47CFFF87EE}"/>
              </a:ext>
            </a:extLst>
          </p:cNvPr>
          <p:cNvSpPr/>
          <p:nvPr/>
        </p:nvSpPr>
        <p:spPr>
          <a:xfrm>
            <a:off x="8494865" y="3492468"/>
            <a:ext cx="3108960" cy="274320"/>
          </a:xfrm>
          <a:prstGeom prst="rect">
            <a:avLst/>
          </a:prstGeom>
          <a:solidFill>
            <a:srgbClr val="0076CF"/>
          </a:solidFill>
          <a:ln>
            <a:noFill/>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en-US" sz="1100" b="1" kern="0">
                <a:solidFill>
                  <a:schemeClr val="bg1"/>
                </a:solidFill>
                <a:cs typeface="Arial" panose="020B0604020202020204" pitchFamily="34" charset="0"/>
              </a:rPr>
              <a:t>Query Consumption Pattern</a:t>
            </a:r>
            <a:endParaRPr kumimoji="0" lang="en-US" sz="1100" b="1" i="0" u="none" strike="noStrike" kern="0" cap="none" spc="0" normalizeH="0" baseline="0" noProof="0">
              <a:ln>
                <a:noFill/>
              </a:ln>
              <a:solidFill>
                <a:schemeClr val="bg1"/>
              </a:solidFill>
              <a:effectLst/>
              <a:uLnTx/>
              <a:uFillTx/>
              <a:ea typeface="+mn-ea"/>
              <a:cs typeface="Arial" panose="020B0604020202020204" pitchFamily="34" charset="0"/>
            </a:endParaRPr>
          </a:p>
        </p:txBody>
      </p:sp>
      <p:sp>
        <p:nvSpPr>
          <p:cNvPr id="94" name="Rectangle 93">
            <a:extLst>
              <a:ext uri="{FF2B5EF4-FFF2-40B4-BE49-F238E27FC236}">
                <a16:creationId xmlns:a16="http://schemas.microsoft.com/office/drawing/2014/main" id="{F537A9CB-073B-062A-0D0E-869E106029A5}"/>
              </a:ext>
            </a:extLst>
          </p:cNvPr>
          <p:cNvSpPr/>
          <p:nvPr/>
        </p:nvSpPr>
        <p:spPr>
          <a:xfrm>
            <a:off x="8494865" y="3823945"/>
            <a:ext cx="3108960" cy="274320"/>
          </a:xfrm>
          <a:prstGeom prst="rect">
            <a:avLst/>
          </a:prstGeom>
          <a:solidFill>
            <a:srgbClr val="0076CF"/>
          </a:solidFill>
          <a:ln>
            <a:noFill/>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en-US" sz="1100" b="1" kern="0">
                <a:solidFill>
                  <a:schemeClr val="bg1"/>
                </a:solidFill>
                <a:cs typeface="Arial" panose="020B0604020202020204" pitchFamily="34" charset="0"/>
              </a:rPr>
              <a:t>Impact Analysis</a:t>
            </a:r>
            <a:endParaRPr kumimoji="0" lang="en-US" sz="1100" b="1" i="0" u="none" strike="noStrike" kern="0" cap="none" spc="0" normalizeH="0" baseline="0" noProof="0">
              <a:ln>
                <a:noFill/>
              </a:ln>
              <a:solidFill>
                <a:schemeClr val="bg1"/>
              </a:solidFill>
              <a:effectLst/>
              <a:uLnTx/>
              <a:uFillTx/>
              <a:ea typeface="+mn-ea"/>
              <a:cs typeface="Arial" panose="020B0604020202020204" pitchFamily="34" charset="0"/>
            </a:endParaRPr>
          </a:p>
        </p:txBody>
      </p:sp>
      <p:sp>
        <p:nvSpPr>
          <p:cNvPr id="95" name="Rectangle 94">
            <a:extLst>
              <a:ext uri="{FF2B5EF4-FFF2-40B4-BE49-F238E27FC236}">
                <a16:creationId xmlns:a16="http://schemas.microsoft.com/office/drawing/2014/main" id="{11491780-3758-2DFB-A9E6-AA80ADA969F7}"/>
              </a:ext>
            </a:extLst>
          </p:cNvPr>
          <p:cNvSpPr/>
          <p:nvPr/>
        </p:nvSpPr>
        <p:spPr>
          <a:xfrm>
            <a:off x="8494865" y="4155422"/>
            <a:ext cx="3108960" cy="274320"/>
          </a:xfrm>
          <a:prstGeom prst="rect">
            <a:avLst/>
          </a:prstGeom>
          <a:solidFill>
            <a:srgbClr val="0076CF"/>
          </a:solidFill>
          <a:ln>
            <a:noFill/>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chemeClr val="bg1"/>
                </a:solidFill>
                <a:effectLst/>
                <a:uLnTx/>
                <a:uFillTx/>
                <a:ea typeface="+mn-ea"/>
                <a:cs typeface="Arial" panose="020B0604020202020204" pitchFamily="34" charset="0"/>
              </a:rPr>
              <a:t>Cost</a:t>
            </a:r>
            <a:r>
              <a:rPr lang="en-US" sz="1100" b="1" kern="0">
                <a:solidFill>
                  <a:schemeClr val="bg1"/>
                </a:solidFill>
                <a:cs typeface="Arial" panose="020B0604020202020204" pitchFamily="34" charset="0"/>
              </a:rPr>
              <a:t>/Usage by Consumption Tool</a:t>
            </a:r>
            <a:endParaRPr kumimoji="0" lang="en-US" sz="1100" b="1" i="0" u="none" strike="noStrike" kern="0" cap="none" spc="0" normalizeH="0" baseline="0" noProof="0">
              <a:ln>
                <a:noFill/>
              </a:ln>
              <a:solidFill>
                <a:schemeClr val="bg1"/>
              </a:solidFill>
              <a:effectLst/>
              <a:uLnTx/>
              <a:uFillTx/>
              <a:ea typeface="+mn-ea"/>
              <a:cs typeface="Arial" panose="020B0604020202020204" pitchFamily="34" charset="0"/>
            </a:endParaRPr>
          </a:p>
        </p:txBody>
      </p:sp>
      <p:sp>
        <p:nvSpPr>
          <p:cNvPr id="96" name="Rectangle 95">
            <a:extLst>
              <a:ext uri="{FF2B5EF4-FFF2-40B4-BE49-F238E27FC236}">
                <a16:creationId xmlns:a16="http://schemas.microsoft.com/office/drawing/2014/main" id="{A6B94921-EF8A-349D-C654-B74EE3D9F01F}"/>
              </a:ext>
            </a:extLst>
          </p:cNvPr>
          <p:cNvSpPr/>
          <p:nvPr/>
        </p:nvSpPr>
        <p:spPr>
          <a:xfrm>
            <a:off x="8494865" y="4486898"/>
            <a:ext cx="3108960" cy="274320"/>
          </a:xfrm>
          <a:prstGeom prst="rect">
            <a:avLst/>
          </a:prstGeom>
          <a:solidFill>
            <a:srgbClr val="0076CF"/>
          </a:solidFill>
          <a:ln>
            <a:noFill/>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en-US" sz="1100" b="1" kern="0">
                <a:solidFill>
                  <a:schemeClr val="bg1"/>
                </a:solidFill>
                <a:cs typeface="Arial" panose="020B0604020202020204" pitchFamily="34" charset="0"/>
              </a:rPr>
              <a:t>Transparency on Data Usage</a:t>
            </a:r>
            <a:endParaRPr kumimoji="0" lang="en-US" sz="1100" b="1" i="0" u="none" strike="noStrike" kern="0" cap="none" spc="0" normalizeH="0" baseline="0" noProof="0">
              <a:ln>
                <a:noFill/>
              </a:ln>
              <a:solidFill>
                <a:schemeClr val="bg1"/>
              </a:solidFill>
              <a:effectLst/>
              <a:uLnTx/>
              <a:uFillTx/>
              <a:ea typeface="+mn-ea"/>
              <a:cs typeface="Arial" panose="020B0604020202020204" pitchFamily="34" charset="0"/>
            </a:endParaRPr>
          </a:p>
        </p:txBody>
      </p:sp>
      <p:sp>
        <p:nvSpPr>
          <p:cNvPr id="98" name="Rectangle 97">
            <a:extLst>
              <a:ext uri="{FF2B5EF4-FFF2-40B4-BE49-F238E27FC236}">
                <a16:creationId xmlns:a16="http://schemas.microsoft.com/office/drawing/2014/main" id="{D9225B5A-DFE0-CCDF-6B29-5C1119756163}"/>
              </a:ext>
            </a:extLst>
          </p:cNvPr>
          <p:cNvSpPr/>
          <p:nvPr/>
        </p:nvSpPr>
        <p:spPr>
          <a:xfrm>
            <a:off x="8494865" y="2498037"/>
            <a:ext cx="3108960" cy="274320"/>
          </a:xfrm>
          <a:prstGeom prst="rect">
            <a:avLst/>
          </a:prstGeom>
          <a:solidFill>
            <a:srgbClr val="0076CF"/>
          </a:solidFill>
          <a:ln>
            <a:noFill/>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chemeClr val="bg1"/>
                </a:solidFill>
                <a:effectLst/>
                <a:uLnTx/>
                <a:uFillTx/>
                <a:ea typeface="+mn-ea"/>
                <a:cs typeface="Arial" panose="020B0604020202020204" pitchFamily="34" charset="0"/>
              </a:rPr>
              <a:t>Data Product Usage pattern by roles</a:t>
            </a:r>
          </a:p>
        </p:txBody>
      </p:sp>
      <p:sp>
        <p:nvSpPr>
          <p:cNvPr id="99" name="Rectangle 98">
            <a:extLst>
              <a:ext uri="{FF2B5EF4-FFF2-40B4-BE49-F238E27FC236}">
                <a16:creationId xmlns:a16="http://schemas.microsoft.com/office/drawing/2014/main" id="{CA93AA70-BF54-668E-53E3-36A465532AB5}"/>
              </a:ext>
            </a:extLst>
          </p:cNvPr>
          <p:cNvSpPr/>
          <p:nvPr/>
        </p:nvSpPr>
        <p:spPr>
          <a:xfrm>
            <a:off x="8494865" y="2829514"/>
            <a:ext cx="3108960" cy="274320"/>
          </a:xfrm>
          <a:prstGeom prst="rect">
            <a:avLst/>
          </a:prstGeom>
          <a:solidFill>
            <a:srgbClr val="0076CF"/>
          </a:solidFill>
          <a:ln>
            <a:noFill/>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lang="en-US" sz="1100" b="1" kern="0">
                <a:solidFill>
                  <a:schemeClr val="bg1"/>
                </a:solidFill>
                <a:cs typeface="Arial" panose="020B0604020202020204" pitchFamily="34" charset="0"/>
              </a:rPr>
              <a:t>Comparison across Producers vs consumers</a:t>
            </a:r>
            <a:endParaRPr kumimoji="0" lang="en-US" sz="1100" b="1" i="0" u="none" strike="noStrike" kern="0" cap="none" spc="0" normalizeH="0" baseline="0" noProof="0">
              <a:ln>
                <a:noFill/>
              </a:ln>
              <a:solidFill>
                <a:schemeClr val="bg1"/>
              </a:solidFill>
              <a:effectLst/>
              <a:uLnTx/>
              <a:uFillTx/>
              <a:ea typeface="+mn-ea"/>
              <a:cs typeface="Arial" panose="020B0604020202020204" pitchFamily="34" charset="0"/>
            </a:endParaRPr>
          </a:p>
        </p:txBody>
      </p:sp>
      <p:sp>
        <p:nvSpPr>
          <p:cNvPr id="2" name="TextBox 1">
            <a:extLst>
              <a:ext uri="{FF2B5EF4-FFF2-40B4-BE49-F238E27FC236}">
                <a16:creationId xmlns:a16="http://schemas.microsoft.com/office/drawing/2014/main" id="{FACB1D03-7878-427D-B325-1EEA20B847BE}"/>
              </a:ext>
            </a:extLst>
          </p:cNvPr>
          <p:cNvSpPr txBox="1"/>
          <p:nvPr/>
        </p:nvSpPr>
        <p:spPr>
          <a:xfrm>
            <a:off x="5460166" y="1659503"/>
            <a:ext cx="1528670" cy="285598"/>
          </a:xfrm>
          <a:prstGeom prst="rect">
            <a:avLst/>
          </a:prstGeom>
          <a:noFill/>
        </p:spPr>
        <p:txBody>
          <a:bodyPr wrap="square" rtlCol="0">
            <a:spAutoFit/>
          </a:bodyPr>
          <a:lstStyle/>
          <a:p>
            <a:r>
              <a:rPr lang="en-US" sz="1200" b="1"/>
              <a:t>Dashboard Link-2</a:t>
            </a:r>
          </a:p>
        </p:txBody>
      </p:sp>
      <p:sp>
        <p:nvSpPr>
          <p:cNvPr id="3" name="TextBox 2">
            <a:extLst>
              <a:ext uri="{FF2B5EF4-FFF2-40B4-BE49-F238E27FC236}">
                <a16:creationId xmlns:a16="http://schemas.microsoft.com/office/drawing/2014/main" id="{98B5ADC2-0ED7-01B5-D087-4028E0060D7A}"/>
              </a:ext>
            </a:extLst>
          </p:cNvPr>
          <p:cNvSpPr txBox="1"/>
          <p:nvPr/>
        </p:nvSpPr>
        <p:spPr>
          <a:xfrm>
            <a:off x="9285010" y="1641848"/>
            <a:ext cx="1528670" cy="285598"/>
          </a:xfrm>
          <a:prstGeom prst="rect">
            <a:avLst/>
          </a:prstGeom>
          <a:noFill/>
        </p:spPr>
        <p:txBody>
          <a:bodyPr wrap="square" rtlCol="0">
            <a:spAutoFit/>
          </a:bodyPr>
          <a:lstStyle/>
          <a:p>
            <a:r>
              <a:rPr lang="en-US" sz="1200" b="1"/>
              <a:t>Dashboard Link-3</a:t>
            </a:r>
          </a:p>
        </p:txBody>
      </p:sp>
      <p:sp>
        <p:nvSpPr>
          <p:cNvPr id="5" name="Rectangle 4">
            <a:extLst>
              <a:ext uri="{FF2B5EF4-FFF2-40B4-BE49-F238E27FC236}">
                <a16:creationId xmlns:a16="http://schemas.microsoft.com/office/drawing/2014/main" id="{D176BAFE-CB33-0482-D6F3-49F343A52066}"/>
              </a:ext>
            </a:extLst>
          </p:cNvPr>
          <p:cNvSpPr/>
          <p:nvPr/>
        </p:nvSpPr>
        <p:spPr>
          <a:xfrm>
            <a:off x="828961" y="782546"/>
            <a:ext cx="11130975" cy="323141"/>
          </a:xfrm>
          <a:prstGeom prst="rect">
            <a:avLst/>
          </a:prstGeom>
          <a:solidFill>
            <a:schemeClr val="tx2">
              <a:lumMod val="20000"/>
              <a:lumOff val="8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171450" indent="-115570">
              <a:buFont typeface="Wingdings" panose="05000000000000000000" pitchFamily="2" charset="2"/>
              <a:buChar char="ü"/>
            </a:pPr>
            <a:r>
              <a:rPr lang="en-US" sz="1100">
                <a:solidFill>
                  <a:schemeClr val="tx1"/>
                </a:solidFill>
              </a:rPr>
              <a:t>Landing Page – Provides link to jump to dashboards</a:t>
            </a:r>
            <a:endParaRPr lang="en-US" sz="2800">
              <a:solidFill>
                <a:schemeClr val="tx1"/>
              </a:solidFill>
            </a:endParaRPr>
          </a:p>
        </p:txBody>
      </p:sp>
      <p:grpSp>
        <p:nvGrpSpPr>
          <p:cNvPr id="6" name="Graphic 4">
            <a:extLst>
              <a:ext uri="{FF2B5EF4-FFF2-40B4-BE49-F238E27FC236}">
                <a16:creationId xmlns:a16="http://schemas.microsoft.com/office/drawing/2014/main" id="{DF14FC83-57F5-33B3-D40D-FA2E51FB83AB}"/>
              </a:ext>
            </a:extLst>
          </p:cNvPr>
          <p:cNvGrpSpPr>
            <a:grpSpLocks noChangeAspect="1"/>
          </p:cNvGrpSpPr>
          <p:nvPr/>
        </p:nvGrpSpPr>
        <p:grpSpPr>
          <a:xfrm>
            <a:off x="427887" y="696089"/>
            <a:ext cx="496522" cy="496054"/>
            <a:chOff x="1952125" y="1402723"/>
            <a:chExt cx="362313" cy="361971"/>
          </a:xfrm>
          <a:solidFill>
            <a:schemeClr val="tx2">
              <a:lumMod val="60000"/>
              <a:lumOff val="40000"/>
            </a:schemeClr>
          </a:solidFill>
        </p:grpSpPr>
        <p:sp>
          <p:nvSpPr>
            <p:cNvPr id="7" name="Graphic 4">
              <a:extLst>
                <a:ext uri="{FF2B5EF4-FFF2-40B4-BE49-F238E27FC236}">
                  <a16:creationId xmlns:a16="http://schemas.microsoft.com/office/drawing/2014/main" id="{F27A23B3-49C9-1FFD-2919-F6AE41904193}"/>
                </a:ext>
              </a:extLst>
            </p:cNvPr>
            <p:cNvSpPr/>
            <p:nvPr/>
          </p:nvSpPr>
          <p:spPr>
            <a:xfrm>
              <a:off x="2069061" y="1471670"/>
              <a:ext cx="126174" cy="158322"/>
            </a:xfrm>
            <a:custGeom>
              <a:avLst/>
              <a:gdLst>
                <a:gd name="connsiteX0" fmla="*/ 50481 w 126174"/>
                <a:gd name="connsiteY0" fmla="*/ 53626 h 158322"/>
                <a:gd name="connsiteX1" fmla="*/ 40896 w 126174"/>
                <a:gd name="connsiteY1" fmla="*/ 72139 h 158322"/>
                <a:gd name="connsiteX2" fmla="*/ 35145 w 126174"/>
                <a:gd name="connsiteY2" fmla="*/ 75969 h 158322"/>
                <a:gd name="connsiteX3" fmla="*/ 0 w 126174"/>
                <a:gd name="connsiteY3" fmla="*/ 105974 h 158322"/>
                <a:gd name="connsiteX4" fmla="*/ 32589 w 126174"/>
                <a:gd name="connsiteY4" fmla="*/ 121296 h 158322"/>
                <a:gd name="connsiteX5" fmla="*/ 36423 w 126174"/>
                <a:gd name="connsiteY5" fmla="*/ 128318 h 158322"/>
                <a:gd name="connsiteX6" fmla="*/ 46008 w 126174"/>
                <a:gd name="connsiteY6" fmla="*/ 151939 h 158322"/>
                <a:gd name="connsiteX7" fmla="*/ 68372 w 126174"/>
                <a:gd name="connsiteY7" fmla="*/ 144916 h 158322"/>
                <a:gd name="connsiteX8" fmla="*/ 73484 w 126174"/>
                <a:gd name="connsiteY8" fmla="*/ 142363 h 158322"/>
                <a:gd name="connsiteX9" fmla="*/ 76040 w 126174"/>
                <a:gd name="connsiteY9" fmla="*/ 143001 h 158322"/>
                <a:gd name="connsiteX10" fmla="*/ 108629 w 126174"/>
                <a:gd name="connsiteY10" fmla="*/ 158323 h 158322"/>
                <a:gd name="connsiteX11" fmla="*/ 111824 w 126174"/>
                <a:gd name="connsiteY11" fmla="*/ 110443 h 158322"/>
                <a:gd name="connsiteX12" fmla="*/ 111824 w 126174"/>
                <a:gd name="connsiteY12" fmla="*/ 104697 h 158322"/>
                <a:gd name="connsiteX13" fmla="*/ 118214 w 126174"/>
                <a:gd name="connsiteY13" fmla="*/ 0 h 158322"/>
                <a:gd name="connsiteX14" fmla="*/ 53676 w 126174"/>
                <a:gd name="connsiteY14" fmla="*/ 49795 h 158322"/>
                <a:gd name="connsiteX15" fmla="*/ 50481 w 126174"/>
                <a:gd name="connsiteY15" fmla="*/ 53626 h 158322"/>
                <a:gd name="connsiteX16" fmla="*/ 99683 w 126174"/>
                <a:gd name="connsiteY16" fmla="*/ 91929 h 158322"/>
                <a:gd name="connsiteX17" fmla="*/ 72206 w 126174"/>
                <a:gd name="connsiteY17" fmla="*/ 119381 h 158322"/>
                <a:gd name="connsiteX18" fmla="*/ 44730 w 126174"/>
                <a:gd name="connsiteY18" fmla="*/ 91929 h 158322"/>
                <a:gd name="connsiteX19" fmla="*/ 72206 w 126174"/>
                <a:gd name="connsiteY19" fmla="*/ 64478 h 158322"/>
                <a:gd name="connsiteX20" fmla="*/ 99683 w 126174"/>
                <a:gd name="connsiteY20" fmla="*/ 91929 h 158322"/>
                <a:gd name="connsiteX21" fmla="*/ 99683 w 126174"/>
                <a:gd name="connsiteY21" fmla="*/ 91929 h 158322"/>
                <a:gd name="connsiteX22" fmla="*/ 99683 w 126174"/>
                <a:gd name="connsiteY22" fmla="*/ 91929 h 158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6174" h="158322">
                  <a:moveTo>
                    <a:pt x="50481" y="53626"/>
                  </a:moveTo>
                  <a:cubicBezTo>
                    <a:pt x="46647" y="59371"/>
                    <a:pt x="44091" y="65755"/>
                    <a:pt x="40896" y="72139"/>
                  </a:cubicBezTo>
                  <a:cubicBezTo>
                    <a:pt x="39618" y="74693"/>
                    <a:pt x="37701" y="75969"/>
                    <a:pt x="35145" y="75969"/>
                  </a:cubicBezTo>
                  <a:cubicBezTo>
                    <a:pt x="17892" y="76608"/>
                    <a:pt x="3195" y="88737"/>
                    <a:pt x="0" y="105974"/>
                  </a:cubicBezTo>
                  <a:lnTo>
                    <a:pt x="32589" y="121296"/>
                  </a:lnTo>
                  <a:cubicBezTo>
                    <a:pt x="35145" y="122573"/>
                    <a:pt x="36423" y="125126"/>
                    <a:pt x="36423" y="128318"/>
                  </a:cubicBezTo>
                  <a:cubicBezTo>
                    <a:pt x="36423" y="128318"/>
                    <a:pt x="33867" y="146832"/>
                    <a:pt x="46008" y="151939"/>
                  </a:cubicBezTo>
                  <a:cubicBezTo>
                    <a:pt x="58148" y="157046"/>
                    <a:pt x="68372" y="145555"/>
                    <a:pt x="68372" y="144916"/>
                  </a:cubicBezTo>
                  <a:cubicBezTo>
                    <a:pt x="69650" y="143640"/>
                    <a:pt x="71567" y="142363"/>
                    <a:pt x="73484" y="142363"/>
                  </a:cubicBezTo>
                  <a:cubicBezTo>
                    <a:pt x="74123" y="142363"/>
                    <a:pt x="75401" y="142363"/>
                    <a:pt x="76040" y="143001"/>
                  </a:cubicBezTo>
                  <a:lnTo>
                    <a:pt x="108629" y="158323"/>
                  </a:lnTo>
                  <a:cubicBezTo>
                    <a:pt x="117575" y="143640"/>
                    <a:pt x="118853" y="125765"/>
                    <a:pt x="111824" y="110443"/>
                  </a:cubicBezTo>
                  <a:cubicBezTo>
                    <a:pt x="111185" y="108528"/>
                    <a:pt x="111185" y="106613"/>
                    <a:pt x="111824" y="104697"/>
                  </a:cubicBezTo>
                  <a:cubicBezTo>
                    <a:pt x="111824" y="104059"/>
                    <a:pt x="139301" y="49795"/>
                    <a:pt x="118214" y="0"/>
                  </a:cubicBezTo>
                  <a:cubicBezTo>
                    <a:pt x="106712" y="2554"/>
                    <a:pt x="77318" y="12130"/>
                    <a:pt x="53676" y="49795"/>
                  </a:cubicBezTo>
                  <a:cubicBezTo>
                    <a:pt x="52398" y="51710"/>
                    <a:pt x="51759" y="52987"/>
                    <a:pt x="50481" y="53626"/>
                  </a:cubicBezTo>
                  <a:close/>
                  <a:moveTo>
                    <a:pt x="99683" y="91929"/>
                  </a:moveTo>
                  <a:cubicBezTo>
                    <a:pt x="99683" y="107251"/>
                    <a:pt x="87542" y="119381"/>
                    <a:pt x="72206" y="119381"/>
                  </a:cubicBezTo>
                  <a:cubicBezTo>
                    <a:pt x="56871" y="119381"/>
                    <a:pt x="44730" y="107251"/>
                    <a:pt x="44730" y="91929"/>
                  </a:cubicBezTo>
                  <a:cubicBezTo>
                    <a:pt x="44730" y="76608"/>
                    <a:pt x="56871" y="64478"/>
                    <a:pt x="72206" y="64478"/>
                  </a:cubicBezTo>
                  <a:cubicBezTo>
                    <a:pt x="87542" y="65117"/>
                    <a:pt x="99683" y="77246"/>
                    <a:pt x="99683" y="91929"/>
                  </a:cubicBezTo>
                  <a:cubicBezTo>
                    <a:pt x="99683" y="92568"/>
                    <a:pt x="99683" y="92568"/>
                    <a:pt x="99683" y="91929"/>
                  </a:cubicBezTo>
                  <a:lnTo>
                    <a:pt x="99683" y="91929"/>
                  </a:lnTo>
                  <a:close/>
                </a:path>
              </a:pathLst>
            </a:custGeom>
            <a:grpFill/>
            <a:ln w="6390" cap="flat">
              <a:noFill/>
              <a:prstDash val="solid"/>
              <a:miter/>
            </a:ln>
          </p:spPr>
          <p:txBody>
            <a:bodyPr rtlCol="0" anchor="ctr"/>
            <a:lstStyle/>
            <a:p>
              <a:endParaRPr lang="en-US"/>
            </a:p>
          </p:txBody>
        </p:sp>
        <p:sp>
          <p:nvSpPr>
            <p:cNvPr id="8" name="Graphic 4">
              <a:extLst>
                <a:ext uri="{FF2B5EF4-FFF2-40B4-BE49-F238E27FC236}">
                  <a16:creationId xmlns:a16="http://schemas.microsoft.com/office/drawing/2014/main" id="{2E3FB737-8077-7498-10EE-DC2FA9B2057E}"/>
                </a:ext>
              </a:extLst>
            </p:cNvPr>
            <p:cNvSpPr/>
            <p:nvPr/>
          </p:nvSpPr>
          <p:spPr>
            <a:xfrm>
              <a:off x="2043501" y="1527211"/>
              <a:ext cx="180835" cy="126402"/>
            </a:xfrm>
            <a:custGeom>
              <a:avLst/>
              <a:gdLst>
                <a:gd name="connsiteX0" fmla="*/ 180835 w 180835"/>
                <a:gd name="connsiteY0" fmla="*/ 5746 h 126402"/>
                <a:gd name="connsiteX1" fmla="*/ 175084 w 180835"/>
                <a:gd name="connsiteY1" fmla="*/ 0 h 126402"/>
                <a:gd name="connsiteX2" fmla="*/ 175084 w 180835"/>
                <a:gd name="connsiteY2" fmla="*/ 0 h 126402"/>
                <a:gd name="connsiteX3" fmla="*/ 163582 w 180835"/>
                <a:gd name="connsiteY3" fmla="*/ 0 h 126402"/>
                <a:gd name="connsiteX4" fmla="*/ 149525 w 180835"/>
                <a:gd name="connsiteY4" fmla="*/ 52987 h 126402"/>
                <a:gd name="connsiteX5" fmla="*/ 140579 w 180835"/>
                <a:gd name="connsiteY5" fmla="*/ 115550 h 126402"/>
                <a:gd name="connsiteX6" fmla="*/ 135467 w 180835"/>
                <a:gd name="connsiteY6" fmla="*/ 118104 h 126402"/>
                <a:gd name="connsiteX7" fmla="*/ 132911 w 180835"/>
                <a:gd name="connsiteY7" fmla="*/ 117465 h 126402"/>
                <a:gd name="connsiteX8" fmla="*/ 99044 w 180835"/>
                <a:gd name="connsiteY8" fmla="*/ 101505 h 126402"/>
                <a:gd name="connsiteX9" fmla="*/ 65177 w 180835"/>
                <a:gd name="connsiteY9" fmla="*/ 108528 h 126402"/>
                <a:gd name="connsiteX10" fmla="*/ 47925 w 180835"/>
                <a:gd name="connsiteY10" fmla="*/ 75969 h 126402"/>
                <a:gd name="connsiteX11" fmla="*/ 14697 w 180835"/>
                <a:gd name="connsiteY11" fmla="*/ 60009 h 126402"/>
                <a:gd name="connsiteX12" fmla="*/ 11502 w 180835"/>
                <a:gd name="connsiteY12" fmla="*/ 52987 h 126402"/>
                <a:gd name="connsiteX13" fmla="*/ 56232 w 180835"/>
                <a:gd name="connsiteY13" fmla="*/ 8299 h 126402"/>
                <a:gd name="connsiteX14" fmla="*/ 60066 w 180835"/>
                <a:gd name="connsiteY14" fmla="*/ 0 h 126402"/>
                <a:gd name="connsiteX15" fmla="*/ 5751 w 180835"/>
                <a:gd name="connsiteY15" fmla="*/ 0 h 126402"/>
                <a:gd name="connsiteX16" fmla="*/ 0 w 180835"/>
                <a:gd name="connsiteY16" fmla="*/ 5746 h 126402"/>
                <a:gd name="connsiteX17" fmla="*/ 0 w 180835"/>
                <a:gd name="connsiteY17" fmla="*/ 5746 h 126402"/>
                <a:gd name="connsiteX18" fmla="*/ 0 w 180835"/>
                <a:gd name="connsiteY18" fmla="*/ 126403 h 126402"/>
                <a:gd name="connsiteX19" fmla="*/ 180835 w 180835"/>
                <a:gd name="connsiteY19" fmla="*/ 126403 h 126402"/>
                <a:gd name="connsiteX20" fmla="*/ 180835 w 180835"/>
                <a:gd name="connsiteY20" fmla="*/ 5746 h 12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80835" h="126402">
                  <a:moveTo>
                    <a:pt x="180835" y="5746"/>
                  </a:moveTo>
                  <a:cubicBezTo>
                    <a:pt x="180835" y="2554"/>
                    <a:pt x="178279" y="0"/>
                    <a:pt x="175084" y="0"/>
                  </a:cubicBezTo>
                  <a:lnTo>
                    <a:pt x="175084" y="0"/>
                  </a:lnTo>
                  <a:lnTo>
                    <a:pt x="163582" y="0"/>
                  </a:lnTo>
                  <a:cubicBezTo>
                    <a:pt x="161666" y="18514"/>
                    <a:pt x="157192" y="36389"/>
                    <a:pt x="149525" y="52987"/>
                  </a:cubicBezTo>
                  <a:cubicBezTo>
                    <a:pt x="157832" y="74054"/>
                    <a:pt x="154637" y="97675"/>
                    <a:pt x="140579" y="115550"/>
                  </a:cubicBezTo>
                  <a:cubicBezTo>
                    <a:pt x="139301" y="116827"/>
                    <a:pt x="137384" y="118104"/>
                    <a:pt x="135467" y="118104"/>
                  </a:cubicBezTo>
                  <a:cubicBezTo>
                    <a:pt x="134828" y="118104"/>
                    <a:pt x="133550" y="118104"/>
                    <a:pt x="132911" y="117465"/>
                  </a:cubicBezTo>
                  <a:lnTo>
                    <a:pt x="99044" y="101505"/>
                  </a:lnTo>
                  <a:cubicBezTo>
                    <a:pt x="90098" y="110443"/>
                    <a:pt x="76679" y="112996"/>
                    <a:pt x="65177" y="108528"/>
                  </a:cubicBezTo>
                  <a:cubicBezTo>
                    <a:pt x="49203" y="100867"/>
                    <a:pt x="47286" y="84269"/>
                    <a:pt x="47925" y="75969"/>
                  </a:cubicBezTo>
                  <a:lnTo>
                    <a:pt x="14697" y="60009"/>
                  </a:lnTo>
                  <a:cubicBezTo>
                    <a:pt x="12141" y="58733"/>
                    <a:pt x="10863" y="56179"/>
                    <a:pt x="11502" y="52987"/>
                  </a:cubicBezTo>
                  <a:cubicBezTo>
                    <a:pt x="17892" y="20429"/>
                    <a:pt x="41535" y="9576"/>
                    <a:pt x="56232" y="8299"/>
                  </a:cubicBezTo>
                  <a:cubicBezTo>
                    <a:pt x="57509" y="5746"/>
                    <a:pt x="58788" y="2554"/>
                    <a:pt x="60066" y="0"/>
                  </a:cubicBezTo>
                  <a:lnTo>
                    <a:pt x="5751" y="0"/>
                  </a:lnTo>
                  <a:cubicBezTo>
                    <a:pt x="2556" y="0"/>
                    <a:pt x="0" y="2554"/>
                    <a:pt x="0" y="5746"/>
                  </a:cubicBezTo>
                  <a:lnTo>
                    <a:pt x="0" y="5746"/>
                  </a:lnTo>
                  <a:lnTo>
                    <a:pt x="0" y="126403"/>
                  </a:lnTo>
                  <a:lnTo>
                    <a:pt x="180835" y="126403"/>
                  </a:lnTo>
                  <a:lnTo>
                    <a:pt x="180835" y="5746"/>
                  </a:lnTo>
                  <a:close/>
                </a:path>
              </a:pathLst>
            </a:custGeom>
            <a:grpFill/>
            <a:ln w="6390" cap="flat">
              <a:noFill/>
              <a:prstDash val="solid"/>
              <a:miter/>
            </a:ln>
          </p:spPr>
          <p:txBody>
            <a:bodyPr rtlCol="0" anchor="ctr"/>
            <a:lstStyle/>
            <a:p>
              <a:endParaRPr lang="en-US"/>
            </a:p>
          </p:txBody>
        </p:sp>
        <p:sp>
          <p:nvSpPr>
            <p:cNvPr id="9" name="Graphic 4">
              <a:extLst>
                <a:ext uri="{FF2B5EF4-FFF2-40B4-BE49-F238E27FC236}">
                  <a16:creationId xmlns:a16="http://schemas.microsoft.com/office/drawing/2014/main" id="{F5391EA0-D1CD-3515-2D36-C3833D265A47}"/>
                </a:ext>
              </a:extLst>
            </p:cNvPr>
            <p:cNvSpPr/>
            <p:nvPr/>
          </p:nvSpPr>
          <p:spPr>
            <a:xfrm>
              <a:off x="2126570" y="1549555"/>
              <a:ext cx="29393" cy="29366"/>
            </a:xfrm>
            <a:custGeom>
              <a:avLst/>
              <a:gdLst>
                <a:gd name="connsiteX0" fmla="*/ 14697 w 29393"/>
                <a:gd name="connsiteY0" fmla="*/ 29366 h 29366"/>
                <a:gd name="connsiteX1" fmla="*/ 29394 w 29393"/>
                <a:gd name="connsiteY1" fmla="*/ 14683 h 29366"/>
                <a:gd name="connsiteX2" fmla="*/ 14697 w 29393"/>
                <a:gd name="connsiteY2" fmla="*/ 0 h 29366"/>
                <a:gd name="connsiteX3" fmla="*/ 0 w 29393"/>
                <a:gd name="connsiteY3" fmla="*/ 14683 h 29366"/>
                <a:gd name="connsiteX4" fmla="*/ 14697 w 29393"/>
                <a:gd name="connsiteY4" fmla="*/ 29366 h 29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93" h="29366">
                  <a:moveTo>
                    <a:pt x="14697" y="29366"/>
                  </a:moveTo>
                  <a:cubicBezTo>
                    <a:pt x="23004" y="29366"/>
                    <a:pt x="29394" y="22982"/>
                    <a:pt x="29394" y="14683"/>
                  </a:cubicBezTo>
                  <a:cubicBezTo>
                    <a:pt x="29394" y="6384"/>
                    <a:pt x="23004" y="0"/>
                    <a:pt x="14697" y="0"/>
                  </a:cubicBezTo>
                  <a:cubicBezTo>
                    <a:pt x="6390" y="0"/>
                    <a:pt x="0" y="6384"/>
                    <a:pt x="0" y="14683"/>
                  </a:cubicBezTo>
                  <a:cubicBezTo>
                    <a:pt x="0" y="22982"/>
                    <a:pt x="6390" y="29366"/>
                    <a:pt x="14697" y="29366"/>
                  </a:cubicBezTo>
                  <a:close/>
                </a:path>
              </a:pathLst>
            </a:custGeom>
            <a:grpFill/>
            <a:ln w="6390" cap="flat">
              <a:noFill/>
              <a:prstDash val="solid"/>
              <a:miter/>
            </a:ln>
          </p:spPr>
          <p:txBody>
            <a:bodyPr rtlCol="0" anchor="ctr"/>
            <a:lstStyle/>
            <a:p>
              <a:endParaRPr lang="en-US"/>
            </a:p>
          </p:txBody>
        </p:sp>
        <p:sp>
          <p:nvSpPr>
            <p:cNvPr id="10" name="Graphic 4">
              <a:extLst>
                <a:ext uri="{FF2B5EF4-FFF2-40B4-BE49-F238E27FC236}">
                  <a16:creationId xmlns:a16="http://schemas.microsoft.com/office/drawing/2014/main" id="{22FD2D6B-A718-C7B5-9139-FB019E27982A}"/>
                </a:ext>
              </a:extLst>
            </p:cNvPr>
            <p:cNvSpPr/>
            <p:nvPr/>
          </p:nvSpPr>
          <p:spPr>
            <a:xfrm>
              <a:off x="2033278" y="1666381"/>
              <a:ext cx="201283" cy="3191"/>
            </a:xfrm>
            <a:custGeom>
              <a:avLst/>
              <a:gdLst>
                <a:gd name="connsiteX0" fmla="*/ 3834 w 201283"/>
                <a:gd name="connsiteY0" fmla="*/ 0 h 3191"/>
                <a:gd name="connsiteX1" fmla="*/ 0 w 201283"/>
                <a:gd name="connsiteY1" fmla="*/ 0 h 3191"/>
                <a:gd name="connsiteX2" fmla="*/ 7029 w 201283"/>
                <a:gd name="connsiteY2" fmla="*/ 3192 h 3191"/>
                <a:gd name="connsiteX3" fmla="*/ 194254 w 201283"/>
                <a:gd name="connsiteY3" fmla="*/ 3192 h 3191"/>
                <a:gd name="connsiteX4" fmla="*/ 201283 w 201283"/>
                <a:gd name="connsiteY4" fmla="*/ 0 h 3191"/>
                <a:gd name="connsiteX5" fmla="*/ 3834 w 201283"/>
                <a:gd name="connsiteY5" fmla="*/ 0 h 3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1283" h="3191">
                  <a:moveTo>
                    <a:pt x="3834" y="0"/>
                  </a:moveTo>
                  <a:lnTo>
                    <a:pt x="0" y="0"/>
                  </a:lnTo>
                  <a:cubicBezTo>
                    <a:pt x="1917" y="1915"/>
                    <a:pt x="4473" y="3192"/>
                    <a:pt x="7029" y="3192"/>
                  </a:cubicBezTo>
                  <a:lnTo>
                    <a:pt x="194254" y="3192"/>
                  </a:lnTo>
                  <a:cubicBezTo>
                    <a:pt x="196810" y="3192"/>
                    <a:pt x="199366" y="1915"/>
                    <a:pt x="201283" y="0"/>
                  </a:cubicBezTo>
                  <a:lnTo>
                    <a:pt x="3834" y="0"/>
                  </a:lnTo>
                  <a:close/>
                </a:path>
              </a:pathLst>
            </a:custGeom>
            <a:grpFill/>
            <a:ln w="6390" cap="flat">
              <a:noFill/>
              <a:prstDash val="solid"/>
              <a:miter/>
            </a:ln>
          </p:spPr>
          <p:txBody>
            <a:bodyPr rtlCol="0" anchor="ctr"/>
            <a:lstStyle/>
            <a:p>
              <a:endParaRPr lang="en-US"/>
            </a:p>
          </p:txBody>
        </p:sp>
        <p:sp>
          <p:nvSpPr>
            <p:cNvPr id="11" name="Graphic 4">
              <a:extLst>
                <a:ext uri="{FF2B5EF4-FFF2-40B4-BE49-F238E27FC236}">
                  <a16:creationId xmlns:a16="http://schemas.microsoft.com/office/drawing/2014/main" id="{8DF5745B-8FCE-2F40-228C-06B02F5C018F}"/>
                </a:ext>
              </a:extLst>
            </p:cNvPr>
            <p:cNvSpPr/>
            <p:nvPr/>
          </p:nvSpPr>
          <p:spPr>
            <a:xfrm>
              <a:off x="1952125" y="1402723"/>
              <a:ext cx="362313" cy="361971"/>
            </a:xfrm>
            <a:custGeom>
              <a:avLst/>
              <a:gdLst>
                <a:gd name="connsiteX0" fmla="*/ 181474 w 362313"/>
                <a:gd name="connsiteY0" fmla="*/ 0 h 361971"/>
                <a:gd name="connsiteX1" fmla="*/ 0 w 362313"/>
                <a:gd name="connsiteY1" fmla="*/ 180667 h 361971"/>
                <a:gd name="connsiteX2" fmla="*/ 180835 w 362313"/>
                <a:gd name="connsiteY2" fmla="*/ 361972 h 361971"/>
                <a:gd name="connsiteX3" fmla="*/ 362310 w 362313"/>
                <a:gd name="connsiteY3" fmla="*/ 181305 h 361971"/>
                <a:gd name="connsiteX4" fmla="*/ 362310 w 362313"/>
                <a:gd name="connsiteY4" fmla="*/ 181305 h 361971"/>
                <a:gd name="connsiteX5" fmla="*/ 181474 w 362313"/>
                <a:gd name="connsiteY5" fmla="*/ 0 h 361971"/>
                <a:gd name="connsiteX6" fmla="*/ 275406 w 362313"/>
                <a:gd name="connsiteY6" fmla="*/ 279618 h 361971"/>
                <a:gd name="connsiteX7" fmla="*/ 88181 w 362313"/>
                <a:gd name="connsiteY7" fmla="*/ 279618 h 361971"/>
                <a:gd name="connsiteX8" fmla="*/ 65816 w 362313"/>
                <a:gd name="connsiteY8" fmla="*/ 257274 h 361971"/>
                <a:gd name="connsiteX9" fmla="*/ 72206 w 362313"/>
                <a:gd name="connsiteY9" fmla="*/ 250890 h 361971"/>
                <a:gd name="connsiteX10" fmla="*/ 78596 w 362313"/>
                <a:gd name="connsiteY10" fmla="*/ 250890 h 361971"/>
                <a:gd name="connsiteX11" fmla="*/ 78596 w 362313"/>
                <a:gd name="connsiteY11" fmla="*/ 130233 h 361971"/>
                <a:gd name="connsiteX12" fmla="*/ 97127 w 362313"/>
                <a:gd name="connsiteY12" fmla="*/ 111720 h 361971"/>
                <a:gd name="connsiteX13" fmla="*/ 97127 w 362313"/>
                <a:gd name="connsiteY13" fmla="*/ 111720 h 361971"/>
                <a:gd name="connsiteX14" fmla="*/ 159109 w 362313"/>
                <a:gd name="connsiteY14" fmla="*/ 111720 h 361971"/>
                <a:gd name="connsiteX15" fmla="*/ 237067 w 362313"/>
                <a:gd name="connsiteY15" fmla="*/ 56817 h 361971"/>
                <a:gd name="connsiteX16" fmla="*/ 243457 w 362313"/>
                <a:gd name="connsiteY16" fmla="*/ 60648 h 361971"/>
                <a:gd name="connsiteX17" fmla="*/ 254958 w 362313"/>
                <a:gd name="connsiteY17" fmla="*/ 112358 h 361971"/>
                <a:gd name="connsiteX18" fmla="*/ 265821 w 362313"/>
                <a:gd name="connsiteY18" fmla="*/ 112358 h 361971"/>
                <a:gd name="connsiteX19" fmla="*/ 284352 w 362313"/>
                <a:gd name="connsiteY19" fmla="*/ 130872 h 361971"/>
                <a:gd name="connsiteX20" fmla="*/ 284352 w 362313"/>
                <a:gd name="connsiteY20" fmla="*/ 130872 h 361971"/>
                <a:gd name="connsiteX21" fmla="*/ 284352 w 362313"/>
                <a:gd name="connsiteY21" fmla="*/ 251529 h 361971"/>
                <a:gd name="connsiteX22" fmla="*/ 290742 w 362313"/>
                <a:gd name="connsiteY22" fmla="*/ 251529 h 361971"/>
                <a:gd name="connsiteX23" fmla="*/ 297132 w 362313"/>
                <a:gd name="connsiteY23" fmla="*/ 257913 h 361971"/>
                <a:gd name="connsiteX24" fmla="*/ 275406 w 362313"/>
                <a:gd name="connsiteY24" fmla="*/ 279618 h 361971"/>
                <a:gd name="connsiteX25" fmla="*/ 275406 w 362313"/>
                <a:gd name="connsiteY25" fmla="*/ 279618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62313" h="361971">
                  <a:moveTo>
                    <a:pt x="181474" y="0"/>
                  </a:moveTo>
                  <a:cubicBezTo>
                    <a:pt x="81152" y="0"/>
                    <a:pt x="0" y="81077"/>
                    <a:pt x="0" y="180667"/>
                  </a:cubicBezTo>
                  <a:cubicBezTo>
                    <a:pt x="0" y="280895"/>
                    <a:pt x="81152" y="361972"/>
                    <a:pt x="180835" y="361972"/>
                  </a:cubicBezTo>
                  <a:cubicBezTo>
                    <a:pt x="281157" y="361972"/>
                    <a:pt x="362310" y="280895"/>
                    <a:pt x="362310" y="181305"/>
                  </a:cubicBezTo>
                  <a:cubicBezTo>
                    <a:pt x="362310" y="181305"/>
                    <a:pt x="362310" y="181305"/>
                    <a:pt x="362310" y="181305"/>
                  </a:cubicBezTo>
                  <a:cubicBezTo>
                    <a:pt x="362948" y="80438"/>
                    <a:pt x="281796" y="0"/>
                    <a:pt x="181474" y="0"/>
                  </a:cubicBezTo>
                  <a:close/>
                  <a:moveTo>
                    <a:pt x="275406" y="279618"/>
                  </a:moveTo>
                  <a:lnTo>
                    <a:pt x="88181" y="279618"/>
                  </a:lnTo>
                  <a:cubicBezTo>
                    <a:pt x="76040" y="279618"/>
                    <a:pt x="65816" y="269404"/>
                    <a:pt x="65816" y="257274"/>
                  </a:cubicBezTo>
                  <a:cubicBezTo>
                    <a:pt x="65816" y="253444"/>
                    <a:pt x="68372" y="250890"/>
                    <a:pt x="72206" y="250890"/>
                  </a:cubicBezTo>
                  <a:lnTo>
                    <a:pt x="78596" y="250890"/>
                  </a:lnTo>
                  <a:lnTo>
                    <a:pt x="78596" y="130233"/>
                  </a:lnTo>
                  <a:cubicBezTo>
                    <a:pt x="78596" y="120019"/>
                    <a:pt x="86903" y="111720"/>
                    <a:pt x="97127" y="111720"/>
                  </a:cubicBezTo>
                  <a:lnTo>
                    <a:pt x="97127" y="111720"/>
                  </a:lnTo>
                  <a:lnTo>
                    <a:pt x="159109" y="111720"/>
                  </a:lnTo>
                  <a:cubicBezTo>
                    <a:pt x="191698" y="61286"/>
                    <a:pt x="235150" y="56817"/>
                    <a:pt x="237067" y="56817"/>
                  </a:cubicBezTo>
                  <a:cubicBezTo>
                    <a:pt x="239623" y="56817"/>
                    <a:pt x="242179" y="58094"/>
                    <a:pt x="243457" y="60648"/>
                  </a:cubicBezTo>
                  <a:cubicBezTo>
                    <a:pt x="251124" y="76608"/>
                    <a:pt x="254958" y="94483"/>
                    <a:pt x="254958" y="112358"/>
                  </a:cubicBezTo>
                  <a:lnTo>
                    <a:pt x="265821" y="112358"/>
                  </a:lnTo>
                  <a:cubicBezTo>
                    <a:pt x="276045" y="112358"/>
                    <a:pt x="284352" y="120657"/>
                    <a:pt x="284352" y="130872"/>
                  </a:cubicBezTo>
                  <a:lnTo>
                    <a:pt x="284352" y="130872"/>
                  </a:lnTo>
                  <a:lnTo>
                    <a:pt x="284352" y="251529"/>
                  </a:lnTo>
                  <a:lnTo>
                    <a:pt x="290742" y="251529"/>
                  </a:lnTo>
                  <a:cubicBezTo>
                    <a:pt x="294576" y="251529"/>
                    <a:pt x="297132" y="254082"/>
                    <a:pt x="297132" y="257913"/>
                  </a:cubicBezTo>
                  <a:cubicBezTo>
                    <a:pt x="297771" y="269404"/>
                    <a:pt x="287547" y="278980"/>
                    <a:pt x="275406" y="279618"/>
                  </a:cubicBezTo>
                  <a:lnTo>
                    <a:pt x="275406" y="279618"/>
                  </a:lnTo>
                  <a:close/>
                </a:path>
              </a:pathLst>
            </a:custGeom>
            <a:grpFill/>
            <a:ln w="6390" cap="flat">
              <a:noFill/>
              <a:prstDash val="solid"/>
              <a:miter/>
            </a:ln>
          </p:spPr>
          <p:txBody>
            <a:bodyPr rtlCol="0" anchor="ctr"/>
            <a:lstStyle/>
            <a:p>
              <a:endParaRPr lang="en-US"/>
            </a:p>
          </p:txBody>
        </p:sp>
      </p:grpSp>
      <p:sp>
        <p:nvSpPr>
          <p:cNvPr id="12" name="Rectangle 11">
            <a:extLst>
              <a:ext uri="{FF2B5EF4-FFF2-40B4-BE49-F238E27FC236}">
                <a16:creationId xmlns:a16="http://schemas.microsoft.com/office/drawing/2014/main" id="{750949E4-2C89-12D0-5952-D311F9E45C8E}"/>
              </a:ext>
            </a:extLst>
          </p:cNvPr>
          <p:cNvSpPr/>
          <p:nvPr/>
        </p:nvSpPr>
        <p:spPr>
          <a:xfrm>
            <a:off x="4670021" y="3172976"/>
            <a:ext cx="3108960" cy="274320"/>
          </a:xfrm>
          <a:prstGeom prst="rect">
            <a:avLst/>
          </a:prstGeom>
          <a:solidFill>
            <a:srgbClr val="2894FF"/>
          </a:solidFill>
          <a:ln>
            <a:noFill/>
          </a:ln>
          <a:effectLst/>
        </p:spPr>
        <p:txBody>
          <a:bodyPr rtlCol="0" anchor="ctr"/>
          <a:lstStyle/>
          <a:p>
            <a:pPr>
              <a:defRPr/>
            </a:pPr>
            <a:r>
              <a:rPr kumimoji="0" lang="en-US" sz="1100" b="1" i="0" u="none" strike="noStrike" kern="0" cap="none" spc="0" normalizeH="0" baseline="0" noProof="0">
                <a:ln>
                  <a:noFill/>
                </a:ln>
                <a:solidFill>
                  <a:schemeClr val="bg1"/>
                </a:solidFill>
                <a:effectLst/>
                <a:uLnTx/>
                <a:uFillTx/>
                <a:ea typeface="+mn-ea"/>
                <a:cs typeface="Arial" panose="020B0604020202020204" pitchFamily="34" charset="0"/>
              </a:rPr>
              <a:t>Warehouse Usage Monitoring </a:t>
            </a:r>
          </a:p>
        </p:txBody>
      </p:sp>
    </p:spTree>
    <p:extLst>
      <p:ext uri="{BB962C8B-B14F-4D97-AF65-F5344CB8AC3E}">
        <p14:creationId xmlns:p14="http://schemas.microsoft.com/office/powerpoint/2010/main" val="3933487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FA592-79BA-CF81-F340-9009ABA228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C7B181-E044-8129-D777-2EFBEB32CD0E}"/>
              </a:ext>
            </a:extLst>
          </p:cNvPr>
          <p:cNvSpPr>
            <a:spLocks noGrp="1"/>
          </p:cNvSpPr>
          <p:nvPr>
            <p:ph type="title"/>
          </p:nvPr>
        </p:nvSpPr>
        <p:spPr/>
        <p:txBody>
          <a:bodyPr/>
          <a:lstStyle/>
          <a:p>
            <a:r>
              <a:rPr lang="en-US"/>
              <a:t>Cost Management</a:t>
            </a:r>
          </a:p>
        </p:txBody>
      </p:sp>
    </p:spTree>
    <p:extLst>
      <p:ext uri="{BB962C8B-B14F-4D97-AF65-F5344CB8AC3E}">
        <p14:creationId xmlns:p14="http://schemas.microsoft.com/office/powerpoint/2010/main" val="13489361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5B497-8EC3-2F9A-DA0A-576ADD694D5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3D1E6E4-B91D-1EEC-8F91-C1BF1CB60D77}"/>
              </a:ext>
            </a:extLst>
          </p:cNvPr>
          <p:cNvSpPr txBox="1">
            <a:spLocks/>
          </p:cNvSpPr>
          <p:nvPr/>
        </p:nvSpPr>
        <p:spPr>
          <a:xfrm>
            <a:off x="284550" y="216713"/>
            <a:ext cx="11904087" cy="509780"/>
          </a:xfrm>
          <a:prstGeom prst="rect">
            <a:avLst/>
          </a:prstGeom>
        </p:spPr>
        <p:txBody>
          <a:bodyPr/>
          <a:lstStyle>
            <a:lvl1pPr algn="l" defTabSz="914400" rtl="0" eaLnBrk="1" latinLnBrk="0" hangingPunct="1">
              <a:lnSpc>
                <a:spcPct val="100000"/>
              </a:lnSpc>
              <a:spcBef>
                <a:spcPct val="0"/>
              </a:spcBef>
              <a:buNone/>
              <a:defRPr sz="3400" b="0" i="0" kern="1200">
                <a:solidFill>
                  <a:srgbClr val="0076CF"/>
                </a:solidFill>
                <a:latin typeface="FS Elliot Pro Light" panose="02000503040000020004" pitchFamily="2"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a:ln>
                  <a:noFill/>
                </a:ln>
                <a:solidFill>
                  <a:srgbClr val="0076CF"/>
                </a:solidFill>
                <a:effectLst/>
                <a:uLnTx/>
                <a:uFillTx/>
                <a:latin typeface="FS Elliot Pro Light" panose="02000503040000020004" pitchFamily="2" charset="0"/>
                <a:ea typeface="+mj-ea"/>
                <a:cs typeface="+mj-cs"/>
              </a:rPr>
              <a:t>Cost Management </a:t>
            </a:r>
            <a:r>
              <a:rPr lang="en-US" sz="3200">
                <a:latin typeface="FS Elliot Pro Light"/>
              </a:rPr>
              <a:t>–</a:t>
            </a:r>
            <a:r>
              <a:rPr kumimoji="0" lang="en-US" sz="3200" b="0" i="0" u="none" strike="noStrike" kern="1200" cap="none" spc="0" normalizeH="0" baseline="0" noProof="0">
                <a:ln>
                  <a:noFill/>
                </a:ln>
                <a:solidFill>
                  <a:srgbClr val="0076CF"/>
                </a:solidFill>
                <a:effectLst/>
                <a:uLnTx/>
                <a:uFillTx/>
                <a:latin typeface="FS Elliot Pro Light" panose="02000503040000020004" pitchFamily="2" charset="0"/>
                <a:ea typeface="+mj-ea"/>
                <a:cs typeface="+mj-cs"/>
              </a:rPr>
              <a:t> Overview</a:t>
            </a:r>
          </a:p>
        </p:txBody>
      </p:sp>
      <p:sp>
        <p:nvSpPr>
          <p:cNvPr id="45" name="Rectangle 44">
            <a:extLst>
              <a:ext uri="{FF2B5EF4-FFF2-40B4-BE49-F238E27FC236}">
                <a16:creationId xmlns:a16="http://schemas.microsoft.com/office/drawing/2014/main" id="{0614C2D3-3984-9CF4-AD6A-EB23EEB428E0}"/>
              </a:ext>
            </a:extLst>
          </p:cNvPr>
          <p:cNvSpPr/>
          <p:nvPr/>
        </p:nvSpPr>
        <p:spPr>
          <a:xfrm>
            <a:off x="394952" y="1219540"/>
            <a:ext cx="900448" cy="361309"/>
          </a:xfrm>
          <a:prstGeom prst="rect">
            <a:avLst/>
          </a:prstGeom>
          <a:no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 name="Rectangle 1">
            <a:extLst>
              <a:ext uri="{FF2B5EF4-FFF2-40B4-BE49-F238E27FC236}">
                <a16:creationId xmlns:a16="http://schemas.microsoft.com/office/drawing/2014/main" id="{877D60D9-02B1-3123-390C-237AF83DDAD0}"/>
              </a:ext>
            </a:extLst>
          </p:cNvPr>
          <p:cNvSpPr/>
          <p:nvPr/>
        </p:nvSpPr>
        <p:spPr>
          <a:xfrm>
            <a:off x="828961" y="782546"/>
            <a:ext cx="11130975" cy="323141"/>
          </a:xfrm>
          <a:prstGeom prst="rect">
            <a:avLst/>
          </a:prstGeom>
          <a:solidFill>
            <a:schemeClr val="tx2">
              <a:lumMod val="20000"/>
              <a:lumOff val="8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171450" indent="-115570">
              <a:buFont typeface="Wingdings" panose="05000000000000000000" pitchFamily="2" charset="2"/>
              <a:buChar char="ü"/>
            </a:pPr>
            <a:r>
              <a:rPr lang="en-US" sz="1100">
                <a:solidFill>
                  <a:schemeClr val="tx1"/>
                </a:solidFill>
              </a:rPr>
              <a:t>Quick view to understand the cost management overview , budgeting and forecasting.</a:t>
            </a:r>
          </a:p>
        </p:txBody>
      </p:sp>
      <p:grpSp>
        <p:nvGrpSpPr>
          <p:cNvPr id="3" name="Graphic 4">
            <a:extLst>
              <a:ext uri="{FF2B5EF4-FFF2-40B4-BE49-F238E27FC236}">
                <a16:creationId xmlns:a16="http://schemas.microsoft.com/office/drawing/2014/main" id="{E2BADC19-B858-D1FF-0B14-A253F18F17C2}"/>
              </a:ext>
            </a:extLst>
          </p:cNvPr>
          <p:cNvGrpSpPr>
            <a:grpSpLocks noChangeAspect="1"/>
          </p:cNvGrpSpPr>
          <p:nvPr/>
        </p:nvGrpSpPr>
        <p:grpSpPr>
          <a:xfrm>
            <a:off x="427888" y="696089"/>
            <a:ext cx="496522" cy="496054"/>
            <a:chOff x="1952125" y="1402723"/>
            <a:chExt cx="362313" cy="361971"/>
          </a:xfrm>
          <a:solidFill>
            <a:schemeClr val="tx2">
              <a:lumMod val="60000"/>
              <a:lumOff val="40000"/>
            </a:schemeClr>
          </a:solidFill>
        </p:grpSpPr>
        <p:sp>
          <p:nvSpPr>
            <p:cNvPr id="5" name="Graphic 4">
              <a:extLst>
                <a:ext uri="{FF2B5EF4-FFF2-40B4-BE49-F238E27FC236}">
                  <a16:creationId xmlns:a16="http://schemas.microsoft.com/office/drawing/2014/main" id="{0D852C54-044E-7932-C5B3-399A1A3D25FA}"/>
                </a:ext>
              </a:extLst>
            </p:cNvPr>
            <p:cNvSpPr/>
            <p:nvPr/>
          </p:nvSpPr>
          <p:spPr>
            <a:xfrm>
              <a:off x="2069061" y="1471670"/>
              <a:ext cx="126174" cy="158322"/>
            </a:xfrm>
            <a:custGeom>
              <a:avLst/>
              <a:gdLst>
                <a:gd name="connsiteX0" fmla="*/ 50481 w 126174"/>
                <a:gd name="connsiteY0" fmla="*/ 53626 h 158322"/>
                <a:gd name="connsiteX1" fmla="*/ 40896 w 126174"/>
                <a:gd name="connsiteY1" fmla="*/ 72139 h 158322"/>
                <a:gd name="connsiteX2" fmla="*/ 35145 w 126174"/>
                <a:gd name="connsiteY2" fmla="*/ 75969 h 158322"/>
                <a:gd name="connsiteX3" fmla="*/ 0 w 126174"/>
                <a:gd name="connsiteY3" fmla="*/ 105974 h 158322"/>
                <a:gd name="connsiteX4" fmla="*/ 32589 w 126174"/>
                <a:gd name="connsiteY4" fmla="*/ 121296 h 158322"/>
                <a:gd name="connsiteX5" fmla="*/ 36423 w 126174"/>
                <a:gd name="connsiteY5" fmla="*/ 128318 h 158322"/>
                <a:gd name="connsiteX6" fmla="*/ 46008 w 126174"/>
                <a:gd name="connsiteY6" fmla="*/ 151939 h 158322"/>
                <a:gd name="connsiteX7" fmla="*/ 68372 w 126174"/>
                <a:gd name="connsiteY7" fmla="*/ 144916 h 158322"/>
                <a:gd name="connsiteX8" fmla="*/ 73484 w 126174"/>
                <a:gd name="connsiteY8" fmla="*/ 142363 h 158322"/>
                <a:gd name="connsiteX9" fmla="*/ 76040 w 126174"/>
                <a:gd name="connsiteY9" fmla="*/ 143001 h 158322"/>
                <a:gd name="connsiteX10" fmla="*/ 108629 w 126174"/>
                <a:gd name="connsiteY10" fmla="*/ 158323 h 158322"/>
                <a:gd name="connsiteX11" fmla="*/ 111824 w 126174"/>
                <a:gd name="connsiteY11" fmla="*/ 110443 h 158322"/>
                <a:gd name="connsiteX12" fmla="*/ 111824 w 126174"/>
                <a:gd name="connsiteY12" fmla="*/ 104697 h 158322"/>
                <a:gd name="connsiteX13" fmla="*/ 118214 w 126174"/>
                <a:gd name="connsiteY13" fmla="*/ 0 h 158322"/>
                <a:gd name="connsiteX14" fmla="*/ 53676 w 126174"/>
                <a:gd name="connsiteY14" fmla="*/ 49795 h 158322"/>
                <a:gd name="connsiteX15" fmla="*/ 50481 w 126174"/>
                <a:gd name="connsiteY15" fmla="*/ 53626 h 158322"/>
                <a:gd name="connsiteX16" fmla="*/ 99683 w 126174"/>
                <a:gd name="connsiteY16" fmla="*/ 91929 h 158322"/>
                <a:gd name="connsiteX17" fmla="*/ 72206 w 126174"/>
                <a:gd name="connsiteY17" fmla="*/ 119381 h 158322"/>
                <a:gd name="connsiteX18" fmla="*/ 44730 w 126174"/>
                <a:gd name="connsiteY18" fmla="*/ 91929 h 158322"/>
                <a:gd name="connsiteX19" fmla="*/ 72206 w 126174"/>
                <a:gd name="connsiteY19" fmla="*/ 64478 h 158322"/>
                <a:gd name="connsiteX20" fmla="*/ 99683 w 126174"/>
                <a:gd name="connsiteY20" fmla="*/ 91929 h 158322"/>
                <a:gd name="connsiteX21" fmla="*/ 99683 w 126174"/>
                <a:gd name="connsiteY21" fmla="*/ 91929 h 158322"/>
                <a:gd name="connsiteX22" fmla="*/ 99683 w 126174"/>
                <a:gd name="connsiteY22" fmla="*/ 91929 h 158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6174" h="158322">
                  <a:moveTo>
                    <a:pt x="50481" y="53626"/>
                  </a:moveTo>
                  <a:cubicBezTo>
                    <a:pt x="46647" y="59371"/>
                    <a:pt x="44091" y="65755"/>
                    <a:pt x="40896" y="72139"/>
                  </a:cubicBezTo>
                  <a:cubicBezTo>
                    <a:pt x="39618" y="74693"/>
                    <a:pt x="37701" y="75969"/>
                    <a:pt x="35145" y="75969"/>
                  </a:cubicBezTo>
                  <a:cubicBezTo>
                    <a:pt x="17892" y="76608"/>
                    <a:pt x="3195" y="88737"/>
                    <a:pt x="0" y="105974"/>
                  </a:cubicBezTo>
                  <a:lnTo>
                    <a:pt x="32589" y="121296"/>
                  </a:lnTo>
                  <a:cubicBezTo>
                    <a:pt x="35145" y="122573"/>
                    <a:pt x="36423" y="125126"/>
                    <a:pt x="36423" y="128318"/>
                  </a:cubicBezTo>
                  <a:cubicBezTo>
                    <a:pt x="36423" y="128318"/>
                    <a:pt x="33867" y="146832"/>
                    <a:pt x="46008" y="151939"/>
                  </a:cubicBezTo>
                  <a:cubicBezTo>
                    <a:pt x="58148" y="157046"/>
                    <a:pt x="68372" y="145555"/>
                    <a:pt x="68372" y="144916"/>
                  </a:cubicBezTo>
                  <a:cubicBezTo>
                    <a:pt x="69650" y="143640"/>
                    <a:pt x="71567" y="142363"/>
                    <a:pt x="73484" y="142363"/>
                  </a:cubicBezTo>
                  <a:cubicBezTo>
                    <a:pt x="74123" y="142363"/>
                    <a:pt x="75401" y="142363"/>
                    <a:pt x="76040" y="143001"/>
                  </a:cubicBezTo>
                  <a:lnTo>
                    <a:pt x="108629" y="158323"/>
                  </a:lnTo>
                  <a:cubicBezTo>
                    <a:pt x="117575" y="143640"/>
                    <a:pt x="118853" y="125765"/>
                    <a:pt x="111824" y="110443"/>
                  </a:cubicBezTo>
                  <a:cubicBezTo>
                    <a:pt x="111185" y="108528"/>
                    <a:pt x="111185" y="106613"/>
                    <a:pt x="111824" y="104697"/>
                  </a:cubicBezTo>
                  <a:cubicBezTo>
                    <a:pt x="111824" y="104059"/>
                    <a:pt x="139301" y="49795"/>
                    <a:pt x="118214" y="0"/>
                  </a:cubicBezTo>
                  <a:cubicBezTo>
                    <a:pt x="106712" y="2554"/>
                    <a:pt x="77318" y="12130"/>
                    <a:pt x="53676" y="49795"/>
                  </a:cubicBezTo>
                  <a:cubicBezTo>
                    <a:pt x="52398" y="51710"/>
                    <a:pt x="51759" y="52987"/>
                    <a:pt x="50481" y="53626"/>
                  </a:cubicBezTo>
                  <a:close/>
                  <a:moveTo>
                    <a:pt x="99683" y="91929"/>
                  </a:moveTo>
                  <a:cubicBezTo>
                    <a:pt x="99683" y="107251"/>
                    <a:pt x="87542" y="119381"/>
                    <a:pt x="72206" y="119381"/>
                  </a:cubicBezTo>
                  <a:cubicBezTo>
                    <a:pt x="56871" y="119381"/>
                    <a:pt x="44730" y="107251"/>
                    <a:pt x="44730" y="91929"/>
                  </a:cubicBezTo>
                  <a:cubicBezTo>
                    <a:pt x="44730" y="76608"/>
                    <a:pt x="56871" y="64478"/>
                    <a:pt x="72206" y="64478"/>
                  </a:cubicBezTo>
                  <a:cubicBezTo>
                    <a:pt x="87542" y="65117"/>
                    <a:pt x="99683" y="77246"/>
                    <a:pt x="99683" y="91929"/>
                  </a:cubicBezTo>
                  <a:cubicBezTo>
                    <a:pt x="99683" y="92568"/>
                    <a:pt x="99683" y="92568"/>
                    <a:pt x="99683" y="91929"/>
                  </a:cubicBezTo>
                  <a:lnTo>
                    <a:pt x="99683" y="91929"/>
                  </a:lnTo>
                  <a:close/>
                </a:path>
              </a:pathLst>
            </a:custGeom>
            <a:grpFill/>
            <a:ln w="6390" cap="flat">
              <a:noFill/>
              <a:prstDash val="solid"/>
              <a:miter/>
            </a:ln>
          </p:spPr>
          <p:txBody>
            <a:bodyPr rtlCol="0" anchor="ctr"/>
            <a:lstStyle/>
            <a:p>
              <a:endParaRPr lang="en-US"/>
            </a:p>
          </p:txBody>
        </p:sp>
        <p:sp>
          <p:nvSpPr>
            <p:cNvPr id="7" name="Graphic 4">
              <a:extLst>
                <a:ext uri="{FF2B5EF4-FFF2-40B4-BE49-F238E27FC236}">
                  <a16:creationId xmlns:a16="http://schemas.microsoft.com/office/drawing/2014/main" id="{237D0B95-DE0A-EAD5-3533-8703057F348B}"/>
                </a:ext>
              </a:extLst>
            </p:cNvPr>
            <p:cNvSpPr/>
            <p:nvPr/>
          </p:nvSpPr>
          <p:spPr>
            <a:xfrm>
              <a:off x="2043501" y="1527211"/>
              <a:ext cx="180835" cy="126402"/>
            </a:xfrm>
            <a:custGeom>
              <a:avLst/>
              <a:gdLst>
                <a:gd name="connsiteX0" fmla="*/ 180835 w 180835"/>
                <a:gd name="connsiteY0" fmla="*/ 5746 h 126402"/>
                <a:gd name="connsiteX1" fmla="*/ 175084 w 180835"/>
                <a:gd name="connsiteY1" fmla="*/ 0 h 126402"/>
                <a:gd name="connsiteX2" fmla="*/ 175084 w 180835"/>
                <a:gd name="connsiteY2" fmla="*/ 0 h 126402"/>
                <a:gd name="connsiteX3" fmla="*/ 163582 w 180835"/>
                <a:gd name="connsiteY3" fmla="*/ 0 h 126402"/>
                <a:gd name="connsiteX4" fmla="*/ 149525 w 180835"/>
                <a:gd name="connsiteY4" fmla="*/ 52987 h 126402"/>
                <a:gd name="connsiteX5" fmla="*/ 140579 w 180835"/>
                <a:gd name="connsiteY5" fmla="*/ 115550 h 126402"/>
                <a:gd name="connsiteX6" fmla="*/ 135467 w 180835"/>
                <a:gd name="connsiteY6" fmla="*/ 118104 h 126402"/>
                <a:gd name="connsiteX7" fmla="*/ 132911 w 180835"/>
                <a:gd name="connsiteY7" fmla="*/ 117465 h 126402"/>
                <a:gd name="connsiteX8" fmla="*/ 99044 w 180835"/>
                <a:gd name="connsiteY8" fmla="*/ 101505 h 126402"/>
                <a:gd name="connsiteX9" fmla="*/ 65177 w 180835"/>
                <a:gd name="connsiteY9" fmla="*/ 108528 h 126402"/>
                <a:gd name="connsiteX10" fmla="*/ 47925 w 180835"/>
                <a:gd name="connsiteY10" fmla="*/ 75969 h 126402"/>
                <a:gd name="connsiteX11" fmla="*/ 14697 w 180835"/>
                <a:gd name="connsiteY11" fmla="*/ 60009 h 126402"/>
                <a:gd name="connsiteX12" fmla="*/ 11502 w 180835"/>
                <a:gd name="connsiteY12" fmla="*/ 52987 h 126402"/>
                <a:gd name="connsiteX13" fmla="*/ 56232 w 180835"/>
                <a:gd name="connsiteY13" fmla="*/ 8299 h 126402"/>
                <a:gd name="connsiteX14" fmla="*/ 60066 w 180835"/>
                <a:gd name="connsiteY14" fmla="*/ 0 h 126402"/>
                <a:gd name="connsiteX15" fmla="*/ 5751 w 180835"/>
                <a:gd name="connsiteY15" fmla="*/ 0 h 126402"/>
                <a:gd name="connsiteX16" fmla="*/ 0 w 180835"/>
                <a:gd name="connsiteY16" fmla="*/ 5746 h 126402"/>
                <a:gd name="connsiteX17" fmla="*/ 0 w 180835"/>
                <a:gd name="connsiteY17" fmla="*/ 5746 h 126402"/>
                <a:gd name="connsiteX18" fmla="*/ 0 w 180835"/>
                <a:gd name="connsiteY18" fmla="*/ 126403 h 126402"/>
                <a:gd name="connsiteX19" fmla="*/ 180835 w 180835"/>
                <a:gd name="connsiteY19" fmla="*/ 126403 h 126402"/>
                <a:gd name="connsiteX20" fmla="*/ 180835 w 180835"/>
                <a:gd name="connsiteY20" fmla="*/ 5746 h 12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80835" h="126402">
                  <a:moveTo>
                    <a:pt x="180835" y="5746"/>
                  </a:moveTo>
                  <a:cubicBezTo>
                    <a:pt x="180835" y="2554"/>
                    <a:pt x="178279" y="0"/>
                    <a:pt x="175084" y="0"/>
                  </a:cubicBezTo>
                  <a:lnTo>
                    <a:pt x="175084" y="0"/>
                  </a:lnTo>
                  <a:lnTo>
                    <a:pt x="163582" y="0"/>
                  </a:lnTo>
                  <a:cubicBezTo>
                    <a:pt x="161666" y="18514"/>
                    <a:pt x="157192" y="36389"/>
                    <a:pt x="149525" y="52987"/>
                  </a:cubicBezTo>
                  <a:cubicBezTo>
                    <a:pt x="157832" y="74054"/>
                    <a:pt x="154637" y="97675"/>
                    <a:pt x="140579" y="115550"/>
                  </a:cubicBezTo>
                  <a:cubicBezTo>
                    <a:pt x="139301" y="116827"/>
                    <a:pt x="137384" y="118104"/>
                    <a:pt x="135467" y="118104"/>
                  </a:cubicBezTo>
                  <a:cubicBezTo>
                    <a:pt x="134828" y="118104"/>
                    <a:pt x="133550" y="118104"/>
                    <a:pt x="132911" y="117465"/>
                  </a:cubicBezTo>
                  <a:lnTo>
                    <a:pt x="99044" y="101505"/>
                  </a:lnTo>
                  <a:cubicBezTo>
                    <a:pt x="90098" y="110443"/>
                    <a:pt x="76679" y="112996"/>
                    <a:pt x="65177" y="108528"/>
                  </a:cubicBezTo>
                  <a:cubicBezTo>
                    <a:pt x="49203" y="100867"/>
                    <a:pt x="47286" y="84269"/>
                    <a:pt x="47925" y="75969"/>
                  </a:cubicBezTo>
                  <a:lnTo>
                    <a:pt x="14697" y="60009"/>
                  </a:lnTo>
                  <a:cubicBezTo>
                    <a:pt x="12141" y="58733"/>
                    <a:pt x="10863" y="56179"/>
                    <a:pt x="11502" y="52987"/>
                  </a:cubicBezTo>
                  <a:cubicBezTo>
                    <a:pt x="17892" y="20429"/>
                    <a:pt x="41535" y="9576"/>
                    <a:pt x="56232" y="8299"/>
                  </a:cubicBezTo>
                  <a:cubicBezTo>
                    <a:pt x="57509" y="5746"/>
                    <a:pt x="58788" y="2554"/>
                    <a:pt x="60066" y="0"/>
                  </a:cubicBezTo>
                  <a:lnTo>
                    <a:pt x="5751" y="0"/>
                  </a:lnTo>
                  <a:cubicBezTo>
                    <a:pt x="2556" y="0"/>
                    <a:pt x="0" y="2554"/>
                    <a:pt x="0" y="5746"/>
                  </a:cubicBezTo>
                  <a:lnTo>
                    <a:pt x="0" y="5746"/>
                  </a:lnTo>
                  <a:lnTo>
                    <a:pt x="0" y="126403"/>
                  </a:lnTo>
                  <a:lnTo>
                    <a:pt x="180835" y="126403"/>
                  </a:lnTo>
                  <a:lnTo>
                    <a:pt x="180835" y="5746"/>
                  </a:lnTo>
                  <a:close/>
                </a:path>
              </a:pathLst>
            </a:custGeom>
            <a:grpFill/>
            <a:ln w="6390" cap="flat">
              <a:noFill/>
              <a:prstDash val="solid"/>
              <a:miter/>
            </a:ln>
          </p:spPr>
          <p:txBody>
            <a:bodyPr rtlCol="0" anchor="ctr"/>
            <a:lstStyle/>
            <a:p>
              <a:endParaRPr lang="en-US"/>
            </a:p>
          </p:txBody>
        </p:sp>
        <p:sp>
          <p:nvSpPr>
            <p:cNvPr id="8" name="Graphic 4">
              <a:extLst>
                <a:ext uri="{FF2B5EF4-FFF2-40B4-BE49-F238E27FC236}">
                  <a16:creationId xmlns:a16="http://schemas.microsoft.com/office/drawing/2014/main" id="{8D9F2DAC-F83B-28E1-038D-1CE1777316D4}"/>
                </a:ext>
              </a:extLst>
            </p:cNvPr>
            <p:cNvSpPr/>
            <p:nvPr/>
          </p:nvSpPr>
          <p:spPr>
            <a:xfrm>
              <a:off x="2126570" y="1549555"/>
              <a:ext cx="29393" cy="29366"/>
            </a:xfrm>
            <a:custGeom>
              <a:avLst/>
              <a:gdLst>
                <a:gd name="connsiteX0" fmla="*/ 14697 w 29393"/>
                <a:gd name="connsiteY0" fmla="*/ 29366 h 29366"/>
                <a:gd name="connsiteX1" fmla="*/ 29394 w 29393"/>
                <a:gd name="connsiteY1" fmla="*/ 14683 h 29366"/>
                <a:gd name="connsiteX2" fmla="*/ 14697 w 29393"/>
                <a:gd name="connsiteY2" fmla="*/ 0 h 29366"/>
                <a:gd name="connsiteX3" fmla="*/ 0 w 29393"/>
                <a:gd name="connsiteY3" fmla="*/ 14683 h 29366"/>
                <a:gd name="connsiteX4" fmla="*/ 14697 w 29393"/>
                <a:gd name="connsiteY4" fmla="*/ 29366 h 29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93" h="29366">
                  <a:moveTo>
                    <a:pt x="14697" y="29366"/>
                  </a:moveTo>
                  <a:cubicBezTo>
                    <a:pt x="23004" y="29366"/>
                    <a:pt x="29394" y="22982"/>
                    <a:pt x="29394" y="14683"/>
                  </a:cubicBezTo>
                  <a:cubicBezTo>
                    <a:pt x="29394" y="6384"/>
                    <a:pt x="23004" y="0"/>
                    <a:pt x="14697" y="0"/>
                  </a:cubicBezTo>
                  <a:cubicBezTo>
                    <a:pt x="6390" y="0"/>
                    <a:pt x="0" y="6384"/>
                    <a:pt x="0" y="14683"/>
                  </a:cubicBezTo>
                  <a:cubicBezTo>
                    <a:pt x="0" y="22982"/>
                    <a:pt x="6390" y="29366"/>
                    <a:pt x="14697" y="29366"/>
                  </a:cubicBezTo>
                  <a:close/>
                </a:path>
              </a:pathLst>
            </a:custGeom>
            <a:grpFill/>
            <a:ln w="6390" cap="flat">
              <a:noFill/>
              <a:prstDash val="solid"/>
              <a:miter/>
            </a:ln>
          </p:spPr>
          <p:txBody>
            <a:bodyPr rtlCol="0" anchor="ctr"/>
            <a:lstStyle/>
            <a:p>
              <a:endParaRPr lang="en-US"/>
            </a:p>
          </p:txBody>
        </p:sp>
        <p:sp>
          <p:nvSpPr>
            <p:cNvPr id="9" name="Graphic 4">
              <a:extLst>
                <a:ext uri="{FF2B5EF4-FFF2-40B4-BE49-F238E27FC236}">
                  <a16:creationId xmlns:a16="http://schemas.microsoft.com/office/drawing/2014/main" id="{2387E020-5804-E5FB-48C9-F70A8CE06A15}"/>
                </a:ext>
              </a:extLst>
            </p:cNvPr>
            <p:cNvSpPr/>
            <p:nvPr/>
          </p:nvSpPr>
          <p:spPr>
            <a:xfrm>
              <a:off x="2033278" y="1666381"/>
              <a:ext cx="201283" cy="3191"/>
            </a:xfrm>
            <a:custGeom>
              <a:avLst/>
              <a:gdLst>
                <a:gd name="connsiteX0" fmla="*/ 3834 w 201283"/>
                <a:gd name="connsiteY0" fmla="*/ 0 h 3191"/>
                <a:gd name="connsiteX1" fmla="*/ 0 w 201283"/>
                <a:gd name="connsiteY1" fmla="*/ 0 h 3191"/>
                <a:gd name="connsiteX2" fmla="*/ 7029 w 201283"/>
                <a:gd name="connsiteY2" fmla="*/ 3192 h 3191"/>
                <a:gd name="connsiteX3" fmla="*/ 194254 w 201283"/>
                <a:gd name="connsiteY3" fmla="*/ 3192 h 3191"/>
                <a:gd name="connsiteX4" fmla="*/ 201283 w 201283"/>
                <a:gd name="connsiteY4" fmla="*/ 0 h 3191"/>
                <a:gd name="connsiteX5" fmla="*/ 3834 w 201283"/>
                <a:gd name="connsiteY5" fmla="*/ 0 h 3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1283" h="3191">
                  <a:moveTo>
                    <a:pt x="3834" y="0"/>
                  </a:moveTo>
                  <a:lnTo>
                    <a:pt x="0" y="0"/>
                  </a:lnTo>
                  <a:cubicBezTo>
                    <a:pt x="1917" y="1915"/>
                    <a:pt x="4473" y="3192"/>
                    <a:pt x="7029" y="3192"/>
                  </a:cubicBezTo>
                  <a:lnTo>
                    <a:pt x="194254" y="3192"/>
                  </a:lnTo>
                  <a:cubicBezTo>
                    <a:pt x="196810" y="3192"/>
                    <a:pt x="199366" y="1915"/>
                    <a:pt x="201283" y="0"/>
                  </a:cubicBezTo>
                  <a:lnTo>
                    <a:pt x="3834" y="0"/>
                  </a:lnTo>
                  <a:close/>
                </a:path>
              </a:pathLst>
            </a:custGeom>
            <a:grpFill/>
            <a:ln w="6390" cap="flat">
              <a:noFill/>
              <a:prstDash val="solid"/>
              <a:miter/>
            </a:ln>
          </p:spPr>
          <p:txBody>
            <a:bodyPr rtlCol="0" anchor="ctr"/>
            <a:lstStyle/>
            <a:p>
              <a:endParaRPr lang="en-US"/>
            </a:p>
          </p:txBody>
        </p:sp>
        <p:sp>
          <p:nvSpPr>
            <p:cNvPr id="10" name="Graphic 4">
              <a:extLst>
                <a:ext uri="{FF2B5EF4-FFF2-40B4-BE49-F238E27FC236}">
                  <a16:creationId xmlns:a16="http://schemas.microsoft.com/office/drawing/2014/main" id="{B0B8EF6C-002B-A5C7-4FCE-80D2227CB1CA}"/>
                </a:ext>
              </a:extLst>
            </p:cNvPr>
            <p:cNvSpPr/>
            <p:nvPr/>
          </p:nvSpPr>
          <p:spPr>
            <a:xfrm>
              <a:off x="1952125" y="1402723"/>
              <a:ext cx="362313" cy="361971"/>
            </a:xfrm>
            <a:custGeom>
              <a:avLst/>
              <a:gdLst>
                <a:gd name="connsiteX0" fmla="*/ 181474 w 362313"/>
                <a:gd name="connsiteY0" fmla="*/ 0 h 361971"/>
                <a:gd name="connsiteX1" fmla="*/ 0 w 362313"/>
                <a:gd name="connsiteY1" fmla="*/ 180667 h 361971"/>
                <a:gd name="connsiteX2" fmla="*/ 180835 w 362313"/>
                <a:gd name="connsiteY2" fmla="*/ 361972 h 361971"/>
                <a:gd name="connsiteX3" fmla="*/ 362310 w 362313"/>
                <a:gd name="connsiteY3" fmla="*/ 181305 h 361971"/>
                <a:gd name="connsiteX4" fmla="*/ 362310 w 362313"/>
                <a:gd name="connsiteY4" fmla="*/ 181305 h 361971"/>
                <a:gd name="connsiteX5" fmla="*/ 181474 w 362313"/>
                <a:gd name="connsiteY5" fmla="*/ 0 h 361971"/>
                <a:gd name="connsiteX6" fmla="*/ 275406 w 362313"/>
                <a:gd name="connsiteY6" fmla="*/ 279618 h 361971"/>
                <a:gd name="connsiteX7" fmla="*/ 88181 w 362313"/>
                <a:gd name="connsiteY7" fmla="*/ 279618 h 361971"/>
                <a:gd name="connsiteX8" fmla="*/ 65816 w 362313"/>
                <a:gd name="connsiteY8" fmla="*/ 257274 h 361971"/>
                <a:gd name="connsiteX9" fmla="*/ 72206 w 362313"/>
                <a:gd name="connsiteY9" fmla="*/ 250890 h 361971"/>
                <a:gd name="connsiteX10" fmla="*/ 78596 w 362313"/>
                <a:gd name="connsiteY10" fmla="*/ 250890 h 361971"/>
                <a:gd name="connsiteX11" fmla="*/ 78596 w 362313"/>
                <a:gd name="connsiteY11" fmla="*/ 130233 h 361971"/>
                <a:gd name="connsiteX12" fmla="*/ 97127 w 362313"/>
                <a:gd name="connsiteY12" fmla="*/ 111720 h 361971"/>
                <a:gd name="connsiteX13" fmla="*/ 97127 w 362313"/>
                <a:gd name="connsiteY13" fmla="*/ 111720 h 361971"/>
                <a:gd name="connsiteX14" fmla="*/ 159109 w 362313"/>
                <a:gd name="connsiteY14" fmla="*/ 111720 h 361971"/>
                <a:gd name="connsiteX15" fmla="*/ 237067 w 362313"/>
                <a:gd name="connsiteY15" fmla="*/ 56817 h 361971"/>
                <a:gd name="connsiteX16" fmla="*/ 243457 w 362313"/>
                <a:gd name="connsiteY16" fmla="*/ 60648 h 361971"/>
                <a:gd name="connsiteX17" fmla="*/ 254958 w 362313"/>
                <a:gd name="connsiteY17" fmla="*/ 112358 h 361971"/>
                <a:gd name="connsiteX18" fmla="*/ 265821 w 362313"/>
                <a:gd name="connsiteY18" fmla="*/ 112358 h 361971"/>
                <a:gd name="connsiteX19" fmla="*/ 284352 w 362313"/>
                <a:gd name="connsiteY19" fmla="*/ 130872 h 361971"/>
                <a:gd name="connsiteX20" fmla="*/ 284352 w 362313"/>
                <a:gd name="connsiteY20" fmla="*/ 130872 h 361971"/>
                <a:gd name="connsiteX21" fmla="*/ 284352 w 362313"/>
                <a:gd name="connsiteY21" fmla="*/ 251529 h 361971"/>
                <a:gd name="connsiteX22" fmla="*/ 290742 w 362313"/>
                <a:gd name="connsiteY22" fmla="*/ 251529 h 361971"/>
                <a:gd name="connsiteX23" fmla="*/ 297132 w 362313"/>
                <a:gd name="connsiteY23" fmla="*/ 257913 h 361971"/>
                <a:gd name="connsiteX24" fmla="*/ 275406 w 362313"/>
                <a:gd name="connsiteY24" fmla="*/ 279618 h 361971"/>
                <a:gd name="connsiteX25" fmla="*/ 275406 w 362313"/>
                <a:gd name="connsiteY25" fmla="*/ 279618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62313" h="361971">
                  <a:moveTo>
                    <a:pt x="181474" y="0"/>
                  </a:moveTo>
                  <a:cubicBezTo>
                    <a:pt x="81152" y="0"/>
                    <a:pt x="0" y="81077"/>
                    <a:pt x="0" y="180667"/>
                  </a:cubicBezTo>
                  <a:cubicBezTo>
                    <a:pt x="0" y="280895"/>
                    <a:pt x="81152" y="361972"/>
                    <a:pt x="180835" y="361972"/>
                  </a:cubicBezTo>
                  <a:cubicBezTo>
                    <a:pt x="281157" y="361972"/>
                    <a:pt x="362310" y="280895"/>
                    <a:pt x="362310" y="181305"/>
                  </a:cubicBezTo>
                  <a:cubicBezTo>
                    <a:pt x="362310" y="181305"/>
                    <a:pt x="362310" y="181305"/>
                    <a:pt x="362310" y="181305"/>
                  </a:cubicBezTo>
                  <a:cubicBezTo>
                    <a:pt x="362948" y="80438"/>
                    <a:pt x="281796" y="0"/>
                    <a:pt x="181474" y="0"/>
                  </a:cubicBezTo>
                  <a:close/>
                  <a:moveTo>
                    <a:pt x="275406" y="279618"/>
                  </a:moveTo>
                  <a:lnTo>
                    <a:pt x="88181" y="279618"/>
                  </a:lnTo>
                  <a:cubicBezTo>
                    <a:pt x="76040" y="279618"/>
                    <a:pt x="65816" y="269404"/>
                    <a:pt x="65816" y="257274"/>
                  </a:cubicBezTo>
                  <a:cubicBezTo>
                    <a:pt x="65816" y="253444"/>
                    <a:pt x="68372" y="250890"/>
                    <a:pt x="72206" y="250890"/>
                  </a:cubicBezTo>
                  <a:lnTo>
                    <a:pt x="78596" y="250890"/>
                  </a:lnTo>
                  <a:lnTo>
                    <a:pt x="78596" y="130233"/>
                  </a:lnTo>
                  <a:cubicBezTo>
                    <a:pt x="78596" y="120019"/>
                    <a:pt x="86903" y="111720"/>
                    <a:pt x="97127" y="111720"/>
                  </a:cubicBezTo>
                  <a:lnTo>
                    <a:pt x="97127" y="111720"/>
                  </a:lnTo>
                  <a:lnTo>
                    <a:pt x="159109" y="111720"/>
                  </a:lnTo>
                  <a:cubicBezTo>
                    <a:pt x="191698" y="61286"/>
                    <a:pt x="235150" y="56817"/>
                    <a:pt x="237067" y="56817"/>
                  </a:cubicBezTo>
                  <a:cubicBezTo>
                    <a:pt x="239623" y="56817"/>
                    <a:pt x="242179" y="58094"/>
                    <a:pt x="243457" y="60648"/>
                  </a:cubicBezTo>
                  <a:cubicBezTo>
                    <a:pt x="251124" y="76608"/>
                    <a:pt x="254958" y="94483"/>
                    <a:pt x="254958" y="112358"/>
                  </a:cubicBezTo>
                  <a:lnTo>
                    <a:pt x="265821" y="112358"/>
                  </a:lnTo>
                  <a:cubicBezTo>
                    <a:pt x="276045" y="112358"/>
                    <a:pt x="284352" y="120657"/>
                    <a:pt x="284352" y="130872"/>
                  </a:cubicBezTo>
                  <a:lnTo>
                    <a:pt x="284352" y="130872"/>
                  </a:lnTo>
                  <a:lnTo>
                    <a:pt x="284352" y="251529"/>
                  </a:lnTo>
                  <a:lnTo>
                    <a:pt x="290742" y="251529"/>
                  </a:lnTo>
                  <a:cubicBezTo>
                    <a:pt x="294576" y="251529"/>
                    <a:pt x="297132" y="254082"/>
                    <a:pt x="297132" y="257913"/>
                  </a:cubicBezTo>
                  <a:cubicBezTo>
                    <a:pt x="297771" y="269404"/>
                    <a:pt x="287547" y="278980"/>
                    <a:pt x="275406" y="279618"/>
                  </a:cubicBezTo>
                  <a:lnTo>
                    <a:pt x="275406" y="279618"/>
                  </a:lnTo>
                  <a:close/>
                </a:path>
              </a:pathLst>
            </a:custGeom>
            <a:grpFill/>
            <a:ln w="6390" cap="flat">
              <a:noFill/>
              <a:prstDash val="solid"/>
              <a:miter/>
            </a:ln>
          </p:spPr>
          <p:txBody>
            <a:bodyPr rtlCol="0" anchor="ctr"/>
            <a:lstStyle/>
            <a:p>
              <a:endParaRPr lang="en-US"/>
            </a:p>
          </p:txBody>
        </p:sp>
      </p:grpSp>
      <p:sp>
        <p:nvSpPr>
          <p:cNvPr id="18" name="Callout: Line 17">
            <a:extLst>
              <a:ext uri="{FF2B5EF4-FFF2-40B4-BE49-F238E27FC236}">
                <a16:creationId xmlns:a16="http://schemas.microsoft.com/office/drawing/2014/main" id="{E2B40CC3-3C41-B3BF-921B-C47A68F40FE8}"/>
              </a:ext>
            </a:extLst>
          </p:cNvPr>
          <p:cNvSpPr/>
          <p:nvPr/>
        </p:nvSpPr>
        <p:spPr>
          <a:xfrm>
            <a:off x="10662556" y="2013146"/>
            <a:ext cx="420624" cy="236766"/>
          </a:xfrm>
          <a:prstGeom prst="borderCallout1">
            <a:avLst>
              <a:gd name="adj1" fmla="val 18750"/>
              <a:gd name="adj2" fmla="val -8333"/>
              <a:gd name="adj3" fmla="val 174569"/>
              <a:gd name="adj4" fmla="val -146026"/>
            </a:avLst>
          </a:prstGeom>
          <a:solidFill>
            <a:schemeClr val="bg1"/>
          </a:solidFill>
          <a:ln>
            <a:solidFill>
              <a:schemeClr val="bg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1</a:t>
            </a:r>
          </a:p>
        </p:txBody>
      </p:sp>
      <p:sp>
        <p:nvSpPr>
          <p:cNvPr id="19" name="Callout: Line 18">
            <a:extLst>
              <a:ext uri="{FF2B5EF4-FFF2-40B4-BE49-F238E27FC236}">
                <a16:creationId xmlns:a16="http://schemas.microsoft.com/office/drawing/2014/main" id="{36124442-D6FA-A179-FEA0-A6FFA70D2C8B}"/>
              </a:ext>
            </a:extLst>
          </p:cNvPr>
          <p:cNvSpPr/>
          <p:nvPr/>
        </p:nvSpPr>
        <p:spPr>
          <a:xfrm>
            <a:off x="10662556" y="3429000"/>
            <a:ext cx="420624" cy="236766"/>
          </a:xfrm>
          <a:prstGeom prst="borderCallout1">
            <a:avLst>
              <a:gd name="adj1" fmla="val 18750"/>
              <a:gd name="adj2" fmla="val -8333"/>
              <a:gd name="adj3" fmla="val 174569"/>
              <a:gd name="adj4" fmla="val -146026"/>
            </a:avLst>
          </a:prstGeom>
          <a:solidFill>
            <a:schemeClr val="bg1"/>
          </a:solidFill>
          <a:ln>
            <a:solidFill>
              <a:schemeClr val="bg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3</a:t>
            </a:r>
          </a:p>
        </p:txBody>
      </p:sp>
      <p:sp>
        <p:nvSpPr>
          <p:cNvPr id="21" name="Callout: Line 20">
            <a:extLst>
              <a:ext uri="{FF2B5EF4-FFF2-40B4-BE49-F238E27FC236}">
                <a16:creationId xmlns:a16="http://schemas.microsoft.com/office/drawing/2014/main" id="{267B2B3A-8CBA-3375-4280-A0EE6D2ED9CF}"/>
              </a:ext>
            </a:extLst>
          </p:cNvPr>
          <p:cNvSpPr/>
          <p:nvPr/>
        </p:nvSpPr>
        <p:spPr>
          <a:xfrm>
            <a:off x="10662556" y="5050972"/>
            <a:ext cx="424542" cy="236766"/>
          </a:xfrm>
          <a:prstGeom prst="borderCallout1">
            <a:avLst>
              <a:gd name="adj1" fmla="val 18750"/>
              <a:gd name="adj2" fmla="val -8333"/>
              <a:gd name="adj3" fmla="val 174569"/>
              <a:gd name="adj4" fmla="val -146026"/>
            </a:avLst>
          </a:prstGeom>
          <a:solidFill>
            <a:schemeClr val="bg1"/>
          </a:solidFill>
          <a:ln>
            <a:solidFill>
              <a:schemeClr val="bg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4</a:t>
            </a:r>
          </a:p>
        </p:txBody>
      </p:sp>
      <p:sp>
        <p:nvSpPr>
          <p:cNvPr id="24" name="Callout: Line 23">
            <a:extLst>
              <a:ext uri="{FF2B5EF4-FFF2-40B4-BE49-F238E27FC236}">
                <a16:creationId xmlns:a16="http://schemas.microsoft.com/office/drawing/2014/main" id="{2AA94136-8AD1-0AF8-C8A5-D4AC1B2C1214}"/>
              </a:ext>
            </a:extLst>
          </p:cNvPr>
          <p:cNvSpPr/>
          <p:nvPr/>
        </p:nvSpPr>
        <p:spPr>
          <a:xfrm flipH="1">
            <a:off x="1109580" y="3103265"/>
            <a:ext cx="420624" cy="236766"/>
          </a:xfrm>
          <a:prstGeom prst="borderCallout1">
            <a:avLst>
              <a:gd name="adj1" fmla="val 18750"/>
              <a:gd name="adj2" fmla="val -8333"/>
              <a:gd name="adj3" fmla="val 174569"/>
              <a:gd name="adj4" fmla="val -146026"/>
            </a:avLst>
          </a:prstGeom>
          <a:solidFill>
            <a:schemeClr val="bg1"/>
          </a:solidFill>
          <a:ln>
            <a:solidFill>
              <a:schemeClr val="bg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a:solidFill>
                  <a:schemeClr val="tx1"/>
                </a:solidFill>
              </a:rPr>
              <a:t>2</a:t>
            </a:r>
          </a:p>
        </p:txBody>
      </p:sp>
      <p:pic>
        <p:nvPicPr>
          <p:cNvPr id="6" name="Picture 5">
            <a:extLst>
              <a:ext uri="{FF2B5EF4-FFF2-40B4-BE49-F238E27FC236}">
                <a16:creationId xmlns:a16="http://schemas.microsoft.com/office/drawing/2014/main" id="{1DE9BEAD-707C-AFBF-0469-CB49607967D7}"/>
              </a:ext>
            </a:extLst>
          </p:cNvPr>
          <p:cNvPicPr>
            <a:picLocks/>
          </p:cNvPicPr>
          <p:nvPr/>
        </p:nvPicPr>
        <p:blipFill>
          <a:blip r:embed="rId3"/>
          <a:stretch>
            <a:fillRect/>
          </a:stretch>
        </p:blipFill>
        <p:spPr>
          <a:xfrm>
            <a:off x="2164080" y="1216152"/>
            <a:ext cx="7863840" cy="5394960"/>
          </a:xfrm>
          <a:prstGeom prst="rect">
            <a:avLst/>
          </a:prstGeom>
          <a:ln>
            <a:solidFill>
              <a:schemeClr val="bg1">
                <a:lumMod val="75000"/>
              </a:schemeClr>
            </a:solidFill>
          </a:ln>
        </p:spPr>
      </p:pic>
    </p:spTree>
    <p:extLst>
      <p:ext uri="{BB962C8B-B14F-4D97-AF65-F5344CB8AC3E}">
        <p14:creationId xmlns:p14="http://schemas.microsoft.com/office/powerpoint/2010/main" val="7132762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65EDF-7A28-3FCE-F57F-10AC0BC9306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D640AB4-66C5-CB48-9D11-7A637FF14B3E}"/>
              </a:ext>
            </a:extLst>
          </p:cNvPr>
          <p:cNvSpPr txBox="1">
            <a:spLocks/>
          </p:cNvSpPr>
          <p:nvPr/>
        </p:nvSpPr>
        <p:spPr>
          <a:xfrm>
            <a:off x="284550" y="216713"/>
            <a:ext cx="11904087" cy="509780"/>
          </a:xfrm>
          <a:prstGeom prst="rect">
            <a:avLst/>
          </a:prstGeom>
        </p:spPr>
        <p:txBody>
          <a:bodyPr/>
          <a:lstStyle>
            <a:lvl1pPr algn="l" defTabSz="914400" rtl="0" eaLnBrk="1" latinLnBrk="0" hangingPunct="1">
              <a:lnSpc>
                <a:spcPct val="100000"/>
              </a:lnSpc>
              <a:spcBef>
                <a:spcPct val="0"/>
              </a:spcBef>
              <a:buNone/>
              <a:defRPr sz="3400" b="0" i="0" kern="1200">
                <a:solidFill>
                  <a:srgbClr val="0076CF"/>
                </a:solidFill>
                <a:latin typeface="FS Elliot Pro Light" panose="02000503040000020004" pitchFamily="2"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a:ln>
                  <a:noFill/>
                </a:ln>
                <a:solidFill>
                  <a:srgbClr val="0076CF"/>
                </a:solidFill>
                <a:effectLst/>
                <a:uLnTx/>
                <a:uFillTx/>
                <a:latin typeface="FS Elliot Pro Light" panose="02000503040000020004" pitchFamily="2" charset="0"/>
                <a:ea typeface="+mj-ea"/>
                <a:cs typeface="+mj-cs"/>
              </a:rPr>
              <a:t>Cost Management </a:t>
            </a:r>
            <a:r>
              <a:rPr lang="en-US" sz="3200">
                <a:latin typeface="FS Elliot Pro Light"/>
              </a:rPr>
              <a:t>–</a:t>
            </a:r>
            <a:r>
              <a:rPr kumimoji="0" lang="en-US" sz="3200" b="0" i="0" u="none" strike="noStrike" kern="1200" cap="none" spc="0" normalizeH="0" baseline="0" noProof="0">
                <a:ln>
                  <a:noFill/>
                </a:ln>
                <a:solidFill>
                  <a:srgbClr val="0076CF"/>
                </a:solidFill>
                <a:effectLst/>
                <a:uLnTx/>
                <a:uFillTx/>
                <a:latin typeface="FS Elliot Pro Light" panose="02000503040000020004" pitchFamily="2" charset="0"/>
                <a:ea typeface="+mj-ea"/>
                <a:cs typeface="+mj-cs"/>
              </a:rPr>
              <a:t> Overview page summary</a:t>
            </a:r>
          </a:p>
        </p:txBody>
      </p:sp>
      <p:graphicFrame>
        <p:nvGraphicFramePr>
          <p:cNvPr id="6" name="Table 5">
            <a:extLst>
              <a:ext uri="{FF2B5EF4-FFF2-40B4-BE49-F238E27FC236}">
                <a16:creationId xmlns:a16="http://schemas.microsoft.com/office/drawing/2014/main" id="{CE04433B-2DFB-0367-3635-7C531A2E57C5}"/>
              </a:ext>
            </a:extLst>
          </p:cNvPr>
          <p:cNvGraphicFramePr>
            <a:graphicFrameLocks noGrp="1"/>
          </p:cNvGraphicFramePr>
          <p:nvPr>
            <p:extLst>
              <p:ext uri="{D42A27DB-BD31-4B8C-83A1-F6EECF244321}">
                <p14:modId xmlns:p14="http://schemas.microsoft.com/office/powerpoint/2010/main" val="1903589873"/>
              </p:ext>
            </p:extLst>
          </p:nvPr>
        </p:nvGraphicFramePr>
        <p:xfrm>
          <a:off x="394855" y="931959"/>
          <a:ext cx="11430000" cy="4835541"/>
        </p:xfrm>
        <a:graphic>
          <a:graphicData uri="http://schemas.openxmlformats.org/drawingml/2006/table">
            <a:tbl>
              <a:tblPr firstRow="1" bandRow="1">
                <a:tableStyleId>{5C22544A-7EE6-4342-B048-85BDC9FD1C3A}</a:tableStyleId>
              </a:tblPr>
              <a:tblGrid>
                <a:gridCol w="449322">
                  <a:extLst>
                    <a:ext uri="{9D8B030D-6E8A-4147-A177-3AD203B41FA5}">
                      <a16:colId xmlns:a16="http://schemas.microsoft.com/office/drawing/2014/main" val="1227872876"/>
                    </a:ext>
                  </a:extLst>
                </a:gridCol>
                <a:gridCol w="1179932">
                  <a:extLst>
                    <a:ext uri="{9D8B030D-6E8A-4147-A177-3AD203B41FA5}">
                      <a16:colId xmlns:a16="http://schemas.microsoft.com/office/drawing/2014/main" val="3573294361"/>
                    </a:ext>
                  </a:extLst>
                </a:gridCol>
                <a:gridCol w="807868">
                  <a:extLst>
                    <a:ext uri="{9D8B030D-6E8A-4147-A177-3AD203B41FA5}">
                      <a16:colId xmlns:a16="http://schemas.microsoft.com/office/drawing/2014/main" val="684506535"/>
                    </a:ext>
                  </a:extLst>
                </a:gridCol>
                <a:gridCol w="1327901">
                  <a:extLst>
                    <a:ext uri="{9D8B030D-6E8A-4147-A177-3AD203B41FA5}">
                      <a16:colId xmlns:a16="http://schemas.microsoft.com/office/drawing/2014/main" val="2881509476"/>
                    </a:ext>
                  </a:extLst>
                </a:gridCol>
                <a:gridCol w="4753303">
                  <a:extLst>
                    <a:ext uri="{9D8B030D-6E8A-4147-A177-3AD203B41FA5}">
                      <a16:colId xmlns:a16="http://schemas.microsoft.com/office/drawing/2014/main" val="3389198070"/>
                    </a:ext>
                  </a:extLst>
                </a:gridCol>
                <a:gridCol w="1651246">
                  <a:extLst>
                    <a:ext uri="{9D8B030D-6E8A-4147-A177-3AD203B41FA5}">
                      <a16:colId xmlns:a16="http://schemas.microsoft.com/office/drawing/2014/main" val="1391104289"/>
                    </a:ext>
                  </a:extLst>
                </a:gridCol>
                <a:gridCol w="1260428">
                  <a:extLst>
                    <a:ext uri="{9D8B030D-6E8A-4147-A177-3AD203B41FA5}">
                      <a16:colId xmlns:a16="http://schemas.microsoft.com/office/drawing/2014/main" val="4206051783"/>
                    </a:ext>
                  </a:extLst>
                </a:gridCol>
              </a:tblGrid>
              <a:tr h="640080">
                <a:tc>
                  <a:txBody>
                    <a:bodyPr/>
                    <a:lstStyle/>
                    <a:p>
                      <a:pPr algn="ctr"/>
                      <a:r>
                        <a:rPr lang="en-US" sz="1100">
                          <a:latin typeface="+mj-lt"/>
                        </a:rPr>
                        <a:t>#</a:t>
                      </a:r>
                    </a:p>
                  </a:txBody>
                  <a:tcPr anchor="ctr">
                    <a:solidFill>
                      <a:srgbClr val="338DCD"/>
                    </a:solidFill>
                  </a:tcPr>
                </a:tc>
                <a:tc>
                  <a:txBody>
                    <a:bodyPr/>
                    <a:lstStyle/>
                    <a:p>
                      <a:pPr algn="ctr"/>
                      <a:r>
                        <a:rPr lang="en-US" sz="1100">
                          <a:latin typeface="+mj-lt"/>
                        </a:rPr>
                        <a:t>Category</a:t>
                      </a:r>
                    </a:p>
                  </a:txBody>
                  <a:tcPr anchor="ctr">
                    <a:solidFill>
                      <a:srgbClr val="338DCD"/>
                    </a:solidFill>
                  </a:tcPr>
                </a:tc>
                <a:tc>
                  <a:txBody>
                    <a:bodyPr/>
                    <a:lstStyle/>
                    <a:p>
                      <a:pPr algn="ctr"/>
                      <a:r>
                        <a:rPr lang="en-US" sz="1100">
                          <a:latin typeface="+mj-lt"/>
                        </a:rPr>
                        <a:t>Category Priority</a:t>
                      </a:r>
                    </a:p>
                  </a:txBody>
                  <a:tcPr anchor="ctr">
                    <a:solidFill>
                      <a:srgbClr val="338DCD"/>
                    </a:solidFill>
                  </a:tcPr>
                </a:tc>
                <a:tc>
                  <a:txBody>
                    <a:bodyPr/>
                    <a:lstStyle/>
                    <a:p>
                      <a:pPr algn="ctr"/>
                      <a:r>
                        <a:rPr lang="en-US" sz="1100">
                          <a:latin typeface="+mj-lt"/>
                        </a:rPr>
                        <a:t>Chart type</a:t>
                      </a:r>
                    </a:p>
                  </a:txBody>
                  <a:tcPr anchor="ctr">
                    <a:solidFill>
                      <a:srgbClr val="338DCD"/>
                    </a:solidFill>
                  </a:tcPr>
                </a:tc>
                <a:tc>
                  <a:txBody>
                    <a:bodyPr/>
                    <a:lstStyle/>
                    <a:p>
                      <a:pPr algn="ctr"/>
                      <a:r>
                        <a:rPr lang="en-US" sz="1100">
                          <a:latin typeface="+mj-lt"/>
                        </a:rPr>
                        <a:t>Description</a:t>
                      </a:r>
                    </a:p>
                  </a:txBody>
                  <a:tcPr anchor="ctr">
                    <a:solidFill>
                      <a:srgbClr val="338DCD"/>
                    </a:solidFill>
                  </a:tcPr>
                </a:tc>
                <a:tc>
                  <a:txBody>
                    <a:bodyPr/>
                    <a:lstStyle/>
                    <a:p>
                      <a:pPr algn="ctr"/>
                      <a:r>
                        <a:rPr lang="en-US" sz="1100">
                          <a:latin typeface="+mj-lt"/>
                        </a:rPr>
                        <a:t>Assessment: </a:t>
                      </a:r>
                      <a:br>
                        <a:rPr lang="en-US" sz="1100">
                          <a:latin typeface="+mj-lt"/>
                        </a:rPr>
                      </a:br>
                      <a:r>
                        <a:rPr lang="en-US" sz="1100">
                          <a:latin typeface="+mj-lt"/>
                        </a:rPr>
                        <a:t>Required, Aspirational</a:t>
                      </a:r>
                    </a:p>
                  </a:txBody>
                  <a:tcPr anchor="ctr">
                    <a:solidFill>
                      <a:srgbClr val="338DCD"/>
                    </a:solidFill>
                  </a:tcPr>
                </a:tc>
                <a:tc>
                  <a:txBody>
                    <a:bodyPr/>
                    <a:lstStyle/>
                    <a:p>
                      <a:pPr algn="ctr"/>
                      <a:r>
                        <a:rPr lang="en-US" sz="1100">
                          <a:latin typeface="+mj-lt"/>
                        </a:rPr>
                        <a:t>Implementation Priority</a:t>
                      </a:r>
                    </a:p>
                  </a:txBody>
                  <a:tcPr anchor="ctr">
                    <a:solidFill>
                      <a:srgbClr val="338DCD"/>
                    </a:solidFill>
                  </a:tcPr>
                </a:tc>
                <a:extLst>
                  <a:ext uri="{0D108BD9-81ED-4DB2-BD59-A6C34878D82A}">
                    <a16:rowId xmlns:a16="http://schemas.microsoft.com/office/drawing/2014/main" val="3024339621"/>
                  </a:ext>
                </a:extLst>
              </a:tr>
              <a:tr h="11271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latin typeface="+mn-lt"/>
                        </a:rPr>
                        <a:t>1</a:t>
                      </a:r>
                    </a:p>
                  </a:txBody>
                  <a:tcPr anchor="ctr">
                    <a:solidFill>
                      <a:schemeClr val="bg1">
                        <a:lumMod val="95000"/>
                      </a:schemeClr>
                    </a:solidFill>
                  </a:tcPr>
                </a:tc>
                <a:tc>
                  <a:txBody>
                    <a:bodyPr/>
                    <a:lstStyle/>
                    <a:p>
                      <a:pPr lvl="0" algn="ctr">
                        <a:lnSpc>
                          <a:spcPct val="100000"/>
                        </a:lnSpc>
                        <a:spcBef>
                          <a:spcPts val="0"/>
                        </a:spcBef>
                        <a:spcAft>
                          <a:spcPts val="0"/>
                        </a:spcAft>
                        <a:buNone/>
                      </a:pPr>
                      <a:r>
                        <a:rPr lang="en-US" sz="1000" b="0" i="0" u="none" strike="noStrike" noProof="0" dirty="0">
                          <a:solidFill>
                            <a:srgbClr val="000000"/>
                          </a:solidFill>
                          <a:latin typeface="+mn-lt"/>
                        </a:rPr>
                        <a:t>Contract management</a:t>
                      </a:r>
                    </a:p>
                  </a:txBody>
                  <a:tcPr anchor="ctr">
                    <a:solidFill>
                      <a:schemeClr val="bg1">
                        <a:lumMod val="95000"/>
                      </a:schemeClr>
                    </a:solidFill>
                  </a:tcPr>
                </a:tc>
                <a:tc>
                  <a:txBody>
                    <a:bodyPr/>
                    <a:lstStyle/>
                    <a:p>
                      <a:pPr marL="0" algn="ctr" rtl="0" eaLnBrk="1" latinLnBrk="0" hangingPunct="1"/>
                      <a:r>
                        <a:rPr lang="en-US" sz="1000" b="0" i="0" u="none" strike="noStrike" kern="1200" noProof="0" dirty="0">
                          <a:solidFill>
                            <a:srgbClr val="000000"/>
                          </a:solidFill>
                          <a:latin typeface="+mn-lt"/>
                        </a:rPr>
                        <a:t>5</a:t>
                      </a:r>
                    </a:p>
                  </a:txBody>
                  <a:tcPr anchor="ctr">
                    <a:solidFill>
                      <a:schemeClr val="bg1">
                        <a:lumMod val="95000"/>
                      </a:schemeClr>
                    </a:solidFill>
                  </a:tcPr>
                </a:tc>
                <a:tc>
                  <a:txBody>
                    <a:bodyPr/>
                    <a:lstStyle/>
                    <a:p>
                      <a:pPr marL="0" algn="ctr" rtl="0" eaLnBrk="1" latinLnBrk="0" hangingPunct="1"/>
                      <a:r>
                        <a:rPr lang="en-US" sz="1000" b="0" i="0" u="none" strike="noStrike" kern="1200" noProof="0" dirty="0">
                          <a:solidFill>
                            <a:srgbClr val="000000"/>
                          </a:solidFill>
                          <a:latin typeface="+mn-lt"/>
                        </a:rPr>
                        <a:t>Card visuals</a:t>
                      </a:r>
                    </a:p>
                  </a:txBody>
                  <a:tcPr anchor="ctr">
                    <a:solidFill>
                      <a:schemeClr val="bg1">
                        <a:lumMod val="95000"/>
                      </a:schemeClr>
                    </a:solidFill>
                  </a:tcPr>
                </a:tc>
                <a:tc>
                  <a:txBody>
                    <a:bodyPr/>
                    <a:lstStyle/>
                    <a:p>
                      <a:pPr marL="0" algn="ctr" rtl="0" eaLnBrk="1" latinLnBrk="0" hangingPunct="1"/>
                      <a:r>
                        <a:rPr lang="en-US" sz="1000" kern="1200">
                          <a:solidFill>
                            <a:schemeClr val="dk1"/>
                          </a:solidFill>
                          <a:latin typeface="+mn-lt"/>
                          <a:ea typeface="+mn-ea"/>
                          <a:cs typeface="+mn-cs"/>
                        </a:rPr>
                        <a:t>Aggregated KPI Cards showing the contract, rollover and total capacity with respective comparison to PY, alongside total usage cost and remaining capacity balance with respective comparison to total capacity and the forecasted end month.</a:t>
                      </a:r>
                      <a:endParaRPr lang="en-US" sz="1000" b="0" i="0" u="none" strike="noStrike" kern="1200" noProof="0">
                        <a:solidFill>
                          <a:srgbClr val="000000"/>
                        </a:solidFill>
                        <a:latin typeface="+mn-lt"/>
                      </a:endParaRP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Required</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2012711696"/>
                  </a:ext>
                </a:extLst>
              </a:tr>
              <a:tr h="814044">
                <a:tc>
                  <a:txBody>
                    <a:bodyPr/>
                    <a:lstStyle/>
                    <a:p>
                      <a:pPr algn="ctr"/>
                      <a:r>
                        <a:rPr lang="en-US" sz="1000">
                          <a:solidFill>
                            <a:schemeClr val="tx1"/>
                          </a:solidFill>
                          <a:latin typeface="+mn-lt"/>
                        </a:rPr>
                        <a:t>2</a:t>
                      </a:r>
                    </a:p>
                  </a:txBody>
                  <a:tcPr anchor="ctr">
                    <a:solidFill>
                      <a:schemeClr val="bg1">
                        <a:lumMod val="95000"/>
                      </a:schemeClr>
                    </a:solidFill>
                  </a:tcPr>
                </a:tc>
                <a:tc>
                  <a:txBody>
                    <a:bodyPr/>
                    <a:lstStyle/>
                    <a:p>
                      <a:pPr lvl="0" algn="ctr">
                        <a:lnSpc>
                          <a:spcPct val="100000"/>
                        </a:lnSpc>
                        <a:spcBef>
                          <a:spcPts val="0"/>
                        </a:spcBef>
                        <a:spcAft>
                          <a:spcPts val="0"/>
                        </a:spcAft>
                        <a:buNone/>
                      </a:pPr>
                      <a:r>
                        <a:rPr lang="en-US" sz="1000" b="0" i="0" u="none" strike="noStrike" noProof="0">
                          <a:solidFill>
                            <a:schemeClr val="tx1"/>
                          </a:solidFill>
                          <a:latin typeface="+mn-lt"/>
                        </a:rPr>
                        <a:t>Contract management</a:t>
                      </a:r>
                    </a:p>
                  </a:txBody>
                  <a:tcPr anchor="ctr">
                    <a:solidFill>
                      <a:schemeClr val="bg1">
                        <a:lumMod val="95000"/>
                      </a:schemeClr>
                    </a:solidFill>
                  </a:tcPr>
                </a:tc>
                <a:tc>
                  <a:txBody>
                    <a:bodyPr/>
                    <a:lstStyle/>
                    <a:p>
                      <a:pPr marL="0" marR="0" lvl="0" indent="0" algn="ctr">
                        <a:lnSpc>
                          <a:spcPct val="100000"/>
                        </a:lnSpc>
                        <a:spcBef>
                          <a:spcPts val="0"/>
                        </a:spcBef>
                        <a:spcAft>
                          <a:spcPts val="0"/>
                        </a:spcAft>
                        <a:buNone/>
                      </a:pPr>
                      <a:r>
                        <a:rPr kumimoji="0" lang="en-US" sz="1000" dirty="0">
                          <a:solidFill>
                            <a:schemeClr val="tx1"/>
                          </a:solidFill>
                          <a:latin typeface="+mn-lt"/>
                        </a:rPr>
                        <a:t>5</a:t>
                      </a:r>
                    </a:p>
                  </a:txBody>
                  <a:tcPr anchor="ctr">
                    <a:solidFill>
                      <a:schemeClr val="bg1">
                        <a:lumMod val="95000"/>
                      </a:schemeClr>
                    </a:solidFill>
                  </a:tcPr>
                </a:tc>
                <a:tc>
                  <a:txBody>
                    <a:bodyPr/>
                    <a:lstStyle/>
                    <a:p>
                      <a:pPr marL="0" marR="0" lvl="0" indent="0" algn="ctr">
                        <a:lnSpc>
                          <a:spcPct val="100000"/>
                        </a:lnSpc>
                        <a:spcBef>
                          <a:spcPts val="0"/>
                        </a:spcBef>
                        <a:spcAft>
                          <a:spcPts val="0"/>
                        </a:spcAft>
                        <a:buNone/>
                      </a:pPr>
                      <a:r>
                        <a:rPr kumimoji="0" lang="en-US" sz="1000" dirty="0">
                          <a:solidFill>
                            <a:schemeClr val="tx1"/>
                          </a:solidFill>
                          <a:latin typeface="+mn-lt"/>
                        </a:rPr>
                        <a:t>Area chart</a:t>
                      </a:r>
                    </a:p>
                  </a:txBody>
                  <a:tcPr anchor="ctr">
                    <a:solidFill>
                      <a:schemeClr val="bg1">
                        <a:lumMod val="95000"/>
                      </a:schemeClr>
                    </a:solidFill>
                  </a:tcPr>
                </a:tc>
                <a:tc>
                  <a:txBody>
                    <a:bodyPr/>
                    <a:lstStyle/>
                    <a:p>
                      <a:pPr marL="0" marR="0" lvl="0" indent="0" algn="ctr">
                        <a:lnSpc>
                          <a:spcPct val="100000"/>
                        </a:lnSpc>
                        <a:spcBef>
                          <a:spcPts val="0"/>
                        </a:spcBef>
                        <a:spcAft>
                          <a:spcPts val="0"/>
                        </a:spcAft>
                        <a:buNone/>
                      </a:pPr>
                      <a:r>
                        <a:rPr kumimoji="0" lang="en-US" sz="1000" dirty="0">
                          <a:solidFill>
                            <a:schemeClr val="tx1"/>
                          </a:solidFill>
                          <a:latin typeface="+mn-lt"/>
                        </a:rPr>
                        <a:t>Shows the total capacity, contract capacity and rollover capacity balance trend by month for current year.</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Required</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chemeClr val="tx1"/>
                        </a:solidFill>
                        <a:effectLst/>
                        <a:uLnTx/>
                        <a:uFillTx/>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3318944014"/>
                  </a:ext>
                </a:extLst>
              </a:tr>
              <a:tr h="11271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3</a:t>
                      </a:r>
                    </a:p>
                  </a:txBody>
                  <a:tcPr anchor="ctr">
                    <a:solidFill>
                      <a:schemeClr val="bg1">
                        <a:lumMod val="95000"/>
                      </a:schemeClr>
                    </a:solidFill>
                  </a:tcPr>
                </a:tc>
                <a:tc>
                  <a:txBody>
                    <a:bodyPr/>
                    <a:lstStyle/>
                    <a:p>
                      <a:pPr lvl="0" algn="ctr">
                        <a:buNone/>
                      </a:pPr>
                      <a:r>
                        <a:rPr lang="en-US" sz="1000">
                          <a:solidFill>
                            <a:schemeClr val="tx1"/>
                          </a:solidFill>
                          <a:latin typeface="+mn-lt"/>
                        </a:rPr>
                        <a:t>Budgeting &amp; alerting</a:t>
                      </a:r>
                    </a:p>
                  </a:txBody>
                  <a:tcPr anchor="ctr">
                    <a:solidFill>
                      <a:schemeClr val="bg1">
                        <a:lumMod val="95000"/>
                      </a:schemeClr>
                    </a:solidFill>
                  </a:tcPr>
                </a:tc>
                <a:tc>
                  <a:txBody>
                    <a:bodyPr/>
                    <a:lstStyle/>
                    <a:p>
                      <a:pPr marL="0" marR="0" lvl="0" indent="0" algn="ctr" rtl="0">
                        <a:lnSpc>
                          <a:spcPct val="100000"/>
                        </a:lnSpc>
                        <a:spcBef>
                          <a:spcPts val="0"/>
                        </a:spcBef>
                        <a:spcAft>
                          <a:spcPts val="0"/>
                        </a:spcAft>
                        <a:buClrTx/>
                        <a:buSzTx/>
                        <a:buFontTx/>
                        <a:buNone/>
                      </a:pPr>
                      <a:r>
                        <a:rPr kumimoji="0" lang="en-US" sz="1000" b="0" i="0" u="none" strike="noStrike" kern="1200" cap="none" spc="0" normalizeH="0" baseline="0" noProof="0">
                          <a:ln>
                            <a:noFill/>
                          </a:ln>
                          <a:solidFill>
                            <a:schemeClr val="tx1"/>
                          </a:solidFill>
                          <a:effectLst/>
                          <a:uLnTx/>
                          <a:uFillTx/>
                          <a:latin typeface="+mn-lt"/>
                          <a:ea typeface="+mn-ea"/>
                          <a:cs typeface="+mn-cs"/>
                        </a:rPr>
                        <a:t>4</a:t>
                      </a:r>
                    </a:p>
                  </a:txBody>
                  <a:tcPr anchor="ctr">
                    <a:solidFill>
                      <a:schemeClr val="bg1">
                        <a:lumMod val="95000"/>
                      </a:schemeClr>
                    </a:solidFill>
                  </a:tcPr>
                </a:tc>
                <a:tc>
                  <a:txBody>
                    <a:bodyPr/>
                    <a:lstStyle/>
                    <a:p>
                      <a:pPr marL="0" marR="0" lvl="0" indent="0" algn="ctr" rtl="0">
                        <a:lnSpc>
                          <a:spcPct val="100000"/>
                        </a:lnSpc>
                        <a:spcBef>
                          <a:spcPts val="0"/>
                        </a:spcBef>
                        <a:spcAft>
                          <a:spcPts val="0"/>
                        </a:spcAft>
                        <a:buClrTx/>
                        <a:buSzTx/>
                        <a:buFontTx/>
                        <a:buNone/>
                      </a:pPr>
                      <a:r>
                        <a:rPr kumimoji="0" lang="en-US" sz="1000" b="0" i="0" u="none" strike="noStrike" kern="1200" cap="none" spc="0" normalizeH="0" baseline="0" noProof="0">
                          <a:ln>
                            <a:noFill/>
                          </a:ln>
                          <a:solidFill>
                            <a:schemeClr val="tx1"/>
                          </a:solidFill>
                          <a:effectLst/>
                          <a:uLnTx/>
                          <a:uFillTx/>
                          <a:latin typeface="+mn-lt"/>
                          <a:ea typeface="+mn-ea"/>
                          <a:cs typeface="+mn-cs"/>
                        </a:rPr>
                        <a:t>Gauge charts</a:t>
                      </a:r>
                    </a:p>
                  </a:txBody>
                  <a:tcPr anchor="ctr">
                    <a:solidFill>
                      <a:schemeClr val="bg1">
                        <a:lumMod val="95000"/>
                      </a:schemeClr>
                    </a:solidFill>
                  </a:tcPr>
                </a:tc>
                <a:tc>
                  <a:txBody>
                    <a:bodyPr/>
                    <a:lstStyle/>
                    <a:p>
                      <a:pPr marL="0" marR="0" lvl="0" indent="0" algn="ctr" rtl="0">
                        <a:lnSpc>
                          <a:spcPct val="100000"/>
                        </a:lnSpc>
                        <a:spcBef>
                          <a:spcPts val="0"/>
                        </a:spcBef>
                        <a:spcAft>
                          <a:spcPts val="0"/>
                        </a:spcAft>
                        <a:buClrTx/>
                        <a:buSzTx/>
                        <a:buFontTx/>
                        <a:buNone/>
                      </a:pPr>
                      <a:r>
                        <a:rPr kumimoji="0" lang="en-US" sz="1000" b="0" i="0" u="none" strike="noStrike" kern="1200" cap="none" spc="0" normalizeH="0" baseline="0" noProof="0" dirty="0">
                          <a:ln>
                            <a:noFill/>
                          </a:ln>
                          <a:solidFill>
                            <a:schemeClr val="tx1"/>
                          </a:solidFill>
                          <a:effectLst/>
                          <a:uLnTx/>
                          <a:uFillTx/>
                          <a:latin typeface="+mn-lt"/>
                          <a:ea typeface="+mn-ea"/>
                          <a:cs typeface="+mn-cs"/>
                        </a:rPr>
                        <a:t>Shows the actual usage vs defined budget for the total usage and by divisions, alongside conditionally changes color based on criteria if above or below budget. </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n-lt"/>
                          <a:ea typeface="+mn-ea"/>
                          <a:cs typeface="+mn-cs"/>
                        </a:rPr>
                        <a:t>Aspirational</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chemeClr val="tx1"/>
                        </a:solidFill>
                        <a:effectLst/>
                        <a:uLnTx/>
                        <a:uFillTx/>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2615708042"/>
                  </a:ext>
                </a:extLst>
              </a:tr>
              <a:tr h="11271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4</a:t>
                      </a:r>
                    </a:p>
                  </a:txBody>
                  <a:tcPr anchor="ctr">
                    <a:solidFill>
                      <a:schemeClr val="bg1">
                        <a:lumMod val="95000"/>
                      </a:schemeClr>
                    </a:solidFill>
                  </a:tcPr>
                </a:tc>
                <a:tc>
                  <a:txBody>
                    <a:bodyPr/>
                    <a:lstStyle/>
                    <a:p>
                      <a:pPr lvl="0" algn="ctr">
                        <a:buNone/>
                      </a:pPr>
                      <a:r>
                        <a:rPr lang="en-US" sz="1000">
                          <a:solidFill>
                            <a:schemeClr val="tx1"/>
                          </a:solidFill>
                          <a:latin typeface="+mn-lt"/>
                        </a:rPr>
                        <a:t>Forecasting &amp; Historical Analysis​</a:t>
                      </a:r>
                    </a:p>
                  </a:txBody>
                  <a:tcPr anchor="ctr">
                    <a:solidFill>
                      <a:schemeClr val="bg1">
                        <a:lumMod val="95000"/>
                      </a:schemeClr>
                    </a:solidFill>
                  </a:tcPr>
                </a:tc>
                <a:tc>
                  <a:txBody>
                    <a:bodyPr/>
                    <a:lstStyle/>
                    <a:p>
                      <a:pPr marL="0" lvl="0" algn="ctr" rtl="0">
                        <a:buNone/>
                      </a:pPr>
                      <a:r>
                        <a:rPr lang="en-US" sz="1000">
                          <a:solidFill>
                            <a:schemeClr val="tx1"/>
                          </a:solidFill>
                          <a:latin typeface="+mn-lt"/>
                        </a:rPr>
                        <a:t>5</a:t>
                      </a:r>
                    </a:p>
                  </a:txBody>
                  <a:tcPr anchor="ctr">
                    <a:solidFill>
                      <a:schemeClr val="bg1">
                        <a:lumMod val="95000"/>
                      </a:schemeClr>
                    </a:solidFill>
                  </a:tcPr>
                </a:tc>
                <a:tc>
                  <a:txBody>
                    <a:bodyPr/>
                    <a:lstStyle/>
                    <a:p>
                      <a:pPr marL="0" lvl="0" algn="ctr" rtl="0">
                        <a:buNone/>
                      </a:pPr>
                      <a:r>
                        <a:rPr lang="en-US" sz="1000">
                          <a:solidFill>
                            <a:schemeClr val="tx1"/>
                          </a:solidFill>
                          <a:latin typeface="+mn-lt"/>
                        </a:rPr>
                        <a:t>Clustered column chart</a:t>
                      </a:r>
                    </a:p>
                  </a:txBody>
                  <a:tcPr anchor="ctr">
                    <a:solidFill>
                      <a:schemeClr val="bg1">
                        <a:lumMod val="95000"/>
                      </a:schemeClr>
                    </a:solidFill>
                  </a:tcPr>
                </a:tc>
                <a:tc>
                  <a:txBody>
                    <a:bodyPr/>
                    <a:lstStyle/>
                    <a:p>
                      <a:pPr marL="0" lvl="0" algn="ctr" rtl="0">
                        <a:buNone/>
                      </a:pPr>
                      <a:r>
                        <a:rPr lang="en-US" sz="1000" dirty="0">
                          <a:solidFill>
                            <a:schemeClr val="tx1"/>
                          </a:solidFill>
                          <a:latin typeface="+mn-lt"/>
                        </a:rPr>
                        <a:t>Shows the overall usage, capacity balance remaining by month along with the forecast for upcoming months to get an understanding of credits exhaustion.</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n-lt"/>
                          <a:ea typeface="+mn-ea"/>
                          <a:cs typeface="+mn-cs"/>
                        </a:rPr>
                        <a:t>Required</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chemeClr val="tx1"/>
                        </a:solidFill>
                        <a:effectLst/>
                        <a:uLnTx/>
                        <a:uFillTx/>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892817511"/>
                  </a:ext>
                </a:extLst>
              </a:tr>
            </a:tbl>
          </a:graphicData>
        </a:graphic>
      </p:graphicFrame>
    </p:spTree>
    <p:extLst>
      <p:ext uri="{BB962C8B-B14F-4D97-AF65-F5344CB8AC3E}">
        <p14:creationId xmlns:p14="http://schemas.microsoft.com/office/powerpoint/2010/main" val="29125938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5B497-8EC3-2F9A-DA0A-576ADD694D5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3D1E6E4-B91D-1EEC-8F91-C1BF1CB60D77}"/>
              </a:ext>
            </a:extLst>
          </p:cNvPr>
          <p:cNvSpPr txBox="1">
            <a:spLocks/>
          </p:cNvSpPr>
          <p:nvPr/>
        </p:nvSpPr>
        <p:spPr>
          <a:xfrm>
            <a:off x="284550" y="216713"/>
            <a:ext cx="11904087" cy="509780"/>
          </a:xfrm>
          <a:prstGeom prst="rect">
            <a:avLst/>
          </a:prstGeom>
        </p:spPr>
        <p:txBody>
          <a:bodyPr/>
          <a:lstStyle>
            <a:lvl1pPr algn="l" defTabSz="914400" rtl="0" eaLnBrk="1" latinLnBrk="0" hangingPunct="1">
              <a:lnSpc>
                <a:spcPct val="100000"/>
              </a:lnSpc>
              <a:spcBef>
                <a:spcPct val="0"/>
              </a:spcBef>
              <a:buNone/>
              <a:defRPr sz="3400" b="0" i="0" kern="1200">
                <a:solidFill>
                  <a:srgbClr val="0076CF"/>
                </a:solidFill>
                <a:latin typeface="FS Elliot Pro Light" panose="02000503040000020004" pitchFamily="2"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a:ln>
                  <a:noFill/>
                </a:ln>
                <a:solidFill>
                  <a:srgbClr val="0076CF"/>
                </a:solidFill>
                <a:effectLst/>
                <a:uLnTx/>
                <a:uFillTx/>
                <a:latin typeface="FS Elliot Pro Light" panose="02000503040000020004" pitchFamily="2" charset="0"/>
                <a:ea typeface="+mj-ea"/>
                <a:cs typeface="+mj-cs"/>
              </a:rPr>
              <a:t>Cost Management </a:t>
            </a:r>
            <a:r>
              <a:rPr lang="en-US" sz="3200">
                <a:latin typeface="FS Elliot Pro Light"/>
              </a:rPr>
              <a:t>–</a:t>
            </a:r>
            <a:r>
              <a:rPr kumimoji="0" lang="en-US" sz="3200" b="0" i="0" u="none" strike="noStrike" kern="1200" cap="none" spc="0" normalizeH="0" baseline="0" noProof="0">
                <a:ln>
                  <a:noFill/>
                </a:ln>
                <a:solidFill>
                  <a:srgbClr val="0076CF"/>
                </a:solidFill>
                <a:effectLst/>
                <a:uLnTx/>
                <a:uFillTx/>
                <a:latin typeface="FS Elliot Pro Light" panose="02000503040000020004" pitchFamily="2" charset="0"/>
                <a:ea typeface="+mj-ea"/>
                <a:cs typeface="+mj-cs"/>
              </a:rPr>
              <a:t> Usage overview</a:t>
            </a:r>
          </a:p>
        </p:txBody>
      </p:sp>
      <p:sp>
        <p:nvSpPr>
          <p:cNvPr id="45" name="Rectangle 44">
            <a:extLst>
              <a:ext uri="{FF2B5EF4-FFF2-40B4-BE49-F238E27FC236}">
                <a16:creationId xmlns:a16="http://schemas.microsoft.com/office/drawing/2014/main" id="{0614C2D3-3984-9CF4-AD6A-EB23EEB428E0}"/>
              </a:ext>
            </a:extLst>
          </p:cNvPr>
          <p:cNvSpPr/>
          <p:nvPr/>
        </p:nvSpPr>
        <p:spPr>
          <a:xfrm>
            <a:off x="394952" y="1219540"/>
            <a:ext cx="900448" cy="361309"/>
          </a:xfrm>
          <a:prstGeom prst="rect">
            <a:avLst/>
          </a:prstGeom>
          <a:no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 name="Rectangle 1">
            <a:extLst>
              <a:ext uri="{FF2B5EF4-FFF2-40B4-BE49-F238E27FC236}">
                <a16:creationId xmlns:a16="http://schemas.microsoft.com/office/drawing/2014/main" id="{877D60D9-02B1-3123-390C-237AF83DDAD0}"/>
              </a:ext>
            </a:extLst>
          </p:cNvPr>
          <p:cNvSpPr/>
          <p:nvPr/>
        </p:nvSpPr>
        <p:spPr>
          <a:xfrm>
            <a:off x="828961" y="782546"/>
            <a:ext cx="11130975" cy="323141"/>
          </a:xfrm>
          <a:prstGeom prst="rect">
            <a:avLst/>
          </a:prstGeom>
          <a:solidFill>
            <a:schemeClr val="tx2">
              <a:lumMod val="20000"/>
              <a:lumOff val="8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171450" indent="-115570">
              <a:buFont typeface="Wingdings" panose="05000000000000000000" pitchFamily="2" charset="2"/>
              <a:buChar char="ü"/>
            </a:pPr>
            <a:r>
              <a:rPr lang="en-US" sz="1100" dirty="0">
                <a:solidFill>
                  <a:schemeClr val="tx1"/>
                </a:solidFill>
              </a:rPr>
              <a:t>Quick view to understand the usage metrics and trends.</a:t>
            </a:r>
          </a:p>
        </p:txBody>
      </p:sp>
      <p:grpSp>
        <p:nvGrpSpPr>
          <p:cNvPr id="3" name="Graphic 4">
            <a:extLst>
              <a:ext uri="{FF2B5EF4-FFF2-40B4-BE49-F238E27FC236}">
                <a16:creationId xmlns:a16="http://schemas.microsoft.com/office/drawing/2014/main" id="{E2BADC19-B858-D1FF-0B14-A253F18F17C2}"/>
              </a:ext>
            </a:extLst>
          </p:cNvPr>
          <p:cNvGrpSpPr>
            <a:grpSpLocks noChangeAspect="1"/>
          </p:cNvGrpSpPr>
          <p:nvPr/>
        </p:nvGrpSpPr>
        <p:grpSpPr>
          <a:xfrm>
            <a:off x="427888" y="696089"/>
            <a:ext cx="496522" cy="496054"/>
            <a:chOff x="1952125" y="1402723"/>
            <a:chExt cx="362313" cy="361971"/>
          </a:xfrm>
          <a:solidFill>
            <a:schemeClr val="tx2">
              <a:lumMod val="60000"/>
              <a:lumOff val="40000"/>
            </a:schemeClr>
          </a:solidFill>
        </p:grpSpPr>
        <p:sp>
          <p:nvSpPr>
            <p:cNvPr id="5" name="Graphic 4">
              <a:extLst>
                <a:ext uri="{FF2B5EF4-FFF2-40B4-BE49-F238E27FC236}">
                  <a16:creationId xmlns:a16="http://schemas.microsoft.com/office/drawing/2014/main" id="{0D852C54-044E-7932-C5B3-399A1A3D25FA}"/>
                </a:ext>
              </a:extLst>
            </p:cNvPr>
            <p:cNvSpPr/>
            <p:nvPr/>
          </p:nvSpPr>
          <p:spPr>
            <a:xfrm>
              <a:off x="2069061" y="1471670"/>
              <a:ext cx="126174" cy="158322"/>
            </a:xfrm>
            <a:custGeom>
              <a:avLst/>
              <a:gdLst>
                <a:gd name="connsiteX0" fmla="*/ 50481 w 126174"/>
                <a:gd name="connsiteY0" fmla="*/ 53626 h 158322"/>
                <a:gd name="connsiteX1" fmla="*/ 40896 w 126174"/>
                <a:gd name="connsiteY1" fmla="*/ 72139 h 158322"/>
                <a:gd name="connsiteX2" fmla="*/ 35145 w 126174"/>
                <a:gd name="connsiteY2" fmla="*/ 75969 h 158322"/>
                <a:gd name="connsiteX3" fmla="*/ 0 w 126174"/>
                <a:gd name="connsiteY3" fmla="*/ 105974 h 158322"/>
                <a:gd name="connsiteX4" fmla="*/ 32589 w 126174"/>
                <a:gd name="connsiteY4" fmla="*/ 121296 h 158322"/>
                <a:gd name="connsiteX5" fmla="*/ 36423 w 126174"/>
                <a:gd name="connsiteY5" fmla="*/ 128318 h 158322"/>
                <a:gd name="connsiteX6" fmla="*/ 46008 w 126174"/>
                <a:gd name="connsiteY6" fmla="*/ 151939 h 158322"/>
                <a:gd name="connsiteX7" fmla="*/ 68372 w 126174"/>
                <a:gd name="connsiteY7" fmla="*/ 144916 h 158322"/>
                <a:gd name="connsiteX8" fmla="*/ 73484 w 126174"/>
                <a:gd name="connsiteY8" fmla="*/ 142363 h 158322"/>
                <a:gd name="connsiteX9" fmla="*/ 76040 w 126174"/>
                <a:gd name="connsiteY9" fmla="*/ 143001 h 158322"/>
                <a:gd name="connsiteX10" fmla="*/ 108629 w 126174"/>
                <a:gd name="connsiteY10" fmla="*/ 158323 h 158322"/>
                <a:gd name="connsiteX11" fmla="*/ 111824 w 126174"/>
                <a:gd name="connsiteY11" fmla="*/ 110443 h 158322"/>
                <a:gd name="connsiteX12" fmla="*/ 111824 w 126174"/>
                <a:gd name="connsiteY12" fmla="*/ 104697 h 158322"/>
                <a:gd name="connsiteX13" fmla="*/ 118214 w 126174"/>
                <a:gd name="connsiteY13" fmla="*/ 0 h 158322"/>
                <a:gd name="connsiteX14" fmla="*/ 53676 w 126174"/>
                <a:gd name="connsiteY14" fmla="*/ 49795 h 158322"/>
                <a:gd name="connsiteX15" fmla="*/ 50481 w 126174"/>
                <a:gd name="connsiteY15" fmla="*/ 53626 h 158322"/>
                <a:gd name="connsiteX16" fmla="*/ 99683 w 126174"/>
                <a:gd name="connsiteY16" fmla="*/ 91929 h 158322"/>
                <a:gd name="connsiteX17" fmla="*/ 72206 w 126174"/>
                <a:gd name="connsiteY17" fmla="*/ 119381 h 158322"/>
                <a:gd name="connsiteX18" fmla="*/ 44730 w 126174"/>
                <a:gd name="connsiteY18" fmla="*/ 91929 h 158322"/>
                <a:gd name="connsiteX19" fmla="*/ 72206 w 126174"/>
                <a:gd name="connsiteY19" fmla="*/ 64478 h 158322"/>
                <a:gd name="connsiteX20" fmla="*/ 99683 w 126174"/>
                <a:gd name="connsiteY20" fmla="*/ 91929 h 158322"/>
                <a:gd name="connsiteX21" fmla="*/ 99683 w 126174"/>
                <a:gd name="connsiteY21" fmla="*/ 91929 h 158322"/>
                <a:gd name="connsiteX22" fmla="*/ 99683 w 126174"/>
                <a:gd name="connsiteY22" fmla="*/ 91929 h 158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6174" h="158322">
                  <a:moveTo>
                    <a:pt x="50481" y="53626"/>
                  </a:moveTo>
                  <a:cubicBezTo>
                    <a:pt x="46647" y="59371"/>
                    <a:pt x="44091" y="65755"/>
                    <a:pt x="40896" y="72139"/>
                  </a:cubicBezTo>
                  <a:cubicBezTo>
                    <a:pt x="39618" y="74693"/>
                    <a:pt x="37701" y="75969"/>
                    <a:pt x="35145" y="75969"/>
                  </a:cubicBezTo>
                  <a:cubicBezTo>
                    <a:pt x="17892" y="76608"/>
                    <a:pt x="3195" y="88737"/>
                    <a:pt x="0" y="105974"/>
                  </a:cubicBezTo>
                  <a:lnTo>
                    <a:pt x="32589" y="121296"/>
                  </a:lnTo>
                  <a:cubicBezTo>
                    <a:pt x="35145" y="122573"/>
                    <a:pt x="36423" y="125126"/>
                    <a:pt x="36423" y="128318"/>
                  </a:cubicBezTo>
                  <a:cubicBezTo>
                    <a:pt x="36423" y="128318"/>
                    <a:pt x="33867" y="146832"/>
                    <a:pt x="46008" y="151939"/>
                  </a:cubicBezTo>
                  <a:cubicBezTo>
                    <a:pt x="58148" y="157046"/>
                    <a:pt x="68372" y="145555"/>
                    <a:pt x="68372" y="144916"/>
                  </a:cubicBezTo>
                  <a:cubicBezTo>
                    <a:pt x="69650" y="143640"/>
                    <a:pt x="71567" y="142363"/>
                    <a:pt x="73484" y="142363"/>
                  </a:cubicBezTo>
                  <a:cubicBezTo>
                    <a:pt x="74123" y="142363"/>
                    <a:pt x="75401" y="142363"/>
                    <a:pt x="76040" y="143001"/>
                  </a:cubicBezTo>
                  <a:lnTo>
                    <a:pt x="108629" y="158323"/>
                  </a:lnTo>
                  <a:cubicBezTo>
                    <a:pt x="117575" y="143640"/>
                    <a:pt x="118853" y="125765"/>
                    <a:pt x="111824" y="110443"/>
                  </a:cubicBezTo>
                  <a:cubicBezTo>
                    <a:pt x="111185" y="108528"/>
                    <a:pt x="111185" y="106613"/>
                    <a:pt x="111824" y="104697"/>
                  </a:cubicBezTo>
                  <a:cubicBezTo>
                    <a:pt x="111824" y="104059"/>
                    <a:pt x="139301" y="49795"/>
                    <a:pt x="118214" y="0"/>
                  </a:cubicBezTo>
                  <a:cubicBezTo>
                    <a:pt x="106712" y="2554"/>
                    <a:pt x="77318" y="12130"/>
                    <a:pt x="53676" y="49795"/>
                  </a:cubicBezTo>
                  <a:cubicBezTo>
                    <a:pt x="52398" y="51710"/>
                    <a:pt x="51759" y="52987"/>
                    <a:pt x="50481" y="53626"/>
                  </a:cubicBezTo>
                  <a:close/>
                  <a:moveTo>
                    <a:pt x="99683" y="91929"/>
                  </a:moveTo>
                  <a:cubicBezTo>
                    <a:pt x="99683" y="107251"/>
                    <a:pt x="87542" y="119381"/>
                    <a:pt x="72206" y="119381"/>
                  </a:cubicBezTo>
                  <a:cubicBezTo>
                    <a:pt x="56871" y="119381"/>
                    <a:pt x="44730" y="107251"/>
                    <a:pt x="44730" y="91929"/>
                  </a:cubicBezTo>
                  <a:cubicBezTo>
                    <a:pt x="44730" y="76608"/>
                    <a:pt x="56871" y="64478"/>
                    <a:pt x="72206" y="64478"/>
                  </a:cubicBezTo>
                  <a:cubicBezTo>
                    <a:pt x="87542" y="65117"/>
                    <a:pt x="99683" y="77246"/>
                    <a:pt x="99683" y="91929"/>
                  </a:cubicBezTo>
                  <a:cubicBezTo>
                    <a:pt x="99683" y="92568"/>
                    <a:pt x="99683" y="92568"/>
                    <a:pt x="99683" y="91929"/>
                  </a:cubicBezTo>
                  <a:lnTo>
                    <a:pt x="99683" y="91929"/>
                  </a:lnTo>
                  <a:close/>
                </a:path>
              </a:pathLst>
            </a:custGeom>
            <a:grpFill/>
            <a:ln w="6390" cap="flat">
              <a:noFill/>
              <a:prstDash val="solid"/>
              <a:miter/>
            </a:ln>
          </p:spPr>
          <p:txBody>
            <a:bodyPr rtlCol="0" anchor="ctr"/>
            <a:lstStyle/>
            <a:p>
              <a:endParaRPr lang="en-US"/>
            </a:p>
          </p:txBody>
        </p:sp>
        <p:sp>
          <p:nvSpPr>
            <p:cNvPr id="7" name="Graphic 4">
              <a:extLst>
                <a:ext uri="{FF2B5EF4-FFF2-40B4-BE49-F238E27FC236}">
                  <a16:creationId xmlns:a16="http://schemas.microsoft.com/office/drawing/2014/main" id="{237D0B95-DE0A-EAD5-3533-8703057F348B}"/>
                </a:ext>
              </a:extLst>
            </p:cNvPr>
            <p:cNvSpPr/>
            <p:nvPr/>
          </p:nvSpPr>
          <p:spPr>
            <a:xfrm>
              <a:off x="2043501" y="1527211"/>
              <a:ext cx="180835" cy="126402"/>
            </a:xfrm>
            <a:custGeom>
              <a:avLst/>
              <a:gdLst>
                <a:gd name="connsiteX0" fmla="*/ 180835 w 180835"/>
                <a:gd name="connsiteY0" fmla="*/ 5746 h 126402"/>
                <a:gd name="connsiteX1" fmla="*/ 175084 w 180835"/>
                <a:gd name="connsiteY1" fmla="*/ 0 h 126402"/>
                <a:gd name="connsiteX2" fmla="*/ 175084 w 180835"/>
                <a:gd name="connsiteY2" fmla="*/ 0 h 126402"/>
                <a:gd name="connsiteX3" fmla="*/ 163582 w 180835"/>
                <a:gd name="connsiteY3" fmla="*/ 0 h 126402"/>
                <a:gd name="connsiteX4" fmla="*/ 149525 w 180835"/>
                <a:gd name="connsiteY4" fmla="*/ 52987 h 126402"/>
                <a:gd name="connsiteX5" fmla="*/ 140579 w 180835"/>
                <a:gd name="connsiteY5" fmla="*/ 115550 h 126402"/>
                <a:gd name="connsiteX6" fmla="*/ 135467 w 180835"/>
                <a:gd name="connsiteY6" fmla="*/ 118104 h 126402"/>
                <a:gd name="connsiteX7" fmla="*/ 132911 w 180835"/>
                <a:gd name="connsiteY7" fmla="*/ 117465 h 126402"/>
                <a:gd name="connsiteX8" fmla="*/ 99044 w 180835"/>
                <a:gd name="connsiteY8" fmla="*/ 101505 h 126402"/>
                <a:gd name="connsiteX9" fmla="*/ 65177 w 180835"/>
                <a:gd name="connsiteY9" fmla="*/ 108528 h 126402"/>
                <a:gd name="connsiteX10" fmla="*/ 47925 w 180835"/>
                <a:gd name="connsiteY10" fmla="*/ 75969 h 126402"/>
                <a:gd name="connsiteX11" fmla="*/ 14697 w 180835"/>
                <a:gd name="connsiteY11" fmla="*/ 60009 h 126402"/>
                <a:gd name="connsiteX12" fmla="*/ 11502 w 180835"/>
                <a:gd name="connsiteY12" fmla="*/ 52987 h 126402"/>
                <a:gd name="connsiteX13" fmla="*/ 56232 w 180835"/>
                <a:gd name="connsiteY13" fmla="*/ 8299 h 126402"/>
                <a:gd name="connsiteX14" fmla="*/ 60066 w 180835"/>
                <a:gd name="connsiteY14" fmla="*/ 0 h 126402"/>
                <a:gd name="connsiteX15" fmla="*/ 5751 w 180835"/>
                <a:gd name="connsiteY15" fmla="*/ 0 h 126402"/>
                <a:gd name="connsiteX16" fmla="*/ 0 w 180835"/>
                <a:gd name="connsiteY16" fmla="*/ 5746 h 126402"/>
                <a:gd name="connsiteX17" fmla="*/ 0 w 180835"/>
                <a:gd name="connsiteY17" fmla="*/ 5746 h 126402"/>
                <a:gd name="connsiteX18" fmla="*/ 0 w 180835"/>
                <a:gd name="connsiteY18" fmla="*/ 126403 h 126402"/>
                <a:gd name="connsiteX19" fmla="*/ 180835 w 180835"/>
                <a:gd name="connsiteY19" fmla="*/ 126403 h 126402"/>
                <a:gd name="connsiteX20" fmla="*/ 180835 w 180835"/>
                <a:gd name="connsiteY20" fmla="*/ 5746 h 12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80835" h="126402">
                  <a:moveTo>
                    <a:pt x="180835" y="5746"/>
                  </a:moveTo>
                  <a:cubicBezTo>
                    <a:pt x="180835" y="2554"/>
                    <a:pt x="178279" y="0"/>
                    <a:pt x="175084" y="0"/>
                  </a:cubicBezTo>
                  <a:lnTo>
                    <a:pt x="175084" y="0"/>
                  </a:lnTo>
                  <a:lnTo>
                    <a:pt x="163582" y="0"/>
                  </a:lnTo>
                  <a:cubicBezTo>
                    <a:pt x="161666" y="18514"/>
                    <a:pt x="157192" y="36389"/>
                    <a:pt x="149525" y="52987"/>
                  </a:cubicBezTo>
                  <a:cubicBezTo>
                    <a:pt x="157832" y="74054"/>
                    <a:pt x="154637" y="97675"/>
                    <a:pt x="140579" y="115550"/>
                  </a:cubicBezTo>
                  <a:cubicBezTo>
                    <a:pt x="139301" y="116827"/>
                    <a:pt x="137384" y="118104"/>
                    <a:pt x="135467" y="118104"/>
                  </a:cubicBezTo>
                  <a:cubicBezTo>
                    <a:pt x="134828" y="118104"/>
                    <a:pt x="133550" y="118104"/>
                    <a:pt x="132911" y="117465"/>
                  </a:cubicBezTo>
                  <a:lnTo>
                    <a:pt x="99044" y="101505"/>
                  </a:lnTo>
                  <a:cubicBezTo>
                    <a:pt x="90098" y="110443"/>
                    <a:pt x="76679" y="112996"/>
                    <a:pt x="65177" y="108528"/>
                  </a:cubicBezTo>
                  <a:cubicBezTo>
                    <a:pt x="49203" y="100867"/>
                    <a:pt x="47286" y="84269"/>
                    <a:pt x="47925" y="75969"/>
                  </a:cubicBezTo>
                  <a:lnTo>
                    <a:pt x="14697" y="60009"/>
                  </a:lnTo>
                  <a:cubicBezTo>
                    <a:pt x="12141" y="58733"/>
                    <a:pt x="10863" y="56179"/>
                    <a:pt x="11502" y="52987"/>
                  </a:cubicBezTo>
                  <a:cubicBezTo>
                    <a:pt x="17892" y="20429"/>
                    <a:pt x="41535" y="9576"/>
                    <a:pt x="56232" y="8299"/>
                  </a:cubicBezTo>
                  <a:cubicBezTo>
                    <a:pt x="57509" y="5746"/>
                    <a:pt x="58788" y="2554"/>
                    <a:pt x="60066" y="0"/>
                  </a:cubicBezTo>
                  <a:lnTo>
                    <a:pt x="5751" y="0"/>
                  </a:lnTo>
                  <a:cubicBezTo>
                    <a:pt x="2556" y="0"/>
                    <a:pt x="0" y="2554"/>
                    <a:pt x="0" y="5746"/>
                  </a:cubicBezTo>
                  <a:lnTo>
                    <a:pt x="0" y="5746"/>
                  </a:lnTo>
                  <a:lnTo>
                    <a:pt x="0" y="126403"/>
                  </a:lnTo>
                  <a:lnTo>
                    <a:pt x="180835" y="126403"/>
                  </a:lnTo>
                  <a:lnTo>
                    <a:pt x="180835" y="5746"/>
                  </a:lnTo>
                  <a:close/>
                </a:path>
              </a:pathLst>
            </a:custGeom>
            <a:grpFill/>
            <a:ln w="6390" cap="flat">
              <a:noFill/>
              <a:prstDash val="solid"/>
              <a:miter/>
            </a:ln>
          </p:spPr>
          <p:txBody>
            <a:bodyPr rtlCol="0" anchor="ctr"/>
            <a:lstStyle/>
            <a:p>
              <a:endParaRPr lang="en-US"/>
            </a:p>
          </p:txBody>
        </p:sp>
        <p:sp>
          <p:nvSpPr>
            <p:cNvPr id="8" name="Graphic 4">
              <a:extLst>
                <a:ext uri="{FF2B5EF4-FFF2-40B4-BE49-F238E27FC236}">
                  <a16:creationId xmlns:a16="http://schemas.microsoft.com/office/drawing/2014/main" id="{8D9F2DAC-F83B-28E1-038D-1CE1777316D4}"/>
                </a:ext>
              </a:extLst>
            </p:cNvPr>
            <p:cNvSpPr/>
            <p:nvPr/>
          </p:nvSpPr>
          <p:spPr>
            <a:xfrm>
              <a:off x="2126570" y="1549555"/>
              <a:ext cx="29393" cy="29366"/>
            </a:xfrm>
            <a:custGeom>
              <a:avLst/>
              <a:gdLst>
                <a:gd name="connsiteX0" fmla="*/ 14697 w 29393"/>
                <a:gd name="connsiteY0" fmla="*/ 29366 h 29366"/>
                <a:gd name="connsiteX1" fmla="*/ 29394 w 29393"/>
                <a:gd name="connsiteY1" fmla="*/ 14683 h 29366"/>
                <a:gd name="connsiteX2" fmla="*/ 14697 w 29393"/>
                <a:gd name="connsiteY2" fmla="*/ 0 h 29366"/>
                <a:gd name="connsiteX3" fmla="*/ 0 w 29393"/>
                <a:gd name="connsiteY3" fmla="*/ 14683 h 29366"/>
                <a:gd name="connsiteX4" fmla="*/ 14697 w 29393"/>
                <a:gd name="connsiteY4" fmla="*/ 29366 h 29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93" h="29366">
                  <a:moveTo>
                    <a:pt x="14697" y="29366"/>
                  </a:moveTo>
                  <a:cubicBezTo>
                    <a:pt x="23004" y="29366"/>
                    <a:pt x="29394" y="22982"/>
                    <a:pt x="29394" y="14683"/>
                  </a:cubicBezTo>
                  <a:cubicBezTo>
                    <a:pt x="29394" y="6384"/>
                    <a:pt x="23004" y="0"/>
                    <a:pt x="14697" y="0"/>
                  </a:cubicBezTo>
                  <a:cubicBezTo>
                    <a:pt x="6390" y="0"/>
                    <a:pt x="0" y="6384"/>
                    <a:pt x="0" y="14683"/>
                  </a:cubicBezTo>
                  <a:cubicBezTo>
                    <a:pt x="0" y="22982"/>
                    <a:pt x="6390" y="29366"/>
                    <a:pt x="14697" y="29366"/>
                  </a:cubicBezTo>
                  <a:close/>
                </a:path>
              </a:pathLst>
            </a:custGeom>
            <a:grpFill/>
            <a:ln w="6390" cap="flat">
              <a:noFill/>
              <a:prstDash val="solid"/>
              <a:miter/>
            </a:ln>
          </p:spPr>
          <p:txBody>
            <a:bodyPr rtlCol="0" anchor="ctr"/>
            <a:lstStyle/>
            <a:p>
              <a:endParaRPr lang="en-US"/>
            </a:p>
          </p:txBody>
        </p:sp>
        <p:sp>
          <p:nvSpPr>
            <p:cNvPr id="9" name="Graphic 4">
              <a:extLst>
                <a:ext uri="{FF2B5EF4-FFF2-40B4-BE49-F238E27FC236}">
                  <a16:creationId xmlns:a16="http://schemas.microsoft.com/office/drawing/2014/main" id="{2387E020-5804-E5FB-48C9-F70A8CE06A15}"/>
                </a:ext>
              </a:extLst>
            </p:cNvPr>
            <p:cNvSpPr/>
            <p:nvPr/>
          </p:nvSpPr>
          <p:spPr>
            <a:xfrm>
              <a:off x="2033278" y="1666381"/>
              <a:ext cx="201283" cy="3191"/>
            </a:xfrm>
            <a:custGeom>
              <a:avLst/>
              <a:gdLst>
                <a:gd name="connsiteX0" fmla="*/ 3834 w 201283"/>
                <a:gd name="connsiteY0" fmla="*/ 0 h 3191"/>
                <a:gd name="connsiteX1" fmla="*/ 0 w 201283"/>
                <a:gd name="connsiteY1" fmla="*/ 0 h 3191"/>
                <a:gd name="connsiteX2" fmla="*/ 7029 w 201283"/>
                <a:gd name="connsiteY2" fmla="*/ 3192 h 3191"/>
                <a:gd name="connsiteX3" fmla="*/ 194254 w 201283"/>
                <a:gd name="connsiteY3" fmla="*/ 3192 h 3191"/>
                <a:gd name="connsiteX4" fmla="*/ 201283 w 201283"/>
                <a:gd name="connsiteY4" fmla="*/ 0 h 3191"/>
                <a:gd name="connsiteX5" fmla="*/ 3834 w 201283"/>
                <a:gd name="connsiteY5" fmla="*/ 0 h 3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1283" h="3191">
                  <a:moveTo>
                    <a:pt x="3834" y="0"/>
                  </a:moveTo>
                  <a:lnTo>
                    <a:pt x="0" y="0"/>
                  </a:lnTo>
                  <a:cubicBezTo>
                    <a:pt x="1917" y="1915"/>
                    <a:pt x="4473" y="3192"/>
                    <a:pt x="7029" y="3192"/>
                  </a:cubicBezTo>
                  <a:lnTo>
                    <a:pt x="194254" y="3192"/>
                  </a:lnTo>
                  <a:cubicBezTo>
                    <a:pt x="196810" y="3192"/>
                    <a:pt x="199366" y="1915"/>
                    <a:pt x="201283" y="0"/>
                  </a:cubicBezTo>
                  <a:lnTo>
                    <a:pt x="3834" y="0"/>
                  </a:lnTo>
                  <a:close/>
                </a:path>
              </a:pathLst>
            </a:custGeom>
            <a:grpFill/>
            <a:ln w="6390" cap="flat">
              <a:noFill/>
              <a:prstDash val="solid"/>
              <a:miter/>
            </a:ln>
          </p:spPr>
          <p:txBody>
            <a:bodyPr rtlCol="0" anchor="ctr"/>
            <a:lstStyle/>
            <a:p>
              <a:endParaRPr lang="en-US"/>
            </a:p>
          </p:txBody>
        </p:sp>
        <p:sp>
          <p:nvSpPr>
            <p:cNvPr id="10" name="Graphic 4">
              <a:extLst>
                <a:ext uri="{FF2B5EF4-FFF2-40B4-BE49-F238E27FC236}">
                  <a16:creationId xmlns:a16="http://schemas.microsoft.com/office/drawing/2014/main" id="{B0B8EF6C-002B-A5C7-4FCE-80D2227CB1CA}"/>
                </a:ext>
              </a:extLst>
            </p:cNvPr>
            <p:cNvSpPr/>
            <p:nvPr/>
          </p:nvSpPr>
          <p:spPr>
            <a:xfrm>
              <a:off x="1952125" y="1402723"/>
              <a:ext cx="362313" cy="361971"/>
            </a:xfrm>
            <a:custGeom>
              <a:avLst/>
              <a:gdLst>
                <a:gd name="connsiteX0" fmla="*/ 181474 w 362313"/>
                <a:gd name="connsiteY0" fmla="*/ 0 h 361971"/>
                <a:gd name="connsiteX1" fmla="*/ 0 w 362313"/>
                <a:gd name="connsiteY1" fmla="*/ 180667 h 361971"/>
                <a:gd name="connsiteX2" fmla="*/ 180835 w 362313"/>
                <a:gd name="connsiteY2" fmla="*/ 361972 h 361971"/>
                <a:gd name="connsiteX3" fmla="*/ 362310 w 362313"/>
                <a:gd name="connsiteY3" fmla="*/ 181305 h 361971"/>
                <a:gd name="connsiteX4" fmla="*/ 362310 w 362313"/>
                <a:gd name="connsiteY4" fmla="*/ 181305 h 361971"/>
                <a:gd name="connsiteX5" fmla="*/ 181474 w 362313"/>
                <a:gd name="connsiteY5" fmla="*/ 0 h 361971"/>
                <a:gd name="connsiteX6" fmla="*/ 275406 w 362313"/>
                <a:gd name="connsiteY6" fmla="*/ 279618 h 361971"/>
                <a:gd name="connsiteX7" fmla="*/ 88181 w 362313"/>
                <a:gd name="connsiteY7" fmla="*/ 279618 h 361971"/>
                <a:gd name="connsiteX8" fmla="*/ 65816 w 362313"/>
                <a:gd name="connsiteY8" fmla="*/ 257274 h 361971"/>
                <a:gd name="connsiteX9" fmla="*/ 72206 w 362313"/>
                <a:gd name="connsiteY9" fmla="*/ 250890 h 361971"/>
                <a:gd name="connsiteX10" fmla="*/ 78596 w 362313"/>
                <a:gd name="connsiteY10" fmla="*/ 250890 h 361971"/>
                <a:gd name="connsiteX11" fmla="*/ 78596 w 362313"/>
                <a:gd name="connsiteY11" fmla="*/ 130233 h 361971"/>
                <a:gd name="connsiteX12" fmla="*/ 97127 w 362313"/>
                <a:gd name="connsiteY12" fmla="*/ 111720 h 361971"/>
                <a:gd name="connsiteX13" fmla="*/ 97127 w 362313"/>
                <a:gd name="connsiteY13" fmla="*/ 111720 h 361971"/>
                <a:gd name="connsiteX14" fmla="*/ 159109 w 362313"/>
                <a:gd name="connsiteY14" fmla="*/ 111720 h 361971"/>
                <a:gd name="connsiteX15" fmla="*/ 237067 w 362313"/>
                <a:gd name="connsiteY15" fmla="*/ 56817 h 361971"/>
                <a:gd name="connsiteX16" fmla="*/ 243457 w 362313"/>
                <a:gd name="connsiteY16" fmla="*/ 60648 h 361971"/>
                <a:gd name="connsiteX17" fmla="*/ 254958 w 362313"/>
                <a:gd name="connsiteY17" fmla="*/ 112358 h 361971"/>
                <a:gd name="connsiteX18" fmla="*/ 265821 w 362313"/>
                <a:gd name="connsiteY18" fmla="*/ 112358 h 361971"/>
                <a:gd name="connsiteX19" fmla="*/ 284352 w 362313"/>
                <a:gd name="connsiteY19" fmla="*/ 130872 h 361971"/>
                <a:gd name="connsiteX20" fmla="*/ 284352 w 362313"/>
                <a:gd name="connsiteY20" fmla="*/ 130872 h 361971"/>
                <a:gd name="connsiteX21" fmla="*/ 284352 w 362313"/>
                <a:gd name="connsiteY21" fmla="*/ 251529 h 361971"/>
                <a:gd name="connsiteX22" fmla="*/ 290742 w 362313"/>
                <a:gd name="connsiteY22" fmla="*/ 251529 h 361971"/>
                <a:gd name="connsiteX23" fmla="*/ 297132 w 362313"/>
                <a:gd name="connsiteY23" fmla="*/ 257913 h 361971"/>
                <a:gd name="connsiteX24" fmla="*/ 275406 w 362313"/>
                <a:gd name="connsiteY24" fmla="*/ 279618 h 361971"/>
                <a:gd name="connsiteX25" fmla="*/ 275406 w 362313"/>
                <a:gd name="connsiteY25" fmla="*/ 279618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62313" h="361971">
                  <a:moveTo>
                    <a:pt x="181474" y="0"/>
                  </a:moveTo>
                  <a:cubicBezTo>
                    <a:pt x="81152" y="0"/>
                    <a:pt x="0" y="81077"/>
                    <a:pt x="0" y="180667"/>
                  </a:cubicBezTo>
                  <a:cubicBezTo>
                    <a:pt x="0" y="280895"/>
                    <a:pt x="81152" y="361972"/>
                    <a:pt x="180835" y="361972"/>
                  </a:cubicBezTo>
                  <a:cubicBezTo>
                    <a:pt x="281157" y="361972"/>
                    <a:pt x="362310" y="280895"/>
                    <a:pt x="362310" y="181305"/>
                  </a:cubicBezTo>
                  <a:cubicBezTo>
                    <a:pt x="362310" y="181305"/>
                    <a:pt x="362310" y="181305"/>
                    <a:pt x="362310" y="181305"/>
                  </a:cubicBezTo>
                  <a:cubicBezTo>
                    <a:pt x="362948" y="80438"/>
                    <a:pt x="281796" y="0"/>
                    <a:pt x="181474" y="0"/>
                  </a:cubicBezTo>
                  <a:close/>
                  <a:moveTo>
                    <a:pt x="275406" y="279618"/>
                  </a:moveTo>
                  <a:lnTo>
                    <a:pt x="88181" y="279618"/>
                  </a:lnTo>
                  <a:cubicBezTo>
                    <a:pt x="76040" y="279618"/>
                    <a:pt x="65816" y="269404"/>
                    <a:pt x="65816" y="257274"/>
                  </a:cubicBezTo>
                  <a:cubicBezTo>
                    <a:pt x="65816" y="253444"/>
                    <a:pt x="68372" y="250890"/>
                    <a:pt x="72206" y="250890"/>
                  </a:cubicBezTo>
                  <a:lnTo>
                    <a:pt x="78596" y="250890"/>
                  </a:lnTo>
                  <a:lnTo>
                    <a:pt x="78596" y="130233"/>
                  </a:lnTo>
                  <a:cubicBezTo>
                    <a:pt x="78596" y="120019"/>
                    <a:pt x="86903" y="111720"/>
                    <a:pt x="97127" y="111720"/>
                  </a:cubicBezTo>
                  <a:lnTo>
                    <a:pt x="97127" y="111720"/>
                  </a:lnTo>
                  <a:lnTo>
                    <a:pt x="159109" y="111720"/>
                  </a:lnTo>
                  <a:cubicBezTo>
                    <a:pt x="191698" y="61286"/>
                    <a:pt x="235150" y="56817"/>
                    <a:pt x="237067" y="56817"/>
                  </a:cubicBezTo>
                  <a:cubicBezTo>
                    <a:pt x="239623" y="56817"/>
                    <a:pt x="242179" y="58094"/>
                    <a:pt x="243457" y="60648"/>
                  </a:cubicBezTo>
                  <a:cubicBezTo>
                    <a:pt x="251124" y="76608"/>
                    <a:pt x="254958" y="94483"/>
                    <a:pt x="254958" y="112358"/>
                  </a:cubicBezTo>
                  <a:lnTo>
                    <a:pt x="265821" y="112358"/>
                  </a:lnTo>
                  <a:cubicBezTo>
                    <a:pt x="276045" y="112358"/>
                    <a:pt x="284352" y="120657"/>
                    <a:pt x="284352" y="130872"/>
                  </a:cubicBezTo>
                  <a:lnTo>
                    <a:pt x="284352" y="130872"/>
                  </a:lnTo>
                  <a:lnTo>
                    <a:pt x="284352" y="251529"/>
                  </a:lnTo>
                  <a:lnTo>
                    <a:pt x="290742" y="251529"/>
                  </a:lnTo>
                  <a:cubicBezTo>
                    <a:pt x="294576" y="251529"/>
                    <a:pt x="297132" y="254082"/>
                    <a:pt x="297132" y="257913"/>
                  </a:cubicBezTo>
                  <a:cubicBezTo>
                    <a:pt x="297771" y="269404"/>
                    <a:pt x="287547" y="278980"/>
                    <a:pt x="275406" y="279618"/>
                  </a:cubicBezTo>
                  <a:lnTo>
                    <a:pt x="275406" y="279618"/>
                  </a:lnTo>
                  <a:close/>
                </a:path>
              </a:pathLst>
            </a:custGeom>
            <a:grpFill/>
            <a:ln w="6390" cap="flat">
              <a:noFill/>
              <a:prstDash val="solid"/>
              <a:miter/>
            </a:ln>
          </p:spPr>
          <p:txBody>
            <a:bodyPr rtlCol="0" anchor="ctr"/>
            <a:lstStyle/>
            <a:p>
              <a:endParaRPr lang="en-US"/>
            </a:p>
          </p:txBody>
        </p:sp>
      </p:grpSp>
      <p:sp>
        <p:nvSpPr>
          <p:cNvPr id="15" name="Callout: Line 14">
            <a:extLst>
              <a:ext uri="{FF2B5EF4-FFF2-40B4-BE49-F238E27FC236}">
                <a16:creationId xmlns:a16="http://schemas.microsoft.com/office/drawing/2014/main" id="{6CD7F218-36DD-11ED-4381-4C6DF01CE9E6}"/>
              </a:ext>
            </a:extLst>
          </p:cNvPr>
          <p:cNvSpPr/>
          <p:nvPr/>
        </p:nvSpPr>
        <p:spPr>
          <a:xfrm>
            <a:off x="10662556" y="2013146"/>
            <a:ext cx="424542" cy="236766"/>
          </a:xfrm>
          <a:prstGeom prst="borderCallout1">
            <a:avLst>
              <a:gd name="adj1" fmla="val 18750"/>
              <a:gd name="adj2" fmla="val -8333"/>
              <a:gd name="adj3" fmla="val 174569"/>
              <a:gd name="adj4" fmla="val -146026"/>
            </a:avLst>
          </a:prstGeom>
          <a:solidFill>
            <a:schemeClr val="bg1"/>
          </a:solidFill>
          <a:ln>
            <a:solidFill>
              <a:schemeClr val="bg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sp>
        <p:nvSpPr>
          <p:cNvPr id="16" name="Callout: Line 15">
            <a:extLst>
              <a:ext uri="{FF2B5EF4-FFF2-40B4-BE49-F238E27FC236}">
                <a16:creationId xmlns:a16="http://schemas.microsoft.com/office/drawing/2014/main" id="{0F62CBEA-D2CC-E810-761C-3B2CAD919647}"/>
              </a:ext>
            </a:extLst>
          </p:cNvPr>
          <p:cNvSpPr/>
          <p:nvPr/>
        </p:nvSpPr>
        <p:spPr>
          <a:xfrm flipH="1">
            <a:off x="1073877" y="2013146"/>
            <a:ext cx="424542" cy="236766"/>
          </a:xfrm>
          <a:prstGeom prst="borderCallout1">
            <a:avLst>
              <a:gd name="adj1" fmla="val 18750"/>
              <a:gd name="adj2" fmla="val -8333"/>
              <a:gd name="adj3" fmla="val 174569"/>
              <a:gd name="adj4" fmla="val -146026"/>
            </a:avLst>
          </a:prstGeom>
          <a:solidFill>
            <a:schemeClr val="bg1"/>
          </a:solidFill>
          <a:ln>
            <a:solidFill>
              <a:schemeClr val="bg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a:t>
            </a:r>
          </a:p>
        </p:txBody>
      </p:sp>
      <p:sp>
        <p:nvSpPr>
          <p:cNvPr id="17" name="Callout: Line 16">
            <a:extLst>
              <a:ext uri="{FF2B5EF4-FFF2-40B4-BE49-F238E27FC236}">
                <a16:creationId xmlns:a16="http://schemas.microsoft.com/office/drawing/2014/main" id="{22A7A080-3673-C54A-4C13-8320D67C890C}"/>
              </a:ext>
            </a:extLst>
          </p:cNvPr>
          <p:cNvSpPr/>
          <p:nvPr/>
        </p:nvSpPr>
        <p:spPr>
          <a:xfrm flipH="1">
            <a:off x="1083129" y="4935885"/>
            <a:ext cx="424542" cy="236766"/>
          </a:xfrm>
          <a:prstGeom prst="borderCallout1">
            <a:avLst>
              <a:gd name="adj1" fmla="val 18750"/>
              <a:gd name="adj2" fmla="val -8333"/>
              <a:gd name="adj3" fmla="val 174569"/>
              <a:gd name="adj4" fmla="val -146026"/>
            </a:avLst>
          </a:prstGeom>
          <a:solidFill>
            <a:schemeClr val="bg1"/>
          </a:solidFill>
          <a:ln>
            <a:solidFill>
              <a:schemeClr val="bg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3</a:t>
            </a:r>
          </a:p>
        </p:txBody>
      </p:sp>
      <p:sp>
        <p:nvSpPr>
          <p:cNvPr id="18" name="Callout: Line 17">
            <a:extLst>
              <a:ext uri="{FF2B5EF4-FFF2-40B4-BE49-F238E27FC236}">
                <a16:creationId xmlns:a16="http://schemas.microsoft.com/office/drawing/2014/main" id="{8FC0EFDE-0D66-72F7-A508-2776A1E713B0}"/>
              </a:ext>
            </a:extLst>
          </p:cNvPr>
          <p:cNvSpPr/>
          <p:nvPr/>
        </p:nvSpPr>
        <p:spPr>
          <a:xfrm>
            <a:off x="10662556" y="4935885"/>
            <a:ext cx="424542" cy="236766"/>
          </a:xfrm>
          <a:prstGeom prst="borderCallout1">
            <a:avLst>
              <a:gd name="adj1" fmla="val 18750"/>
              <a:gd name="adj2" fmla="val -8333"/>
              <a:gd name="adj3" fmla="val 174569"/>
              <a:gd name="adj4" fmla="val -146026"/>
            </a:avLst>
          </a:prstGeom>
          <a:solidFill>
            <a:schemeClr val="bg1"/>
          </a:solidFill>
          <a:ln>
            <a:solidFill>
              <a:schemeClr val="bg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4</a:t>
            </a:r>
          </a:p>
        </p:txBody>
      </p:sp>
      <p:pic>
        <p:nvPicPr>
          <p:cNvPr id="6" name="Picture 5">
            <a:extLst>
              <a:ext uri="{FF2B5EF4-FFF2-40B4-BE49-F238E27FC236}">
                <a16:creationId xmlns:a16="http://schemas.microsoft.com/office/drawing/2014/main" id="{6F160AC0-3655-B30D-90C1-FFFB93276B83}"/>
              </a:ext>
            </a:extLst>
          </p:cNvPr>
          <p:cNvPicPr>
            <a:picLocks/>
          </p:cNvPicPr>
          <p:nvPr/>
        </p:nvPicPr>
        <p:blipFill>
          <a:blip r:embed="rId3"/>
          <a:stretch>
            <a:fillRect/>
          </a:stretch>
        </p:blipFill>
        <p:spPr>
          <a:xfrm>
            <a:off x="2164080" y="1216152"/>
            <a:ext cx="7863840" cy="5394960"/>
          </a:xfrm>
          <a:prstGeom prst="rect">
            <a:avLst/>
          </a:prstGeom>
          <a:ln>
            <a:solidFill>
              <a:schemeClr val="bg1">
                <a:lumMod val="75000"/>
              </a:schemeClr>
            </a:solidFill>
          </a:ln>
        </p:spPr>
      </p:pic>
    </p:spTree>
    <p:extLst>
      <p:ext uri="{BB962C8B-B14F-4D97-AF65-F5344CB8AC3E}">
        <p14:creationId xmlns:p14="http://schemas.microsoft.com/office/powerpoint/2010/main" val="17504133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65EDF-7A28-3FCE-F57F-10AC0BC9306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D640AB4-66C5-CB48-9D11-7A637FF14B3E}"/>
              </a:ext>
            </a:extLst>
          </p:cNvPr>
          <p:cNvSpPr txBox="1">
            <a:spLocks/>
          </p:cNvSpPr>
          <p:nvPr/>
        </p:nvSpPr>
        <p:spPr>
          <a:xfrm>
            <a:off x="284550" y="216713"/>
            <a:ext cx="11904087" cy="509780"/>
          </a:xfrm>
          <a:prstGeom prst="rect">
            <a:avLst/>
          </a:prstGeom>
        </p:spPr>
        <p:txBody>
          <a:bodyPr/>
          <a:lstStyle>
            <a:lvl1pPr algn="l" defTabSz="914400" rtl="0" eaLnBrk="1" latinLnBrk="0" hangingPunct="1">
              <a:lnSpc>
                <a:spcPct val="100000"/>
              </a:lnSpc>
              <a:spcBef>
                <a:spcPct val="0"/>
              </a:spcBef>
              <a:buNone/>
              <a:defRPr sz="3400" b="0" i="0" kern="1200">
                <a:solidFill>
                  <a:srgbClr val="0076CF"/>
                </a:solidFill>
                <a:latin typeface="FS Elliot Pro Light" panose="02000503040000020004" pitchFamily="2"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a:ln>
                  <a:noFill/>
                </a:ln>
                <a:solidFill>
                  <a:srgbClr val="0076CF"/>
                </a:solidFill>
                <a:effectLst/>
                <a:uLnTx/>
                <a:uFillTx/>
                <a:latin typeface="FS Elliot Pro Light" panose="02000503040000020004" pitchFamily="2" charset="0"/>
                <a:ea typeface="+mj-ea"/>
                <a:cs typeface="+mj-cs"/>
              </a:rPr>
              <a:t>Cost Management – Usage overview page summary</a:t>
            </a:r>
          </a:p>
        </p:txBody>
      </p:sp>
      <p:graphicFrame>
        <p:nvGraphicFramePr>
          <p:cNvPr id="6" name="Table 5">
            <a:extLst>
              <a:ext uri="{FF2B5EF4-FFF2-40B4-BE49-F238E27FC236}">
                <a16:creationId xmlns:a16="http://schemas.microsoft.com/office/drawing/2014/main" id="{CE04433B-2DFB-0367-3635-7C531A2E57C5}"/>
              </a:ext>
            </a:extLst>
          </p:cNvPr>
          <p:cNvGraphicFramePr>
            <a:graphicFrameLocks noGrp="1"/>
          </p:cNvGraphicFramePr>
          <p:nvPr>
            <p:extLst>
              <p:ext uri="{D42A27DB-BD31-4B8C-83A1-F6EECF244321}">
                <p14:modId xmlns:p14="http://schemas.microsoft.com/office/powerpoint/2010/main" val="2979041583"/>
              </p:ext>
            </p:extLst>
          </p:nvPr>
        </p:nvGraphicFramePr>
        <p:xfrm>
          <a:off x="394855" y="931959"/>
          <a:ext cx="11430000" cy="4835541"/>
        </p:xfrm>
        <a:graphic>
          <a:graphicData uri="http://schemas.openxmlformats.org/drawingml/2006/table">
            <a:tbl>
              <a:tblPr firstRow="1" bandRow="1">
                <a:tableStyleId>{5C22544A-7EE6-4342-B048-85BDC9FD1C3A}</a:tableStyleId>
              </a:tblPr>
              <a:tblGrid>
                <a:gridCol w="449322">
                  <a:extLst>
                    <a:ext uri="{9D8B030D-6E8A-4147-A177-3AD203B41FA5}">
                      <a16:colId xmlns:a16="http://schemas.microsoft.com/office/drawing/2014/main" val="1227872876"/>
                    </a:ext>
                  </a:extLst>
                </a:gridCol>
                <a:gridCol w="1179932">
                  <a:extLst>
                    <a:ext uri="{9D8B030D-6E8A-4147-A177-3AD203B41FA5}">
                      <a16:colId xmlns:a16="http://schemas.microsoft.com/office/drawing/2014/main" val="3573294361"/>
                    </a:ext>
                  </a:extLst>
                </a:gridCol>
                <a:gridCol w="807868">
                  <a:extLst>
                    <a:ext uri="{9D8B030D-6E8A-4147-A177-3AD203B41FA5}">
                      <a16:colId xmlns:a16="http://schemas.microsoft.com/office/drawing/2014/main" val="684506535"/>
                    </a:ext>
                  </a:extLst>
                </a:gridCol>
                <a:gridCol w="1327901">
                  <a:extLst>
                    <a:ext uri="{9D8B030D-6E8A-4147-A177-3AD203B41FA5}">
                      <a16:colId xmlns:a16="http://schemas.microsoft.com/office/drawing/2014/main" val="2881509476"/>
                    </a:ext>
                  </a:extLst>
                </a:gridCol>
                <a:gridCol w="4753303">
                  <a:extLst>
                    <a:ext uri="{9D8B030D-6E8A-4147-A177-3AD203B41FA5}">
                      <a16:colId xmlns:a16="http://schemas.microsoft.com/office/drawing/2014/main" val="3389198070"/>
                    </a:ext>
                  </a:extLst>
                </a:gridCol>
                <a:gridCol w="1651246">
                  <a:extLst>
                    <a:ext uri="{9D8B030D-6E8A-4147-A177-3AD203B41FA5}">
                      <a16:colId xmlns:a16="http://schemas.microsoft.com/office/drawing/2014/main" val="1391104289"/>
                    </a:ext>
                  </a:extLst>
                </a:gridCol>
                <a:gridCol w="1260428">
                  <a:extLst>
                    <a:ext uri="{9D8B030D-6E8A-4147-A177-3AD203B41FA5}">
                      <a16:colId xmlns:a16="http://schemas.microsoft.com/office/drawing/2014/main" val="4206051783"/>
                    </a:ext>
                  </a:extLst>
                </a:gridCol>
              </a:tblGrid>
              <a:tr h="640080">
                <a:tc>
                  <a:txBody>
                    <a:bodyPr/>
                    <a:lstStyle/>
                    <a:p>
                      <a:pPr algn="ctr"/>
                      <a:r>
                        <a:rPr lang="en-US" sz="1100">
                          <a:latin typeface="+mj-lt"/>
                        </a:rPr>
                        <a:t>#</a:t>
                      </a:r>
                    </a:p>
                  </a:txBody>
                  <a:tcPr anchor="ctr">
                    <a:solidFill>
                      <a:srgbClr val="338DCD"/>
                    </a:solidFill>
                  </a:tcPr>
                </a:tc>
                <a:tc>
                  <a:txBody>
                    <a:bodyPr/>
                    <a:lstStyle/>
                    <a:p>
                      <a:pPr algn="ctr"/>
                      <a:r>
                        <a:rPr lang="en-US" sz="1100">
                          <a:latin typeface="+mj-lt"/>
                        </a:rPr>
                        <a:t>Category</a:t>
                      </a:r>
                    </a:p>
                  </a:txBody>
                  <a:tcPr anchor="ctr">
                    <a:solidFill>
                      <a:srgbClr val="338DCD"/>
                    </a:solidFill>
                  </a:tcPr>
                </a:tc>
                <a:tc>
                  <a:txBody>
                    <a:bodyPr/>
                    <a:lstStyle/>
                    <a:p>
                      <a:pPr algn="ctr"/>
                      <a:r>
                        <a:rPr lang="en-US" sz="1100">
                          <a:latin typeface="+mj-lt"/>
                        </a:rPr>
                        <a:t>Category Priority</a:t>
                      </a:r>
                    </a:p>
                  </a:txBody>
                  <a:tcPr anchor="ctr">
                    <a:solidFill>
                      <a:srgbClr val="338DCD"/>
                    </a:solidFill>
                  </a:tcPr>
                </a:tc>
                <a:tc>
                  <a:txBody>
                    <a:bodyPr/>
                    <a:lstStyle/>
                    <a:p>
                      <a:pPr algn="ctr"/>
                      <a:r>
                        <a:rPr lang="en-US" sz="1100">
                          <a:latin typeface="+mj-lt"/>
                        </a:rPr>
                        <a:t>Chart type</a:t>
                      </a:r>
                    </a:p>
                  </a:txBody>
                  <a:tcPr anchor="ctr">
                    <a:solidFill>
                      <a:srgbClr val="338DCD"/>
                    </a:solidFill>
                  </a:tcPr>
                </a:tc>
                <a:tc>
                  <a:txBody>
                    <a:bodyPr/>
                    <a:lstStyle/>
                    <a:p>
                      <a:pPr algn="ctr"/>
                      <a:r>
                        <a:rPr lang="en-US" sz="1100">
                          <a:latin typeface="+mj-lt"/>
                        </a:rPr>
                        <a:t>Description</a:t>
                      </a:r>
                    </a:p>
                  </a:txBody>
                  <a:tcPr anchor="ctr">
                    <a:solidFill>
                      <a:srgbClr val="338DCD"/>
                    </a:solidFill>
                  </a:tcPr>
                </a:tc>
                <a:tc>
                  <a:txBody>
                    <a:bodyPr/>
                    <a:lstStyle/>
                    <a:p>
                      <a:pPr algn="ctr"/>
                      <a:r>
                        <a:rPr lang="en-US" sz="1100">
                          <a:latin typeface="+mj-lt"/>
                        </a:rPr>
                        <a:t>Assessment: </a:t>
                      </a:r>
                      <a:br>
                        <a:rPr lang="en-US" sz="1100">
                          <a:latin typeface="+mj-lt"/>
                        </a:rPr>
                      </a:br>
                      <a:r>
                        <a:rPr lang="en-US" sz="1100">
                          <a:latin typeface="+mj-lt"/>
                        </a:rPr>
                        <a:t>Required, Aspirational</a:t>
                      </a:r>
                    </a:p>
                  </a:txBody>
                  <a:tcPr anchor="ctr">
                    <a:solidFill>
                      <a:srgbClr val="338DCD"/>
                    </a:solidFill>
                  </a:tcPr>
                </a:tc>
                <a:tc>
                  <a:txBody>
                    <a:bodyPr/>
                    <a:lstStyle/>
                    <a:p>
                      <a:pPr algn="ctr"/>
                      <a:r>
                        <a:rPr lang="en-US" sz="1100">
                          <a:latin typeface="+mj-lt"/>
                        </a:rPr>
                        <a:t>Implementation Priority</a:t>
                      </a:r>
                    </a:p>
                  </a:txBody>
                  <a:tcPr anchor="ctr">
                    <a:solidFill>
                      <a:srgbClr val="338DCD"/>
                    </a:solidFill>
                  </a:tcPr>
                </a:tc>
                <a:extLst>
                  <a:ext uri="{0D108BD9-81ED-4DB2-BD59-A6C34878D82A}">
                    <a16:rowId xmlns:a16="http://schemas.microsoft.com/office/drawing/2014/main" val="3024339621"/>
                  </a:ext>
                </a:extLst>
              </a:tr>
              <a:tr h="11271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latin typeface="+mn-lt"/>
                        </a:rPr>
                        <a:t>1</a:t>
                      </a:r>
                    </a:p>
                  </a:txBody>
                  <a:tcPr anchor="ctr">
                    <a:solidFill>
                      <a:schemeClr val="bg1">
                        <a:lumMod val="95000"/>
                      </a:schemeClr>
                    </a:solidFill>
                  </a:tcPr>
                </a:tc>
                <a:tc>
                  <a:txBody>
                    <a:bodyPr/>
                    <a:lstStyle/>
                    <a:p>
                      <a:pPr lvl="0" algn="ctr">
                        <a:lnSpc>
                          <a:spcPct val="100000"/>
                        </a:lnSpc>
                        <a:spcBef>
                          <a:spcPts val="0"/>
                        </a:spcBef>
                        <a:spcAft>
                          <a:spcPts val="0"/>
                        </a:spcAft>
                        <a:buNone/>
                      </a:pPr>
                      <a:r>
                        <a:rPr lang="en-US" sz="1000" b="0" i="0" u="none" strike="noStrike" noProof="0" dirty="0">
                          <a:solidFill>
                            <a:srgbClr val="000000"/>
                          </a:solidFill>
                          <a:latin typeface="+mn-lt"/>
                        </a:rPr>
                        <a:t>Credit usage visibility</a:t>
                      </a:r>
                    </a:p>
                  </a:txBody>
                  <a:tcPr anchor="ctr">
                    <a:solidFill>
                      <a:schemeClr val="bg1">
                        <a:lumMod val="95000"/>
                      </a:schemeClr>
                    </a:solidFill>
                  </a:tcPr>
                </a:tc>
                <a:tc>
                  <a:txBody>
                    <a:bodyPr/>
                    <a:lstStyle/>
                    <a:p>
                      <a:pPr marL="0" algn="ctr" rtl="0" eaLnBrk="1" latinLnBrk="0" hangingPunct="1"/>
                      <a:r>
                        <a:rPr lang="en-US" sz="1000" b="0" i="0" u="none" strike="noStrike" kern="1200" noProof="0" dirty="0">
                          <a:solidFill>
                            <a:srgbClr val="000000"/>
                          </a:solidFill>
                          <a:latin typeface="+mn-lt"/>
                        </a:rPr>
                        <a:t>5</a:t>
                      </a:r>
                    </a:p>
                  </a:txBody>
                  <a:tcPr anchor="ctr">
                    <a:solidFill>
                      <a:schemeClr val="bg1">
                        <a:lumMod val="95000"/>
                      </a:schemeClr>
                    </a:solidFill>
                  </a:tcPr>
                </a:tc>
                <a:tc>
                  <a:txBody>
                    <a:bodyPr/>
                    <a:lstStyle/>
                    <a:p>
                      <a:pPr marL="0" algn="ctr" rtl="0" eaLnBrk="1" latinLnBrk="0" hangingPunct="1"/>
                      <a:r>
                        <a:rPr lang="en-US" sz="1000" b="0" i="0" u="none" strike="noStrike" kern="1200" noProof="0" dirty="0">
                          <a:solidFill>
                            <a:srgbClr val="000000"/>
                          </a:solidFill>
                          <a:latin typeface="+mn-lt"/>
                        </a:rPr>
                        <a:t>Bar chart</a:t>
                      </a:r>
                    </a:p>
                  </a:txBody>
                  <a:tcPr anchor="ctr">
                    <a:solidFill>
                      <a:schemeClr val="bg1">
                        <a:lumMod val="95000"/>
                      </a:schemeClr>
                    </a:solidFill>
                  </a:tcPr>
                </a:tc>
                <a:tc>
                  <a:txBody>
                    <a:bodyPr/>
                    <a:lstStyle/>
                    <a:p>
                      <a:pPr marL="0" algn="ctr" rtl="0" eaLnBrk="1" latinLnBrk="0" hangingPunct="1"/>
                      <a:r>
                        <a:rPr lang="en-US" sz="1000" b="0" i="0" u="none" strike="noStrike" kern="1200" noProof="0">
                          <a:solidFill>
                            <a:srgbClr val="000000"/>
                          </a:solidFill>
                          <a:latin typeface="+mn-lt"/>
                        </a:rPr>
                        <a:t>Shows the usage by environment, account and warehouse in a single view </a:t>
                      </a:r>
                      <a:r>
                        <a:rPr kumimoji="0" lang="en-US" sz="1000">
                          <a:solidFill>
                            <a:schemeClr val="tx1"/>
                          </a:solidFill>
                          <a:latin typeface="+mn-lt"/>
                        </a:rPr>
                        <a:t>with drill capability from higher to lower and vice-versa.</a:t>
                      </a:r>
                      <a:endParaRPr lang="en-US" sz="1000" b="0" i="0" u="none" strike="noStrike" kern="1200" noProof="0">
                        <a:solidFill>
                          <a:srgbClr val="000000"/>
                        </a:solidFill>
                        <a:latin typeface="+mn-lt"/>
                      </a:endParaRP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Required</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2012711696"/>
                  </a:ext>
                </a:extLst>
              </a:tr>
              <a:tr h="814044">
                <a:tc>
                  <a:txBody>
                    <a:bodyPr/>
                    <a:lstStyle/>
                    <a:p>
                      <a:pPr algn="ctr"/>
                      <a:r>
                        <a:rPr lang="en-US" sz="1000">
                          <a:solidFill>
                            <a:schemeClr val="tx1"/>
                          </a:solidFill>
                          <a:latin typeface="+mn-lt"/>
                        </a:rPr>
                        <a:t>2</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u="none" strike="noStrike" noProof="0">
                          <a:solidFill>
                            <a:srgbClr val="000000"/>
                          </a:solidFill>
                          <a:latin typeface="+mn-lt"/>
                        </a:rPr>
                        <a:t>Credit usage visibility,</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u="none" strike="noStrike" noProof="0">
                          <a:solidFill>
                            <a:srgbClr val="000000"/>
                          </a:solidFill>
                          <a:latin typeface="+mn-lt"/>
                        </a:rPr>
                        <a:t>Anomaly detection</a:t>
                      </a:r>
                    </a:p>
                  </a:txBody>
                  <a:tcPr anchor="ctr">
                    <a:solidFill>
                      <a:schemeClr val="bg1">
                        <a:lumMod val="95000"/>
                      </a:schemeClr>
                    </a:solidFill>
                  </a:tcPr>
                </a:tc>
                <a:tc>
                  <a:txBody>
                    <a:bodyPr/>
                    <a:lstStyle/>
                    <a:p>
                      <a:pPr marL="0" marR="0" lvl="0" indent="0" algn="ctr">
                        <a:lnSpc>
                          <a:spcPct val="100000"/>
                        </a:lnSpc>
                        <a:spcBef>
                          <a:spcPts val="0"/>
                        </a:spcBef>
                        <a:spcAft>
                          <a:spcPts val="0"/>
                        </a:spcAft>
                        <a:buNone/>
                      </a:pPr>
                      <a:r>
                        <a:rPr kumimoji="0" lang="en-US" sz="1000">
                          <a:solidFill>
                            <a:schemeClr val="tx1"/>
                          </a:solidFill>
                          <a:latin typeface="+mn-lt"/>
                        </a:rPr>
                        <a:t>5</a:t>
                      </a:r>
                    </a:p>
                  </a:txBody>
                  <a:tcPr anchor="ctr">
                    <a:solidFill>
                      <a:schemeClr val="bg1">
                        <a:lumMod val="95000"/>
                      </a:schemeClr>
                    </a:solidFill>
                  </a:tcPr>
                </a:tc>
                <a:tc>
                  <a:txBody>
                    <a:bodyPr/>
                    <a:lstStyle/>
                    <a:p>
                      <a:pPr marL="0" marR="0" lvl="0" indent="0" algn="ctr">
                        <a:lnSpc>
                          <a:spcPct val="100000"/>
                        </a:lnSpc>
                        <a:spcBef>
                          <a:spcPts val="0"/>
                        </a:spcBef>
                        <a:spcAft>
                          <a:spcPts val="0"/>
                        </a:spcAft>
                        <a:buNone/>
                      </a:pPr>
                      <a:r>
                        <a:rPr kumimoji="0" lang="en-US" sz="1000" dirty="0">
                          <a:solidFill>
                            <a:schemeClr val="tx1"/>
                          </a:solidFill>
                          <a:latin typeface="+mn-lt"/>
                        </a:rPr>
                        <a:t>Area chart</a:t>
                      </a:r>
                    </a:p>
                  </a:txBody>
                  <a:tcPr anchor="ctr">
                    <a:solidFill>
                      <a:schemeClr val="bg1">
                        <a:lumMod val="95000"/>
                      </a:schemeClr>
                    </a:solidFill>
                  </a:tcPr>
                </a:tc>
                <a:tc>
                  <a:txBody>
                    <a:bodyPr/>
                    <a:lstStyle/>
                    <a:p>
                      <a:pPr marL="0" marR="0" lvl="0" indent="0" algn="ctr">
                        <a:lnSpc>
                          <a:spcPct val="100000"/>
                        </a:lnSpc>
                        <a:spcBef>
                          <a:spcPts val="0"/>
                        </a:spcBef>
                        <a:spcAft>
                          <a:spcPts val="0"/>
                        </a:spcAft>
                        <a:buNone/>
                      </a:pPr>
                      <a:r>
                        <a:rPr kumimoji="0" lang="en-US" sz="1000" dirty="0">
                          <a:solidFill>
                            <a:schemeClr val="tx1"/>
                          </a:solidFill>
                          <a:latin typeface="+mn-lt"/>
                        </a:rPr>
                        <a:t>Depicts the overall usage trend by quarter, month, week, day in a single view with drill capability from higher to lower and vice-versa and conditional formatting to highlight anomalies.</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Required</a:t>
                      </a:r>
                      <a:endParaRPr kumimoji="0" lang="en-US" sz="1000" b="0" i="0" u="none" strike="noStrike" kern="1200" cap="none" spc="0" normalizeH="0" baseline="0" noProof="0">
                        <a:ln>
                          <a:noFill/>
                        </a:ln>
                        <a:solidFill>
                          <a:srgbClr val="000000"/>
                        </a:solidFill>
                        <a:effectLst/>
                        <a:uLnTx/>
                        <a:uFillTx/>
                        <a:latin typeface="+mn-lt"/>
                        <a:ea typeface="+mn-ea"/>
                        <a:cs typeface="+mn-cs"/>
                      </a:endParaRP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chemeClr val="tx1"/>
                        </a:solidFill>
                        <a:effectLst/>
                        <a:uLnTx/>
                        <a:uFillTx/>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3318944014"/>
                  </a:ext>
                </a:extLst>
              </a:tr>
              <a:tr h="11271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3</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u="none" strike="noStrike" noProof="0">
                          <a:solidFill>
                            <a:srgbClr val="000000"/>
                          </a:solidFill>
                          <a:latin typeface="+mn-lt"/>
                        </a:rPr>
                        <a:t>Credit usage visibility</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a:solidFill>
                            <a:schemeClr val="tx1"/>
                          </a:solidFill>
                          <a:latin typeface="+mn-lt"/>
                        </a:rPr>
                        <a:t>5</a:t>
                      </a:r>
                    </a:p>
                  </a:txBody>
                  <a:tcPr anchor="ctr">
                    <a:solidFill>
                      <a:schemeClr val="bg1">
                        <a:lumMod val="95000"/>
                      </a:schemeClr>
                    </a:solidFill>
                  </a:tcPr>
                </a:tc>
                <a:tc>
                  <a:txBody>
                    <a:bodyPr/>
                    <a:lstStyle/>
                    <a:p>
                      <a:pPr marL="0" marR="0" lvl="0" indent="0" algn="ctr" rtl="0">
                        <a:lnSpc>
                          <a:spcPct val="100000"/>
                        </a:lnSpc>
                        <a:spcBef>
                          <a:spcPts val="0"/>
                        </a:spcBef>
                        <a:spcAft>
                          <a:spcPts val="0"/>
                        </a:spcAft>
                        <a:buClrTx/>
                        <a:buSzTx/>
                        <a:buFontTx/>
                        <a:buNone/>
                      </a:pPr>
                      <a:r>
                        <a:rPr kumimoji="0" lang="en-US" sz="1000" b="0" i="0" u="none" strike="noStrike" kern="1200" cap="none" spc="0" normalizeH="0" baseline="0" noProof="0">
                          <a:ln>
                            <a:noFill/>
                          </a:ln>
                          <a:solidFill>
                            <a:schemeClr val="tx1"/>
                          </a:solidFill>
                          <a:effectLst/>
                          <a:uLnTx/>
                          <a:uFillTx/>
                          <a:latin typeface="+mn-lt"/>
                          <a:ea typeface="+mn-ea"/>
                          <a:cs typeface="+mn-cs"/>
                        </a:rPr>
                        <a:t>Line chart</a:t>
                      </a:r>
                    </a:p>
                  </a:txBody>
                  <a:tcPr anchor="ctr">
                    <a:solidFill>
                      <a:schemeClr val="bg1">
                        <a:lumMod val="95000"/>
                      </a:schemeClr>
                    </a:solidFill>
                  </a:tcPr>
                </a:tc>
                <a:tc>
                  <a:txBody>
                    <a:bodyPr/>
                    <a:lstStyle/>
                    <a:p>
                      <a:pPr marL="0" marR="0" lvl="0" indent="0" algn="ctr" rtl="0">
                        <a:lnSpc>
                          <a:spcPct val="100000"/>
                        </a:lnSpc>
                        <a:spcBef>
                          <a:spcPts val="0"/>
                        </a:spcBef>
                        <a:spcAft>
                          <a:spcPts val="0"/>
                        </a:spcAft>
                        <a:buClrTx/>
                        <a:buSzTx/>
                        <a:buFontTx/>
                        <a:buNone/>
                      </a:pPr>
                      <a:r>
                        <a:rPr kumimoji="0" lang="en-US" sz="1000" b="0" i="0" u="none" strike="noStrike" kern="1200" cap="none" spc="0" normalizeH="0" baseline="0" noProof="0" dirty="0">
                          <a:ln>
                            <a:noFill/>
                          </a:ln>
                          <a:solidFill>
                            <a:schemeClr val="tx1"/>
                          </a:solidFill>
                          <a:effectLst/>
                          <a:uLnTx/>
                          <a:uFillTx/>
                          <a:latin typeface="+mn-lt"/>
                          <a:ea typeface="+mn-ea"/>
                          <a:cs typeface="+mn-cs"/>
                        </a:rPr>
                        <a:t>Depicts the usage trend for different environments trends by </a:t>
                      </a:r>
                      <a:r>
                        <a:rPr kumimoji="0" lang="en-US" sz="1000" dirty="0">
                          <a:solidFill>
                            <a:schemeClr val="tx1"/>
                          </a:solidFill>
                          <a:latin typeface="+mn-lt"/>
                        </a:rPr>
                        <a:t>quarter, month, week, day in a single view with drill capability from higher to lower and vice-versa.</a:t>
                      </a:r>
                      <a:endParaRPr kumimoji="0" lang="en-US" sz="1000" b="0" i="0" u="none" strike="noStrike" kern="1200" cap="none" spc="0" normalizeH="0" baseline="0" noProof="0" dirty="0">
                        <a:ln>
                          <a:noFill/>
                        </a:ln>
                        <a:solidFill>
                          <a:schemeClr val="tx1"/>
                        </a:solidFill>
                        <a:effectLst/>
                        <a:uLnTx/>
                        <a:uFillTx/>
                        <a:latin typeface="+mn-lt"/>
                        <a:ea typeface="+mn-ea"/>
                        <a:cs typeface="+mn-cs"/>
                      </a:endParaRP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Aspirational</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chemeClr val="tx1"/>
                        </a:solidFill>
                        <a:effectLst/>
                        <a:uLnTx/>
                        <a:uFillTx/>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2615708042"/>
                  </a:ext>
                </a:extLst>
              </a:tr>
              <a:tr h="11271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4</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u="none" strike="noStrike" noProof="0">
                          <a:solidFill>
                            <a:srgbClr val="000000"/>
                          </a:solidFill>
                          <a:latin typeface="+mn-lt"/>
                        </a:rPr>
                        <a:t>Credit usage visibility</a:t>
                      </a:r>
                    </a:p>
                  </a:txBody>
                  <a:tcPr anchor="ctr">
                    <a:solidFill>
                      <a:schemeClr val="bg1">
                        <a:lumMod val="95000"/>
                      </a:schemeClr>
                    </a:solidFill>
                  </a:tcPr>
                </a:tc>
                <a:tc>
                  <a:txBody>
                    <a:bodyPr/>
                    <a:lstStyle/>
                    <a:p>
                      <a:pPr marL="0" lvl="0" algn="ctr" rtl="0">
                        <a:buNone/>
                      </a:pPr>
                      <a:r>
                        <a:rPr lang="en-US" sz="1000">
                          <a:solidFill>
                            <a:schemeClr val="tx1"/>
                          </a:solidFill>
                          <a:latin typeface="+mn-lt"/>
                        </a:rPr>
                        <a:t>5</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Line chart</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Depicts the usage trend for different accounts trends by </a:t>
                      </a:r>
                      <a:r>
                        <a:rPr kumimoji="0" lang="en-US" sz="1000">
                          <a:solidFill>
                            <a:schemeClr val="tx1"/>
                          </a:solidFill>
                          <a:latin typeface="+mn-lt"/>
                        </a:rPr>
                        <a:t>quarter, month, week, day in a single view with drill capability from higher to lower and vice-versa.</a:t>
                      </a:r>
                      <a:endParaRPr kumimoji="0" lang="en-US" sz="1000" b="0" i="0" u="none" strike="noStrike" kern="1200" cap="none" spc="0" normalizeH="0" baseline="0" noProof="0">
                        <a:ln>
                          <a:noFill/>
                        </a:ln>
                        <a:solidFill>
                          <a:schemeClr val="tx1"/>
                        </a:solidFill>
                        <a:effectLst/>
                        <a:uLnTx/>
                        <a:uFillTx/>
                        <a:latin typeface="+mn-lt"/>
                        <a:ea typeface="+mn-ea"/>
                        <a:cs typeface="+mn-cs"/>
                      </a:endParaRP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n-lt"/>
                          <a:ea typeface="+mn-ea"/>
                          <a:cs typeface="+mn-cs"/>
                        </a:rPr>
                        <a:t>Aspirational</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chemeClr val="tx1"/>
                        </a:solidFill>
                        <a:effectLst/>
                        <a:uLnTx/>
                        <a:uFillTx/>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892817511"/>
                  </a:ext>
                </a:extLst>
              </a:tr>
            </a:tbl>
          </a:graphicData>
        </a:graphic>
      </p:graphicFrame>
    </p:spTree>
    <p:extLst>
      <p:ext uri="{BB962C8B-B14F-4D97-AF65-F5344CB8AC3E}">
        <p14:creationId xmlns:p14="http://schemas.microsoft.com/office/powerpoint/2010/main" val="18657769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F5814-913E-4F65-099E-2819F47D8E7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D9E3A4B-7B09-F54D-57E2-AD79F5BE692C}"/>
              </a:ext>
            </a:extLst>
          </p:cNvPr>
          <p:cNvSpPr txBox="1">
            <a:spLocks/>
          </p:cNvSpPr>
          <p:nvPr/>
        </p:nvSpPr>
        <p:spPr>
          <a:xfrm>
            <a:off x="284550" y="216713"/>
            <a:ext cx="11904087" cy="509780"/>
          </a:xfrm>
          <a:prstGeom prst="rect">
            <a:avLst/>
          </a:prstGeom>
        </p:spPr>
        <p:txBody>
          <a:bodyPr lIns="91440" tIns="45720" rIns="91440" bIns="45720" anchor="t"/>
          <a:lstStyle>
            <a:lvl1pPr algn="l" defTabSz="914400" rtl="0" eaLnBrk="1" latinLnBrk="0" hangingPunct="1">
              <a:lnSpc>
                <a:spcPct val="100000"/>
              </a:lnSpc>
              <a:spcBef>
                <a:spcPct val="0"/>
              </a:spcBef>
              <a:buNone/>
              <a:defRPr sz="3400" b="0" i="0" kern="1200">
                <a:solidFill>
                  <a:srgbClr val="0076CF"/>
                </a:solidFill>
                <a:latin typeface="FS Elliot Pro Light" panose="02000503040000020004" pitchFamily="2" charset="0"/>
                <a:ea typeface="+mj-ea"/>
                <a:cs typeface="+mj-cs"/>
              </a:defRPr>
            </a:lvl1pPr>
          </a:lstStyle>
          <a:p>
            <a:pPr>
              <a:defRPr/>
            </a:pPr>
            <a:r>
              <a:rPr lang="en-US" sz="3200">
                <a:latin typeface="FS Elliot Pro Light"/>
              </a:rPr>
              <a:t>Cost Management – Usage details</a:t>
            </a:r>
            <a:endParaRPr lang="en-US">
              <a:ea typeface="+mj-ea"/>
              <a:cs typeface="+mj-cs"/>
            </a:endParaRPr>
          </a:p>
        </p:txBody>
      </p:sp>
      <p:sp>
        <p:nvSpPr>
          <p:cNvPr id="45" name="Rectangle 44">
            <a:extLst>
              <a:ext uri="{FF2B5EF4-FFF2-40B4-BE49-F238E27FC236}">
                <a16:creationId xmlns:a16="http://schemas.microsoft.com/office/drawing/2014/main" id="{98655C7C-8351-91F9-5A74-5F96D718F466}"/>
              </a:ext>
            </a:extLst>
          </p:cNvPr>
          <p:cNvSpPr/>
          <p:nvPr/>
        </p:nvSpPr>
        <p:spPr>
          <a:xfrm>
            <a:off x="394952" y="1219540"/>
            <a:ext cx="900448" cy="361309"/>
          </a:xfrm>
          <a:prstGeom prst="rect">
            <a:avLst/>
          </a:prstGeom>
          <a:no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 name="Rectangle 1">
            <a:extLst>
              <a:ext uri="{FF2B5EF4-FFF2-40B4-BE49-F238E27FC236}">
                <a16:creationId xmlns:a16="http://schemas.microsoft.com/office/drawing/2014/main" id="{489D5303-A77E-A23C-503D-2A19D6A89DFD}"/>
              </a:ext>
            </a:extLst>
          </p:cNvPr>
          <p:cNvSpPr/>
          <p:nvPr/>
        </p:nvSpPr>
        <p:spPr>
          <a:xfrm>
            <a:off x="828961" y="782546"/>
            <a:ext cx="11130975" cy="323141"/>
          </a:xfrm>
          <a:prstGeom prst="rect">
            <a:avLst/>
          </a:prstGeom>
          <a:solidFill>
            <a:schemeClr val="tx2">
              <a:lumMod val="20000"/>
              <a:lumOff val="8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15888">
              <a:buFont typeface="Wingdings" panose="05000000000000000000" pitchFamily="2" charset="2"/>
              <a:buChar char="ü"/>
            </a:pPr>
            <a:r>
              <a:rPr lang="en-US" sz="1100">
                <a:solidFill>
                  <a:schemeClr val="tx1"/>
                </a:solidFill>
              </a:rPr>
              <a:t>Drill through page to provide additional insights into the usage details based upon the filter context</a:t>
            </a:r>
          </a:p>
        </p:txBody>
      </p:sp>
      <p:grpSp>
        <p:nvGrpSpPr>
          <p:cNvPr id="3" name="Graphic 4">
            <a:extLst>
              <a:ext uri="{FF2B5EF4-FFF2-40B4-BE49-F238E27FC236}">
                <a16:creationId xmlns:a16="http://schemas.microsoft.com/office/drawing/2014/main" id="{30AFE33E-03A4-751F-6670-BBFF2F7CE6B3}"/>
              </a:ext>
            </a:extLst>
          </p:cNvPr>
          <p:cNvGrpSpPr>
            <a:grpSpLocks noChangeAspect="1"/>
          </p:cNvGrpSpPr>
          <p:nvPr/>
        </p:nvGrpSpPr>
        <p:grpSpPr>
          <a:xfrm>
            <a:off x="427888" y="696089"/>
            <a:ext cx="496522" cy="496054"/>
            <a:chOff x="1952125" y="1402723"/>
            <a:chExt cx="362313" cy="361971"/>
          </a:xfrm>
          <a:solidFill>
            <a:schemeClr val="tx2">
              <a:lumMod val="60000"/>
              <a:lumOff val="40000"/>
            </a:schemeClr>
          </a:solidFill>
        </p:grpSpPr>
        <p:sp>
          <p:nvSpPr>
            <p:cNvPr id="5" name="Graphic 4">
              <a:extLst>
                <a:ext uri="{FF2B5EF4-FFF2-40B4-BE49-F238E27FC236}">
                  <a16:creationId xmlns:a16="http://schemas.microsoft.com/office/drawing/2014/main" id="{9196265E-8901-6641-6D11-1317FD2254B0}"/>
                </a:ext>
              </a:extLst>
            </p:cNvPr>
            <p:cNvSpPr/>
            <p:nvPr/>
          </p:nvSpPr>
          <p:spPr>
            <a:xfrm>
              <a:off x="2069061" y="1471670"/>
              <a:ext cx="126174" cy="158322"/>
            </a:xfrm>
            <a:custGeom>
              <a:avLst/>
              <a:gdLst>
                <a:gd name="connsiteX0" fmla="*/ 50481 w 126174"/>
                <a:gd name="connsiteY0" fmla="*/ 53626 h 158322"/>
                <a:gd name="connsiteX1" fmla="*/ 40896 w 126174"/>
                <a:gd name="connsiteY1" fmla="*/ 72139 h 158322"/>
                <a:gd name="connsiteX2" fmla="*/ 35145 w 126174"/>
                <a:gd name="connsiteY2" fmla="*/ 75969 h 158322"/>
                <a:gd name="connsiteX3" fmla="*/ 0 w 126174"/>
                <a:gd name="connsiteY3" fmla="*/ 105974 h 158322"/>
                <a:gd name="connsiteX4" fmla="*/ 32589 w 126174"/>
                <a:gd name="connsiteY4" fmla="*/ 121296 h 158322"/>
                <a:gd name="connsiteX5" fmla="*/ 36423 w 126174"/>
                <a:gd name="connsiteY5" fmla="*/ 128318 h 158322"/>
                <a:gd name="connsiteX6" fmla="*/ 46008 w 126174"/>
                <a:gd name="connsiteY6" fmla="*/ 151939 h 158322"/>
                <a:gd name="connsiteX7" fmla="*/ 68372 w 126174"/>
                <a:gd name="connsiteY7" fmla="*/ 144916 h 158322"/>
                <a:gd name="connsiteX8" fmla="*/ 73484 w 126174"/>
                <a:gd name="connsiteY8" fmla="*/ 142363 h 158322"/>
                <a:gd name="connsiteX9" fmla="*/ 76040 w 126174"/>
                <a:gd name="connsiteY9" fmla="*/ 143001 h 158322"/>
                <a:gd name="connsiteX10" fmla="*/ 108629 w 126174"/>
                <a:gd name="connsiteY10" fmla="*/ 158323 h 158322"/>
                <a:gd name="connsiteX11" fmla="*/ 111824 w 126174"/>
                <a:gd name="connsiteY11" fmla="*/ 110443 h 158322"/>
                <a:gd name="connsiteX12" fmla="*/ 111824 w 126174"/>
                <a:gd name="connsiteY12" fmla="*/ 104697 h 158322"/>
                <a:gd name="connsiteX13" fmla="*/ 118214 w 126174"/>
                <a:gd name="connsiteY13" fmla="*/ 0 h 158322"/>
                <a:gd name="connsiteX14" fmla="*/ 53676 w 126174"/>
                <a:gd name="connsiteY14" fmla="*/ 49795 h 158322"/>
                <a:gd name="connsiteX15" fmla="*/ 50481 w 126174"/>
                <a:gd name="connsiteY15" fmla="*/ 53626 h 158322"/>
                <a:gd name="connsiteX16" fmla="*/ 99683 w 126174"/>
                <a:gd name="connsiteY16" fmla="*/ 91929 h 158322"/>
                <a:gd name="connsiteX17" fmla="*/ 72206 w 126174"/>
                <a:gd name="connsiteY17" fmla="*/ 119381 h 158322"/>
                <a:gd name="connsiteX18" fmla="*/ 44730 w 126174"/>
                <a:gd name="connsiteY18" fmla="*/ 91929 h 158322"/>
                <a:gd name="connsiteX19" fmla="*/ 72206 w 126174"/>
                <a:gd name="connsiteY19" fmla="*/ 64478 h 158322"/>
                <a:gd name="connsiteX20" fmla="*/ 99683 w 126174"/>
                <a:gd name="connsiteY20" fmla="*/ 91929 h 158322"/>
                <a:gd name="connsiteX21" fmla="*/ 99683 w 126174"/>
                <a:gd name="connsiteY21" fmla="*/ 91929 h 158322"/>
                <a:gd name="connsiteX22" fmla="*/ 99683 w 126174"/>
                <a:gd name="connsiteY22" fmla="*/ 91929 h 158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6174" h="158322">
                  <a:moveTo>
                    <a:pt x="50481" y="53626"/>
                  </a:moveTo>
                  <a:cubicBezTo>
                    <a:pt x="46647" y="59371"/>
                    <a:pt x="44091" y="65755"/>
                    <a:pt x="40896" y="72139"/>
                  </a:cubicBezTo>
                  <a:cubicBezTo>
                    <a:pt x="39618" y="74693"/>
                    <a:pt x="37701" y="75969"/>
                    <a:pt x="35145" y="75969"/>
                  </a:cubicBezTo>
                  <a:cubicBezTo>
                    <a:pt x="17892" y="76608"/>
                    <a:pt x="3195" y="88737"/>
                    <a:pt x="0" y="105974"/>
                  </a:cubicBezTo>
                  <a:lnTo>
                    <a:pt x="32589" y="121296"/>
                  </a:lnTo>
                  <a:cubicBezTo>
                    <a:pt x="35145" y="122573"/>
                    <a:pt x="36423" y="125126"/>
                    <a:pt x="36423" y="128318"/>
                  </a:cubicBezTo>
                  <a:cubicBezTo>
                    <a:pt x="36423" y="128318"/>
                    <a:pt x="33867" y="146832"/>
                    <a:pt x="46008" y="151939"/>
                  </a:cubicBezTo>
                  <a:cubicBezTo>
                    <a:pt x="58148" y="157046"/>
                    <a:pt x="68372" y="145555"/>
                    <a:pt x="68372" y="144916"/>
                  </a:cubicBezTo>
                  <a:cubicBezTo>
                    <a:pt x="69650" y="143640"/>
                    <a:pt x="71567" y="142363"/>
                    <a:pt x="73484" y="142363"/>
                  </a:cubicBezTo>
                  <a:cubicBezTo>
                    <a:pt x="74123" y="142363"/>
                    <a:pt x="75401" y="142363"/>
                    <a:pt x="76040" y="143001"/>
                  </a:cubicBezTo>
                  <a:lnTo>
                    <a:pt x="108629" y="158323"/>
                  </a:lnTo>
                  <a:cubicBezTo>
                    <a:pt x="117575" y="143640"/>
                    <a:pt x="118853" y="125765"/>
                    <a:pt x="111824" y="110443"/>
                  </a:cubicBezTo>
                  <a:cubicBezTo>
                    <a:pt x="111185" y="108528"/>
                    <a:pt x="111185" y="106613"/>
                    <a:pt x="111824" y="104697"/>
                  </a:cubicBezTo>
                  <a:cubicBezTo>
                    <a:pt x="111824" y="104059"/>
                    <a:pt x="139301" y="49795"/>
                    <a:pt x="118214" y="0"/>
                  </a:cubicBezTo>
                  <a:cubicBezTo>
                    <a:pt x="106712" y="2554"/>
                    <a:pt x="77318" y="12130"/>
                    <a:pt x="53676" y="49795"/>
                  </a:cubicBezTo>
                  <a:cubicBezTo>
                    <a:pt x="52398" y="51710"/>
                    <a:pt x="51759" y="52987"/>
                    <a:pt x="50481" y="53626"/>
                  </a:cubicBezTo>
                  <a:close/>
                  <a:moveTo>
                    <a:pt x="99683" y="91929"/>
                  </a:moveTo>
                  <a:cubicBezTo>
                    <a:pt x="99683" y="107251"/>
                    <a:pt x="87542" y="119381"/>
                    <a:pt x="72206" y="119381"/>
                  </a:cubicBezTo>
                  <a:cubicBezTo>
                    <a:pt x="56871" y="119381"/>
                    <a:pt x="44730" y="107251"/>
                    <a:pt x="44730" y="91929"/>
                  </a:cubicBezTo>
                  <a:cubicBezTo>
                    <a:pt x="44730" y="76608"/>
                    <a:pt x="56871" y="64478"/>
                    <a:pt x="72206" y="64478"/>
                  </a:cubicBezTo>
                  <a:cubicBezTo>
                    <a:pt x="87542" y="65117"/>
                    <a:pt x="99683" y="77246"/>
                    <a:pt x="99683" y="91929"/>
                  </a:cubicBezTo>
                  <a:cubicBezTo>
                    <a:pt x="99683" y="92568"/>
                    <a:pt x="99683" y="92568"/>
                    <a:pt x="99683" y="91929"/>
                  </a:cubicBezTo>
                  <a:lnTo>
                    <a:pt x="99683" y="91929"/>
                  </a:lnTo>
                  <a:close/>
                </a:path>
              </a:pathLst>
            </a:custGeom>
            <a:grpFill/>
            <a:ln w="6390" cap="flat">
              <a:noFill/>
              <a:prstDash val="solid"/>
              <a:miter/>
            </a:ln>
          </p:spPr>
          <p:txBody>
            <a:bodyPr rtlCol="0" anchor="ctr"/>
            <a:lstStyle/>
            <a:p>
              <a:endParaRPr lang="en-US"/>
            </a:p>
          </p:txBody>
        </p:sp>
        <p:sp>
          <p:nvSpPr>
            <p:cNvPr id="7" name="Graphic 4">
              <a:extLst>
                <a:ext uri="{FF2B5EF4-FFF2-40B4-BE49-F238E27FC236}">
                  <a16:creationId xmlns:a16="http://schemas.microsoft.com/office/drawing/2014/main" id="{84243777-A6B2-F49F-006B-5A3BA3D87D66}"/>
                </a:ext>
              </a:extLst>
            </p:cNvPr>
            <p:cNvSpPr/>
            <p:nvPr/>
          </p:nvSpPr>
          <p:spPr>
            <a:xfrm>
              <a:off x="2043501" y="1527211"/>
              <a:ext cx="180835" cy="126402"/>
            </a:xfrm>
            <a:custGeom>
              <a:avLst/>
              <a:gdLst>
                <a:gd name="connsiteX0" fmla="*/ 180835 w 180835"/>
                <a:gd name="connsiteY0" fmla="*/ 5746 h 126402"/>
                <a:gd name="connsiteX1" fmla="*/ 175084 w 180835"/>
                <a:gd name="connsiteY1" fmla="*/ 0 h 126402"/>
                <a:gd name="connsiteX2" fmla="*/ 175084 w 180835"/>
                <a:gd name="connsiteY2" fmla="*/ 0 h 126402"/>
                <a:gd name="connsiteX3" fmla="*/ 163582 w 180835"/>
                <a:gd name="connsiteY3" fmla="*/ 0 h 126402"/>
                <a:gd name="connsiteX4" fmla="*/ 149525 w 180835"/>
                <a:gd name="connsiteY4" fmla="*/ 52987 h 126402"/>
                <a:gd name="connsiteX5" fmla="*/ 140579 w 180835"/>
                <a:gd name="connsiteY5" fmla="*/ 115550 h 126402"/>
                <a:gd name="connsiteX6" fmla="*/ 135467 w 180835"/>
                <a:gd name="connsiteY6" fmla="*/ 118104 h 126402"/>
                <a:gd name="connsiteX7" fmla="*/ 132911 w 180835"/>
                <a:gd name="connsiteY7" fmla="*/ 117465 h 126402"/>
                <a:gd name="connsiteX8" fmla="*/ 99044 w 180835"/>
                <a:gd name="connsiteY8" fmla="*/ 101505 h 126402"/>
                <a:gd name="connsiteX9" fmla="*/ 65177 w 180835"/>
                <a:gd name="connsiteY9" fmla="*/ 108528 h 126402"/>
                <a:gd name="connsiteX10" fmla="*/ 47925 w 180835"/>
                <a:gd name="connsiteY10" fmla="*/ 75969 h 126402"/>
                <a:gd name="connsiteX11" fmla="*/ 14697 w 180835"/>
                <a:gd name="connsiteY11" fmla="*/ 60009 h 126402"/>
                <a:gd name="connsiteX12" fmla="*/ 11502 w 180835"/>
                <a:gd name="connsiteY12" fmla="*/ 52987 h 126402"/>
                <a:gd name="connsiteX13" fmla="*/ 56232 w 180835"/>
                <a:gd name="connsiteY13" fmla="*/ 8299 h 126402"/>
                <a:gd name="connsiteX14" fmla="*/ 60066 w 180835"/>
                <a:gd name="connsiteY14" fmla="*/ 0 h 126402"/>
                <a:gd name="connsiteX15" fmla="*/ 5751 w 180835"/>
                <a:gd name="connsiteY15" fmla="*/ 0 h 126402"/>
                <a:gd name="connsiteX16" fmla="*/ 0 w 180835"/>
                <a:gd name="connsiteY16" fmla="*/ 5746 h 126402"/>
                <a:gd name="connsiteX17" fmla="*/ 0 w 180835"/>
                <a:gd name="connsiteY17" fmla="*/ 5746 h 126402"/>
                <a:gd name="connsiteX18" fmla="*/ 0 w 180835"/>
                <a:gd name="connsiteY18" fmla="*/ 126403 h 126402"/>
                <a:gd name="connsiteX19" fmla="*/ 180835 w 180835"/>
                <a:gd name="connsiteY19" fmla="*/ 126403 h 126402"/>
                <a:gd name="connsiteX20" fmla="*/ 180835 w 180835"/>
                <a:gd name="connsiteY20" fmla="*/ 5746 h 12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80835" h="126402">
                  <a:moveTo>
                    <a:pt x="180835" y="5746"/>
                  </a:moveTo>
                  <a:cubicBezTo>
                    <a:pt x="180835" y="2554"/>
                    <a:pt x="178279" y="0"/>
                    <a:pt x="175084" y="0"/>
                  </a:cubicBezTo>
                  <a:lnTo>
                    <a:pt x="175084" y="0"/>
                  </a:lnTo>
                  <a:lnTo>
                    <a:pt x="163582" y="0"/>
                  </a:lnTo>
                  <a:cubicBezTo>
                    <a:pt x="161666" y="18514"/>
                    <a:pt x="157192" y="36389"/>
                    <a:pt x="149525" y="52987"/>
                  </a:cubicBezTo>
                  <a:cubicBezTo>
                    <a:pt x="157832" y="74054"/>
                    <a:pt x="154637" y="97675"/>
                    <a:pt x="140579" y="115550"/>
                  </a:cubicBezTo>
                  <a:cubicBezTo>
                    <a:pt x="139301" y="116827"/>
                    <a:pt x="137384" y="118104"/>
                    <a:pt x="135467" y="118104"/>
                  </a:cubicBezTo>
                  <a:cubicBezTo>
                    <a:pt x="134828" y="118104"/>
                    <a:pt x="133550" y="118104"/>
                    <a:pt x="132911" y="117465"/>
                  </a:cubicBezTo>
                  <a:lnTo>
                    <a:pt x="99044" y="101505"/>
                  </a:lnTo>
                  <a:cubicBezTo>
                    <a:pt x="90098" y="110443"/>
                    <a:pt x="76679" y="112996"/>
                    <a:pt x="65177" y="108528"/>
                  </a:cubicBezTo>
                  <a:cubicBezTo>
                    <a:pt x="49203" y="100867"/>
                    <a:pt x="47286" y="84269"/>
                    <a:pt x="47925" y="75969"/>
                  </a:cubicBezTo>
                  <a:lnTo>
                    <a:pt x="14697" y="60009"/>
                  </a:lnTo>
                  <a:cubicBezTo>
                    <a:pt x="12141" y="58733"/>
                    <a:pt x="10863" y="56179"/>
                    <a:pt x="11502" y="52987"/>
                  </a:cubicBezTo>
                  <a:cubicBezTo>
                    <a:pt x="17892" y="20429"/>
                    <a:pt x="41535" y="9576"/>
                    <a:pt x="56232" y="8299"/>
                  </a:cubicBezTo>
                  <a:cubicBezTo>
                    <a:pt x="57509" y="5746"/>
                    <a:pt x="58788" y="2554"/>
                    <a:pt x="60066" y="0"/>
                  </a:cubicBezTo>
                  <a:lnTo>
                    <a:pt x="5751" y="0"/>
                  </a:lnTo>
                  <a:cubicBezTo>
                    <a:pt x="2556" y="0"/>
                    <a:pt x="0" y="2554"/>
                    <a:pt x="0" y="5746"/>
                  </a:cubicBezTo>
                  <a:lnTo>
                    <a:pt x="0" y="5746"/>
                  </a:lnTo>
                  <a:lnTo>
                    <a:pt x="0" y="126403"/>
                  </a:lnTo>
                  <a:lnTo>
                    <a:pt x="180835" y="126403"/>
                  </a:lnTo>
                  <a:lnTo>
                    <a:pt x="180835" y="5746"/>
                  </a:lnTo>
                  <a:close/>
                </a:path>
              </a:pathLst>
            </a:custGeom>
            <a:grpFill/>
            <a:ln w="6390" cap="flat">
              <a:noFill/>
              <a:prstDash val="solid"/>
              <a:miter/>
            </a:ln>
          </p:spPr>
          <p:txBody>
            <a:bodyPr rtlCol="0" anchor="ctr"/>
            <a:lstStyle/>
            <a:p>
              <a:endParaRPr lang="en-US"/>
            </a:p>
          </p:txBody>
        </p:sp>
        <p:sp>
          <p:nvSpPr>
            <p:cNvPr id="8" name="Graphic 4">
              <a:extLst>
                <a:ext uri="{FF2B5EF4-FFF2-40B4-BE49-F238E27FC236}">
                  <a16:creationId xmlns:a16="http://schemas.microsoft.com/office/drawing/2014/main" id="{28044671-CC61-D5FF-9D25-3C08FDAB61CD}"/>
                </a:ext>
              </a:extLst>
            </p:cNvPr>
            <p:cNvSpPr/>
            <p:nvPr/>
          </p:nvSpPr>
          <p:spPr>
            <a:xfrm>
              <a:off x="2126570" y="1549555"/>
              <a:ext cx="29393" cy="29366"/>
            </a:xfrm>
            <a:custGeom>
              <a:avLst/>
              <a:gdLst>
                <a:gd name="connsiteX0" fmla="*/ 14697 w 29393"/>
                <a:gd name="connsiteY0" fmla="*/ 29366 h 29366"/>
                <a:gd name="connsiteX1" fmla="*/ 29394 w 29393"/>
                <a:gd name="connsiteY1" fmla="*/ 14683 h 29366"/>
                <a:gd name="connsiteX2" fmla="*/ 14697 w 29393"/>
                <a:gd name="connsiteY2" fmla="*/ 0 h 29366"/>
                <a:gd name="connsiteX3" fmla="*/ 0 w 29393"/>
                <a:gd name="connsiteY3" fmla="*/ 14683 h 29366"/>
                <a:gd name="connsiteX4" fmla="*/ 14697 w 29393"/>
                <a:gd name="connsiteY4" fmla="*/ 29366 h 29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93" h="29366">
                  <a:moveTo>
                    <a:pt x="14697" y="29366"/>
                  </a:moveTo>
                  <a:cubicBezTo>
                    <a:pt x="23004" y="29366"/>
                    <a:pt x="29394" y="22982"/>
                    <a:pt x="29394" y="14683"/>
                  </a:cubicBezTo>
                  <a:cubicBezTo>
                    <a:pt x="29394" y="6384"/>
                    <a:pt x="23004" y="0"/>
                    <a:pt x="14697" y="0"/>
                  </a:cubicBezTo>
                  <a:cubicBezTo>
                    <a:pt x="6390" y="0"/>
                    <a:pt x="0" y="6384"/>
                    <a:pt x="0" y="14683"/>
                  </a:cubicBezTo>
                  <a:cubicBezTo>
                    <a:pt x="0" y="22982"/>
                    <a:pt x="6390" y="29366"/>
                    <a:pt x="14697" y="29366"/>
                  </a:cubicBezTo>
                  <a:close/>
                </a:path>
              </a:pathLst>
            </a:custGeom>
            <a:grpFill/>
            <a:ln w="6390" cap="flat">
              <a:noFill/>
              <a:prstDash val="solid"/>
              <a:miter/>
            </a:ln>
          </p:spPr>
          <p:txBody>
            <a:bodyPr rtlCol="0" anchor="ctr"/>
            <a:lstStyle/>
            <a:p>
              <a:endParaRPr lang="en-US"/>
            </a:p>
          </p:txBody>
        </p:sp>
        <p:sp>
          <p:nvSpPr>
            <p:cNvPr id="9" name="Graphic 4">
              <a:extLst>
                <a:ext uri="{FF2B5EF4-FFF2-40B4-BE49-F238E27FC236}">
                  <a16:creationId xmlns:a16="http://schemas.microsoft.com/office/drawing/2014/main" id="{A2879FB1-4694-D139-4FCB-437037744378}"/>
                </a:ext>
              </a:extLst>
            </p:cNvPr>
            <p:cNvSpPr/>
            <p:nvPr/>
          </p:nvSpPr>
          <p:spPr>
            <a:xfrm>
              <a:off x="2033278" y="1666381"/>
              <a:ext cx="201283" cy="3191"/>
            </a:xfrm>
            <a:custGeom>
              <a:avLst/>
              <a:gdLst>
                <a:gd name="connsiteX0" fmla="*/ 3834 w 201283"/>
                <a:gd name="connsiteY0" fmla="*/ 0 h 3191"/>
                <a:gd name="connsiteX1" fmla="*/ 0 w 201283"/>
                <a:gd name="connsiteY1" fmla="*/ 0 h 3191"/>
                <a:gd name="connsiteX2" fmla="*/ 7029 w 201283"/>
                <a:gd name="connsiteY2" fmla="*/ 3192 h 3191"/>
                <a:gd name="connsiteX3" fmla="*/ 194254 w 201283"/>
                <a:gd name="connsiteY3" fmla="*/ 3192 h 3191"/>
                <a:gd name="connsiteX4" fmla="*/ 201283 w 201283"/>
                <a:gd name="connsiteY4" fmla="*/ 0 h 3191"/>
                <a:gd name="connsiteX5" fmla="*/ 3834 w 201283"/>
                <a:gd name="connsiteY5" fmla="*/ 0 h 3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1283" h="3191">
                  <a:moveTo>
                    <a:pt x="3834" y="0"/>
                  </a:moveTo>
                  <a:lnTo>
                    <a:pt x="0" y="0"/>
                  </a:lnTo>
                  <a:cubicBezTo>
                    <a:pt x="1917" y="1915"/>
                    <a:pt x="4473" y="3192"/>
                    <a:pt x="7029" y="3192"/>
                  </a:cubicBezTo>
                  <a:lnTo>
                    <a:pt x="194254" y="3192"/>
                  </a:lnTo>
                  <a:cubicBezTo>
                    <a:pt x="196810" y="3192"/>
                    <a:pt x="199366" y="1915"/>
                    <a:pt x="201283" y="0"/>
                  </a:cubicBezTo>
                  <a:lnTo>
                    <a:pt x="3834" y="0"/>
                  </a:lnTo>
                  <a:close/>
                </a:path>
              </a:pathLst>
            </a:custGeom>
            <a:grpFill/>
            <a:ln w="6390" cap="flat">
              <a:noFill/>
              <a:prstDash val="solid"/>
              <a:miter/>
            </a:ln>
          </p:spPr>
          <p:txBody>
            <a:bodyPr rtlCol="0" anchor="ctr"/>
            <a:lstStyle/>
            <a:p>
              <a:endParaRPr lang="en-US"/>
            </a:p>
          </p:txBody>
        </p:sp>
        <p:sp>
          <p:nvSpPr>
            <p:cNvPr id="10" name="Graphic 4">
              <a:extLst>
                <a:ext uri="{FF2B5EF4-FFF2-40B4-BE49-F238E27FC236}">
                  <a16:creationId xmlns:a16="http://schemas.microsoft.com/office/drawing/2014/main" id="{2256E0D9-1666-5B3D-44C5-5DE2F0A94482}"/>
                </a:ext>
              </a:extLst>
            </p:cNvPr>
            <p:cNvSpPr/>
            <p:nvPr/>
          </p:nvSpPr>
          <p:spPr>
            <a:xfrm>
              <a:off x="1952125" y="1402723"/>
              <a:ext cx="362313" cy="361971"/>
            </a:xfrm>
            <a:custGeom>
              <a:avLst/>
              <a:gdLst>
                <a:gd name="connsiteX0" fmla="*/ 181474 w 362313"/>
                <a:gd name="connsiteY0" fmla="*/ 0 h 361971"/>
                <a:gd name="connsiteX1" fmla="*/ 0 w 362313"/>
                <a:gd name="connsiteY1" fmla="*/ 180667 h 361971"/>
                <a:gd name="connsiteX2" fmla="*/ 180835 w 362313"/>
                <a:gd name="connsiteY2" fmla="*/ 361972 h 361971"/>
                <a:gd name="connsiteX3" fmla="*/ 362310 w 362313"/>
                <a:gd name="connsiteY3" fmla="*/ 181305 h 361971"/>
                <a:gd name="connsiteX4" fmla="*/ 362310 w 362313"/>
                <a:gd name="connsiteY4" fmla="*/ 181305 h 361971"/>
                <a:gd name="connsiteX5" fmla="*/ 181474 w 362313"/>
                <a:gd name="connsiteY5" fmla="*/ 0 h 361971"/>
                <a:gd name="connsiteX6" fmla="*/ 275406 w 362313"/>
                <a:gd name="connsiteY6" fmla="*/ 279618 h 361971"/>
                <a:gd name="connsiteX7" fmla="*/ 88181 w 362313"/>
                <a:gd name="connsiteY7" fmla="*/ 279618 h 361971"/>
                <a:gd name="connsiteX8" fmla="*/ 65816 w 362313"/>
                <a:gd name="connsiteY8" fmla="*/ 257274 h 361971"/>
                <a:gd name="connsiteX9" fmla="*/ 72206 w 362313"/>
                <a:gd name="connsiteY9" fmla="*/ 250890 h 361971"/>
                <a:gd name="connsiteX10" fmla="*/ 78596 w 362313"/>
                <a:gd name="connsiteY10" fmla="*/ 250890 h 361971"/>
                <a:gd name="connsiteX11" fmla="*/ 78596 w 362313"/>
                <a:gd name="connsiteY11" fmla="*/ 130233 h 361971"/>
                <a:gd name="connsiteX12" fmla="*/ 97127 w 362313"/>
                <a:gd name="connsiteY12" fmla="*/ 111720 h 361971"/>
                <a:gd name="connsiteX13" fmla="*/ 97127 w 362313"/>
                <a:gd name="connsiteY13" fmla="*/ 111720 h 361971"/>
                <a:gd name="connsiteX14" fmla="*/ 159109 w 362313"/>
                <a:gd name="connsiteY14" fmla="*/ 111720 h 361971"/>
                <a:gd name="connsiteX15" fmla="*/ 237067 w 362313"/>
                <a:gd name="connsiteY15" fmla="*/ 56817 h 361971"/>
                <a:gd name="connsiteX16" fmla="*/ 243457 w 362313"/>
                <a:gd name="connsiteY16" fmla="*/ 60648 h 361971"/>
                <a:gd name="connsiteX17" fmla="*/ 254958 w 362313"/>
                <a:gd name="connsiteY17" fmla="*/ 112358 h 361971"/>
                <a:gd name="connsiteX18" fmla="*/ 265821 w 362313"/>
                <a:gd name="connsiteY18" fmla="*/ 112358 h 361971"/>
                <a:gd name="connsiteX19" fmla="*/ 284352 w 362313"/>
                <a:gd name="connsiteY19" fmla="*/ 130872 h 361971"/>
                <a:gd name="connsiteX20" fmla="*/ 284352 w 362313"/>
                <a:gd name="connsiteY20" fmla="*/ 130872 h 361971"/>
                <a:gd name="connsiteX21" fmla="*/ 284352 w 362313"/>
                <a:gd name="connsiteY21" fmla="*/ 251529 h 361971"/>
                <a:gd name="connsiteX22" fmla="*/ 290742 w 362313"/>
                <a:gd name="connsiteY22" fmla="*/ 251529 h 361971"/>
                <a:gd name="connsiteX23" fmla="*/ 297132 w 362313"/>
                <a:gd name="connsiteY23" fmla="*/ 257913 h 361971"/>
                <a:gd name="connsiteX24" fmla="*/ 275406 w 362313"/>
                <a:gd name="connsiteY24" fmla="*/ 279618 h 361971"/>
                <a:gd name="connsiteX25" fmla="*/ 275406 w 362313"/>
                <a:gd name="connsiteY25" fmla="*/ 279618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62313" h="361971">
                  <a:moveTo>
                    <a:pt x="181474" y="0"/>
                  </a:moveTo>
                  <a:cubicBezTo>
                    <a:pt x="81152" y="0"/>
                    <a:pt x="0" y="81077"/>
                    <a:pt x="0" y="180667"/>
                  </a:cubicBezTo>
                  <a:cubicBezTo>
                    <a:pt x="0" y="280895"/>
                    <a:pt x="81152" y="361972"/>
                    <a:pt x="180835" y="361972"/>
                  </a:cubicBezTo>
                  <a:cubicBezTo>
                    <a:pt x="281157" y="361972"/>
                    <a:pt x="362310" y="280895"/>
                    <a:pt x="362310" y="181305"/>
                  </a:cubicBezTo>
                  <a:cubicBezTo>
                    <a:pt x="362310" y="181305"/>
                    <a:pt x="362310" y="181305"/>
                    <a:pt x="362310" y="181305"/>
                  </a:cubicBezTo>
                  <a:cubicBezTo>
                    <a:pt x="362948" y="80438"/>
                    <a:pt x="281796" y="0"/>
                    <a:pt x="181474" y="0"/>
                  </a:cubicBezTo>
                  <a:close/>
                  <a:moveTo>
                    <a:pt x="275406" y="279618"/>
                  </a:moveTo>
                  <a:lnTo>
                    <a:pt x="88181" y="279618"/>
                  </a:lnTo>
                  <a:cubicBezTo>
                    <a:pt x="76040" y="279618"/>
                    <a:pt x="65816" y="269404"/>
                    <a:pt x="65816" y="257274"/>
                  </a:cubicBezTo>
                  <a:cubicBezTo>
                    <a:pt x="65816" y="253444"/>
                    <a:pt x="68372" y="250890"/>
                    <a:pt x="72206" y="250890"/>
                  </a:cubicBezTo>
                  <a:lnTo>
                    <a:pt x="78596" y="250890"/>
                  </a:lnTo>
                  <a:lnTo>
                    <a:pt x="78596" y="130233"/>
                  </a:lnTo>
                  <a:cubicBezTo>
                    <a:pt x="78596" y="120019"/>
                    <a:pt x="86903" y="111720"/>
                    <a:pt x="97127" y="111720"/>
                  </a:cubicBezTo>
                  <a:lnTo>
                    <a:pt x="97127" y="111720"/>
                  </a:lnTo>
                  <a:lnTo>
                    <a:pt x="159109" y="111720"/>
                  </a:lnTo>
                  <a:cubicBezTo>
                    <a:pt x="191698" y="61286"/>
                    <a:pt x="235150" y="56817"/>
                    <a:pt x="237067" y="56817"/>
                  </a:cubicBezTo>
                  <a:cubicBezTo>
                    <a:pt x="239623" y="56817"/>
                    <a:pt x="242179" y="58094"/>
                    <a:pt x="243457" y="60648"/>
                  </a:cubicBezTo>
                  <a:cubicBezTo>
                    <a:pt x="251124" y="76608"/>
                    <a:pt x="254958" y="94483"/>
                    <a:pt x="254958" y="112358"/>
                  </a:cubicBezTo>
                  <a:lnTo>
                    <a:pt x="265821" y="112358"/>
                  </a:lnTo>
                  <a:cubicBezTo>
                    <a:pt x="276045" y="112358"/>
                    <a:pt x="284352" y="120657"/>
                    <a:pt x="284352" y="130872"/>
                  </a:cubicBezTo>
                  <a:lnTo>
                    <a:pt x="284352" y="130872"/>
                  </a:lnTo>
                  <a:lnTo>
                    <a:pt x="284352" y="251529"/>
                  </a:lnTo>
                  <a:lnTo>
                    <a:pt x="290742" y="251529"/>
                  </a:lnTo>
                  <a:cubicBezTo>
                    <a:pt x="294576" y="251529"/>
                    <a:pt x="297132" y="254082"/>
                    <a:pt x="297132" y="257913"/>
                  </a:cubicBezTo>
                  <a:cubicBezTo>
                    <a:pt x="297771" y="269404"/>
                    <a:pt x="287547" y="278980"/>
                    <a:pt x="275406" y="279618"/>
                  </a:cubicBezTo>
                  <a:lnTo>
                    <a:pt x="275406" y="279618"/>
                  </a:lnTo>
                  <a:close/>
                </a:path>
              </a:pathLst>
            </a:custGeom>
            <a:grpFill/>
            <a:ln w="6390" cap="flat">
              <a:noFill/>
              <a:prstDash val="solid"/>
              <a:miter/>
            </a:ln>
          </p:spPr>
          <p:txBody>
            <a:bodyPr rtlCol="0" anchor="ctr"/>
            <a:lstStyle/>
            <a:p>
              <a:endParaRPr lang="en-US"/>
            </a:p>
          </p:txBody>
        </p:sp>
      </p:grpSp>
      <p:sp>
        <p:nvSpPr>
          <p:cNvPr id="16" name="Callout: Line 15">
            <a:extLst>
              <a:ext uri="{FF2B5EF4-FFF2-40B4-BE49-F238E27FC236}">
                <a16:creationId xmlns:a16="http://schemas.microsoft.com/office/drawing/2014/main" id="{826BA7B0-A4A9-9240-3979-6432DF646065}"/>
              </a:ext>
            </a:extLst>
          </p:cNvPr>
          <p:cNvSpPr/>
          <p:nvPr/>
        </p:nvSpPr>
        <p:spPr>
          <a:xfrm>
            <a:off x="10662556" y="1572279"/>
            <a:ext cx="424542" cy="236766"/>
          </a:xfrm>
          <a:prstGeom prst="borderCallout1">
            <a:avLst>
              <a:gd name="adj1" fmla="val 18750"/>
              <a:gd name="adj2" fmla="val -8333"/>
              <a:gd name="adj3" fmla="val 174569"/>
              <a:gd name="adj4" fmla="val -146026"/>
            </a:avLst>
          </a:prstGeom>
          <a:solidFill>
            <a:schemeClr val="bg1"/>
          </a:solidFill>
          <a:ln>
            <a:solidFill>
              <a:schemeClr val="bg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a:t>
            </a:r>
          </a:p>
        </p:txBody>
      </p:sp>
      <p:sp>
        <p:nvSpPr>
          <p:cNvPr id="17" name="Callout: Line 16">
            <a:extLst>
              <a:ext uri="{FF2B5EF4-FFF2-40B4-BE49-F238E27FC236}">
                <a16:creationId xmlns:a16="http://schemas.microsoft.com/office/drawing/2014/main" id="{9BA2EE40-89B2-C391-BBA8-D40FA4EFD8CA}"/>
              </a:ext>
            </a:extLst>
          </p:cNvPr>
          <p:cNvSpPr/>
          <p:nvPr/>
        </p:nvSpPr>
        <p:spPr>
          <a:xfrm>
            <a:off x="10662556" y="4935885"/>
            <a:ext cx="424542" cy="236766"/>
          </a:xfrm>
          <a:prstGeom prst="borderCallout1">
            <a:avLst>
              <a:gd name="adj1" fmla="val 18750"/>
              <a:gd name="adj2" fmla="val -8333"/>
              <a:gd name="adj3" fmla="val 174569"/>
              <a:gd name="adj4" fmla="val -146026"/>
            </a:avLst>
          </a:prstGeom>
          <a:solidFill>
            <a:schemeClr val="bg1"/>
          </a:solidFill>
          <a:ln>
            <a:solidFill>
              <a:schemeClr val="bg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3</a:t>
            </a:r>
          </a:p>
        </p:txBody>
      </p:sp>
      <p:sp>
        <p:nvSpPr>
          <p:cNvPr id="18" name="Callout: Line 17">
            <a:extLst>
              <a:ext uri="{FF2B5EF4-FFF2-40B4-BE49-F238E27FC236}">
                <a16:creationId xmlns:a16="http://schemas.microsoft.com/office/drawing/2014/main" id="{4F7F75A7-FA9B-A39F-FB0C-A011A3AB6DF7}"/>
              </a:ext>
            </a:extLst>
          </p:cNvPr>
          <p:cNvSpPr/>
          <p:nvPr/>
        </p:nvSpPr>
        <p:spPr>
          <a:xfrm>
            <a:off x="10662556" y="3237749"/>
            <a:ext cx="424542" cy="236766"/>
          </a:xfrm>
          <a:prstGeom prst="borderCallout1">
            <a:avLst>
              <a:gd name="adj1" fmla="val 18750"/>
              <a:gd name="adj2" fmla="val -8333"/>
              <a:gd name="adj3" fmla="val 174569"/>
              <a:gd name="adj4" fmla="val -146026"/>
            </a:avLst>
          </a:prstGeom>
          <a:solidFill>
            <a:schemeClr val="bg1"/>
          </a:solidFill>
          <a:ln>
            <a:solidFill>
              <a:schemeClr val="bg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sp>
        <p:nvSpPr>
          <p:cNvPr id="21" name="TextBox 20">
            <a:extLst>
              <a:ext uri="{FF2B5EF4-FFF2-40B4-BE49-F238E27FC236}">
                <a16:creationId xmlns:a16="http://schemas.microsoft.com/office/drawing/2014/main" id="{A48445F6-4B36-86BB-368B-F1E7E3E04C2E}"/>
              </a:ext>
            </a:extLst>
          </p:cNvPr>
          <p:cNvSpPr txBox="1"/>
          <p:nvPr/>
        </p:nvSpPr>
        <p:spPr>
          <a:xfrm>
            <a:off x="457200" y="1645920"/>
            <a:ext cx="1371600" cy="246221"/>
          </a:xfrm>
          <a:prstGeom prst="rect">
            <a:avLst/>
          </a:prstGeom>
          <a:noFill/>
          <a:ln>
            <a:solidFill>
              <a:schemeClr val="bg1">
                <a:lumMod val="75000"/>
              </a:schemeClr>
            </a:solidFill>
          </a:ln>
        </p:spPr>
        <p:txBody>
          <a:bodyPr wrap="square" rtlCol="0" anchor="ctr">
            <a:spAutoFit/>
          </a:bodyPr>
          <a:lstStyle/>
          <a:p>
            <a:pPr algn="ctr"/>
            <a:r>
              <a:rPr lang="en-US" sz="1000">
                <a:solidFill>
                  <a:schemeClr val="tx1"/>
                </a:solidFill>
              </a:rPr>
              <a:t>Drill-through page</a:t>
            </a:r>
          </a:p>
        </p:txBody>
      </p:sp>
      <p:pic>
        <p:nvPicPr>
          <p:cNvPr id="6" name="Picture 5">
            <a:extLst>
              <a:ext uri="{FF2B5EF4-FFF2-40B4-BE49-F238E27FC236}">
                <a16:creationId xmlns:a16="http://schemas.microsoft.com/office/drawing/2014/main" id="{EEEDA55B-D46E-53D7-DCD7-72258391D6D0}"/>
              </a:ext>
            </a:extLst>
          </p:cNvPr>
          <p:cNvPicPr>
            <a:picLocks/>
          </p:cNvPicPr>
          <p:nvPr/>
        </p:nvPicPr>
        <p:blipFill>
          <a:blip r:embed="rId3"/>
          <a:stretch>
            <a:fillRect/>
          </a:stretch>
        </p:blipFill>
        <p:spPr>
          <a:xfrm>
            <a:off x="2164080" y="1216152"/>
            <a:ext cx="7863840" cy="5394960"/>
          </a:xfrm>
          <a:prstGeom prst="rect">
            <a:avLst/>
          </a:prstGeom>
          <a:ln>
            <a:solidFill>
              <a:schemeClr val="bg1">
                <a:lumMod val="75000"/>
              </a:schemeClr>
            </a:solidFill>
          </a:ln>
        </p:spPr>
      </p:pic>
    </p:spTree>
    <p:extLst>
      <p:ext uri="{BB962C8B-B14F-4D97-AF65-F5344CB8AC3E}">
        <p14:creationId xmlns:p14="http://schemas.microsoft.com/office/powerpoint/2010/main" val="25939984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5EA4E-6FF4-8816-F217-58875D1A314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21281E1-F8AE-8E6B-721E-15883B7330FF}"/>
              </a:ext>
            </a:extLst>
          </p:cNvPr>
          <p:cNvSpPr txBox="1">
            <a:spLocks/>
          </p:cNvSpPr>
          <p:nvPr/>
        </p:nvSpPr>
        <p:spPr>
          <a:xfrm>
            <a:off x="284550" y="216713"/>
            <a:ext cx="11904087" cy="509780"/>
          </a:xfrm>
          <a:prstGeom prst="rect">
            <a:avLst/>
          </a:prstGeom>
        </p:spPr>
        <p:txBody>
          <a:bodyPr lIns="91440" tIns="45720" rIns="91440" bIns="45720" anchor="t"/>
          <a:lstStyle>
            <a:lvl1pPr algn="l" defTabSz="914400" rtl="0" eaLnBrk="1" latinLnBrk="0" hangingPunct="1">
              <a:lnSpc>
                <a:spcPct val="100000"/>
              </a:lnSpc>
              <a:spcBef>
                <a:spcPct val="0"/>
              </a:spcBef>
              <a:buNone/>
              <a:defRPr sz="3400" b="0" i="0" kern="1200">
                <a:solidFill>
                  <a:srgbClr val="0076CF"/>
                </a:solidFill>
                <a:latin typeface="FS Elliot Pro Light" panose="02000503040000020004" pitchFamily="2" charset="0"/>
                <a:ea typeface="+mj-ea"/>
                <a:cs typeface="+mj-cs"/>
              </a:defRPr>
            </a:lvl1pPr>
          </a:lstStyle>
          <a:p>
            <a:pPr>
              <a:defRPr/>
            </a:pPr>
            <a:r>
              <a:rPr kumimoji="0" lang="en-US" sz="3200" b="0" i="0" u="none" strike="noStrike" kern="1200" cap="none" spc="0" normalizeH="0" baseline="0" noProof="0">
                <a:ln>
                  <a:noFill/>
                </a:ln>
                <a:solidFill>
                  <a:srgbClr val="0076CF"/>
                </a:solidFill>
                <a:effectLst/>
                <a:uLnTx/>
                <a:uFillTx/>
                <a:latin typeface="FS Elliot Pro Light"/>
              </a:rPr>
              <a:t>Cost Management </a:t>
            </a:r>
            <a:r>
              <a:rPr lang="en-US" sz="3200">
                <a:latin typeface="FS Elliot Pro Light"/>
              </a:rPr>
              <a:t>– Usage details page </a:t>
            </a:r>
            <a:r>
              <a:rPr kumimoji="0" lang="en-US" sz="3200" b="0" i="0" u="none" strike="noStrike" kern="1200" cap="none" spc="0" normalizeH="0" baseline="0" noProof="0">
                <a:ln>
                  <a:noFill/>
                </a:ln>
                <a:solidFill>
                  <a:srgbClr val="0076CF"/>
                </a:solidFill>
                <a:effectLst/>
                <a:uLnTx/>
                <a:uFillTx/>
                <a:latin typeface="FS Elliot Pro Light"/>
              </a:rPr>
              <a:t>summary</a:t>
            </a:r>
          </a:p>
        </p:txBody>
      </p:sp>
      <p:graphicFrame>
        <p:nvGraphicFramePr>
          <p:cNvPr id="6" name="Table 5">
            <a:extLst>
              <a:ext uri="{FF2B5EF4-FFF2-40B4-BE49-F238E27FC236}">
                <a16:creationId xmlns:a16="http://schemas.microsoft.com/office/drawing/2014/main" id="{6E13AD4D-5FA3-B3C9-CF37-777C97B9F902}"/>
              </a:ext>
            </a:extLst>
          </p:cNvPr>
          <p:cNvGraphicFramePr>
            <a:graphicFrameLocks noGrp="1"/>
          </p:cNvGraphicFramePr>
          <p:nvPr>
            <p:extLst>
              <p:ext uri="{D42A27DB-BD31-4B8C-83A1-F6EECF244321}">
                <p14:modId xmlns:p14="http://schemas.microsoft.com/office/powerpoint/2010/main" val="1696839965"/>
              </p:ext>
            </p:extLst>
          </p:nvPr>
        </p:nvGraphicFramePr>
        <p:xfrm>
          <a:off x="394855" y="931959"/>
          <a:ext cx="11430000" cy="4518750"/>
        </p:xfrm>
        <a:graphic>
          <a:graphicData uri="http://schemas.openxmlformats.org/drawingml/2006/table">
            <a:tbl>
              <a:tblPr firstRow="1" bandRow="1">
                <a:tableStyleId>{5C22544A-7EE6-4342-B048-85BDC9FD1C3A}</a:tableStyleId>
              </a:tblPr>
              <a:tblGrid>
                <a:gridCol w="449322">
                  <a:extLst>
                    <a:ext uri="{9D8B030D-6E8A-4147-A177-3AD203B41FA5}">
                      <a16:colId xmlns:a16="http://schemas.microsoft.com/office/drawing/2014/main" val="1227872876"/>
                    </a:ext>
                  </a:extLst>
                </a:gridCol>
                <a:gridCol w="1179932">
                  <a:extLst>
                    <a:ext uri="{9D8B030D-6E8A-4147-A177-3AD203B41FA5}">
                      <a16:colId xmlns:a16="http://schemas.microsoft.com/office/drawing/2014/main" val="3573294361"/>
                    </a:ext>
                  </a:extLst>
                </a:gridCol>
                <a:gridCol w="807868">
                  <a:extLst>
                    <a:ext uri="{9D8B030D-6E8A-4147-A177-3AD203B41FA5}">
                      <a16:colId xmlns:a16="http://schemas.microsoft.com/office/drawing/2014/main" val="684506535"/>
                    </a:ext>
                  </a:extLst>
                </a:gridCol>
                <a:gridCol w="1327901">
                  <a:extLst>
                    <a:ext uri="{9D8B030D-6E8A-4147-A177-3AD203B41FA5}">
                      <a16:colId xmlns:a16="http://schemas.microsoft.com/office/drawing/2014/main" val="2881509476"/>
                    </a:ext>
                  </a:extLst>
                </a:gridCol>
                <a:gridCol w="4753303">
                  <a:extLst>
                    <a:ext uri="{9D8B030D-6E8A-4147-A177-3AD203B41FA5}">
                      <a16:colId xmlns:a16="http://schemas.microsoft.com/office/drawing/2014/main" val="3389198070"/>
                    </a:ext>
                  </a:extLst>
                </a:gridCol>
                <a:gridCol w="1651246">
                  <a:extLst>
                    <a:ext uri="{9D8B030D-6E8A-4147-A177-3AD203B41FA5}">
                      <a16:colId xmlns:a16="http://schemas.microsoft.com/office/drawing/2014/main" val="1391104289"/>
                    </a:ext>
                  </a:extLst>
                </a:gridCol>
                <a:gridCol w="1260428">
                  <a:extLst>
                    <a:ext uri="{9D8B030D-6E8A-4147-A177-3AD203B41FA5}">
                      <a16:colId xmlns:a16="http://schemas.microsoft.com/office/drawing/2014/main" val="4206051783"/>
                    </a:ext>
                  </a:extLst>
                </a:gridCol>
              </a:tblGrid>
              <a:tr h="640080">
                <a:tc>
                  <a:txBody>
                    <a:bodyPr/>
                    <a:lstStyle/>
                    <a:p>
                      <a:pPr algn="ctr"/>
                      <a:r>
                        <a:rPr lang="en-US" sz="1100">
                          <a:latin typeface="+mj-lt"/>
                        </a:rPr>
                        <a:t>#</a:t>
                      </a:r>
                    </a:p>
                  </a:txBody>
                  <a:tcPr anchor="ctr">
                    <a:solidFill>
                      <a:srgbClr val="338DCD"/>
                    </a:solidFill>
                  </a:tcPr>
                </a:tc>
                <a:tc>
                  <a:txBody>
                    <a:bodyPr/>
                    <a:lstStyle/>
                    <a:p>
                      <a:pPr algn="ctr"/>
                      <a:r>
                        <a:rPr lang="en-US" sz="1100">
                          <a:latin typeface="+mj-lt"/>
                        </a:rPr>
                        <a:t>Category</a:t>
                      </a:r>
                    </a:p>
                  </a:txBody>
                  <a:tcPr anchor="ctr">
                    <a:solidFill>
                      <a:srgbClr val="338DCD"/>
                    </a:solidFill>
                  </a:tcPr>
                </a:tc>
                <a:tc>
                  <a:txBody>
                    <a:bodyPr/>
                    <a:lstStyle/>
                    <a:p>
                      <a:pPr algn="ctr"/>
                      <a:r>
                        <a:rPr lang="en-US" sz="1100">
                          <a:latin typeface="+mj-lt"/>
                        </a:rPr>
                        <a:t>Category Priority</a:t>
                      </a:r>
                    </a:p>
                  </a:txBody>
                  <a:tcPr anchor="ctr">
                    <a:solidFill>
                      <a:srgbClr val="338DCD"/>
                    </a:solidFill>
                  </a:tcPr>
                </a:tc>
                <a:tc>
                  <a:txBody>
                    <a:bodyPr/>
                    <a:lstStyle/>
                    <a:p>
                      <a:pPr algn="ctr"/>
                      <a:r>
                        <a:rPr lang="en-US" sz="1100">
                          <a:latin typeface="+mj-lt"/>
                        </a:rPr>
                        <a:t>Chart type</a:t>
                      </a:r>
                    </a:p>
                  </a:txBody>
                  <a:tcPr anchor="ctr">
                    <a:solidFill>
                      <a:srgbClr val="338DCD"/>
                    </a:solidFill>
                  </a:tcPr>
                </a:tc>
                <a:tc>
                  <a:txBody>
                    <a:bodyPr/>
                    <a:lstStyle/>
                    <a:p>
                      <a:pPr algn="ctr"/>
                      <a:r>
                        <a:rPr lang="en-US" sz="1100">
                          <a:latin typeface="+mj-lt"/>
                        </a:rPr>
                        <a:t>Description</a:t>
                      </a:r>
                    </a:p>
                  </a:txBody>
                  <a:tcPr anchor="ctr">
                    <a:solidFill>
                      <a:srgbClr val="338DCD"/>
                    </a:solidFill>
                  </a:tcPr>
                </a:tc>
                <a:tc>
                  <a:txBody>
                    <a:bodyPr/>
                    <a:lstStyle/>
                    <a:p>
                      <a:pPr algn="ctr"/>
                      <a:r>
                        <a:rPr lang="en-US" sz="1100">
                          <a:latin typeface="+mj-lt"/>
                        </a:rPr>
                        <a:t>Assessment: </a:t>
                      </a:r>
                      <a:br>
                        <a:rPr lang="en-US" sz="1100">
                          <a:latin typeface="+mj-lt"/>
                        </a:rPr>
                      </a:br>
                      <a:r>
                        <a:rPr lang="en-US" sz="1100">
                          <a:latin typeface="+mj-lt"/>
                        </a:rPr>
                        <a:t>Required, Aspirational</a:t>
                      </a:r>
                    </a:p>
                  </a:txBody>
                  <a:tcPr anchor="ctr">
                    <a:solidFill>
                      <a:srgbClr val="338DCD"/>
                    </a:solidFill>
                  </a:tcPr>
                </a:tc>
                <a:tc>
                  <a:txBody>
                    <a:bodyPr/>
                    <a:lstStyle/>
                    <a:p>
                      <a:pPr algn="ctr"/>
                      <a:r>
                        <a:rPr lang="en-US" sz="1100">
                          <a:latin typeface="+mj-lt"/>
                        </a:rPr>
                        <a:t>Implementation Priority</a:t>
                      </a:r>
                    </a:p>
                  </a:txBody>
                  <a:tcPr anchor="ctr">
                    <a:solidFill>
                      <a:srgbClr val="338DCD"/>
                    </a:solidFill>
                  </a:tcPr>
                </a:tc>
                <a:extLst>
                  <a:ext uri="{0D108BD9-81ED-4DB2-BD59-A6C34878D82A}">
                    <a16:rowId xmlns:a16="http://schemas.microsoft.com/office/drawing/2014/main" val="3024339621"/>
                  </a:ext>
                </a:extLst>
              </a:tr>
              <a:tr h="142481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latin typeface="+mn-lt"/>
                        </a:rPr>
                        <a:t>1</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u="none" strike="noStrike" noProof="0" dirty="0">
                          <a:solidFill>
                            <a:srgbClr val="000000"/>
                          </a:solidFill>
                          <a:latin typeface="+mn-lt"/>
                        </a:rPr>
                        <a:t>Credit usage visibility</a:t>
                      </a:r>
                    </a:p>
                  </a:txBody>
                  <a:tcPr anchor="ctr">
                    <a:solidFill>
                      <a:schemeClr val="bg1">
                        <a:lumMod val="95000"/>
                      </a:schemeClr>
                    </a:solidFill>
                  </a:tcPr>
                </a:tc>
                <a:tc>
                  <a:txBody>
                    <a:bodyPr/>
                    <a:lstStyle/>
                    <a:p>
                      <a:pPr marL="0" algn="ctr" rtl="0" eaLnBrk="1" latinLnBrk="0" hangingPunct="1"/>
                      <a:r>
                        <a:rPr lang="en-US" sz="1000" b="0" i="0" u="none" strike="noStrike" kern="1200" noProof="0" dirty="0">
                          <a:solidFill>
                            <a:srgbClr val="000000"/>
                          </a:solidFill>
                          <a:latin typeface="+mn-lt"/>
                        </a:rPr>
                        <a:t>5</a:t>
                      </a:r>
                    </a:p>
                  </a:txBody>
                  <a:tcPr anchor="ctr">
                    <a:solidFill>
                      <a:schemeClr val="bg1">
                        <a:lumMod val="95000"/>
                      </a:schemeClr>
                    </a:solidFill>
                  </a:tcPr>
                </a:tc>
                <a:tc>
                  <a:txBody>
                    <a:bodyPr/>
                    <a:lstStyle/>
                    <a:p>
                      <a:pPr marL="0" algn="ctr" rtl="0" eaLnBrk="1" latinLnBrk="0" hangingPunct="1"/>
                      <a:r>
                        <a:rPr lang="en-US" sz="1000" b="0" i="0" u="none" strike="noStrike" kern="1200" noProof="0" dirty="0">
                          <a:solidFill>
                            <a:srgbClr val="000000"/>
                          </a:solidFill>
                          <a:latin typeface="+mn-lt"/>
                        </a:rPr>
                        <a:t>Card visual</a:t>
                      </a:r>
                    </a:p>
                  </a:txBody>
                  <a:tcPr anchor="ctr">
                    <a:solidFill>
                      <a:schemeClr val="bg1">
                        <a:lumMod val="95000"/>
                      </a:schemeClr>
                    </a:solidFill>
                  </a:tcPr>
                </a:tc>
                <a:tc>
                  <a:txBody>
                    <a:bodyPr/>
                    <a:lstStyle/>
                    <a:p>
                      <a:pPr marL="0" algn="ctr" rtl="0" eaLnBrk="1" latinLnBrk="0" hangingPunct="1"/>
                      <a:r>
                        <a:rPr lang="en-US" sz="1000" kern="1200" dirty="0">
                          <a:solidFill>
                            <a:schemeClr val="dk1"/>
                          </a:solidFill>
                          <a:latin typeface="+mn-lt"/>
                          <a:ea typeface="+mn-ea"/>
                          <a:cs typeface="+mn-cs"/>
                        </a:rPr>
                        <a:t>Displays the name of the selected environment for which additional insights are being shown.</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Required</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2012711696"/>
                  </a:ext>
                </a:extLst>
              </a:tr>
              <a:tr h="1029034">
                <a:tc>
                  <a:txBody>
                    <a:bodyPr/>
                    <a:lstStyle/>
                    <a:p>
                      <a:pPr algn="ctr"/>
                      <a:r>
                        <a:rPr lang="en-US" sz="1000">
                          <a:solidFill>
                            <a:schemeClr val="tx1"/>
                          </a:solidFill>
                          <a:latin typeface="+mn-lt"/>
                        </a:rPr>
                        <a:t>2</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u="none" strike="noStrike" noProof="0">
                          <a:solidFill>
                            <a:srgbClr val="000000"/>
                          </a:solidFill>
                          <a:latin typeface="+mn-lt"/>
                        </a:rPr>
                        <a:t>Credit usage visibility</a:t>
                      </a:r>
                    </a:p>
                  </a:txBody>
                  <a:tcPr anchor="ctr">
                    <a:solidFill>
                      <a:schemeClr val="bg1">
                        <a:lumMod val="95000"/>
                      </a:schemeClr>
                    </a:solidFill>
                  </a:tcPr>
                </a:tc>
                <a:tc>
                  <a:txBody>
                    <a:bodyPr/>
                    <a:lstStyle/>
                    <a:p>
                      <a:pPr marL="0" marR="0" lvl="0" indent="0" algn="ctr">
                        <a:lnSpc>
                          <a:spcPct val="100000"/>
                        </a:lnSpc>
                        <a:spcBef>
                          <a:spcPts val="0"/>
                        </a:spcBef>
                        <a:spcAft>
                          <a:spcPts val="0"/>
                        </a:spcAft>
                        <a:buNone/>
                      </a:pPr>
                      <a:r>
                        <a:rPr kumimoji="0" lang="en-US" sz="1000">
                          <a:solidFill>
                            <a:schemeClr val="tx1"/>
                          </a:solidFill>
                          <a:latin typeface="+mn-lt"/>
                        </a:rPr>
                        <a:t>5</a:t>
                      </a:r>
                    </a:p>
                  </a:txBody>
                  <a:tcPr anchor="ctr">
                    <a:solidFill>
                      <a:schemeClr val="bg1">
                        <a:lumMod val="95000"/>
                      </a:schemeClr>
                    </a:solidFill>
                  </a:tcPr>
                </a:tc>
                <a:tc>
                  <a:txBody>
                    <a:bodyPr/>
                    <a:lstStyle/>
                    <a:p>
                      <a:pPr marL="0" algn="ctr" rtl="0" eaLnBrk="1" latinLnBrk="0" hangingPunct="1"/>
                      <a:r>
                        <a:rPr lang="en-US" sz="1000" b="0" i="0" u="none" strike="noStrike" kern="1200" noProof="0">
                          <a:solidFill>
                            <a:srgbClr val="000000"/>
                          </a:solidFill>
                          <a:latin typeface="+mn-lt"/>
                        </a:rPr>
                        <a:t>Matrix visual</a:t>
                      </a:r>
                    </a:p>
                  </a:txBody>
                  <a:tcPr anchor="ctr">
                    <a:solidFill>
                      <a:schemeClr val="bg1">
                        <a:lumMod val="95000"/>
                      </a:schemeClr>
                    </a:solidFill>
                  </a:tcPr>
                </a:tc>
                <a:tc>
                  <a:txBody>
                    <a:bodyPr/>
                    <a:lstStyle/>
                    <a:p>
                      <a:pPr marL="0" algn="ctr" rtl="0" eaLnBrk="1" latinLnBrk="0" hangingPunct="1"/>
                      <a:r>
                        <a:rPr lang="en-US" sz="1000" kern="1200" dirty="0">
                          <a:solidFill>
                            <a:schemeClr val="dk1"/>
                          </a:solidFill>
                          <a:latin typeface="+mn-lt"/>
                          <a:ea typeface="+mn-ea"/>
                          <a:cs typeface="+mn-cs"/>
                        </a:rPr>
                        <a:t>Displays the hierarchy in rows such as accounts, warehouse etc. which maps to the selected environment and in values shows different measures such as usage, LY usage and year over year % change.</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Required</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chemeClr val="tx1"/>
                        </a:solidFill>
                        <a:effectLst/>
                        <a:uLnTx/>
                        <a:uFillTx/>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3318944014"/>
                  </a:ext>
                </a:extLst>
              </a:tr>
              <a:tr h="142481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3</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u="none" strike="noStrike" noProof="0">
                          <a:solidFill>
                            <a:srgbClr val="000000"/>
                          </a:solidFill>
                          <a:latin typeface="+mn-lt"/>
                        </a:rPr>
                        <a:t>Credit usage visibility</a:t>
                      </a:r>
                    </a:p>
                  </a:txBody>
                  <a:tcPr anchor="ctr">
                    <a:solidFill>
                      <a:schemeClr val="bg1">
                        <a:lumMod val="95000"/>
                      </a:schemeClr>
                    </a:solidFill>
                  </a:tcPr>
                </a:tc>
                <a:tc>
                  <a:txBody>
                    <a:bodyPr/>
                    <a:lstStyle/>
                    <a:p>
                      <a:pPr marL="0" marR="0" lvl="0" indent="0" algn="ctr" rtl="0">
                        <a:lnSpc>
                          <a:spcPct val="100000"/>
                        </a:lnSpc>
                        <a:spcBef>
                          <a:spcPts val="0"/>
                        </a:spcBef>
                        <a:spcAft>
                          <a:spcPts val="0"/>
                        </a:spcAft>
                        <a:buClrTx/>
                        <a:buSzTx/>
                        <a:buFontTx/>
                        <a:buNone/>
                      </a:pPr>
                      <a:r>
                        <a:rPr kumimoji="0" lang="en-US" sz="1000" b="0" i="0" u="none" strike="noStrike" kern="1200" cap="none" spc="0" normalizeH="0" baseline="0" noProof="0">
                          <a:ln>
                            <a:noFill/>
                          </a:ln>
                          <a:solidFill>
                            <a:schemeClr val="tx1"/>
                          </a:solidFill>
                          <a:effectLst/>
                          <a:uLnTx/>
                          <a:uFillTx/>
                          <a:latin typeface="+mn-lt"/>
                          <a:ea typeface="+mn-ea"/>
                          <a:cs typeface="+mn-cs"/>
                        </a:rPr>
                        <a:t>5</a:t>
                      </a:r>
                    </a:p>
                  </a:txBody>
                  <a:tcPr anchor="ctr">
                    <a:solidFill>
                      <a:schemeClr val="bg1">
                        <a:lumMod val="95000"/>
                      </a:schemeClr>
                    </a:solidFill>
                  </a:tcPr>
                </a:tc>
                <a:tc>
                  <a:txBody>
                    <a:bodyPr/>
                    <a:lstStyle/>
                    <a:p>
                      <a:pPr marL="0" algn="ctr" rtl="0" eaLnBrk="1" latinLnBrk="0" hangingPunct="1"/>
                      <a:r>
                        <a:rPr lang="en-US" sz="1000" b="0" i="0" u="none" strike="noStrike" kern="1200" noProof="0">
                          <a:solidFill>
                            <a:srgbClr val="000000"/>
                          </a:solidFill>
                          <a:latin typeface="+mn-lt"/>
                        </a:rPr>
                        <a:t>Table visual</a:t>
                      </a:r>
                    </a:p>
                  </a:txBody>
                  <a:tcPr anchor="ctr">
                    <a:solidFill>
                      <a:schemeClr val="bg1">
                        <a:lumMod val="95000"/>
                      </a:schemeClr>
                    </a:solidFill>
                  </a:tcPr>
                </a:tc>
                <a:tc>
                  <a:txBody>
                    <a:bodyPr/>
                    <a:lstStyle/>
                    <a:p>
                      <a:pPr marL="0" algn="ctr" rtl="0" eaLnBrk="1" latinLnBrk="0" hangingPunct="1"/>
                      <a:r>
                        <a:rPr lang="en-US" sz="1000" kern="1200" dirty="0">
                          <a:solidFill>
                            <a:schemeClr val="dk1"/>
                          </a:solidFill>
                          <a:latin typeface="+mn-lt"/>
                          <a:ea typeface="+mn-ea"/>
                          <a:cs typeface="+mn-cs"/>
                        </a:rPr>
                        <a:t>Shows the top 5 users and their corresponding division, department etc. alongside query type, query ID and the respective usage.</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mn-lt"/>
                          <a:ea typeface="+mn-ea"/>
                          <a:cs typeface="+mn-cs"/>
                        </a:rPr>
                        <a:t>Required</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chemeClr val="tx1"/>
                        </a:solidFill>
                        <a:effectLst/>
                        <a:uLnTx/>
                        <a:uFillTx/>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2615708042"/>
                  </a:ext>
                </a:extLst>
              </a:tr>
            </a:tbl>
          </a:graphicData>
        </a:graphic>
      </p:graphicFrame>
    </p:spTree>
    <p:extLst>
      <p:ext uri="{BB962C8B-B14F-4D97-AF65-F5344CB8AC3E}">
        <p14:creationId xmlns:p14="http://schemas.microsoft.com/office/powerpoint/2010/main" val="27689668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D88AD-684F-3731-FDFA-C20D4FE68A90}"/>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3C95348E-DDC5-C6A4-B504-54E37AC15D60}"/>
              </a:ext>
            </a:extLst>
          </p:cNvPr>
          <p:cNvSpPr/>
          <p:nvPr/>
        </p:nvSpPr>
        <p:spPr>
          <a:xfrm>
            <a:off x="394952" y="1219540"/>
            <a:ext cx="900448" cy="361309"/>
          </a:xfrm>
          <a:prstGeom prst="rect">
            <a:avLst/>
          </a:prstGeom>
          <a:no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 name="Rectangle 1">
            <a:extLst>
              <a:ext uri="{FF2B5EF4-FFF2-40B4-BE49-F238E27FC236}">
                <a16:creationId xmlns:a16="http://schemas.microsoft.com/office/drawing/2014/main" id="{24DF1971-488B-B1DB-3A9D-E3250DFF2BD1}"/>
              </a:ext>
            </a:extLst>
          </p:cNvPr>
          <p:cNvSpPr/>
          <p:nvPr/>
        </p:nvSpPr>
        <p:spPr>
          <a:xfrm>
            <a:off x="828961" y="782546"/>
            <a:ext cx="11130975" cy="323141"/>
          </a:xfrm>
          <a:prstGeom prst="rect">
            <a:avLst/>
          </a:prstGeom>
          <a:solidFill>
            <a:schemeClr val="tx2">
              <a:lumMod val="20000"/>
              <a:lumOff val="8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171450" indent="-115570">
              <a:buFont typeface="Wingdings" panose="05000000000000000000" pitchFamily="2" charset="2"/>
              <a:buChar char="ü"/>
            </a:pPr>
            <a:r>
              <a:rPr lang="en-US" sz="1100">
                <a:solidFill>
                  <a:schemeClr val="tx1"/>
                </a:solidFill>
              </a:rPr>
              <a:t>Quick view to understand the monthly usage by division across time.</a:t>
            </a:r>
          </a:p>
        </p:txBody>
      </p:sp>
      <p:grpSp>
        <p:nvGrpSpPr>
          <p:cNvPr id="3" name="Graphic 4">
            <a:extLst>
              <a:ext uri="{FF2B5EF4-FFF2-40B4-BE49-F238E27FC236}">
                <a16:creationId xmlns:a16="http://schemas.microsoft.com/office/drawing/2014/main" id="{4F1A56DB-F0E9-FC69-7C9E-4131DADD2399}"/>
              </a:ext>
            </a:extLst>
          </p:cNvPr>
          <p:cNvGrpSpPr>
            <a:grpSpLocks noChangeAspect="1"/>
          </p:cNvGrpSpPr>
          <p:nvPr/>
        </p:nvGrpSpPr>
        <p:grpSpPr>
          <a:xfrm>
            <a:off x="427888" y="696089"/>
            <a:ext cx="496522" cy="496054"/>
            <a:chOff x="1952125" y="1402723"/>
            <a:chExt cx="362313" cy="361971"/>
          </a:xfrm>
          <a:solidFill>
            <a:schemeClr val="tx2">
              <a:lumMod val="60000"/>
              <a:lumOff val="40000"/>
            </a:schemeClr>
          </a:solidFill>
        </p:grpSpPr>
        <p:sp>
          <p:nvSpPr>
            <p:cNvPr id="5" name="Graphic 4">
              <a:extLst>
                <a:ext uri="{FF2B5EF4-FFF2-40B4-BE49-F238E27FC236}">
                  <a16:creationId xmlns:a16="http://schemas.microsoft.com/office/drawing/2014/main" id="{316A14C5-8C38-AC05-6DC5-A76CA929DDEF}"/>
                </a:ext>
              </a:extLst>
            </p:cNvPr>
            <p:cNvSpPr/>
            <p:nvPr/>
          </p:nvSpPr>
          <p:spPr>
            <a:xfrm>
              <a:off x="2069061" y="1471670"/>
              <a:ext cx="126174" cy="158322"/>
            </a:xfrm>
            <a:custGeom>
              <a:avLst/>
              <a:gdLst>
                <a:gd name="connsiteX0" fmla="*/ 50481 w 126174"/>
                <a:gd name="connsiteY0" fmla="*/ 53626 h 158322"/>
                <a:gd name="connsiteX1" fmla="*/ 40896 w 126174"/>
                <a:gd name="connsiteY1" fmla="*/ 72139 h 158322"/>
                <a:gd name="connsiteX2" fmla="*/ 35145 w 126174"/>
                <a:gd name="connsiteY2" fmla="*/ 75969 h 158322"/>
                <a:gd name="connsiteX3" fmla="*/ 0 w 126174"/>
                <a:gd name="connsiteY3" fmla="*/ 105974 h 158322"/>
                <a:gd name="connsiteX4" fmla="*/ 32589 w 126174"/>
                <a:gd name="connsiteY4" fmla="*/ 121296 h 158322"/>
                <a:gd name="connsiteX5" fmla="*/ 36423 w 126174"/>
                <a:gd name="connsiteY5" fmla="*/ 128318 h 158322"/>
                <a:gd name="connsiteX6" fmla="*/ 46008 w 126174"/>
                <a:gd name="connsiteY6" fmla="*/ 151939 h 158322"/>
                <a:gd name="connsiteX7" fmla="*/ 68372 w 126174"/>
                <a:gd name="connsiteY7" fmla="*/ 144916 h 158322"/>
                <a:gd name="connsiteX8" fmla="*/ 73484 w 126174"/>
                <a:gd name="connsiteY8" fmla="*/ 142363 h 158322"/>
                <a:gd name="connsiteX9" fmla="*/ 76040 w 126174"/>
                <a:gd name="connsiteY9" fmla="*/ 143001 h 158322"/>
                <a:gd name="connsiteX10" fmla="*/ 108629 w 126174"/>
                <a:gd name="connsiteY10" fmla="*/ 158323 h 158322"/>
                <a:gd name="connsiteX11" fmla="*/ 111824 w 126174"/>
                <a:gd name="connsiteY11" fmla="*/ 110443 h 158322"/>
                <a:gd name="connsiteX12" fmla="*/ 111824 w 126174"/>
                <a:gd name="connsiteY12" fmla="*/ 104697 h 158322"/>
                <a:gd name="connsiteX13" fmla="*/ 118214 w 126174"/>
                <a:gd name="connsiteY13" fmla="*/ 0 h 158322"/>
                <a:gd name="connsiteX14" fmla="*/ 53676 w 126174"/>
                <a:gd name="connsiteY14" fmla="*/ 49795 h 158322"/>
                <a:gd name="connsiteX15" fmla="*/ 50481 w 126174"/>
                <a:gd name="connsiteY15" fmla="*/ 53626 h 158322"/>
                <a:gd name="connsiteX16" fmla="*/ 99683 w 126174"/>
                <a:gd name="connsiteY16" fmla="*/ 91929 h 158322"/>
                <a:gd name="connsiteX17" fmla="*/ 72206 w 126174"/>
                <a:gd name="connsiteY17" fmla="*/ 119381 h 158322"/>
                <a:gd name="connsiteX18" fmla="*/ 44730 w 126174"/>
                <a:gd name="connsiteY18" fmla="*/ 91929 h 158322"/>
                <a:gd name="connsiteX19" fmla="*/ 72206 w 126174"/>
                <a:gd name="connsiteY19" fmla="*/ 64478 h 158322"/>
                <a:gd name="connsiteX20" fmla="*/ 99683 w 126174"/>
                <a:gd name="connsiteY20" fmla="*/ 91929 h 158322"/>
                <a:gd name="connsiteX21" fmla="*/ 99683 w 126174"/>
                <a:gd name="connsiteY21" fmla="*/ 91929 h 158322"/>
                <a:gd name="connsiteX22" fmla="*/ 99683 w 126174"/>
                <a:gd name="connsiteY22" fmla="*/ 91929 h 158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6174" h="158322">
                  <a:moveTo>
                    <a:pt x="50481" y="53626"/>
                  </a:moveTo>
                  <a:cubicBezTo>
                    <a:pt x="46647" y="59371"/>
                    <a:pt x="44091" y="65755"/>
                    <a:pt x="40896" y="72139"/>
                  </a:cubicBezTo>
                  <a:cubicBezTo>
                    <a:pt x="39618" y="74693"/>
                    <a:pt x="37701" y="75969"/>
                    <a:pt x="35145" y="75969"/>
                  </a:cubicBezTo>
                  <a:cubicBezTo>
                    <a:pt x="17892" y="76608"/>
                    <a:pt x="3195" y="88737"/>
                    <a:pt x="0" y="105974"/>
                  </a:cubicBezTo>
                  <a:lnTo>
                    <a:pt x="32589" y="121296"/>
                  </a:lnTo>
                  <a:cubicBezTo>
                    <a:pt x="35145" y="122573"/>
                    <a:pt x="36423" y="125126"/>
                    <a:pt x="36423" y="128318"/>
                  </a:cubicBezTo>
                  <a:cubicBezTo>
                    <a:pt x="36423" y="128318"/>
                    <a:pt x="33867" y="146832"/>
                    <a:pt x="46008" y="151939"/>
                  </a:cubicBezTo>
                  <a:cubicBezTo>
                    <a:pt x="58148" y="157046"/>
                    <a:pt x="68372" y="145555"/>
                    <a:pt x="68372" y="144916"/>
                  </a:cubicBezTo>
                  <a:cubicBezTo>
                    <a:pt x="69650" y="143640"/>
                    <a:pt x="71567" y="142363"/>
                    <a:pt x="73484" y="142363"/>
                  </a:cubicBezTo>
                  <a:cubicBezTo>
                    <a:pt x="74123" y="142363"/>
                    <a:pt x="75401" y="142363"/>
                    <a:pt x="76040" y="143001"/>
                  </a:cubicBezTo>
                  <a:lnTo>
                    <a:pt x="108629" y="158323"/>
                  </a:lnTo>
                  <a:cubicBezTo>
                    <a:pt x="117575" y="143640"/>
                    <a:pt x="118853" y="125765"/>
                    <a:pt x="111824" y="110443"/>
                  </a:cubicBezTo>
                  <a:cubicBezTo>
                    <a:pt x="111185" y="108528"/>
                    <a:pt x="111185" y="106613"/>
                    <a:pt x="111824" y="104697"/>
                  </a:cubicBezTo>
                  <a:cubicBezTo>
                    <a:pt x="111824" y="104059"/>
                    <a:pt x="139301" y="49795"/>
                    <a:pt x="118214" y="0"/>
                  </a:cubicBezTo>
                  <a:cubicBezTo>
                    <a:pt x="106712" y="2554"/>
                    <a:pt x="77318" y="12130"/>
                    <a:pt x="53676" y="49795"/>
                  </a:cubicBezTo>
                  <a:cubicBezTo>
                    <a:pt x="52398" y="51710"/>
                    <a:pt x="51759" y="52987"/>
                    <a:pt x="50481" y="53626"/>
                  </a:cubicBezTo>
                  <a:close/>
                  <a:moveTo>
                    <a:pt x="99683" y="91929"/>
                  </a:moveTo>
                  <a:cubicBezTo>
                    <a:pt x="99683" y="107251"/>
                    <a:pt x="87542" y="119381"/>
                    <a:pt x="72206" y="119381"/>
                  </a:cubicBezTo>
                  <a:cubicBezTo>
                    <a:pt x="56871" y="119381"/>
                    <a:pt x="44730" y="107251"/>
                    <a:pt x="44730" y="91929"/>
                  </a:cubicBezTo>
                  <a:cubicBezTo>
                    <a:pt x="44730" y="76608"/>
                    <a:pt x="56871" y="64478"/>
                    <a:pt x="72206" y="64478"/>
                  </a:cubicBezTo>
                  <a:cubicBezTo>
                    <a:pt x="87542" y="65117"/>
                    <a:pt x="99683" y="77246"/>
                    <a:pt x="99683" y="91929"/>
                  </a:cubicBezTo>
                  <a:cubicBezTo>
                    <a:pt x="99683" y="92568"/>
                    <a:pt x="99683" y="92568"/>
                    <a:pt x="99683" y="91929"/>
                  </a:cubicBezTo>
                  <a:lnTo>
                    <a:pt x="99683" y="91929"/>
                  </a:lnTo>
                  <a:close/>
                </a:path>
              </a:pathLst>
            </a:custGeom>
            <a:grpFill/>
            <a:ln w="6390" cap="flat">
              <a:noFill/>
              <a:prstDash val="solid"/>
              <a:miter/>
            </a:ln>
          </p:spPr>
          <p:txBody>
            <a:bodyPr rtlCol="0" anchor="ctr"/>
            <a:lstStyle/>
            <a:p>
              <a:endParaRPr lang="en-US"/>
            </a:p>
          </p:txBody>
        </p:sp>
        <p:sp>
          <p:nvSpPr>
            <p:cNvPr id="7" name="Graphic 4">
              <a:extLst>
                <a:ext uri="{FF2B5EF4-FFF2-40B4-BE49-F238E27FC236}">
                  <a16:creationId xmlns:a16="http://schemas.microsoft.com/office/drawing/2014/main" id="{3CEA3CF4-C3D4-28A9-AFF3-7756D380EC4E}"/>
                </a:ext>
              </a:extLst>
            </p:cNvPr>
            <p:cNvSpPr/>
            <p:nvPr/>
          </p:nvSpPr>
          <p:spPr>
            <a:xfrm>
              <a:off x="2043501" y="1527211"/>
              <a:ext cx="180835" cy="126402"/>
            </a:xfrm>
            <a:custGeom>
              <a:avLst/>
              <a:gdLst>
                <a:gd name="connsiteX0" fmla="*/ 180835 w 180835"/>
                <a:gd name="connsiteY0" fmla="*/ 5746 h 126402"/>
                <a:gd name="connsiteX1" fmla="*/ 175084 w 180835"/>
                <a:gd name="connsiteY1" fmla="*/ 0 h 126402"/>
                <a:gd name="connsiteX2" fmla="*/ 175084 w 180835"/>
                <a:gd name="connsiteY2" fmla="*/ 0 h 126402"/>
                <a:gd name="connsiteX3" fmla="*/ 163582 w 180835"/>
                <a:gd name="connsiteY3" fmla="*/ 0 h 126402"/>
                <a:gd name="connsiteX4" fmla="*/ 149525 w 180835"/>
                <a:gd name="connsiteY4" fmla="*/ 52987 h 126402"/>
                <a:gd name="connsiteX5" fmla="*/ 140579 w 180835"/>
                <a:gd name="connsiteY5" fmla="*/ 115550 h 126402"/>
                <a:gd name="connsiteX6" fmla="*/ 135467 w 180835"/>
                <a:gd name="connsiteY6" fmla="*/ 118104 h 126402"/>
                <a:gd name="connsiteX7" fmla="*/ 132911 w 180835"/>
                <a:gd name="connsiteY7" fmla="*/ 117465 h 126402"/>
                <a:gd name="connsiteX8" fmla="*/ 99044 w 180835"/>
                <a:gd name="connsiteY8" fmla="*/ 101505 h 126402"/>
                <a:gd name="connsiteX9" fmla="*/ 65177 w 180835"/>
                <a:gd name="connsiteY9" fmla="*/ 108528 h 126402"/>
                <a:gd name="connsiteX10" fmla="*/ 47925 w 180835"/>
                <a:gd name="connsiteY10" fmla="*/ 75969 h 126402"/>
                <a:gd name="connsiteX11" fmla="*/ 14697 w 180835"/>
                <a:gd name="connsiteY11" fmla="*/ 60009 h 126402"/>
                <a:gd name="connsiteX12" fmla="*/ 11502 w 180835"/>
                <a:gd name="connsiteY12" fmla="*/ 52987 h 126402"/>
                <a:gd name="connsiteX13" fmla="*/ 56232 w 180835"/>
                <a:gd name="connsiteY13" fmla="*/ 8299 h 126402"/>
                <a:gd name="connsiteX14" fmla="*/ 60066 w 180835"/>
                <a:gd name="connsiteY14" fmla="*/ 0 h 126402"/>
                <a:gd name="connsiteX15" fmla="*/ 5751 w 180835"/>
                <a:gd name="connsiteY15" fmla="*/ 0 h 126402"/>
                <a:gd name="connsiteX16" fmla="*/ 0 w 180835"/>
                <a:gd name="connsiteY16" fmla="*/ 5746 h 126402"/>
                <a:gd name="connsiteX17" fmla="*/ 0 w 180835"/>
                <a:gd name="connsiteY17" fmla="*/ 5746 h 126402"/>
                <a:gd name="connsiteX18" fmla="*/ 0 w 180835"/>
                <a:gd name="connsiteY18" fmla="*/ 126403 h 126402"/>
                <a:gd name="connsiteX19" fmla="*/ 180835 w 180835"/>
                <a:gd name="connsiteY19" fmla="*/ 126403 h 126402"/>
                <a:gd name="connsiteX20" fmla="*/ 180835 w 180835"/>
                <a:gd name="connsiteY20" fmla="*/ 5746 h 12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80835" h="126402">
                  <a:moveTo>
                    <a:pt x="180835" y="5746"/>
                  </a:moveTo>
                  <a:cubicBezTo>
                    <a:pt x="180835" y="2554"/>
                    <a:pt x="178279" y="0"/>
                    <a:pt x="175084" y="0"/>
                  </a:cubicBezTo>
                  <a:lnTo>
                    <a:pt x="175084" y="0"/>
                  </a:lnTo>
                  <a:lnTo>
                    <a:pt x="163582" y="0"/>
                  </a:lnTo>
                  <a:cubicBezTo>
                    <a:pt x="161666" y="18514"/>
                    <a:pt x="157192" y="36389"/>
                    <a:pt x="149525" y="52987"/>
                  </a:cubicBezTo>
                  <a:cubicBezTo>
                    <a:pt x="157832" y="74054"/>
                    <a:pt x="154637" y="97675"/>
                    <a:pt x="140579" y="115550"/>
                  </a:cubicBezTo>
                  <a:cubicBezTo>
                    <a:pt x="139301" y="116827"/>
                    <a:pt x="137384" y="118104"/>
                    <a:pt x="135467" y="118104"/>
                  </a:cubicBezTo>
                  <a:cubicBezTo>
                    <a:pt x="134828" y="118104"/>
                    <a:pt x="133550" y="118104"/>
                    <a:pt x="132911" y="117465"/>
                  </a:cubicBezTo>
                  <a:lnTo>
                    <a:pt x="99044" y="101505"/>
                  </a:lnTo>
                  <a:cubicBezTo>
                    <a:pt x="90098" y="110443"/>
                    <a:pt x="76679" y="112996"/>
                    <a:pt x="65177" y="108528"/>
                  </a:cubicBezTo>
                  <a:cubicBezTo>
                    <a:pt x="49203" y="100867"/>
                    <a:pt x="47286" y="84269"/>
                    <a:pt x="47925" y="75969"/>
                  </a:cubicBezTo>
                  <a:lnTo>
                    <a:pt x="14697" y="60009"/>
                  </a:lnTo>
                  <a:cubicBezTo>
                    <a:pt x="12141" y="58733"/>
                    <a:pt x="10863" y="56179"/>
                    <a:pt x="11502" y="52987"/>
                  </a:cubicBezTo>
                  <a:cubicBezTo>
                    <a:pt x="17892" y="20429"/>
                    <a:pt x="41535" y="9576"/>
                    <a:pt x="56232" y="8299"/>
                  </a:cubicBezTo>
                  <a:cubicBezTo>
                    <a:pt x="57509" y="5746"/>
                    <a:pt x="58788" y="2554"/>
                    <a:pt x="60066" y="0"/>
                  </a:cubicBezTo>
                  <a:lnTo>
                    <a:pt x="5751" y="0"/>
                  </a:lnTo>
                  <a:cubicBezTo>
                    <a:pt x="2556" y="0"/>
                    <a:pt x="0" y="2554"/>
                    <a:pt x="0" y="5746"/>
                  </a:cubicBezTo>
                  <a:lnTo>
                    <a:pt x="0" y="5746"/>
                  </a:lnTo>
                  <a:lnTo>
                    <a:pt x="0" y="126403"/>
                  </a:lnTo>
                  <a:lnTo>
                    <a:pt x="180835" y="126403"/>
                  </a:lnTo>
                  <a:lnTo>
                    <a:pt x="180835" y="5746"/>
                  </a:lnTo>
                  <a:close/>
                </a:path>
              </a:pathLst>
            </a:custGeom>
            <a:grpFill/>
            <a:ln w="6390" cap="flat">
              <a:noFill/>
              <a:prstDash val="solid"/>
              <a:miter/>
            </a:ln>
          </p:spPr>
          <p:txBody>
            <a:bodyPr rtlCol="0" anchor="ctr"/>
            <a:lstStyle/>
            <a:p>
              <a:endParaRPr lang="en-US"/>
            </a:p>
          </p:txBody>
        </p:sp>
        <p:sp>
          <p:nvSpPr>
            <p:cNvPr id="8" name="Graphic 4">
              <a:extLst>
                <a:ext uri="{FF2B5EF4-FFF2-40B4-BE49-F238E27FC236}">
                  <a16:creationId xmlns:a16="http://schemas.microsoft.com/office/drawing/2014/main" id="{7E225FB3-01FE-9834-9501-7F7AA342E39F}"/>
                </a:ext>
              </a:extLst>
            </p:cNvPr>
            <p:cNvSpPr/>
            <p:nvPr/>
          </p:nvSpPr>
          <p:spPr>
            <a:xfrm>
              <a:off x="2126570" y="1549555"/>
              <a:ext cx="29393" cy="29366"/>
            </a:xfrm>
            <a:custGeom>
              <a:avLst/>
              <a:gdLst>
                <a:gd name="connsiteX0" fmla="*/ 14697 w 29393"/>
                <a:gd name="connsiteY0" fmla="*/ 29366 h 29366"/>
                <a:gd name="connsiteX1" fmla="*/ 29394 w 29393"/>
                <a:gd name="connsiteY1" fmla="*/ 14683 h 29366"/>
                <a:gd name="connsiteX2" fmla="*/ 14697 w 29393"/>
                <a:gd name="connsiteY2" fmla="*/ 0 h 29366"/>
                <a:gd name="connsiteX3" fmla="*/ 0 w 29393"/>
                <a:gd name="connsiteY3" fmla="*/ 14683 h 29366"/>
                <a:gd name="connsiteX4" fmla="*/ 14697 w 29393"/>
                <a:gd name="connsiteY4" fmla="*/ 29366 h 29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93" h="29366">
                  <a:moveTo>
                    <a:pt x="14697" y="29366"/>
                  </a:moveTo>
                  <a:cubicBezTo>
                    <a:pt x="23004" y="29366"/>
                    <a:pt x="29394" y="22982"/>
                    <a:pt x="29394" y="14683"/>
                  </a:cubicBezTo>
                  <a:cubicBezTo>
                    <a:pt x="29394" y="6384"/>
                    <a:pt x="23004" y="0"/>
                    <a:pt x="14697" y="0"/>
                  </a:cubicBezTo>
                  <a:cubicBezTo>
                    <a:pt x="6390" y="0"/>
                    <a:pt x="0" y="6384"/>
                    <a:pt x="0" y="14683"/>
                  </a:cubicBezTo>
                  <a:cubicBezTo>
                    <a:pt x="0" y="22982"/>
                    <a:pt x="6390" y="29366"/>
                    <a:pt x="14697" y="29366"/>
                  </a:cubicBezTo>
                  <a:close/>
                </a:path>
              </a:pathLst>
            </a:custGeom>
            <a:grpFill/>
            <a:ln w="6390" cap="flat">
              <a:noFill/>
              <a:prstDash val="solid"/>
              <a:miter/>
            </a:ln>
          </p:spPr>
          <p:txBody>
            <a:bodyPr rtlCol="0" anchor="ctr"/>
            <a:lstStyle/>
            <a:p>
              <a:endParaRPr lang="en-US"/>
            </a:p>
          </p:txBody>
        </p:sp>
        <p:sp>
          <p:nvSpPr>
            <p:cNvPr id="9" name="Graphic 4">
              <a:extLst>
                <a:ext uri="{FF2B5EF4-FFF2-40B4-BE49-F238E27FC236}">
                  <a16:creationId xmlns:a16="http://schemas.microsoft.com/office/drawing/2014/main" id="{45D130A1-1160-458B-7CF9-CA4A961600D5}"/>
                </a:ext>
              </a:extLst>
            </p:cNvPr>
            <p:cNvSpPr/>
            <p:nvPr/>
          </p:nvSpPr>
          <p:spPr>
            <a:xfrm>
              <a:off x="2033278" y="1666381"/>
              <a:ext cx="201283" cy="3191"/>
            </a:xfrm>
            <a:custGeom>
              <a:avLst/>
              <a:gdLst>
                <a:gd name="connsiteX0" fmla="*/ 3834 w 201283"/>
                <a:gd name="connsiteY0" fmla="*/ 0 h 3191"/>
                <a:gd name="connsiteX1" fmla="*/ 0 w 201283"/>
                <a:gd name="connsiteY1" fmla="*/ 0 h 3191"/>
                <a:gd name="connsiteX2" fmla="*/ 7029 w 201283"/>
                <a:gd name="connsiteY2" fmla="*/ 3192 h 3191"/>
                <a:gd name="connsiteX3" fmla="*/ 194254 w 201283"/>
                <a:gd name="connsiteY3" fmla="*/ 3192 h 3191"/>
                <a:gd name="connsiteX4" fmla="*/ 201283 w 201283"/>
                <a:gd name="connsiteY4" fmla="*/ 0 h 3191"/>
                <a:gd name="connsiteX5" fmla="*/ 3834 w 201283"/>
                <a:gd name="connsiteY5" fmla="*/ 0 h 3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1283" h="3191">
                  <a:moveTo>
                    <a:pt x="3834" y="0"/>
                  </a:moveTo>
                  <a:lnTo>
                    <a:pt x="0" y="0"/>
                  </a:lnTo>
                  <a:cubicBezTo>
                    <a:pt x="1917" y="1915"/>
                    <a:pt x="4473" y="3192"/>
                    <a:pt x="7029" y="3192"/>
                  </a:cubicBezTo>
                  <a:lnTo>
                    <a:pt x="194254" y="3192"/>
                  </a:lnTo>
                  <a:cubicBezTo>
                    <a:pt x="196810" y="3192"/>
                    <a:pt x="199366" y="1915"/>
                    <a:pt x="201283" y="0"/>
                  </a:cubicBezTo>
                  <a:lnTo>
                    <a:pt x="3834" y="0"/>
                  </a:lnTo>
                  <a:close/>
                </a:path>
              </a:pathLst>
            </a:custGeom>
            <a:grpFill/>
            <a:ln w="6390" cap="flat">
              <a:noFill/>
              <a:prstDash val="solid"/>
              <a:miter/>
            </a:ln>
          </p:spPr>
          <p:txBody>
            <a:bodyPr rtlCol="0" anchor="ctr"/>
            <a:lstStyle/>
            <a:p>
              <a:endParaRPr lang="en-US"/>
            </a:p>
          </p:txBody>
        </p:sp>
        <p:sp>
          <p:nvSpPr>
            <p:cNvPr id="10" name="Graphic 4">
              <a:extLst>
                <a:ext uri="{FF2B5EF4-FFF2-40B4-BE49-F238E27FC236}">
                  <a16:creationId xmlns:a16="http://schemas.microsoft.com/office/drawing/2014/main" id="{D5999FEC-EA43-D156-EFE2-B71617F25503}"/>
                </a:ext>
              </a:extLst>
            </p:cNvPr>
            <p:cNvSpPr/>
            <p:nvPr/>
          </p:nvSpPr>
          <p:spPr>
            <a:xfrm>
              <a:off x="1952125" y="1402723"/>
              <a:ext cx="362313" cy="361971"/>
            </a:xfrm>
            <a:custGeom>
              <a:avLst/>
              <a:gdLst>
                <a:gd name="connsiteX0" fmla="*/ 181474 w 362313"/>
                <a:gd name="connsiteY0" fmla="*/ 0 h 361971"/>
                <a:gd name="connsiteX1" fmla="*/ 0 w 362313"/>
                <a:gd name="connsiteY1" fmla="*/ 180667 h 361971"/>
                <a:gd name="connsiteX2" fmla="*/ 180835 w 362313"/>
                <a:gd name="connsiteY2" fmla="*/ 361972 h 361971"/>
                <a:gd name="connsiteX3" fmla="*/ 362310 w 362313"/>
                <a:gd name="connsiteY3" fmla="*/ 181305 h 361971"/>
                <a:gd name="connsiteX4" fmla="*/ 362310 w 362313"/>
                <a:gd name="connsiteY4" fmla="*/ 181305 h 361971"/>
                <a:gd name="connsiteX5" fmla="*/ 181474 w 362313"/>
                <a:gd name="connsiteY5" fmla="*/ 0 h 361971"/>
                <a:gd name="connsiteX6" fmla="*/ 275406 w 362313"/>
                <a:gd name="connsiteY6" fmla="*/ 279618 h 361971"/>
                <a:gd name="connsiteX7" fmla="*/ 88181 w 362313"/>
                <a:gd name="connsiteY7" fmla="*/ 279618 h 361971"/>
                <a:gd name="connsiteX8" fmla="*/ 65816 w 362313"/>
                <a:gd name="connsiteY8" fmla="*/ 257274 h 361971"/>
                <a:gd name="connsiteX9" fmla="*/ 72206 w 362313"/>
                <a:gd name="connsiteY9" fmla="*/ 250890 h 361971"/>
                <a:gd name="connsiteX10" fmla="*/ 78596 w 362313"/>
                <a:gd name="connsiteY10" fmla="*/ 250890 h 361971"/>
                <a:gd name="connsiteX11" fmla="*/ 78596 w 362313"/>
                <a:gd name="connsiteY11" fmla="*/ 130233 h 361971"/>
                <a:gd name="connsiteX12" fmla="*/ 97127 w 362313"/>
                <a:gd name="connsiteY12" fmla="*/ 111720 h 361971"/>
                <a:gd name="connsiteX13" fmla="*/ 97127 w 362313"/>
                <a:gd name="connsiteY13" fmla="*/ 111720 h 361971"/>
                <a:gd name="connsiteX14" fmla="*/ 159109 w 362313"/>
                <a:gd name="connsiteY14" fmla="*/ 111720 h 361971"/>
                <a:gd name="connsiteX15" fmla="*/ 237067 w 362313"/>
                <a:gd name="connsiteY15" fmla="*/ 56817 h 361971"/>
                <a:gd name="connsiteX16" fmla="*/ 243457 w 362313"/>
                <a:gd name="connsiteY16" fmla="*/ 60648 h 361971"/>
                <a:gd name="connsiteX17" fmla="*/ 254958 w 362313"/>
                <a:gd name="connsiteY17" fmla="*/ 112358 h 361971"/>
                <a:gd name="connsiteX18" fmla="*/ 265821 w 362313"/>
                <a:gd name="connsiteY18" fmla="*/ 112358 h 361971"/>
                <a:gd name="connsiteX19" fmla="*/ 284352 w 362313"/>
                <a:gd name="connsiteY19" fmla="*/ 130872 h 361971"/>
                <a:gd name="connsiteX20" fmla="*/ 284352 w 362313"/>
                <a:gd name="connsiteY20" fmla="*/ 130872 h 361971"/>
                <a:gd name="connsiteX21" fmla="*/ 284352 w 362313"/>
                <a:gd name="connsiteY21" fmla="*/ 251529 h 361971"/>
                <a:gd name="connsiteX22" fmla="*/ 290742 w 362313"/>
                <a:gd name="connsiteY22" fmla="*/ 251529 h 361971"/>
                <a:gd name="connsiteX23" fmla="*/ 297132 w 362313"/>
                <a:gd name="connsiteY23" fmla="*/ 257913 h 361971"/>
                <a:gd name="connsiteX24" fmla="*/ 275406 w 362313"/>
                <a:gd name="connsiteY24" fmla="*/ 279618 h 361971"/>
                <a:gd name="connsiteX25" fmla="*/ 275406 w 362313"/>
                <a:gd name="connsiteY25" fmla="*/ 279618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62313" h="361971">
                  <a:moveTo>
                    <a:pt x="181474" y="0"/>
                  </a:moveTo>
                  <a:cubicBezTo>
                    <a:pt x="81152" y="0"/>
                    <a:pt x="0" y="81077"/>
                    <a:pt x="0" y="180667"/>
                  </a:cubicBezTo>
                  <a:cubicBezTo>
                    <a:pt x="0" y="280895"/>
                    <a:pt x="81152" y="361972"/>
                    <a:pt x="180835" y="361972"/>
                  </a:cubicBezTo>
                  <a:cubicBezTo>
                    <a:pt x="281157" y="361972"/>
                    <a:pt x="362310" y="280895"/>
                    <a:pt x="362310" y="181305"/>
                  </a:cubicBezTo>
                  <a:cubicBezTo>
                    <a:pt x="362310" y="181305"/>
                    <a:pt x="362310" y="181305"/>
                    <a:pt x="362310" y="181305"/>
                  </a:cubicBezTo>
                  <a:cubicBezTo>
                    <a:pt x="362948" y="80438"/>
                    <a:pt x="281796" y="0"/>
                    <a:pt x="181474" y="0"/>
                  </a:cubicBezTo>
                  <a:close/>
                  <a:moveTo>
                    <a:pt x="275406" y="279618"/>
                  </a:moveTo>
                  <a:lnTo>
                    <a:pt x="88181" y="279618"/>
                  </a:lnTo>
                  <a:cubicBezTo>
                    <a:pt x="76040" y="279618"/>
                    <a:pt x="65816" y="269404"/>
                    <a:pt x="65816" y="257274"/>
                  </a:cubicBezTo>
                  <a:cubicBezTo>
                    <a:pt x="65816" y="253444"/>
                    <a:pt x="68372" y="250890"/>
                    <a:pt x="72206" y="250890"/>
                  </a:cubicBezTo>
                  <a:lnTo>
                    <a:pt x="78596" y="250890"/>
                  </a:lnTo>
                  <a:lnTo>
                    <a:pt x="78596" y="130233"/>
                  </a:lnTo>
                  <a:cubicBezTo>
                    <a:pt x="78596" y="120019"/>
                    <a:pt x="86903" y="111720"/>
                    <a:pt x="97127" y="111720"/>
                  </a:cubicBezTo>
                  <a:lnTo>
                    <a:pt x="97127" y="111720"/>
                  </a:lnTo>
                  <a:lnTo>
                    <a:pt x="159109" y="111720"/>
                  </a:lnTo>
                  <a:cubicBezTo>
                    <a:pt x="191698" y="61286"/>
                    <a:pt x="235150" y="56817"/>
                    <a:pt x="237067" y="56817"/>
                  </a:cubicBezTo>
                  <a:cubicBezTo>
                    <a:pt x="239623" y="56817"/>
                    <a:pt x="242179" y="58094"/>
                    <a:pt x="243457" y="60648"/>
                  </a:cubicBezTo>
                  <a:cubicBezTo>
                    <a:pt x="251124" y="76608"/>
                    <a:pt x="254958" y="94483"/>
                    <a:pt x="254958" y="112358"/>
                  </a:cubicBezTo>
                  <a:lnTo>
                    <a:pt x="265821" y="112358"/>
                  </a:lnTo>
                  <a:cubicBezTo>
                    <a:pt x="276045" y="112358"/>
                    <a:pt x="284352" y="120657"/>
                    <a:pt x="284352" y="130872"/>
                  </a:cubicBezTo>
                  <a:lnTo>
                    <a:pt x="284352" y="130872"/>
                  </a:lnTo>
                  <a:lnTo>
                    <a:pt x="284352" y="251529"/>
                  </a:lnTo>
                  <a:lnTo>
                    <a:pt x="290742" y="251529"/>
                  </a:lnTo>
                  <a:cubicBezTo>
                    <a:pt x="294576" y="251529"/>
                    <a:pt x="297132" y="254082"/>
                    <a:pt x="297132" y="257913"/>
                  </a:cubicBezTo>
                  <a:cubicBezTo>
                    <a:pt x="297771" y="269404"/>
                    <a:pt x="287547" y="278980"/>
                    <a:pt x="275406" y="279618"/>
                  </a:cubicBezTo>
                  <a:lnTo>
                    <a:pt x="275406" y="279618"/>
                  </a:lnTo>
                  <a:close/>
                </a:path>
              </a:pathLst>
            </a:custGeom>
            <a:grpFill/>
            <a:ln w="6390" cap="flat">
              <a:noFill/>
              <a:prstDash val="solid"/>
              <a:miter/>
            </a:ln>
          </p:spPr>
          <p:txBody>
            <a:bodyPr rtlCol="0" anchor="ctr"/>
            <a:lstStyle/>
            <a:p>
              <a:endParaRPr lang="en-US"/>
            </a:p>
          </p:txBody>
        </p:sp>
      </p:grpSp>
      <p:sp>
        <p:nvSpPr>
          <p:cNvPr id="14" name="Title 1">
            <a:extLst>
              <a:ext uri="{FF2B5EF4-FFF2-40B4-BE49-F238E27FC236}">
                <a16:creationId xmlns:a16="http://schemas.microsoft.com/office/drawing/2014/main" id="{959D3C58-7EBB-B56A-5094-C9B532DC592F}"/>
              </a:ext>
            </a:extLst>
          </p:cNvPr>
          <p:cNvSpPr txBox="1">
            <a:spLocks/>
          </p:cNvSpPr>
          <p:nvPr/>
        </p:nvSpPr>
        <p:spPr>
          <a:xfrm>
            <a:off x="284550" y="216713"/>
            <a:ext cx="11904087" cy="509780"/>
          </a:xfrm>
          <a:prstGeom prst="rect">
            <a:avLst/>
          </a:prstGeom>
        </p:spPr>
        <p:txBody>
          <a:bodyPr lIns="91440" tIns="45720" rIns="91440" bIns="45720" anchor="t"/>
          <a:lstStyle>
            <a:lvl1pPr algn="l" defTabSz="914400" rtl="0" eaLnBrk="1" latinLnBrk="0" hangingPunct="1">
              <a:lnSpc>
                <a:spcPct val="100000"/>
              </a:lnSpc>
              <a:spcBef>
                <a:spcPct val="0"/>
              </a:spcBef>
              <a:buNone/>
              <a:defRPr sz="3400" b="0" i="0" kern="1200">
                <a:solidFill>
                  <a:srgbClr val="0076CF"/>
                </a:solidFill>
                <a:latin typeface="FS Elliot Pro Light" panose="02000503040000020004" pitchFamily="2" charset="0"/>
                <a:ea typeface="+mj-ea"/>
                <a:cs typeface="+mj-cs"/>
              </a:defRPr>
            </a:lvl1pPr>
          </a:lstStyle>
          <a:p>
            <a:pPr>
              <a:defRPr/>
            </a:pPr>
            <a:r>
              <a:rPr kumimoji="0" lang="en-US" sz="3200" b="0" i="0" u="none" strike="noStrike" kern="1200" cap="none" spc="0" normalizeH="0" baseline="0" noProof="0">
                <a:ln>
                  <a:noFill/>
                </a:ln>
                <a:solidFill>
                  <a:srgbClr val="0076CF"/>
                </a:solidFill>
                <a:effectLst/>
                <a:uLnTx/>
                <a:uFillTx/>
                <a:latin typeface="FS Elliot Pro Light"/>
              </a:rPr>
              <a:t>Cost Management </a:t>
            </a:r>
            <a:r>
              <a:rPr lang="en-US" sz="3200">
                <a:latin typeface="FS Elliot Pro Light"/>
              </a:rPr>
              <a:t>– Division usage</a:t>
            </a:r>
            <a:r>
              <a:rPr kumimoji="0" lang="en-US" sz="3200" b="0" i="0" u="none" strike="noStrike" kern="1200" cap="none" spc="0" normalizeH="0" baseline="0" noProof="0">
                <a:ln>
                  <a:noFill/>
                </a:ln>
                <a:solidFill>
                  <a:srgbClr val="0076CF"/>
                </a:solidFill>
                <a:effectLst/>
                <a:uLnTx/>
                <a:uFillTx/>
                <a:latin typeface="FS Elliot Pro Light"/>
              </a:rPr>
              <a:t> overview</a:t>
            </a:r>
          </a:p>
        </p:txBody>
      </p:sp>
      <p:sp>
        <p:nvSpPr>
          <p:cNvPr id="16" name="Callout: Line 15">
            <a:extLst>
              <a:ext uri="{FF2B5EF4-FFF2-40B4-BE49-F238E27FC236}">
                <a16:creationId xmlns:a16="http://schemas.microsoft.com/office/drawing/2014/main" id="{9574B53C-74BA-39C4-4322-E426C3465327}"/>
              </a:ext>
            </a:extLst>
          </p:cNvPr>
          <p:cNvSpPr/>
          <p:nvPr/>
        </p:nvSpPr>
        <p:spPr>
          <a:xfrm>
            <a:off x="10662556" y="2249911"/>
            <a:ext cx="424542" cy="236766"/>
          </a:xfrm>
          <a:prstGeom prst="borderCallout1">
            <a:avLst>
              <a:gd name="adj1" fmla="val 18750"/>
              <a:gd name="adj2" fmla="val -8333"/>
              <a:gd name="adj3" fmla="val 174569"/>
              <a:gd name="adj4" fmla="val -146026"/>
            </a:avLst>
          </a:prstGeom>
          <a:solidFill>
            <a:schemeClr val="bg1"/>
          </a:solidFill>
          <a:ln>
            <a:solidFill>
              <a:schemeClr val="bg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a:t>
            </a:r>
          </a:p>
        </p:txBody>
      </p:sp>
      <p:sp>
        <p:nvSpPr>
          <p:cNvPr id="17" name="Callout: Line 16">
            <a:extLst>
              <a:ext uri="{FF2B5EF4-FFF2-40B4-BE49-F238E27FC236}">
                <a16:creationId xmlns:a16="http://schemas.microsoft.com/office/drawing/2014/main" id="{5430320D-6850-33ED-1293-4D7AF42C2AD5}"/>
              </a:ext>
            </a:extLst>
          </p:cNvPr>
          <p:cNvSpPr/>
          <p:nvPr/>
        </p:nvSpPr>
        <p:spPr>
          <a:xfrm>
            <a:off x="10662556" y="5613517"/>
            <a:ext cx="424542" cy="236766"/>
          </a:xfrm>
          <a:prstGeom prst="borderCallout1">
            <a:avLst>
              <a:gd name="adj1" fmla="val 18750"/>
              <a:gd name="adj2" fmla="val -8333"/>
              <a:gd name="adj3" fmla="val 174569"/>
              <a:gd name="adj4" fmla="val -146026"/>
            </a:avLst>
          </a:prstGeom>
          <a:solidFill>
            <a:schemeClr val="bg1"/>
          </a:solidFill>
          <a:ln>
            <a:solidFill>
              <a:schemeClr val="bg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3</a:t>
            </a:r>
          </a:p>
        </p:txBody>
      </p:sp>
      <p:sp>
        <p:nvSpPr>
          <p:cNvPr id="18" name="Callout: Line 17">
            <a:extLst>
              <a:ext uri="{FF2B5EF4-FFF2-40B4-BE49-F238E27FC236}">
                <a16:creationId xmlns:a16="http://schemas.microsoft.com/office/drawing/2014/main" id="{F73F74C7-90E2-AC02-99CA-2D4A13D5CD46}"/>
              </a:ext>
            </a:extLst>
          </p:cNvPr>
          <p:cNvSpPr/>
          <p:nvPr/>
        </p:nvSpPr>
        <p:spPr>
          <a:xfrm>
            <a:off x="10662556" y="3915381"/>
            <a:ext cx="424542" cy="236766"/>
          </a:xfrm>
          <a:prstGeom prst="borderCallout1">
            <a:avLst>
              <a:gd name="adj1" fmla="val 18750"/>
              <a:gd name="adj2" fmla="val -8333"/>
              <a:gd name="adj3" fmla="val 174569"/>
              <a:gd name="adj4" fmla="val -146026"/>
            </a:avLst>
          </a:prstGeom>
          <a:solidFill>
            <a:schemeClr val="bg1"/>
          </a:solidFill>
          <a:ln>
            <a:solidFill>
              <a:schemeClr val="bg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pic>
        <p:nvPicPr>
          <p:cNvPr id="4" name="Picture 3">
            <a:extLst>
              <a:ext uri="{FF2B5EF4-FFF2-40B4-BE49-F238E27FC236}">
                <a16:creationId xmlns:a16="http://schemas.microsoft.com/office/drawing/2014/main" id="{127A3466-1300-055E-4FF4-2A801F15624C}"/>
              </a:ext>
            </a:extLst>
          </p:cNvPr>
          <p:cNvPicPr>
            <a:picLocks/>
          </p:cNvPicPr>
          <p:nvPr/>
        </p:nvPicPr>
        <p:blipFill>
          <a:blip r:embed="rId3"/>
          <a:stretch>
            <a:fillRect/>
          </a:stretch>
        </p:blipFill>
        <p:spPr>
          <a:xfrm>
            <a:off x="2164080" y="1216152"/>
            <a:ext cx="7863840" cy="5394960"/>
          </a:xfrm>
          <a:prstGeom prst="rect">
            <a:avLst/>
          </a:prstGeom>
          <a:ln>
            <a:solidFill>
              <a:schemeClr val="bg1">
                <a:lumMod val="75000"/>
              </a:schemeClr>
            </a:solidFill>
          </a:ln>
        </p:spPr>
      </p:pic>
    </p:spTree>
    <p:extLst>
      <p:ext uri="{BB962C8B-B14F-4D97-AF65-F5344CB8AC3E}">
        <p14:creationId xmlns:p14="http://schemas.microsoft.com/office/powerpoint/2010/main" val="30854777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B88C6-3368-B25B-346C-7BAB10FDCA8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F43E553-8C98-37E9-875D-AD440FA30F5C}"/>
              </a:ext>
            </a:extLst>
          </p:cNvPr>
          <p:cNvSpPr txBox="1">
            <a:spLocks/>
          </p:cNvSpPr>
          <p:nvPr/>
        </p:nvSpPr>
        <p:spPr>
          <a:xfrm>
            <a:off x="284550" y="216713"/>
            <a:ext cx="11904087" cy="509780"/>
          </a:xfrm>
          <a:prstGeom prst="rect">
            <a:avLst/>
          </a:prstGeom>
        </p:spPr>
        <p:txBody>
          <a:bodyPr lIns="91440" tIns="45720" rIns="91440" bIns="45720" anchor="t"/>
          <a:lstStyle>
            <a:lvl1pPr algn="l" defTabSz="914400" rtl="0" eaLnBrk="1" latinLnBrk="0" hangingPunct="1">
              <a:lnSpc>
                <a:spcPct val="100000"/>
              </a:lnSpc>
              <a:spcBef>
                <a:spcPct val="0"/>
              </a:spcBef>
              <a:buNone/>
              <a:defRPr sz="3400" b="0" i="0" kern="1200">
                <a:solidFill>
                  <a:srgbClr val="0076CF"/>
                </a:solidFill>
                <a:latin typeface="FS Elliot Pro Light" panose="02000503040000020004" pitchFamily="2" charset="0"/>
                <a:ea typeface="+mj-ea"/>
                <a:cs typeface="+mj-cs"/>
              </a:defRPr>
            </a:lvl1pPr>
          </a:lstStyle>
          <a:p>
            <a:pPr>
              <a:defRPr/>
            </a:pPr>
            <a:r>
              <a:rPr kumimoji="0" lang="en-US" sz="3200" b="0" i="0" u="none" strike="noStrike" kern="1200" cap="none" spc="0" normalizeH="0" baseline="0" noProof="0">
                <a:ln>
                  <a:noFill/>
                </a:ln>
                <a:solidFill>
                  <a:srgbClr val="0076CF"/>
                </a:solidFill>
                <a:effectLst/>
                <a:uLnTx/>
                <a:uFillTx/>
                <a:latin typeface="FS Elliot Pro Light"/>
              </a:rPr>
              <a:t>Cost Management </a:t>
            </a:r>
            <a:r>
              <a:rPr lang="en-US" sz="3200">
                <a:latin typeface="FS Elliot Pro Light"/>
              </a:rPr>
              <a:t>– Division usage overview page </a:t>
            </a:r>
            <a:r>
              <a:rPr kumimoji="0" lang="en-US" sz="3200" b="0" i="0" u="none" strike="noStrike" kern="1200" cap="none" spc="0" normalizeH="0" baseline="0" noProof="0">
                <a:ln>
                  <a:noFill/>
                </a:ln>
                <a:solidFill>
                  <a:srgbClr val="0076CF"/>
                </a:solidFill>
                <a:effectLst/>
                <a:uLnTx/>
                <a:uFillTx/>
                <a:latin typeface="FS Elliot Pro Light"/>
              </a:rPr>
              <a:t>summary</a:t>
            </a:r>
          </a:p>
        </p:txBody>
      </p:sp>
      <p:graphicFrame>
        <p:nvGraphicFramePr>
          <p:cNvPr id="6" name="Table 5">
            <a:extLst>
              <a:ext uri="{FF2B5EF4-FFF2-40B4-BE49-F238E27FC236}">
                <a16:creationId xmlns:a16="http://schemas.microsoft.com/office/drawing/2014/main" id="{DA0A74BE-E58D-BCB4-CF9B-07E210DBB736}"/>
              </a:ext>
            </a:extLst>
          </p:cNvPr>
          <p:cNvGraphicFramePr>
            <a:graphicFrameLocks noGrp="1"/>
          </p:cNvGraphicFramePr>
          <p:nvPr>
            <p:extLst>
              <p:ext uri="{D42A27DB-BD31-4B8C-83A1-F6EECF244321}">
                <p14:modId xmlns:p14="http://schemas.microsoft.com/office/powerpoint/2010/main" val="3334725969"/>
              </p:ext>
            </p:extLst>
          </p:nvPr>
        </p:nvGraphicFramePr>
        <p:xfrm>
          <a:off x="394855" y="931959"/>
          <a:ext cx="11430000" cy="4518750"/>
        </p:xfrm>
        <a:graphic>
          <a:graphicData uri="http://schemas.openxmlformats.org/drawingml/2006/table">
            <a:tbl>
              <a:tblPr firstRow="1" bandRow="1">
                <a:tableStyleId>{5C22544A-7EE6-4342-B048-85BDC9FD1C3A}</a:tableStyleId>
              </a:tblPr>
              <a:tblGrid>
                <a:gridCol w="449322">
                  <a:extLst>
                    <a:ext uri="{9D8B030D-6E8A-4147-A177-3AD203B41FA5}">
                      <a16:colId xmlns:a16="http://schemas.microsoft.com/office/drawing/2014/main" val="1227872876"/>
                    </a:ext>
                  </a:extLst>
                </a:gridCol>
                <a:gridCol w="1179932">
                  <a:extLst>
                    <a:ext uri="{9D8B030D-6E8A-4147-A177-3AD203B41FA5}">
                      <a16:colId xmlns:a16="http://schemas.microsoft.com/office/drawing/2014/main" val="3573294361"/>
                    </a:ext>
                  </a:extLst>
                </a:gridCol>
                <a:gridCol w="807868">
                  <a:extLst>
                    <a:ext uri="{9D8B030D-6E8A-4147-A177-3AD203B41FA5}">
                      <a16:colId xmlns:a16="http://schemas.microsoft.com/office/drawing/2014/main" val="684506535"/>
                    </a:ext>
                  </a:extLst>
                </a:gridCol>
                <a:gridCol w="1327901">
                  <a:extLst>
                    <a:ext uri="{9D8B030D-6E8A-4147-A177-3AD203B41FA5}">
                      <a16:colId xmlns:a16="http://schemas.microsoft.com/office/drawing/2014/main" val="2881509476"/>
                    </a:ext>
                  </a:extLst>
                </a:gridCol>
                <a:gridCol w="4753303">
                  <a:extLst>
                    <a:ext uri="{9D8B030D-6E8A-4147-A177-3AD203B41FA5}">
                      <a16:colId xmlns:a16="http://schemas.microsoft.com/office/drawing/2014/main" val="3389198070"/>
                    </a:ext>
                  </a:extLst>
                </a:gridCol>
                <a:gridCol w="1651246">
                  <a:extLst>
                    <a:ext uri="{9D8B030D-6E8A-4147-A177-3AD203B41FA5}">
                      <a16:colId xmlns:a16="http://schemas.microsoft.com/office/drawing/2014/main" val="1391104289"/>
                    </a:ext>
                  </a:extLst>
                </a:gridCol>
                <a:gridCol w="1260428">
                  <a:extLst>
                    <a:ext uri="{9D8B030D-6E8A-4147-A177-3AD203B41FA5}">
                      <a16:colId xmlns:a16="http://schemas.microsoft.com/office/drawing/2014/main" val="4206051783"/>
                    </a:ext>
                  </a:extLst>
                </a:gridCol>
              </a:tblGrid>
              <a:tr h="640080">
                <a:tc>
                  <a:txBody>
                    <a:bodyPr/>
                    <a:lstStyle/>
                    <a:p>
                      <a:pPr algn="ctr"/>
                      <a:r>
                        <a:rPr lang="en-US" sz="1100">
                          <a:latin typeface="+mj-lt"/>
                        </a:rPr>
                        <a:t>#</a:t>
                      </a:r>
                    </a:p>
                  </a:txBody>
                  <a:tcPr anchor="ctr">
                    <a:solidFill>
                      <a:srgbClr val="338DCD"/>
                    </a:solidFill>
                  </a:tcPr>
                </a:tc>
                <a:tc>
                  <a:txBody>
                    <a:bodyPr/>
                    <a:lstStyle/>
                    <a:p>
                      <a:pPr algn="ctr"/>
                      <a:r>
                        <a:rPr lang="en-US" sz="1100">
                          <a:latin typeface="+mj-lt"/>
                        </a:rPr>
                        <a:t>Category</a:t>
                      </a:r>
                    </a:p>
                  </a:txBody>
                  <a:tcPr anchor="ctr">
                    <a:solidFill>
                      <a:srgbClr val="338DCD"/>
                    </a:solidFill>
                  </a:tcPr>
                </a:tc>
                <a:tc>
                  <a:txBody>
                    <a:bodyPr/>
                    <a:lstStyle/>
                    <a:p>
                      <a:pPr algn="ctr"/>
                      <a:r>
                        <a:rPr lang="en-US" sz="1100">
                          <a:latin typeface="+mj-lt"/>
                        </a:rPr>
                        <a:t>Category Priority</a:t>
                      </a:r>
                    </a:p>
                  </a:txBody>
                  <a:tcPr anchor="ctr">
                    <a:solidFill>
                      <a:srgbClr val="338DCD"/>
                    </a:solidFill>
                  </a:tcPr>
                </a:tc>
                <a:tc>
                  <a:txBody>
                    <a:bodyPr/>
                    <a:lstStyle/>
                    <a:p>
                      <a:pPr algn="ctr"/>
                      <a:r>
                        <a:rPr lang="en-US" sz="1100">
                          <a:latin typeface="+mj-lt"/>
                        </a:rPr>
                        <a:t>Chart type</a:t>
                      </a:r>
                    </a:p>
                  </a:txBody>
                  <a:tcPr anchor="ctr">
                    <a:solidFill>
                      <a:srgbClr val="338DCD"/>
                    </a:solidFill>
                  </a:tcPr>
                </a:tc>
                <a:tc>
                  <a:txBody>
                    <a:bodyPr/>
                    <a:lstStyle/>
                    <a:p>
                      <a:pPr algn="ctr"/>
                      <a:r>
                        <a:rPr lang="en-US" sz="1100">
                          <a:latin typeface="+mj-lt"/>
                        </a:rPr>
                        <a:t>Description</a:t>
                      </a:r>
                    </a:p>
                  </a:txBody>
                  <a:tcPr anchor="ctr">
                    <a:solidFill>
                      <a:srgbClr val="338DCD"/>
                    </a:solidFill>
                  </a:tcPr>
                </a:tc>
                <a:tc>
                  <a:txBody>
                    <a:bodyPr/>
                    <a:lstStyle/>
                    <a:p>
                      <a:pPr algn="ctr"/>
                      <a:r>
                        <a:rPr lang="en-US" sz="1100">
                          <a:latin typeface="+mj-lt"/>
                        </a:rPr>
                        <a:t>Assessment: </a:t>
                      </a:r>
                      <a:br>
                        <a:rPr lang="en-US" sz="1100">
                          <a:latin typeface="+mj-lt"/>
                        </a:rPr>
                      </a:br>
                      <a:r>
                        <a:rPr lang="en-US" sz="1100">
                          <a:latin typeface="+mj-lt"/>
                        </a:rPr>
                        <a:t>Required, Aspirational</a:t>
                      </a:r>
                    </a:p>
                  </a:txBody>
                  <a:tcPr anchor="ctr">
                    <a:solidFill>
                      <a:srgbClr val="338DCD"/>
                    </a:solidFill>
                  </a:tcPr>
                </a:tc>
                <a:tc>
                  <a:txBody>
                    <a:bodyPr/>
                    <a:lstStyle/>
                    <a:p>
                      <a:pPr algn="ctr"/>
                      <a:r>
                        <a:rPr lang="en-US" sz="1100">
                          <a:latin typeface="+mj-lt"/>
                        </a:rPr>
                        <a:t>Implementation Priority</a:t>
                      </a:r>
                    </a:p>
                  </a:txBody>
                  <a:tcPr anchor="ctr">
                    <a:solidFill>
                      <a:srgbClr val="338DCD"/>
                    </a:solidFill>
                  </a:tcPr>
                </a:tc>
                <a:extLst>
                  <a:ext uri="{0D108BD9-81ED-4DB2-BD59-A6C34878D82A}">
                    <a16:rowId xmlns:a16="http://schemas.microsoft.com/office/drawing/2014/main" val="3024339621"/>
                  </a:ext>
                </a:extLst>
              </a:tr>
              <a:tr h="142481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latin typeface="+mn-lt"/>
                        </a:rPr>
                        <a:t>1</a:t>
                      </a:r>
                    </a:p>
                  </a:txBody>
                  <a:tcPr anchor="ctr">
                    <a:solidFill>
                      <a:schemeClr val="bg1">
                        <a:lumMod val="95000"/>
                      </a:schemeClr>
                    </a:solidFill>
                  </a:tcPr>
                </a:tc>
                <a:tc>
                  <a:txBody>
                    <a:bodyPr/>
                    <a:lstStyle/>
                    <a:p>
                      <a:pPr lvl="0" algn="ctr">
                        <a:lnSpc>
                          <a:spcPct val="100000"/>
                        </a:lnSpc>
                        <a:spcBef>
                          <a:spcPts val="0"/>
                        </a:spcBef>
                        <a:spcAft>
                          <a:spcPts val="0"/>
                        </a:spcAft>
                        <a:buNone/>
                      </a:pPr>
                      <a:r>
                        <a:rPr lang="en-US" sz="1000" b="0" i="0" u="none" strike="noStrike" noProof="0" dirty="0">
                          <a:solidFill>
                            <a:srgbClr val="000000"/>
                          </a:solidFill>
                          <a:latin typeface="+mn-lt"/>
                        </a:rPr>
                        <a:t>Snowflake spending by BU</a:t>
                      </a:r>
                    </a:p>
                  </a:txBody>
                  <a:tcPr anchor="ctr">
                    <a:solidFill>
                      <a:schemeClr val="bg1">
                        <a:lumMod val="95000"/>
                      </a:schemeClr>
                    </a:solidFill>
                  </a:tcPr>
                </a:tc>
                <a:tc>
                  <a:txBody>
                    <a:bodyPr/>
                    <a:lstStyle/>
                    <a:p>
                      <a:pPr marL="0" algn="ctr" rtl="0" eaLnBrk="1" latinLnBrk="0" hangingPunct="1"/>
                      <a:r>
                        <a:rPr lang="en-US" sz="1000" b="0" i="0" u="none" strike="noStrike" kern="1200" noProof="0" dirty="0">
                          <a:solidFill>
                            <a:srgbClr val="000000"/>
                          </a:solidFill>
                          <a:latin typeface="+mn-lt"/>
                        </a:rPr>
                        <a:t>5</a:t>
                      </a:r>
                    </a:p>
                  </a:txBody>
                  <a:tcPr anchor="ctr">
                    <a:solidFill>
                      <a:schemeClr val="bg1">
                        <a:lumMod val="95000"/>
                      </a:schemeClr>
                    </a:solidFill>
                  </a:tcPr>
                </a:tc>
                <a:tc>
                  <a:txBody>
                    <a:bodyPr/>
                    <a:lstStyle/>
                    <a:p>
                      <a:pPr marL="0" algn="ctr" rtl="0" eaLnBrk="1" latinLnBrk="0" hangingPunct="1"/>
                      <a:r>
                        <a:rPr lang="en-US" sz="1000" b="0" i="0" u="none" strike="noStrike" kern="1200" noProof="0" dirty="0">
                          <a:solidFill>
                            <a:srgbClr val="000000"/>
                          </a:solidFill>
                          <a:latin typeface="+mn-lt"/>
                        </a:rPr>
                        <a:t>Clustered column chart</a:t>
                      </a:r>
                    </a:p>
                  </a:txBody>
                  <a:tcPr anchor="ctr">
                    <a:solidFill>
                      <a:schemeClr val="bg1">
                        <a:lumMod val="95000"/>
                      </a:schemeClr>
                    </a:solidFill>
                  </a:tcPr>
                </a:tc>
                <a:tc>
                  <a:txBody>
                    <a:bodyPr/>
                    <a:lstStyle/>
                    <a:p>
                      <a:pPr marL="0" algn="ctr" rtl="0" eaLnBrk="1" latinLnBrk="0" hangingPunct="1"/>
                      <a:r>
                        <a:rPr lang="en-US" sz="1000" b="0" i="0" u="none" strike="noStrike" kern="1200" noProof="0" dirty="0">
                          <a:solidFill>
                            <a:srgbClr val="000000"/>
                          </a:solidFill>
                          <a:latin typeface="+mn-lt"/>
                        </a:rPr>
                        <a:t>Depicts the monthly usage by division and compares it with PY, alongside conditionally changes the label color based on increase/decrease in usage patterns.</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Required</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2012711696"/>
                  </a:ext>
                </a:extLst>
              </a:tr>
              <a:tr h="1029034">
                <a:tc>
                  <a:txBody>
                    <a:bodyPr/>
                    <a:lstStyle/>
                    <a:p>
                      <a:pPr algn="ctr"/>
                      <a:r>
                        <a:rPr lang="en-US" sz="1000">
                          <a:solidFill>
                            <a:schemeClr val="tx1"/>
                          </a:solidFill>
                          <a:latin typeface="+mn-lt"/>
                        </a:rPr>
                        <a:t>2</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u="none" strike="noStrike" noProof="0">
                          <a:solidFill>
                            <a:srgbClr val="000000"/>
                          </a:solidFill>
                          <a:latin typeface="+mn-lt"/>
                        </a:rPr>
                        <a:t>Snowflake spending by BU</a:t>
                      </a:r>
                    </a:p>
                  </a:txBody>
                  <a:tcPr anchor="ctr">
                    <a:solidFill>
                      <a:schemeClr val="bg1">
                        <a:lumMod val="95000"/>
                      </a:schemeClr>
                    </a:solidFill>
                  </a:tcPr>
                </a:tc>
                <a:tc>
                  <a:txBody>
                    <a:bodyPr/>
                    <a:lstStyle/>
                    <a:p>
                      <a:pPr marL="0" marR="0" lvl="0" indent="0" algn="ctr">
                        <a:lnSpc>
                          <a:spcPct val="100000"/>
                        </a:lnSpc>
                        <a:spcBef>
                          <a:spcPts val="0"/>
                        </a:spcBef>
                        <a:spcAft>
                          <a:spcPts val="0"/>
                        </a:spcAft>
                        <a:buNone/>
                      </a:pPr>
                      <a:r>
                        <a:rPr kumimoji="0" lang="en-US" sz="1000">
                          <a:solidFill>
                            <a:schemeClr val="tx1"/>
                          </a:solidFill>
                          <a:latin typeface="+mn-lt"/>
                        </a:rPr>
                        <a:t>5</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u="none" strike="noStrike" kern="1200" noProof="0">
                          <a:solidFill>
                            <a:srgbClr val="000000"/>
                          </a:solidFill>
                          <a:latin typeface="+mn-lt"/>
                        </a:rPr>
                        <a:t>Clustered column chart</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u="none" strike="noStrike" kern="1200" noProof="0" dirty="0">
                          <a:solidFill>
                            <a:srgbClr val="000000"/>
                          </a:solidFill>
                          <a:latin typeface="+mn-lt"/>
                        </a:rPr>
                        <a:t>Depicts the rolling 12 months enterprise division usage and compares it with PY, alongside conditionally changes the label color based on increase/decrease in usage patterns.</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mn-lt"/>
                          <a:ea typeface="+mn-ea"/>
                          <a:cs typeface="+mn-cs"/>
                        </a:rPr>
                        <a:t>Aspirational</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chemeClr val="tx1"/>
                        </a:solidFill>
                        <a:effectLst/>
                        <a:uLnTx/>
                        <a:uFillTx/>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3318944014"/>
                  </a:ext>
                </a:extLst>
              </a:tr>
              <a:tr h="1424818">
                <a:tc>
                  <a:txBody>
                    <a:bodyPr/>
                    <a:lstStyle/>
                    <a:p>
                      <a:pPr algn="ctr"/>
                      <a:r>
                        <a:rPr lang="en-US" sz="1000">
                          <a:solidFill>
                            <a:schemeClr val="tx1"/>
                          </a:solidFill>
                          <a:latin typeface="+mn-lt"/>
                        </a:rPr>
                        <a:t>3</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u="none" strike="noStrike" noProof="0">
                          <a:solidFill>
                            <a:srgbClr val="000000"/>
                          </a:solidFill>
                          <a:latin typeface="+mn-lt"/>
                        </a:rPr>
                        <a:t>Snowflake spending by BU</a:t>
                      </a:r>
                    </a:p>
                  </a:txBody>
                  <a:tcPr anchor="ctr">
                    <a:solidFill>
                      <a:schemeClr val="bg1">
                        <a:lumMod val="95000"/>
                      </a:schemeClr>
                    </a:solidFill>
                  </a:tcPr>
                </a:tc>
                <a:tc>
                  <a:txBody>
                    <a:bodyPr/>
                    <a:lstStyle/>
                    <a:p>
                      <a:pPr marL="0" marR="0" lvl="0" indent="0" algn="ctr">
                        <a:lnSpc>
                          <a:spcPct val="100000"/>
                        </a:lnSpc>
                        <a:spcBef>
                          <a:spcPts val="0"/>
                        </a:spcBef>
                        <a:spcAft>
                          <a:spcPts val="0"/>
                        </a:spcAft>
                        <a:buNone/>
                      </a:pPr>
                      <a:r>
                        <a:rPr kumimoji="0" lang="en-US" sz="1000">
                          <a:solidFill>
                            <a:schemeClr val="tx1"/>
                          </a:solidFill>
                          <a:latin typeface="+mn-lt"/>
                        </a:rPr>
                        <a:t>5</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u="none" strike="noStrike" kern="1200" noProof="0">
                          <a:solidFill>
                            <a:srgbClr val="000000"/>
                          </a:solidFill>
                          <a:latin typeface="+mn-lt"/>
                        </a:rPr>
                        <a:t>Clustered column chart</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u="none" strike="noStrike" kern="1200" noProof="0">
                          <a:solidFill>
                            <a:srgbClr val="000000"/>
                          </a:solidFill>
                          <a:latin typeface="+mn-lt"/>
                        </a:rPr>
                        <a:t>Depicts the rolling 12 months prinam division usage and compares it with PY, alongside conditionally changes the label color based on increase/decrease in usage patterns.</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mn-lt"/>
                          <a:ea typeface="+mn-ea"/>
                          <a:cs typeface="+mn-cs"/>
                        </a:rPr>
                        <a:t>Aspirational</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chemeClr val="tx1"/>
                        </a:solidFill>
                        <a:effectLst/>
                        <a:uLnTx/>
                        <a:uFillTx/>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2615708042"/>
                  </a:ext>
                </a:extLst>
              </a:tr>
            </a:tbl>
          </a:graphicData>
        </a:graphic>
      </p:graphicFrame>
    </p:spTree>
    <p:extLst>
      <p:ext uri="{BB962C8B-B14F-4D97-AF65-F5344CB8AC3E}">
        <p14:creationId xmlns:p14="http://schemas.microsoft.com/office/powerpoint/2010/main" val="12588615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F5814-913E-4F65-099E-2819F47D8E7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D9E3A4B-7B09-F54D-57E2-AD79F5BE692C}"/>
              </a:ext>
            </a:extLst>
          </p:cNvPr>
          <p:cNvSpPr txBox="1">
            <a:spLocks/>
          </p:cNvSpPr>
          <p:nvPr/>
        </p:nvSpPr>
        <p:spPr>
          <a:xfrm>
            <a:off x="284550" y="216713"/>
            <a:ext cx="11904087" cy="509780"/>
          </a:xfrm>
          <a:prstGeom prst="rect">
            <a:avLst/>
          </a:prstGeom>
        </p:spPr>
        <p:txBody>
          <a:bodyPr lIns="91440" tIns="45720" rIns="91440" bIns="45720" anchor="t"/>
          <a:lstStyle>
            <a:lvl1pPr algn="l" defTabSz="914400" rtl="0" eaLnBrk="1" latinLnBrk="0" hangingPunct="1">
              <a:lnSpc>
                <a:spcPct val="100000"/>
              </a:lnSpc>
              <a:spcBef>
                <a:spcPct val="0"/>
              </a:spcBef>
              <a:buNone/>
              <a:defRPr sz="3400" b="0" i="0" kern="1200">
                <a:solidFill>
                  <a:srgbClr val="0076CF"/>
                </a:solidFill>
                <a:latin typeface="FS Elliot Pro Light" panose="02000503040000020004" pitchFamily="2" charset="0"/>
                <a:ea typeface="+mj-ea"/>
                <a:cs typeface="+mj-cs"/>
              </a:defRPr>
            </a:lvl1pPr>
          </a:lstStyle>
          <a:p>
            <a:pPr>
              <a:defRPr/>
            </a:pPr>
            <a:r>
              <a:rPr lang="en-US" sz="3200">
                <a:latin typeface="FS Elliot Pro Light"/>
              </a:rPr>
              <a:t>Cost Management – Usage forecast overview</a:t>
            </a:r>
            <a:endParaRPr lang="en-US">
              <a:ea typeface="+mj-ea"/>
              <a:cs typeface="+mj-cs"/>
            </a:endParaRPr>
          </a:p>
        </p:txBody>
      </p:sp>
      <p:sp>
        <p:nvSpPr>
          <p:cNvPr id="45" name="Rectangle 44">
            <a:extLst>
              <a:ext uri="{FF2B5EF4-FFF2-40B4-BE49-F238E27FC236}">
                <a16:creationId xmlns:a16="http://schemas.microsoft.com/office/drawing/2014/main" id="{98655C7C-8351-91F9-5A74-5F96D718F466}"/>
              </a:ext>
            </a:extLst>
          </p:cNvPr>
          <p:cNvSpPr/>
          <p:nvPr/>
        </p:nvSpPr>
        <p:spPr>
          <a:xfrm>
            <a:off x="394952" y="1219540"/>
            <a:ext cx="900448" cy="361309"/>
          </a:xfrm>
          <a:prstGeom prst="rect">
            <a:avLst/>
          </a:prstGeom>
          <a:no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 name="Rectangle 1">
            <a:extLst>
              <a:ext uri="{FF2B5EF4-FFF2-40B4-BE49-F238E27FC236}">
                <a16:creationId xmlns:a16="http://schemas.microsoft.com/office/drawing/2014/main" id="{489D5303-A77E-A23C-503D-2A19D6A89DFD}"/>
              </a:ext>
            </a:extLst>
          </p:cNvPr>
          <p:cNvSpPr/>
          <p:nvPr/>
        </p:nvSpPr>
        <p:spPr>
          <a:xfrm>
            <a:off x="828961" y="782546"/>
            <a:ext cx="11130975" cy="323141"/>
          </a:xfrm>
          <a:prstGeom prst="rect">
            <a:avLst/>
          </a:prstGeom>
          <a:solidFill>
            <a:schemeClr val="tx2">
              <a:lumMod val="20000"/>
              <a:lumOff val="8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15888">
              <a:buFont typeface="Wingdings" panose="05000000000000000000" pitchFamily="2" charset="2"/>
              <a:buChar char="ü"/>
            </a:pPr>
            <a:r>
              <a:rPr lang="en-US" sz="1100">
                <a:solidFill>
                  <a:schemeClr val="tx1"/>
                </a:solidFill>
              </a:rPr>
              <a:t>Quick view to understand the actual usage trend vs forecast across the organization and within each respective divisions</a:t>
            </a:r>
          </a:p>
        </p:txBody>
      </p:sp>
      <p:grpSp>
        <p:nvGrpSpPr>
          <p:cNvPr id="3" name="Graphic 4">
            <a:extLst>
              <a:ext uri="{FF2B5EF4-FFF2-40B4-BE49-F238E27FC236}">
                <a16:creationId xmlns:a16="http://schemas.microsoft.com/office/drawing/2014/main" id="{30AFE33E-03A4-751F-6670-BBFF2F7CE6B3}"/>
              </a:ext>
            </a:extLst>
          </p:cNvPr>
          <p:cNvGrpSpPr>
            <a:grpSpLocks noChangeAspect="1"/>
          </p:cNvGrpSpPr>
          <p:nvPr/>
        </p:nvGrpSpPr>
        <p:grpSpPr>
          <a:xfrm>
            <a:off x="427888" y="696089"/>
            <a:ext cx="496522" cy="496054"/>
            <a:chOff x="1952125" y="1402723"/>
            <a:chExt cx="362313" cy="361971"/>
          </a:xfrm>
          <a:solidFill>
            <a:schemeClr val="tx2">
              <a:lumMod val="60000"/>
              <a:lumOff val="40000"/>
            </a:schemeClr>
          </a:solidFill>
        </p:grpSpPr>
        <p:sp>
          <p:nvSpPr>
            <p:cNvPr id="5" name="Graphic 4">
              <a:extLst>
                <a:ext uri="{FF2B5EF4-FFF2-40B4-BE49-F238E27FC236}">
                  <a16:creationId xmlns:a16="http://schemas.microsoft.com/office/drawing/2014/main" id="{9196265E-8901-6641-6D11-1317FD2254B0}"/>
                </a:ext>
              </a:extLst>
            </p:cNvPr>
            <p:cNvSpPr/>
            <p:nvPr/>
          </p:nvSpPr>
          <p:spPr>
            <a:xfrm>
              <a:off x="2069061" y="1471670"/>
              <a:ext cx="126174" cy="158322"/>
            </a:xfrm>
            <a:custGeom>
              <a:avLst/>
              <a:gdLst>
                <a:gd name="connsiteX0" fmla="*/ 50481 w 126174"/>
                <a:gd name="connsiteY0" fmla="*/ 53626 h 158322"/>
                <a:gd name="connsiteX1" fmla="*/ 40896 w 126174"/>
                <a:gd name="connsiteY1" fmla="*/ 72139 h 158322"/>
                <a:gd name="connsiteX2" fmla="*/ 35145 w 126174"/>
                <a:gd name="connsiteY2" fmla="*/ 75969 h 158322"/>
                <a:gd name="connsiteX3" fmla="*/ 0 w 126174"/>
                <a:gd name="connsiteY3" fmla="*/ 105974 h 158322"/>
                <a:gd name="connsiteX4" fmla="*/ 32589 w 126174"/>
                <a:gd name="connsiteY4" fmla="*/ 121296 h 158322"/>
                <a:gd name="connsiteX5" fmla="*/ 36423 w 126174"/>
                <a:gd name="connsiteY5" fmla="*/ 128318 h 158322"/>
                <a:gd name="connsiteX6" fmla="*/ 46008 w 126174"/>
                <a:gd name="connsiteY6" fmla="*/ 151939 h 158322"/>
                <a:gd name="connsiteX7" fmla="*/ 68372 w 126174"/>
                <a:gd name="connsiteY7" fmla="*/ 144916 h 158322"/>
                <a:gd name="connsiteX8" fmla="*/ 73484 w 126174"/>
                <a:gd name="connsiteY8" fmla="*/ 142363 h 158322"/>
                <a:gd name="connsiteX9" fmla="*/ 76040 w 126174"/>
                <a:gd name="connsiteY9" fmla="*/ 143001 h 158322"/>
                <a:gd name="connsiteX10" fmla="*/ 108629 w 126174"/>
                <a:gd name="connsiteY10" fmla="*/ 158323 h 158322"/>
                <a:gd name="connsiteX11" fmla="*/ 111824 w 126174"/>
                <a:gd name="connsiteY11" fmla="*/ 110443 h 158322"/>
                <a:gd name="connsiteX12" fmla="*/ 111824 w 126174"/>
                <a:gd name="connsiteY12" fmla="*/ 104697 h 158322"/>
                <a:gd name="connsiteX13" fmla="*/ 118214 w 126174"/>
                <a:gd name="connsiteY13" fmla="*/ 0 h 158322"/>
                <a:gd name="connsiteX14" fmla="*/ 53676 w 126174"/>
                <a:gd name="connsiteY14" fmla="*/ 49795 h 158322"/>
                <a:gd name="connsiteX15" fmla="*/ 50481 w 126174"/>
                <a:gd name="connsiteY15" fmla="*/ 53626 h 158322"/>
                <a:gd name="connsiteX16" fmla="*/ 99683 w 126174"/>
                <a:gd name="connsiteY16" fmla="*/ 91929 h 158322"/>
                <a:gd name="connsiteX17" fmla="*/ 72206 w 126174"/>
                <a:gd name="connsiteY17" fmla="*/ 119381 h 158322"/>
                <a:gd name="connsiteX18" fmla="*/ 44730 w 126174"/>
                <a:gd name="connsiteY18" fmla="*/ 91929 h 158322"/>
                <a:gd name="connsiteX19" fmla="*/ 72206 w 126174"/>
                <a:gd name="connsiteY19" fmla="*/ 64478 h 158322"/>
                <a:gd name="connsiteX20" fmla="*/ 99683 w 126174"/>
                <a:gd name="connsiteY20" fmla="*/ 91929 h 158322"/>
                <a:gd name="connsiteX21" fmla="*/ 99683 w 126174"/>
                <a:gd name="connsiteY21" fmla="*/ 91929 h 158322"/>
                <a:gd name="connsiteX22" fmla="*/ 99683 w 126174"/>
                <a:gd name="connsiteY22" fmla="*/ 91929 h 158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6174" h="158322">
                  <a:moveTo>
                    <a:pt x="50481" y="53626"/>
                  </a:moveTo>
                  <a:cubicBezTo>
                    <a:pt x="46647" y="59371"/>
                    <a:pt x="44091" y="65755"/>
                    <a:pt x="40896" y="72139"/>
                  </a:cubicBezTo>
                  <a:cubicBezTo>
                    <a:pt x="39618" y="74693"/>
                    <a:pt x="37701" y="75969"/>
                    <a:pt x="35145" y="75969"/>
                  </a:cubicBezTo>
                  <a:cubicBezTo>
                    <a:pt x="17892" y="76608"/>
                    <a:pt x="3195" y="88737"/>
                    <a:pt x="0" y="105974"/>
                  </a:cubicBezTo>
                  <a:lnTo>
                    <a:pt x="32589" y="121296"/>
                  </a:lnTo>
                  <a:cubicBezTo>
                    <a:pt x="35145" y="122573"/>
                    <a:pt x="36423" y="125126"/>
                    <a:pt x="36423" y="128318"/>
                  </a:cubicBezTo>
                  <a:cubicBezTo>
                    <a:pt x="36423" y="128318"/>
                    <a:pt x="33867" y="146832"/>
                    <a:pt x="46008" y="151939"/>
                  </a:cubicBezTo>
                  <a:cubicBezTo>
                    <a:pt x="58148" y="157046"/>
                    <a:pt x="68372" y="145555"/>
                    <a:pt x="68372" y="144916"/>
                  </a:cubicBezTo>
                  <a:cubicBezTo>
                    <a:pt x="69650" y="143640"/>
                    <a:pt x="71567" y="142363"/>
                    <a:pt x="73484" y="142363"/>
                  </a:cubicBezTo>
                  <a:cubicBezTo>
                    <a:pt x="74123" y="142363"/>
                    <a:pt x="75401" y="142363"/>
                    <a:pt x="76040" y="143001"/>
                  </a:cubicBezTo>
                  <a:lnTo>
                    <a:pt x="108629" y="158323"/>
                  </a:lnTo>
                  <a:cubicBezTo>
                    <a:pt x="117575" y="143640"/>
                    <a:pt x="118853" y="125765"/>
                    <a:pt x="111824" y="110443"/>
                  </a:cubicBezTo>
                  <a:cubicBezTo>
                    <a:pt x="111185" y="108528"/>
                    <a:pt x="111185" y="106613"/>
                    <a:pt x="111824" y="104697"/>
                  </a:cubicBezTo>
                  <a:cubicBezTo>
                    <a:pt x="111824" y="104059"/>
                    <a:pt x="139301" y="49795"/>
                    <a:pt x="118214" y="0"/>
                  </a:cubicBezTo>
                  <a:cubicBezTo>
                    <a:pt x="106712" y="2554"/>
                    <a:pt x="77318" y="12130"/>
                    <a:pt x="53676" y="49795"/>
                  </a:cubicBezTo>
                  <a:cubicBezTo>
                    <a:pt x="52398" y="51710"/>
                    <a:pt x="51759" y="52987"/>
                    <a:pt x="50481" y="53626"/>
                  </a:cubicBezTo>
                  <a:close/>
                  <a:moveTo>
                    <a:pt x="99683" y="91929"/>
                  </a:moveTo>
                  <a:cubicBezTo>
                    <a:pt x="99683" y="107251"/>
                    <a:pt x="87542" y="119381"/>
                    <a:pt x="72206" y="119381"/>
                  </a:cubicBezTo>
                  <a:cubicBezTo>
                    <a:pt x="56871" y="119381"/>
                    <a:pt x="44730" y="107251"/>
                    <a:pt x="44730" y="91929"/>
                  </a:cubicBezTo>
                  <a:cubicBezTo>
                    <a:pt x="44730" y="76608"/>
                    <a:pt x="56871" y="64478"/>
                    <a:pt x="72206" y="64478"/>
                  </a:cubicBezTo>
                  <a:cubicBezTo>
                    <a:pt x="87542" y="65117"/>
                    <a:pt x="99683" y="77246"/>
                    <a:pt x="99683" y="91929"/>
                  </a:cubicBezTo>
                  <a:cubicBezTo>
                    <a:pt x="99683" y="92568"/>
                    <a:pt x="99683" y="92568"/>
                    <a:pt x="99683" y="91929"/>
                  </a:cubicBezTo>
                  <a:lnTo>
                    <a:pt x="99683" y="91929"/>
                  </a:lnTo>
                  <a:close/>
                </a:path>
              </a:pathLst>
            </a:custGeom>
            <a:grpFill/>
            <a:ln w="6390" cap="flat">
              <a:noFill/>
              <a:prstDash val="solid"/>
              <a:miter/>
            </a:ln>
          </p:spPr>
          <p:txBody>
            <a:bodyPr rtlCol="0" anchor="ctr"/>
            <a:lstStyle/>
            <a:p>
              <a:endParaRPr lang="en-US"/>
            </a:p>
          </p:txBody>
        </p:sp>
        <p:sp>
          <p:nvSpPr>
            <p:cNvPr id="7" name="Graphic 4">
              <a:extLst>
                <a:ext uri="{FF2B5EF4-FFF2-40B4-BE49-F238E27FC236}">
                  <a16:creationId xmlns:a16="http://schemas.microsoft.com/office/drawing/2014/main" id="{84243777-A6B2-F49F-006B-5A3BA3D87D66}"/>
                </a:ext>
              </a:extLst>
            </p:cNvPr>
            <p:cNvSpPr/>
            <p:nvPr/>
          </p:nvSpPr>
          <p:spPr>
            <a:xfrm>
              <a:off x="2043501" y="1527211"/>
              <a:ext cx="180835" cy="126402"/>
            </a:xfrm>
            <a:custGeom>
              <a:avLst/>
              <a:gdLst>
                <a:gd name="connsiteX0" fmla="*/ 180835 w 180835"/>
                <a:gd name="connsiteY0" fmla="*/ 5746 h 126402"/>
                <a:gd name="connsiteX1" fmla="*/ 175084 w 180835"/>
                <a:gd name="connsiteY1" fmla="*/ 0 h 126402"/>
                <a:gd name="connsiteX2" fmla="*/ 175084 w 180835"/>
                <a:gd name="connsiteY2" fmla="*/ 0 h 126402"/>
                <a:gd name="connsiteX3" fmla="*/ 163582 w 180835"/>
                <a:gd name="connsiteY3" fmla="*/ 0 h 126402"/>
                <a:gd name="connsiteX4" fmla="*/ 149525 w 180835"/>
                <a:gd name="connsiteY4" fmla="*/ 52987 h 126402"/>
                <a:gd name="connsiteX5" fmla="*/ 140579 w 180835"/>
                <a:gd name="connsiteY5" fmla="*/ 115550 h 126402"/>
                <a:gd name="connsiteX6" fmla="*/ 135467 w 180835"/>
                <a:gd name="connsiteY6" fmla="*/ 118104 h 126402"/>
                <a:gd name="connsiteX7" fmla="*/ 132911 w 180835"/>
                <a:gd name="connsiteY7" fmla="*/ 117465 h 126402"/>
                <a:gd name="connsiteX8" fmla="*/ 99044 w 180835"/>
                <a:gd name="connsiteY8" fmla="*/ 101505 h 126402"/>
                <a:gd name="connsiteX9" fmla="*/ 65177 w 180835"/>
                <a:gd name="connsiteY9" fmla="*/ 108528 h 126402"/>
                <a:gd name="connsiteX10" fmla="*/ 47925 w 180835"/>
                <a:gd name="connsiteY10" fmla="*/ 75969 h 126402"/>
                <a:gd name="connsiteX11" fmla="*/ 14697 w 180835"/>
                <a:gd name="connsiteY11" fmla="*/ 60009 h 126402"/>
                <a:gd name="connsiteX12" fmla="*/ 11502 w 180835"/>
                <a:gd name="connsiteY12" fmla="*/ 52987 h 126402"/>
                <a:gd name="connsiteX13" fmla="*/ 56232 w 180835"/>
                <a:gd name="connsiteY13" fmla="*/ 8299 h 126402"/>
                <a:gd name="connsiteX14" fmla="*/ 60066 w 180835"/>
                <a:gd name="connsiteY14" fmla="*/ 0 h 126402"/>
                <a:gd name="connsiteX15" fmla="*/ 5751 w 180835"/>
                <a:gd name="connsiteY15" fmla="*/ 0 h 126402"/>
                <a:gd name="connsiteX16" fmla="*/ 0 w 180835"/>
                <a:gd name="connsiteY16" fmla="*/ 5746 h 126402"/>
                <a:gd name="connsiteX17" fmla="*/ 0 w 180835"/>
                <a:gd name="connsiteY17" fmla="*/ 5746 h 126402"/>
                <a:gd name="connsiteX18" fmla="*/ 0 w 180835"/>
                <a:gd name="connsiteY18" fmla="*/ 126403 h 126402"/>
                <a:gd name="connsiteX19" fmla="*/ 180835 w 180835"/>
                <a:gd name="connsiteY19" fmla="*/ 126403 h 126402"/>
                <a:gd name="connsiteX20" fmla="*/ 180835 w 180835"/>
                <a:gd name="connsiteY20" fmla="*/ 5746 h 12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80835" h="126402">
                  <a:moveTo>
                    <a:pt x="180835" y="5746"/>
                  </a:moveTo>
                  <a:cubicBezTo>
                    <a:pt x="180835" y="2554"/>
                    <a:pt x="178279" y="0"/>
                    <a:pt x="175084" y="0"/>
                  </a:cubicBezTo>
                  <a:lnTo>
                    <a:pt x="175084" y="0"/>
                  </a:lnTo>
                  <a:lnTo>
                    <a:pt x="163582" y="0"/>
                  </a:lnTo>
                  <a:cubicBezTo>
                    <a:pt x="161666" y="18514"/>
                    <a:pt x="157192" y="36389"/>
                    <a:pt x="149525" y="52987"/>
                  </a:cubicBezTo>
                  <a:cubicBezTo>
                    <a:pt x="157832" y="74054"/>
                    <a:pt x="154637" y="97675"/>
                    <a:pt x="140579" y="115550"/>
                  </a:cubicBezTo>
                  <a:cubicBezTo>
                    <a:pt x="139301" y="116827"/>
                    <a:pt x="137384" y="118104"/>
                    <a:pt x="135467" y="118104"/>
                  </a:cubicBezTo>
                  <a:cubicBezTo>
                    <a:pt x="134828" y="118104"/>
                    <a:pt x="133550" y="118104"/>
                    <a:pt x="132911" y="117465"/>
                  </a:cubicBezTo>
                  <a:lnTo>
                    <a:pt x="99044" y="101505"/>
                  </a:lnTo>
                  <a:cubicBezTo>
                    <a:pt x="90098" y="110443"/>
                    <a:pt x="76679" y="112996"/>
                    <a:pt x="65177" y="108528"/>
                  </a:cubicBezTo>
                  <a:cubicBezTo>
                    <a:pt x="49203" y="100867"/>
                    <a:pt x="47286" y="84269"/>
                    <a:pt x="47925" y="75969"/>
                  </a:cubicBezTo>
                  <a:lnTo>
                    <a:pt x="14697" y="60009"/>
                  </a:lnTo>
                  <a:cubicBezTo>
                    <a:pt x="12141" y="58733"/>
                    <a:pt x="10863" y="56179"/>
                    <a:pt x="11502" y="52987"/>
                  </a:cubicBezTo>
                  <a:cubicBezTo>
                    <a:pt x="17892" y="20429"/>
                    <a:pt x="41535" y="9576"/>
                    <a:pt x="56232" y="8299"/>
                  </a:cubicBezTo>
                  <a:cubicBezTo>
                    <a:pt x="57509" y="5746"/>
                    <a:pt x="58788" y="2554"/>
                    <a:pt x="60066" y="0"/>
                  </a:cubicBezTo>
                  <a:lnTo>
                    <a:pt x="5751" y="0"/>
                  </a:lnTo>
                  <a:cubicBezTo>
                    <a:pt x="2556" y="0"/>
                    <a:pt x="0" y="2554"/>
                    <a:pt x="0" y="5746"/>
                  </a:cubicBezTo>
                  <a:lnTo>
                    <a:pt x="0" y="5746"/>
                  </a:lnTo>
                  <a:lnTo>
                    <a:pt x="0" y="126403"/>
                  </a:lnTo>
                  <a:lnTo>
                    <a:pt x="180835" y="126403"/>
                  </a:lnTo>
                  <a:lnTo>
                    <a:pt x="180835" y="5746"/>
                  </a:lnTo>
                  <a:close/>
                </a:path>
              </a:pathLst>
            </a:custGeom>
            <a:grpFill/>
            <a:ln w="6390" cap="flat">
              <a:noFill/>
              <a:prstDash val="solid"/>
              <a:miter/>
            </a:ln>
          </p:spPr>
          <p:txBody>
            <a:bodyPr rtlCol="0" anchor="ctr"/>
            <a:lstStyle/>
            <a:p>
              <a:endParaRPr lang="en-US"/>
            </a:p>
          </p:txBody>
        </p:sp>
        <p:sp>
          <p:nvSpPr>
            <p:cNvPr id="8" name="Graphic 4">
              <a:extLst>
                <a:ext uri="{FF2B5EF4-FFF2-40B4-BE49-F238E27FC236}">
                  <a16:creationId xmlns:a16="http://schemas.microsoft.com/office/drawing/2014/main" id="{28044671-CC61-D5FF-9D25-3C08FDAB61CD}"/>
                </a:ext>
              </a:extLst>
            </p:cNvPr>
            <p:cNvSpPr/>
            <p:nvPr/>
          </p:nvSpPr>
          <p:spPr>
            <a:xfrm>
              <a:off x="2126570" y="1549555"/>
              <a:ext cx="29393" cy="29366"/>
            </a:xfrm>
            <a:custGeom>
              <a:avLst/>
              <a:gdLst>
                <a:gd name="connsiteX0" fmla="*/ 14697 w 29393"/>
                <a:gd name="connsiteY0" fmla="*/ 29366 h 29366"/>
                <a:gd name="connsiteX1" fmla="*/ 29394 w 29393"/>
                <a:gd name="connsiteY1" fmla="*/ 14683 h 29366"/>
                <a:gd name="connsiteX2" fmla="*/ 14697 w 29393"/>
                <a:gd name="connsiteY2" fmla="*/ 0 h 29366"/>
                <a:gd name="connsiteX3" fmla="*/ 0 w 29393"/>
                <a:gd name="connsiteY3" fmla="*/ 14683 h 29366"/>
                <a:gd name="connsiteX4" fmla="*/ 14697 w 29393"/>
                <a:gd name="connsiteY4" fmla="*/ 29366 h 29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93" h="29366">
                  <a:moveTo>
                    <a:pt x="14697" y="29366"/>
                  </a:moveTo>
                  <a:cubicBezTo>
                    <a:pt x="23004" y="29366"/>
                    <a:pt x="29394" y="22982"/>
                    <a:pt x="29394" y="14683"/>
                  </a:cubicBezTo>
                  <a:cubicBezTo>
                    <a:pt x="29394" y="6384"/>
                    <a:pt x="23004" y="0"/>
                    <a:pt x="14697" y="0"/>
                  </a:cubicBezTo>
                  <a:cubicBezTo>
                    <a:pt x="6390" y="0"/>
                    <a:pt x="0" y="6384"/>
                    <a:pt x="0" y="14683"/>
                  </a:cubicBezTo>
                  <a:cubicBezTo>
                    <a:pt x="0" y="22982"/>
                    <a:pt x="6390" y="29366"/>
                    <a:pt x="14697" y="29366"/>
                  </a:cubicBezTo>
                  <a:close/>
                </a:path>
              </a:pathLst>
            </a:custGeom>
            <a:grpFill/>
            <a:ln w="6390" cap="flat">
              <a:noFill/>
              <a:prstDash val="solid"/>
              <a:miter/>
            </a:ln>
          </p:spPr>
          <p:txBody>
            <a:bodyPr rtlCol="0" anchor="ctr"/>
            <a:lstStyle/>
            <a:p>
              <a:endParaRPr lang="en-US"/>
            </a:p>
          </p:txBody>
        </p:sp>
        <p:sp>
          <p:nvSpPr>
            <p:cNvPr id="9" name="Graphic 4">
              <a:extLst>
                <a:ext uri="{FF2B5EF4-FFF2-40B4-BE49-F238E27FC236}">
                  <a16:creationId xmlns:a16="http://schemas.microsoft.com/office/drawing/2014/main" id="{A2879FB1-4694-D139-4FCB-437037744378}"/>
                </a:ext>
              </a:extLst>
            </p:cNvPr>
            <p:cNvSpPr/>
            <p:nvPr/>
          </p:nvSpPr>
          <p:spPr>
            <a:xfrm>
              <a:off x="2033278" y="1666381"/>
              <a:ext cx="201283" cy="3191"/>
            </a:xfrm>
            <a:custGeom>
              <a:avLst/>
              <a:gdLst>
                <a:gd name="connsiteX0" fmla="*/ 3834 w 201283"/>
                <a:gd name="connsiteY0" fmla="*/ 0 h 3191"/>
                <a:gd name="connsiteX1" fmla="*/ 0 w 201283"/>
                <a:gd name="connsiteY1" fmla="*/ 0 h 3191"/>
                <a:gd name="connsiteX2" fmla="*/ 7029 w 201283"/>
                <a:gd name="connsiteY2" fmla="*/ 3192 h 3191"/>
                <a:gd name="connsiteX3" fmla="*/ 194254 w 201283"/>
                <a:gd name="connsiteY3" fmla="*/ 3192 h 3191"/>
                <a:gd name="connsiteX4" fmla="*/ 201283 w 201283"/>
                <a:gd name="connsiteY4" fmla="*/ 0 h 3191"/>
                <a:gd name="connsiteX5" fmla="*/ 3834 w 201283"/>
                <a:gd name="connsiteY5" fmla="*/ 0 h 3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1283" h="3191">
                  <a:moveTo>
                    <a:pt x="3834" y="0"/>
                  </a:moveTo>
                  <a:lnTo>
                    <a:pt x="0" y="0"/>
                  </a:lnTo>
                  <a:cubicBezTo>
                    <a:pt x="1917" y="1915"/>
                    <a:pt x="4473" y="3192"/>
                    <a:pt x="7029" y="3192"/>
                  </a:cubicBezTo>
                  <a:lnTo>
                    <a:pt x="194254" y="3192"/>
                  </a:lnTo>
                  <a:cubicBezTo>
                    <a:pt x="196810" y="3192"/>
                    <a:pt x="199366" y="1915"/>
                    <a:pt x="201283" y="0"/>
                  </a:cubicBezTo>
                  <a:lnTo>
                    <a:pt x="3834" y="0"/>
                  </a:lnTo>
                  <a:close/>
                </a:path>
              </a:pathLst>
            </a:custGeom>
            <a:grpFill/>
            <a:ln w="6390" cap="flat">
              <a:noFill/>
              <a:prstDash val="solid"/>
              <a:miter/>
            </a:ln>
          </p:spPr>
          <p:txBody>
            <a:bodyPr rtlCol="0" anchor="ctr"/>
            <a:lstStyle/>
            <a:p>
              <a:endParaRPr lang="en-US"/>
            </a:p>
          </p:txBody>
        </p:sp>
        <p:sp>
          <p:nvSpPr>
            <p:cNvPr id="10" name="Graphic 4">
              <a:extLst>
                <a:ext uri="{FF2B5EF4-FFF2-40B4-BE49-F238E27FC236}">
                  <a16:creationId xmlns:a16="http://schemas.microsoft.com/office/drawing/2014/main" id="{2256E0D9-1666-5B3D-44C5-5DE2F0A94482}"/>
                </a:ext>
              </a:extLst>
            </p:cNvPr>
            <p:cNvSpPr/>
            <p:nvPr/>
          </p:nvSpPr>
          <p:spPr>
            <a:xfrm>
              <a:off x="1952125" y="1402723"/>
              <a:ext cx="362313" cy="361971"/>
            </a:xfrm>
            <a:custGeom>
              <a:avLst/>
              <a:gdLst>
                <a:gd name="connsiteX0" fmla="*/ 181474 w 362313"/>
                <a:gd name="connsiteY0" fmla="*/ 0 h 361971"/>
                <a:gd name="connsiteX1" fmla="*/ 0 w 362313"/>
                <a:gd name="connsiteY1" fmla="*/ 180667 h 361971"/>
                <a:gd name="connsiteX2" fmla="*/ 180835 w 362313"/>
                <a:gd name="connsiteY2" fmla="*/ 361972 h 361971"/>
                <a:gd name="connsiteX3" fmla="*/ 362310 w 362313"/>
                <a:gd name="connsiteY3" fmla="*/ 181305 h 361971"/>
                <a:gd name="connsiteX4" fmla="*/ 362310 w 362313"/>
                <a:gd name="connsiteY4" fmla="*/ 181305 h 361971"/>
                <a:gd name="connsiteX5" fmla="*/ 181474 w 362313"/>
                <a:gd name="connsiteY5" fmla="*/ 0 h 361971"/>
                <a:gd name="connsiteX6" fmla="*/ 275406 w 362313"/>
                <a:gd name="connsiteY6" fmla="*/ 279618 h 361971"/>
                <a:gd name="connsiteX7" fmla="*/ 88181 w 362313"/>
                <a:gd name="connsiteY7" fmla="*/ 279618 h 361971"/>
                <a:gd name="connsiteX8" fmla="*/ 65816 w 362313"/>
                <a:gd name="connsiteY8" fmla="*/ 257274 h 361971"/>
                <a:gd name="connsiteX9" fmla="*/ 72206 w 362313"/>
                <a:gd name="connsiteY9" fmla="*/ 250890 h 361971"/>
                <a:gd name="connsiteX10" fmla="*/ 78596 w 362313"/>
                <a:gd name="connsiteY10" fmla="*/ 250890 h 361971"/>
                <a:gd name="connsiteX11" fmla="*/ 78596 w 362313"/>
                <a:gd name="connsiteY11" fmla="*/ 130233 h 361971"/>
                <a:gd name="connsiteX12" fmla="*/ 97127 w 362313"/>
                <a:gd name="connsiteY12" fmla="*/ 111720 h 361971"/>
                <a:gd name="connsiteX13" fmla="*/ 97127 w 362313"/>
                <a:gd name="connsiteY13" fmla="*/ 111720 h 361971"/>
                <a:gd name="connsiteX14" fmla="*/ 159109 w 362313"/>
                <a:gd name="connsiteY14" fmla="*/ 111720 h 361971"/>
                <a:gd name="connsiteX15" fmla="*/ 237067 w 362313"/>
                <a:gd name="connsiteY15" fmla="*/ 56817 h 361971"/>
                <a:gd name="connsiteX16" fmla="*/ 243457 w 362313"/>
                <a:gd name="connsiteY16" fmla="*/ 60648 h 361971"/>
                <a:gd name="connsiteX17" fmla="*/ 254958 w 362313"/>
                <a:gd name="connsiteY17" fmla="*/ 112358 h 361971"/>
                <a:gd name="connsiteX18" fmla="*/ 265821 w 362313"/>
                <a:gd name="connsiteY18" fmla="*/ 112358 h 361971"/>
                <a:gd name="connsiteX19" fmla="*/ 284352 w 362313"/>
                <a:gd name="connsiteY19" fmla="*/ 130872 h 361971"/>
                <a:gd name="connsiteX20" fmla="*/ 284352 w 362313"/>
                <a:gd name="connsiteY20" fmla="*/ 130872 h 361971"/>
                <a:gd name="connsiteX21" fmla="*/ 284352 w 362313"/>
                <a:gd name="connsiteY21" fmla="*/ 251529 h 361971"/>
                <a:gd name="connsiteX22" fmla="*/ 290742 w 362313"/>
                <a:gd name="connsiteY22" fmla="*/ 251529 h 361971"/>
                <a:gd name="connsiteX23" fmla="*/ 297132 w 362313"/>
                <a:gd name="connsiteY23" fmla="*/ 257913 h 361971"/>
                <a:gd name="connsiteX24" fmla="*/ 275406 w 362313"/>
                <a:gd name="connsiteY24" fmla="*/ 279618 h 361971"/>
                <a:gd name="connsiteX25" fmla="*/ 275406 w 362313"/>
                <a:gd name="connsiteY25" fmla="*/ 279618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62313" h="361971">
                  <a:moveTo>
                    <a:pt x="181474" y="0"/>
                  </a:moveTo>
                  <a:cubicBezTo>
                    <a:pt x="81152" y="0"/>
                    <a:pt x="0" y="81077"/>
                    <a:pt x="0" y="180667"/>
                  </a:cubicBezTo>
                  <a:cubicBezTo>
                    <a:pt x="0" y="280895"/>
                    <a:pt x="81152" y="361972"/>
                    <a:pt x="180835" y="361972"/>
                  </a:cubicBezTo>
                  <a:cubicBezTo>
                    <a:pt x="281157" y="361972"/>
                    <a:pt x="362310" y="280895"/>
                    <a:pt x="362310" y="181305"/>
                  </a:cubicBezTo>
                  <a:cubicBezTo>
                    <a:pt x="362310" y="181305"/>
                    <a:pt x="362310" y="181305"/>
                    <a:pt x="362310" y="181305"/>
                  </a:cubicBezTo>
                  <a:cubicBezTo>
                    <a:pt x="362948" y="80438"/>
                    <a:pt x="281796" y="0"/>
                    <a:pt x="181474" y="0"/>
                  </a:cubicBezTo>
                  <a:close/>
                  <a:moveTo>
                    <a:pt x="275406" y="279618"/>
                  </a:moveTo>
                  <a:lnTo>
                    <a:pt x="88181" y="279618"/>
                  </a:lnTo>
                  <a:cubicBezTo>
                    <a:pt x="76040" y="279618"/>
                    <a:pt x="65816" y="269404"/>
                    <a:pt x="65816" y="257274"/>
                  </a:cubicBezTo>
                  <a:cubicBezTo>
                    <a:pt x="65816" y="253444"/>
                    <a:pt x="68372" y="250890"/>
                    <a:pt x="72206" y="250890"/>
                  </a:cubicBezTo>
                  <a:lnTo>
                    <a:pt x="78596" y="250890"/>
                  </a:lnTo>
                  <a:lnTo>
                    <a:pt x="78596" y="130233"/>
                  </a:lnTo>
                  <a:cubicBezTo>
                    <a:pt x="78596" y="120019"/>
                    <a:pt x="86903" y="111720"/>
                    <a:pt x="97127" y="111720"/>
                  </a:cubicBezTo>
                  <a:lnTo>
                    <a:pt x="97127" y="111720"/>
                  </a:lnTo>
                  <a:lnTo>
                    <a:pt x="159109" y="111720"/>
                  </a:lnTo>
                  <a:cubicBezTo>
                    <a:pt x="191698" y="61286"/>
                    <a:pt x="235150" y="56817"/>
                    <a:pt x="237067" y="56817"/>
                  </a:cubicBezTo>
                  <a:cubicBezTo>
                    <a:pt x="239623" y="56817"/>
                    <a:pt x="242179" y="58094"/>
                    <a:pt x="243457" y="60648"/>
                  </a:cubicBezTo>
                  <a:cubicBezTo>
                    <a:pt x="251124" y="76608"/>
                    <a:pt x="254958" y="94483"/>
                    <a:pt x="254958" y="112358"/>
                  </a:cubicBezTo>
                  <a:lnTo>
                    <a:pt x="265821" y="112358"/>
                  </a:lnTo>
                  <a:cubicBezTo>
                    <a:pt x="276045" y="112358"/>
                    <a:pt x="284352" y="120657"/>
                    <a:pt x="284352" y="130872"/>
                  </a:cubicBezTo>
                  <a:lnTo>
                    <a:pt x="284352" y="130872"/>
                  </a:lnTo>
                  <a:lnTo>
                    <a:pt x="284352" y="251529"/>
                  </a:lnTo>
                  <a:lnTo>
                    <a:pt x="290742" y="251529"/>
                  </a:lnTo>
                  <a:cubicBezTo>
                    <a:pt x="294576" y="251529"/>
                    <a:pt x="297132" y="254082"/>
                    <a:pt x="297132" y="257913"/>
                  </a:cubicBezTo>
                  <a:cubicBezTo>
                    <a:pt x="297771" y="269404"/>
                    <a:pt x="287547" y="278980"/>
                    <a:pt x="275406" y="279618"/>
                  </a:cubicBezTo>
                  <a:lnTo>
                    <a:pt x="275406" y="279618"/>
                  </a:lnTo>
                  <a:close/>
                </a:path>
              </a:pathLst>
            </a:custGeom>
            <a:grpFill/>
            <a:ln w="6390" cap="flat">
              <a:noFill/>
              <a:prstDash val="solid"/>
              <a:miter/>
            </a:ln>
          </p:spPr>
          <p:txBody>
            <a:bodyPr rtlCol="0" anchor="ctr"/>
            <a:lstStyle/>
            <a:p>
              <a:endParaRPr lang="en-US"/>
            </a:p>
          </p:txBody>
        </p:sp>
      </p:grpSp>
      <p:sp>
        <p:nvSpPr>
          <p:cNvPr id="14" name="Callout: Line 13">
            <a:extLst>
              <a:ext uri="{FF2B5EF4-FFF2-40B4-BE49-F238E27FC236}">
                <a16:creationId xmlns:a16="http://schemas.microsoft.com/office/drawing/2014/main" id="{F0D511D7-0928-8B73-CF6D-EBBDA520ACDC}"/>
              </a:ext>
            </a:extLst>
          </p:cNvPr>
          <p:cNvSpPr/>
          <p:nvPr/>
        </p:nvSpPr>
        <p:spPr>
          <a:xfrm>
            <a:off x="10662556" y="2249911"/>
            <a:ext cx="424542" cy="236766"/>
          </a:xfrm>
          <a:prstGeom prst="borderCallout1">
            <a:avLst>
              <a:gd name="adj1" fmla="val 18750"/>
              <a:gd name="adj2" fmla="val -8333"/>
              <a:gd name="adj3" fmla="val 174569"/>
              <a:gd name="adj4" fmla="val -146026"/>
            </a:avLst>
          </a:prstGeom>
          <a:solidFill>
            <a:schemeClr val="bg1"/>
          </a:solidFill>
          <a:ln>
            <a:solidFill>
              <a:schemeClr val="bg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a:t>
            </a:r>
          </a:p>
        </p:txBody>
      </p:sp>
      <p:sp>
        <p:nvSpPr>
          <p:cNvPr id="15" name="Callout: Line 14">
            <a:extLst>
              <a:ext uri="{FF2B5EF4-FFF2-40B4-BE49-F238E27FC236}">
                <a16:creationId xmlns:a16="http://schemas.microsoft.com/office/drawing/2014/main" id="{FD88EB58-A3EB-B452-F069-F902FD2E74F5}"/>
              </a:ext>
            </a:extLst>
          </p:cNvPr>
          <p:cNvSpPr/>
          <p:nvPr/>
        </p:nvSpPr>
        <p:spPr>
          <a:xfrm>
            <a:off x="10662556" y="5613517"/>
            <a:ext cx="424542" cy="236766"/>
          </a:xfrm>
          <a:prstGeom prst="borderCallout1">
            <a:avLst>
              <a:gd name="adj1" fmla="val 18750"/>
              <a:gd name="adj2" fmla="val -8333"/>
              <a:gd name="adj3" fmla="val 174569"/>
              <a:gd name="adj4" fmla="val -146026"/>
            </a:avLst>
          </a:prstGeom>
          <a:solidFill>
            <a:schemeClr val="bg1"/>
          </a:solidFill>
          <a:ln>
            <a:solidFill>
              <a:schemeClr val="bg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3</a:t>
            </a:r>
          </a:p>
        </p:txBody>
      </p:sp>
      <p:sp>
        <p:nvSpPr>
          <p:cNvPr id="16" name="Callout: Line 15">
            <a:extLst>
              <a:ext uri="{FF2B5EF4-FFF2-40B4-BE49-F238E27FC236}">
                <a16:creationId xmlns:a16="http://schemas.microsoft.com/office/drawing/2014/main" id="{069B4F4F-3522-2B45-CD12-F0D2BC4F81B5}"/>
              </a:ext>
            </a:extLst>
          </p:cNvPr>
          <p:cNvSpPr/>
          <p:nvPr/>
        </p:nvSpPr>
        <p:spPr>
          <a:xfrm>
            <a:off x="10662556" y="3915381"/>
            <a:ext cx="424542" cy="236766"/>
          </a:xfrm>
          <a:prstGeom prst="borderCallout1">
            <a:avLst>
              <a:gd name="adj1" fmla="val 18750"/>
              <a:gd name="adj2" fmla="val -8333"/>
              <a:gd name="adj3" fmla="val 174569"/>
              <a:gd name="adj4" fmla="val -146026"/>
            </a:avLst>
          </a:prstGeom>
          <a:solidFill>
            <a:schemeClr val="bg1"/>
          </a:solidFill>
          <a:ln>
            <a:solidFill>
              <a:schemeClr val="bg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pic>
        <p:nvPicPr>
          <p:cNvPr id="6" name="Picture 5">
            <a:extLst>
              <a:ext uri="{FF2B5EF4-FFF2-40B4-BE49-F238E27FC236}">
                <a16:creationId xmlns:a16="http://schemas.microsoft.com/office/drawing/2014/main" id="{C4CFE4BB-9165-79DE-C36E-027601227960}"/>
              </a:ext>
            </a:extLst>
          </p:cNvPr>
          <p:cNvPicPr>
            <a:picLocks/>
          </p:cNvPicPr>
          <p:nvPr/>
        </p:nvPicPr>
        <p:blipFill>
          <a:blip r:embed="rId3"/>
          <a:stretch>
            <a:fillRect/>
          </a:stretch>
        </p:blipFill>
        <p:spPr>
          <a:xfrm>
            <a:off x="2164080" y="1216152"/>
            <a:ext cx="7863840" cy="5394960"/>
          </a:xfrm>
          <a:prstGeom prst="rect">
            <a:avLst/>
          </a:prstGeom>
          <a:ln>
            <a:solidFill>
              <a:schemeClr val="bg1">
                <a:lumMod val="75000"/>
              </a:schemeClr>
            </a:solidFill>
          </a:ln>
        </p:spPr>
      </p:pic>
    </p:spTree>
    <p:extLst>
      <p:ext uri="{BB962C8B-B14F-4D97-AF65-F5344CB8AC3E}">
        <p14:creationId xmlns:p14="http://schemas.microsoft.com/office/powerpoint/2010/main" val="40729877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5EA4E-6FF4-8816-F217-58875D1A314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21281E1-F8AE-8E6B-721E-15883B7330FF}"/>
              </a:ext>
            </a:extLst>
          </p:cNvPr>
          <p:cNvSpPr txBox="1">
            <a:spLocks/>
          </p:cNvSpPr>
          <p:nvPr/>
        </p:nvSpPr>
        <p:spPr>
          <a:xfrm>
            <a:off x="284550" y="216713"/>
            <a:ext cx="11904087" cy="509780"/>
          </a:xfrm>
          <a:prstGeom prst="rect">
            <a:avLst/>
          </a:prstGeom>
        </p:spPr>
        <p:txBody>
          <a:bodyPr lIns="91440" tIns="45720" rIns="91440" bIns="45720" anchor="t"/>
          <a:lstStyle>
            <a:lvl1pPr algn="l" defTabSz="914400" rtl="0" eaLnBrk="1" latinLnBrk="0" hangingPunct="1">
              <a:lnSpc>
                <a:spcPct val="100000"/>
              </a:lnSpc>
              <a:spcBef>
                <a:spcPct val="0"/>
              </a:spcBef>
              <a:buNone/>
              <a:defRPr sz="3400" b="0" i="0" kern="1200">
                <a:solidFill>
                  <a:srgbClr val="0076CF"/>
                </a:solidFill>
                <a:latin typeface="FS Elliot Pro Light" panose="02000503040000020004" pitchFamily="2" charset="0"/>
                <a:ea typeface="+mj-ea"/>
                <a:cs typeface="+mj-cs"/>
              </a:defRPr>
            </a:lvl1pPr>
          </a:lstStyle>
          <a:p>
            <a:pPr>
              <a:defRPr/>
            </a:pPr>
            <a:r>
              <a:rPr kumimoji="0" lang="en-US" sz="3200" b="0" i="0" u="none" strike="noStrike" kern="1200" cap="none" spc="0" normalizeH="0" baseline="0" noProof="0">
                <a:ln>
                  <a:noFill/>
                </a:ln>
                <a:solidFill>
                  <a:srgbClr val="0076CF"/>
                </a:solidFill>
                <a:effectLst/>
                <a:uLnTx/>
                <a:uFillTx/>
                <a:latin typeface="FS Elliot Pro Light"/>
              </a:rPr>
              <a:t>Cost Management </a:t>
            </a:r>
            <a:r>
              <a:rPr lang="en-US" sz="3200">
                <a:latin typeface="FS Elliot Pro Light"/>
              </a:rPr>
              <a:t>– Usage forecast overview </a:t>
            </a:r>
            <a:r>
              <a:rPr kumimoji="0" lang="en-US" sz="3200" b="0" i="0" u="none" strike="noStrike" kern="1200" cap="none" spc="0" normalizeH="0" baseline="0" noProof="0">
                <a:ln>
                  <a:noFill/>
                </a:ln>
                <a:solidFill>
                  <a:srgbClr val="0076CF"/>
                </a:solidFill>
                <a:effectLst/>
                <a:uLnTx/>
                <a:uFillTx/>
                <a:latin typeface="FS Elliot Pro Light"/>
              </a:rPr>
              <a:t>summary</a:t>
            </a:r>
          </a:p>
        </p:txBody>
      </p:sp>
      <p:graphicFrame>
        <p:nvGraphicFramePr>
          <p:cNvPr id="6" name="Table 5">
            <a:extLst>
              <a:ext uri="{FF2B5EF4-FFF2-40B4-BE49-F238E27FC236}">
                <a16:creationId xmlns:a16="http://schemas.microsoft.com/office/drawing/2014/main" id="{6E13AD4D-5FA3-B3C9-CF37-777C97B9F902}"/>
              </a:ext>
            </a:extLst>
          </p:cNvPr>
          <p:cNvGraphicFramePr>
            <a:graphicFrameLocks noGrp="1"/>
          </p:cNvGraphicFramePr>
          <p:nvPr>
            <p:extLst>
              <p:ext uri="{D42A27DB-BD31-4B8C-83A1-F6EECF244321}">
                <p14:modId xmlns:p14="http://schemas.microsoft.com/office/powerpoint/2010/main" val="1908969420"/>
              </p:ext>
            </p:extLst>
          </p:nvPr>
        </p:nvGraphicFramePr>
        <p:xfrm>
          <a:off x="394855" y="931959"/>
          <a:ext cx="11430000" cy="4518750"/>
        </p:xfrm>
        <a:graphic>
          <a:graphicData uri="http://schemas.openxmlformats.org/drawingml/2006/table">
            <a:tbl>
              <a:tblPr firstRow="1" bandRow="1">
                <a:tableStyleId>{5C22544A-7EE6-4342-B048-85BDC9FD1C3A}</a:tableStyleId>
              </a:tblPr>
              <a:tblGrid>
                <a:gridCol w="449322">
                  <a:extLst>
                    <a:ext uri="{9D8B030D-6E8A-4147-A177-3AD203B41FA5}">
                      <a16:colId xmlns:a16="http://schemas.microsoft.com/office/drawing/2014/main" val="1227872876"/>
                    </a:ext>
                  </a:extLst>
                </a:gridCol>
                <a:gridCol w="1179932">
                  <a:extLst>
                    <a:ext uri="{9D8B030D-6E8A-4147-A177-3AD203B41FA5}">
                      <a16:colId xmlns:a16="http://schemas.microsoft.com/office/drawing/2014/main" val="3573294361"/>
                    </a:ext>
                  </a:extLst>
                </a:gridCol>
                <a:gridCol w="807868">
                  <a:extLst>
                    <a:ext uri="{9D8B030D-6E8A-4147-A177-3AD203B41FA5}">
                      <a16:colId xmlns:a16="http://schemas.microsoft.com/office/drawing/2014/main" val="684506535"/>
                    </a:ext>
                  </a:extLst>
                </a:gridCol>
                <a:gridCol w="1327901">
                  <a:extLst>
                    <a:ext uri="{9D8B030D-6E8A-4147-A177-3AD203B41FA5}">
                      <a16:colId xmlns:a16="http://schemas.microsoft.com/office/drawing/2014/main" val="2881509476"/>
                    </a:ext>
                  </a:extLst>
                </a:gridCol>
                <a:gridCol w="4753303">
                  <a:extLst>
                    <a:ext uri="{9D8B030D-6E8A-4147-A177-3AD203B41FA5}">
                      <a16:colId xmlns:a16="http://schemas.microsoft.com/office/drawing/2014/main" val="3389198070"/>
                    </a:ext>
                  </a:extLst>
                </a:gridCol>
                <a:gridCol w="1651246">
                  <a:extLst>
                    <a:ext uri="{9D8B030D-6E8A-4147-A177-3AD203B41FA5}">
                      <a16:colId xmlns:a16="http://schemas.microsoft.com/office/drawing/2014/main" val="1391104289"/>
                    </a:ext>
                  </a:extLst>
                </a:gridCol>
                <a:gridCol w="1260428">
                  <a:extLst>
                    <a:ext uri="{9D8B030D-6E8A-4147-A177-3AD203B41FA5}">
                      <a16:colId xmlns:a16="http://schemas.microsoft.com/office/drawing/2014/main" val="4206051783"/>
                    </a:ext>
                  </a:extLst>
                </a:gridCol>
              </a:tblGrid>
              <a:tr h="640080">
                <a:tc>
                  <a:txBody>
                    <a:bodyPr/>
                    <a:lstStyle/>
                    <a:p>
                      <a:pPr algn="ctr"/>
                      <a:r>
                        <a:rPr lang="en-US" sz="1100">
                          <a:latin typeface="+mj-lt"/>
                        </a:rPr>
                        <a:t>#</a:t>
                      </a:r>
                    </a:p>
                  </a:txBody>
                  <a:tcPr anchor="ctr">
                    <a:solidFill>
                      <a:srgbClr val="338DCD"/>
                    </a:solidFill>
                  </a:tcPr>
                </a:tc>
                <a:tc>
                  <a:txBody>
                    <a:bodyPr/>
                    <a:lstStyle/>
                    <a:p>
                      <a:pPr algn="ctr"/>
                      <a:r>
                        <a:rPr lang="en-US" sz="1100">
                          <a:latin typeface="+mj-lt"/>
                        </a:rPr>
                        <a:t>Category</a:t>
                      </a:r>
                    </a:p>
                  </a:txBody>
                  <a:tcPr anchor="ctr">
                    <a:solidFill>
                      <a:srgbClr val="338DCD"/>
                    </a:solidFill>
                  </a:tcPr>
                </a:tc>
                <a:tc>
                  <a:txBody>
                    <a:bodyPr/>
                    <a:lstStyle/>
                    <a:p>
                      <a:pPr algn="ctr"/>
                      <a:r>
                        <a:rPr lang="en-US" sz="1100">
                          <a:latin typeface="+mj-lt"/>
                        </a:rPr>
                        <a:t>Category Priority</a:t>
                      </a:r>
                    </a:p>
                  </a:txBody>
                  <a:tcPr anchor="ctr">
                    <a:solidFill>
                      <a:srgbClr val="338DCD"/>
                    </a:solidFill>
                  </a:tcPr>
                </a:tc>
                <a:tc>
                  <a:txBody>
                    <a:bodyPr/>
                    <a:lstStyle/>
                    <a:p>
                      <a:pPr algn="ctr"/>
                      <a:r>
                        <a:rPr lang="en-US" sz="1100">
                          <a:latin typeface="+mj-lt"/>
                        </a:rPr>
                        <a:t>Chart type</a:t>
                      </a:r>
                    </a:p>
                  </a:txBody>
                  <a:tcPr anchor="ctr">
                    <a:solidFill>
                      <a:srgbClr val="338DCD"/>
                    </a:solidFill>
                  </a:tcPr>
                </a:tc>
                <a:tc>
                  <a:txBody>
                    <a:bodyPr/>
                    <a:lstStyle/>
                    <a:p>
                      <a:pPr algn="ctr"/>
                      <a:r>
                        <a:rPr lang="en-US" sz="1100">
                          <a:latin typeface="+mj-lt"/>
                        </a:rPr>
                        <a:t>Description</a:t>
                      </a:r>
                    </a:p>
                  </a:txBody>
                  <a:tcPr anchor="ctr">
                    <a:solidFill>
                      <a:srgbClr val="338DCD"/>
                    </a:solidFill>
                  </a:tcPr>
                </a:tc>
                <a:tc>
                  <a:txBody>
                    <a:bodyPr/>
                    <a:lstStyle/>
                    <a:p>
                      <a:pPr algn="ctr"/>
                      <a:r>
                        <a:rPr lang="en-US" sz="1100">
                          <a:latin typeface="+mj-lt"/>
                        </a:rPr>
                        <a:t>Assessment: </a:t>
                      </a:r>
                      <a:br>
                        <a:rPr lang="en-US" sz="1100">
                          <a:latin typeface="+mj-lt"/>
                        </a:rPr>
                      </a:br>
                      <a:r>
                        <a:rPr lang="en-US" sz="1100">
                          <a:latin typeface="+mj-lt"/>
                        </a:rPr>
                        <a:t>Required, Aspirational</a:t>
                      </a:r>
                    </a:p>
                  </a:txBody>
                  <a:tcPr anchor="ctr">
                    <a:solidFill>
                      <a:srgbClr val="338DCD"/>
                    </a:solidFill>
                  </a:tcPr>
                </a:tc>
                <a:tc>
                  <a:txBody>
                    <a:bodyPr/>
                    <a:lstStyle/>
                    <a:p>
                      <a:pPr algn="ctr"/>
                      <a:r>
                        <a:rPr lang="en-US" sz="1100">
                          <a:latin typeface="+mj-lt"/>
                        </a:rPr>
                        <a:t>Implementation Priority</a:t>
                      </a:r>
                    </a:p>
                  </a:txBody>
                  <a:tcPr anchor="ctr">
                    <a:solidFill>
                      <a:srgbClr val="338DCD"/>
                    </a:solidFill>
                  </a:tcPr>
                </a:tc>
                <a:extLst>
                  <a:ext uri="{0D108BD9-81ED-4DB2-BD59-A6C34878D82A}">
                    <a16:rowId xmlns:a16="http://schemas.microsoft.com/office/drawing/2014/main" val="3024339621"/>
                  </a:ext>
                </a:extLst>
              </a:tr>
              <a:tr h="142481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latin typeface="+mn-lt"/>
                        </a:rPr>
                        <a:t>1</a:t>
                      </a:r>
                    </a:p>
                  </a:txBody>
                  <a:tcPr anchor="ctr">
                    <a:solidFill>
                      <a:schemeClr val="bg1">
                        <a:lumMod val="95000"/>
                      </a:schemeClr>
                    </a:solidFill>
                  </a:tcPr>
                </a:tc>
                <a:tc>
                  <a:txBody>
                    <a:bodyPr/>
                    <a:lstStyle/>
                    <a:p>
                      <a:pPr lvl="0" algn="ctr">
                        <a:lnSpc>
                          <a:spcPct val="100000"/>
                        </a:lnSpc>
                        <a:spcBef>
                          <a:spcPts val="0"/>
                        </a:spcBef>
                        <a:spcAft>
                          <a:spcPts val="0"/>
                        </a:spcAft>
                        <a:buNone/>
                      </a:pPr>
                      <a:r>
                        <a:rPr lang="en-US" sz="1000" b="0" i="0" u="none" strike="noStrike" noProof="0" dirty="0">
                          <a:solidFill>
                            <a:srgbClr val="000000"/>
                          </a:solidFill>
                          <a:latin typeface="+mn-lt"/>
                        </a:rPr>
                        <a:t>Forecasting &amp; Historical Analysis</a:t>
                      </a:r>
                    </a:p>
                  </a:txBody>
                  <a:tcPr anchor="ctr">
                    <a:solidFill>
                      <a:schemeClr val="bg1">
                        <a:lumMod val="95000"/>
                      </a:schemeClr>
                    </a:solidFill>
                  </a:tcPr>
                </a:tc>
                <a:tc>
                  <a:txBody>
                    <a:bodyPr/>
                    <a:lstStyle/>
                    <a:p>
                      <a:pPr marL="0" algn="ctr" rtl="0" eaLnBrk="1" latinLnBrk="0" hangingPunct="1"/>
                      <a:r>
                        <a:rPr lang="en-US" sz="1000" b="0" i="0" u="none" strike="noStrike" kern="1200" noProof="0" dirty="0">
                          <a:solidFill>
                            <a:srgbClr val="000000"/>
                          </a:solidFill>
                          <a:latin typeface="+mn-lt"/>
                        </a:rPr>
                        <a:t>5</a:t>
                      </a:r>
                    </a:p>
                  </a:txBody>
                  <a:tcPr anchor="ctr">
                    <a:solidFill>
                      <a:schemeClr val="bg1">
                        <a:lumMod val="95000"/>
                      </a:schemeClr>
                    </a:solidFill>
                  </a:tcPr>
                </a:tc>
                <a:tc>
                  <a:txBody>
                    <a:bodyPr/>
                    <a:lstStyle/>
                    <a:p>
                      <a:pPr marL="0" algn="ctr" rtl="0" eaLnBrk="1" latinLnBrk="0" hangingPunct="1"/>
                      <a:r>
                        <a:rPr lang="en-US" sz="1000" b="0" i="0" u="none" strike="noStrike" kern="1200" noProof="0" dirty="0">
                          <a:solidFill>
                            <a:srgbClr val="000000"/>
                          </a:solidFill>
                          <a:latin typeface="+mn-lt"/>
                        </a:rPr>
                        <a:t>Line &amp; stacked column chart</a:t>
                      </a:r>
                    </a:p>
                  </a:txBody>
                  <a:tcPr anchor="ctr">
                    <a:solidFill>
                      <a:schemeClr val="bg1">
                        <a:lumMod val="95000"/>
                      </a:schemeClr>
                    </a:solidFill>
                  </a:tcPr>
                </a:tc>
                <a:tc>
                  <a:txBody>
                    <a:bodyPr/>
                    <a:lstStyle/>
                    <a:p>
                      <a:pPr marL="0" algn="ctr" rtl="0" eaLnBrk="1" latinLnBrk="0" hangingPunct="1"/>
                      <a:r>
                        <a:rPr lang="en-US" sz="1000" kern="1200">
                          <a:solidFill>
                            <a:schemeClr val="dk1"/>
                          </a:solidFill>
                          <a:latin typeface="+mn-lt"/>
                          <a:ea typeface="+mn-ea"/>
                          <a:cs typeface="+mn-cs"/>
                        </a:rPr>
                        <a:t>Depicts the overall monthly enterprise usage cost, prinam usage cost vs forecasted as columns, alongside the overall LY usage cost trend in the form of a line.</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Required</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2012711696"/>
                  </a:ext>
                </a:extLst>
              </a:tr>
              <a:tr h="1029034">
                <a:tc>
                  <a:txBody>
                    <a:bodyPr/>
                    <a:lstStyle/>
                    <a:p>
                      <a:pPr algn="ctr"/>
                      <a:r>
                        <a:rPr lang="en-US" sz="1000">
                          <a:solidFill>
                            <a:schemeClr val="tx1"/>
                          </a:solidFill>
                          <a:latin typeface="+mn-lt"/>
                        </a:rPr>
                        <a:t>2</a:t>
                      </a:r>
                    </a:p>
                  </a:txBody>
                  <a:tcPr anchor="ctr">
                    <a:solidFill>
                      <a:schemeClr val="bg1">
                        <a:lumMod val="95000"/>
                      </a:schemeClr>
                    </a:solidFill>
                  </a:tcPr>
                </a:tc>
                <a:tc>
                  <a:txBody>
                    <a:bodyPr/>
                    <a:lstStyle/>
                    <a:p>
                      <a:pPr lvl="0" algn="ctr">
                        <a:lnSpc>
                          <a:spcPct val="100000"/>
                        </a:lnSpc>
                        <a:spcBef>
                          <a:spcPts val="0"/>
                        </a:spcBef>
                        <a:spcAft>
                          <a:spcPts val="0"/>
                        </a:spcAft>
                        <a:buNone/>
                      </a:pPr>
                      <a:r>
                        <a:rPr lang="en-US" sz="1000" b="0" i="0" u="none" strike="noStrike" noProof="0">
                          <a:solidFill>
                            <a:schemeClr val="tx1"/>
                          </a:solidFill>
                          <a:latin typeface="+mn-lt"/>
                        </a:rPr>
                        <a:t>Forecasting &amp; Historical Analysis</a:t>
                      </a:r>
                    </a:p>
                  </a:txBody>
                  <a:tcPr anchor="ctr">
                    <a:solidFill>
                      <a:schemeClr val="bg1">
                        <a:lumMod val="95000"/>
                      </a:schemeClr>
                    </a:solidFill>
                  </a:tcPr>
                </a:tc>
                <a:tc>
                  <a:txBody>
                    <a:bodyPr/>
                    <a:lstStyle/>
                    <a:p>
                      <a:pPr marL="0" marR="0" lvl="0" indent="0" algn="ctr">
                        <a:lnSpc>
                          <a:spcPct val="100000"/>
                        </a:lnSpc>
                        <a:spcBef>
                          <a:spcPts val="0"/>
                        </a:spcBef>
                        <a:spcAft>
                          <a:spcPts val="0"/>
                        </a:spcAft>
                        <a:buNone/>
                      </a:pPr>
                      <a:r>
                        <a:rPr kumimoji="0" lang="en-US" sz="1000">
                          <a:solidFill>
                            <a:schemeClr val="tx1"/>
                          </a:solidFill>
                          <a:latin typeface="+mn-lt"/>
                        </a:rPr>
                        <a:t>5</a:t>
                      </a:r>
                    </a:p>
                  </a:txBody>
                  <a:tcPr anchor="ctr">
                    <a:solidFill>
                      <a:schemeClr val="bg1">
                        <a:lumMod val="95000"/>
                      </a:schemeClr>
                    </a:solidFill>
                  </a:tcPr>
                </a:tc>
                <a:tc>
                  <a:txBody>
                    <a:bodyPr/>
                    <a:lstStyle/>
                    <a:p>
                      <a:pPr marL="0" algn="ctr" rtl="0" eaLnBrk="1" latinLnBrk="0" hangingPunct="1"/>
                      <a:r>
                        <a:rPr lang="en-US" sz="1000" b="0" i="0" u="none" strike="noStrike" kern="1200" noProof="0" dirty="0">
                          <a:solidFill>
                            <a:srgbClr val="000000"/>
                          </a:solidFill>
                          <a:latin typeface="+mn-lt"/>
                        </a:rPr>
                        <a:t>Line &amp; clustered column chart</a:t>
                      </a:r>
                    </a:p>
                  </a:txBody>
                  <a:tcPr anchor="ctr">
                    <a:solidFill>
                      <a:schemeClr val="bg1">
                        <a:lumMod val="95000"/>
                      </a:schemeClr>
                    </a:solidFill>
                  </a:tcPr>
                </a:tc>
                <a:tc>
                  <a:txBody>
                    <a:bodyPr/>
                    <a:lstStyle/>
                    <a:p>
                      <a:pPr marL="0" algn="ctr" rtl="0" eaLnBrk="1" latinLnBrk="0" hangingPunct="1"/>
                      <a:r>
                        <a:rPr lang="en-US" sz="1000" kern="1200" dirty="0">
                          <a:solidFill>
                            <a:schemeClr val="dk1"/>
                          </a:solidFill>
                          <a:latin typeface="+mn-lt"/>
                          <a:ea typeface="+mn-ea"/>
                          <a:cs typeface="+mn-cs"/>
                        </a:rPr>
                        <a:t>Depicts the enterprise division’s monthly usage vs forecasted as columns, alongside the PY usage trend in the form of a line.</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Required</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chemeClr val="tx1"/>
                        </a:solidFill>
                        <a:effectLst/>
                        <a:uLnTx/>
                        <a:uFillTx/>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3318944014"/>
                  </a:ext>
                </a:extLst>
              </a:tr>
              <a:tr h="142481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3</a:t>
                      </a:r>
                    </a:p>
                  </a:txBody>
                  <a:tcPr anchor="ctr">
                    <a:solidFill>
                      <a:schemeClr val="bg1">
                        <a:lumMod val="95000"/>
                      </a:schemeClr>
                    </a:solidFill>
                  </a:tcPr>
                </a:tc>
                <a:tc>
                  <a:txBody>
                    <a:bodyPr/>
                    <a:lstStyle/>
                    <a:p>
                      <a:pPr lvl="0" algn="ctr">
                        <a:buNone/>
                      </a:pPr>
                      <a:r>
                        <a:rPr lang="en-US" sz="1000">
                          <a:solidFill>
                            <a:schemeClr val="tx1"/>
                          </a:solidFill>
                          <a:latin typeface="+mn-lt"/>
                        </a:rPr>
                        <a:t>Forecasting &amp; Historical Analysis</a:t>
                      </a:r>
                    </a:p>
                  </a:txBody>
                  <a:tcPr anchor="ctr">
                    <a:solidFill>
                      <a:schemeClr val="bg1">
                        <a:lumMod val="95000"/>
                      </a:schemeClr>
                    </a:solidFill>
                  </a:tcPr>
                </a:tc>
                <a:tc>
                  <a:txBody>
                    <a:bodyPr/>
                    <a:lstStyle/>
                    <a:p>
                      <a:pPr marL="0" marR="0" lvl="0" indent="0" algn="ctr" rtl="0">
                        <a:lnSpc>
                          <a:spcPct val="100000"/>
                        </a:lnSpc>
                        <a:spcBef>
                          <a:spcPts val="0"/>
                        </a:spcBef>
                        <a:spcAft>
                          <a:spcPts val="0"/>
                        </a:spcAft>
                        <a:buClrTx/>
                        <a:buSzTx/>
                        <a:buFontTx/>
                        <a:buNone/>
                      </a:pPr>
                      <a:r>
                        <a:rPr kumimoji="0" lang="en-US" sz="1000" b="0" i="0" u="none" strike="noStrike" kern="1200" cap="none" spc="0" normalizeH="0" baseline="0" noProof="0">
                          <a:ln>
                            <a:noFill/>
                          </a:ln>
                          <a:solidFill>
                            <a:schemeClr val="tx1"/>
                          </a:solidFill>
                          <a:effectLst/>
                          <a:uLnTx/>
                          <a:uFillTx/>
                          <a:latin typeface="+mn-lt"/>
                          <a:ea typeface="+mn-ea"/>
                          <a:cs typeface="+mn-cs"/>
                        </a:rPr>
                        <a:t>5</a:t>
                      </a:r>
                    </a:p>
                  </a:txBody>
                  <a:tcPr anchor="ctr">
                    <a:solidFill>
                      <a:schemeClr val="bg1">
                        <a:lumMod val="95000"/>
                      </a:schemeClr>
                    </a:solidFill>
                  </a:tcPr>
                </a:tc>
                <a:tc>
                  <a:txBody>
                    <a:bodyPr/>
                    <a:lstStyle/>
                    <a:p>
                      <a:pPr marL="0" algn="ctr" rtl="0" eaLnBrk="1" latinLnBrk="0" hangingPunct="1"/>
                      <a:r>
                        <a:rPr lang="en-US" sz="1000" b="0" i="0" u="none" strike="noStrike" kern="1200" noProof="0">
                          <a:solidFill>
                            <a:srgbClr val="000000"/>
                          </a:solidFill>
                          <a:latin typeface="+mn-lt"/>
                        </a:rPr>
                        <a:t>Line &amp; clustered column chart</a:t>
                      </a:r>
                    </a:p>
                  </a:txBody>
                  <a:tcPr anchor="ctr">
                    <a:solidFill>
                      <a:schemeClr val="bg1">
                        <a:lumMod val="95000"/>
                      </a:schemeClr>
                    </a:solidFill>
                  </a:tcPr>
                </a:tc>
                <a:tc>
                  <a:txBody>
                    <a:bodyPr/>
                    <a:lstStyle/>
                    <a:p>
                      <a:pPr marL="0" algn="ctr" rtl="0" eaLnBrk="1" latinLnBrk="0" hangingPunct="1"/>
                      <a:r>
                        <a:rPr lang="en-US" sz="1000" kern="1200">
                          <a:solidFill>
                            <a:schemeClr val="dk1"/>
                          </a:solidFill>
                          <a:latin typeface="+mn-lt"/>
                          <a:ea typeface="+mn-ea"/>
                          <a:cs typeface="+mn-cs"/>
                        </a:rPr>
                        <a:t>Depicts the prinam division’s monthly usage vs forecasted as columns, alongside the PY usage trend in the form of a line.</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n-lt"/>
                          <a:ea typeface="+mn-ea"/>
                          <a:cs typeface="+mn-cs"/>
                        </a:rPr>
                        <a:t>Required</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chemeClr val="tx1"/>
                        </a:solidFill>
                        <a:effectLst/>
                        <a:uLnTx/>
                        <a:uFillTx/>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2615708042"/>
                  </a:ext>
                </a:extLst>
              </a:tr>
            </a:tbl>
          </a:graphicData>
        </a:graphic>
      </p:graphicFrame>
    </p:spTree>
    <p:extLst>
      <p:ext uri="{BB962C8B-B14F-4D97-AF65-F5344CB8AC3E}">
        <p14:creationId xmlns:p14="http://schemas.microsoft.com/office/powerpoint/2010/main" val="22383387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FA592-79BA-CF81-F340-9009ABA228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C7B181-E044-8129-D777-2EFBEB32CD0E}"/>
              </a:ext>
            </a:extLst>
          </p:cNvPr>
          <p:cNvSpPr>
            <a:spLocks noGrp="1"/>
          </p:cNvSpPr>
          <p:nvPr>
            <p:ph type="title"/>
          </p:nvPr>
        </p:nvSpPr>
        <p:spPr/>
        <p:txBody>
          <a:bodyPr/>
          <a:lstStyle/>
          <a:p>
            <a:r>
              <a:rPr lang="en-US"/>
              <a:t>Performance Management</a:t>
            </a:r>
          </a:p>
        </p:txBody>
      </p:sp>
    </p:spTree>
    <p:extLst>
      <p:ext uri="{BB962C8B-B14F-4D97-AF65-F5344CB8AC3E}">
        <p14:creationId xmlns:p14="http://schemas.microsoft.com/office/powerpoint/2010/main" val="27226343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F5814-913E-4F65-099E-2819F47D8E7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D9E3A4B-7B09-F54D-57E2-AD79F5BE692C}"/>
              </a:ext>
            </a:extLst>
          </p:cNvPr>
          <p:cNvSpPr txBox="1">
            <a:spLocks/>
          </p:cNvSpPr>
          <p:nvPr/>
        </p:nvSpPr>
        <p:spPr>
          <a:xfrm>
            <a:off x="284550" y="216713"/>
            <a:ext cx="11904087" cy="509780"/>
          </a:xfrm>
          <a:prstGeom prst="rect">
            <a:avLst/>
          </a:prstGeom>
        </p:spPr>
        <p:txBody>
          <a:bodyPr lIns="91440" tIns="45720" rIns="91440" bIns="45720" anchor="t"/>
          <a:lstStyle>
            <a:lvl1pPr algn="l" defTabSz="914400" rtl="0" eaLnBrk="1" latinLnBrk="0" hangingPunct="1">
              <a:lnSpc>
                <a:spcPct val="100000"/>
              </a:lnSpc>
              <a:spcBef>
                <a:spcPct val="0"/>
              </a:spcBef>
              <a:buNone/>
              <a:defRPr sz="3400" b="0" i="0" kern="1200">
                <a:solidFill>
                  <a:srgbClr val="0076CF"/>
                </a:solidFill>
                <a:latin typeface="FS Elliot Pro Light" panose="02000503040000020004" pitchFamily="2" charset="0"/>
                <a:ea typeface="+mj-ea"/>
                <a:cs typeface="+mj-cs"/>
              </a:defRPr>
            </a:lvl1pPr>
          </a:lstStyle>
          <a:p>
            <a:pPr>
              <a:defRPr/>
            </a:pPr>
            <a:r>
              <a:rPr lang="en-US" sz="3200">
                <a:latin typeface="FS Elliot Pro Light"/>
              </a:rPr>
              <a:t>Performance Management – Storage Management</a:t>
            </a:r>
            <a:endParaRPr lang="en-US">
              <a:ea typeface="+mj-ea"/>
              <a:cs typeface="+mj-cs"/>
            </a:endParaRPr>
          </a:p>
        </p:txBody>
      </p:sp>
      <p:sp>
        <p:nvSpPr>
          <p:cNvPr id="45" name="Rectangle 44">
            <a:extLst>
              <a:ext uri="{FF2B5EF4-FFF2-40B4-BE49-F238E27FC236}">
                <a16:creationId xmlns:a16="http://schemas.microsoft.com/office/drawing/2014/main" id="{98655C7C-8351-91F9-5A74-5F96D718F466}"/>
              </a:ext>
            </a:extLst>
          </p:cNvPr>
          <p:cNvSpPr/>
          <p:nvPr/>
        </p:nvSpPr>
        <p:spPr>
          <a:xfrm>
            <a:off x="394952" y="1219540"/>
            <a:ext cx="900448" cy="361309"/>
          </a:xfrm>
          <a:prstGeom prst="rect">
            <a:avLst/>
          </a:prstGeom>
          <a:no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 name="Rectangle 1">
            <a:extLst>
              <a:ext uri="{FF2B5EF4-FFF2-40B4-BE49-F238E27FC236}">
                <a16:creationId xmlns:a16="http://schemas.microsoft.com/office/drawing/2014/main" id="{489D5303-A77E-A23C-503D-2A19D6A89DFD}"/>
              </a:ext>
            </a:extLst>
          </p:cNvPr>
          <p:cNvSpPr/>
          <p:nvPr/>
        </p:nvSpPr>
        <p:spPr>
          <a:xfrm>
            <a:off x="828961" y="782546"/>
            <a:ext cx="11130975" cy="323141"/>
          </a:xfrm>
          <a:prstGeom prst="rect">
            <a:avLst/>
          </a:prstGeom>
          <a:solidFill>
            <a:schemeClr val="tx2">
              <a:lumMod val="20000"/>
              <a:lumOff val="8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15888">
              <a:buFont typeface="Wingdings" panose="05000000000000000000" pitchFamily="2" charset="2"/>
              <a:buChar char="ü"/>
            </a:pPr>
            <a:r>
              <a:rPr lang="en-US" sz="1100">
                <a:solidFill>
                  <a:schemeClr val="tx1"/>
                </a:solidFill>
              </a:rPr>
              <a:t>View of Storage status and storage consumption pattern by Snowflake objects</a:t>
            </a:r>
          </a:p>
        </p:txBody>
      </p:sp>
      <p:grpSp>
        <p:nvGrpSpPr>
          <p:cNvPr id="3" name="Graphic 4">
            <a:extLst>
              <a:ext uri="{FF2B5EF4-FFF2-40B4-BE49-F238E27FC236}">
                <a16:creationId xmlns:a16="http://schemas.microsoft.com/office/drawing/2014/main" id="{30AFE33E-03A4-751F-6670-BBFF2F7CE6B3}"/>
              </a:ext>
            </a:extLst>
          </p:cNvPr>
          <p:cNvGrpSpPr>
            <a:grpSpLocks noChangeAspect="1"/>
          </p:cNvGrpSpPr>
          <p:nvPr/>
        </p:nvGrpSpPr>
        <p:grpSpPr>
          <a:xfrm>
            <a:off x="427888" y="696089"/>
            <a:ext cx="496522" cy="496054"/>
            <a:chOff x="1952125" y="1402723"/>
            <a:chExt cx="362313" cy="361971"/>
          </a:xfrm>
          <a:solidFill>
            <a:schemeClr val="tx2">
              <a:lumMod val="60000"/>
              <a:lumOff val="40000"/>
            </a:schemeClr>
          </a:solidFill>
        </p:grpSpPr>
        <p:sp>
          <p:nvSpPr>
            <p:cNvPr id="5" name="Graphic 4">
              <a:extLst>
                <a:ext uri="{FF2B5EF4-FFF2-40B4-BE49-F238E27FC236}">
                  <a16:creationId xmlns:a16="http://schemas.microsoft.com/office/drawing/2014/main" id="{9196265E-8901-6641-6D11-1317FD2254B0}"/>
                </a:ext>
              </a:extLst>
            </p:cNvPr>
            <p:cNvSpPr/>
            <p:nvPr/>
          </p:nvSpPr>
          <p:spPr>
            <a:xfrm>
              <a:off x="2069061" y="1471670"/>
              <a:ext cx="126174" cy="158322"/>
            </a:xfrm>
            <a:custGeom>
              <a:avLst/>
              <a:gdLst>
                <a:gd name="connsiteX0" fmla="*/ 50481 w 126174"/>
                <a:gd name="connsiteY0" fmla="*/ 53626 h 158322"/>
                <a:gd name="connsiteX1" fmla="*/ 40896 w 126174"/>
                <a:gd name="connsiteY1" fmla="*/ 72139 h 158322"/>
                <a:gd name="connsiteX2" fmla="*/ 35145 w 126174"/>
                <a:gd name="connsiteY2" fmla="*/ 75969 h 158322"/>
                <a:gd name="connsiteX3" fmla="*/ 0 w 126174"/>
                <a:gd name="connsiteY3" fmla="*/ 105974 h 158322"/>
                <a:gd name="connsiteX4" fmla="*/ 32589 w 126174"/>
                <a:gd name="connsiteY4" fmla="*/ 121296 h 158322"/>
                <a:gd name="connsiteX5" fmla="*/ 36423 w 126174"/>
                <a:gd name="connsiteY5" fmla="*/ 128318 h 158322"/>
                <a:gd name="connsiteX6" fmla="*/ 46008 w 126174"/>
                <a:gd name="connsiteY6" fmla="*/ 151939 h 158322"/>
                <a:gd name="connsiteX7" fmla="*/ 68372 w 126174"/>
                <a:gd name="connsiteY7" fmla="*/ 144916 h 158322"/>
                <a:gd name="connsiteX8" fmla="*/ 73484 w 126174"/>
                <a:gd name="connsiteY8" fmla="*/ 142363 h 158322"/>
                <a:gd name="connsiteX9" fmla="*/ 76040 w 126174"/>
                <a:gd name="connsiteY9" fmla="*/ 143001 h 158322"/>
                <a:gd name="connsiteX10" fmla="*/ 108629 w 126174"/>
                <a:gd name="connsiteY10" fmla="*/ 158323 h 158322"/>
                <a:gd name="connsiteX11" fmla="*/ 111824 w 126174"/>
                <a:gd name="connsiteY11" fmla="*/ 110443 h 158322"/>
                <a:gd name="connsiteX12" fmla="*/ 111824 w 126174"/>
                <a:gd name="connsiteY12" fmla="*/ 104697 h 158322"/>
                <a:gd name="connsiteX13" fmla="*/ 118214 w 126174"/>
                <a:gd name="connsiteY13" fmla="*/ 0 h 158322"/>
                <a:gd name="connsiteX14" fmla="*/ 53676 w 126174"/>
                <a:gd name="connsiteY14" fmla="*/ 49795 h 158322"/>
                <a:gd name="connsiteX15" fmla="*/ 50481 w 126174"/>
                <a:gd name="connsiteY15" fmla="*/ 53626 h 158322"/>
                <a:gd name="connsiteX16" fmla="*/ 99683 w 126174"/>
                <a:gd name="connsiteY16" fmla="*/ 91929 h 158322"/>
                <a:gd name="connsiteX17" fmla="*/ 72206 w 126174"/>
                <a:gd name="connsiteY17" fmla="*/ 119381 h 158322"/>
                <a:gd name="connsiteX18" fmla="*/ 44730 w 126174"/>
                <a:gd name="connsiteY18" fmla="*/ 91929 h 158322"/>
                <a:gd name="connsiteX19" fmla="*/ 72206 w 126174"/>
                <a:gd name="connsiteY19" fmla="*/ 64478 h 158322"/>
                <a:gd name="connsiteX20" fmla="*/ 99683 w 126174"/>
                <a:gd name="connsiteY20" fmla="*/ 91929 h 158322"/>
                <a:gd name="connsiteX21" fmla="*/ 99683 w 126174"/>
                <a:gd name="connsiteY21" fmla="*/ 91929 h 158322"/>
                <a:gd name="connsiteX22" fmla="*/ 99683 w 126174"/>
                <a:gd name="connsiteY22" fmla="*/ 91929 h 158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6174" h="158322">
                  <a:moveTo>
                    <a:pt x="50481" y="53626"/>
                  </a:moveTo>
                  <a:cubicBezTo>
                    <a:pt x="46647" y="59371"/>
                    <a:pt x="44091" y="65755"/>
                    <a:pt x="40896" y="72139"/>
                  </a:cubicBezTo>
                  <a:cubicBezTo>
                    <a:pt x="39618" y="74693"/>
                    <a:pt x="37701" y="75969"/>
                    <a:pt x="35145" y="75969"/>
                  </a:cubicBezTo>
                  <a:cubicBezTo>
                    <a:pt x="17892" y="76608"/>
                    <a:pt x="3195" y="88737"/>
                    <a:pt x="0" y="105974"/>
                  </a:cubicBezTo>
                  <a:lnTo>
                    <a:pt x="32589" y="121296"/>
                  </a:lnTo>
                  <a:cubicBezTo>
                    <a:pt x="35145" y="122573"/>
                    <a:pt x="36423" y="125126"/>
                    <a:pt x="36423" y="128318"/>
                  </a:cubicBezTo>
                  <a:cubicBezTo>
                    <a:pt x="36423" y="128318"/>
                    <a:pt x="33867" y="146832"/>
                    <a:pt x="46008" y="151939"/>
                  </a:cubicBezTo>
                  <a:cubicBezTo>
                    <a:pt x="58148" y="157046"/>
                    <a:pt x="68372" y="145555"/>
                    <a:pt x="68372" y="144916"/>
                  </a:cubicBezTo>
                  <a:cubicBezTo>
                    <a:pt x="69650" y="143640"/>
                    <a:pt x="71567" y="142363"/>
                    <a:pt x="73484" y="142363"/>
                  </a:cubicBezTo>
                  <a:cubicBezTo>
                    <a:pt x="74123" y="142363"/>
                    <a:pt x="75401" y="142363"/>
                    <a:pt x="76040" y="143001"/>
                  </a:cubicBezTo>
                  <a:lnTo>
                    <a:pt x="108629" y="158323"/>
                  </a:lnTo>
                  <a:cubicBezTo>
                    <a:pt x="117575" y="143640"/>
                    <a:pt x="118853" y="125765"/>
                    <a:pt x="111824" y="110443"/>
                  </a:cubicBezTo>
                  <a:cubicBezTo>
                    <a:pt x="111185" y="108528"/>
                    <a:pt x="111185" y="106613"/>
                    <a:pt x="111824" y="104697"/>
                  </a:cubicBezTo>
                  <a:cubicBezTo>
                    <a:pt x="111824" y="104059"/>
                    <a:pt x="139301" y="49795"/>
                    <a:pt x="118214" y="0"/>
                  </a:cubicBezTo>
                  <a:cubicBezTo>
                    <a:pt x="106712" y="2554"/>
                    <a:pt x="77318" y="12130"/>
                    <a:pt x="53676" y="49795"/>
                  </a:cubicBezTo>
                  <a:cubicBezTo>
                    <a:pt x="52398" y="51710"/>
                    <a:pt x="51759" y="52987"/>
                    <a:pt x="50481" y="53626"/>
                  </a:cubicBezTo>
                  <a:close/>
                  <a:moveTo>
                    <a:pt x="99683" y="91929"/>
                  </a:moveTo>
                  <a:cubicBezTo>
                    <a:pt x="99683" y="107251"/>
                    <a:pt x="87542" y="119381"/>
                    <a:pt x="72206" y="119381"/>
                  </a:cubicBezTo>
                  <a:cubicBezTo>
                    <a:pt x="56871" y="119381"/>
                    <a:pt x="44730" y="107251"/>
                    <a:pt x="44730" y="91929"/>
                  </a:cubicBezTo>
                  <a:cubicBezTo>
                    <a:pt x="44730" y="76608"/>
                    <a:pt x="56871" y="64478"/>
                    <a:pt x="72206" y="64478"/>
                  </a:cubicBezTo>
                  <a:cubicBezTo>
                    <a:pt x="87542" y="65117"/>
                    <a:pt x="99683" y="77246"/>
                    <a:pt x="99683" y="91929"/>
                  </a:cubicBezTo>
                  <a:cubicBezTo>
                    <a:pt x="99683" y="92568"/>
                    <a:pt x="99683" y="92568"/>
                    <a:pt x="99683" y="91929"/>
                  </a:cubicBezTo>
                  <a:lnTo>
                    <a:pt x="99683" y="91929"/>
                  </a:lnTo>
                  <a:close/>
                </a:path>
              </a:pathLst>
            </a:custGeom>
            <a:grpFill/>
            <a:ln w="6390" cap="flat">
              <a:noFill/>
              <a:prstDash val="solid"/>
              <a:miter/>
            </a:ln>
          </p:spPr>
          <p:txBody>
            <a:bodyPr rtlCol="0" anchor="ctr"/>
            <a:lstStyle/>
            <a:p>
              <a:endParaRPr lang="en-US"/>
            </a:p>
          </p:txBody>
        </p:sp>
        <p:sp>
          <p:nvSpPr>
            <p:cNvPr id="7" name="Graphic 4">
              <a:extLst>
                <a:ext uri="{FF2B5EF4-FFF2-40B4-BE49-F238E27FC236}">
                  <a16:creationId xmlns:a16="http://schemas.microsoft.com/office/drawing/2014/main" id="{84243777-A6B2-F49F-006B-5A3BA3D87D66}"/>
                </a:ext>
              </a:extLst>
            </p:cNvPr>
            <p:cNvSpPr/>
            <p:nvPr/>
          </p:nvSpPr>
          <p:spPr>
            <a:xfrm>
              <a:off x="2043501" y="1527211"/>
              <a:ext cx="180835" cy="126402"/>
            </a:xfrm>
            <a:custGeom>
              <a:avLst/>
              <a:gdLst>
                <a:gd name="connsiteX0" fmla="*/ 180835 w 180835"/>
                <a:gd name="connsiteY0" fmla="*/ 5746 h 126402"/>
                <a:gd name="connsiteX1" fmla="*/ 175084 w 180835"/>
                <a:gd name="connsiteY1" fmla="*/ 0 h 126402"/>
                <a:gd name="connsiteX2" fmla="*/ 175084 w 180835"/>
                <a:gd name="connsiteY2" fmla="*/ 0 h 126402"/>
                <a:gd name="connsiteX3" fmla="*/ 163582 w 180835"/>
                <a:gd name="connsiteY3" fmla="*/ 0 h 126402"/>
                <a:gd name="connsiteX4" fmla="*/ 149525 w 180835"/>
                <a:gd name="connsiteY4" fmla="*/ 52987 h 126402"/>
                <a:gd name="connsiteX5" fmla="*/ 140579 w 180835"/>
                <a:gd name="connsiteY5" fmla="*/ 115550 h 126402"/>
                <a:gd name="connsiteX6" fmla="*/ 135467 w 180835"/>
                <a:gd name="connsiteY6" fmla="*/ 118104 h 126402"/>
                <a:gd name="connsiteX7" fmla="*/ 132911 w 180835"/>
                <a:gd name="connsiteY7" fmla="*/ 117465 h 126402"/>
                <a:gd name="connsiteX8" fmla="*/ 99044 w 180835"/>
                <a:gd name="connsiteY8" fmla="*/ 101505 h 126402"/>
                <a:gd name="connsiteX9" fmla="*/ 65177 w 180835"/>
                <a:gd name="connsiteY9" fmla="*/ 108528 h 126402"/>
                <a:gd name="connsiteX10" fmla="*/ 47925 w 180835"/>
                <a:gd name="connsiteY10" fmla="*/ 75969 h 126402"/>
                <a:gd name="connsiteX11" fmla="*/ 14697 w 180835"/>
                <a:gd name="connsiteY11" fmla="*/ 60009 h 126402"/>
                <a:gd name="connsiteX12" fmla="*/ 11502 w 180835"/>
                <a:gd name="connsiteY12" fmla="*/ 52987 h 126402"/>
                <a:gd name="connsiteX13" fmla="*/ 56232 w 180835"/>
                <a:gd name="connsiteY13" fmla="*/ 8299 h 126402"/>
                <a:gd name="connsiteX14" fmla="*/ 60066 w 180835"/>
                <a:gd name="connsiteY14" fmla="*/ 0 h 126402"/>
                <a:gd name="connsiteX15" fmla="*/ 5751 w 180835"/>
                <a:gd name="connsiteY15" fmla="*/ 0 h 126402"/>
                <a:gd name="connsiteX16" fmla="*/ 0 w 180835"/>
                <a:gd name="connsiteY16" fmla="*/ 5746 h 126402"/>
                <a:gd name="connsiteX17" fmla="*/ 0 w 180835"/>
                <a:gd name="connsiteY17" fmla="*/ 5746 h 126402"/>
                <a:gd name="connsiteX18" fmla="*/ 0 w 180835"/>
                <a:gd name="connsiteY18" fmla="*/ 126403 h 126402"/>
                <a:gd name="connsiteX19" fmla="*/ 180835 w 180835"/>
                <a:gd name="connsiteY19" fmla="*/ 126403 h 126402"/>
                <a:gd name="connsiteX20" fmla="*/ 180835 w 180835"/>
                <a:gd name="connsiteY20" fmla="*/ 5746 h 12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80835" h="126402">
                  <a:moveTo>
                    <a:pt x="180835" y="5746"/>
                  </a:moveTo>
                  <a:cubicBezTo>
                    <a:pt x="180835" y="2554"/>
                    <a:pt x="178279" y="0"/>
                    <a:pt x="175084" y="0"/>
                  </a:cubicBezTo>
                  <a:lnTo>
                    <a:pt x="175084" y="0"/>
                  </a:lnTo>
                  <a:lnTo>
                    <a:pt x="163582" y="0"/>
                  </a:lnTo>
                  <a:cubicBezTo>
                    <a:pt x="161666" y="18514"/>
                    <a:pt x="157192" y="36389"/>
                    <a:pt x="149525" y="52987"/>
                  </a:cubicBezTo>
                  <a:cubicBezTo>
                    <a:pt x="157832" y="74054"/>
                    <a:pt x="154637" y="97675"/>
                    <a:pt x="140579" y="115550"/>
                  </a:cubicBezTo>
                  <a:cubicBezTo>
                    <a:pt x="139301" y="116827"/>
                    <a:pt x="137384" y="118104"/>
                    <a:pt x="135467" y="118104"/>
                  </a:cubicBezTo>
                  <a:cubicBezTo>
                    <a:pt x="134828" y="118104"/>
                    <a:pt x="133550" y="118104"/>
                    <a:pt x="132911" y="117465"/>
                  </a:cubicBezTo>
                  <a:lnTo>
                    <a:pt x="99044" y="101505"/>
                  </a:lnTo>
                  <a:cubicBezTo>
                    <a:pt x="90098" y="110443"/>
                    <a:pt x="76679" y="112996"/>
                    <a:pt x="65177" y="108528"/>
                  </a:cubicBezTo>
                  <a:cubicBezTo>
                    <a:pt x="49203" y="100867"/>
                    <a:pt x="47286" y="84269"/>
                    <a:pt x="47925" y="75969"/>
                  </a:cubicBezTo>
                  <a:lnTo>
                    <a:pt x="14697" y="60009"/>
                  </a:lnTo>
                  <a:cubicBezTo>
                    <a:pt x="12141" y="58733"/>
                    <a:pt x="10863" y="56179"/>
                    <a:pt x="11502" y="52987"/>
                  </a:cubicBezTo>
                  <a:cubicBezTo>
                    <a:pt x="17892" y="20429"/>
                    <a:pt x="41535" y="9576"/>
                    <a:pt x="56232" y="8299"/>
                  </a:cubicBezTo>
                  <a:cubicBezTo>
                    <a:pt x="57509" y="5746"/>
                    <a:pt x="58788" y="2554"/>
                    <a:pt x="60066" y="0"/>
                  </a:cubicBezTo>
                  <a:lnTo>
                    <a:pt x="5751" y="0"/>
                  </a:lnTo>
                  <a:cubicBezTo>
                    <a:pt x="2556" y="0"/>
                    <a:pt x="0" y="2554"/>
                    <a:pt x="0" y="5746"/>
                  </a:cubicBezTo>
                  <a:lnTo>
                    <a:pt x="0" y="5746"/>
                  </a:lnTo>
                  <a:lnTo>
                    <a:pt x="0" y="126403"/>
                  </a:lnTo>
                  <a:lnTo>
                    <a:pt x="180835" y="126403"/>
                  </a:lnTo>
                  <a:lnTo>
                    <a:pt x="180835" y="5746"/>
                  </a:lnTo>
                  <a:close/>
                </a:path>
              </a:pathLst>
            </a:custGeom>
            <a:grpFill/>
            <a:ln w="6390" cap="flat">
              <a:noFill/>
              <a:prstDash val="solid"/>
              <a:miter/>
            </a:ln>
          </p:spPr>
          <p:txBody>
            <a:bodyPr rtlCol="0" anchor="ctr"/>
            <a:lstStyle/>
            <a:p>
              <a:endParaRPr lang="en-US"/>
            </a:p>
          </p:txBody>
        </p:sp>
        <p:sp>
          <p:nvSpPr>
            <p:cNvPr id="8" name="Graphic 4">
              <a:extLst>
                <a:ext uri="{FF2B5EF4-FFF2-40B4-BE49-F238E27FC236}">
                  <a16:creationId xmlns:a16="http://schemas.microsoft.com/office/drawing/2014/main" id="{28044671-CC61-D5FF-9D25-3C08FDAB61CD}"/>
                </a:ext>
              </a:extLst>
            </p:cNvPr>
            <p:cNvSpPr/>
            <p:nvPr/>
          </p:nvSpPr>
          <p:spPr>
            <a:xfrm>
              <a:off x="2126570" y="1549555"/>
              <a:ext cx="29393" cy="29366"/>
            </a:xfrm>
            <a:custGeom>
              <a:avLst/>
              <a:gdLst>
                <a:gd name="connsiteX0" fmla="*/ 14697 w 29393"/>
                <a:gd name="connsiteY0" fmla="*/ 29366 h 29366"/>
                <a:gd name="connsiteX1" fmla="*/ 29394 w 29393"/>
                <a:gd name="connsiteY1" fmla="*/ 14683 h 29366"/>
                <a:gd name="connsiteX2" fmla="*/ 14697 w 29393"/>
                <a:gd name="connsiteY2" fmla="*/ 0 h 29366"/>
                <a:gd name="connsiteX3" fmla="*/ 0 w 29393"/>
                <a:gd name="connsiteY3" fmla="*/ 14683 h 29366"/>
                <a:gd name="connsiteX4" fmla="*/ 14697 w 29393"/>
                <a:gd name="connsiteY4" fmla="*/ 29366 h 29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93" h="29366">
                  <a:moveTo>
                    <a:pt x="14697" y="29366"/>
                  </a:moveTo>
                  <a:cubicBezTo>
                    <a:pt x="23004" y="29366"/>
                    <a:pt x="29394" y="22982"/>
                    <a:pt x="29394" y="14683"/>
                  </a:cubicBezTo>
                  <a:cubicBezTo>
                    <a:pt x="29394" y="6384"/>
                    <a:pt x="23004" y="0"/>
                    <a:pt x="14697" y="0"/>
                  </a:cubicBezTo>
                  <a:cubicBezTo>
                    <a:pt x="6390" y="0"/>
                    <a:pt x="0" y="6384"/>
                    <a:pt x="0" y="14683"/>
                  </a:cubicBezTo>
                  <a:cubicBezTo>
                    <a:pt x="0" y="22982"/>
                    <a:pt x="6390" y="29366"/>
                    <a:pt x="14697" y="29366"/>
                  </a:cubicBezTo>
                  <a:close/>
                </a:path>
              </a:pathLst>
            </a:custGeom>
            <a:grpFill/>
            <a:ln w="6390" cap="flat">
              <a:noFill/>
              <a:prstDash val="solid"/>
              <a:miter/>
            </a:ln>
          </p:spPr>
          <p:txBody>
            <a:bodyPr rtlCol="0" anchor="ctr"/>
            <a:lstStyle/>
            <a:p>
              <a:endParaRPr lang="en-US"/>
            </a:p>
          </p:txBody>
        </p:sp>
        <p:sp>
          <p:nvSpPr>
            <p:cNvPr id="9" name="Graphic 4">
              <a:extLst>
                <a:ext uri="{FF2B5EF4-FFF2-40B4-BE49-F238E27FC236}">
                  <a16:creationId xmlns:a16="http://schemas.microsoft.com/office/drawing/2014/main" id="{A2879FB1-4694-D139-4FCB-437037744378}"/>
                </a:ext>
              </a:extLst>
            </p:cNvPr>
            <p:cNvSpPr/>
            <p:nvPr/>
          </p:nvSpPr>
          <p:spPr>
            <a:xfrm>
              <a:off x="2033278" y="1666381"/>
              <a:ext cx="201283" cy="3191"/>
            </a:xfrm>
            <a:custGeom>
              <a:avLst/>
              <a:gdLst>
                <a:gd name="connsiteX0" fmla="*/ 3834 w 201283"/>
                <a:gd name="connsiteY0" fmla="*/ 0 h 3191"/>
                <a:gd name="connsiteX1" fmla="*/ 0 w 201283"/>
                <a:gd name="connsiteY1" fmla="*/ 0 h 3191"/>
                <a:gd name="connsiteX2" fmla="*/ 7029 w 201283"/>
                <a:gd name="connsiteY2" fmla="*/ 3192 h 3191"/>
                <a:gd name="connsiteX3" fmla="*/ 194254 w 201283"/>
                <a:gd name="connsiteY3" fmla="*/ 3192 h 3191"/>
                <a:gd name="connsiteX4" fmla="*/ 201283 w 201283"/>
                <a:gd name="connsiteY4" fmla="*/ 0 h 3191"/>
                <a:gd name="connsiteX5" fmla="*/ 3834 w 201283"/>
                <a:gd name="connsiteY5" fmla="*/ 0 h 3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1283" h="3191">
                  <a:moveTo>
                    <a:pt x="3834" y="0"/>
                  </a:moveTo>
                  <a:lnTo>
                    <a:pt x="0" y="0"/>
                  </a:lnTo>
                  <a:cubicBezTo>
                    <a:pt x="1917" y="1915"/>
                    <a:pt x="4473" y="3192"/>
                    <a:pt x="7029" y="3192"/>
                  </a:cubicBezTo>
                  <a:lnTo>
                    <a:pt x="194254" y="3192"/>
                  </a:lnTo>
                  <a:cubicBezTo>
                    <a:pt x="196810" y="3192"/>
                    <a:pt x="199366" y="1915"/>
                    <a:pt x="201283" y="0"/>
                  </a:cubicBezTo>
                  <a:lnTo>
                    <a:pt x="3834" y="0"/>
                  </a:lnTo>
                  <a:close/>
                </a:path>
              </a:pathLst>
            </a:custGeom>
            <a:grpFill/>
            <a:ln w="6390" cap="flat">
              <a:noFill/>
              <a:prstDash val="solid"/>
              <a:miter/>
            </a:ln>
          </p:spPr>
          <p:txBody>
            <a:bodyPr rtlCol="0" anchor="ctr"/>
            <a:lstStyle/>
            <a:p>
              <a:endParaRPr lang="en-US"/>
            </a:p>
          </p:txBody>
        </p:sp>
        <p:sp>
          <p:nvSpPr>
            <p:cNvPr id="10" name="Graphic 4">
              <a:extLst>
                <a:ext uri="{FF2B5EF4-FFF2-40B4-BE49-F238E27FC236}">
                  <a16:creationId xmlns:a16="http://schemas.microsoft.com/office/drawing/2014/main" id="{2256E0D9-1666-5B3D-44C5-5DE2F0A94482}"/>
                </a:ext>
              </a:extLst>
            </p:cNvPr>
            <p:cNvSpPr/>
            <p:nvPr/>
          </p:nvSpPr>
          <p:spPr>
            <a:xfrm>
              <a:off x="1952125" y="1402723"/>
              <a:ext cx="362313" cy="361971"/>
            </a:xfrm>
            <a:custGeom>
              <a:avLst/>
              <a:gdLst>
                <a:gd name="connsiteX0" fmla="*/ 181474 w 362313"/>
                <a:gd name="connsiteY0" fmla="*/ 0 h 361971"/>
                <a:gd name="connsiteX1" fmla="*/ 0 w 362313"/>
                <a:gd name="connsiteY1" fmla="*/ 180667 h 361971"/>
                <a:gd name="connsiteX2" fmla="*/ 180835 w 362313"/>
                <a:gd name="connsiteY2" fmla="*/ 361972 h 361971"/>
                <a:gd name="connsiteX3" fmla="*/ 362310 w 362313"/>
                <a:gd name="connsiteY3" fmla="*/ 181305 h 361971"/>
                <a:gd name="connsiteX4" fmla="*/ 362310 w 362313"/>
                <a:gd name="connsiteY4" fmla="*/ 181305 h 361971"/>
                <a:gd name="connsiteX5" fmla="*/ 181474 w 362313"/>
                <a:gd name="connsiteY5" fmla="*/ 0 h 361971"/>
                <a:gd name="connsiteX6" fmla="*/ 275406 w 362313"/>
                <a:gd name="connsiteY6" fmla="*/ 279618 h 361971"/>
                <a:gd name="connsiteX7" fmla="*/ 88181 w 362313"/>
                <a:gd name="connsiteY7" fmla="*/ 279618 h 361971"/>
                <a:gd name="connsiteX8" fmla="*/ 65816 w 362313"/>
                <a:gd name="connsiteY8" fmla="*/ 257274 h 361971"/>
                <a:gd name="connsiteX9" fmla="*/ 72206 w 362313"/>
                <a:gd name="connsiteY9" fmla="*/ 250890 h 361971"/>
                <a:gd name="connsiteX10" fmla="*/ 78596 w 362313"/>
                <a:gd name="connsiteY10" fmla="*/ 250890 h 361971"/>
                <a:gd name="connsiteX11" fmla="*/ 78596 w 362313"/>
                <a:gd name="connsiteY11" fmla="*/ 130233 h 361971"/>
                <a:gd name="connsiteX12" fmla="*/ 97127 w 362313"/>
                <a:gd name="connsiteY12" fmla="*/ 111720 h 361971"/>
                <a:gd name="connsiteX13" fmla="*/ 97127 w 362313"/>
                <a:gd name="connsiteY13" fmla="*/ 111720 h 361971"/>
                <a:gd name="connsiteX14" fmla="*/ 159109 w 362313"/>
                <a:gd name="connsiteY14" fmla="*/ 111720 h 361971"/>
                <a:gd name="connsiteX15" fmla="*/ 237067 w 362313"/>
                <a:gd name="connsiteY15" fmla="*/ 56817 h 361971"/>
                <a:gd name="connsiteX16" fmla="*/ 243457 w 362313"/>
                <a:gd name="connsiteY16" fmla="*/ 60648 h 361971"/>
                <a:gd name="connsiteX17" fmla="*/ 254958 w 362313"/>
                <a:gd name="connsiteY17" fmla="*/ 112358 h 361971"/>
                <a:gd name="connsiteX18" fmla="*/ 265821 w 362313"/>
                <a:gd name="connsiteY18" fmla="*/ 112358 h 361971"/>
                <a:gd name="connsiteX19" fmla="*/ 284352 w 362313"/>
                <a:gd name="connsiteY19" fmla="*/ 130872 h 361971"/>
                <a:gd name="connsiteX20" fmla="*/ 284352 w 362313"/>
                <a:gd name="connsiteY20" fmla="*/ 130872 h 361971"/>
                <a:gd name="connsiteX21" fmla="*/ 284352 w 362313"/>
                <a:gd name="connsiteY21" fmla="*/ 251529 h 361971"/>
                <a:gd name="connsiteX22" fmla="*/ 290742 w 362313"/>
                <a:gd name="connsiteY22" fmla="*/ 251529 h 361971"/>
                <a:gd name="connsiteX23" fmla="*/ 297132 w 362313"/>
                <a:gd name="connsiteY23" fmla="*/ 257913 h 361971"/>
                <a:gd name="connsiteX24" fmla="*/ 275406 w 362313"/>
                <a:gd name="connsiteY24" fmla="*/ 279618 h 361971"/>
                <a:gd name="connsiteX25" fmla="*/ 275406 w 362313"/>
                <a:gd name="connsiteY25" fmla="*/ 279618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62313" h="361971">
                  <a:moveTo>
                    <a:pt x="181474" y="0"/>
                  </a:moveTo>
                  <a:cubicBezTo>
                    <a:pt x="81152" y="0"/>
                    <a:pt x="0" y="81077"/>
                    <a:pt x="0" y="180667"/>
                  </a:cubicBezTo>
                  <a:cubicBezTo>
                    <a:pt x="0" y="280895"/>
                    <a:pt x="81152" y="361972"/>
                    <a:pt x="180835" y="361972"/>
                  </a:cubicBezTo>
                  <a:cubicBezTo>
                    <a:pt x="281157" y="361972"/>
                    <a:pt x="362310" y="280895"/>
                    <a:pt x="362310" y="181305"/>
                  </a:cubicBezTo>
                  <a:cubicBezTo>
                    <a:pt x="362310" y="181305"/>
                    <a:pt x="362310" y="181305"/>
                    <a:pt x="362310" y="181305"/>
                  </a:cubicBezTo>
                  <a:cubicBezTo>
                    <a:pt x="362948" y="80438"/>
                    <a:pt x="281796" y="0"/>
                    <a:pt x="181474" y="0"/>
                  </a:cubicBezTo>
                  <a:close/>
                  <a:moveTo>
                    <a:pt x="275406" y="279618"/>
                  </a:moveTo>
                  <a:lnTo>
                    <a:pt x="88181" y="279618"/>
                  </a:lnTo>
                  <a:cubicBezTo>
                    <a:pt x="76040" y="279618"/>
                    <a:pt x="65816" y="269404"/>
                    <a:pt x="65816" y="257274"/>
                  </a:cubicBezTo>
                  <a:cubicBezTo>
                    <a:pt x="65816" y="253444"/>
                    <a:pt x="68372" y="250890"/>
                    <a:pt x="72206" y="250890"/>
                  </a:cubicBezTo>
                  <a:lnTo>
                    <a:pt x="78596" y="250890"/>
                  </a:lnTo>
                  <a:lnTo>
                    <a:pt x="78596" y="130233"/>
                  </a:lnTo>
                  <a:cubicBezTo>
                    <a:pt x="78596" y="120019"/>
                    <a:pt x="86903" y="111720"/>
                    <a:pt x="97127" y="111720"/>
                  </a:cubicBezTo>
                  <a:lnTo>
                    <a:pt x="97127" y="111720"/>
                  </a:lnTo>
                  <a:lnTo>
                    <a:pt x="159109" y="111720"/>
                  </a:lnTo>
                  <a:cubicBezTo>
                    <a:pt x="191698" y="61286"/>
                    <a:pt x="235150" y="56817"/>
                    <a:pt x="237067" y="56817"/>
                  </a:cubicBezTo>
                  <a:cubicBezTo>
                    <a:pt x="239623" y="56817"/>
                    <a:pt x="242179" y="58094"/>
                    <a:pt x="243457" y="60648"/>
                  </a:cubicBezTo>
                  <a:cubicBezTo>
                    <a:pt x="251124" y="76608"/>
                    <a:pt x="254958" y="94483"/>
                    <a:pt x="254958" y="112358"/>
                  </a:cubicBezTo>
                  <a:lnTo>
                    <a:pt x="265821" y="112358"/>
                  </a:lnTo>
                  <a:cubicBezTo>
                    <a:pt x="276045" y="112358"/>
                    <a:pt x="284352" y="120657"/>
                    <a:pt x="284352" y="130872"/>
                  </a:cubicBezTo>
                  <a:lnTo>
                    <a:pt x="284352" y="130872"/>
                  </a:lnTo>
                  <a:lnTo>
                    <a:pt x="284352" y="251529"/>
                  </a:lnTo>
                  <a:lnTo>
                    <a:pt x="290742" y="251529"/>
                  </a:lnTo>
                  <a:cubicBezTo>
                    <a:pt x="294576" y="251529"/>
                    <a:pt x="297132" y="254082"/>
                    <a:pt x="297132" y="257913"/>
                  </a:cubicBezTo>
                  <a:cubicBezTo>
                    <a:pt x="297771" y="269404"/>
                    <a:pt x="287547" y="278980"/>
                    <a:pt x="275406" y="279618"/>
                  </a:cubicBezTo>
                  <a:lnTo>
                    <a:pt x="275406" y="279618"/>
                  </a:lnTo>
                  <a:close/>
                </a:path>
              </a:pathLst>
            </a:custGeom>
            <a:grpFill/>
            <a:ln w="6390" cap="flat">
              <a:noFill/>
              <a:prstDash val="solid"/>
              <a:miter/>
            </a:ln>
          </p:spPr>
          <p:txBody>
            <a:bodyPr rtlCol="0" anchor="ctr"/>
            <a:lstStyle/>
            <a:p>
              <a:endParaRPr lang="en-US"/>
            </a:p>
          </p:txBody>
        </p:sp>
      </p:grpSp>
      <p:sp>
        <p:nvSpPr>
          <p:cNvPr id="11" name="Callout: Line 10">
            <a:extLst>
              <a:ext uri="{FF2B5EF4-FFF2-40B4-BE49-F238E27FC236}">
                <a16:creationId xmlns:a16="http://schemas.microsoft.com/office/drawing/2014/main" id="{94A96CB6-3A05-75EA-223F-BE99CBDE4FB3}"/>
              </a:ext>
            </a:extLst>
          </p:cNvPr>
          <p:cNvSpPr/>
          <p:nvPr/>
        </p:nvSpPr>
        <p:spPr>
          <a:xfrm>
            <a:off x="10662556" y="2013146"/>
            <a:ext cx="424542" cy="236766"/>
          </a:xfrm>
          <a:prstGeom prst="borderCallout1">
            <a:avLst>
              <a:gd name="adj1" fmla="val 18750"/>
              <a:gd name="adj2" fmla="val -8333"/>
              <a:gd name="adj3" fmla="val 174569"/>
              <a:gd name="adj4" fmla="val -146026"/>
            </a:avLst>
          </a:prstGeom>
          <a:solidFill>
            <a:schemeClr val="bg1"/>
          </a:solidFill>
          <a:ln>
            <a:solidFill>
              <a:schemeClr val="bg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a:t>
            </a:r>
          </a:p>
        </p:txBody>
      </p:sp>
      <p:sp>
        <p:nvSpPr>
          <p:cNvPr id="12" name="Callout: Line 11">
            <a:extLst>
              <a:ext uri="{FF2B5EF4-FFF2-40B4-BE49-F238E27FC236}">
                <a16:creationId xmlns:a16="http://schemas.microsoft.com/office/drawing/2014/main" id="{C3CD36B4-85E4-5E47-7F96-C9249CFA4DDD}"/>
              </a:ext>
            </a:extLst>
          </p:cNvPr>
          <p:cNvSpPr/>
          <p:nvPr/>
        </p:nvSpPr>
        <p:spPr>
          <a:xfrm>
            <a:off x="10662556" y="3500424"/>
            <a:ext cx="424542" cy="236766"/>
          </a:xfrm>
          <a:prstGeom prst="borderCallout1">
            <a:avLst>
              <a:gd name="adj1" fmla="val 18750"/>
              <a:gd name="adj2" fmla="val -8333"/>
              <a:gd name="adj3" fmla="val 174569"/>
              <a:gd name="adj4" fmla="val -146026"/>
            </a:avLst>
          </a:prstGeom>
          <a:solidFill>
            <a:schemeClr val="bg1"/>
          </a:solidFill>
          <a:ln>
            <a:solidFill>
              <a:schemeClr val="bg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sp>
        <p:nvSpPr>
          <p:cNvPr id="14" name="Callout: Line 13">
            <a:extLst>
              <a:ext uri="{FF2B5EF4-FFF2-40B4-BE49-F238E27FC236}">
                <a16:creationId xmlns:a16="http://schemas.microsoft.com/office/drawing/2014/main" id="{C28DA001-0D27-934D-EC43-C7ADB18473FF}"/>
              </a:ext>
            </a:extLst>
          </p:cNvPr>
          <p:cNvSpPr/>
          <p:nvPr/>
        </p:nvSpPr>
        <p:spPr>
          <a:xfrm>
            <a:off x="10662556" y="5340240"/>
            <a:ext cx="424542" cy="236766"/>
          </a:xfrm>
          <a:prstGeom prst="borderCallout1">
            <a:avLst>
              <a:gd name="adj1" fmla="val 18750"/>
              <a:gd name="adj2" fmla="val -8333"/>
              <a:gd name="adj3" fmla="val 174569"/>
              <a:gd name="adj4" fmla="val -146026"/>
            </a:avLst>
          </a:prstGeom>
          <a:solidFill>
            <a:schemeClr val="bg1"/>
          </a:solidFill>
          <a:ln>
            <a:solidFill>
              <a:schemeClr val="bg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4</a:t>
            </a:r>
          </a:p>
        </p:txBody>
      </p:sp>
      <p:pic>
        <p:nvPicPr>
          <p:cNvPr id="6" name="Picture 5">
            <a:extLst>
              <a:ext uri="{FF2B5EF4-FFF2-40B4-BE49-F238E27FC236}">
                <a16:creationId xmlns:a16="http://schemas.microsoft.com/office/drawing/2014/main" id="{47D1A54D-01FF-7BC8-91A9-6F2EB80BF157}"/>
              </a:ext>
            </a:extLst>
          </p:cNvPr>
          <p:cNvPicPr>
            <a:picLocks/>
          </p:cNvPicPr>
          <p:nvPr/>
        </p:nvPicPr>
        <p:blipFill>
          <a:blip r:embed="rId3"/>
          <a:stretch>
            <a:fillRect/>
          </a:stretch>
        </p:blipFill>
        <p:spPr>
          <a:xfrm>
            <a:off x="2164800" y="1216800"/>
            <a:ext cx="7862400" cy="5396400"/>
          </a:xfrm>
          <a:prstGeom prst="rect">
            <a:avLst/>
          </a:prstGeom>
          <a:ln>
            <a:solidFill>
              <a:schemeClr val="bg1">
                <a:lumMod val="75000"/>
              </a:schemeClr>
            </a:solidFill>
          </a:ln>
        </p:spPr>
      </p:pic>
      <p:sp>
        <p:nvSpPr>
          <p:cNvPr id="13" name="Callout: Line 12">
            <a:extLst>
              <a:ext uri="{FF2B5EF4-FFF2-40B4-BE49-F238E27FC236}">
                <a16:creationId xmlns:a16="http://schemas.microsoft.com/office/drawing/2014/main" id="{2AABFA99-AF57-C262-EA6E-E92C0D4EEDB2}"/>
              </a:ext>
            </a:extLst>
          </p:cNvPr>
          <p:cNvSpPr/>
          <p:nvPr/>
        </p:nvSpPr>
        <p:spPr>
          <a:xfrm flipH="1">
            <a:off x="1104902" y="5340240"/>
            <a:ext cx="424542" cy="236766"/>
          </a:xfrm>
          <a:prstGeom prst="borderCallout1">
            <a:avLst>
              <a:gd name="adj1" fmla="val 18750"/>
              <a:gd name="adj2" fmla="val -8333"/>
              <a:gd name="adj3" fmla="val 174569"/>
              <a:gd name="adj4" fmla="val -146026"/>
            </a:avLst>
          </a:prstGeom>
          <a:solidFill>
            <a:schemeClr val="bg1"/>
          </a:solidFill>
          <a:ln>
            <a:solidFill>
              <a:schemeClr val="bg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3</a:t>
            </a:r>
          </a:p>
        </p:txBody>
      </p:sp>
    </p:spTree>
    <p:extLst>
      <p:ext uri="{BB962C8B-B14F-4D97-AF65-F5344CB8AC3E}">
        <p14:creationId xmlns:p14="http://schemas.microsoft.com/office/powerpoint/2010/main" val="8829610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5EA4E-6FF4-8816-F217-58875D1A314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21281E1-F8AE-8E6B-721E-15883B7330FF}"/>
              </a:ext>
            </a:extLst>
          </p:cNvPr>
          <p:cNvSpPr txBox="1">
            <a:spLocks/>
          </p:cNvSpPr>
          <p:nvPr/>
        </p:nvSpPr>
        <p:spPr>
          <a:xfrm>
            <a:off x="284550" y="216713"/>
            <a:ext cx="11904087" cy="509780"/>
          </a:xfrm>
          <a:prstGeom prst="rect">
            <a:avLst/>
          </a:prstGeom>
        </p:spPr>
        <p:txBody>
          <a:bodyPr lIns="91440" tIns="45720" rIns="91440" bIns="45720" anchor="t"/>
          <a:lstStyle>
            <a:lvl1pPr algn="l" defTabSz="914400" rtl="0" eaLnBrk="1" latinLnBrk="0" hangingPunct="1">
              <a:lnSpc>
                <a:spcPct val="100000"/>
              </a:lnSpc>
              <a:spcBef>
                <a:spcPct val="0"/>
              </a:spcBef>
              <a:buNone/>
              <a:defRPr sz="3400" b="0" i="0" kern="1200">
                <a:solidFill>
                  <a:srgbClr val="0076CF"/>
                </a:solidFill>
                <a:latin typeface="FS Elliot Pro Light" panose="02000503040000020004" pitchFamily="2" charset="0"/>
                <a:ea typeface="+mj-ea"/>
                <a:cs typeface="+mj-cs"/>
              </a:defRPr>
            </a:lvl1pPr>
          </a:lstStyle>
          <a:p>
            <a:pPr>
              <a:defRPr/>
            </a:pPr>
            <a:r>
              <a:rPr lang="en-US" sz="3200" dirty="0">
                <a:latin typeface="FS Elliot Pro Light"/>
              </a:rPr>
              <a:t>Performance Management – Storage Management summary</a:t>
            </a:r>
            <a:endParaRPr lang="en-US" sz="1600" dirty="0">
              <a:ea typeface="+mj-ea"/>
              <a:cs typeface="+mj-cs"/>
            </a:endParaRPr>
          </a:p>
        </p:txBody>
      </p:sp>
      <p:graphicFrame>
        <p:nvGraphicFramePr>
          <p:cNvPr id="2" name="Table 1">
            <a:extLst>
              <a:ext uri="{FF2B5EF4-FFF2-40B4-BE49-F238E27FC236}">
                <a16:creationId xmlns:a16="http://schemas.microsoft.com/office/drawing/2014/main" id="{649D3054-3941-1DF0-05AC-85FE6A4E83B2}"/>
              </a:ext>
            </a:extLst>
          </p:cNvPr>
          <p:cNvGraphicFramePr>
            <a:graphicFrameLocks noGrp="1"/>
          </p:cNvGraphicFramePr>
          <p:nvPr>
            <p:extLst>
              <p:ext uri="{D42A27DB-BD31-4B8C-83A1-F6EECF244321}">
                <p14:modId xmlns:p14="http://schemas.microsoft.com/office/powerpoint/2010/main" val="43818860"/>
              </p:ext>
            </p:extLst>
          </p:nvPr>
        </p:nvGraphicFramePr>
        <p:xfrm>
          <a:off x="394855" y="931959"/>
          <a:ext cx="11430000" cy="5501890"/>
        </p:xfrm>
        <a:graphic>
          <a:graphicData uri="http://schemas.openxmlformats.org/drawingml/2006/table">
            <a:tbl>
              <a:tblPr firstRow="1" bandRow="1">
                <a:tableStyleId>{5C22544A-7EE6-4342-B048-85BDC9FD1C3A}</a:tableStyleId>
              </a:tblPr>
              <a:tblGrid>
                <a:gridCol w="449322">
                  <a:extLst>
                    <a:ext uri="{9D8B030D-6E8A-4147-A177-3AD203B41FA5}">
                      <a16:colId xmlns:a16="http://schemas.microsoft.com/office/drawing/2014/main" val="1227872876"/>
                    </a:ext>
                  </a:extLst>
                </a:gridCol>
                <a:gridCol w="1179932">
                  <a:extLst>
                    <a:ext uri="{9D8B030D-6E8A-4147-A177-3AD203B41FA5}">
                      <a16:colId xmlns:a16="http://schemas.microsoft.com/office/drawing/2014/main" val="3573294361"/>
                    </a:ext>
                  </a:extLst>
                </a:gridCol>
                <a:gridCol w="807868">
                  <a:extLst>
                    <a:ext uri="{9D8B030D-6E8A-4147-A177-3AD203B41FA5}">
                      <a16:colId xmlns:a16="http://schemas.microsoft.com/office/drawing/2014/main" val="684506535"/>
                    </a:ext>
                  </a:extLst>
                </a:gridCol>
                <a:gridCol w="1327901">
                  <a:extLst>
                    <a:ext uri="{9D8B030D-6E8A-4147-A177-3AD203B41FA5}">
                      <a16:colId xmlns:a16="http://schemas.microsoft.com/office/drawing/2014/main" val="2881509476"/>
                    </a:ext>
                  </a:extLst>
                </a:gridCol>
                <a:gridCol w="4753303">
                  <a:extLst>
                    <a:ext uri="{9D8B030D-6E8A-4147-A177-3AD203B41FA5}">
                      <a16:colId xmlns:a16="http://schemas.microsoft.com/office/drawing/2014/main" val="3389198070"/>
                    </a:ext>
                  </a:extLst>
                </a:gridCol>
                <a:gridCol w="1651246">
                  <a:extLst>
                    <a:ext uri="{9D8B030D-6E8A-4147-A177-3AD203B41FA5}">
                      <a16:colId xmlns:a16="http://schemas.microsoft.com/office/drawing/2014/main" val="1391104289"/>
                    </a:ext>
                  </a:extLst>
                </a:gridCol>
                <a:gridCol w="1260428">
                  <a:extLst>
                    <a:ext uri="{9D8B030D-6E8A-4147-A177-3AD203B41FA5}">
                      <a16:colId xmlns:a16="http://schemas.microsoft.com/office/drawing/2014/main" val="4206051783"/>
                    </a:ext>
                  </a:extLst>
                </a:gridCol>
              </a:tblGrid>
              <a:tr h="555522">
                <a:tc>
                  <a:txBody>
                    <a:bodyPr/>
                    <a:lstStyle/>
                    <a:p>
                      <a:pPr algn="ctr"/>
                      <a:r>
                        <a:rPr lang="en-US" sz="1100">
                          <a:latin typeface="+mj-lt"/>
                        </a:rPr>
                        <a:t>#</a:t>
                      </a:r>
                    </a:p>
                  </a:txBody>
                  <a:tcPr anchor="ctr">
                    <a:solidFill>
                      <a:srgbClr val="338DCD"/>
                    </a:solidFill>
                  </a:tcPr>
                </a:tc>
                <a:tc>
                  <a:txBody>
                    <a:bodyPr/>
                    <a:lstStyle/>
                    <a:p>
                      <a:pPr algn="ctr"/>
                      <a:r>
                        <a:rPr lang="en-US" sz="1100">
                          <a:latin typeface="+mj-lt"/>
                        </a:rPr>
                        <a:t>Category</a:t>
                      </a:r>
                    </a:p>
                  </a:txBody>
                  <a:tcPr anchor="ctr">
                    <a:solidFill>
                      <a:srgbClr val="338DCD"/>
                    </a:solidFill>
                  </a:tcPr>
                </a:tc>
                <a:tc>
                  <a:txBody>
                    <a:bodyPr/>
                    <a:lstStyle/>
                    <a:p>
                      <a:pPr algn="ctr"/>
                      <a:r>
                        <a:rPr lang="en-US" sz="1100">
                          <a:latin typeface="+mj-lt"/>
                        </a:rPr>
                        <a:t>Category Priority</a:t>
                      </a:r>
                    </a:p>
                  </a:txBody>
                  <a:tcPr anchor="ctr">
                    <a:solidFill>
                      <a:srgbClr val="338DCD"/>
                    </a:solidFill>
                  </a:tcPr>
                </a:tc>
                <a:tc>
                  <a:txBody>
                    <a:bodyPr/>
                    <a:lstStyle/>
                    <a:p>
                      <a:pPr algn="ctr"/>
                      <a:r>
                        <a:rPr lang="en-US" sz="1100">
                          <a:latin typeface="+mj-lt"/>
                        </a:rPr>
                        <a:t>Chart type</a:t>
                      </a:r>
                    </a:p>
                  </a:txBody>
                  <a:tcPr anchor="ctr">
                    <a:solidFill>
                      <a:srgbClr val="338DCD"/>
                    </a:solidFill>
                  </a:tcPr>
                </a:tc>
                <a:tc>
                  <a:txBody>
                    <a:bodyPr/>
                    <a:lstStyle/>
                    <a:p>
                      <a:pPr algn="ctr"/>
                      <a:r>
                        <a:rPr lang="en-US" sz="1100">
                          <a:latin typeface="+mj-lt"/>
                        </a:rPr>
                        <a:t>Description</a:t>
                      </a:r>
                    </a:p>
                  </a:txBody>
                  <a:tcPr anchor="ctr">
                    <a:solidFill>
                      <a:srgbClr val="338DCD"/>
                    </a:solidFill>
                  </a:tcPr>
                </a:tc>
                <a:tc>
                  <a:txBody>
                    <a:bodyPr/>
                    <a:lstStyle/>
                    <a:p>
                      <a:pPr algn="ctr"/>
                      <a:r>
                        <a:rPr lang="en-US" sz="1100">
                          <a:latin typeface="+mj-lt"/>
                        </a:rPr>
                        <a:t>Assessment: </a:t>
                      </a:r>
                      <a:br>
                        <a:rPr lang="en-US" sz="1100">
                          <a:latin typeface="+mj-lt"/>
                        </a:rPr>
                      </a:br>
                      <a:r>
                        <a:rPr lang="en-US" sz="1100">
                          <a:latin typeface="+mj-lt"/>
                        </a:rPr>
                        <a:t>Required, Aspirational</a:t>
                      </a:r>
                    </a:p>
                  </a:txBody>
                  <a:tcPr anchor="ctr">
                    <a:solidFill>
                      <a:srgbClr val="338DCD"/>
                    </a:solidFill>
                  </a:tcPr>
                </a:tc>
                <a:tc>
                  <a:txBody>
                    <a:bodyPr/>
                    <a:lstStyle/>
                    <a:p>
                      <a:pPr algn="ctr"/>
                      <a:r>
                        <a:rPr lang="en-US" sz="1100">
                          <a:latin typeface="+mj-lt"/>
                        </a:rPr>
                        <a:t>Implementation Priority</a:t>
                      </a:r>
                    </a:p>
                  </a:txBody>
                  <a:tcPr anchor="ctr">
                    <a:solidFill>
                      <a:srgbClr val="338DCD"/>
                    </a:solidFill>
                  </a:tcPr>
                </a:tc>
                <a:extLst>
                  <a:ext uri="{0D108BD9-81ED-4DB2-BD59-A6C34878D82A}">
                    <a16:rowId xmlns:a16="http://schemas.microsoft.com/office/drawing/2014/main" val="3024339621"/>
                  </a:ext>
                </a:extLst>
              </a:tr>
              <a:tr h="123659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latin typeface="+mn-lt"/>
                        </a:rPr>
                        <a:t>1</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i="0" u="none" strike="noStrike" noProof="0" dirty="0">
                          <a:solidFill>
                            <a:srgbClr val="404040"/>
                          </a:solidFill>
                          <a:latin typeface="+mn-lt"/>
                        </a:rPr>
                        <a:t>Storage Management</a:t>
                      </a:r>
                    </a:p>
                  </a:txBody>
                  <a:tcPr anchor="ctr">
                    <a:solidFill>
                      <a:schemeClr val="bg1">
                        <a:lumMod val="95000"/>
                      </a:schemeClr>
                    </a:solidFill>
                  </a:tcPr>
                </a:tc>
                <a:tc>
                  <a:txBody>
                    <a:bodyPr/>
                    <a:lstStyle/>
                    <a:p>
                      <a:pPr marL="0" algn="ctr" rtl="0" eaLnBrk="1" latinLnBrk="0" hangingPunct="1"/>
                      <a:r>
                        <a:rPr lang="en-US" sz="1000" b="0" i="0" u="none" strike="noStrike" kern="1200" noProof="0" dirty="0">
                          <a:solidFill>
                            <a:srgbClr val="000000"/>
                          </a:solidFill>
                          <a:latin typeface="+mn-lt"/>
                        </a:rPr>
                        <a:t>3</a:t>
                      </a:r>
                    </a:p>
                  </a:txBody>
                  <a:tcPr anchor="ctr">
                    <a:solidFill>
                      <a:schemeClr val="bg1">
                        <a:lumMod val="95000"/>
                      </a:schemeClr>
                    </a:solidFill>
                  </a:tcPr>
                </a:tc>
                <a:tc>
                  <a:txBody>
                    <a:bodyPr/>
                    <a:lstStyle/>
                    <a:p>
                      <a:pPr marL="0" algn="ctr" rtl="0" eaLnBrk="1" latinLnBrk="0" hangingPunct="1"/>
                      <a:r>
                        <a:rPr lang="en-US" sz="1000" b="0" i="0" u="none" strike="noStrike" kern="1200" noProof="0">
                          <a:solidFill>
                            <a:srgbClr val="000000"/>
                          </a:solidFill>
                          <a:latin typeface="+mn-lt"/>
                        </a:rPr>
                        <a:t>Card Visuals</a:t>
                      </a:r>
                    </a:p>
                  </a:txBody>
                  <a:tcPr anchor="ctr">
                    <a:solidFill>
                      <a:schemeClr val="bg1">
                        <a:lumMod val="95000"/>
                      </a:schemeClr>
                    </a:solidFill>
                  </a:tcPr>
                </a:tc>
                <a:tc>
                  <a:txBody>
                    <a:bodyPr/>
                    <a:lstStyle/>
                    <a:p>
                      <a:pPr marL="0" algn="ctr" rtl="0" eaLnBrk="1" latinLnBrk="0" hangingPunct="1"/>
                      <a:r>
                        <a:rPr lang="en-US" sz="1000" kern="1200">
                          <a:solidFill>
                            <a:schemeClr val="dk1"/>
                          </a:solidFill>
                          <a:latin typeface="+mn-lt"/>
                          <a:ea typeface="+mn-ea"/>
                          <a:cs typeface="+mn-cs"/>
                        </a:rPr>
                        <a:t>Depicts the </a:t>
                      </a:r>
                      <a:r>
                        <a:rPr lang="en-US" sz="1000"/>
                        <a:t>storage consumed by different storage types for  current quarter along with YoY values.</a:t>
                      </a:r>
                      <a:endParaRPr lang="en-US" sz="1000" kern="1200">
                        <a:solidFill>
                          <a:schemeClr val="dk1"/>
                        </a:solidFill>
                        <a:latin typeface="+mn-lt"/>
                        <a:ea typeface="+mn-ea"/>
                        <a:cs typeface="+mn-cs"/>
                      </a:endParaRP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Required</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2012711696"/>
                  </a:ext>
                </a:extLst>
              </a:tr>
              <a:tr h="123659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a:latin typeface="+mn-lt"/>
                        </a:rPr>
                        <a:t>2 </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i="0" u="none" strike="noStrike" noProof="0">
                          <a:solidFill>
                            <a:srgbClr val="404040"/>
                          </a:solidFill>
                          <a:latin typeface="+mn-lt"/>
                        </a:rPr>
                        <a:t>Storage Management</a:t>
                      </a:r>
                    </a:p>
                  </a:txBody>
                  <a:tcPr anchor="ctr">
                    <a:solidFill>
                      <a:schemeClr val="bg1">
                        <a:lumMod val="95000"/>
                      </a:schemeClr>
                    </a:solidFill>
                  </a:tcPr>
                </a:tc>
                <a:tc>
                  <a:txBody>
                    <a:bodyPr/>
                    <a:lstStyle/>
                    <a:p>
                      <a:pPr marL="0" algn="ctr" rtl="0" eaLnBrk="1" latinLnBrk="0" hangingPunct="1"/>
                      <a:r>
                        <a:rPr lang="en-US" sz="1000" b="0" i="0" u="none" strike="noStrike" kern="1200" noProof="0">
                          <a:solidFill>
                            <a:srgbClr val="000000"/>
                          </a:solidFill>
                          <a:latin typeface="+mn-lt"/>
                        </a:rPr>
                        <a:t>3</a:t>
                      </a:r>
                    </a:p>
                  </a:txBody>
                  <a:tcPr anchor="ctr">
                    <a:solidFill>
                      <a:schemeClr val="bg1">
                        <a:lumMod val="95000"/>
                      </a:schemeClr>
                    </a:solidFill>
                  </a:tcPr>
                </a:tc>
                <a:tc>
                  <a:txBody>
                    <a:bodyPr/>
                    <a:lstStyle/>
                    <a:p>
                      <a:pPr marL="0" algn="ctr" rtl="0" eaLnBrk="1" latinLnBrk="0" hangingPunct="1"/>
                      <a:r>
                        <a:rPr lang="en-US" sz="1000" b="0" i="0" u="none" strike="noStrike" kern="1200" noProof="0" dirty="0">
                          <a:solidFill>
                            <a:srgbClr val="000000"/>
                          </a:solidFill>
                          <a:latin typeface="+mn-lt"/>
                        </a:rPr>
                        <a:t>Line Chart</a:t>
                      </a:r>
                    </a:p>
                  </a:txBody>
                  <a:tcPr anchor="ctr">
                    <a:solidFill>
                      <a:schemeClr val="bg1">
                        <a:lumMod val="95000"/>
                      </a:schemeClr>
                    </a:solidFill>
                  </a:tcPr>
                </a:tc>
                <a:tc>
                  <a:txBody>
                    <a:bodyPr/>
                    <a:lstStyle/>
                    <a:p>
                      <a:pPr marL="0" algn="ctr" rtl="0" eaLnBrk="1" latinLnBrk="0" hangingPunct="1"/>
                      <a:r>
                        <a:rPr lang="en-US" sz="1000" kern="1200" dirty="0">
                          <a:solidFill>
                            <a:schemeClr val="dk1"/>
                          </a:solidFill>
                          <a:latin typeface="+mn-lt"/>
                          <a:ea typeface="+mn-ea"/>
                          <a:cs typeface="+mn-cs"/>
                        </a:rPr>
                        <a:t>Depicts the </a:t>
                      </a:r>
                      <a:r>
                        <a:rPr lang="en-US" sz="1000" dirty="0"/>
                        <a:t>shows the trend of storage consumption by different storage types based on fiscal quarter, month and week.</a:t>
                      </a:r>
                      <a:endParaRPr lang="en-US" sz="1000" kern="1200" dirty="0">
                        <a:solidFill>
                          <a:schemeClr val="dk1"/>
                        </a:solidFill>
                        <a:latin typeface="+mn-lt"/>
                        <a:ea typeface="+mn-ea"/>
                        <a:cs typeface="+mn-cs"/>
                      </a:endParaRP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Required</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885339418"/>
                  </a:ext>
                </a:extLst>
              </a:tr>
              <a:tr h="123659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a:latin typeface="+mn-lt"/>
                        </a:rPr>
                        <a:t>3 </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i="0" u="none" strike="noStrike" noProof="0">
                          <a:solidFill>
                            <a:srgbClr val="404040"/>
                          </a:solidFill>
                          <a:latin typeface="+mn-lt"/>
                        </a:rPr>
                        <a:t>Storage Management</a:t>
                      </a:r>
                    </a:p>
                  </a:txBody>
                  <a:tcPr anchor="ctr">
                    <a:solidFill>
                      <a:schemeClr val="bg1">
                        <a:lumMod val="95000"/>
                      </a:schemeClr>
                    </a:solidFill>
                  </a:tcPr>
                </a:tc>
                <a:tc>
                  <a:txBody>
                    <a:bodyPr/>
                    <a:lstStyle/>
                    <a:p>
                      <a:pPr marL="0" algn="ctr" rtl="0" eaLnBrk="1" latinLnBrk="0" hangingPunct="1"/>
                      <a:r>
                        <a:rPr lang="en-US" sz="1000" b="0" i="0" u="none" strike="noStrike" kern="1200" noProof="0">
                          <a:solidFill>
                            <a:srgbClr val="000000"/>
                          </a:solidFill>
                          <a:latin typeface="+mn-lt"/>
                        </a:rPr>
                        <a:t>3</a:t>
                      </a:r>
                    </a:p>
                  </a:txBody>
                  <a:tcPr anchor="ctr">
                    <a:solidFill>
                      <a:schemeClr val="bg1">
                        <a:lumMod val="95000"/>
                      </a:schemeClr>
                    </a:solidFill>
                  </a:tcPr>
                </a:tc>
                <a:tc>
                  <a:txBody>
                    <a:bodyPr/>
                    <a:lstStyle/>
                    <a:p>
                      <a:pPr marL="0" algn="ctr" rtl="0" eaLnBrk="1" latinLnBrk="0" hangingPunct="1"/>
                      <a:r>
                        <a:rPr lang="en-US" sz="1000" b="0" i="0" u="none" strike="noStrike" kern="1200" noProof="0">
                          <a:solidFill>
                            <a:srgbClr val="000000"/>
                          </a:solidFill>
                          <a:latin typeface="+mn-lt"/>
                        </a:rPr>
                        <a:t>Decomposition Tree</a:t>
                      </a:r>
                    </a:p>
                  </a:txBody>
                  <a:tcPr anchor="ctr">
                    <a:solidFill>
                      <a:schemeClr val="bg1">
                        <a:lumMod val="95000"/>
                      </a:schemeClr>
                    </a:solidFill>
                  </a:tcPr>
                </a:tc>
                <a:tc>
                  <a:txBody>
                    <a:bodyPr/>
                    <a:lstStyle/>
                    <a:p>
                      <a:pPr marL="0" algn="ctr" rtl="0" eaLnBrk="1" latinLnBrk="0" hangingPunct="1"/>
                      <a:r>
                        <a:rPr lang="en-US" sz="1000" kern="1200" dirty="0">
                          <a:solidFill>
                            <a:schemeClr val="dk1"/>
                          </a:solidFill>
                          <a:latin typeface="+mn-lt"/>
                          <a:ea typeface="+mn-ea"/>
                          <a:cs typeface="+mn-cs"/>
                        </a:rPr>
                        <a:t>These two charts </a:t>
                      </a:r>
                      <a:r>
                        <a:rPr lang="en-US" sz="1000" dirty="0"/>
                        <a:t>shows that, top 10 databases and tables by storage consumed.</a:t>
                      </a:r>
                      <a:endParaRPr lang="en-US" sz="1000" kern="1200" dirty="0">
                        <a:solidFill>
                          <a:schemeClr val="dk1"/>
                        </a:solidFill>
                        <a:latin typeface="+mn-lt"/>
                        <a:ea typeface="+mn-ea"/>
                        <a:cs typeface="+mn-cs"/>
                      </a:endParaRP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Required</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3568663023"/>
                  </a:ext>
                </a:extLst>
              </a:tr>
              <a:tr h="123659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a:latin typeface="+mn-lt"/>
                        </a:rPr>
                        <a:t>4</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i="0" u="none" strike="noStrike" noProof="0">
                          <a:solidFill>
                            <a:srgbClr val="404040"/>
                          </a:solidFill>
                          <a:latin typeface="+mn-lt"/>
                        </a:rPr>
                        <a:t>Storage Management</a:t>
                      </a:r>
                    </a:p>
                  </a:txBody>
                  <a:tcPr anchor="ctr">
                    <a:solidFill>
                      <a:schemeClr val="bg1">
                        <a:lumMod val="95000"/>
                      </a:schemeClr>
                    </a:solidFill>
                  </a:tcPr>
                </a:tc>
                <a:tc>
                  <a:txBody>
                    <a:bodyPr/>
                    <a:lstStyle/>
                    <a:p>
                      <a:pPr marL="0" algn="ctr" rtl="0" eaLnBrk="1" latinLnBrk="0" hangingPunct="1"/>
                      <a:r>
                        <a:rPr lang="en-US" sz="1000" b="0" i="0" u="none" strike="noStrike" kern="1200" noProof="0">
                          <a:solidFill>
                            <a:srgbClr val="000000"/>
                          </a:solidFill>
                          <a:latin typeface="+mn-lt"/>
                        </a:rPr>
                        <a:t>3</a:t>
                      </a:r>
                    </a:p>
                  </a:txBody>
                  <a:tcPr anchor="ctr">
                    <a:solidFill>
                      <a:schemeClr val="bg1">
                        <a:lumMod val="95000"/>
                      </a:schemeClr>
                    </a:solidFill>
                  </a:tcPr>
                </a:tc>
                <a:tc>
                  <a:txBody>
                    <a:bodyPr/>
                    <a:lstStyle/>
                    <a:p>
                      <a:pPr marL="0" algn="ctr" rtl="0" eaLnBrk="1" latinLnBrk="0" hangingPunct="1"/>
                      <a:r>
                        <a:rPr lang="en-US" sz="1000" b="0" i="0" u="none" strike="noStrike" kern="1200" noProof="0">
                          <a:solidFill>
                            <a:srgbClr val="000000"/>
                          </a:solidFill>
                          <a:latin typeface="+mn-lt"/>
                        </a:rPr>
                        <a:t>Area Chart</a:t>
                      </a:r>
                    </a:p>
                  </a:txBody>
                  <a:tcPr anchor="ctr">
                    <a:solidFill>
                      <a:schemeClr val="bg1">
                        <a:lumMod val="95000"/>
                      </a:schemeClr>
                    </a:solidFill>
                  </a:tcPr>
                </a:tc>
                <a:tc>
                  <a:txBody>
                    <a:bodyPr/>
                    <a:lstStyle/>
                    <a:p>
                      <a:pPr marL="0" algn="ctr" rtl="0" eaLnBrk="1" latinLnBrk="0" hangingPunct="1"/>
                      <a:r>
                        <a:rPr lang="en-US" sz="1000" kern="1200" dirty="0">
                          <a:solidFill>
                            <a:schemeClr val="dk1"/>
                          </a:solidFill>
                          <a:latin typeface="+mn-lt"/>
                          <a:ea typeface="+mn-ea"/>
                          <a:cs typeface="+mn-cs"/>
                        </a:rPr>
                        <a:t>Depicts the overall storage space in TB will be shown,</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mn-lt"/>
                          <a:ea typeface="+mn-ea"/>
                          <a:cs typeface="+mn-cs"/>
                        </a:rPr>
                        <a:t>Required</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64960593"/>
                  </a:ext>
                </a:extLst>
              </a:tr>
            </a:tbl>
          </a:graphicData>
        </a:graphic>
      </p:graphicFrame>
    </p:spTree>
    <p:extLst>
      <p:ext uri="{BB962C8B-B14F-4D97-AF65-F5344CB8AC3E}">
        <p14:creationId xmlns:p14="http://schemas.microsoft.com/office/powerpoint/2010/main" val="26016508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F5814-913E-4F65-099E-2819F47D8E7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D9E3A4B-7B09-F54D-57E2-AD79F5BE692C}"/>
              </a:ext>
            </a:extLst>
          </p:cNvPr>
          <p:cNvSpPr txBox="1">
            <a:spLocks/>
          </p:cNvSpPr>
          <p:nvPr/>
        </p:nvSpPr>
        <p:spPr>
          <a:xfrm>
            <a:off x="284550" y="216713"/>
            <a:ext cx="11904087" cy="509780"/>
          </a:xfrm>
          <a:prstGeom prst="rect">
            <a:avLst/>
          </a:prstGeom>
        </p:spPr>
        <p:txBody>
          <a:bodyPr lIns="91440" tIns="45720" rIns="91440" bIns="45720" anchor="t"/>
          <a:lstStyle>
            <a:lvl1pPr algn="l" defTabSz="914400" rtl="0" eaLnBrk="1" latinLnBrk="0" hangingPunct="1">
              <a:lnSpc>
                <a:spcPct val="100000"/>
              </a:lnSpc>
              <a:spcBef>
                <a:spcPct val="0"/>
              </a:spcBef>
              <a:buNone/>
              <a:defRPr sz="3400" b="0" i="0" kern="1200">
                <a:solidFill>
                  <a:srgbClr val="0076CF"/>
                </a:solidFill>
                <a:latin typeface="FS Elliot Pro Light" panose="02000503040000020004" pitchFamily="2" charset="0"/>
                <a:ea typeface="+mj-ea"/>
                <a:cs typeface="+mj-cs"/>
              </a:defRPr>
            </a:lvl1pPr>
          </a:lstStyle>
          <a:p>
            <a:pPr>
              <a:defRPr/>
            </a:pPr>
            <a:r>
              <a:rPr lang="en-US" sz="3200">
                <a:latin typeface="FS Elliot Pro Light"/>
              </a:rPr>
              <a:t>Performance Management – Query Performance Metrics</a:t>
            </a:r>
            <a:endParaRPr lang="en-US">
              <a:ea typeface="+mj-ea"/>
              <a:cs typeface="+mj-cs"/>
            </a:endParaRPr>
          </a:p>
        </p:txBody>
      </p:sp>
      <p:sp>
        <p:nvSpPr>
          <p:cNvPr id="45" name="Rectangle 44">
            <a:extLst>
              <a:ext uri="{FF2B5EF4-FFF2-40B4-BE49-F238E27FC236}">
                <a16:creationId xmlns:a16="http://schemas.microsoft.com/office/drawing/2014/main" id="{98655C7C-8351-91F9-5A74-5F96D718F466}"/>
              </a:ext>
            </a:extLst>
          </p:cNvPr>
          <p:cNvSpPr/>
          <p:nvPr/>
        </p:nvSpPr>
        <p:spPr>
          <a:xfrm>
            <a:off x="394952" y="1219540"/>
            <a:ext cx="900448" cy="361309"/>
          </a:xfrm>
          <a:prstGeom prst="rect">
            <a:avLst/>
          </a:prstGeom>
          <a:no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 name="Rectangle 1">
            <a:extLst>
              <a:ext uri="{FF2B5EF4-FFF2-40B4-BE49-F238E27FC236}">
                <a16:creationId xmlns:a16="http://schemas.microsoft.com/office/drawing/2014/main" id="{489D5303-A77E-A23C-503D-2A19D6A89DFD}"/>
              </a:ext>
            </a:extLst>
          </p:cNvPr>
          <p:cNvSpPr/>
          <p:nvPr/>
        </p:nvSpPr>
        <p:spPr>
          <a:xfrm>
            <a:off x="828961" y="782546"/>
            <a:ext cx="11130975" cy="323141"/>
          </a:xfrm>
          <a:prstGeom prst="rect">
            <a:avLst/>
          </a:prstGeom>
          <a:solidFill>
            <a:schemeClr val="tx2">
              <a:lumMod val="20000"/>
              <a:lumOff val="8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15888">
              <a:buFont typeface="Wingdings" panose="05000000000000000000" pitchFamily="2" charset="2"/>
              <a:buChar char="ü"/>
            </a:pPr>
            <a:r>
              <a:rPr lang="en-US" sz="1100" dirty="0">
                <a:solidFill>
                  <a:schemeClr val="tx1"/>
                </a:solidFill>
              </a:rPr>
              <a:t>Quick view to understand the query performance metrics that shows query execution time and usage cost.</a:t>
            </a:r>
          </a:p>
        </p:txBody>
      </p:sp>
      <p:grpSp>
        <p:nvGrpSpPr>
          <p:cNvPr id="3" name="Graphic 4">
            <a:extLst>
              <a:ext uri="{FF2B5EF4-FFF2-40B4-BE49-F238E27FC236}">
                <a16:creationId xmlns:a16="http://schemas.microsoft.com/office/drawing/2014/main" id="{30AFE33E-03A4-751F-6670-BBFF2F7CE6B3}"/>
              </a:ext>
            </a:extLst>
          </p:cNvPr>
          <p:cNvGrpSpPr>
            <a:grpSpLocks noChangeAspect="1"/>
          </p:cNvGrpSpPr>
          <p:nvPr/>
        </p:nvGrpSpPr>
        <p:grpSpPr>
          <a:xfrm>
            <a:off x="427888" y="696089"/>
            <a:ext cx="496522" cy="496054"/>
            <a:chOff x="1952125" y="1402723"/>
            <a:chExt cx="362313" cy="361971"/>
          </a:xfrm>
          <a:solidFill>
            <a:schemeClr val="tx2">
              <a:lumMod val="60000"/>
              <a:lumOff val="40000"/>
            </a:schemeClr>
          </a:solidFill>
        </p:grpSpPr>
        <p:sp>
          <p:nvSpPr>
            <p:cNvPr id="5" name="Graphic 4">
              <a:extLst>
                <a:ext uri="{FF2B5EF4-FFF2-40B4-BE49-F238E27FC236}">
                  <a16:creationId xmlns:a16="http://schemas.microsoft.com/office/drawing/2014/main" id="{9196265E-8901-6641-6D11-1317FD2254B0}"/>
                </a:ext>
              </a:extLst>
            </p:cNvPr>
            <p:cNvSpPr/>
            <p:nvPr/>
          </p:nvSpPr>
          <p:spPr>
            <a:xfrm>
              <a:off x="2069061" y="1471670"/>
              <a:ext cx="126174" cy="158322"/>
            </a:xfrm>
            <a:custGeom>
              <a:avLst/>
              <a:gdLst>
                <a:gd name="connsiteX0" fmla="*/ 50481 w 126174"/>
                <a:gd name="connsiteY0" fmla="*/ 53626 h 158322"/>
                <a:gd name="connsiteX1" fmla="*/ 40896 w 126174"/>
                <a:gd name="connsiteY1" fmla="*/ 72139 h 158322"/>
                <a:gd name="connsiteX2" fmla="*/ 35145 w 126174"/>
                <a:gd name="connsiteY2" fmla="*/ 75969 h 158322"/>
                <a:gd name="connsiteX3" fmla="*/ 0 w 126174"/>
                <a:gd name="connsiteY3" fmla="*/ 105974 h 158322"/>
                <a:gd name="connsiteX4" fmla="*/ 32589 w 126174"/>
                <a:gd name="connsiteY4" fmla="*/ 121296 h 158322"/>
                <a:gd name="connsiteX5" fmla="*/ 36423 w 126174"/>
                <a:gd name="connsiteY5" fmla="*/ 128318 h 158322"/>
                <a:gd name="connsiteX6" fmla="*/ 46008 w 126174"/>
                <a:gd name="connsiteY6" fmla="*/ 151939 h 158322"/>
                <a:gd name="connsiteX7" fmla="*/ 68372 w 126174"/>
                <a:gd name="connsiteY7" fmla="*/ 144916 h 158322"/>
                <a:gd name="connsiteX8" fmla="*/ 73484 w 126174"/>
                <a:gd name="connsiteY8" fmla="*/ 142363 h 158322"/>
                <a:gd name="connsiteX9" fmla="*/ 76040 w 126174"/>
                <a:gd name="connsiteY9" fmla="*/ 143001 h 158322"/>
                <a:gd name="connsiteX10" fmla="*/ 108629 w 126174"/>
                <a:gd name="connsiteY10" fmla="*/ 158323 h 158322"/>
                <a:gd name="connsiteX11" fmla="*/ 111824 w 126174"/>
                <a:gd name="connsiteY11" fmla="*/ 110443 h 158322"/>
                <a:gd name="connsiteX12" fmla="*/ 111824 w 126174"/>
                <a:gd name="connsiteY12" fmla="*/ 104697 h 158322"/>
                <a:gd name="connsiteX13" fmla="*/ 118214 w 126174"/>
                <a:gd name="connsiteY13" fmla="*/ 0 h 158322"/>
                <a:gd name="connsiteX14" fmla="*/ 53676 w 126174"/>
                <a:gd name="connsiteY14" fmla="*/ 49795 h 158322"/>
                <a:gd name="connsiteX15" fmla="*/ 50481 w 126174"/>
                <a:gd name="connsiteY15" fmla="*/ 53626 h 158322"/>
                <a:gd name="connsiteX16" fmla="*/ 99683 w 126174"/>
                <a:gd name="connsiteY16" fmla="*/ 91929 h 158322"/>
                <a:gd name="connsiteX17" fmla="*/ 72206 w 126174"/>
                <a:gd name="connsiteY17" fmla="*/ 119381 h 158322"/>
                <a:gd name="connsiteX18" fmla="*/ 44730 w 126174"/>
                <a:gd name="connsiteY18" fmla="*/ 91929 h 158322"/>
                <a:gd name="connsiteX19" fmla="*/ 72206 w 126174"/>
                <a:gd name="connsiteY19" fmla="*/ 64478 h 158322"/>
                <a:gd name="connsiteX20" fmla="*/ 99683 w 126174"/>
                <a:gd name="connsiteY20" fmla="*/ 91929 h 158322"/>
                <a:gd name="connsiteX21" fmla="*/ 99683 w 126174"/>
                <a:gd name="connsiteY21" fmla="*/ 91929 h 158322"/>
                <a:gd name="connsiteX22" fmla="*/ 99683 w 126174"/>
                <a:gd name="connsiteY22" fmla="*/ 91929 h 158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6174" h="158322">
                  <a:moveTo>
                    <a:pt x="50481" y="53626"/>
                  </a:moveTo>
                  <a:cubicBezTo>
                    <a:pt x="46647" y="59371"/>
                    <a:pt x="44091" y="65755"/>
                    <a:pt x="40896" y="72139"/>
                  </a:cubicBezTo>
                  <a:cubicBezTo>
                    <a:pt x="39618" y="74693"/>
                    <a:pt x="37701" y="75969"/>
                    <a:pt x="35145" y="75969"/>
                  </a:cubicBezTo>
                  <a:cubicBezTo>
                    <a:pt x="17892" y="76608"/>
                    <a:pt x="3195" y="88737"/>
                    <a:pt x="0" y="105974"/>
                  </a:cubicBezTo>
                  <a:lnTo>
                    <a:pt x="32589" y="121296"/>
                  </a:lnTo>
                  <a:cubicBezTo>
                    <a:pt x="35145" y="122573"/>
                    <a:pt x="36423" y="125126"/>
                    <a:pt x="36423" y="128318"/>
                  </a:cubicBezTo>
                  <a:cubicBezTo>
                    <a:pt x="36423" y="128318"/>
                    <a:pt x="33867" y="146832"/>
                    <a:pt x="46008" y="151939"/>
                  </a:cubicBezTo>
                  <a:cubicBezTo>
                    <a:pt x="58148" y="157046"/>
                    <a:pt x="68372" y="145555"/>
                    <a:pt x="68372" y="144916"/>
                  </a:cubicBezTo>
                  <a:cubicBezTo>
                    <a:pt x="69650" y="143640"/>
                    <a:pt x="71567" y="142363"/>
                    <a:pt x="73484" y="142363"/>
                  </a:cubicBezTo>
                  <a:cubicBezTo>
                    <a:pt x="74123" y="142363"/>
                    <a:pt x="75401" y="142363"/>
                    <a:pt x="76040" y="143001"/>
                  </a:cubicBezTo>
                  <a:lnTo>
                    <a:pt x="108629" y="158323"/>
                  </a:lnTo>
                  <a:cubicBezTo>
                    <a:pt x="117575" y="143640"/>
                    <a:pt x="118853" y="125765"/>
                    <a:pt x="111824" y="110443"/>
                  </a:cubicBezTo>
                  <a:cubicBezTo>
                    <a:pt x="111185" y="108528"/>
                    <a:pt x="111185" y="106613"/>
                    <a:pt x="111824" y="104697"/>
                  </a:cubicBezTo>
                  <a:cubicBezTo>
                    <a:pt x="111824" y="104059"/>
                    <a:pt x="139301" y="49795"/>
                    <a:pt x="118214" y="0"/>
                  </a:cubicBezTo>
                  <a:cubicBezTo>
                    <a:pt x="106712" y="2554"/>
                    <a:pt x="77318" y="12130"/>
                    <a:pt x="53676" y="49795"/>
                  </a:cubicBezTo>
                  <a:cubicBezTo>
                    <a:pt x="52398" y="51710"/>
                    <a:pt x="51759" y="52987"/>
                    <a:pt x="50481" y="53626"/>
                  </a:cubicBezTo>
                  <a:close/>
                  <a:moveTo>
                    <a:pt x="99683" y="91929"/>
                  </a:moveTo>
                  <a:cubicBezTo>
                    <a:pt x="99683" y="107251"/>
                    <a:pt x="87542" y="119381"/>
                    <a:pt x="72206" y="119381"/>
                  </a:cubicBezTo>
                  <a:cubicBezTo>
                    <a:pt x="56871" y="119381"/>
                    <a:pt x="44730" y="107251"/>
                    <a:pt x="44730" y="91929"/>
                  </a:cubicBezTo>
                  <a:cubicBezTo>
                    <a:pt x="44730" y="76608"/>
                    <a:pt x="56871" y="64478"/>
                    <a:pt x="72206" y="64478"/>
                  </a:cubicBezTo>
                  <a:cubicBezTo>
                    <a:pt x="87542" y="65117"/>
                    <a:pt x="99683" y="77246"/>
                    <a:pt x="99683" y="91929"/>
                  </a:cubicBezTo>
                  <a:cubicBezTo>
                    <a:pt x="99683" y="92568"/>
                    <a:pt x="99683" y="92568"/>
                    <a:pt x="99683" y="91929"/>
                  </a:cubicBezTo>
                  <a:lnTo>
                    <a:pt x="99683" y="91929"/>
                  </a:lnTo>
                  <a:close/>
                </a:path>
              </a:pathLst>
            </a:custGeom>
            <a:grpFill/>
            <a:ln w="6390" cap="flat">
              <a:noFill/>
              <a:prstDash val="solid"/>
              <a:miter/>
            </a:ln>
          </p:spPr>
          <p:txBody>
            <a:bodyPr rtlCol="0" anchor="ctr"/>
            <a:lstStyle/>
            <a:p>
              <a:endParaRPr lang="en-US"/>
            </a:p>
          </p:txBody>
        </p:sp>
        <p:sp>
          <p:nvSpPr>
            <p:cNvPr id="7" name="Graphic 4">
              <a:extLst>
                <a:ext uri="{FF2B5EF4-FFF2-40B4-BE49-F238E27FC236}">
                  <a16:creationId xmlns:a16="http://schemas.microsoft.com/office/drawing/2014/main" id="{84243777-A6B2-F49F-006B-5A3BA3D87D66}"/>
                </a:ext>
              </a:extLst>
            </p:cNvPr>
            <p:cNvSpPr/>
            <p:nvPr/>
          </p:nvSpPr>
          <p:spPr>
            <a:xfrm>
              <a:off x="2043501" y="1527211"/>
              <a:ext cx="180835" cy="126402"/>
            </a:xfrm>
            <a:custGeom>
              <a:avLst/>
              <a:gdLst>
                <a:gd name="connsiteX0" fmla="*/ 180835 w 180835"/>
                <a:gd name="connsiteY0" fmla="*/ 5746 h 126402"/>
                <a:gd name="connsiteX1" fmla="*/ 175084 w 180835"/>
                <a:gd name="connsiteY1" fmla="*/ 0 h 126402"/>
                <a:gd name="connsiteX2" fmla="*/ 175084 w 180835"/>
                <a:gd name="connsiteY2" fmla="*/ 0 h 126402"/>
                <a:gd name="connsiteX3" fmla="*/ 163582 w 180835"/>
                <a:gd name="connsiteY3" fmla="*/ 0 h 126402"/>
                <a:gd name="connsiteX4" fmla="*/ 149525 w 180835"/>
                <a:gd name="connsiteY4" fmla="*/ 52987 h 126402"/>
                <a:gd name="connsiteX5" fmla="*/ 140579 w 180835"/>
                <a:gd name="connsiteY5" fmla="*/ 115550 h 126402"/>
                <a:gd name="connsiteX6" fmla="*/ 135467 w 180835"/>
                <a:gd name="connsiteY6" fmla="*/ 118104 h 126402"/>
                <a:gd name="connsiteX7" fmla="*/ 132911 w 180835"/>
                <a:gd name="connsiteY7" fmla="*/ 117465 h 126402"/>
                <a:gd name="connsiteX8" fmla="*/ 99044 w 180835"/>
                <a:gd name="connsiteY8" fmla="*/ 101505 h 126402"/>
                <a:gd name="connsiteX9" fmla="*/ 65177 w 180835"/>
                <a:gd name="connsiteY9" fmla="*/ 108528 h 126402"/>
                <a:gd name="connsiteX10" fmla="*/ 47925 w 180835"/>
                <a:gd name="connsiteY10" fmla="*/ 75969 h 126402"/>
                <a:gd name="connsiteX11" fmla="*/ 14697 w 180835"/>
                <a:gd name="connsiteY11" fmla="*/ 60009 h 126402"/>
                <a:gd name="connsiteX12" fmla="*/ 11502 w 180835"/>
                <a:gd name="connsiteY12" fmla="*/ 52987 h 126402"/>
                <a:gd name="connsiteX13" fmla="*/ 56232 w 180835"/>
                <a:gd name="connsiteY13" fmla="*/ 8299 h 126402"/>
                <a:gd name="connsiteX14" fmla="*/ 60066 w 180835"/>
                <a:gd name="connsiteY14" fmla="*/ 0 h 126402"/>
                <a:gd name="connsiteX15" fmla="*/ 5751 w 180835"/>
                <a:gd name="connsiteY15" fmla="*/ 0 h 126402"/>
                <a:gd name="connsiteX16" fmla="*/ 0 w 180835"/>
                <a:gd name="connsiteY16" fmla="*/ 5746 h 126402"/>
                <a:gd name="connsiteX17" fmla="*/ 0 w 180835"/>
                <a:gd name="connsiteY17" fmla="*/ 5746 h 126402"/>
                <a:gd name="connsiteX18" fmla="*/ 0 w 180835"/>
                <a:gd name="connsiteY18" fmla="*/ 126403 h 126402"/>
                <a:gd name="connsiteX19" fmla="*/ 180835 w 180835"/>
                <a:gd name="connsiteY19" fmla="*/ 126403 h 126402"/>
                <a:gd name="connsiteX20" fmla="*/ 180835 w 180835"/>
                <a:gd name="connsiteY20" fmla="*/ 5746 h 12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80835" h="126402">
                  <a:moveTo>
                    <a:pt x="180835" y="5746"/>
                  </a:moveTo>
                  <a:cubicBezTo>
                    <a:pt x="180835" y="2554"/>
                    <a:pt x="178279" y="0"/>
                    <a:pt x="175084" y="0"/>
                  </a:cubicBezTo>
                  <a:lnTo>
                    <a:pt x="175084" y="0"/>
                  </a:lnTo>
                  <a:lnTo>
                    <a:pt x="163582" y="0"/>
                  </a:lnTo>
                  <a:cubicBezTo>
                    <a:pt x="161666" y="18514"/>
                    <a:pt x="157192" y="36389"/>
                    <a:pt x="149525" y="52987"/>
                  </a:cubicBezTo>
                  <a:cubicBezTo>
                    <a:pt x="157832" y="74054"/>
                    <a:pt x="154637" y="97675"/>
                    <a:pt x="140579" y="115550"/>
                  </a:cubicBezTo>
                  <a:cubicBezTo>
                    <a:pt x="139301" y="116827"/>
                    <a:pt x="137384" y="118104"/>
                    <a:pt x="135467" y="118104"/>
                  </a:cubicBezTo>
                  <a:cubicBezTo>
                    <a:pt x="134828" y="118104"/>
                    <a:pt x="133550" y="118104"/>
                    <a:pt x="132911" y="117465"/>
                  </a:cubicBezTo>
                  <a:lnTo>
                    <a:pt x="99044" y="101505"/>
                  </a:lnTo>
                  <a:cubicBezTo>
                    <a:pt x="90098" y="110443"/>
                    <a:pt x="76679" y="112996"/>
                    <a:pt x="65177" y="108528"/>
                  </a:cubicBezTo>
                  <a:cubicBezTo>
                    <a:pt x="49203" y="100867"/>
                    <a:pt x="47286" y="84269"/>
                    <a:pt x="47925" y="75969"/>
                  </a:cubicBezTo>
                  <a:lnTo>
                    <a:pt x="14697" y="60009"/>
                  </a:lnTo>
                  <a:cubicBezTo>
                    <a:pt x="12141" y="58733"/>
                    <a:pt x="10863" y="56179"/>
                    <a:pt x="11502" y="52987"/>
                  </a:cubicBezTo>
                  <a:cubicBezTo>
                    <a:pt x="17892" y="20429"/>
                    <a:pt x="41535" y="9576"/>
                    <a:pt x="56232" y="8299"/>
                  </a:cubicBezTo>
                  <a:cubicBezTo>
                    <a:pt x="57509" y="5746"/>
                    <a:pt x="58788" y="2554"/>
                    <a:pt x="60066" y="0"/>
                  </a:cubicBezTo>
                  <a:lnTo>
                    <a:pt x="5751" y="0"/>
                  </a:lnTo>
                  <a:cubicBezTo>
                    <a:pt x="2556" y="0"/>
                    <a:pt x="0" y="2554"/>
                    <a:pt x="0" y="5746"/>
                  </a:cubicBezTo>
                  <a:lnTo>
                    <a:pt x="0" y="5746"/>
                  </a:lnTo>
                  <a:lnTo>
                    <a:pt x="0" y="126403"/>
                  </a:lnTo>
                  <a:lnTo>
                    <a:pt x="180835" y="126403"/>
                  </a:lnTo>
                  <a:lnTo>
                    <a:pt x="180835" y="5746"/>
                  </a:lnTo>
                  <a:close/>
                </a:path>
              </a:pathLst>
            </a:custGeom>
            <a:grpFill/>
            <a:ln w="6390" cap="flat">
              <a:noFill/>
              <a:prstDash val="solid"/>
              <a:miter/>
            </a:ln>
          </p:spPr>
          <p:txBody>
            <a:bodyPr rtlCol="0" anchor="ctr"/>
            <a:lstStyle/>
            <a:p>
              <a:endParaRPr lang="en-US"/>
            </a:p>
          </p:txBody>
        </p:sp>
        <p:sp>
          <p:nvSpPr>
            <p:cNvPr id="8" name="Graphic 4">
              <a:extLst>
                <a:ext uri="{FF2B5EF4-FFF2-40B4-BE49-F238E27FC236}">
                  <a16:creationId xmlns:a16="http://schemas.microsoft.com/office/drawing/2014/main" id="{28044671-CC61-D5FF-9D25-3C08FDAB61CD}"/>
                </a:ext>
              </a:extLst>
            </p:cNvPr>
            <p:cNvSpPr/>
            <p:nvPr/>
          </p:nvSpPr>
          <p:spPr>
            <a:xfrm>
              <a:off x="2126570" y="1549555"/>
              <a:ext cx="29393" cy="29366"/>
            </a:xfrm>
            <a:custGeom>
              <a:avLst/>
              <a:gdLst>
                <a:gd name="connsiteX0" fmla="*/ 14697 w 29393"/>
                <a:gd name="connsiteY0" fmla="*/ 29366 h 29366"/>
                <a:gd name="connsiteX1" fmla="*/ 29394 w 29393"/>
                <a:gd name="connsiteY1" fmla="*/ 14683 h 29366"/>
                <a:gd name="connsiteX2" fmla="*/ 14697 w 29393"/>
                <a:gd name="connsiteY2" fmla="*/ 0 h 29366"/>
                <a:gd name="connsiteX3" fmla="*/ 0 w 29393"/>
                <a:gd name="connsiteY3" fmla="*/ 14683 h 29366"/>
                <a:gd name="connsiteX4" fmla="*/ 14697 w 29393"/>
                <a:gd name="connsiteY4" fmla="*/ 29366 h 29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93" h="29366">
                  <a:moveTo>
                    <a:pt x="14697" y="29366"/>
                  </a:moveTo>
                  <a:cubicBezTo>
                    <a:pt x="23004" y="29366"/>
                    <a:pt x="29394" y="22982"/>
                    <a:pt x="29394" y="14683"/>
                  </a:cubicBezTo>
                  <a:cubicBezTo>
                    <a:pt x="29394" y="6384"/>
                    <a:pt x="23004" y="0"/>
                    <a:pt x="14697" y="0"/>
                  </a:cubicBezTo>
                  <a:cubicBezTo>
                    <a:pt x="6390" y="0"/>
                    <a:pt x="0" y="6384"/>
                    <a:pt x="0" y="14683"/>
                  </a:cubicBezTo>
                  <a:cubicBezTo>
                    <a:pt x="0" y="22982"/>
                    <a:pt x="6390" y="29366"/>
                    <a:pt x="14697" y="29366"/>
                  </a:cubicBezTo>
                  <a:close/>
                </a:path>
              </a:pathLst>
            </a:custGeom>
            <a:grpFill/>
            <a:ln w="6390" cap="flat">
              <a:noFill/>
              <a:prstDash val="solid"/>
              <a:miter/>
            </a:ln>
          </p:spPr>
          <p:txBody>
            <a:bodyPr rtlCol="0" anchor="ctr"/>
            <a:lstStyle/>
            <a:p>
              <a:endParaRPr lang="en-US"/>
            </a:p>
          </p:txBody>
        </p:sp>
        <p:sp>
          <p:nvSpPr>
            <p:cNvPr id="9" name="Graphic 4">
              <a:extLst>
                <a:ext uri="{FF2B5EF4-FFF2-40B4-BE49-F238E27FC236}">
                  <a16:creationId xmlns:a16="http://schemas.microsoft.com/office/drawing/2014/main" id="{A2879FB1-4694-D139-4FCB-437037744378}"/>
                </a:ext>
              </a:extLst>
            </p:cNvPr>
            <p:cNvSpPr/>
            <p:nvPr/>
          </p:nvSpPr>
          <p:spPr>
            <a:xfrm>
              <a:off x="2033278" y="1666381"/>
              <a:ext cx="201283" cy="3191"/>
            </a:xfrm>
            <a:custGeom>
              <a:avLst/>
              <a:gdLst>
                <a:gd name="connsiteX0" fmla="*/ 3834 w 201283"/>
                <a:gd name="connsiteY0" fmla="*/ 0 h 3191"/>
                <a:gd name="connsiteX1" fmla="*/ 0 w 201283"/>
                <a:gd name="connsiteY1" fmla="*/ 0 h 3191"/>
                <a:gd name="connsiteX2" fmla="*/ 7029 w 201283"/>
                <a:gd name="connsiteY2" fmla="*/ 3192 h 3191"/>
                <a:gd name="connsiteX3" fmla="*/ 194254 w 201283"/>
                <a:gd name="connsiteY3" fmla="*/ 3192 h 3191"/>
                <a:gd name="connsiteX4" fmla="*/ 201283 w 201283"/>
                <a:gd name="connsiteY4" fmla="*/ 0 h 3191"/>
                <a:gd name="connsiteX5" fmla="*/ 3834 w 201283"/>
                <a:gd name="connsiteY5" fmla="*/ 0 h 3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1283" h="3191">
                  <a:moveTo>
                    <a:pt x="3834" y="0"/>
                  </a:moveTo>
                  <a:lnTo>
                    <a:pt x="0" y="0"/>
                  </a:lnTo>
                  <a:cubicBezTo>
                    <a:pt x="1917" y="1915"/>
                    <a:pt x="4473" y="3192"/>
                    <a:pt x="7029" y="3192"/>
                  </a:cubicBezTo>
                  <a:lnTo>
                    <a:pt x="194254" y="3192"/>
                  </a:lnTo>
                  <a:cubicBezTo>
                    <a:pt x="196810" y="3192"/>
                    <a:pt x="199366" y="1915"/>
                    <a:pt x="201283" y="0"/>
                  </a:cubicBezTo>
                  <a:lnTo>
                    <a:pt x="3834" y="0"/>
                  </a:lnTo>
                  <a:close/>
                </a:path>
              </a:pathLst>
            </a:custGeom>
            <a:grpFill/>
            <a:ln w="6390" cap="flat">
              <a:noFill/>
              <a:prstDash val="solid"/>
              <a:miter/>
            </a:ln>
          </p:spPr>
          <p:txBody>
            <a:bodyPr rtlCol="0" anchor="ctr"/>
            <a:lstStyle/>
            <a:p>
              <a:endParaRPr lang="en-US"/>
            </a:p>
          </p:txBody>
        </p:sp>
        <p:sp>
          <p:nvSpPr>
            <p:cNvPr id="10" name="Graphic 4">
              <a:extLst>
                <a:ext uri="{FF2B5EF4-FFF2-40B4-BE49-F238E27FC236}">
                  <a16:creationId xmlns:a16="http://schemas.microsoft.com/office/drawing/2014/main" id="{2256E0D9-1666-5B3D-44C5-5DE2F0A94482}"/>
                </a:ext>
              </a:extLst>
            </p:cNvPr>
            <p:cNvSpPr/>
            <p:nvPr/>
          </p:nvSpPr>
          <p:spPr>
            <a:xfrm>
              <a:off x="1952125" y="1402723"/>
              <a:ext cx="362313" cy="361971"/>
            </a:xfrm>
            <a:custGeom>
              <a:avLst/>
              <a:gdLst>
                <a:gd name="connsiteX0" fmla="*/ 181474 w 362313"/>
                <a:gd name="connsiteY0" fmla="*/ 0 h 361971"/>
                <a:gd name="connsiteX1" fmla="*/ 0 w 362313"/>
                <a:gd name="connsiteY1" fmla="*/ 180667 h 361971"/>
                <a:gd name="connsiteX2" fmla="*/ 180835 w 362313"/>
                <a:gd name="connsiteY2" fmla="*/ 361972 h 361971"/>
                <a:gd name="connsiteX3" fmla="*/ 362310 w 362313"/>
                <a:gd name="connsiteY3" fmla="*/ 181305 h 361971"/>
                <a:gd name="connsiteX4" fmla="*/ 362310 w 362313"/>
                <a:gd name="connsiteY4" fmla="*/ 181305 h 361971"/>
                <a:gd name="connsiteX5" fmla="*/ 181474 w 362313"/>
                <a:gd name="connsiteY5" fmla="*/ 0 h 361971"/>
                <a:gd name="connsiteX6" fmla="*/ 275406 w 362313"/>
                <a:gd name="connsiteY6" fmla="*/ 279618 h 361971"/>
                <a:gd name="connsiteX7" fmla="*/ 88181 w 362313"/>
                <a:gd name="connsiteY7" fmla="*/ 279618 h 361971"/>
                <a:gd name="connsiteX8" fmla="*/ 65816 w 362313"/>
                <a:gd name="connsiteY8" fmla="*/ 257274 h 361971"/>
                <a:gd name="connsiteX9" fmla="*/ 72206 w 362313"/>
                <a:gd name="connsiteY9" fmla="*/ 250890 h 361971"/>
                <a:gd name="connsiteX10" fmla="*/ 78596 w 362313"/>
                <a:gd name="connsiteY10" fmla="*/ 250890 h 361971"/>
                <a:gd name="connsiteX11" fmla="*/ 78596 w 362313"/>
                <a:gd name="connsiteY11" fmla="*/ 130233 h 361971"/>
                <a:gd name="connsiteX12" fmla="*/ 97127 w 362313"/>
                <a:gd name="connsiteY12" fmla="*/ 111720 h 361971"/>
                <a:gd name="connsiteX13" fmla="*/ 97127 w 362313"/>
                <a:gd name="connsiteY13" fmla="*/ 111720 h 361971"/>
                <a:gd name="connsiteX14" fmla="*/ 159109 w 362313"/>
                <a:gd name="connsiteY14" fmla="*/ 111720 h 361971"/>
                <a:gd name="connsiteX15" fmla="*/ 237067 w 362313"/>
                <a:gd name="connsiteY15" fmla="*/ 56817 h 361971"/>
                <a:gd name="connsiteX16" fmla="*/ 243457 w 362313"/>
                <a:gd name="connsiteY16" fmla="*/ 60648 h 361971"/>
                <a:gd name="connsiteX17" fmla="*/ 254958 w 362313"/>
                <a:gd name="connsiteY17" fmla="*/ 112358 h 361971"/>
                <a:gd name="connsiteX18" fmla="*/ 265821 w 362313"/>
                <a:gd name="connsiteY18" fmla="*/ 112358 h 361971"/>
                <a:gd name="connsiteX19" fmla="*/ 284352 w 362313"/>
                <a:gd name="connsiteY19" fmla="*/ 130872 h 361971"/>
                <a:gd name="connsiteX20" fmla="*/ 284352 w 362313"/>
                <a:gd name="connsiteY20" fmla="*/ 130872 h 361971"/>
                <a:gd name="connsiteX21" fmla="*/ 284352 w 362313"/>
                <a:gd name="connsiteY21" fmla="*/ 251529 h 361971"/>
                <a:gd name="connsiteX22" fmla="*/ 290742 w 362313"/>
                <a:gd name="connsiteY22" fmla="*/ 251529 h 361971"/>
                <a:gd name="connsiteX23" fmla="*/ 297132 w 362313"/>
                <a:gd name="connsiteY23" fmla="*/ 257913 h 361971"/>
                <a:gd name="connsiteX24" fmla="*/ 275406 w 362313"/>
                <a:gd name="connsiteY24" fmla="*/ 279618 h 361971"/>
                <a:gd name="connsiteX25" fmla="*/ 275406 w 362313"/>
                <a:gd name="connsiteY25" fmla="*/ 279618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62313" h="361971">
                  <a:moveTo>
                    <a:pt x="181474" y="0"/>
                  </a:moveTo>
                  <a:cubicBezTo>
                    <a:pt x="81152" y="0"/>
                    <a:pt x="0" y="81077"/>
                    <a:pt x="0" y="180667"/>
                  </a:cubicBezTo>
                  <a:cubicBezTo>
                    <a:pt x="0" y="280895"/>
                    <a:pt x="81152" y="361972"/>
                    <a:pt x="180835" y="361972"/>
                  </a:cubicBezTo>
                  <a:cubicBezTo>
                    <a:pt x="281157" y="361972"/>
                    <a:pt x="362310" y="280895"/>
                    <a:pt x="362310" y="181305"/>
                  </a:cubicBezTo>
                  <a:cubicBezTo>
                    <a:pt x="362310" y="181305"/>
                    <a:pt x="362310" y="181305"/>
                    <a:pt x="362310" y="181305"/>
                  </a:cubicBezTo>
                  <a:cubicBezTo>
                    <a:pt x="362948" y="80438"/>
                    <a:pt x="281796" y="0"/>
                    <a:pt x="181474" y="0"/>
                  </a:cubicBezTo>
                  <a:close/>
                  <a:moveTo>
                    <a:pt x="275406" y="279618"/>
                  </a:moveTo>
                  <a:lnTo>
                    <a:pt x="88181" y="279618"/>
                  </a:lnTo>
                  <a:cubicBezTo>
                    <a:pt x="76040" y="279618"/>
                    <a:pt x="65816" y="269404"/>
                    <a:pt x="65816" y="257274"/>
                  </a:cubicBezTo>
                  <a:cubicBezTo>
                    <a:pt x="65816" y="253444"/>
                    <a:pt x="68372" y="250890"/>
                    <a:pt x="72206" y="250890"/>
                  </a:cubicBezTo>
                  <a:lnTo>
                    <a:pt x="78596" y="250890"/>
                  </a:lnTo>
                  <a:lnTo>
                    <a:pt x="78596" y="130233"/>
                  </a:lnTo>
                  <a:cubicBezTo>
                    <a:pt x="78596" y="120019"/>
                    <a:pt x="86903" y="111720"/>
                    <a:pt x="97127" y="111720"/>
                  </a:cubicBezTo>
                  <a:lnTo>
                    <a:pt x="97127" y="111720"/>
                  </a:lnTo>
                  <a:lnTo>
                    <a:pt x="159109" y="111720"/>
                  </a:lnTo>
                  <a:cubicBezTo>
                    <a:pt x="191698" y="61286"/>
                    <a:pt x="235150" y="56817"/>
                    <a:pt x="237067" y="56817"/>
                  </a:cubicBezTo>
                  <a:cubicBezTo>
                    <a:pt x="239623" y="56817"/>
                    <a:pt x="242179" y="58094"/>
                    <a:pt x="243457" y="60648"/>
                  </a:cubicBezTo>
                  <a:cubicBezTo>
                    <a:pt x="251124" y="76608"/>
                    <a:pt x="254958" y="94483"/>
                    <a:pt x="254958" y="112358"/>
                  </a:cubicBezTo>
                  <a:lnTo>
                    <a:pt x="265821" y="112358"/>
                  </a:lnTo>
                  <a:cubicBezTo>
                    <a:pt x="276045" y="112358"/>
                    <a:pt x="284352" y="120657"/>
                    <a:pt x="284352" y="130872"/>
                  </a:cubicBezTo>
                  <a:lnTo>
                    <a:pt x="284352" y="130872"/>
                  </a:lnTo>
                  <a:lnTo>
                    <a:pt x="284352" y="251529"/>
                  </a:lnTo>
                  <a:lnTo>
                    <a:pt x="290742" y="251529"/>
                  </a:lnTo>
                  <a:cubicBezTo>
                    <a:pt x="294576" y="251529"/>
                    <a:pt x="297132" y="254082"/>
                    <a:pt x="297132" y="257913"/>
                  </a:cubicBezTo>
                  <a:cubicBezTo>
                    <a:pt x="297771" y="269404"/>
                    <a:pt x="287547" y="278980"/>
                    <a:pt x="275406" y="279618"/>
                  </a:cubicBezTo>
                  <a:lnTo>
                    <a:pt x="275406" y="279618"/>
                  </a:lnTo>
                  <a:close/>
                </a:path>
              </a:pathLst>
            </a:custGeom>
            <a:grpFill/>
            <a:ln w="6390" cap="flat">
              <a:noFill/>
              <a:prstDash val="solid"/>
              <a:miter/>
            </a:ln>
          </p:spPr>
          <p:txBody>
            <a:bodyPr rtlCol="0" anchor="ctr"/>
            <a:lstStyle/>
            <a:p>
              <a:endParaRPr lang="en-US"/>
            </a:p>
          </p:txBody>
        </p:sp>
      </p:grpSp>
      <p:sp>
        <p:nvSpPr>
          <p:cNvPr id="11" name="Callout: Line 10">
            <a:extLst>
              <a:ext uri="{FF2B5EF4-FFF2-40B4-BE49-F238E27FC236}">
                <a16:creationId xmlns:a16="http://schemas.microsoft.com/office/drawing/2014/main" id="{6EDF9CFD-36DD-51F0-F074-26F73946289B}"/>
              </a:ext>
            </a:extLst>
          </p:cNvPr>
          <p:cNvSpPr/>
          <p:nvPr/>
        </p:nvSpPr>
        <p:spPr>
          <a:xfrm>
            <a:off x="10662556" y="2013146"/>
            <a:ext cx="424542" cy="236766"/>
          </a:xfrm>
          <a:prstGeom prst="borderCallout1">
            <a:avLst>
              <a:gd name="adj1" fmla="val 18750"/>
              <a:gd name="adj2" fmla="val -8333"/>
              <a:gd name="adj3" fmla="val 174569"/>
              <a:gd name="adj4" fmla="val -146026"/>
            </a:avLst>
          </a:prstGeom>
          <a:solidFill>
            <a:schemeClr val="bg1"/>
          </a:solidFill>
          <a:ln>
            <a:solidFill>
              <a:schemeClr val="bg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a:t>
            </a:r>
          </a:p>
        </p:txBody>
      </p:sp>
      <p:sp>
        <p:nvSpPr>
          <p:cNvPr id="12" name="Callout: Line 11">
            <a:extLst>
              <a:ext uri="{FF2B5EF4-FFF2-40B4-BE49-F238E27FC236}">
                <a16:creationId xmlns:a16="http://schemas.microsoft.com/office/drawing/2014/main" id="{97D9C53B-AF06-2FAC-8D7A-090AE5D4F980}"/>
              </a:ext>
            </a:extLst>
          </p:cNvPr>
          <p:cNvSpPr/>
          <p:nvPr/>
        </p:nvSpPr>
        <p:spPr>
          <a:xfrm>
            <a:off x="10662556" y="3500424"/>
            <a:ext cx="424542" cy="236766"/>
          </a:xfrm>
          <a:prstGeom prst="borderCallout1">
            <a:avLst>
              <a:gd name="adj1" fmla="val 18750"/>
              <a:gd name="adj2" fmla="val -8333"/>
              <a:gd name="adj3" fmla="val 174569"/>
              <a:gd name="adj4" fmla="val -146026"/>
            </a:avLst>
          </a:prstGeom>
          <a:solidFill>
            <a:schemeClr val="bg1"/>
          </a:solidFill>
          <a:ln>
            <a:solidFill>
              <a:schemeClr val="bg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sp>
        <p:nvSpPr>
          <p:cNvPr id="13" name="Callout: Line 12">
            <a:extLst>
              <a:ext uri="{FF2B5EF4-FFF2-40B4-BE49-F238E27FC236}">
                <a16:creationId xmlns:a16="http://schemas.microsoft.com/office/drawing/2014/main" id="{C65015F7-AD95-F258-249A-2351C39D9674}"/>
              </a:ext>
            </a:extLst>
          </p:cNvPr>
          <p:cNvSpPr/>
          <p:nvPr/>
        </p:nvSpPr>
        <p:spPr>
          <a:xfrm>
            <a:off x="10662556" y="5340240"/>
            <a:ext cx="424542" cy="236766"/>
          </a:xfrm>
          <a:prstGeom prst="borderCallout1">
            <a:avLst>
              <a:gd name="adj1" fmla="val 18750"/>
              <a:gd name="adj2" fmla="val -8333"/>
              <a:gd name="adj3" fmla="val 174569"/>
              <a:gd name="adj4" fmla="val -146026"/>
            </a:avLst>
          </a:prstGeom>
          <a:solidFill>
            <a:schemeClr val="bg1"/>
          </a:solidFill>
          <a:ln>
            <a:solidFill>
              <a:schemeClr val="bg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3</a:t>
            </a:r>
          </a:p>
        </p:txBody>
      </p:sp>
      <p:pic>
        <p:nvPicPr>
          <p:cNvPr id="6" name="Picture 5">
            <a:extLst>
              <a:ext uri="{FF2B5EF4-FFF2-40B4-BE49-F238E27FC236}">
                <a16:creationId xmlns:a16="http://schemas.microsoft.com/office/drawing/2014/main" id="{86FB22A3-17AA-BE4F-B51E-502F205F3981}"/>
              </a:ext>
            </a:extLst>
          </p:cNvPr>
          <p:cNvPicPr>
            <a:picLocks/>
          </p:cNvPicPr>
          <p:nvPr/>
        </p:nvPicPr>
        <p:blipFill>
          <a:blip r:embed="rId3"/>
          <a:stretch>
            <a:fillRect/>
          </a:stretch>
        </p:blipFill>
        <p:spPr>
          <a:xfrm>
            <a:off x="2164800" y="1216800"/>
            <a:ext cx="7862400" cy="5396400"/>
          </a:xfrm>
          <a:prstGeom prst="rect">
            <a:avLst/>
          </a:prstGeom>
          <a:ln>
            <a:solidFill>
              <a:schemeClr val="bg1">
                <a:lumMod val="75000"/>
              </a:schemeClr>
            </a:solidFill>
          </a:ln>
        </p:spPr>
      </p:pic>
    </p:spTree>
    <p:extLst>
      <p:ext uri="{BB962C8B-B14F-4D97-AF65-F5344CB8AC3E}">
        <p14:creationId xmlns:p14="http://schemas.microsoft.com/office/powerpoint/2010/main" val="26788905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5EA4E-6FF4-8816-F217-58875D1A314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21281E1-F8AE-8E6B-721E-15883B7330FF}"/>
              </a:ext>
            </a:extLst>
          </p:cNvPr>
          <p:cNvSpPr txBox="1">
            <a:spLocks/>
          </p:cNvSpPr>
          <p:nvPr/>
        </p:nvSpPr>
        <p:spPr>
          <a:xfrm>
            <a:off x="284550" y="216713"/>
            <a:ext cx="11904087" cy="509780"/>
          </a:xfrm>
          <a:prstGeom prst="rect">
            <a:avLst/>
          </a:prstGeom>
        </p:spPr>
        <p:txBody>
          <a:bodyPr lIns="91440" tIns="45720" rIns="91440" bIns="45720" anchor="t"/>
          <a:lstStyle>
            <a:lvl1pPr algn="l" defTabSz="914400" rtl="0" eaLnBrk="1" latinLnBrk="0" hangingPunct="1">
              <a:lnSpc>
                <a:spcPct val="100000"/>
              </a:lnSpc>
              <a:spcBef>
                <a:spcPct val="0"/>
              </a:spcBef>
              <a:buNone/>
              <a:defRPr sz="3400" b="0" i="0" kern="1200">
                <a:solidFill>
                  <a:srgbClr val="0076CF"/>
                </a:solidFill>
                <a:latin typeface="FS Elliot Pro Light" panose="02000503040000020004" pitchFamily="2" charset="0"/>
                <a:ea typeface="+mj-ea"/>
                <a:cs typeface="+mj-cs"/>
              </a:defRPr>
            </a:lvl1pPr>
          </a:lstStyle>
          <a:p>
            <a:pPr>
              <a:defRPr/>
            </a:pPr>
            <a:r>
              <a:rPr lang="en-US" sz="3200" dirty="0">
                <a:latin typeface="FS Elliot Pro Light"/>
              </a:rPr>
              <a:t>Performance Management – Query Performance Metrics</a:t>
            </a:r>
            <a:endParaRPr lang="en-US" sz="1600" dirty="0">
              <a:ea typeface="+mj-ea"/>
              <a:cs typeface="+mj-cs"/>
            </a:endParaRPr>
          </a:p>
        </p:txBody>
      </p:sp>
      <p:graphicFrame>
        <p:nvGraphicFramePr>
          <p:cNvPr id="6" name="Table 5">
            <a:extLst>
              <a:ext uri="{FF2B5EF4-FFF2-40B4-BE49-F238E27FC236}">
                <a16:creationId xmlns:a16="http://schemas.microsoft.com/office/drawing/2014/main" id="{6E13AD4D-5FA3-B3C9-CF37-777C97B9F902}"/>
              </a:ext>
            </a:extLst>
          </p:cNvPr>
          <p:cNvGraphicFramePr>
            <a:graphicFrameLocks noGrp="1"/>
          </p:cNvGraphicFramePr>
          <p:nvPr>
            <p:extLst>
              <p:ext uri="{D42A27DB-BD31-4B8C-83A1-F6EECF244321}">
                <p14:modId xmlns:p14="http://schemas.microsoft.com/office/powerpoint/2010/main" val="702155526"/>
              </p:ext>
            </p:extLst>
          </p:nvPr>
        </p:nvGraphicFramePr>
        <p:xfrm>
          <a:off x="394855" y="931959"/>
          <a:ext cx="11430000" cy="4914534"/>
        </p:xfrm>
        <a:graphic>
          <a:graphicData uri="http://schemas.openxmlformats.org/drawingml/2006/table">
            <a:tbl>
              <a:tblPr firstRow="1" bandRow="1">
                <a:tableStyleId>{5C22544A-7EE6-4342-B048-85BDC9FD1C3A}</a:tableStyleId>
              </a:tblPr>
              <a:tblGrid>
                <a:gridCol w="449322">
                  <a:extLst>
                    <a:ext uri="{9D8B030D-6E8A-4147-A177-3AD203B41FA5}">
                      <a16:colId xmlns:a16="http://schemas.microsoft.com/office/drawing/2014/main" val="1227872876"/>
                    </a:ext>
                  </a:extLst>
                </a:gridCol>
                <a:gridCol w="1179932">
                  <a:extLst>
                    <a:ext uri="{9D8B030D-6E8A-4147-A177-3AD203B41FA5}">
                      <a16:colId xmlns:a16="http://schemas.microsoft.com/office/drawing/2014/main" val="3573294361"/>
                    </a:ext>
                  </a:extLst>
                </a:gridCol>
                <a:gridCol w="807868">
                  <a:extLst>
                    <a:ext uri="{9D8B030D-6E8A-4147-A177-3AD203B41FA5}">
                      <a16:colId xmlns:a16="http://schemas.microsoft.com/office/drawing/2014/main" val="684506535"/>
                    </a:ext>
                  </a:extLst>
                </a:gridCol>
                <a:gridCol w="1327901">
                  <a:extLst>
                    <a:ext uri="{9D8B030D-6E8A-4147-A177-3AD203B41FA5}">
                      <a16:colId xmlns:a16="http://schemas.microsoft.com/office/drawing/2014/main" val="2881509476"/>
                    </a:ext>
                  </a:extLst>
                </a:gridCol>
                <a:gridCol w="4753303">
                  <a:extLst>
                    <a:ext uri="{9D8B030D-6E8A-4147-A177-3AD203B41FA5}">
                      <a16:colId xmlns:a16="http://schemas.microsoft.com/office/drawing/2014/main" val="3389198070"/>
                    </a:ext>
                  </a:extLst>
                </a:gridCol>
                <a:gridCol w="1651246">
                  <a:extLst>
                    <a:ext uri="{9D8B030D-6E8A-4147-A177-3AD203B41FA5}">
                      <a16:colId xmlns:a16="http://schemas.microsoft.com/office/drawing/2014/main" val="1391104289"/>
                    </a:ext>
                  </a:extLst>
                </a:gridCol>
                <a:gridCol w="1260428">
                  <a:extLst>
                    <a:ext uri="{9D8B030D-6E8A-4147-A177-3AD203B41FA5}">
                      <a16:colId xmlns:a16="http://schemas.microsoft.com/office/drawing/2014/main" val="4206051783"/>
                    </a:ext>
                  </a:extLst>
                </a:gridCol>
              </a:tblGrid>
              <a:tr h="640080">
                <a:tc>
                  <a:txBody>
                    <a:bodyPr/>
                    <a:lstStyle/>
                    <a:p>
                      <a:pPr algn="ctr"/>
                      <a:r>
                        <a:rPr lang="en-US" sz="1100">
                          <a:latin typeface="+mj-lt"/>
                        </a:rPr>
                        <a:t>#</a:t>
                      </a:r>
                    </a:p>
                  </a:txBody>
                  <a:tcPr anchor="ctr">
                    <a:solidFill>
                      <a:srgbClr val="338DCD"/>
                    </a:solidFill>
                  </a:tcPr>
                </a:tc>
                <a:tc>
                  <a:txBody>
                    <a:bodyPr/>
                    <a:lstStyle/>
                    <a:p>
                      <a:pPr algn="ctr"/>
                      <a:r>
                        <a:rPr lang="en-US" sz="1100">
                          <a:latin typeface="+mj-lt"/>
                        </a:rPr>
                        <a:t>Category</a:t>
                      </a:r>
                    </a:p>
                  </a:txBody>
                  <a:tcPr anchor="ctr">
                    <a:solidFill>
                      <a:srgbClr val="338DCD"/>
                    </a:solidFill>
                  </a:tcPr>
                </a:tc>
                <a:tc>
                  <a:txBody>
                    <a:bodyPr/>
                    <a:lstStyle/>
                    <a:p>
                      <a:pPr algn="ctr"/>
                      <a:r>
                        <a:rPr lang="en-US" sz="1100">
                          <a:latin typeface="+mj-lt"/>
                        </a:rPr>
                        <a:t>Category Priority</a:t>
                      </a:r>
                    </a:p>
                  </a:txBody>
                  <a:tcPr anchor="ctr">
                    <a:solidFill>
                      <a:srgbClr val="338DCD"/>
                    </a:solidFill>
                  </a:tcPr>
                </a:tc>
                <a:tc>
                  <a:txBody>
                    <a:bodyPr/>
                    <a:lstStyle/>
                    <a:p>
                      <a:pPr algn="ctr"/>
                      <a:r>
                        <a:rPr lang="en-US" sz="1100">
                          <a:latin typeface="+mj-lt"/>
                        </a:rPr>
                        <a:t>Chart type</a:t>
                      </a:r>
                    </a:p>
                  </a:txBody>
                  <a:tcPr anchor="ctr">
                    <a:solidFill>
                      <a:srgbClr val="338DCD"/>
                    </a:solidFill>
                  </a:tcPr>
                </a:tc>
                <a:tc>
                  <a:txBody>
                    <a:bodyPr/>
                    <a:lstStyle/>
                    <a:p>
                      <a:pPr algn="ctr"/>
                      <a:r>
                        <a:rPr lang="en-US" sz="1100">
                          <a:latin typeface="+mj-lt"/>
                        </a:rPr>
                        <a:t>Description</a:t>
                      </a:r>
                    </a:p>
                  </a:txBody>
                  <a:tcPr anchor="ctr">
                    <a:solidFill>
                      <a:srgbClr val="338DCD"/>
                    </a:solidFill>
                  </a:tcPr>
                </a:tc>
                <a:tc>
                  <a:txBody>
                    <a:bodyPr/>
                    <a:lstStyle/>
                    <a:p>
                      <a:pPr algn="ctr"/>
                      <a:r>
                        <a:rPr lang="en-US" sz="1100">
                          <a:latin typeface="+mj-lt"/>
                        </a:rPr>
                        <a:t>Assessment: </a:t>
                      </a:r>
                      <a:br>
                        <a:rPr lang="en-US" sz="1100">
                          <a:latin typeface="+mj-lt"/>
                        </a:rPr>
                      </a:br>
                      <a:r>
                        <a:rPr lang="en-US" sz="1100">
                          <a:latin typeface="+mj-lt"/>
                        </a:rPr>
                        <a:t>Required, Aspirational</a:t>
                      </a:r>
                    </a:p>
                  </a:txBody>
                  <a:tcPr anchor="ctr">
                    <a:solidFill>
                      <a:srgbClr val="338DCD"/>
                    </a:solidFill>
                  </a:tcPr>
                </a:tc>
                <a:tc>
                  <a:txBody>
                    <a:bodyPr/>
                    <a:lstStyle/>
                    <a:p>
                      <a:pPr algn="ctr"/>
                      <a:r>
                        <a:rPr lang="en-US" sz="1100">
                          <a:latin typeface="+mj-lt"/>
                        </a:rPr>
                        <a:t>Implementation Priority</a:t>
                      </a:r>
                    </a:p>
                  </a:txBody>
                  <a:tcPr anchor="ctr">
                    <a:solidFill>
                      <a:srgbClr val="338DCD"/>
                    </a:solidFill>
                  </a:tcPr>
                </a:tc>
                <a:extLst>
                  <a:ext uri="{0D108BD9-81ED-4DB2-BD59-A6C34878D82A}">
                    <a16:rowId xmlns:a16="http://schemas.microsoft.com/office/drawing/2014/main" val="3024339621"/>
                  </a:ext>
                </a:extLst>
              </a:tr>
              <a:tr h="142481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latin typeface="+mn-lt"/>
                        </a:rPr>
                        <a:t>1</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i="0" u="none" strike="noStrike" noProof="0" dirty="0">
                          <a:solidFill>
                            <a:srgbClr val="404040"/>
                          </a:solidFill>
                          <a:latin typeface="+mn-lt"/>
                        </a:rPr>
                        <a:t>Query Performance Management</a:t>
                      </a:r>
                    </a:p>
                  </a:txBody>
                  <a:tcPr anchor="ctr">
                    <a:solidFill>
                      <a:schemeClr val="bg1">
                        <a:lumMod val="95000"/>
                      </a:schemeClr>
                    </a:solidFill>
                  </a:tcPr>
                </a:tc>
                <a:tc>
                  <a:txBody>
                    <a:bodyPr/>
                    <a:lstStyle/>
                    <a:p>
                      <a:pPr marL="0" algn="ctr" rtl="0" eaLnBrk="1" latinLnBrk="0" hangingPunct="1"/>
                      <a:r>
                        <a:rPr lang="en-US" sz="1000" b="0" i="0" u="none" strike="noStrike" kern="1200" noProof="0" dirty="0">
                          <a:solidFill>
                            <a:srgbClr val="000000"/>
                          </a:solidFill>
                          <a:latin typeface="+mn-lt"/>
                        </a:rPr>
                        <a:t>4</a:t>
                      </a:r>
                    </a:p>
                  </a:txBody>
                  <a:tcPr anchor="ctr">
                    <a:solidFill>
                      <a:schemeClr val="bg1">
                        <a:lumMod val="95000"/>
                      </a:schemeClr>
                    </a:solidFill>
                  </a:tcPr>
                </a:tc>
                <a:tc>
                  <a:txBody>
                    <a:bodyPr/>
                    <a:lstStyle/>
                    <a:p>
                      <a:pPr marL="0" algn="ctr" rtl="0" eaLnBrk="1" latinLnBrk="0" hangingPunct="1"/>
                      <a:r>
                        <a:rPr lang="en-US" sz="1000" b="0" i="0" u="none" strike="noStrike" kern="1200" noProof="0" dirty="0">
                          <a:solidFill>
                            <a:srgbClr val="000000"/>
                          </a:solidFill>
                          <a:latin typeface="+mn-lt"/>
                        </a:rPr>
                        <a:t>Card Visuals</a:t>
                      </a:r>
                    </a:p>
                  </a:txBody>
                  <a:tcPr anchor="ctr">
                    <a:solidFill>
                      <a:schemeClr val="bg1">
                        <a:lumMod val="95000"/>
                      </a:schemeClr>
                    </a:solidFill>
                  </a:tcPr>
                </a:tc>
                <a:tc>
                  <a:txBody>
                    <a:bodyPr/>
                    <a:lstStyle/>
                    <a:p>
                      <a:pPr marL="0" algn="ctr" rtl="0" eaLnBrk="1" latinLnBrk="0" hangingPunct="1"/>
                      <a:r>
                        <a:rPr lang="en-US" sz="1000"/>
                        <a:t>This shows total query execution time, queries executed, and storage consumed for this quarter along with YoY values .</a:t>
                      </a:r>
                      <a:endParaRPr lang="en-US" sz="1000" kern="1200">
                        <a:solidFill>
                          <a:schemeClr val="dk1"/>
                        </a:solidFill>
                        <a:latin typeface="+mn-lt"/>
                        <a:ea typeface="+mn-ea"/>
                        <a:cs typeface="+mn-cs"/>
                      </a:endParaRP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Required</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2012711696"/>
                  </a:ext>
                </a:extLst>
              </a:tr>
              <a:tr h="142481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a:latin typeface="+mn-lt"/>
                        </a:rPr>
                        <a:t>2 </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404040"/>
                          </a:solidFill>
                          <a:effectLst/>
                          <a:uLnTx/>
                          <a:uFillTx/>
                          <a:latin typeface="FS Elliot Pro Light"/>
                          <a:ea typeface="+mn-ea"/>
                          <a:cs typeface="+mn-cs"/>
                        </a:rPr>
                        <a:t>Query Performance Management</a:t>
                      </a:r>
                    </a:p>
                  </a:txBody>
                  <a:tcPr anchor="ctr">
                    <a:solidFill>
                      <a:schemeClr val="bg1">
                        <a:lumMod val="95000"/>
                      </a:schemeClr>
                    </a:solidFill>
                  </a:tcPr>
                </a:tc>
                <a:tc>
                  <a:txBody>
                    <a:bodyPr/>
                    <a:lstStyle/>
                    <a:p>
                      <a:pPr marL="0" algn="ctr" rtl="0" eaLnBrk="1" latinLnBrk="0" hangingPunct="1"/>
                      <a:r>
                        <a:rPr lang="en-US" sz="1000" b="0" i="0" u="none" strike="noStrike" kern="1200" noProof="0">
                          <a:solidFill>
                            <a:srgbClr val="000000"/>
                          </a:solidFill>
                          <a:latin typeface="+mn-lt"/>
                        </a:rPr>
                        <a:t>4</a:t>
                      </a:r>
                    </a:p>
                  </a:txBody>
                  <a:tcPr anchor="ctr">
                    <a:solidFill>
                      <a:schemeClr val="bg1">
                        <a:lumMod val="95000"/>
                      </a:schemeClr>
                    </a:solidFill>
                  </a:tcPr>
                </a:tc>
                <a:tc>
                  <a:txBody>
                    <a:bodyPr/>
                    <a:lstStyle/>
                    <a:p>
                      <a:pPr marL="0" algn="ctr" rtl="0" eaLnBrk="1" latinLnBrk="0" hangingPunct="1"/>
                      <a:r>
                        <a:rPr lang="en-IN" sz="1000"/>
                        <a:t>Clustered Column Chart</a:t>
                      </a:r>
                      <a:endParaRPr lang="en-US" sz="1000" b="0" i="0" u="none" strike="noStrike" kern="1200" noProof="0">
                        <a:solidFill>
                          <a:srgbClr val="000000"/>
                        </a:solidFill>
                        <a:latin typeface="+mn-lt"/>
                      </a:endParaRPr>
                    </a:p>
                  </a:txBody>
                  <a:tcPr anchor="ctr">
                    <a:solidFill>
                      <a:schemeClr val="bg1">
                        <a:lumMod val="95000"/>
                      </a:schemeClr>
                    </a:solidFill>
                  </a:tcPr>
                </a:tc>
                <a:tc>
                  <a:txBody>
                    <a:bodyPr/>
                    <a:lstStyle/>
                    <a:p>
                      <a:pPr marL="0" algn="ctr" rtl="0" eaLnBrk="1" latinLnBrk="0" hangingPunct="1"/>
                      <a:r>
                        <a:rPr lang="en-US" sz="1000" dirty="0"/>
                        <a:t>This visual shows the count of different types of queries by execution time.</a:t>
                      </a:r>
                      <a:endParaRPr lang="en-US" sz="1000" kern="1200" dirty="0">
                        <a:solidFill>
                          <a:schemeClr val="dk1"/>
                        </a:solidFill>
                        <a:latin typeface="+mn-lt"/>
                        <a:ea typeface="+mn-ea"/>
                        <a:cs typeface="+mn-cs"/>
                      </a:endParaRP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mn-lt"/>
                          <a:ea typeface="+mn-ea"/>
                          <a:cs typeface="+mn-cs"/>
                        </a:rPr>
                        <a:t>Required</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885339418"/>
                  </a:ext>
                </a:extLst>
              </a:tr>
              <a:tr h="142481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a:latin typeface="+mn-lt"/>
                        </a:rPr>
                        <a:t>3 </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404040"/>
                          </a:solidFill>
                          <a:effectLst/>
                          <a:uLnTx/>
                          <a:uFillTx/>
                          <a:latin typeface="FS Elliot Pro Light"/>
                          <a:ea typeface="+mn-ea"/>
                          <a:cs typeface="+mn-cs"/>
                        </a:rPr>
                        <a:t>Query Performance Management</a:t>
                      </a:r>
                    </a:p>
                  </a:txBody>
                  <a:tcPr anchor="ctr">
                    <a:solidFill>
                      <a:schemeClr val="bg1">
                        <a:lumMod val="95000"/>
                      </a:schemeClr>
                    </a:solidFill>
                  </a:tcPr>
                </a:tc>
                <a:tc>
                  <a:txBody>
                    <a:bodyPr/>
                    <a:lstStyle/>
                    <a:p>
                      <a:pPr marL="0" algn="ctr" rtl="0" eaLnBrk="1" latinLnBrk="0" hangingPunct="1"/>
                      <a:r>
                        <a:rPr lang="en-US" sz="1000" b="0" i="0" u="none" strike="noStrike" kern="1200" noProof="0">
                          <a:solidFill>
                            <a:srgbClr val="000000"/>
                          </a:solidFill>
                          <a:latin typeface="+mn-lt"/>
                        </a:rPr>
                        <a:t>4</a:t>
                      </a:r>
                    </a:p>
                  </a:txBody>
                  <a:tcPr anchor="ctr">
                    <a:solidFill>
                      <a:schemeClr val="bg1">
                        <a:lumMod val="95000"/>
                      </a:schemeClr>
                    </a:solidFill>
                  </a:tcPr>
                </a:tc>
                <a:tc>
                  <a:txBody>
                    <a:bodyPr/>
                    <a:lstStyle/>
                    <a:p>
                      <a:pPr marL="0" algn="ctr" rtl="0" eaLnBrk="1" latinLnBrk="0" hangingPunct="1"/>
                      <a:r>
                        <a:rPr lang="en-US" sz="1000" b="0" i="0" u="none" strike="noStrike" kern="1200" noProof="0">
                          <a:solidFill>
                            <a:srgbClr val="000000"/>
                          </a:solidFill>
                          <a:latin typeface="+mn-lt"/>
                        </a:rPr>
                        <a:t>Stacked Bar chart</a:t>
                      </a:r>
                    </a:p>
                  </a:txBody>
                  <a:tcPr anchor="ctr">
                    <a:solidFill>
                      <a:schemeClr val="bg1">
                        <a:lumMod val="95000"/>
                      </a:schemeClr>
                    </a:solidFill>
                  </a:tcPr>
                </a:tc>
                <a:tc>
                  <a:txBody>
                    <a:bodyPr/>
                    <a:lstStyle/>
                    <a:p>
                      <a:pPr marL="0" algn="ctr" rtl="0" eaLnBrk="1" latinLnBrk="0" hangingPunct="1"/>
                      <a:r>
                        <a:rPr lang="en-US" sz="1000" kern="1200">
                          <a:solidFill>
                            <a:schemeClr val="dk1"/>
                          </a:solidFill>
                          <a:latin typeface="+mn-lt"/>
                          <a:ea typeface="+mn-ea"/>
                          <a:cs typeface="+mn-cs"/>
                        </a:rPr>
                        <a:t>This visual depicts </a:t>
                      </a:r>
                      <a:r>
                        <a:rPr lang="en-US" sz="1000"/>
                        <a:t>the  top 10 queries by users and by query execution time.</a:t>
                      </a:r>
                      <a:endParaRPr lang="en-US" sz="1000" kern="1200">
                        <a:solidFill>
                          <a:schemeClr val="dk1"/>
                        </a:solidFill>
                        <a:latin typeface="+mn-lt"/>
                        <a:ea typeface="+mn-ea"/>
                        <a:cs typeface="+mn-cs"/>
                      </a:endParaRP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mn-lt"/>
                          <a:ea typeface="+mn-ea"/>
                          <a:cs typeface="+mn-cs"/>
                        </a:rPr>
                        <a:t>Required</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3568663023"/>
                  </a:ext>
                </a:extLst>
              </a:tr>
            </a:tbl>
          </a:graphicData>
        </a:graphic>
      </p:graphicFrame>
    </p:spTree>
    <p:extLst>
      <p:ext uri="{BB962C8B-B14F-4D97-AF65-F5344CB8AC3E}">
        <p14:creationId xmlns:p14="http://schemas.microsoft.com/office/powerpoint/2010/main" val="6018597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F5814-913E-4F65-099E-2819F47D8E7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D9E3A4B-7B09-F54D-57E2-AD79F5BE692C}"/>
              </a:ext>
            </a:extLst>
          </p:cNvPr>
          <p:cNvSpPr txBox="1">
            <a:spLocks/>
          </p:cNvSpPr>
          <p:nvPr/>
        </p:nvSpPr>
        <p:spPr>
          <a:xfrm>
            <a:off x="284550" y="216713"/>
            <a:ext cx="11904087" cy="509780"/>
          </a:xfrm>
          <a:prstGeom prst="rect">
            <a:avLst/>
          </a:prstGeom>
        </p:spPr>
        <p:txBody>
          <a:bodyPr lIns="91440" tIns="45720" rIns="91440" bIns="45720" anchor="t"/>
          <a:lstStyle>
            <a:lvl1pPr algn="l" defTabSz="914400" rtl="0" eaLnBrk="1" latinLnBrk="0" hangingPunct="1">
              <a:lnSpc>
                <a:spcPct val="100000"/>
              </a:lnSpc>
              <a:spcBef>
                <a:spcPct val="0"/>
              </a:spcBef>
              <a:buNone/>
              <a:defRPr sz="3400" b="0" i="0" kern="1200">
                <a:solidFill>
                  <a:srgbClr val="0076CF"/>
                </a:solidFill>
                <a:latin typeface="FS Elliot Pro Light" panose="02000503040000020004" pitchFamily="2" charset="0"/>
                <a:ea typeface="+mj-ea"/>
                <a:cs typeface="+mj-cs"/>
              </a:defRPr>
            </a:lvl1pPr>
          </a:lstStyle>
          <a:p>
            <a:pPr>
              <a:defRPr/>
            </a:pPr>
            <a:r>
              <a:rPr lang="en-US" sz="3200">
                <a:latin typeface="FS Elliot Pro Light"/>
              </a:rPr>
              <a:t>Performance Management – Warehouse Usage Monitoring</a:t>
            </a:r>
            <a:endParaRPr lang="en-US">
              <a:ea typeface="+mj-ea"/>
              <a:cs typeface="+mj-cs"/>
            </a:endParaRPr>
          </a:p>
        </p:txBody>
      </p:sp>
      <p:sp>
        <p:nvSpPr>
          <p:cNvPr id="45" name="Rectangle 44">
            <a:extLst>
              <a:ext uri="{FF2B5EF4-FFF2-40B4-BE49-F238E27FC236}">
                <a16:creationId xmlns:a16="http://schemas.microsoft.com/office/drawing/2014/main" id="{98655C7C-8351-91F9-5A74-5F96D718F466}"/>
              </a:ext>
            </a:extLst>
          </p:cNvPr>
          <p:cNvSpPr/>
          <p:nvPr/>
        </p:nvSpPr>
        <p:spPr>
          <a:xfrm>
            <a:off x="394952" y="1219540"/>
            <a:ext cx="900448" cy="361309"/>
          </a:xfrm>
          <a:prstGeom prst="rect">
            <a:avLst/>
          </a:prstGeom>
          <a:no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 name="Rectangle 1">
            <a:extLst>
              <a:ext uri="{FF2B5EF4-FFF2-40B4-BE49-F238E27FC236}">
                <a16:creationId xmlns:a16="http://schemas.microsoft.com/office/drawing/2014/main" id="{489D5303-A77E-A23C-503D-2A19D6A89DFD}"/>
              </a:ext>
            </a:extLst>
          </p:cNvPr>
          <p:cNvSpPr/>
          <p:nvPr/>
        </p:nvSpPr>
        <p:spPr>
          <a:xfrm>
            <a:off x="828961" y="782546"/>
            <a:ext cx="11130975" cy="323141"/>
          </a:xfrm>
          <a:prstGeom prst="rect">
            <a:avLst/>
          </a:prstGeom>
          <a:solidFill>
            <a:schemeClr val="tx2">
              <a:lumMod val="20000"/>
              <a:lumOff val="8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15888">
              <a:buFont typeface="Wingdings" panose="05000000000000000000" pitchFamily="2" charset="2"/>
              <a:buChar char="ü"/>
            </a:pPr>
            <a:r>
              <a:rPr lang="en-US" sz="1100" dirty="0">
                <a:solidFill>
                  <a:schemeClr val="tx1"/>
                </a:solidFill>
              </a:rPr>
              <a:t>Quick view to understand the Warehouse usage monitoring that shows warehouse usage by different services, usage cost etc.</a:t>
            </a:r>
          </a:p>
        </p:txBody>
      </p:sp>
      <p:grpSp>
        <p:nvGrpSpPr>
          <p:cNvPr id="3" name="Graphic 4">
            <a:extLst>
              <a:ext uri="{FF2B5EF4-FFF2-40B4-BE49-F238E27FC236}">
                <a16:creationId xmlns:a16="http://schemas.microsoft.com/office/drawing/2014/main" id="{30AFE33E-03A4-751F-6670-BBFF2F7CE6B3}"/>
              </a:ext>
            </a:extLst>
          </p:cNvPr>
          <p:cNvGrpSpPr>
            <a:grpSpLocks noChangeAspect="1"/>
          </p:cNvGrpSpPr>
          <p:nvPr/>
        </p:nvGrpSpPr>
        <p:grpSpPr>
          <a:xfrm>
            <a:off x="427888" y="696089"/>
            <a:ext cx="496522" cy="496054"/>
            <a:chOff x="1952125" y="1402723"/>
            <a:chExt cx="362313" cy="361971"/>
          </a:xfrm>
          <a:solidFill>
            <a:schemeClr val="tx2">
              <a:lumMod val="60000"/>
              <a:lumOff val="40000"/>
            </a:schemeClr>
          </a:solidFill>
        </p:grpSpPr>
        <p:sp>
          <p:nvSpPr>
            <p:cNvPr id="5" name="Graphic 4">
              <a:extLst>
                <a:ext uri="{FF2B5EF4-FFF2-40B4-BE49-F238E27FC236}">
                  <a16:creationId xmlns:a16="http://schemas.microsoft.com/office/drawing/2014/main" id="{9196265E-8901-6641-6D11-1317FD2254B0}"/>
                </a:ext>
              </a:extLst>
            </p:cNvPr>
            <p:cNvSpPr/>
            <p:nvPr/>
          </p:nvSpPr>
          <p:spPr>
            <a:xfrm>
              <a:off x="2069061" y="1471670"/>
              <a:ext cx="126174" cy="158322"/>
            </a:xfrm>
            <a:custGeom>
              <a:avLst/>
              <a:gdLst>
                <a:gd name="connsiteX0" fmla="*/ 50481 w 126174"/>
                <a:gd name="connsiteY0" fmla="*/ 53626 h 158322"/>
                <a:gd name="connsiteX1" fmla="*/ 40896 w 126174"/>
                <a:gd name="connsiteY1" fmla="*/ 72139 h 158322"/>
                <a:gd name="connsiteX2" fmla="*/ 35145 w 126174"/>
                <a:gd name="connsiteY2" fmla="*/ 75969 h 158322"/>
                <a:gd name="connsiteX3" fmla="*/ 0 w 126174"/>
                <a:gd name="connsiteY3" fmla="*/ 105974 h 158322"/>
                <a:gd name="connsiteX4" fmla="*/ 32589 w 126174"/>
                <a:gd name="connsiteY4" fmla="*/ 121296 h 158322"/>
                <a:gd name="connsiteX5" fmla="*/ 36423 w 126174"/>
                <a:gd name="connsiteY5" fmla="*/ 128318 h 158322"/>
                <a:gd name="connsiteX6" fmla="*/ 46008 w 126174"/>
                <a:gd name="connsiteY6" fmla="*/ 151939 h 158322"/>
                <a:gd name="connsiteX7" fmla="*/ 68372 w 126174"/>
                <a:gd name="connsiteY7" fmla="*/ 144916 h 158322"/>
                <a:gd name="connsiteX8" fmla="*/ 73484 w 126174"/>
                <a:gd name="connsiteY8" fmla="*/ 142363 h 158322"/>
                <a:gd name="connsiteX9" fmla="*/ 76040 w 126174"/>
                <a:gd name="connsiteY9" fmla="*/ 143001 h 158322"/>
                <a:gd name="connsiteX10" fmla="*/ 108629 w 126174"/>
                <a:gd name="connsiteY10" fmla="*/ 158323 h 158322"/>
                <a:gd name="connsiteX11" fmla="*/ 111824 w 126174"/>
                <a:gd name="connsiteY11" fmla="*/ 110443 h 158322"/>
                <a:gd name="connsiteX12" fmla="*/ 111824 w 126174"/>
                <a:gd name="connsiteY12" fmla="*/ 104697 h 158322"/>
                <a:gd name="connsiteX13" fmla="*/ 118214 w 126174"/>
                <a:gd name="connsiteY13" fmla="*/ 0 h 158322"/>
                <a:gd name="connsiteX14" fmla="*/ 53676 w 126174"/>
                <a:gd name="connsiteY14" fmla="*/ 49795 h 158322"/>
                <a:gd name="connsiteX15" fmla="*/ 50481 w 126174"/>
                <a:gd name="connsiteY15" fmla="*/ 53626 h 158322"/>
                <a:gd name="connsiteX16" fmla="*/ 99683 w 126174"/>
                <a:gd name="connsiteY16" fmla="*/ 91929 h 158322"/>
                <a:gd name="connsiteX17" fmla="*/ 72206 w 126174"/>
                <a:gd name="connsiteY17" fmla="*/ 119381 h 158322"/>
                <a:gd name="connsiteX18" fmla="*/ 44730 w 126174"/>
                <a:gd name="connsiteY18" fmla="*/ 91929 h 158322"/>
                <a:gd name="connsiteX19" fmla="*/ 72206 w 126174"/>
                <a:gd name="connsiteY19" fmla="*/ 64478 h 158322"/>
                <a:gd name="connsiteX20" fmla="*/ 99683 w 126174"/>
                <a:gd name="connsiteY20" fmla="*/ 91929 h 158322"/>
                <a:gd name="connsiteX21" fmla="*/ 99683 w 126174"/>
                <a:gd name="connsiteY21" fmla="*/ 91929 h 158322"/>
                <a:gd name="connsiteX22" fmla="*/ 99683 w 126174"/>
                <a:gd name="connsiteY22" fmla="*/ 91929 h 158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6174" h="158322">
                  <a:moveTo>
                    <a:pt x="50481" y="53626"/>
                  </a:moveTo>
                  <a:cubicBezTo>
                    <a:pt x="46647" y="59371"/>
                    <a:pt x="44091" y="65755"/>
                    <a:pt x="40896" y="72139"/>
                  </a:cubicBezTo>
                  <a:cubicBezTo>
                    <a:pt x="39618" y="74693"/>
                    <a:pt x="37701" y="75969"/>
                    <a:pt x="35145" y="75969"/>
                  </a:cubicBezTo>
                  <a:cubicBezTo>
                    <a:pt x="17892" y="76608"/>
                    <a:pt x="3195" y="88737"/>
                    <a:pt x="0" y="105974"/>
                  </a:cubicBezTo>
                  <a:lnTo>
                    <a:pt x="32589" y="121296"/>
                  </a:lnTo>
                  <a:cubicBezTo>
                    <a:pt x="35145" y="122573"/>
                    <a:pt x="36423" y="125126"/>
                    <a:pt x="36423" y="128318"/>
                  </a:cubicBezTo>
                  <a:cubicBezTo>
                    <a:pt x="36423" y="128318"/>
                    <a:pt x="33867" y="146832"/>
                    <a:pt x="46008" y="151939"/>
                  </a:cubicBezTo>
                  <a:cubicBezTo>
                    <a:pt x="58148" y="157046"/>
                    <a:pt x="68372" y="145555"/>
                    <a:pt x="68372" y="144916"/>
                  </a:cubicBezTo>
                  <a:cubicBezTo>
                    <a:pt x="69650" y="143640"/>
                    <a:pt x="71567" y="142363"/>
                    <a:pt x="73484" y="142363"/>
                  </a:cubicBezTo>
                  <a:cubicBezTo>
                    <a:pt x="74123" y="142363"/>
                    <a:pt x="75401" y="142363"/>
                    <a:pt x="76040" y="143001"/>
                  </a:cubicBezTo>
                  <a:lnTo>
                    <a:pt x="108629" y="158323"/>
                  </a:lnTo>
                  <a:cubicBezTo>
                    <a:pt x="117575" y="143640"/>
                    <a:pt x="118853" y="125765"/>
                    <a:pt x="111824" y="110443"/>
                  </a:cubicBezTo>
                  <a:cubicBezTo>
                    <a:pt x="111185" y="108528"/>
                    <a:pt x="111185" y="106613"/>
                    <a:pt x="111824" y="104697"/>
                  </a:cubicBezTo>
                  <a:cubicBezTo>
                    <a:pt x="111824" y="104059"/>
                    <a:pt x="139301" y="49795"/>
                    <a:pt x="118214" y="0"/>
                  </a:cubicBezTo>
                  <a:cubicBezTo>
                    <a:pt x="106712" y="2554"/>
                    <a:pt x="77318" y="12130"/>
                    <a:pt x="53676" y="49795"/>
                  </a:cubicBezTo>
                  <a:cubicBezTo>
                    <a:pt x="52398" y="51710"/>
                    <a:pt x="51759" y="52987"/>
                    <a:pt x="50481" y="53626"/>
                  </a:cubicBezTo>
                  <a:close/>
                  <a:moveTo>
                    <a:pt x="99683" y="91929"/>
                  </a:moveTo>
                  <a:cubicBezTo>
                    <a:pt x="99683" y="107251"/>
                    <a:pt x="87542" y="119381"/>
                    <a:pt x="72206" y="119381"/>
                  </a:cubicBezTo>
                  <a:cubicBezTo>
                    <a:pt x="56871" y="119381"/>
                    <a:pt x="44730" y="107251"/>
                    <a:pt x="44730" y="91929"/>
                  </a:cubicBezTo>
                  <a:cubicBezTo>
                    <a:pt x="44730" y="76608"/>
                    <a:pt x="56871" y="64478"/>
                    <a:pt x="72206" y="64478"/>
                  </a:cubicBezTo>
                  <a:cubicBezTo>
                    <a:pt x="87542" y="65117"/>
                    <a:pt x="99683" y="77246"/>
                    <a:pt x="99683" y="91929"/>
                  </a:cubicBezTo>
                  <a:cubicBezTo>
                    <a:pt x="99683" y="92568"/>
                    <a:pt x="99683" y="92568"/>
                    <a:pt x="99683" y="91929"/>
                  </a:cubicBezTo>
                  <a:lnTo>
                    <a:pt x="99683" y="91929"/>
                  </a:lnTo>
                  <a:close/>
                </a:path>
              </a:pathLst>
            </a:custGeom>
            <a:grpFill/>
            <a:ln w="6390" cap="flat">
              <a:noFill/>
              <a:prstDash val="solid"/>
              <a:miter/>
            </a:ln>
          </p:spPr>
          <p:txBody>
            <a:bodyPr rtlCol="0" anchor="ctr"/>
            <a:lstStyle/>
            <a:p>
              <a:endParaRPr lang="en-US"/>
            </a:p>
          </p:txBody>
        </p:sp>
        <p:sp>
          <p:nvSpPr>
            <p:cNvPr id="7" name="Graphic 4">
              <a:extLst>
                <a:ext uri="{FF2B5EF4-FFF2-40B4-BE49-F238E27FC236}">
                  <a16:creationId xmlns:a16="http://schemas.microsoft.com/office/drawing/2014/main" id="{84243777-A6B2-F49F-006B-5A3BA3D87D66}"/>
                </a:ext>
              </a:extLst>
            </p:cNvPr>
            <p:cNvSpPr/>
            <p:nvPr/>
          </p:nvSpPr>
          <p:spPr>
            <a:xfrm>
              <a:off x="2043501" y="1527211"/>
              <a:ext cx="180835" cy="126402"/>
            </a:xfrm>
            <a:custGeom>
              <a:avLst/>
              <a:gdLst>
                <a:gd name="connsiteX0" fmla="*/ 180835 w 180835"/>
                <a:gd name="connsiteY0" fmla="*/ 5746 h 126402"/>
                <a:gd name="connsiteX1" fmla="*/ 175084 w 180835"/>
                <a:gd name="connsiteY1" fmla="*/ 0 h 126402"/>
                <a:gd name="connsiteX2" fmla="*/ 175084 w 180835"/>
                <a:gd name="connsiteY2" fmla="*/ 0 h 126402"/>
                <a:gd name="connsiteX3" fmla="*/ 163582 w 180835"/>
                <a:gd name="connsiteY3" fmla="*/ 0 h 126402"/>
                <a:gd name="connsiteX4" fmla="*/ 149525 w 180835"/>
                <a:gd name="connsiteY4" fmla="*/ 52987 h 126402"/>
                <a:gd name="connsiteX5" fmla="*/ 140579 w 180835"/>
                <a:gd name="connsiteY5" fmla="*/ 115550 h 126402"/>
                <a:gd name="connsiteX6" fmla="*/ 135467 w 180835"/>
                <a:gd name="connsiteY6" fmla="*/ 118104 h 126402"/>
                <a:gd name="connsiteX7" fmla="*/ 132911 w 180835"/>
                <a:gd name="connsiteY7" fmla="*/ 117465 h 126402"/>
                <a:gd name="connsiteX8" fmla="*/ 99044 w 180835"/>
                <a:gd name="connsiteY8" fmla="*/ 101505 h 126402"/>
                <a:gd name="connsiteX9" fmla="*/ 65177 w 180835"/>
                <a:gd name="connsiteY9" fmla="*/ 108528 h 126402"/>
                <a:gd name="connsiteX10" fmla="*/ 47925 w 180835"/>
                <a:gd name="connsiteY10" fmla="*/ 75969 h 126402"/>
                <a:gd name="connsiteX11" fmla="*/ 14697 w 180835"/>
                <a:gd name="connsiteY11" fmla="*/ 60009 h 126402"/>
                <a:gd name="connsiteX12" fmla="*/ 11502 w 180835"/>
                <a:gd name="connsiteY12" fmla="*/ 52987 h 126402"/>
                <a:gd name="connsiteX13" fmla="*/ 56232 w 180835"/>
                <a:gd name="connsiteY13" fmla="*/ 8299 h 126402"/>
                <a:gd name="connsiteX14" fmla="*/ 60066 w 180835"/>
                <a:gd name="connsiteY14" fmla="*/ 0 h 126402"/>
                <a:gd name="connsiteX15" fmla="*/ 5751 w 180835"/>
                <a:gd name="connsiteY15" fmla="*/ 0 h 126402"/>
                <a:gd name="connsiteX16" fmla="*/ 0 w 180835"/>
                <a:gd name="connsiteY16" fmla="*/ 5746 h 126402"/>
                <a:gd name="connsiteX17" fmla="*/ 0 w 180835"/>
                <a:gd name="connsiteY17" fmla="*/ 5746 h 126402"/>
                <a:gd name="connsiteX18" fmla="*/ 0 w 180835"/>
                <a:gd name="connsiteY18" fmla="*/ 126403 h 126402"/>
                <a:gd name="connsiteX19" fmla="*/ 180835 w 180835"/>
                <a:gd name="connsiteY19" fmla="*/ 126403 h 126402"/>
                <a:gd name="connsiteX20" fmla="*/ 180835 w 180835"/>
                <a:gd name="connsiteY20" fmla="*/ 5746 h 12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80835" h="126402">
                  <a:moveTo>
                    <a:pt x="180835" y="5746"/>
                  </a:moveTo>
                  <a:cubicBezTo>
                    <a:pt x="180835" y="2554"/>
                    <a:pt x="178279" y="0"/>
                    <a:pt x="175084" y="0"/>
                  </a:cubicBezTo>
                  <a:lnTo>
                    <a:pt x="175084" y="0"/>
                  </a:lnTo>
                  <a:lnTo>
                    <a:pt x="163582" y="0"/>
                  </a:lnTo>
                  <a:cubicBezTo>
                    <a:pt x="161666" y="18514"/>
                    <a:pt x="157192" y="36389"/>
                    <a:pt x="149525" y="52987"/>
                  </a:cubicBezTo>
                  <a:cubicBezTo>
                    <a:pt x="157832" y="74054"/>
                    <a:pt x="154637" y="97675"/>
                    <a:pt x="140579" y="115550"/>
                  </a:cubicBezTo>
                  <a:cubicBezTo>
                    <a:pt x="139301" y="116827"/>
                    <a:pt x="137384" y="118104"/>
                    <a:pt x="135467" y="118104"/>
                  </a:cubicBezTo>
                  <a:cubicBezTo>
                    <a:pt x="134828" y="118104"/>
                    <a:pt x="133550" y="118104"/>
                    <a:pt x="132911" y="117465"/>
                  </a:cubicBezTo>
                  <a:lnTo>
                    <a:pt x="99044" y="101505"/>
                  </a:lnTo>
                  <a:cubicBezTo>
                    <a:pt x="90098" y="110443"/>
                    <a:pt x="76679" y="112996"/>
                    <a:pt x="65177" y="108528"/>
                  </a:cubicBezTo>
                  <a:cubicBezTo>
                    <a:pt x="49203" y="100867"/>
                    <a:pt x="47286" y="84269"/>
                    <a:pt x="47925" y="75969"/>
                  </a:cubicBezTo>
                  <a:lnTo>
                    <a:pt x="14697" y="60009"/>
                  </a:lnTo>
                  <a:cubicBezTo>
                    <a:pt x="12141" y="58733"/>
                    <a:pt x="10863" y="56179"/>
                    <a:pt x="11502" y="52987"/>
                  </a:cubicBezTo>
                  <a:cubicBezTo>
                    <a:pt x="17892" y="20429"/>
                    <a:pt x="41535" y="9576"/>
                    <a:pt x="56232" y="8299"/>
                  </a:cubicBezTo>
                  <a:cubicBezTo>
                    <a:pt x="57509" y="5746"/>
                    <a:pt x="58788" y="2554"/>
                    <a:pt x="60066" y="0"/>
                  </a:cubicBezTo>
                  <a:lnTo>
                    <a:pt x="5751" y="0"/>
                  </a:lnTo>
                  <a:cubicBezTo>
                    <a:pt x="2556" y="0"/>
                    <a:pt x="0" y="2554"/>
                    <a:pt x="0" y="5746"/>
                  </a:cubicBezTo>
                  <a:lnTo>
                    <a:pt x="0" y="5746"/>
                  </a:lnTo>
                  <a:lnTo>
                    <a:pt x="0" y="126403"/>
                  </a:lnTo>
                  <a:lnTo>
                    <a:pt x="180835" y="126403"/>
                  </a:lnTo>
                  <a:lnTo>
                    <a:pt x="180835" y="5746"/>
                  </a:lnTo>
                  <a:close/>
                </a:path>
              </a:pathLst>
            </a:custGeom>
            <a:grpFill/>
            <a:ln w="6390" cap="flat">
              <a:noFill/>
              <a:prstDash val="solid"/>
              <a:miter/>
            </a:ln>
          </p:spPr>
          <p:txBody>
            <a:bodyPr rtlCol="0" anchor="ctr"/>
            <a:lstStyle/>
            <a:p>
              <a:endParaRPr lang="en-US"/>
            </a:p>
          </p:txBody>
        </p:sp>
        <p:sp>
          <p:nvSpPr>
            <p:cNvPr id="8" name="Graphic 4">
              <a:extLst>
                <a:ext uri="{FF2B5EF4-FFF2-40B4-BE49-F238E27FC236}">
                  <a16:creationId xmlns:a16="http://schemas.microsoft.com/office/drawing/2014/main" id="{28044671-CC61-D5FF-9D25-3C08FDAB61CD}"/>
                </a:ext>
              </a:extLst>
            </p:cNvPr>
            <p:cNvSpPr/>
            <p:nvPr/>
          </p:nvSpPr>
          <p:spPr>
            <a:xfrm>
              <a:off x="2126570" y="1549555"/>
              <a:ext cx="29393" cy="29366"/>
            </a:xfrm>
            <a:custGeom>
              <a:avLst/>
              <a:gdLst>
                <a:gd name="connsiteX0" fmla="*/ 14697 w 29393"/>
                <a:gd name="connsiteY0" fmla="*/ 29366 h 29366"/>
                <a:gd name="connsiteX1" fmla="*/ 29394 w 29393"/>
                <a:gd name="connsiteY1" fmla="*/ 14683 h 29366"/>
                <a:gd name="connsiteX2" fmla="*/ 14697 w 29393"/>
                <a:gd name="connsiteY2" fmla="*/ 0 h 29366"/>
                <a:gd name="connsiteX3" fmla="*/ 0 w 29393"/>
                <a:gd name="connsiteY3" fmla="*/ 14683 h 29366"/>
                <a:gd name="connsiteX4" fmla="*/ 14697 w 29393"/>
                <a:gd name="connsiteY4" fmla="*/ 29366 h 29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93" h="29366">
                  <a:moveTo>
                    <a:pt x="14697" y="29366"/>
                  </a:moveTo>
                  <a:cubicBezTo>
                    <a:pt x="23004" y="29366"/>
                    <a:pt x="29394" y="22982"/>
                    <a:pt x="29394" y="14683"/>
                  </a:cubicBezTo>
                  <a:cubicBezTo>
                    <a:pt x="29394" y="6384"/>
                    <a:pt x="23004" y="0"/>
                    <a:pt x="14697" y="0"/>
                  </a:cubicBezTo>
                  <a:cubicBezTo>
                    <a:pt x="6390" y="0"/>
                    <a:pt x="0" y="6384"/>
                    <a:pt x="0" y="14683"/>
                  </a:cubicBezTo>
                  <a:cubicBezTo>
                    <a:pt x="0" y="22982"/>
                    <a:pt x="6390" y="29366"/>
                    <a:pt x="14697" y="29366"/>
                  </a:cubicBezTo>
                  <a:close/>
                </a:path>
              </a:pathLst>
            </a:custGeom>
            <a:grpFill/>
            <a:ln w="6390" cap="flat">
              <a:noFill/>
              <a:prstDash val="solid"/>
              <a:miter/>
            </a:ln>
          </p:spPr>
          <p:txBody>
            <a:bodyPr rtlCol="0" anchor="ctr"/>
            <a:lstStyle/>
            <a:p>
              <a:endParaRPr lang="en-US"/>
            </a:p>
          </p:txBody>
        </p:sp>
        <p:sp>
          <p:nvSpPr>
            <p:cNvPr id="9" name="Graphic 4">
              <a:extLst>
                <a:ext uri="{FF2B5EF4-FFF2-40B4-BE49-F238E27FC236}">
                  <a16:creationId xmlns:a16="http://schemas.microsoft.com/office/drawing/2014/main" id="{A2879FB1-4694-D139-4FCB-437037744378}"/>
                </a:ext>
              </a:extLst>
            </p:cNvPr>
            <p:cNvSpPr/>
            <p:nvPr/>
          </p:nvSpPr>
          <p:spPr>
            <a:xfrm>
              <a:off x="2033278" y="1666381"/>
              <a:ext cx="201283" cy="3191"/>
            </a:xfrm>
            <a:custGeom>
              <a:avLst/>
              <a:gdLst>
                <a:gd name="connsiteX0" fmla="*/ 3834 w 201283"/>
                <a:gd name="connsiteY0" fmla="*/ 0 h 3191"/>
                <a:gd name="connsiteX1" fmla="*/ 0 w 201283"/>
                <a:gd name="connsiteY1" fmla="*/ 0 h 3191"/>
                <a:gd name="connsiteX2" fmla="*/ 7029 w 201283"/>
                <a:gd name="connsiteY2" fmla="*/ 3192 h 3191"/>
                <a:gd name="connsiteX3" fmla="*/ 194254 w 201283"/>
                <a:gd name="connsiteY3" fmla="*/ 3192 h 3191"/>
                <a:gd name="connsiteX4" fmla="*/ 201283 w 201283"/>
                <a:gd name="connsiteY4" fmla="*/ 0 h 3191"/>
                <a:gd name="connsiteX5" fmla="*/ 3834 w 201283"/>
                <a:gd name="connsiteY5" fmla="*/ 0 h 3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1283" h="3191">
                  <a:moveTo>
                    <a:pt x="3834" y="0"/>
                  </a:moveTo>
                  <a:lnTo>
                    <a:pt x="0" y="0"/>
                  </a:lnTo>
                  <a:cubicBezTo>
                    <a:pt x="1917" y="1915"/>
                    <a:pt x="4473" y="3192"/>
                    <a:pt x="7029" y="3192"/>
                  </a:cubicBezTo>
                  <a:lnTo>
                    <a:pt x="194254" y="3192"/>
                  </a:lnTo>
                  <a:cubicBezTo>
                    <a:pt x="196810" y="3192"/>
                    <a:pt x="199366" y="1915"/>
                    <a:pt x="201283" y="0"/>
                  </a:cubicBezTo>
                  <a:lnTo>
                    <a:pt x="3834" y="0"/>
                  </a:lnTo>
                  <a:close/>
                </a:path>
              </a:pathLst>
            </a:custGeom>
            <a:grpFill/>
            <a:ln w="6390" cap="flat">
              <a:noFill/>
              <a:prstDash val="solid"/>
              <a:miter/>
            </a:ln>
          </p:spPr>
          <p:txBody>
            <a:bodyPr rtlCol="0" anchor="ctr"/>
            <a:lstStyle/>
            <a:p>
              <a:endParaRPr lang="en-US"/>
            </a:p>
          </p:txBody>
        </p:sp>
        <p:sp>
          <p:nvSpPr>
            <p:cNvPr id="10" name="Graphic 4">
              <a:extLst>
                <a:ext uri="{FF2B5EF4-FFF2-40B4-BE49-F238E27FC236}">
                  <a16:creationId xmlns:a16="http://schemas.microsoft.com/office/drawing/2014/main" id="{2256E0D9-1666-5B3D-44C5-5DE2F0A94482}"/>
                </a:ext>
              </a:extLst>
            </p:cNvPr>
            <p:cNvSpPr/>
            <p:nvPr/>
          </p:nvSpPr>
          <p:spPr>
            <a:xfrm>
              <a:off x="1952125" y="1402723"/>
              <a:ext cx="362313" cy="361971"/>
            </a:xfrm>
            <a:custGeom>
              <a:avLst/>
              <a:gdLst>
                <a:gd name="connsiteX0" fmla="*/ 181474 w 362313"/>
                <a:gd name="connsiteY0" fmla="*/ 0 h 361971"/>
                <a:gd name="connsiteX1" fmla="*/ 0 w 362313"/>
                <a:gd name="connsiteY1" fmla="*/ 180667 h 361971"/>
                <a:gd name="connsiteX2" fmla="*/ 180835 w 362313"/>
                <a:gd name="connsiteY2" fmla="*/ 361972 h 361971"/>
                <a:gd name="connsiteX3" fmla="*/ 362310 w 362313"/>
                <a:gd name="connsiteY3" fmla="*/ 181305 h 361971"/>
                <a:gd name="connsiteX4" fmla="*/ 362310 w 362313"/>
                <a:gd name="connsiteY4" fmla="*/ 181305 h 361971"/>
                <a:gd name="connsiteX5" fmla="*/ 181474 w 362313"/>
                <a:gd name="connsiteY5" fmla="*/ 0 h 361971"/>
                <a:gd name="connsiteX6" fmla="*/ 275406 w 362313"/>
                <a:gd name="connsiteY6" fmla="*/ 279618 h 361971"/>
                <a:gd name="connsiteX7" fmla="*/ 88181 w 362313"/>
                <a:gd name="connsiteY7" fmla="*/ 279618 h 361971"/>
                <a:gd name="connsiteX8" fmla="*/ 65816 w 362313"/>
                <a:gd name="connsiteY8" fmla="*/ 257274 h 361971"/>
                <a:gd name="connsiteX9" fmla="*/ 72206 w 362313"/>
                <a:gd name="connsiteY9" fmla="*/ 250890 h 361971"/>
                <a:gd name="connsiteX10" fmla="*/ 78596 w 362313"/>
                <a:gd name="connsiteY10" fmla="*/ 250890 h 361971"/>
                <a:gd name="connsiteX11" fmla="*/ 78596 w 362313"/>
                <a:gd name="connsiteY11" fmla="*/ 130233 h 361971"/>
                <a:gd name="connsiteX12" fmla="*/ 97127 w 362313"/>
                <a:gd name="connsiteY12" fmla="*/ 111720 h 361971"/>
                <a:gd name="connsiteX13" fmla="*/ 97127 w 362313"/>
                <a:gd name="connsiteY13" fmla="*/ 111720 h 361971"/>
                <a:gd name="connsiteX14" fmla="*/ 159109 w 362313"/>
                <a:gd name="connsiteY14" fmla="*/ 111720 h 361971"/>
                <a:gd name="connsiteX15" fmla="*/ 237067 w 362313"/>
                <a:gd name="connsiteY15" fmla="*/ 56817 h 361971"/>
                <a:gd name="connsiteX16" fmla="*/ 243457 w 362313"/>
                <a:gd name="connsiteY16" fmla="*/ 60648 h 361971"/>
                <a:gd name="connsiteX17" fmla="*/ 254958 w 362313"/>
                <a:gd name="connsiteY17" fmla="*/ 112358 h 361971"/>
                <a:gd name="connsiteX18" fmla="*/ 265821 w 362313"/>
                <a:gd name="connsiteY18" fmla="*/ 112358 h 361971"/>
                <a:gd name="connsiteX19" fmla="*/ 284352 w 362313"/>
                <a:gd name="connsiteY19" fmla="*/ 130872 h 361971"/>
                <a:gd name="connsiteX20" fmla="*/ 284352 w 362313"/>
                <a:gd name="connsiteY20" fmla="*/ 130872 h 361971"/>
                <a:gd name="connsiteX21" fmla="*/ 284352 w 362313"/>
                <a:gd name="connsiteY21" fmla="*/ 251529 h 361971"/>
                <a:gd name="connsiteX22" fmla="*/ 290742 w 362313"/>
                <a:gd name="connsiteY22" fmla="*/ 251529 h 361971"/>
                <a:gd name="connsiteX23" fmla="*/ 297132 w 362313"/>
                <a:gd name="connsiteY23" fmla="*/ 257913 h 361971"/>
                <a:gd name="connsiteX24" fmla="*/ 275406 w 362313"/>
                <a:gd name="connsiteY24" fmla="*/ 279618 h 361971"/>
                <a:gd name="connsiteX25" fmla="*/ 275406 w 362313"/>
                <a:gd name="connsiteY25" fmla="*/ 279618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62313" h="361971">
                  <a:moveTo>
                    <a:pt x="181474" y="0"/>
                  </a:moveTo>
                  <a:cubicBezTo>
                    <a:pt x="81152" y="0"/>
                    <a:pt x="0" y="81077"/>
                    <a:pt x="0" y="180667"/>
                  </a:cubicBezTo>
                  <a:cubicBezTo>
                    <a:pt x="0" y="280895"/>
                    <a:pt x="81152" y="361972"/>
                    <a:pt x="180835" y="361972"/>
                  </a:cubicBezTo>
                  <a:cubicBezTo>
                    <a:pt x="281157" y="361972"/>
                    <a:pt x="362310" y="280895"/>
                    <a:pt x="362310" y="181305"/>
                  </a:cubicBezTo>
                  <a:cubicBezTo>
                    <a:pt x="362310" y="181305"/>
                    <a:pt x="362310" y="181305"/>
                    <a:pt x="362310" y="181305"/>
                  </a:cubicBezTo>
                  <a:cubicBezTo>
                    <a:pt x="362948" y="80438"/>
                    <a:pt x="281796" y="0"/>
                    <a:pt x="181474" y="0"/>
                  </a:cubicBezTo>
                  <a:close/>
                  <a:moveTo>
                    <a:pt x="275406" y="279618"/>
                  </a:moveTo>
                  <a:lnTo>
                    <a:pt x="88181" y="279618"/>
                  </a:lnTo>
                  <a:cubicBezTo>
                    <a:pt x="76040" y="279618"/>
                    <a:pt x="65816" y="269404"/>
                    <a:pt x="65816" y="257274"/>
                  </a:cubicBezTo>
                  <a:cubicBezTo>
                    <a:pt x="65816" y="253444"/>
                    <a:pt x="68372" y="250890"/>
                    <a:pt x="72206" y="250890"/>
                  </a:cubicBezTo>
                  <a:lnTo>
                    <a:pt x="78596" y="250890"/>
                  </a:lnTo>
                  <a:lnTo>
                    <a:pt x="78596" y="130233"/>
                  </a:lnTo>
                  <a:cubicBezTo>
                    <a:pt x="78596" y="120019"/>
                    <a:pt x="86903" y="111720"/>
                    <a:pt x="97127" y="111720"/>
                  </a:cubicBezTo>
                  <a:lnTo>
                    <a:pt x="97127" y="111720"/>
                  </a:lnTo>
                  <a:lnTo>
                    <a:pt x="159109" y="111720"/>
                  </a:lnTo>
                  <a:cubicBezTo>
                    <a:pt x="191698" y="61286"/>
                    <a:pt x="235150" y="56817"/>
                    <a:pt x="237067" y="56817"/>
                  </a:cubicBezTo>
                  <a:cubicBezTo>
                    <a:pt x="239623" y="56817"/>
                    <a:pt x="242179" y="58094"/>
                    <a:pt x="243457" y="60648"/>
                  </a:cubicBezTo>
                  <a:cubicBezTo>
                    <a:pt x="251124" y="76608"/>
                    <a:pt x="254958" y="94483"/>
                    <a:pt x="254958" y="112358"/>
                  </a:cubicBezTo>
                  <a:lnTo>
                    <a:pt x="265821" y="112358"/>
                  </a:lnTo>
                  <a:cubicBezTo>
                    <a:pt x="276045" y="112358"/>
                    <a:pt x="284352" y="120657"/>
                    <a:pt x="284352" y="130872"/>
                  </a:cubicBezTo>
                  <a:lnTo>
                    <a:pt x="284352" y="130872"/>
                  </a:lnTo>
                  <a:lnTo>
                    <a:pt x="284352" y="251529"/>
                  </a:lnTo>
                  <a:lnTo>
                    <a:pt x="290742" y="251529"/>
                  </a:lnTo>
                  <a:cubicBezTo>
                    <a:pt x="294576" y="251529"/>
                    <a:pt x="297132" y="254082"/>
                    <a:pt x="297132" y="257913"/>
                  </a:cubicBezTo>
                  <a:cubicBezTo>
                    <a:pt x="297771" y="269404"/>
                    <a:pt x="287547" y="278980"/>
                    <a:pt x="275406" y="279618"/>
                  </a:cubicBezTo>
                  <a:lnTo>
                    <a:pt x="275406" y="279618"/>
                  </a:lnTo>
                  <a:close/>
                </a:path>
              </a:pathLst>
            </a:custGeom>
            <a:grpFill/>
            <a:ln w="6390" cap="flat">
              <a:noFill/>
              <a:prstDash val="solid"/>
              <a:miter/>
            </a:ln>
          </p:spPr>
          <p:txBody>
            <a:bodyPr rtlCol="0" anchor="ctr"/>
            <a:lstStyle/>
            <a:p>
              <a:endParaRPr lang="en-US"/>
            </a:p>
          </p:txBody>
        </p:sp>
      </p:grpSp>
      <p:sp>
        <p:nvSpPr>
          <p:cNvPr id="12" name="Callout: Line 11">
            <a:extLst>
              <a:ext uri="{FF2B5EF4-FFF2-40B4-BE49-F238E27FC236}">
                <a16:creationId xmlns:a16="http://schemas.microsoft.com/office/drawing/2014/main" id="{76D03CBC-9395-A696-3BD2-C0608221092F}"/>
              </a:ext>
            </a:extLst>
          </p:cNvPr>
          <p:cNvSpPr/>
          <p:nvPr/>
        </p:nvSpPr>
        <p:spPr>
          <a:xfrm>
            <a:off x="10662556" y="3500424"/>
            <a:ext cx="424542" cy="236766"/>
          </a:xfrm>
          <a:prstGeom prst="borderCallout1">
            <a:avLst>
              <a:gd name="adj1" fmla="val 18750"/>
              <a:gd name="adj2" fmla="val -8333"/>
              <a:gd name="adj3" fmla="val 174569"/>
              <a:gd name="adj4" fmla="val -146026"/>
            </a:avLst>
          </a:prstGeom>
          <a:solidFill>
            <a:schemeClr val="bg1"/>
          </a:solidFill>
          <a:ln>
            <a:solidFill>
              <a:schemeClr val="bg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sp>
        <p:nvSpPr>
          <p:cNvPr id="13" name="Callout: Line 12">
            <a:extLst>
              <a:ext uri="{FF2B5EF4-FFF2-40B4-BE49-F238E27FC236}">
                <a16:creationId xmlns:a16="http://schemas.microsoft.com/office/drawing/2014/main" id="{E0E0647D-83D8-1EB3-F6CD-D24BF943380E}"/>
              </a:ext>
            </a:extLst>
          </p:cNvPr>
          <p:cNvSpPr/>
          <p:nvPr/>
        </p:nvSpPr>
        <p:spPr>
          <a:xfrm>
            <a:off x="10670624" y="5340240"/>
            <a:ext cx="424542" cy="236766"/>
          </a:xfrm>
          <a:prstGeom prst="borderCallout1">
            <a:avLst>
              <a:gd name="adj1" fmla="val 18750"/>
              <a:gd name="adj2" fmla="val -8333"/>
              <a:gd name="adj3" fmla="val 174569"/>
              <a:gd name="adj4" fmla="val -146026"/>
            </a:avLst>
          </a:prstGeom>
          <a:solidFill>
            <a:schemeClr val="bg1"/>
          </a:solidFill>
          <a:ln>
            <a:solidFill>
              <a:schemeClr val="bg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3</a:t>
            </a:r>
          </a:p>
        </p:txBody>
      </p:sp>
      <p:sp>
        <p:nvSpPr>
          <p:cNvPr id="17" name="Callout: Line 16">
            <a:extLst>
              <a:ext uri="{FF2B5EF4-FFF2-40B4-BE49-F238E27FC236}">
                <a16:creationId xmlns:a16="http://schemas.microsoft.com/office/drawing/2014/main" id="{A8213E42-45B4-2CB9-F4C2-1144D788E367}"/>
              </a:ext>
            </a:extLst>
          </p:cNvPr>
          <p:cNvSpPr/>
          <p:nvPr/>
        </p:nvSpPr>
        <p:spPr>
          <a:xfrm>
            <a:off x="10670624" y="2013146"/>
            <a:ext cx="424542" cy="236766"/>
          </a:xfrm>
          <a:prstGeom prst="borderCallout1">
            <a:avLst>
              <a:gd name="adj1" fmla="val 18750"/>
              <a:gd name="adj2" fmla="val -8333"/>
              <a:gd name="adj3" fmla="val 174569"/>
              <a:gd name="adj4" fmla="val -146026"/>
            </a:avLst>
          </a:prstGeom>
          <a:solidFill>
            <a:schemeClr val="bg1"/>
          </a:solidFill>
          <a:ln>
            <a:solidFill>
              <a:schemeClr val="bg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a:t>
            </a:r>
          </a:p>
        </p:txBody>
      </p:sp>
      <p:sp>
        <p:nvSpPr>
          <p:cNvPr id="18" name="Callout: Line 17">
            <a:extLst>
              <a:ext uri="{FF2B5EF4-FFF2-40B4-BE49-F238E27FC236}">
                <a16:creationId xmlns:a16="http://schemas.microsoft.com/office/drawing/2014/main" id="{F4790347-24DC-BE73-0CC3-F95E3B92BA81}"/>
              </a:ext>
            </a:extLst>
          </p:cNvPr>
          <p:cNvSpPr/>
          <p:nvPr/>
        </p:nvSpPr>
        <p:spPr>
          <a:xfrm>
            <a:off x="10670624" y="3500424"/>
            <a:ext cx="424542" cy="236766"/>
          </a:xfrm>
          <a:prstGeom prst="borderCallout1">
            <a:avLst>
              <a:gd name="adj1" fmla="val 18750"/>
              <a:gd name="adj2" fmla="val -8333"/>
              <a:gd name="adj3" fmla="val 174569"/>
              <a:gd name="adj4" fmla="val -146026"/>
            </a:avLst>
          </a:prstGeom>
          <a:solidFill>
            <a:schemeClr val="bg1"/>
          </a:solidFill>
          <a:ln>
            <a:solidFill>
              <a:schemeClr val="bg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2</a:t>
            </a:r>
          </a:p>
        </p:txBody>
      </p:sp>
      <p:pic>
        <p:nvPicPr>
          <p:cNvPr id="6" name="Picture 5">
            <a:extLst>
              <a:ext uri="{FF2B5EF4-FFF2-40B4-BE49-F238E27FC236}">
                <a16:creationId xmlns:a16="http://schemas.microsoft.com/office/drawing/2014/main" id="{49821078-8685-54AB-74D3-F59DE7689DE7}"/>
              </a:ext>
            </a:extLst>
          </p:cNvPr>
          <p:cNvPicPr>
            <a:picLocks/>
          </p:cNvPicPr>
          <p:nvPr/>
        </p:nvPicPr>
        <p:blipFill>
          <a:blip r:embed="rId3"/>
          <a:stretch>
            <a:fillRect/>
          </a:stretch>
        </p:blipFill>
        <p:spPr>
          <a:xfrm>
            <a:off x="2164800" y="1216800"/>
            <a:ext cx="7862400" cy="5396400"/>
          </a:xfrm>
          <a:prstGeom prst="rect">
            <a:avLst/>
          </a:prstGeom>
          <a:ln>
            <a:solidFill>
              <a:schemeClr val="bg1">
                <a:lumMod val="75000"/>
              </a:schemeClr>
            </a:solidFill>
          </a:ln>
        </p:spPr>
      </p:pic>
    </p:spTree>
    <p:extLst>
      <p:ext uri="{BB962C8B-B14F-4D97-AF65-F5344CB8AC3E}">
        <p14:creationId xmlns:p14="http://schemas.microsoft.com/office/powerpoint/2010/main" val="38367015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5EA4E-6FF4-8816-F217-58875D1A314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21281E1-F8AE-8E6B-721E-15883B7330FF}"/>
              </a:ext>
            </a:extLst>
          </p:cNvPr>
          <p:cNvSpPr txBox="1">
            <a:spLocks/>
          </p:cNvSpPr>
          <p:nvPr/>
        </p:nvSpPr>
        <p:spPr>
          <a:xfrm>
            <a:off x="284550" y="216713"/>
            <a:ext cx="11904087" cy="509780"/>
          </a:xfrm>
          <a:prstGeom prst="rect">
            <a:avLst/>
          </a:prstGeom>
        </p:spPr>
        <p:txBody>
          <a:bodyPr lIns="91440" tIns="45720" rIns="91440" bIns="45720" anchor="t"/>
          <a:lstStyle>
            <a:lvl1pPr algn="l" defTabSz="914400" rtl="0" eaLnBrk="1" latinLnBrk="0" hangingPunct="1">
              <a:lnSpc>
                <a:spcPct val="100000"/>
              </a:lnSpc>
              <a:spcBef>
                <a:spcPct val="0"/>
              </a:spcBef>
              <a:buNone/>
              <a:defRPr sz="3400" b="0" i="0" kern="1200">
                <a:solidFill>
                  <a:srgbClr val="0076CF"/>
                </a:solidFill>
                <a:latin typeface="FS Elliot Pro Light" panose="02000503040000020004" pitchFamily="2" charset="0"/>
                <a:ea typeface="+mj-ea"/>
                <a:cs typeface="+mj-cs"/>
              </a:defRPr>
            </a:lvl1pPr>
          </a:lstStyle>
          <a:p>
            <a:pPr>
              <a:defRPr/>
            </a:pPr>
            <a:r>
              <a:rPr lang="en-US" sz="3200" dirty="0">
                <a:latin typeface="FS Elliot Pro Light"/>
              </a:rPr>
              <a:t>Performance Management – Warehouse Usage Monitoring</a:t>
            </a:r>
            <a:endParaRPr lang="en-US" sz="1600" dirty="0">
              <a:ea typeface="+mj-ea"/>
              <a:cs typeface="+mj-cs"/>
            </a:endParaRPr>
          </a:p>
        </p:txBody>
      </p:sp>
      <p:graphicFrame>
        <p:nvGraphicFramePr>
          <p:cNvPr id="6" name="Table 5">
            <a:extLst>
              <a:ext uri="{FF2B5EF4-FFF2-40B4-BE49-F238E27FC236}">
                <a16:creationId xmlns:a16="http://schemas.microsoft.com/office/drawing/2014/main" id="{6E13AD4D-5FA3-B3C9-CF37-777C97B9F902}"/>
              </a:ext>
            </a:extLst>
          </p:cNvPr>
          <p:cNvGraphicFramePr>
            <a:graphicFrameLocks noGrp="1"/>
          </p:cNvGraphicFramePr>
          <p:nvPr>
            <p:extLst>
              <p:ext uri="{D42A27DB-BD31-4B8C-83A1-F6EECF244321}">
                <p14:modId xmlns:p14="http://schemas.microsoft.com/office/powerpoint/2010/main" val="816685607"/>
              </p:ext>
            </p:extLst>
          </p:nvPr>
        </p:nvGraphicFramePr>
        <p:xfrm>
          <a:off x="394855" y="931959"/>
          <a:ext cx="11430000" cy="4914534"/>
        </p:xfrm>
        <a:graphic>
          <a:graphicData uri="http://schemas.openxmlformats.org/drawingml/2006/table">
            <a:tbl>
              <a:tblPr firstRow="1" bandRow="1">
                <a:tableStyleId>{5C22544A-7EE6-4342-B048-85BDC9FD1C3A}</a:tableStyleId>
              </a:tblPr>
              <a:tblGrid>
                <a:gridCol w="449322">
                  <a:extLst>
                    <a:ext uri="{9D8B030D-6E8A-4147-A177-3AD203B41FA5}">
                      <a16:colId xmlns:a16="http://schemas.microsoft.com/office/drawing/2014/main" val="1227872876"/>
                    </a:ext>
                  </a:extLst>
                </a:gridCol>
                <a:gridCol w="1179932">
                  <a:extLst>
                    <a:ext uri="{9D8B030D-6E8A-4147-A177-3AD203B41FA5}">
                      <a16:colId xmlns:a16="http://schemas.microsoft.com/office/drawing/2014/main" val="3573294361"/>
                    </a:ext>
                  </a:extLst>
                </a:gridCol>
                <a:gridCol w="807868">
                  <a:extLst>
                    <a:ext uri="{9D8B030D-6E8A-4147-A177-3AD203B41FA5}">
                      <a16:colId xmlns:a16="http://schemas.microsoft.com/office/drawing/2014/main" val="684506535"/>
                    </a:ext>
                  </a:extLst>
                </a:gridCol>
                <a:gridCol w="1327901">
                  <a:extLst>
                    <a:ext uri="{9D8B030D-6E8A-4147-A177-3AD203B41FA5}">
                      <a16:colId xmlns:a16="http://schemas.microsoft.com/office/drawing/2014/main" val="2881509476"/>
                    </a:ext>
                  </a:extLst>
                </a:gridCol>
                <a:gridCol w="4753303">
                  <a:extLst>
                    <a:ext uri="{9D8B030D-6E8A-4147-A177-3AD203B41FA5}">
                      <a16:colId xmlns:a16="http://schemas.microsoft.com/office/drawing/2014/main" val="3389198070"/>
                    </a:ext>
                  </a:extLst>
                </a:gridCol>
                <a:gridCol w="1651246">
                  <a:extLst>
                    <a:ext uri="{9D8B030D-6E8A-4147-A177-3AD203B41FA5}">
                      <a16:colId xmlns:a16="http://schemas.microsoft.com/office/drawing/2014/main" val="1391104289"/>
                    </a:ext>
                  </a:extLst>
                </a:gridCol>
                <a:gridCol w="1260428">
                  <a:extLst>
                    <a:ext uri="{9D8B030D-6E8A-4147-A177-3AD203B41FA5}">
                      <a16:colId xmlns:a16="http://schemas.microsoft.com/office/drawing/2014/main" val="4206051783"/>
                    </a:ext>
                  </a:extLst>
                </a:gridCol>
              </a:tblGrid>
              <a:tr h="640080">
                <a:tc>
                  <a:txBody>
                    <a:bodyPr/>
                    <a:lstStyle/>
                    <a:p>
                      <a:pPr algn="ctr"/>
                      <a:r>
                        <a:rPr lang="en-US" sz="1100">
                          <a:latin typeface="+mj-lt"/>
                        </a:rPr>
                        <a:t>#</a:t>
                      </a:r>
                    </a:p>
                  </a:txBody>
                  <a:tcPr anchor="ctr">
                    <a:solidFill>
                      <a:srgbClr val="338DCD"/>
                    </a:solidFill>
                  </a:tcPr>
                </a:tc>
                <a:tc>
                  <a:txBody>
                    <a:bodyPr/>
                    <a:lstStyle/>
                    <a:p>
                      <a:pPr algn="ctr"/>
                      <a:r>
                        <a:rPr lang="en-US" sz="1100">
                          <a:latin typeface="+mj-lt"/>
                        </a:rPr>
                        <a:t>Category</a:t>
                      </a:r>
                    </a:p>
                  </a:txBody>
                  <a:tcPr anchor="ctr">
                    <a:solidFill>
                      <a:srgbClr val="338DCD"/>
                    </a:solidFill>
                  </a:tcPr>
                </a:tc>
                <a:tc>
                  <a:txBody>
                    <a:bodyPr/>
                    <a:lstStyle/>
                    <a:p>
                      <a:pPr algn="ctr"/>
                      <a:r>
                        <a:rPr lang="en-US" sz="1100">
                          <a:latin typeface="+mj-lt"/>
                        </a:rPr>
                        <a:t>Category Priority</a:t>
                      </a:r>
                    </a:p>
                  </a:txBody>
                  <a:tcPr anchor="ctr">
                    <a:solidFill>
                      <a:srgbClr val="338DCD"/>
                    </a:solidFill>
                  </a:tcPr>
                </a:tc>
                <a:tc>
                  <a:txBody>
                    <a:bodyPr/>
                    <a:lstStyle/>
                    <a:p>
                      <a:pPr algn="ctr"/>
                      <a:r>
                        <a:rPr lang="en-US" sz="1100">
                          <a:latin typeface="+mj-lt"/>
                        </a:rPr>
                        <a:t>Chart type</a:t>
                      </a:r>
                    </a:p>
                  </a:txBody>
                  <a:tcPr anchor="ctr">
                    <a:solidFill>
                      <a:srgbClr val="338DCD"/>
                    </a:solidFill>
                  </a:tcPr>
                </a:tc>
                <a:tc>
                  <a:txBody>
                    <a:bodyPr/>
                    <a:lstStyle/>
                    <a:p>
                      <a:pPr algn="ctr"/>
                      <a:r>
                        <a:rPr lang="en-US" sz="1100">
                          <a:latin typeface="+mj-lt"/>
                        </a:rPr>
                        <a:t>Description</a:t>
                      </a:r>
                    </a:p>
                  </a:txBody>
                  <a:tcPr anchor="ctr">
                    <a:solidFill>
                      <a:srgbClr val="338DCD"/>
                    </a:solidFill>
                  </a:tcPr>
                </a:tc>
                <a:tc>
                  <a:txBody>
                    <a:bodyPr/>
                    <a:lstStyle/>
                    <a:p>
                      <a:pPr algn="ctr"/>
                      <a:r>
                        <a:rPr lang="en-US" sz="1100">
                          <a:latin typeface="+mj-lt"/>
                        </a:rPr>
                        <a:t>Assessment: </a:t>
                      </a:r>
                      <a:br>
                        <a:rPr lang="en-US" sz="1100">
                          <a:latin typeface="+mj-lt"/>
                        </a:rPr>
                      </a:br>
                      <a:r>
                        <a:rPr lang="en-US" sz="1100">
                          <a:latin typeface="+mj-lt"/>
                        </a:rPr>
                        <a:t>Required, Aspirational</a:t>
                      </a:r>
                    </a:p>
                  </a:txBody>
                  <a:tcPr anchor="ctr">
                    <a:solidFill>
                      <a:srgbClr val="338DCD"/>
                    </a:solidFill>
                  </a:tcPr>
                </a:tc>
                <a:tc>
                  <a:txBody>
                    <a:bodyPr/>
                    <a:lstStyle/>
                    <a:p>
                      <a:pPr algn="ctr"/>
                      <a:r>
                        <a:rPr lang="en-US" sz="1100">
                          <a:latin typeface="+mj-lt"/>
                        </a:rPr>
                        <a:t>Implementation Priority</a:t>
                      </a:r>
                    </a:p>
                  </a:txBody>
                  <a:tcPr anchor="ctr">
                    <a:solidFill>
                      <a:srgbClr val="338DCD"/>
                    </a:solidFill>
                  </a:tcPr>
                </a:tc>
                <a:extLst>
                  <a:ext uri="{0D108BD9-81ED-4DB2-BD59-A6C34878D82A}">
                    <a16:rowId xmlns:a16="http://schemas.microsoft.com/office/drawing/2014/main" val="3024339621"/>
                  </a:ext>
                </a:extLst>
              </a:tr>
              <a:tr h="142481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latin typeface="+mn-lt"/>
                        </a:rPr>
                        <a:t>1</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i="0" u="none" strike="noStrike" noProof="0" dirty="0">
                          <a:solidFill>
                            <a:srgbClr val="404040"/>
                          </a:solidFill>
                          <a:latin typeface="+mn-lt"/>
                        </a:rPr>
                        <a:t>Warehouse Usage Monitoring</a:t>
                      </a:r>
                    </a:p>
                  </a:txBody>
                  <a:tcPr anchor="ctr">
                    <a:solidFill>
                      <a:schemeClr val="bg1">
                        <a:lumMod val="95000"/>
                      </a:schemeClr>
                    </a:solidFill>
                  </a:tcPr>
                </a:tc>
                <a:tc>
                  <a:txBody>
                    <a:bodyPr/>
                    <a:lstStyle/>
                    <a:p>
                      <a:pPr marL="0" algn="ctr" rtl="0" eaLnBrk="1" latinLnBrk="0" hangingPunct="1"/>
                      <a:r>
                        <a:rPr lang="en-US" sz="1000" b="0" i="0" u="none" strike="noStrike" kern="1200" noProof="0" dirty="0">
                          <a:solidFill>
                            <a:srgbClr val="000000"/>
                          </a:solidFill>
                          <a:latin typeface="+mn-lt"/>
                        </a:rPr>
                        <a:t>5</a:t>
                      </a:r>
                    </a:p>
                  </a:txBody>
                  <a:tcPr anchor="ctr">
                    <a:solidFill>
                      <a:schemeClr val="bg1">
                        <a:lumMod val="95000"/>
                      </a:schemeClr>
                    </a:solidFill>
                  </a:tcPr>
                </a:tc>
                <a:tc>
                  <a:txBody>
                    <a:bodyPr/>
                    <a:lstStyle/>
                    <a:p>
                      <a:pPr marL="0" algn="ctr" rtl="0" eaLnBrk="1" latinLnBrk="0" hangingPunct="1"/>
                      <a:r>
                        <a:rPr lang="en-US" sz="1000" b="0" i="0" u="none" strike="noStrike" kern="1200" noProof="0" dirty="0">
                          <a:solidFill>
                            <a:srgbClr val="000000"/>
                          </a:solidFill>
                          <a:latin typeface="+mn-lt"/>
                        </a:rPr>
                        <a:t>Card Visuals</a:t>
                      </a:r>
                    </a:p>
                  </a:txBody>
                  <a:tcPr anchor="ctr">
                    <a:solidFill>
                      <a:schemeClr val="bg1">
                        <a:lumMod val="95000"/>
                      </a:schemeClr>
                    </a:solidFill>
                  </a:tcPr>
                </a:tc>
                <a:tc>
                  <a:txBody>
                    <a:bodyPr/>
                    <a:lstStyle/>
                    <a:p>
                      <a:pPr marL="0" algn="ctr" rtl="0" eaLnBrk="1" latinLnBrk="0" hangingPunct="1"/>
                      <a:r>
                        <a:rPr lang="en-US" sz="1000"/>
                        <a:t>Shows different types of credits consumed and total queries executed in the current qtr. along with YoY values .</a:t>
                      </a:r>
                      <a:endParaRPr lang="en-US" sz="1000" kern="1200">
                        <a:solidFill>
                          <a:schemeClr val="dk1"/>
                        </a:solidFill>
                        <a:latin typeface="+mn-lt"/>
                        <a:ea typeface="+mn-ea"/>
                        <a:cs typeface="+mn-cs"/>
                      </a:endParaRP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Required</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2012711696"/>
                  </a:ext>
                </a:extLst>
              </a:tr>
              <a:tr h="142481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a:latin typeface="+mn-lt"/>
                        </a:rPr>
                        <a:t>2 </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404040"/>
                          </a:solidFill>
                          <a:effectLst/>
                          <a:uLnTx/>
                          <a:uFillTx/>
                          <a:latin typeface="FS Elliot Pro Light"/>
                          <a:ea typeface="+mn-ea"/>
                          <a:cs typeface="+mn-cs"/>
                        </a:rPr>
                        <a:t>Warehouse Usage Monitoring</a:t>
                      </a:r>
                    </a:p>
                  </a:txBody>
                  <a:tcPr anchor="ctr">
                    <a:solidFill>
                      <a:schemeClr val="bg1">
                        <a:lumMod val="95000"/>
                      </a:schemeClr>
                    </a:solidFill>
                  </a:tcPr>
                </a:tc>
                <a:tc>
                  <a:txBody>
                    <a:bodyPr/>
                    <a:lstStyle/>
                    <a:p>
                      <a:pPr marL="0" algn="ctr" rtl="0" eaLnBrk="1" latinLnBrk="0" hangingPunct="1"/>
                      <a:r>
                        <a:rPr lang="en-US" sz="1000" b="0" i="0" u="none" strike="noStrike" kern="1200" noProof="0">
                          <a:solidFill>
                            <a:srgbClr val="000000"/>
                          </a:solidFill>
                          <a:latin typeface="+mn-lt"/>
                        </a:rPr>
                        <a:t>5</a:t>
                      </a:r>
                    </a:p>
                  </a:txBody>
                  <a:tcPr anchor="ctr">
                    <a:solidFill>
                      <a:schemeClr val="bg1">
                        <a:lumMod val="95000"/>
                      </a:schemeClr>
                    </a:solidFill>
                  </a:tcPr>
                </a:tc>
                <a:tc>
                  <a:txBody>
                    <a:bodyPr/>
                    <a:lstStyle/>
                    <a:p>
                      <a:pPr marL="0" algn="ctr" rtl="0" eaLnBrk="1" latinLnBrk="0" hangingPunct="1"/>
                      <a:r>
                        <a:rPr lang="en-US" sz="1000" b="0" i="0" u="none" strike="noStrike" kern="1200" noProof="0">
                          <a:solidFill>
                            <a:srgbClr val="000000"/>
                          </a:solidFill>
                          <a:latin typeface="+mn-lt"/>
                        </a:rPr>
                        <a:t>Line Chart</a:t>
                      </a:r>
                    </a:p>
                  </a:txBody>
                  <a:tcPr anchor="ctr">
                    <a:solidFill>
                      <a:schemeClr val="bg1">
                        <a:lumMod val="95000"/>
                      </a:schemeClr>
                    </a:solidFill>
                  </a:tcPr>
                </a:tc>
                <a:tc>
                  <a:txBody>
                    <a:bodyPr/>
                    <a:lstStyle/>
                    <a:p>
                      <a:pPr marL="0" algn="ctr" rtl="0" eaLnBrk="1" latinLnBrk="0" hangingPunct="1"/>
                      <a:r>
                        <a:rPr lang="en-US" sz="1000" dirty="0"/>
                        <a:t>This shows the total credit capacity and credit used by quarter and month.</a:t>
                      </a:r>
                      <a:endParaRPr lang="en-US" sz="1000" kern="1200" dirty="0">
                        <a:solidFill>
                          <a:schemeClr val="dk1"/>
                        </a:solidFill>
                        <a:latin typeface="+mn-lt"/>
                        <a:ea typeface="+mn-ea"/>
                        <a:cs typeface="+mn-cs"/>
                      </a:endParaRP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Required</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885339418"/>
                  </a:ext>
                </a:extLst>
              </a:tr>
              <a:tr h="142481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a:latin typeface="+mn-lt"/>
                        </a:rPr>
                        <a:t>3 </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404040"/>
                          </a:solidFill>
                          <a:effectLst/>
                          <a:uLnTx/>
                          <a:uFillTx/>
                          <a:latin typeface="FS Elliot Pro Light"/>
                          <a:ea typeface="+mn-ea"/>
                          <a:cs typeface="+mn-cs"/>
                        </a:rPr>
                        <a:t>Warehouse Usage Monitoring</a:t>
                      </a:r>
                    </a:p>
                  </a:txBody>
                  <a:tcPr anchor="ctr">
                    <a:solidFill>
                      <a:schemeClr val="bg1">
                        <a:lumMod val="95000"/>
                      </a:schemeClr>
                    </a:solidFill>
                  </a:tcPr>
                </a:tc>
                <a:tc>
                  <a:txBody>
                    <a:bodyPr/>
                    <a:lstStyle/>
                    <a:p>
                      <a:pPr marL="0" algn="ctr" rtl="0" eaLnBrk="1" latinLnBrk="0" hangingPunct="1"/>
                      <a:r>
                        <a:rPr lang="en-US" sz="1000" b="0" i="0" u="none" strike="noStrike" kern="1200" noProof="0">
                          <a:solidFill>
                            <a:srgbClr val="000000"/>
                          </a:solidFill>
                          <a:latin typeface="+mn-lt"/>
                        </a:rPr>
                        <a:t>5</a:t>
                      </a:r>
                    </a:p>
                  </a:txBody>
                  <a:tcPr anchor="ctr">
                    <a:solidFill>
                      <a:schemeClr val="bg1">
                        <a:lumMod val="95000"/>
                      </a:schemeClr>
                    </a:solidFill>
                  </a:tcPr>
                </a:tc>
                <a:tc>
                  <a:txBody>
                    <a:bodyPr/>
                    <a:lstStyle/>
                    <a:p>
                      <a:pPr marL="0" algn="ctr" rtl="0" eaLnBrk="1" latinLnBrk="0" hangingPunct="1"/>
                      <a:r>
                        <a:rPr lang="en-US" sz="1000" b="0" i="0" u="none" strike="noStrike" kern="1200" noProof="0">
                          <a:solidFill>
                            <a:srgbClr val="000000"/>
                          </a:solidFill>
                          <a:latin typeface="+mn-lt"/>
                        </a:rPr>
                        <a:t>Decomposition Tree</a:t>
                      </a:r>
                    </a:p>
                  </a:txBody>
                  <a:tcPr anchor="ctr">
                    <a:solidFill>
                      <a:schemeClr val="bg1">
                        <a:lumMod val="95000"/>
                      </a:schemeClr>
                    </a:solidFill>
                  </a:tcPr>
                </a:tc>
                <a:tc>
                  <a:txBody>
                    <a:bodyPr/>
                    <a:lstStyle/>
                    <a:p>
                      <a:pPr marL="0" algn="ctr" rtl="0" eaLnBrk="1" latinLnBrk="0" hangingPunct="1"/>
                      <a:r>
                        <a:rPr lang="en-US" sz="1000" dirty="0"/>
                        <a:t>Depicts the top 10 warehouses by different credit used. </a:t>
                      </a:r>
                      <a:endParaRPr lang="en-US" sz="1000" kern="1200" dirty="0">
                        <a:solidFill>
                          <a:schemeClr val="dk1"/>
                        </a:solidFill>
                        <a:latin typeface="+mn-lt"/>
                        <a:ea typeface="+mn-ea"/>
                        <a:cs typeface="+mn-cs"/>
                      </a:endParaRP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mn-lt"/>
                          <a:ea typeface="+mn-ea"/>
                          <a:cs typeface="+mn-cs"/>
                        </a:rPr>
                        <a:t>Required</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rgbClr val="000000"/>
                        </a:solidFill>
                        <a:effectLst/>
                        <a:uLnTx/>
                        <a:uFillTx/>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3568663023"/>
                  </a:ext>
                </a:extLst>
              </a:tr>
            </a:tbl>
          </a:graphicData>
        </a:graphic>
      </p:graphicFrame>
    </p:spTree>
    <p:extLst>
      <p:ext uri="{BB962C8B-B14F-4D97-AF65-F5344CB8AC3E}">
        <p14:creationId xmlns:p14="http://schemas.microsoft.com/office/powerpoint/2010/main" val="11588934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F5814-913E-4F65-099E-2819F47D8E7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D9E3A4B-7B09-F54D-57E2-AD79F5BE692C}"/>
              </a:ext>
            </a:extLst>
          </p:cNvPr>
          <p:cNvSpPr txBox="1">
            <a:spLocks/>
          </p:cNvSpPr>
          <p:nvPr/>
        </p:nvSpPr>
        <p:spPr>
          <a:xfrm>
            <a:off x="284550" y="216713"/>
            <a:ext cx="11904087" cy="509780"/>
          </a:xfrm>
          <a:prstGeom prst="rect">
            <a:avLst/>
          </a:prstGeom>
        </p:spPr>
        <p:txBody>
          <a:bodyPr lIns="91440" tIns="45720" rIns="91440" bIns="45720" anchor="t"/>
          <a:lstStyle>
            <a:lvl1pPr algn="l" defTabSz="914400" rtl="0" eaLnBrk="1" latinLnBrk="0" hangingPunct="1">
              <a:lnSpc>
                <a:spcPct val="100000"/>
              </a:lnSpc>
              <a:spcBef>
                <a:spcPct val="0"/>
              </a:spcBef>
              <a:buNone/>
              <a:defRPr sz="3400" b="0" i="0" kern="1200">
                <a:solidFill>
                  <a:srgbClr val="0076CF"/>
                </a:solidFill>
                <a:latin typeface="FS Elliot Pro Light" panose="02000503040000020004" pitchFamily="2" charset="0"/>
                <a:ea typeface="+mj-ea"/>
                <a:cs typeface="+mj-cs"/>
              </a:defRPr>
            </a:lvl1pPr>
          </a:lstStyle>
          <a:p>
            <a:pPr>
              <a:defRPr/>
            </a:pPr>
            <a:r>
              <a:rPr lang="en-US" sz="3200">
                <a:latin typeface="FS Elliot Pro Light"/>
              </a:rPr>
              <a:t>Performance Management – Detailed View</a:t>
            </a:r>
            <a:endParaRPr lang="en-US">
              <a:ea typeface="+mj-ea"/>
              <a:cs typeface="+mj-cs"/>
            </a:endParaRPr>
          </a:p>
        </p:txBody>
      </p:sp>
      <p:sp>
        <p:nvSpPr>
          <p:cNvPr id="45" name="Rectangle 44">
            <a:extLst>
              <a:ext uri="{FF2B5EF4-FFF2-40B4-BE49-F238E27FC236}">
                <a16:creationId xmlns:a16="http://schemas.microsoft.com/office/drawing/2014/main" id="{98655C7C-8351-91F9-5A74-5F96D718F466}"/>
              </a:ext>
            </a:extLst>
          </p:cNvPr>
          <p:cNvSpPr/>
          <p:nvPr/>
        </p:nvSpPr>
        <p:spPr>
          <a:xfrm>
            <a:off x="394952" y="1219540"/>
            <a:ext cx="900448" cy="361309"/>
          </a:xfrm>
          <a:prstGeom prst="rect">
            <a:avLst/>
          </a:prstGeom>
          <a:no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 name="Rectangle 1">
            <a:extLst>
              <a:ext uri="{FF2B5EF4-FFF2-40B4-BE49-F238E27FC236}">
                <a16:creationId xmlns:a16="http://schemas.microsoft.com/office/drawing/2014/main" id="{489D5303-A77E-A23C-503D-2A19D6A89DFD}"/>
              </a:ext>
            </a:extLst>
          </p:cNvPr>
          <p:cNvSpPr/>
          <p:nvPr/>
        </p:nvSpPr>
        <p:spPr>
          <a:xfrm>
            <a:off x="828961" y="782546"/>
            <a:ext cx="11130975" cy="323141"/>
          </a:xfrm>
          <a:prstGeom prst="rect">
            <a:avLst/>
          </a:prstGeom>
          <a:solidFill>
            <a:schemeClr val="tx2">
              <a:lumMod val="20000"/>
              <a:lumOff val="8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15888">
              <a:buFont typeface="Wingdings" panose="05000000000000000000" pitchFamily="2" charset="2"/>
              <a:buChar char="ü"/>
            </a:pPr>
            <a:r>
              <a:rPr lang="en-US" sz="1100" dirty="0">
                <a:solidFill>
                  <a:schemeClr val="tx1"/>
                </a:solidFill>
              </a:rPr>
              <a:t>Quick view to show details of all the database, warehouse, Queries executed, usage cost etc.</a:t>
            </a:r>
          </a:p>
        </p:txBody>
      </p:sp>
      <p:grpSp>
        <p:nvGrpSpPr>
          <p:cNvPr id="3" name="Graphic 4">
            <a:extLst>
              <a:ext uri="{FF2B5EF4-FFF2-40B4-BE49-F238E27FC236}">
                <a16:creationId xmlns:a16="http://schemas.microsoft.com/office/drawing/2014/main" id="{30AFE33E-03A4-751F-6670-BBFF2F7CE6B3}"/>
              </a:ext>
            </a:extLst>
          </p:cNvPr>
          <p:cNvGrpSpPr>
            <a:grpSpLocks noChangeAspect="1"/>
          </p:cNvGrpSpPr>
          <p:nvPr/>
        </p:nvGrpSpPr>
        <p:grpSpPr>
          <a:xfrm>
            <a:off x="427888" y="696089"/>
            <a:ext cx="496522" cy="496054"/>
            <a:chOff x="1952125" y="1402723"/>
            <a:chExt cx="362313" cy="361971"/>
          </a:xfrm>
          <a:solidFill>
            <a:schemeClr val="tx2">
              <a:lumMod val="60000"/>
              <a:lumOff val="40000"/>
            </a:schemeClr>
          </a:solidFill>
        </p:grpSpPr>
        <p:sp>
          <p:nvSpPr>
            <p:cNvPr id="5" name="Graphic 4">
              <a:extLst>
                <a:ext uri="{FF2B5EF4-FFF2-40B4-BE49-F238E27FC236}">
                  <a16:creationId xmlns:a16="http://schemas.microsoft.com/office/drawing/2014/main" id="{9196265E-8901-6641-6D11-1317FD2254B0}"/>
                </a:ext>
              </a:extLst>
            </p:cNvPr>
            <p:cNvSpPr/>
            <p:nvPr/>
          </p:nvSpPr>
          <p:spPr>
            <a:xfrm>
              <a:off x="2069061" y="1471670"/>
              <a:ext cx="126174" cy="158322"/>
            </a:xfrm>
            <a:custGeom>
              <a:avLst/>
              <a:gdLst>
                <a:gd name="connsiteX0" fmla="*/ 50481 w 126174"/>
                <a:gd name="connsiteY0" fmla="*/ 53626 h 158322"/>
                <a:gd name="connsiteX1" fmla="*/ 40896 w 126174"/>
                <a:gd name="connsiteY1" fmla="*/ 72139 h 158322"/>
                <a:gd name="connsiteX2" fmla="*/ 35145 w 126174"/>
                <a:gd name="connsiteY2" fmla="*/ 75969 h 158322"/>
                <a:gd name="connsiteX3" fmla="*/ 0 w 126174"/>
                <a:gd name="connsiteY3" fmla="*/ 105974 h 158322"/>
                <a:gd name="connsiteX4" fmla="*/ 32589 w 126174"/>
                <a:gd name="connsiteY4" fmla="*/ 121296 h 158322"/>
                <a:gd name="connsiteX5" fmla="*/ 36423 w 126174"/>
                <a:gd name="connsiteY5" fmla="*/ 128318 h 158322"/>
                <a:gd name="connsiteX6" fmla="*/ 46008 w 126174"/>
                <a:gd name="connsiteY6" fmla="*/ 151939 h 158322"/>
                <a:gd name="connsiteX7" fmla="*/ 68372 w 126174"/>
                <a:gd name="connsiteY7" fmla="*/ 144916 h 158322"/>
                <a:gd name="connsiteX8" fmla="*/ 73484 w 126174"/>
                <a:gd name="connsiteY8" fmla="*/ 142363 h 158322"/>
                <a:gd name="connsiteX9" fmla="*/ 76040 w 126174"/>
                <a:gd name="connsiteY9" fmla="*/ 143001 h 158322"/>
                <a:gd name="connsiteX10" fmla="*/ 108629 w 126174"/>
                <a:gd name="connsiteY10" fmla="*/ 158323 h 158322"/>
                <a:gd name="connsiteX11" fmla="*/ 111824 w 126174"/>
                <a:gd name="connsiteY11" fmla="*/ 110443 h 158322"/>
                <a:gd name="connsiteX12" fmla="*/ 111824 w 126174"/>
                <a:gd name="connsiteY12" fmla="*/ 104697 h 158322"/>
                <a:gd name="connsiteX13" fmla="*/ 118214 w 126174"/>
                <a:gd name="connsiteY13" fmla="*/ 0 h 158322"/>
                <a:gd name="connsiteX14" fmla="*/ 53676 w 126174"/>
                <a:gd name="connsiteY14" fmla="*/ 49795 h 158322"/>
                <a:gd name="connsiteX15" fmla="*/ 50481 w 126174"/>
                <a:gd name="connsiteY15" fmla="*/ 53626 h 158322"/>
                <a:gd name="connsiteX16" fmla="*/ 99683 w 126174"/>
                <a:gd name="connsiteY16" fmla="*/ 91929 h 158322"/>
                <a:gd name="connsiteX17" fmla="*/ 72206 w 126174"/>
                <a:gd name="connsiteY17" fmla="*/ 119381 h 158322"/>
                <a:gd name="connsiteX18" fmla="*/ 44730 w 126174"/>
                <a:gd name="connsiteY18" fmla="*/ 91929 h 158322"/>
                <a:gd name="connsiteX19" fmla="*/ 72206 w 126174"/>
                <a:gd name="connsiteY19" fmla="*/ 64478 h 158322"/>
                <a:gd name="connsiteX20" fmla="*/ 99683 w 126174"/>
                <a:gd name="connsiteY20" fmla="*/ 91929 h 158322"/>
                <a:gd name="connsiteX21" fmla="*/ 99683 w 126174"/>
                <a:gd name="connsiteY21" fmla="*/ 91929 h 158322"/>
                <a:gd name="connsiteX22" fmla="*/ 99683 w 126174"/>
                <a:gd name="connsiteY22" fmla="*/ 91929 h 158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6174" h="158322">
                  <a:moveTo>
                    <a:pt x="50481" y="53626"/>
                  </a:moveTo>
                  <a:cubicBezTo>
                    <a:pt x="46647" y="59371"/>
                    <a:pt x="44091" y="65755"/>
                    <a:pt x="40896" y="72139"/>
                  </a:cubicBezTo>
                  <a:cubicBezTo>
                    <a:pt x="39618" y="74693"/>
                    <a:pt x="37701" y="75969"/>
                    <a:pt x="35145" y="75969"/>
                  </a:cubicBezTo>
                  <a:cubicBezTo>
                    <a:pt x="17892" y="76608"/>
                    <a:pt x="3195" y="88737"/>
                    <a:pt x="0" y="105974"/>
                  </a:cubicBezTo>
                  <a:lnTo>
                    <a:pt x="32589" y="121296"/>
                  </a:lnTo>
                  <a:cubicBezTo>
                    <a:pt x="35145" y="122573"/>
                    <a:pt x="36423" y="125126"/>
                    <a:pt x="36423" y="128318"/>
                  </a:cubicBezTo>
                  <a:cubicBezTo>
                    <a:pt x="36423" y="128318"/>
                    <a:pt x="33867" y="146832"/>
                    <a:pt x="46008" y="151939"/>
                  </a:cubicBezTo>
                  <a:cubicBezTo>
                    <a:pt x="58148" y="157046"/>
                    <a:pt x="68372" y="145555"/>
                    <a:pt x="68372" y="144916"/>
                  </a:cubicBezTo>
                  <a:cubicBezTo>
                    <a:pt x="69650" y="143640"/>
                    <a:pt x="71567" y="142363"/>
                    <a:pt x="73484" y="142363"/>
                  </a:cubicBezTo>
                  <a:cubicBezTo>
                    <a:pt x="74123" y="142363"/>
                    <a:pt x="75401" y="142363"/>
                    <a:pt x="76040" y="143001"/>
                  </a:cubicBezTo>
                  <a:lnTo>
                    <a:pt x="108629" y="158323"/>
                  </a:lnTo>
                  <a:cubicBezTo>
                    <a:pt x="117575" y="143640"/>
                    <a:pt x="118853" y="125765"/>
                    <a:pt x="111824" y="110443"/>
                  </a:cubicBezTo>
                  <a:cubicBezTo>
                    <a:pt x="111185" y="108528"/>
                    <a:pt x="111185" y="106613"/>
                    <a:pt x="111824" y="104697"/>
                  </a:cubicBezTo>
                  <a:cubicBezTo>
                    <a:pt x="111824" y="104059"/>
                    <a:pt x="139301" y="49795"/>
                    <a:pt x="118214" y="0"/>
                  </a:cubicBezTo>
                  <a:cubicBezTo>
                    <a:pt x="106712" y="2554"/>
                    <a:pt x="77318" y="12130"/>
                    <a:pt x="53676" y="49795"/>
                  </a:cubicBezTo>
                  <a:cubicBezTo>
                    <a:pt x="52398" y="51710"/>
                    <a:pt x="51759" y="52987"/>
                    <a:pt x="50481" y="53626"/>
                  </a:cubicBezTo>
                  <a:close/>
                  <a:moveTo>
                    <a:pt x="99683" y="91929"/>
                  </a:moveTo>
                  <a:cubicBezTo>
                    <a:pt x="99683" y="107251"/>
                    <a:pt x="87542" y="119381"/>
                    <a:pt x="72206" y="119381"/>
                  </a:cubicBezTo>
                  <a:cubicBezTo>
                    <a:pt x="56871" y="119381"/>
                    <a:pt x="44730" y="107251"/>
                    <a:pt x="44730" y="91929"/>
                  </a:cubicBezTo>
                  <a:cubicBezTo>
                    <a:pt x="44730" y="76608"/>
                    <a:pt x="56871" y="64478"/>
                    <a:pt x="72206" y="64478"/>
                  </a:cubicBezTo>
                  <a:cubicBezTo>
                    <a:pt x="87542" y="65117"/>
                    <a:pt x="99683" y="77246"/>
                    <a:pt x="99683" y="91929"/>
                  </a:cubicBezTo>
                  <a:cubicBezTo>
                    <a:pt x="99683" y="92568"/>
                    <a:pt x="99683" y="92568"/>
                    <a:pt x="99683" y="91929"/>
                  </a:cubicBezTo>
                  <a:lnTo>
                    <a:pt x="99683" y="91929"/>
                  </a:lnTo>
                  <a:close/>
                </a:path>
              </a:pathLst>
            </a:custGeom>
            <a:grpFill/>
            <a:ln w="6390" cap="flat">
              <a:noFill/>
              <a:prstDash val="solid"/>
              <a:miter/>
            </a:ln>
          </p:spPr>
          <p:txBody>
            <a:bodyPr rtlCol="0" anchor="ctr"/>
            <a:lstStyle/>
            <a:p>
              <a:endParaRPr lang="en-US"/>
            </a:p>
          </p:txBody>
        </p:sp>
        <p:sp>
          <p:nvSpPr>
            <p:cNvPr id="7" name="Graphic 4">
              <a:extLst>
                <a:ext uri="{FF2B5EF4-FFF2-40B4-BE49-F238E27FC236}">
                  <a16:creationId xmlns:a16="http://schemas.microsoft.com/office/drawing/2014/main" id="{84243777-A6B2-F49F-006B-5A3BA3D87D66}"/>
                </a:ext>
              </a:extLst>
            </p:cNvPr>
            <p:cNvSpPr/>
            <p:nvPr/>
          </p:nvSpPr>
          <p:spPr>
            <a:xfrm>
              <a:off x="2043501" y="1527211"/>
              <a:ext cx="180835" cy="126402"/>
            </a:xfrm>
            <a:custGeom>
              <a:avLst/>
              <a:gdLst>
                <a:gd name="connsiteX0" fmla="*/ 180835 w 180835"/>
                <a:gd name="connsiteY0" fmla="*/ 5746 h 126402"/>
                <a:gd name="connsiteX1" fmla="*/ 175084 w 180835"/>
                <a:gd name="connsiteY1" fmla="*/ 0 h 126402"/>
                <a:gd name="connsiteX2" fmla="*/ 175084 w 180835"/>
                <a:gd name="connsiteY2" fmla="*/ 0 h 126402"/>
                <a:gd name="connsiteX3" fmla="*/ 163582 w 180835"/>
                <a:gd name="connsiteY3" fmla="*/ 0 h 126402"/>
                <a:gd name="connsiteX4" fmla="*/ 149525 w 180835"/>
                <a:gd name="connsiteY4" fmla="*/ 52987 h 126402"/>
                <a:gd name="connsiteX5" fmla="*/ 140579 w 180835"/>
                <a:gd name="connsiteY5" fmla="*/ 115550 h 126402"/>
                <a:gd name="connsiteX6" fmla="*/ 135467 w 180835"/>
                <a:gd name="connsiteY6" fmla="*/ 118104 h 126402"/>
                <a:gd name="connsiteX7" fmla="*/ 132911 w 180835"/>
                <a:gd name="connsiteY7" fmla="*/ 117465 h 126402"/>
                <a:gd name="connsiteX8" fmla="*/ 99044 w 180835"/>
                <a:gd name="connsiteY8" fmla="*/ 101505 h 126402"/>
                <a:gd name="connsiteX9" fmla="*/ 65177 w 180835"/>
                <a:gd name="connsiteY9" fmla="*/ 108528 h 126402"/>
                <a:gd name="connsiteX10" fmla="*/ 47925 w 180835"/>
                <a:gd name="connsiteY10" fmla="*/ 75969 h 126402"/>
                <a:gd name="connsiteX11" fmla="*/ 14697 w 180835"/>
                <a:gd name="connsiteY11" fmla="*/ 60009 h 126402"/>
                <a:gd name="connsiteX12" fmla="*/ 11502 w 180835"/>
                <a:gd name="connsiteY12" fmla="*/ 52987 h 126402"/>
                <a:gd name="connsiteX13" fmla="*/ 56232 w 180835"/>
                <a:gd name="connsiteY13" fmla="*/ 8299 h 126402"/>
                <a:gd name="connsiteX14" fmla="*/ 60066 w 180835"/>
                <a:gd name="connsiteY14" fmla="*/ 0 h 126402"/>
                <a:gd name="connsiteX15" fmla="*/ 5751 w 180835"/>
                <a:gd name="connsiteY15" fmla="*/ 0 h 126402"/>
                <a:gd name="connsiteX16" fmla="*/ 0 w 180835"/>
                <a:gd name="connsiteY16" fmla="*/ 5746 h 126402"/>
                <a:gd name="connsiteX17" fmla="*/ 0 w 180835"/>
                <a:gd name="connsiteY17" fmla="*/ 5746 h 126402"/>
                <a:gd name="connsiteX18" fmla="*/ 0 w 180835"/>
                <a:gd name="connsiteY18" fmla="*/ 126403 h 126402"/>
                <a:gd name="connsiteX19" fmla="*/ 180835 w 180835"/>
                <a:gd name="connsiteY19" fmla="*/ 126403 h 126402"/>
                <a:gd name="connsiteX20" fmla="*/ 180835 w 180835"/>
                <a:gd name="connsiteY20" fmla="*/ 5746 h 12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80835" h="126402">
                  <a:moveTo>
                    <a:pt x="180835" y="5746"/>
                  </a:moveTo>
                  <a:cubicBezTo>
                    <a:pt x="180835" y="2554"/>
                    <a:pt x="178279" y="0"/>
                    <a:pt x="175084" y="0"/>
                  </a:cubicBezTo>
                  <a:lnTo>
                    <a:pt x="175084" y="0"/>
                  </a:lnTo>
                  <a:lnTo>
                    <a:pt x="163582" y="0"/>
                  </a:lnTo>
                  <a:cubicBezTo>
                    <a:pt x="161666" y="18514"/>
                    <a:pt x="157192" y="36389"/>
                    <a:pt x="149525" y="52987"/>
                  </a:cubicBezTo>
                  <a:cubicBezTo>
                    <a:pt x="157832" y="74054"/>
                    <a:pt x="154637" y="97675"/>
                    <a:pt x="140579" y="115550"/>
                  </a:cubicBezTo>
                  <a:cubicBezTo>
                    <a:pt x="139301" y="116827"/>
                    <a:pt x="137384" y="118104"/>
                    <a:pt x="135467" y="118104"/>
                  </a:cubicBezTo>
                  <a:cubicBezTo>
                    <a:pt x="134828" y="118104"/>
                    <a:pt x="133550" y="118104"/>
                    <a:pt x="132911" y="117465"/>
                  </a:cubicBezTo>
                  <a:lnTo>
                    <a:pt x="99044" y="101505"/>
                  </a:lnTo>
                  <a:cubicBezTo>
                    <a:pt x="90098" y="110443"/>
                    <a:pt x="76679" y="112996"/>
                    <a:pt x="65177" y="108528"/>
                  </a:cubicBezTo>
                  <a:cubicBezTo>
                    <a:pt x="49203" y="100867"/>
                    <a:pt x="47286" y="84269"/>
                    <a:pt x="47925" y="75969"/>
                  </a:cubicBezTo>
                  <a:lnTo>
                    <a:pt x="14697" y="60009"/>
                  </a:lnTo>
                  <a:cubicBezTo>
                    <a:pt x="12141" y="58733"/>
                    <a:pt x="10863" y="56179"/>
                    <a:pt x="11502" y="52987"/>
                  </a:cubicBezTo>
                  <a:cubicBezTo>
                    <a:pt x="17892" y="20429"/>
                    <a:pt x="41535" y="9576"/>
                    <a:pt x="56232" y="8299"/>
                  </a:cubicBezTo>
                  <a:cubicBezTo>
                    <a:pt x="57509" y="5746"/>
                    <a:pt x="58788" y="2554"/>
                    <a:pt x="60066" y="0"/>
                  </a:cubicBezTo>
                  <a:lnTo>
                    <a:pt x="5751" y="0"/>
                  </a:lnTo>
                  <a:cubicBezTo>
                    <a:pt x="2556" y="0"/>
                    <a:pt x="0" y="2554"/>
                    <a:pt x="0" y="5746"/>
                  </a:cubicBezTo>
                  <a:lnTo>
                    <a:pt x="0" y="5746"/>
                  </a:lnTo>
                  <a:lnTo>
                    <a:pt x="0" y="126403"/>
                  </a:lnTo>
                  <a:lnTo>
                    <a:pt x="180835" y="126403"/>
                  </a:lnTo>
                  <a:lnTo>
                    <a:pt x="180835" y="5746"/>
                  </a:lnTo>
                  <a:close/>
                </a:path>
              </a:pathLst>
            </a:custGeom>
            <a:grpFill/>
            <a:ln w="6390" cap="flat">
              <a:noFill/>
              <a:prstDash val="solid"/>
              <a:miter/>
            </a:ln>
          </p:spPr>
          <p:txBody>
            <a:bodyPr rtlCol="0" anchor="ctr"/>
            <a:lstStyle/>
            <a:p>
              <a:endParaRPr lang="en-US"/>
            </a:p>
          </p:txBody>
        </p:sp>
        <p:sp>
          <p:nvSpPr>
            <p:cNvPr id="8" name="Graphic 4">
              <a:extLst>
                <a:ext uri="{FF2B5EF4-FFF2-40B4-BE49-F238E27FC236}">
                  <a16:creationId xmlns:a16="http://schemas.microsoft.com/office/drawing/2014/main" id="{28044671-CC61-D5FF-9D25-3C08FDAB61CD}"/>
                </a:ext>
              </a:extLst>
            </p:cNvPr>
            <p:cNvSpPr/>
            <p:nvPr/>
          </p:nvSpPr>
          <p:spPr>
            <a:xfrm>
              <a:off x="2126570" y="1549555"/>
              <a:ext cx="29393" cy="29366"/>
            </a:xfrm>
            <a:custGeom>
              <a:avLst/>
              <a:gdLst>
                <a:gd name="connsiteX0" fmla="*/ 14697 w 29393"/>
                <a:gd name="connsiteY0" fmla="*/ 29366 h 29366"/>
                <a:gd name="connsiteX1" fmla="*/ 29394 w 29393"/>
                <a:gd name="connsiteY1" fmla="*/ 14683 h 29366"/>
                <a:gd name="connsiteX2" fmla="*/ 14697 w 29393"/>
                <a:gd name="connsiteY2" fmla="*/ 0 h 29366"/>
                <a:gd name="connsiteX3" fmla="*/ 0 w 29393"/>
                <a:gd name="connsiteY3" fmla="*/ 14683 h 29366"/>
                <a:gd name="connsiteX4" fmla="*/ 14697 w 29393"/>
                <a:gd name="connsiteY4" fmla="*/ 29366 h 29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93" h="29366">
                  <a:moveTo>
                    <a:pt x="14697" y="29366"/>
                  </a:moveTo>
                  <a:cubicBezTo>
                    <a:pt x="23004" y="29366"/>
                    <a:pt x="29394" y="22982"/>
                    <a:pt x="29394" y="14683"/>
                  </a:cubicBezTo>
                  <a:cubicBezTo>
                    <a:pt x="29394" y="6384"/>
                    <a:pt x="23004" y="0"/>
                    <a:pt x="14697" y="0"/>
                  </a:cubicBezTo>
                  <a:cubicBezTo>
                    <a:pt x="6390" y="0"/>
                    <a:pt x="0" y="6384"/>
                    <a:pt x="0" y="14683"/>
                  </a:cubicBezTo>
                  <a:cubicBezTo>
                    <a:pt x="0" y="22982"/>
                    <a:pt x="6390" y="29366"/>
                    <a:pt x="14697" y="29366"/>
                  </a:cubicBezTo>
                  <a:close/>
                </a:path>
              </a:pathLst>
            </a:custGeom>
            <a:grpFill/>
            <a:ln w="6390" cap="flat">
              <a:noFill/>
              <a:prstDash val="solid"/>
              <a:miter/>
            </a:ln>
          </p:spPr>
          <p:txBody>
            <a:bodyPr rtlCol="0" anchor="ctr"/>
            <a:lstStyle/>
            <a:p>
              <a:endParaRPr lang="en-US"/>
            </a:p>
          </p:txBody>
        </p:sp>
        <p:sp>
          <p:nvSpPr>
            <p:cNvPr id="9" name="Graphic 4">
              <a:extLst>
                <a:ext uri="{FF2B5EF4-FFF2-40B4-BE49-F238E27FC236}">
                  <a16:creationId xmlns:a16="http://schemas.microsoft.com/office/drawing/2014/main" id="{A2879FB1-4694-D139-4FCB-437037744378}"/>
                </a:ext>
              </a:extLst>
            </p:cNvPr>
            <p:cNvSpPr/>
            <p:nvPr/>
          </p:nvSpPr>
          <p:spPr>
            <a:xfrm>
              <a:off x="2033278" y="1666381"/>
              <a:ext cx="201283" cy="3191"/>
            </a:xfrm>
            <a:custGeom>
              <a:avLst/>
              <a:gdLst>
                <a:gd name="connsiteX0" fmla="*/ 3834 w 201283"/>
                <a:gd name="connsiteY0" fmla="*/ 0 h 3191"/>
                <a:gd name="connsiteX1" fmla="*/ 0 w 201283"/>
                <a:gd name="connsiteY1" fmla="*/ 0 h 3191"/>
                <a:gd name="connsiteX2" fmla="*/ 7029 w 201283"/>
                <a:gd name="connsiteY2" fmla="*/ 3192 h 3191"/>
                <a:gd name="connsiteX3" fmla="*/ 194254 w 201283"/>
                <a:gd name="connsiteY3" fmla="*/ 3192 h 3191"/>
                <a:gd name="connsiteX4" fmla="*/ 201283 w 201283"/>
                <a:gd name="connsiteY4" fmla="*/ 0 h 3191"/>
                <a:gd name="connsiteX5" fmla="*/ 3834 w 201283"/>
                <a:gd name="connsiteY5" fmla="*/ 0 h 3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1283" h="3191">
                  <a:moveTo>
                    <a:pt x="3834" y="0"/>
                  </a:moveTo>
                  <a:lnTo>
                    <a:pt x="0" y="0"/>
                  </a:lnTo>
                  <a:cubicBezTo>
                    <a:pt x="1917" y="1915"/>
                    <a:pt x="4473" y="3192"/>
                    <a:pt x="7029" y="3192"/>
                  </a:cubicBezTo>
                  <a:lnTo>
                    <a:pt x="194254" y="3192"/>
                  </a:lnTo>
                  <a:cubicBezTo>
                    <a:pt x="196810" y="3192"/>
                    <a:pt x="199366" y="1915"/>
                    <a:pt x="201283" y="0"/>
                  </a:cubicBezTo>
                  <a:lnTo>
                    <a:pt x="3834" y="0"/>
                  </a:lnTo>
                  <a:close/>
                </a:path>
              </a:pathLst>
            </a:custGeom>
            <a:grpFill/>
            <a:ln w="6390" cap="flat">
              <a:noFill/>
              <a:prstDash val="solid"/>
              <a:miter/>
            </a:ln>
          </p:spPr>
          <p:txBody>
            <a:bodyPr rtlCol="0" anchor="ctr"/>
            <a:lstStyle/>
            <a:p>
              <a:endParaRPr lang="en-US"/>
            </a:p>
          </p:txBody>
        </p:sp>
        <p:sp>
          <p:nvSpPr>
            <p:cNvPr id="10" name="Graphic 4">
              <a:extLst>
                <a:ext uri="{FF2B5EF4-FFF2-40B4-BE49-F238E27FC236}">
                  <a16:creationId xmlns:a16="http://schemas.microsoft.com/office/drawing/2014/main" id="{2256E0D9-1666-5B3D-44C5-5DE2F0A94482}"/>
                </a:ext>
              </a:extLst>
            </p:cNvPr>
            <p:cNvSpPr/>
            <p:nvPr/>
          </p:nvSpPr>
          <p:spPr>
            <a:xfrm>
              <a:off x="1952125" y="1402723"/>
              <a:ext cx="362313" cy="361971"/>
            </a:xfrm>
            <a:custGeom>
              <a:avLst/>
              <a:gdLst>
                <a:gd name="connsiteX0" fmla="*/ 181474 w 362313"/>
                <a:gd name="connsiteY0" fmla="*/ 0 h 361971"/>
                <a:gd name="connsiteX1" fmla="*/ 0 w 362313"/>
                <a:gd name="connsiteY1" fmla="*/ 180667 h 361971"/>
                <a:gd name="connsiteX2" fmla="*/ 180835 w 362313"/>
                <a:gd name="connsiteY2" fmla="*/ 361972 h 361971"/>
                <a:gd name="connsiteX3" fmla="*/ 362310 w 362313"/>
                <a:gd name="connsiteY3" fmla="*/ 181305 h 361971"/>
                <a:gd name="connsiteX4" fmla="*/ 362310 w 362313"/>
                <a:gd name="connsiteY4" fmla="*/ 181305 h 361971"/>
                <a:gd name="connsiteX5" fmla="*/ 181474 w 362313"/>
                <a:gd name="connsiteY5" fmla="*/ 0 h 361971"/>
                <a:gd name="connsiteX6" fmla="*/ 275406 w 362313"/>
                <a:gd name="connsiteY6" fmla="*/ 279618 h 361971"/>
                <a:gd name="connsiteX7" fmla="*/ 88181 w 362313"/>
                <a:gd name="connsiteY7" fmla="*/ 279618 h 361971"/>
                <a:gd name="connsiteX8" fmla="*/ 65816 w 362313"/>
                <a:gd name="connsiteY8" fmla="*/ 257274 h 361971"/>
                <a:gd name="connsiteX9" fmla="*/ 72206 w 362313"/>
                <a:gd name="connsiteY9" fmla="*/ 250890 h 361971"/>
                <a:gd name="connsiteX10" fmla="*/ 78596 w 362313"/>
                <a:gd name="connsiteY10" fmla="*/ 250890 h 361971"/>
                <a:gd name="connsiteX11" fmla="*/ 78596 w 362313"/>
                <a:gd name="connsiteY11" fmla="*/ 130233 h 361971"/>
                <a:gd name="connsiteX12" fmla="*/ 97127 w 362313"/>
                <a:gd name="connsiteY12" fmla="*/ 111720 h 361971"/>
                <a:gd name="connsiteX13" fmla="*/ 97127 w 362313"/>
                <a:gd name="connsiteY13" fmla="*/ 111720 h 361971"/>
                <a:gd name="connsiteX14" fmla="*/ 159109 w 362313"/>
                <a:gd name="connsiteY14" fmla="*/ 111720 h 361971"/>
                <a:gd name="connsiteX15" fmla="*/ 237067 w 362313"/>
                <a:gd name="connsiteY15" fmla="*/ 56817 h 361971"/>
                <a:gd name="connsiteX16" fmla="*/ 243457 w 362313"/>
                <a:gd name="connsiteY16" fmla="*/ 60648 h 361971"/>
                <a:gd name="connsiteX17" fmla="*/ 254958 w 362313"/>
                <a:gd name="connsiteY17" fmla="*/ 112358 h 361971"/>
                <a:gd name="connsiteX18" fmla="*/ 265821 w 362313"/>
                <a:gd name="connsiteY18" fmla="*/ 112358 h 361971"/>
                <a:gd name="connsiteX19" fmla="*/ 284352 w 362313"/>
                <a:gd name="connsiteY19" fmla="*/ 130872 h 361971"/>
                <a:gd name="connsiteX20" fmla="*/ 284352 w 362313"/>
                <a:gd name="connsiteY20" fmla="*/ 130872 h 361971"/>
                <a:gd name="connsiteX21" fmla="*/ 284352 w 362313"/>
                <a:gd name="connsiteY21" fmla="*/ 251529 h 361971"/>
                <a:gd name="connsiteX22" fmla="*/ 290742 w 362313"/>
                <a:gd name="connsiteY22" fmla="*/ 251529 h 361971"/>
                <a:gd name="connsiteX23" fmla="*/ 297132 w 362313"/>
                <a:gd name="connsiteY23" fmla="*/ 257913 h 361971"/>
                <a:gd name="connsiteX24" fmla="*/ 275406 w 362313"/>
                <a:gd name="connsiteY24" fmla="*/ 279618 h 361971"/>
                <a:gd name="connsiteX25" fmla="*/ 275406 w 362313"/>
                <a:gd name="connsiteY25" fmla="*/ 279618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62313" h="361971">
                  <a:moveTo>
                    <a:pt x="181474" y="0"/>
                  </a:moveTo>
                  <a:cubicBezTo>
                    <a:pt x="81152" y="0"/>
                    <a:pt x="0" y="81077"/>
                    <a:pt x="0" y="180667"/>
                  </a:cubicBezTo>
                  <a:cubicBezTo>
                    <a:pt x="0" y="280895"/>
                    <a:pt x="81152" y="361972"/>
                    <a:pt x="180835" y="361972"/>
                  </a:cubicBezTo>
                  <a:cubicBezTo>
                    <a:pt x="281157" y="361972"/>
                    <a:pt x="362310" y="280895"/>
                    <a:pt x="362310" y="181305"/>
                  </a:cubicBezTo>
                  <a:cubicBezTo>
                    <a:pt x="362310" y="181305"/>
                    <a:pt x="362310" y="181305"/>
                    <a:pt x="362310" y="181305"/>
                  </a:cubicBezTo>
                  <a:cubicBezTo>
                    <a:pt x="362948" y="80438"/>
                    <a:pt x="281796" y="0"/>
                    <a:pt x="181474" y="0"/>
                  </a:cubicBezTo>
                  <a:close/>
                  <a:moveTo>
                    <a:pt x="275406" y="279618"/>
                  </a:moveTo>
                  <a:lnTo>
                    <a:pt x="88181" y="279618"/>
                  </a:lnTo>
                  <a:cubicBezTo>
                    <a:pt x="76040" y="279618"/>
                    <a:pt x="65816" y="269404"/>
                    <a:pt x="65816" y="257274"/>
                  </a:cubicBezTo>
                  <a:cubicBezTo>
                    <a:pt x="65816" y="253444"/>
                    <a:pt x="68372" y="250890"/>
                    <a:pt x="72206" y="250890"/>
                  </a:cubicBezTo>
                  <a:lnTo>
                    <a:pt x="78596" y="250890"/>
                  </a:lnTo>
                  <a:lnTo>
                    <a:pt x="78596" y="130233"/>
                  </a:lnTo>
                  <a:cubicBezTo>
                    <a:pt x="78596" y="120019"/>
                    <a:pt x="86903" y="111720"/>
                    <a:pt x="97127" y="111720"/>
                  </a:cubicBezTo>
                  <a:lnTo>
                    <a:pt x="97127" y="111720"/>
                  </a:lnTo>
                  <a:lnTo>
                    <a:pt x="159109" y="111720"/>
                  </a:lnTo>
                  <a:cubicBezTo>
                    <a:pt x="191698" y="61286"/>
                    <a:pt x="235150" y="56817"/>
                    <a:pt x="237067" y="56817"/>
                  </a:cubicBezTo>
                  <a:cubicBezTo>
                    <a:pt x="239623" y="56817"/>
                    <a:pt x="242179" y="58094"/>
                    <a:pt x="243457" y="60648"/>
                  </a:cubicBezTo>
                  <a:cubicBezTo>
                    <a:pt x="251124" y="76608"/>
                    <a:pt x="254958" y="94483"/>
                    <a:pt x="254958" y="112358"/>
                  </a:cubicBezTo>
                  <a:lnTo>
                    <a:pt x="265821" y="112358"/>
                  </a:lnTo>
                  <a:cubicBezTo>
                    <a:pt x="276045" y="112358"/>
                    <a:pt x="284352" y="120657"/>
                    <a:pt x="284352" y="130872"/>
                  </a:cubicBezTo>
                  <a:lnTo>
                    <a:pt x="284352" y="130872"/>
                  </a:lnTo>
                  <a:lnTo>
                    <a:pt x="284352" y="251529"/>
                  </a:lnTo>
                  <a:lnTo>
                    <a:pt x="290742" y="251529"/>
                  </a:lnTo>
                  <a:cubicBezTo>
                    <a:pt x="294576" y="251529"/>
                    <a:pt x="297132" y="254082"/>
                    <a:pt x="297132" y="257913"/>
                  </a:cubicBezTo>
                  <a:cubicBezTo>
                    <a:pt x="297771" y="269404"/>
                    <a:pt x="287547" y="278980"/>
                    <a:pt x="275406" y="279618"/>
                  </a:cubicBezTo>
                  <a:lnTo>
                    <a:pt x="275406" y="279618"/>
                  </a:lnTo>
                  <a:close/>
                </a:path>
              </a:pathLst>
            </a:custGeom>
            <a:grpFill/>
            <a:ln w="6390" cap="flat">
              <a:noFill/>
              <a:prstDash val="solid"/>
              <a:miter/>
            </a:ln>
          </p:spPr>
          <p:txBody>
            <a:bodyPr rtlCol="0" anchor="ctr"/>
            <a:lstStyle/>
            <a:p>
              <a:endParaRPr lang="en-US"/>
            </a:p>
          </p:txBody>
        </p:sp>
      </p:grpSp>
      <p:sp>
        <p:nvSpPr>
          <p:cNvPr id="14" name="Callout: Line 13">
            <a:extLst>
              <a:ext uri="{FF2B5EF4-FFF2-40B4-BE49-F238E27FC236}">
                <a16:creationId xmlns:a16="http://schemas.microsoft.com/office/drawing/2014/main" id="{DA35580A-0108-4965-D4BF-684112941F7C}"/>
              </a:ext>
            </a:extLst>
          </p:cNvPr>
          <p:cNvSpPr/>
          <p:nvPr/>
        </p:nvSpPr>
        <p:spPr>
          <a:xfrm>
            <a:off x="10648590" y="3313136"/>
            <a:ext cx="424542" cy="236766"/>
          </a:xfrm>
          <a:prstGeom prst="borderCallout1">
            <a:avLst>
              <a:gd name="adj1" fmla="val 18750"/>
              <a:gd name="adj2" fmla="val -8333"/>
              <a:gd name="adj3" fmla="val 174569"/>
              <a:gd name="adj4" fmla="val -146026"/>
            </a:avLst>
          </a:prstGeom>
          <a:solidFill>
            <a:schemeClr val="bg1"/>
          </a:solidFill>
          <a:ln>
            <a:solidFill>
              <a:schemeClr val="bg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a:t>
            </a:r>
          </a:p>
        </p:txBody>
      </p:sp>
      <p:pic>
        <p:nvPicPr>
          <p:cNvPr id="16" name="Picture 15">
            <a:extLst>
              <a:ext uri="{FF2B5EF4-FFF2-40B4-BE49-F238E27FC236}">
                <a16:creationId xmlns:a16="http://schemas.microsoft.com/office/drawing/2014/main" id="{EFCFED51-CE3C-1998-8210-E747277F2E9C}"/>
              </a:ext>
            </a:extLst>
          </p:cNvPr>
          <p:cNvPicPr>
            <a:picLocks/>
          </p:cNvPicPr>
          <p:nvPr/>
        </p:nvPicPr>
        <p:blipFill>
          <a:blip r:embed="rId3"/>
          <a:stretch>
            <a:fillRect/>
          </a:stretch>
        </p:blipFill>
        <p:spPr>
          <a:xfrm>
            <a:off x="2164800" y="1216800"/>
            <a:ext cx="7862400" cy="5396400"/>
          </a:xfrm>
          <a:prstGeom prst="rect">
            <a:avLst/>
          </a:prstGeom>
          <a:ln>
            <a:solidFill>
              <a:schemeClr val="bg1">
                <a:lumMod val="75000"/>
              </a:schemeClr>
            </a:solidFill>
          </a:ln>
        </p:spPr>
      </p:pic>
    </p:spTree>
    <p:extLst>
      <p:ext uri="{BB962C8B-B14F-4D97-AF65-F5344CB8AC3E}">
        <p14:creationId xmlns:p14="http://schemas.microsoft.com/office/powerpoint/2010/main" val="5891570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5EA4E-6FF4-8816-F217-58875D1A314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F21281E1-F8AE-8E6B-721E-15883B7330FF}"/>
              </a:ext>
            </a:extLst>
          </p:cNvPr>
          <p:cNvSpPr txBox="1">
            <a:spLocks/>
          </p:cNvSpPr>
          <p:nvPr/>
        </p:nvSpPr>
        <p:spPr>
          <a:xfrm>
            <a:off x="284550" y="216713"/>
            <a:ext cx="11904087" cy="509780"/>
          </a:xfrm>
          <a:prstGeom prst="rect">
            <a:avLst/>
          </a:prstGeom>
        </p:spPr>
        <p:txBody>
          <a:bodyPr lIns="91440" tIns="45720" rIns="91440" bIns="45720" anchor="t"/>
          <a:lstStyle>
            <a:lvl1pPr algn="l" defTabSz="914400" rtl="0" eaLnBrk="1" latinLnBrk="0" hangingPunct="1">
              <a:lnSpc>
                <a:spcPct val="100000"/>
              </a:lnSpc>
              <a:spcBef>
                <a:spcPct val="0"/>
              </a:spcBef>
              <a:buNone/>
              <a:defRPr sz="3400" b="0" i="0" kern="1200">
                <a:solidFill>
                  <a:srgbClr val="0076CF"/>
                </a:solidFill>
                <a:latin typeface="FS Elliot Pro Light" panose="02000503040000020004" pitchFamily="2" charset="0"/>
                <a:ea typeface="+mj-ea"/>
                <a:cs typeface="+mj-cs"/>
              </a:defRPr>
            </a:lvl1pPr>
          </a:lstStyle>
          <a:p>
            <a:pPr>
              <a:defRPr/>
            </a:pPr>
            <a:r>
              <a:rPr lang="en-US" sz="3200" dirty="0">
                <a:latin typeface="FS Elliot Pro Light"/>
              </a:rPr>
              <a:t>Performance Management – Detailed View summary</a:t>
            </a:r>
            <a:endParaRPr lang="en-US" sz="1600" dirty="0">
              <a:ea typeface="+mj-ea"/>
              <a:cs typeface="+mj-cs"/>
            </a:endParaRPr>
          </a:p>
        </p:txBody>
      </p:sp>
      <p:graphicFrame>
        <p:nvGraphicFramePr>
          <p:cNvPr id="6" name="Table 5">
            <a:extLst>
              <a:ext uri="{FF2B5EF4-FFF2-40B4-BE49-F238E27FC236}">
                <a16:creationId xmlns:a16="http://schemas.microsoft.com/office/drawing/2014/main" id="{6E13AD4D-5FA3-B3C9-CF37-777C97B9F902}"/>
              </a:ext>
            </a:extLst>
          </p:cNvPr>
          <p:cNvGraphicFramePr>
            <a:graphicFrameLocks noGrp="1"/>
          </p:cNvGraphicFramePr>
          <p:nvPr/>
        </p:nvGraphicFramePr>
        <p:xfrm>
          <a:off x="394855" y="931959"/>
          <a:ext cx="11430000" cy="2064898"/>
        </p:xfrm>
        <a:graphic>
          <a:graphicData uri="http://schemas.openxmlformats.org/drawingml/2006/table">
            <a:tbl>
              <a:tblPr firstRow="1" bandRow="1">
                <a:tableStyleId>{5C22544A-7EE6-4342-B048-85BDC9FD1C3A}</a:tableStyleId>
              </a:tblPr>
              <a:tblGrid>
                <a:gridCol w="449322">
                  <a:extLst>
                    <a:ext uri="{9D8B030D-6E8A-4147-A177-3AD203B41FA5}">
                      <a16:colId xmlns:a16="http://schemas.microsoft.com/office/drawing/2014/main" val="1227872876"/>
                    </a:ext>
                  </a:extLst>
                </a:gridCol>
                <a:gridCol w="1179932">
                  <a:extLst>
                    <a:ext uri="{9D8B030D-6E8A-4147-A177-3AD203B41FA5}">
                      <a16:colId xmlns:a16="http://schemas.microsoft.com/office/drawing/2014/main" val="3573294361"/>
                    </a:ext>
                  </a:extLst>
                </a:gridCol>
                <a:gridCol w="807868">
                  <a:extLst>
                    <a:ext uri="{9D8B030D-6E8A-4147-A177-3AD203B41FA5}">
                      <a16:colId xmlns:a16="http://schemas.microsoft.com/office/drawing/2014/main" val="684506535"/>
                    </a:ext>
                  </a:extLst>
                </a:gridCol>
                <a:gridCol w="1327901">
                  <a:extLst>
                    <a:ext uri="{9D8B030D-6E8A-4147-A177-3AD203B41FA5}">
                      <a16:colId xmlns:a16="http://schemas.microsoft.com/office/drawing/2014/main" val="2881509476"/>
                    </a:ext>
                  </a:extLst>
                </a:gridCol>
                <a:gridCol w="4753303">
                  <a:extLst>
                    <a:ext uri="{9D8B030D-6E8A-4147-A177-3AD203B41FA5}">
                      <a16:colId xmlns:a16="http://schemas.microsoft.com/office/drawing/2014/main" val="3389198070"/>
                    </a:ext>
                  </a:extLst>
                </a:gridCol>
                <a:gridCol w="1651246">
                  <a:extLst>
                    <a:ext uri="{9D8B030D-6E8A-4147-A177-3AD203B41FA5}">
                      <a16:colId xmlns:a16="http://schemas.microsoft.com/office/drawing/2014/main" val="1391104289"/>
                    </a:ext>
                  </a:extLst>
                </a:gridCol>
                <a:gridCol w="1260428">
                  <a:extLst>
                    <a:ext uri="{9D8B030D-6E8A-4147-A177-3AD203B41FA5}">
                      <a16:colId xmlns:a16="http://schemas.microsoft.com/office/drawing/2014/main" val="4206051783"/>
                    </a:ext>
                  </a:extLst>
                </a:gridCol>
              </a:tblGrid>
              <a:tr h="640080">
                <a:tc>
                  <a:txBody>
                    <a:bodyPr/>
                    <a:lstStyle/>
                    <a:p>
                      <a:pPr algn="ctr"/>
                      <a:r>
                        <a:rPr lang="en-US" sz="1100">
                          <a:latin typeface="+mj-lt"/>
                        </a:rPr>
                        <a:t>#</a:t>
                      </a:r>
                    </a:p>
                  </a:txBody>
                  <a:tcPr anchor="ctr">
                    <a:solidFill>
                      <a:srgbClr val="338DCD"/>
                    </a:solidFill>
                  </a:tcPr>
                </a:tc>
                <a:tc>
                  <a:txBody>
                    <a:bodyPr/>
                    <a:lstStyle/>
                    <a:p>
                      <a:pPr algn="ctr"/>
                      <a:r>
                        <a:rPr lang="en-US" sz="1100">
                          <a:latin typeface="+mj-lt"/>
                        </a:rPr>
                        <a:t>Category</a:t>
                      </a:r>
                    </a:p>
                  </a:txBody>
                  <a:tcPr anchor="ctr">
                    <a:solidFill>
                      <a:srgbClr val="338DCD"/>
                    </a:solidFill>
                  </a:tcPr>
                </a:tc>
                <a:tc>
                  <a:txBody>
                    <a:bodyPr/>
                    <a:lstStyle/>
                    <a:p>
                      <a:pPr algn="ctr"/>
                      <a:r>
                        <a:rPr lang="en-US" sz="1100">
                          <a:latin typeface="+mj-lt"/>
                        </a:rPr>
                        <a:t>Category Priority</a:t>
                      </a:r>
                    </a:p>
                  </a:txBody>
                  <a:tcPr anchor="ctr">
                    <a:solidFill>
                      <a:srgbClr val="338DCD"/>
                    </a:solidFill>
                  </a:tcPr>
                </a:tc>
                <a:tc>
                  <a:txBody>
                    <a:bodyPr/>
                    <a:lstStyle/>
                    <a:p>
                      <a:pPr algn="ctr"/>
                      <a:r>
                        <a:rPr lang="en-US" sz="1100">
                          <a:latin typeface="+mj-lt"/>
                        </a:rPr>
                        <a:t>Chart type</a:t>
                      </a:r>
                    </a:p>
                  </a:txBody>
                  <a:tcPr anchor="ctr">
                    <a:solidFill>
                      <a:srgbClr val="338DCD"/>
                    </a:solidFill>
                  </a:tcPr>
                </a:tc>
                <a:tc>
                  <a:txBody>
                    <a:bodyPr/>
                    <a:lstStyle/>
                    <a:p>
                      <a:pPr algn="ctr"/>
                      <a:r>
                        <a:rPr lang="en-US" sz="1100">
                          <a:latin typeface="+mj-lt"/>
                        </a:rPr>
                        <a:t>Description</a:t>
                      </a:r>
                    </a:p>
                  </a:txBody>
                  <a:tcPr anchor="ctr">
                    <a:solidFill>
                      <a:srgbClr val="338DCD"/>
                    </a:solidFill>
                  </a:tcPr>
                </a:tc>
                <a:tc>
                  <a:txBody>
                    <a:bodyPr/>
                    <a:lstStyle/>
                    <a:p>
                      <a:pPr algn="ctr"/>
                      <a:r>
                        <a:rPr lang="en-US" sz="1100">
                          <a:latin typeface="+mj-lt"/>
                        </a:rPr>
                        <a:t>Assessment: </a:t>
                      </a:r>
                      <a:br>
                        <a:rPr lang="en-US" sz="1100">
                          <a:latin typeface="+mj-lt"/>
                        </a:rPr>
                      </a:br>
                      <a:r>
                        <a:rPr lang="en-US" sz="1100">
                          <a:latin typeface="+mj-lt"/>
                        </a:rPr>
                        <a:t>Required, Aspirational</a:t>
                      </a:r>
                    </a:p>
                  </a:txBody>
                  <a:tcPr anchor="ctr">
                    <a:solidFill>
                      <a:srgbClr val="338DCD"/>
                    </a:solidFill>
                  </a:tcPr>
                </a:tc>
                <a:tc>
                  <a:txBody>
                    <a:bodyPr/>
                    <a:lstStyle/>
                    <a:p>
                      <a:pPr algn="ctr"/>
                      <a:r>
                        <a:rPr lang="en-US" sz="1100">
                          <a:latin typeface="+mj-lt"/>
                        </a:rPr>
                        <a:t>Implementation Priority</a:t>
                      </a:r>
                    </a:p>
                  </a:txBody>
                  <a:tcPr anchor="ctr">
                    <a:solidFill>
                      <a:srgbClr val="338DCD"/>
                    </a:solidFill>
                  </a:tcPr>
                </a:tc>
                <a:extLst>
                  <a:ext uri="{0D108BD9-81ED-4DB2-BD59-A6C34878D82A}">
                    <a16:rowId xmlns:a16="http://schemas.microsoft.com/office/drawing/2014/main" val="3024339621"/>
                  </a:ext>
                </a:extLst>
              </a:tr>
              <a:tr h="142481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a:latin typeface="+mn-lt"/>
                        </a:rPr>
                        <a:t>1</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i="0" u="none" strike="noStrike" noProof="0">
                          <a:solidFill>
                            <a:srgbClr val="404040"/>
                          </a:solidFill>
                          <a:latin typeface="+mn-lt"/>
                        </a:rPr>
                        <a:t>Detailed View Page</a:t>
                      </a:r>
                    </a:p>
                  </a:txBody>
                  <a:tcPr anchor="ctr">
                    <a:solidFill>
                      <a:schemeClr val="bg1">
                        <a:lumMod val="95000"/>
                      </a:schemeClr>
                    </a:solidFill>
                  </a:tcPr>
                </a:tc>
                <a:tc>
                  <a:txBody>
                    <a:bodyPr/>
                    <a:lstStyle/>
                    <a:p>
                      <a:pPr marL="0" algn="ctr" rtl="0" eaLnBrk="1" latinLnBrk="0" hangingPunct="1"/>
                      <a:r>
                        <a:rPr lang="en-US" sz="1000" b="0" i="0" u="none" strike="noStrike" kern="1200" noProof="0">
                          <a:solidFill>
                            <a:srgbClr val="000000"/>
                          </a:solidFill>
                          <a:latin typeface="+mn-lt"/>
                        </a:rPr>
                        <a:t>5</a:t>
                      </a:r>
                    </a:p>
                  </a:txBody>
                  <a:tcPr anchor="ctr">
                    <a:solidFill>
                      <a:schemeClr val="bg1">
                        <a:lumMod val="95000"/>
                      </a:schemeClr>
                    </a:solidFill>
                  </a:tcPr>
                </a:tc>
                <a:tc>
                  <a:txBody>
                    <a:bodyPr/>
                    <a:lstStyle/>
                    <a:p>
                      <a:pPr marL="0" algn="ctr" rtl="0" eaLnBrk="1" latinLnBrk="0" hangingPunct="1"/>
                      <a:r>
                        <a:rPr lang="en-US" sz="1000" b="0" i="0" u="none" strike="noStrike" kern="1200" noProof="0">
                          <a:solidFill>
                            <a:srgbClr val="000000"/>
                          </a:solidFill>
                          <a:latin typeface="+mn-lt"/>
                        </a:rPr>
                        <a:t>Table Visual</a:t>
                      </a:r>
                    </a:p>
                  </a:txBody>
                  <a:tcPr anchor="ctr">
                    <a:solidFill>
                      <a:schemeClr val="bg1">
                        <a:lumMod val="95000"/>
                      </a:schemeClr>
                    </a:solidFill>
                  </a:tcPr>
                </a:tc>
                <a:tc>
                  <a:txBody>
                    <a:bodyPr/>
                    <a:lstStyle/>
                    <a:p>
                      <a:pPr marL="0" algn="ctr" rtl="0" eaLnBrk="1" latinLnBrk="0" hangingPunct="1"/>
                      <a:r>
                        <a:rPr lang="en-US" sz="1000"/>
                        <a:t>Shows different types of credits consumed and total queries executed, total cost consumed, all data base, warehouse and user account details. </a:t>
                      </a:r>
                      <a:endParaRPr lang="en-US" sz="1000" kern="1200">
                        <a:solidFill>
                          <a:schemeClr val="dk1"/>
                        </a:solidFill>
                        <a:latin typeface="+mn-lt"/>
                        <a:ea typeface="+mn-ea"/>
                        <a:cs typeface="+mn-cs"/>
                      </a:endParaRP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Required</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2012711696"/>
                  </a:ext>
                </a:extLst>
              </a:tr>
            </a:tbl>
          </a:graphicData>
        </a:graphic>
      </p:graphicFrame>
    </p:spTree>
    <p:extLst>
      <p:ext uri="{BB962C8B-B14F-4D97-AF65-F5344CB8AC3E}">
        <p14:creationId xmlns:p14="http://schemas.microsoft.com/office/powerpoint/2010/main" val="6690432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FA592-79BA-CF81-F340-9009ABA228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C7B181-E044-8129-D777-2EFBEB32CD0E}"/>
              </a:ext>
            </a:extLst>
          </p:cNvPr>
          <p:cNvSpPr>
            <a:spLocks noGrp="1"/>
          </p:cNvSpPr>
          <p:nvPr>
            <p:ph type="title"/>
          </p:nvPr>
        </p:nvSpPr>
        <p:spPr/>
        <p:txBody>
          <a:bodyPr/>
          <a:lstStyle/>
          <a:p>
            <a:r>
              <a:rPr lang="en-US"/>
              <a:t>Product Usage</a:t>
            </a:r>
          </a:p>
        </p:txBody>
      </p:sp>
    </p:spTree>
    <p:extLst>
      <p:ext uri="{BB962C8B-B14F-4D97-AF65-F5344CB8AC3E}">
        <p14:creationId xmlns:p14="http://schemas.microsoft.com/office/powerpoint/2010/main" val="13339421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4BA0F-5293-DB62-5369-02ED14615E8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A4EB288-E66E-096C-6E33-1EFA72896F1E}"/>
              </a:ext>
            </a:extLst>
          </p:cNvPr>
          <p:cNvSpPr txBox="1">
            <a:spLocks/>
          </p:cNvSpPr>
          <p:nvPr/>
        </p:nvSpPr>
        <p:spPr>
          <a:xfrm>
            <a:off x="284550" y="216713"/>
            <a:ext cx="11904087" cy="509780"/>
          </a:xfrm>
          <a:prstGeom prst="rect">
            <a:avLst/>
          </a:prstGeom>
        </p:spPr>
        <p:txBody>
          <a:bodyPr lIns="91440" tIns="45720" rIns="91440" bIns="45720" anchor="t"/>
          <a:lstStyle>
            <a:lvl1pPr algn="l" defTabSz="914400" rtl="0" eaLnBrk="1" latinLnBrk="0" hangingPunct="1">
              <a:lnSpc>
                <a:spcPct val="100000"/>
              </a:lnSpc>
              <a:spcBef>
                <a:spcPct val="0"/>
              </a:spcBef>
              <a:buNone/>
              <a:defRPr sz="3400" b="0" i="0" kern="1200">
                <a:solidFill>
                  <a:srgbClr val="0076CF"/>
                </a:solidFill>
                <a:latin typeface="FS Elliot Pro Light" panose="02000503040000020004" pitchFamily="2" charset="0"/>
                <a:ea typeface="+mj-ea"/>
                <a:cs typeface="+mj-cs"/>
              </a:defRPr>
            </a:lvl1pPr>
          </a:lstStyle>
          <a:p>
            <a:pPr>
              <a:defRPr/>
            </a:pPr>
            <a:r>
              <a:rPr lang="en-US" sz="3200" dirty="0">
                <a:latin typeface="FS Elliot Pro Light"/>
              </a:rPr>
              <a:t>Product Usage – Overview</a:t>
            </a:r>
            <a:endParaRPr lang="en-US" sz="3200" dirty="0"/>
          </a:p>
        </p:txBody>
      </p:sp>
      <p:sp>
        <p:nvSpPr>
          <p:cNvPr id="45" name="Rectangle 44">
            <a:extLst>
              <a:ext uri="{FF2B5EF4-FFF2-40B4-BE49-F238E27FC236}">
                <a16:creationId xmlns:a16="http://schemas.microsoft.com/office/drawing/2014/main" id="{96D0DBFC-DB11-7EA7-4A18-1710CD9AA8B5}"/>
              </a:ext>
            </a:extLst>
          </p:cNvPr>
          <p:cNvSpPr/>
          <p:nvPr/>
        </p:nvSpPr>
        <p:spPr>
          <a:xfrm>
            <a:off x="394952" y="1219540"/>
            <a:ext cx="900448" cy="361309"/>
          </a:xfrm>
          <a:prstGeom prst="rect">
            <a:avLst/>
          </a:prstGeom>
          <a:no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2" name="Rectangle 1">
            <a:extLst>
              <a:ext uri="{FF2B5EF4-FFF2-40B4-BE49-F238E27FC236}">
                <a16:creationId xmlns:a16="http://schemas.microsoft.com/office/drawing/2014/main" id="{D96F6599-8608-E96B-583E-C8BBCF0965D9}"/>
              </a:ext>
            </a:extLst>
          </p:cNvPr>
          <p:cNvSpPr/>
          <p:nvPr/>
        </p:nvSpPr>
        <p:spPr>
          <a:xfrm>
            <a:off x="828961" y="782546"/>
            <a:ext cx="11130975" cy="323141"/>
          </a:xfrm>
          <a:prstGeom prst="rect">
            <a:avLst/>
          </a:prstGeom>
          <a:solidFill>
            <a:schemeClr val="tx2">
              <a:lumMod val="20000"/>
              <a:lumOff val="8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171450" indent="-115570">
              <a:buFont typeface="Wingdings" panose="05000000000000000000" pitchFamily="2" charset="2"/>
              <a:buChar char="ü"/>
            </a:pPr>
            <a:r>
              <a:rPr lang="en-US" sz="1100">
                <a:solidFill>
                  <a:schemeClr val="tx1"/>
                </a:solidFill>
              </a:rPr>
              <a:t>Quick view to understand the product usage trend over time, producers and consumers.</a:t>
            </a:r>
          </a:p>
        </p:txBody>
      </p:sp>
      <p:grpSp>
        <p:nvGrpSpPr>
          <p:cNvPr id="3" name="Graphic 4">
            <a:extLst>
              <a:ext uri="{FF2B5EF4-FFF2-40B4-BE49-F238E27FC236}">
                <a16:creationId xmlns:a16="http://schemas.microsoft.com/office/drawing/2014/main" id="{B4D69618-7A3A-7BD2-F974-EE14FEF4F11D}"/>
              </a:ext>
            </a:extLst>
          </p:cNvPr>
          <p:cNvGrpSpPr>
            <a:grpSpLocks noChangeAspect="1"/>
          </p:cNvGrpSpPr>
          <p:nvPr/>
        </p:nvGrpSpPr>
        <p:grpSpPr>
          <a:xfrm>
            <a:off x="427888" y="696089"/>
            <a:ext cx="496522" cy="496054"/>
            <a:chOff x="1952125" y="1402723"/>
            <a:chExt cx="362313" cy="361971"/>
          </a:xfrm>
          <a:solidFill>
            <a:schemeClr val="tx2">
              <a:lumMod val="60000"/>
              <a:lumOff val="40000"/>
            </a:schemeClr>
          </a:solidFill>
        </p:grpSpPr>
        <p:sp>
          <p:nvSpPr>
            <p:cNvPr id="5" name="Graphic 4">
              <a:extLst>
                <a:ext uri="{FF2B5EF4-FFF2-40B4-BE49-F238E27FC236}">
                  <a16:creationId xmlns:a16="http://schemas.microsoft.com/office/drawing/2014/main" id="{D11BDBF6-5414-9E09-1C98-F582A44A62AA}"/>
                </a:ext>
              </a:extLst>
            </p:cNvPr>
            <p:cNvSpPr/>
            <p:nvPr/>
          </p:nvSpPr>
          <p:spPr>
            <a:xfrm>
              <a:off x="2069061" y="1471670"/>
              <a:ext cx="126174" cy="158322"/>
            </a:xfrm>
            <a:custGeom>
              <a:avLst/>
              <a:gdLst>
                <a:gd name="connsiteX0" fmla="*/ 50481 w 126174"/>
                <a:gd name="connsiteY0" fmla="*/ 53626 h 158322"/>
                <a:gd name="connsiteX1" fmla="*/ 40896 w 126174"/>
                <a:gd name="connsiteY1" fmla="*/ 72139 h 158322"/>
                <a:gd name="connsiteX2" fmla="*/ 35145 w 126174"/>
                <a:gd name="connsiteY2" fmla="*/ 75969 h 158322"/>
                <a:gd name="connsiteX3" fmla="*/ 0 w 126174"/>
                <a:gd name="connsiteY3" fmla="*/ 105974 h 158322"/>
                <a:gd name="connsiteX4" fmla="*/ 32589 w 126174"/>
                <a:gd name="connsiteY4" fmla="*/ 121296 h 158322"/>
                <a:gd name="connsiteX5" fmla="*/ 36423 w 126174"/>
                <a:gd name="connsiteY5" fmla="*/ 128318 h 158322"/>
                <a:gd name="connsiteX6" fmla="*/ 46008 w 126174"/>
                <a:gd name="connsiteY6" fmla="*/ 151939 h 158322"/>
                <a:gd name="connsiteX7" fmla="*/ 68372 w 126174"/>
                <a:gd name="connsiteY7" fmla="*/ 144916 h 158322"/>
                <a:gd name="connsiteX8" fmla="*/ 73484 w 126174"/>
                <a:gd name="connsiteY8" fmla="*/ 142363 h 158322"/>
                <a:gd name="connsiteX9" fmla="*/ 76040 w 126174"/>
                <a:gd name="connsiteY9" fmla="*/ 143001 h 158322"/>
                <a:gd name="connsiteX10" fmla="*/ 108629 w 126174"/>
                <a:gd name="connsiteY10" fmla="*/ 158323 h 158322"/>
                <a:gd name="connsiteX11" fmla="*/ 111824 w 126174"/>
                <a:gd name="connsiteY11" fmla="*/ 110443 h 158322"/>
                <a:gd name="connsiteX12" fmla="*/ 111824 w 126174"/>
                <a:gd name="connsiteY12" fmla="*/ 104697 h 158322"/>
                <a:gd name="connsiteX13" fmla="*/ 118214 w 126174"/>
                <a:gd name="connsiteY13" fmla="*/ 0 h 158322"/>
                <a:gd name="connsiteX14" fmla="*/ 53676 w 126174"/>
                <a:gd name="connsiteY14" fmla="*/ 49795 h 158322"/>
                <a:gd name="connsiteX15" fmla="*/ 50481 w 126174"/>
                <a:gd name="connsiteY15" fmla="*/ 53626 h 158322"/>
                <a:gd name="connsiteX16" fmla="*/ 99683 w 126174"/>
                <a:gd name="connsiteY16" fmla="*/ 91929 h 158322"/>
                <a:gd name="connsiteX17" fmla="*/ 72206 w 126174"/>
                <a:gd name="connsiteY17" fmla="*/ 119381 h 158322"/>
                <a:gd name="connsiteX18" fmla="*/ 44730 w 126174"/>
                <a:gd name="connsiteY18" fmla="*/ 91929 h 158322"/>
                <a:gd name="connsiteX19" fmla="*/ 72206 w 126174"/>
                <a:gd name="connsiteY19" fmla="*/ 64478 h 158322"/>
                <a:gd name="connsiteX20" fmla="*/ 99683 w 126174"/>
                <a:gd name="connsiteY20" fmla="*/ 91929 h 158322"/>
                <a:gd name="connsiteX21" fmla="*/ 99683 w 126174"/>
                <a:gd name="connsiteY21" fmla="*/ 91929 h 158322"/>
                <a:gd name="connsiteX22" fmla="*/ 99683 w 126174"/>
                <a:gd name="connsiteY22" fmla="*/ 91929 h 158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6174" h="158322">
                  <a:moveTo>
                    <a:pt x="50481" y="53626"/>
                  </a:moveTo>
                  <a:cubicBezTo>
                    <a:pt x="46647" y="59371"/>
                    <a:pt x="44091" y="65755"/>
                    <a:pt x="40896" y="72139"/>
                  </a:cubicBezTo>
                  <a:cubicBezTo>
                    <a:pt x="39618" y="74693"/>
                    <a:pt x="37701" y="75969"/>
                    <a:pt x="35145" y="75969"/>
                  </a:cubicBezTo>
                  <a:cubicBezTo>
                    <a:pt x="17892" y="76608"/>
                    <a:pt x="3195" y="88737"/>
                    <a:pt x="0" y="105974"/>
                  </a:cubicBezTo>
                  <a:lnTo>
                    <a:pt x="32589" y="121296"/>
                  </a:lnTo>
                  <a:cubicBezTo>
                    <a:pt x="35145" y="122573"/>
                    <a:pt x="36423" y="125126"/>
                    <a:pt x="36423" y="128318"/>
                  </a:cubicBezTo>
                  <a:cubicBezTo>
                    <a:pt x="36423" y="128318"/>
                    <a:pt x="33867" y="146832"/>
                    <a:pt x="46008" y="151939"/>
                  </a:cubicBezTo>
                  <a:cubicBezTo>
                    <a:pt x="58148" y="157046"/>
                    <a:pt x="68372" y="145555"/>
                    <a:pt x="68372" y="144916"/>
                  </a:cubicBezTo>
                  <a:cubicBezTo>
                    <a:pt x="69650" y="143640"/>
                    <a:pt x="71567" y="142363"/>
                    <a:pt x="73484" y="142363"/>
                  </a:cubicBezTo>
                  <a:cubicBezTo>
                    <a:pt x="74123" y="142363"/>
                    <a:pt x="75401" y="142363"/>
                    <a:pt x="76040" y="143001"/>
                  </a:cubicBezTo>
                  <a:lnTo>
                    <a:pt x="108629" y="158323"/>
                  </a:lnTo>
                  <a:cubicBezTo>
                    <a:pt x="117575" y="143640"/>
                    <a:pt x="118853" y="125765"/>
                    <a:pt x="111824" y="110443"/>
                  </a:cubicBezTo>
                  <a:cubicBezTo>
                    <a:pt x="111185" y="108528"/>
                    <a:pt x="111185" y="106613"/>
                    <a:pt x="111824" y="104697"/>
                  </a:cubicBezTo>
                  <a:cubicBezTo>
                    <a:pt x="111824" y="104059"/>
                    <a:pt x="139301" y="49795"/>
                    <a:pt x="118214" y="0"/>
                  </a:cubicBezTo>
                  <a:cubicBezTo>
                    <a:pt x="106712" y="2554"/>
                    <a:pt x="77318" y="12130"/>
                    <a:pt x="53676" y="49795"/>
                  </a:cubicBezTo>
                  <a:cubicBezTo>
                    <a:pt x="52398" y="51710"/>
                    <a:pt x="51759" y="52987"/>
                    <a:pt x="50481" y="53626"/>
                  </a:cubicBezTo>
                  <a:close/>
                  <a:moveTo>
                    <a:pt x="99683" y="91929"/>
                  </a:moveTo>
                  <a:cubicBezTo>
                    <a:pt x="99683" y="107251"/>
                    <a:pt x="87542" y="119381"/>
                    <a:pt x="72206" y="119381"/>
                  </a:cubicBezTo>
                  <a:cubicBezTo>
                    <a:pt x="56871" y="119381"/>
                    <a:pt x="44730" y="107251"/>
                    <a:pt x="44730" y="91929"/>
                  </a:cubicBezTo>
                  <a:cubicBezTo>
                    <a:pt x="44730" y="76608"/>
                    <a:pt x="56871" y="64478"/>
                    <a:pt x="72206" y="64478"/>
                  </a:cubicBezTo>
                  <a:cubicBezTo>
                    <a:pt x="87542" y="65117"/>
                    <a:pt x="99683" y="77246"/>
                    <a:pt x="99683" y="91929"/>
                  </a:cubicBezTo>
                  <a:cubicBezTo>
                    <a:pt x="99683" y="92568"/>
                    <a:pt x="99683" y="92568"/>
                    <a:pt x="99683" y="91929"/>
                  </a:cubicBezTo>
                  <a:lnTo>
                    <a:pt x="99683" y="91929"/>
                  </a:lnTo>
                  <a:close/>
                </a:path>
              </a:pathLst>
            </a:custGeom>
            <a:grpFill/>
            <a:ln w="6390" cap="flat">
              <a:noFill/>
              <a:prstDash val="solid"/>
              <a:miter/>
            </a:ln>
          </p:spPr>
          <p:txBody>
            <a:bodyPr rtlCol="0" anchor="ctr"/>
            <a:lstStyle/>
            <a:p>
              <a:endParaRPr lang="en-US"/>
            </a:p>
          </p:txBody>
        </p:sp>
        <p:sp>
          <p:nvSpPr>
            <p:cNvPr id="7" name="Graphic 4">
              <a:extLst>
                <a:ext uri="{FF2B5EF4-FFF2-40B4-BE49-F238E27FC236}">
                  <a16:creationId xmlns:a16="http://schemas.microsoft.com/office/drawing/2014/main" id="{90EEE200-C3A1-6D89-3F6D-04811F80F0B7}"/>
                </a:ext>
              </a:extLst>
            </p:cNvPr>
            <p:cNvSpPr/>
            <p:nvPr/>
          </p:nvSpPr>
          <p:spPr>
            <a:xfrm>
              <a:off x="2043501" y="1527211"/>
              <a:ext cx="180835" cy="126402"/>
            </a:xfrm>
            <a:custGeom>
              <a:avLst/>
              <a:gdLst>
                <a:gd name="connsiteX0" fmla="*/ 180835 w 180835"/>
                <a:gd name="connsiteY0" fmla="*/ 5746 h 126402"/>
                <a:gd name="connsiteX1" fmla="*/ 175084 w 180835"/>
                <a:gd name="connsiteY1" fmla="*/ 0 h 126402"/>
                <a:gd name="connsiteX2" fmla="*/ 175084 w 180835"/>
                <a:gd name="connsiteY2" fmla="*/ 0 h 126402"/>
                <a:gd name="connsiteX3" fmla="*/ 163582 w 180835"/>
                <a:gd name="connsiteY3" fmla="*/ 0 h 126402"/>
                <a:gd name="connsiteX4" fmla="*/ 149525 w 180835"/>
                <a:gd name="connsiteY4" fmla="*/ 52987 h 126402"/>
                <a:gd name="connsiteX5" fmla="*/ 140579 w 180835"/>
                <a:gd name="connsiteY5" fmla="*/ 115550 h 126402"/>
                <a:gd name="connsiteX6" fmla="*/ 135467 w 180835"/>
                <a:gd name="connsiteY6" fmla="*/ 118104 h 126402"/>
                <a:gd name="connsiteX7" fmla="*/ 132911 w 180835"/>
                <a:gd name="connsiteY7" fmla="*/ 117465 h 126402"/>
                <a:gd name="connsiteX8" fmla="*/ 99044 w 180835"/>
                <a:gd name="connsiteY8" fmla="*/ 101505 h 126402"/>
                <a:gd name="connsiteX9" fmla="*/ 65177 w 180835"/>
                <a:gd name="connsiteY9" fmla="*/ 108528 h 126402"/>
                <a:gd name="connsiteX10" fmla="*/ 47925 w 180835"/>
                <a:gd name="connsiteY10" fmla="*/ 75969 h 126402"/>
                <a:gd name="connsiteX11" fmla="*/ 14697 w 180835"/>
                <a:gd name="connsiteY11" fmla="*/ 60009 h 126402"/>
                <a:gd name="connsiteX12" fmla="*/ 11502 w 180835"/>
                <a:gd name="connsiteY12" fmla="*/ 52987 h 126402"/>
                <a:gd name="connsiteX13" fmla="*/ 56232 w 180835"/>
                <a:gd name="connsiteY13" fmla="*/ 8299 h 126402"/>
                <a:gd name="connsiteX14" fmla="*/ 60066 w 180835"/>
                <a:gd name="connsiteY14" fmla="*/ 0 h 126402"/>
                <a:gd name="connsiteX15" fmla="*/ 5751 w 180835"/>
                <a:gd name="connsiteY15" fmla="*/ 0 h 126402"/>
                <a:gd name="connsiteX16" fmla="*/ 0 w 180835"/>
                <a:gd name="connsiteY16" fmla="*/ 5746 h 126402"/>
                <a:gd name="connsiteX17" fmla="*/ 0 w 180835"/>
                <a:gd name="connsiteY17" fmla="*/ 5746 h 126402"/>
                <a:gd name="connsiteX18" fmla="*/ 0 w 180835"/>
                <a:gd name="connsiteY18" fmla="*/ 126403 h 126402"/>
                <a:gd name="connsiteX19" fmla="*/ 180835 w 180835"/>
                <a:gd name="connsiteY19" fmla="*/ 126403 h 126402"/>
                <a:gd name="connsiteX20" fmla="*/ 180835 w 180835"/>
                <a:gd name="connsiteY20" fmla="*/ 5746 h 12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80835" h="126402">
                  <a:moveTo>
                    <a:pt x="180835" y="5746"/>
                  </a:moveTo>
                  <a:cubicBezTo>
                    <a:pt x="180835" y="2554"/>
                    <a:pt x="178279" y="0"/>
                    <a:pt x="175084" y="0"/>
                  </a:cubicBezTo>
                  <a:lnTo>
                    <a:pt x="175084" y="0"/>
                  </a:lnTo>
                  <a:lnTo>
                    <a:pt x="163582" y="0"/>
                  </a:lnTo>
                  <a:cubicBezTo>
                    <a:pt x="161666" y="18514"/>
                    <a:pt x="157192" y="36389"/>
                    <a:pt x="149525" y="52987"/>
                  </a:cubicBezTo>
                  <a:cubicBezTo>
                    <a:pt x="157832" y="74054"/>
                    <a:pt x="154637" y="97675"/>
                    <a:pt x="140579" y="115550"/>
                  </a:cubicBezTo>
                  <a:cubicBezTo>
                    <a:pt x="139301" y="116827"/>
                    <a:pt x="137384" y="118104"/>
                    <a:pt x="135467" y="118104"/>
                  </a:cubicBezTo>
                  <a:cubicBezTo>
                    <a:pt x="134828" y="118104"/>
                    <a:pt x="133550" y="118104"/>
                    <a:pt x="132911" y="117465"/>
                  </a:cubicBezTo>
                  <a:lnTo>
                    <a:pt x="99044" y="101505"/>
                  </a:lnTo>
                  <a:cubicBezTo>
                    <a:pt x="90098" y="110443"/>
                    <a:pt x="76679" y="112996"/>
                    <a:pt x="65177" y="108528"/>
                  </a:cubicBezTo>
                  <a:cubicBezTo>
                    <a:pt x="49203" y="100867"/>
                    <a:pt x="47286" y="84269"/>
                    <a:pt x="47925" y="75969"/>
                  </a:cubicBezTo>
                  <a:lnTo>
                    <a:pt x="14697" y="60009"/>
                  </a:lnTo>
                  <a:cubicBezTo>
                    <a:pt x="12141" y="58733"/>
                    <a:pt x="10863" y="56179"/>
                    <a:pt x="11502" y="52987"/>
                  </a:cubicBezTo>
                  <a:cubicBezTo>
                    <a:pt x="17892" y="20429"/>
                    <a:pt x="41535" y="9576"/>
                    <a:pt x="56232" y="8299"/>
                  </a:cubicBezTo>
                  <a:cubicBezTo>
                    <a:pt x="57509" y="5746"/>
                    <a:pt x="58788" y="2554"/>
                    <a:pt x="60066" y="0"/>
                  </a:cubicBezTo>
                  <a:lnTo>
                    <a:pt x="5751" y="0"/>
                  </a:lnTo>
                  <a:cubicBezTo>
                    <a:pt x="2556" y="0"/>
                    <a:pt x="0" y="2554"/>
                    <a:pt x="0" y="5746"/>
                  </a:cubicBezTo>
                  <a:lnTo>
                    <a:pt x="0" y="5746"/>
                  </a:lnTo>
                  <a:lnTo>
                    <a:pt x="0" y="126403"/>
                  </a:lnTo>
                  <a:lnTo>
                    <a:pt x="180835" y="126403"/>
                  </a:lnTo>
                  <a:lnTo>
                    <a:pt x="180835" y="5746"/>
                  </a:lnTo>
                  <a:close/>
                </a:path>
              </a:pathLst>
            </a:custGeom>
            <a:grpFill/>
            <a:ln w="6390" cap="flat">
              <a:noFill/>
              <a:prstDash val="solid"/>
              <a:miter/>
            </a:ln>
          </p:spPr>
          <p:txBody>
            <a:bodyPr rtlCol="0" anchor="ctr"/>
            <a:lstStyle/>
            <a:p>
              <a:endParaRPr lang="en-US"/>
            </a:p>
          </p:txBody>
        </p:sp>
        <p:sp>
          <p:nvSpPr>
            <p:cNvPr id="8" name="Graphic 4">
              <a:extLst>
                <a:ext uri="{FF2B5EF4-FFF2-40B4-BE49-F238E27FC236}">
                  <a16:creationId xmlns:a16="http://schemas.microsoft.com/office/drawing/2014/main" id="{82D0152F-0012-8D05-AF59-E3DB90038489}"/>
                </a:ext>
              </a:extLst>
            </p:cNvPr>
            <p:cNvSpPr/>
            <p:nvPr/>
          </p:nvSpPr>
          <p:spPr>
            <a:xfrm>
              <a:off x="2126570" y="1549555"/>
              <a:ext cx="29393" cy="29366"/>
            </a:xfrm>
            <a:custGeom>
              <a:avLst/>
              <a:gdLst>
                <a:gd name="connsiteX0" fmla="*/ 14697 w 29393"/>
                <a:gd name="connsiteY0" fmla="*/ 29366 h 29366"/>
                <a:gd name="connsiteX1" fmla="*/ 29394 w 29393"/>
                <a:gd name="connsiteY1" fmla="*/ 14683 h 29366"/>
                <a:gd name="connsiteX2" fmla="*/ 14697 w 29393"/>
                <a:gd name="connsiteY2" fmla="*/ 0 h 29366"/>
                <a:gd name="connsiteX3" fmla="*/ 0 w 29393"/>
                <a:gd name="connsiteY3" fmla="*/ 14683 h 29366"/>
                <a:gd name="connsiteX4" fmla="*/ 14697 w 29393"/>
                <a:gd name="connsiteY4" fmla="*/ 29366 h 29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93" h="29366">
                  <a:moveTo>
                    <a:pt x="14697" y="29366"/>
                  </a:moveTo>
                  <a:cubicBezTo>
                    <a:pt x="23004" y="29366"/>
                    <a:pt x="29394" y="22982"/>
                    <a:pt x="29394" y="14683"/>
                  </a:cubicBezTo>
                  <a:cubicBezTo>
                    <a:pt x="29394" y="6384"/>
                    <a:pt x="23004" y="0"/>
                    <a:pt x="14697" y="0"/>
                  </a:cubicBezTo>
                  <a:cubicBezTo>
                    <a:pt x="6390" y="0"/>
                    <a:pt x="0" y="6384"/>
                    <a:pt x="0" y="14683"/>
                  </a:cubicBezTo>
                  <a:cubicBezTo>
                    <a:pt x="0" y="22982"/>
                    <a:pt x="6390" y="29366"/>
                    <a:pt x="14697" y="29366"/>
                  </a:cubicBezTo>
                  <a:close/>
                </a:path>
              </a:pathLst>
            </a:custGeom>
            <a:grpFill/>
            <a:ln w="6390" cap="flat">
              <a:noFill/>
              <a:prstDash val="solid"/>
              <a:miter/>
            </a:ln>
          </p:spPr>
          <p:txBody>
            <a:bodyPr rtlCol="0" anchor="ctr"/>
            <a:lstStyle/>
            <a:p>
              <a:endParaRPr lang="en-US"/>
            </a:p>
          </p:txBody>
        </p:sp>
        <p:sp>
          <p:nvSpPr>
            <p:cNvPr id="9" name="Graphic 4">
              <a:extLst>
                <a:ext uri="{FF2B5EF4-FFF2-40B4-BE49-F238E27FC236}">
                  <a16:creationId xmlns:a16="http://schemas.microsoft.com/office/drawing/2014/main" id="{C93E3395-F9E1-D4D7-E46F-3DBBAA2C123D}"/>
                </a:ext>
              </a:extLst>
            </p:cNvPr>
            <p:cNvSpPr/>
            <p:nvPr/>
          </p:nvSpPr>
          <p:spPr>
            <a:xfrm>
              <a:off x="2033278" y="1666381"/>
              <a:ext cx="201283" cy="3191"/>
            </a:xfrm>
            <a:custGeom>
              <a:avLst/>
              <a:gdLst>
                <a:gd name="connsiteX0" fmla="*/ 3834 w 201283"/>
                <a:gd name="connsiteY0" fmla="*/ 0 h 3191"/>
                <a:gd name="connsiteX1" fmla="*/ 0 w 201283"/>
                <a:gd name="connsiteY1" fmla="*/ 0 h 3191"/>
                <a:gd name="connsiteX2" fmla="*/ 7029 w 201283"/>
                <a:gd name="connsiteY2" fmla="*/ 3192 h 3191"/>
                <a:gd name="connsiteX3" fmla="*/ 194254 w 201283"/>
                <a:gd name="connsiteY3" fmla="*/ 3192 h 3191"/>
                <a:gd name="connsiteX4" fmla="*/ 201283 w 201283"/>
                <a:gd name="connsiteY4" fmla="*/ 0 h 3191"/>
                <a:gd name="connsiteX5" fmla="*/ 3834 w 201283"/>
                <a:gd name="connsiteY5" fmla="*/ 0 h 3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1283" h="3191">
                  <a:moveTo>
                    <a:pt x="3834" y="0"/>
                  </a:moveTo>
                  <a:lnTo>
                    <a:pt x="0" y="0"/>
                  </a:lnTo>
                  <a:cubicBezTo>
                    <a:pt x="1917" y="1915"/>
                    <a:pt x="4473" y="3192"/>
                    <a:pt x="7029" y="3192"/>
                  </a:cubicBezTo>
                  <a:lnTo>
                    <a:pt x="194254" y="3192"/>
                  </a:lnTo>
                  <a:cubicBezTo>
                    <a:pt x="196810" y="3192"/>
                    <a:pt x="199366" y="1915"/>
                    <a:pt x="201283" y="0"/>
                  </a:cubicBezTo>
                  <a:lnTo>
                    <a:pt x="3834" y="0"/>
                  </a:lnTo>
                  <a:close/>
                </a:path>
              </a:pathLst>
            </a:custGeom>
            <a:grpFill/>
            <a:ln w="6390" cap="flat">
              <a:noFill/>
              <a:prstDash val="solid"/>
              <a:miter/>
            </a:ln>
          </p:spPr>
          <p:txBody>
            <a:bodyPr rtlCol="0" anchor="ctr"/>
            <a:lstStyle/>
            <a:p>
              <a:endParaRPr lang="en-US"/>
            </a:p>
          </p:txBody>
        </p:sp>
        <p:sp>
          <p:nvSpPr>
            <p:cNvPr id="10" name="Graphic 4">
              <a:extLst>
                <a:ext uri="{FF2B5EF4-FFF2-40B4-BE49-F238E27FC236}">
                  <a16:creationId xmlns:a16="http://schemas.microsoft.com/office/drawing/2014/main" id="{DC9BFE1E-89F7-5B7F-C757-E06A8BF988A7}"/>
                </a:ext>
              </a:extLst>
            </p:cNvPr>
            <p:cNvSpPr/>
            <p:nvPr/>
          </p:nvSpPr>
          <p:spPr>
            <a:xfrm>
              <a:off x="1952125" y="1402723"/>
              <a:ext cx="362313" cy="361971"/>
            </a:xfrm>
            <a:custGeom>
              <a:avLst/>
              <a:gdLst>
                <a:gd name="connsiteX0" fmla="*/ 181474 w 362313"/>
                <a:gd name="connsiteY0" fmla="*/ 0 h 361971"/>
                <a:gd name="connsiteX1" fmla="*/ 0 w 362313"/>
                <a:gd name="connsiteY1" fmla="*/ 180667 h 361971"/>
                <a:gd name="connsiteX2" fmla="*/ 180835 w 362313"/>
                <a:gd name="connsiteY2" fmla="*/ 361972 h 361971"/>
                <a:gd name="connsiteX3" fmla="*/ 362310 w 362313"/>
                <a:gd name="connsiteY3" fmla="*/ 181305 h 361971"/>
                <a:gd name="connsiteX4" fmla="*/ 362310 w 362313"/>
                <a:gd name="connsiteY4" fmla="*/ 181305 h 361971"/>
                <a:gd name="connsiteX5" fmla="*/ 181474 w 362313"/>
                <a:gd name="connsiteY5" fmla="*/ 0 h 361971"/>
                <a:gd name="connsiteX6" fmla="*/ 275406 w 362313"/>
                <a:gd name="connsiteY6" fmla="*/ 279618 h 361971"/>
                <a:gd name="connsiteX7" fmla="*/ 88181 w 362313"/>
                <a:gd name="connsiteY7" fmla="*/ 279618 h 361971"/>
                <a:gd name="connsiteX8" fmla="*/ 65816 w 362313"/>
                <a:gd name="connsiteY8" fmla="*/ 257274 h 361971"/>
                <a:gd name="connsiteX9" fmla="*/ 72206 w 362313"/>
                <a:gd name="connsiteY9" fmla="*/ 250890 h 361971"/>
                <a:gd name="connsiteX10" fmla="*/ 78596 w 362313"/>
                <a:gd name="connsiteY10" fmla="*/ 250890 h 361971"/>
                <a:gd name="connsiteX11" fmla="*/ 78596 w 362313"/>
                <a:gd name="connsiteY11" fmla="*/ 130233 h 361971"/>
                <a:gd name="connsiteX12" fmla="*/ 97127 w 362313"/>
                <a:gd name="connsiteY12" fmla="*/ 111720 h 361971"/>
                <a:gd name="connsiteX13" fmla="*/ 97127 w 362313"/>
                <a:gd name="connsiteY13" fmla="*/ 111720 h 361971"/>
                <a:gd name="connsiteX14" fmla="*/ 159109 w 362313"/>
                <a:gd name="connsiteY14" fmla="*/ 111720 h 361971"/>
                <a:gd name="connsiteX15" fmla="*/ 237067 w 362313"/>
                <a:gd name="connsiteY15" fmla="*/ 56817 h 361971"/>
                <a:gd name="connsiteX16" fmla="*/ 243457 w 362313"/>
                <a:gd name="connsiteY16" fmla="*/ 60648 h 361971"/>
                <a:gd name="connsiteX17" fmla="*/ 254958 w 362313"/>
                <a:gd name="connsiteY17" fmla="*/ 112358 h 361971"/>
                <a:gd name="connsiteX18" fmla="*/ 265821 w 362313"/>
                <a:gd name="connsiteY18" fmla="*/ 112358 h 361971"/>
                <a:gd name="connsiteX19" fmla="*/ 284352 w 362313"/>
                <a:gd name="connsiteY19" fmla="*/ 130872 h 361971"/>
                <a:gd name="connsiteX20" fmla="*/ 284352 w 362313"/>
                <a:gd name="connsiteY20" fmla="*/ 130872 h 361971"/>
                <a:gd name="connsiteX21" fmla="*/ 284352 w 362313"/>
                <a:gd name="connsiteY21" fmla="*/ 251529 h 361971"/>
                <a:gd name="connsiteX22" fmla="*/ 290742 w 362313"/>
                <a:gd name="connsiteY22" fmla="*/ 251529 h 361971"/>
                <a:gd name="connsiteX23" fmla="*/ 297132 w 362313"/>
                <a:gd name="connsiteY23" fmla="*/ 257913 h 361971"/>
                <a:gd name="connsiteX24" fmla="*/ 275406 w 362313"/>
                <a:gd name="connsiteY24" fmla="*/ 279618 h 361971"/>
                <a:gd name="connsiteX25" fmla="*/ 275406 w 362313"/>
                <a:gd name="connsiteY25" fmla="*/ 279618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62313" h="361971">
                  <a:moveTo>
                    <a:pt x="181474" y="0"/>
                  </a:moveTo>
                  <a:cubicBezTo>
                    <a:pt x="81152" y="0"/>
                    <a:pt x="0" y="81077"/>
                    <a:pt x="0" y="180667"/>
                  </a:cubicBezTo>
                  <a:cubicBezTo>
                    <a:pt x="0" y="280895"/>
                    <a:pt x="81152" y="361972"/>
                    <a:pt x="180835" y="361972"/>
                  </a:cubicBezTo>
                  <a:cubicBezTo>
                    <a:pt x="281157" y="361972"/>
                    <a:pt x="362310" y="280895"/>
                    <a:pt x="362310" y="181305"/>
                  </a:cubicBezTo>
                  <a:cubicBezTo>
                    <a:pt x="362310" y="181305"/>
                    <a:pt x="362310" y="181305"/>
                    <a:pt x="362310" y="181305"/>
                  </a:cubicBezTo>
                  <a:cubicBezTo>
                    <a:pt x="362948" y="80438"/>
                    <a:pt x="281796" y="0"/>
                    <a:pt x="181474" y="0"/>
                  </a:cubicBezTo>
                  <a:close/>
                  <a:moveTo>
                    <a:pt x="275406" y="279618"/>
                  </a:moveTo>
                  <a:lnTo>
                    <a:pt x="88181" y="279618"/>
                  </a:lnTo>
                  <a:cubicBezTo>
                    <a:pt x="76040" y="279618"/>
                    <a:pt x="65816" y="269404"/>
                    <a:pt x="65816" y="257274"/>
                  </a:cubicBezTo>
                  <a:cubicBezTo>
                    <a:pt x="65816" y="253444"/>
                    <a:pt x="68372" y="250890"/>
                    <a:pt x="72206" y="250890"/>
                  </a:cubicBezTo>
                  <a:lnTo>
                    <a:pt x="78596" y="250890"/>
                  </a:lnTo>
                  <a:lnTo>
                    <a:pt x="78596" y="130233"/>
                  </a:lnTo>
                  <a:cubicBezTo>
                    <a:pt x="78596" y="120019"/>
                    <a:pt x="86903" y="111720"/>
                    <a:pt x="97127" y="111720"/>
                  </a:cubicBezTo>
                  <a:lnTo>
                    <a:pt x="97127" y="111720"/>
                  </a:lnTo>
                  <a:lnTo>
                    <a:pt x="159109" y="111720"/>
                  </a:lnTo>
                  <a:cubicBezTo>
                    <a:pt x="191698" y="61286"/>
                    <a:pt x="235150" y="56817"/>
                    <a:pt x="237067" y="56817"/>
                  </a:cubicBezTo>
                  <a:cubicBezTo>
                    <a:pt x="239623" y="56817"/>
                    <a:pt x="242179" y="58094"/>
                    <a:pt x="243457" y="60648"/>
                  </a:cubicBezTo>
                  <a:cubicBezTo>
                    <a:pt x="251124" y="76608"/>
                    <a:pt x="254958" y="94483"/>
                    <a:pt x="254958" y="112358"/>
                  </a:cubicBezTo>
                  <a:lnTo>
                    <a:pt x="265821" y="112358"/>
                  </a:lnTo>
                  <a:cubicBezTo>
                    <a:pt x="276045" y="112358"/>
                    <a:pt x="284352" y="120657"/>
                    <a:pt x="284352" y="130872"/>
                  </a:cubicBezTo>
                  <a:lnTo>
                    <a:pt x="284352" y="130872"/>
                  </a:lnTo>
                  <a:lnTo>
                    <a:pt x="284352" y="251529"/>
                  </a:lnTo>
                  <a:lnTo>
                    <a:pt x="290742" y="251529"/>
                  </a:lnTo>
                  <a:cubicBezTo>
                    <a:pt x="294576" y="251529"/>
                    <a:pt x="297132" y="254082"/>
                    <a:pt x="297132" y="257913"/>
                  </a:cubicBezTo>
                  <a:cubicBezTo>
                    <a:pt x="297771" y="269404"/>
                    <a:pt x="287547" y="278980"/>
                    <a:pt x="275406" y="279618"/>
                  </a:cubicBezTo>
                  <a:lnTo>
                    <a:pt x="275406" y="279618"/>
                  </a:lnTo>
                  <a:close/>
                </a:path>
              </a:pathLst>
            </a:custGeom>
            <a:grpFill/>
            <a:ln w="6390" cap="flat">
              <a:noFill/>
              <a:prstDash val="solid"/>
              <a:miter/>
            </a:ln>
          </p:spPr>
          <p:txBody>
            <a:bodyPr rtlCol="0" anchor="ctr"/>
            <a:lstStyle/>
            <a:p>
              <a:endParaRPr lang="en-US"/>
            </a:p>
          </p:txBody>
        </p:sp>
      </p:grpSp>
      <p:pic>
        <p:nvPicPr>
          <p:cNvPr id="11" name="Picture 10">
            <a:extLst>
              <a:ext uri="{FF2B5EF4-FFF2-40B4-BE49-F238E27FC236}">
                <a16:creationId xmlns:a16="http://schemas.microsoft.com/office/drawing/2014/main" id="{EB4DF9C6-9283-7F46-23D9-05EA1401F848}"/>
              </a:ext>
            </a:extLst>
          </p:cNvPr>
          <p:cNvPicPr>
            <a:picLocks/>
          </p:cNvPicPr>
          <p:nvPr/>
        </p:nvPicPr>
        <p:blipFill>
          <a:blip r:embed="rId3"/>
          <a:stretch>
            <a:fillRect/>
          </a:stretch>
        </p:blipFill>
        <p:spPr>
          <a:xfrm>
            <a:off x="2164080" y="1216152"/>
            <a:ext cx="7863840" cy="5394960"/>
          </a:xfrm>
          <a:prstGeom prst="rect">
            <a:avLst/>
          </a:prstGeom>
          <a:ln>
            <a:solidFill>
              <a:schemeClr val="bg1">
                <a:lumMod val="75000"/>
              </a:schemeClr>
            </a:solidFill>
          </a:ln>
        </p:spPr>
      </p:pic>
      <p:sp>
        <p:nvSpPr>
          <p:cNvPr id="12" name="Callout: Line 11">
            <a:extLst>
              <a:ext uri="{FF2B5EF4-FFF2-40B4-BE49-F238E27FC236}">
                <a16:creationId xmlns:a16="http://schemas.microsoft.com/office/drawing/2014/main" id="{67C95B64-1E34-1AFF-A712-4AF778123D39}"/>
              </a:ext>
            </a:extLst>
          </p:cNvPr>
          <p:cNvSpPr/>
          <p:nvPr/>
        </p:nvSpPr>
        <p:spPr>
          <a:xfrm>
            <a:off x="10670624" y="5340240"/>
            <a:ext cx="424542" cy="236766"/>
          </a:xfrm>
          <a:prstGeom prst="borderCallout1">
            <a:avLst>
              <a:gd name="adj1" fmla="val 18750"/>
              <a:gd name="adj2" fmla="val -8333"/>
              <a:gd name="adj3" fmla="val 174569"/>
              <a:gd name="adj4" fmla="val -146026"/>
            </a:avLst>
          </a:prstGeom>
          <a:solidFill>
            <a:schemeClr val="bg1"/>
          </a:solidFill>
          <a:ln>
            <a:solidFill>
              <a:schemeClr val="bg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4</a:t>
            </a:r>
          </a:p>
        </p:txBody>
      </p:sp>
      <p:sp>
        <p:nvSpPr>
          <p:cNvPr id="14" name="Callout: Line 13">
            <a:extLst>
              <a:ext uri="{FF2B5EF4-FFF2-40B4-BE49-F238E27FC236}">
                <a16:creationId xmlns:a16="http://schemas.microsoft.com/office/drawing/2014/main" id="{C91B3E7C-75A5-77C5-4B7E-43BB7EAFB7A7}"/>
              </a:ext>
            </a:extLst>
          </p:cNvPr>
          <p:cNvSpPr/>
          <p:nvPr/>
        </p:nvSpPr>
        <p:spPr>
          <a:xfrm>
            <a:off x="10670624" y="3500424"/>
            <a:ext cx="424542" cy="236766"/>
          </a:xfrm>
          <a:prstGeom prst="borderCallout1">
            <a:avLst>
              <a:gd name="adj1" fmla="val 18750"/>
              <a:gd name="adj2" fmla="val -8333"/>
              <a:gd name="adj3" fmla="val 174569"/>
              <a:gd name="adj4" fmla="val -146026"/>
            </a:avLst>
          </a:prstGeom>
          <a:solidFill>
            <a:schemeClr val="bg1"/>
          </a:solidFill>
          <a:ln>
            <a:solidFill>
              <a:schemeClr val="bg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3</a:t>
            </a:r>
          </a:p>
        </p:txBody>
      </p:sp>
      <p:sp>
        <p:nvSpPr>
          <p:cNvPr id="15" name="Callout: Line 14">
            <a:extLst>
              <a:ext uri="{FF2B5EF4-FFF2-40B4-BE49-F238E27FC236}">
                <a16:creationId xmlns:a16="http://schemas.microsoft.com/office/drawing/2014/main" id="{16A618B7-E6B3-049E-838E-A96F8D375B63}"/>
              </a:ext>
            </a:extLst>
          </p:cNvPr>
          <p:cNvSpPr/>
          <p:nvPr/>
        </p:nvSpPr>
        <p:spPr>
          <a:xfrm flipH="1">
            <a:off x="1096834" y="3581402"/>
            <a:ext cx="424542" cy="236766"/>
          </a:xfrm>
          <a:prstGeom prst="borderCallout1">
            <a:avLst>
              <a:gd name="adj1" fmla="val 18750"/>
              <a:gd name="adj2" fmla="val -8333"/>
              <a:gd name="adj3" fmla="val 174569"/>
              <a:gd name="adj4" fmla="val -146026"/>
            </a:avLst>
          </a:prstGeom>
          <a:solidFill>
            <a:schemeClr val="bg1"/>
          </a:solidFill>
          <a:ln>
            <a:solidFill>
              <a:schemeClr val="bg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1</a:t>
            </a:r>
          </a:p>
        </p:txBody>
      </p:sp>
      <p:sp>
        <p:nvSpPr>
          <p:cNvPr id="17" name="Callout: Line 16">
            <a:extLst>
              <a:ext uri="{FF2B5EF4-FFF2-40B4-BE49-F238E27FC236}">
                <a16:creationId xmlns:a16="http://schemas.microsoft.com/office/drawing/2014/main" id="{4A981C5B-F733-A863-206E-05366213FF62}"/>
              </a:ext>
            </a:extLst>
          </p:cNvPr>
          <p:cNvSpPr/>
          <p:nvPr/>
        </p:nvSpPr>
        <p:spPr>
          <a:xfrm flipH="1">
            <a:off x="1083129" y="5340240"/>
            <a:ext cx="424542" cy="236766"/>
          </a:xfrm>
          <a:prstGeom prst="borderCallout1">
            <a:avLst>
              <a:gd name="adj1" fmla="val 18750"/>
              <a:gd name="adj2" fmla="val -8333"/>
              <a:gd name="adj3" fmla="val 174569"/>
              <a:gd name="adj4" fmla="val -146026"/>
            </a:avLst>
          </a:prstGeom>
          <a:solidFill>
            <a:schemeClr val="bg1"/>
          </a:solidFill>
          <a:ln>
            <a:solidFill>
              <a:schemeClr val="bg1">
                <a:lumMod val="75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2</a:t>
            </a:r>
          </a:p>
        </p:txBody>
      </p:sp>
    </p:spTree>
    <p:extLst>
      <p:ext uri="{BB962C8B-B14F-4D97-AF65-F5344CB8AC3E}">
        <p14:creationId xmlns:p14="http://schemas.microsoft.com/office/powerpoint/2010/main" val="32588860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B78054-C1AF-4044-C1EF-C1968941881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305D48D-75A0-D350-B33D-BD66C22D82C4}"/>
              </a:ext>
            </a:extLst>
          </p:cNvPr>
          <p:cNvSpPr txBox="1">
            <a:spLocks/>
          </p:cNvSpPr>
          <p:nvPr/>
        </p:nvSpPr>
        <p:spPr>
          <a:xfrm>
            <a:off x="284550" y="216713"/>
            <a:ext cx="11904087" cy="509780"/>
          </a:xfrm>
          <a:prstGeom prst="rect">
            <a:avLst/>
          </a:prstGeom>
        </p:spPr>
        <p:txBody>
          <a:bodyPr lIns="91440" tIns="45720" rIns="91440" bIns="45720" anchor="t"/>
          <a:lstStyle>
            <a:lvl1pPr algn="l" defTabSz="914400" rtl="0" eaLnBrk="1" latinLnBrk="0" hangingPunct="1">
              <a:lnSpc>
                <a:spcPct val="100000"/>
              </a:lnSpc>
              <a:spcBef>
                <a:spcPct val="0"/>
              </a:spcBef>
              <a:buNone/>
              <a:defRPr sz="3400" b="0" i="0" kern="1200">
                <a:solidFill>
                  <a:srgbClr val="0076CF"/>
                </a:solidFill>
                <a:latin typeface="FS Elliot Pro Light" panose="02000503040000020004" pitchFamily="2" charset="0"/>
                <a:ea typeface="+mj-ea"/>
                <a:cs typeface="+mj-cs"/>
              </a:defRPr>
            </a:lvl1pPr>
          </a:lstStyle>
          <a:p>
            <a:pPr>
              <a:defRPr/>
            </a:pPr>
            <a:r>
              <a:rPr lang="en-US" sz="3200">
                <a:latin typeface="FS Elliot Pro Light"/>
              </a:rPr>
              <a:t>Product Usage – Overview </a:t>
            </a:r>
            <a:r>
              <a:rPr kumimoji="0" lang="en-US" sz="3200" b="0" i="0" u="none" strike="noStrike" kern="1200" cap="none" spc="0" normalizeH="0" baseline="0" noProof="0">
                <a:ln>
                  <a:noFill/>
                </a:ln>
                <a:solidFill>
                  <a:srgbClr val="0076CF"/>
                </a:solidFill>
                <a:effectLst/>
                <a:uLnTx/>
                <a:uFillTx/>
                <a:latin typeface="FS Elliot Pro Light"/>
              </a:rPr>
              <a:t>summary</a:t>
            </a:r>
          </a:p>
        </p:txBody>
      </p:sp>
      <p:graphicFrame>
        <p:nvGraphicFramePr>
          <p:cNvPr id="6" name="Table 5">
            <a:extLst>
              <a:ext uri="{FF2B5EF4-FFF2-40B4-BE49-F238E27FC236}">
                <a16:creationId xmlns:a16="http://schemas.microsoft.com/office/drawing/2014/main" id="{48D79913-B4D4-F159-B32F-5960D6E466D3}"/>
              </a:ext>
            </a:extLst>
          </p:cNvPr>
          <p:cNvGraphicFramePr>
            <a:graphicFrameLocks noGrp="1"/>
          </p:cNvGraphicFramePr>
          <p:nvPr>
            <p:extLst>
              <p:ext uri="{D42A27DB-BD31-4B8C-83A1-F6EECF244321}">
                <p14:modId xmlns:p14="http://schemas.microsoft.com/office/powerpoint/2010/main" val="2525435219"/>
              </p:ext>
            </p:extLst>
          </p:nvPr>
        </p:nvGraphicFramePr>
        <p:xfrm>
          <a:off x="394855" y="931959"/>
          <a:ext cx="11429994" cy="4835541"/>
        </p:xfrm>
        <a:graphic>
          <a:graphicData uri="http://schemas.openxmlformats.org/drawingml/2006/table">
            <a:tbl>
              <a:tblPr firstRow="1" bandRow="1">
                <a:tableStyleId>{5C22544A-7EE6-4342-B048-85BDC9FD1C3A}</a:tableStyleId>
              </a:tblPr>
              <a:tblGrid>
                <a:gridCol w="449321">
                  <a:extLst>
                    <a:ext uri="{9D8B030D-6E8A-4147-A177-3AD203B41FA5}">
                      <a16:colId xmlns:a16="http://schemas.microsoft.com/office/drawing/2014/main" val="1227872876"/>
                    </a:ext>
                  </a:extLst>
                </a:gridCol>
                <a:gridCol w="1143000">
                  <a:extLst>
                    <a:ext uri="{9D8B030D-6E8A-4147-A177-3AD203B41FA5}">
                      <a16:colId xmlns:a16="http://schemas.microsoft.com/office/drawing/2014/main" val="3573294361"/>
                    </a:ext>
                  </a:extLst>
                </a:gridCol>
                <a:gridCol w="844796">
                  <a:extLst>
                    <a:ext uri="{9D8B030D-6E8A-4147-A177-3AD203B41FA5}">
                      <a16:colId xmlns:a16="http://schemas.microsoft.com/office/drawing/2014/main" val="684506535"/>
                    </a:ext>
                  </a:extLst>
                </a:gridCol>
                <a:gridCol w="1327900">
                  <a:extLst>
                    <a:ext uri="{9D8B030D-6E8A-4147-A177-3AD203B41FA5}">
                      <a16:colId xmlns:a16="http://schemas.microsoft.com/office/drawing/2014/main" val="2881509476"/>
                    </a:ext>
                  </a:extLst>
                </a:gridCol>
                <a:gridCol w="4753303">
                  <a:extLst>
                    <a:ext uri="{9D8B030D-6E8A-4147-A177-3AD203B41FA5}">
                      <a16:colId xmlns:a16="http://schemas.microsoft.com/office/drawing/2014/main" val="3389198070"/>
                    </a:ext>
                  </a:extLst>
                </a:gridCol>
                <a:gridCol w="1651246">
                  <a:extLst>
                    <a:ext uri="{9D8B030D-6E8A-4147-A177-3AD203B41FA5}">
                      <a16:colId xmlns:a16="http://schemas.microsoft.com/office/drawing/2014/main" val="1391104289"/>
                    </a:ext>
                  </a:extLst>
                </a:gridCol>
                <a:gridCol w="1260428">
                  <a:extLst>
                    <a:ext uri="{9D8B030D-6E8A-4147-A177-3AD203B41FA5}">
                      <a16:colId xmlns:a16="http://schemas.microsoft.com/office/drawing/2014/main" val="4206051783"/>
                    </a:ext>
                  </a:extLst>
                </a:gridCol>
              </a:tblGrid>
              <a:tr h="640080">
                <a:tc>
                  <a:txBody>
                    <a:bodyPr/>
                    <a:lstStyle/>
                    <a:p>
                      <a:pPr algn="ctr"/>
                      <a:r>
                        <a:rPr lang="en-US" sz="1100">
                          <a:latin typeface="+mj-lt"/>
                        </a:rPr>
                        <a:t>#</a:t>
                      </a:r>
                    </a:p>
                  </a:txBody>
                  <a:tcPr anchor="ctr">
                    <a:solidFill>
                      <a:srgbClr val="338DCD"/>
                    </a:solidFill>
                  </a:tcPr>
                </a:tc>
                <a:tc>
                  <a:txBody>
                    <a:bodyPr/>
                    <a:lstStyle/>
                    <a:p>
                      <a:pPr algn="ctr"/>
                      <a:r>
                        <a:rPr lang="en-US" sz="1100">
                          <a:latin typeface="+mj-lt"/>
                        </a:rPr>
                        <a:t>Category</a:t>
                      </a:r>
                    </a:p>
                  </a:txBody>
                  <a:tcPr anchor="ctr">
                    <a:solidFill>
                      <a:srgbClr val="338DCD"/>
                    </a:solidFill>
                  </a:tcPr>
                </a:tc>
                <a:tc>
                  <a:txBody>
                    <a:bodyPr/>
                    <a:lstStyle/>
                    <a:p>
                      <a:pPr algn="ctr"/>
                      <a:r>
                        <a:rPr lang="en-US" sz="1100">
                          <a:latin typeface="+mj-lt"/>
                        </a:rPr>
                        <a:t>Category Priority</a:t>
                      </a:r>
                    </a:p>
                  </a:txBody>
                  <a:tcPr anchor="ctr">
                    <a:solidFill>
                      <a:srgbClr val="338DCD"/>
                    </a:solidFill>
                  </a:tcPr>
                </a:tc>
                <a:tc>
                  <a:txBody>
                    <a:bodyPr/>
                    <a:lstStyle/>
                    <a:p>
                      <a:pPr algn="ctr"/>
                      <a:r>
                        <a:rPr lang="en-US" sz="1100">
                          <a:latin typeface="+mj-lt"/>
                        </a:rPr>
                        <a:t>Chart type</a:t>
                      </a:r>
                    </a:p>
                  </a:txBody>
                  <a:tcPr anchor="ctr">
                    <a:solidFill>
                      <a:srgbClr val="338DCD"/>
                    </a:solidFill>
                  </a:tcPr>
                </a:tc>
                <a:tc>
                  <a:txBody>
                    <a:bodyPr/>
                    <a:lstStyle/>
                    <a:p>
                      <a:pPr algn="ctr"/>
                      <a:r>
                        <a:rPr lang="en-US" sz="1100">
                          <a:latin typeface="+mj-lt"/>
                        </a:rPr>
                        <a:t>Description</a:t>
                      </a:r>
                    </a:p>
                  </a:txBody>
                  <a:tcPr anchor="ctr">
                    <a:solidFill>
                      <a:srgbClr val="338DCD"/>
                    </a:solidFill>
                  </a:tcPr>
                </a:tc>
                <a:tc>
                  <a:txBody>
                    <a:bodyPr/>
                    <a:lstStyle/>
                    <a:p>
                      <a:pPr algn="ctr"/>
                      <a:r>
                        <a:rPr lang="en-US" sz="1100">
                          <a:latin typeface="+mj-lt"/>
                        </a:rPr>
                        <a:t>Assessment: </a:t>
                      </a:r>
                      <a:br>
                        <a:rPr lang="en-US" sz="1100">
                          <a:latin typeface="+mj-lt"/>
                        </a:rPr>
                      </a:br>
                      <a:r>
                        <a:rPr lang="en-US" sz="1100">
                          <a:latin typeface="+mj-lt"/>
                        </a:rPr>
                        <a:t>Required, Aspirational</a:t>
                      </a:r>
                    </a:p>
                  </a:txBody>
                  <a:tcPr anchor="ctr">
                    <a:solidFill>
                      <a:srgbClr val="338DCD"/>
                    </a:solidFill>
                  </a:tcPr>
                </a:tc>
                <a:tc>
                  <a:txBody>
                    <a:bodyPr/>
                    <a:lstStyle/>
                    <a:p>
                      <a:pPr algn="ctr"/>
                      <a:r>
                        <a:rPr lang="en-US" sz="1100">
                          <a:latin typeface="+mj-lt"/>
                        </a:rPr>
                        <a:t>Implementation Priority</a:t>
                      </a:r>
                    </a:p>
                  </a:txBody>
                  <a:tcPr anchor="ctr">
                    <a:solidFill>
                      <a:srgbClr val="338DCD"/>
                    </a:solidFill>
                  </a:tcPr>
                </a:tc>
                <a:extLst>
                  <a:ext uri="{0D108BD9-81ED-4DB2-BD59-A6C34878D82A}">
                    <a16:rowId xmlns:a16="http://schemas.microsoft.com/office/drawing/2014/main" val="3024339621"/>
                  </a:ext>
                </a:extLst>
              </a:tr>
              <a:tr h="11271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latin typeface="+mn-lt"/>
                        </a:rPr>
                        <a:t>1</a:t>
                      </a:r>
                    </a:p>
                  </a:txBody>
                  <a:tcPr anchor="ctr">
                    <a:solidFill>
                      <a:schemeClr val="bg1">
                        <a:lumMod val="95000"/>
                      </a:schemeClr>
                    </a:solidFill>
                  </a:tcPr>
                </a:tc>
                <a:tc>
                  <a:txBody>
                    <a:bodyPr/>
                    <a:lstStyle/>
                    <a:p>
                      <a:pPr lvl="0" algn="ctr">
                        <a:lnSpc>
                          <a:spcPct val="100000"/>
                        </a:lnSpc>
                        <a:spcBef>
                          <a:spcPts val="0"/>
                        </a:spcBef>
                        <a:spcAft>
                          <a:spcPts val="0"/>
                        </a:spcAft>
                        <a:buNone/>
                      </a:pPr>
                      <a:r>
                        <a:rPr lang="en-US" sz="1000" b="0" i="0" u="none" strike="noStrike" noProof="0" dirty="0">
                          <a:solidFill>
                            <a:srgbClr val="404040"/>
                          </a:solidFill>
                          <a:latin typeface="FS Elliot Pro Light"/>
                        </a:rPr>
                        <a:t>Data product usage patterns by roles</a:t>
                      </a:r>
                      <a:endParaRPr lang="en-US" dirty="0"/>
                    </a:p>
                  </a:txBody>
                  <a:tcPr anchor="ctr">
                    <a:solidFill>
                      <a:schemeClr val="bg1">
                        <a:lumMod val="95000"/>
                      </a:schemeClr>
                    </a:solidFill>
                  </a:tcPr>
                </a:tc>
                <a:tc>
                  <a:txBody>
                    <a:bodyPr/>
                    <a:lstStyle/>
                    <a:p>
                      <a:pPr marL="0" algn="ctr" rtl="0" eaLnBrk="1" latinLnBrk="0" hangingPunct="1"/>
                      <a:r>
                        <a:rPr lang="en-US" sz="1000" b="0" i="0" u="none" strike="noStrike" kern="1200" noProof="0">
                          <a:solidFill>
                            <a:srgbClr val="000000"/>
                          </a:solidFill>
                          <a:latin typeface="+mn-lt"/>
                        </a:rPr>
                        <a:t>5</a:t>
                      </a:r>
                    </a:p>
                  </a:txBody>
                  <a:tcPr anchor="ctr">
                    <a:solidFill>
                      <a:schemeClr val="bg1">
                        <a:lumMod val="95000"/>
                      </a:schemeClr>
                    </a:solidFill>
                  </a:tcPr>
                </a:tc>
                <a:tc>
                  <a:txBody>
                    <a:bodyPr/>
                    <a:lstStyle/>
                    <a:p>
                      <a:pPr marL="0" algn="ctr" rtl="0" eaLnBrk="1" latinLnBrk="0" hangingPunct="1"/>
                      <a:r>
                        <a:rPr lang="en-US" sz="1000" b="0" i="0" u="none" strike="noStrike" kern="1200" noProof="0">
                          <a:solidFill>
                            <a:srgbClr val="000000"/>
                          </a:solidFill>
                          <a:latin typeface="+mn-lt"/>
                        </a:rPr>
                        <a:t>Matrix Chart</a:t>
                      </a:r>
                    </a:p>
                  </a:txBody>
                  <a:tcPr anchor="ctr">
                    <a:solidFill>
                      <a:schemeClr val="bg1">
                        <a:lumMod val="95000"/>
                      </a:schemeClr>
                    </a:solidFill>
                  </a:tcPr>
                </a:tc>
                <a:tc>
                  <a:txBody>
                    <a:bodyPr/>
                    <a:lstStyle/>
                    <a:p>
                      <a:pPr marL="0" lvl="0" algn="ctr">
                        <a:buNone/>
                      </a:pPr>
                      <a:r>
                        <a:rPr lang="en-US" sz="1000" b="0" i="0" u="none" strike="noStrike" kern="1200" noProof="0">
                          <a:solidFill>
                            <a:schemeClr val="dk1"/>
                          </a:solidFill>
                        </a:rPr>
                        <a:t>Depicts the top 5 Product usage by roles by frequency </a:t>
                      </a:r>
                      <a:endParaRPr lang="en-US"/>
                    </a:p>
                  </a:txBody>
                  <a:tcPr anchor="ctr">
                    <a:solidFill>
                      <a:schemeClr val="bg1">
                        <a:lumMod val="95000"/>
                      </a:schemeClr>
                    </a:solidFill>
                  </a:tcPr>
                </a:tc>
                <a:tc>
                  <a:txBody>
                    <a:bodyPr/>
                    <a:lstStyle/>
                    <a:p>
                      <a:pPr marL="0" marR="0" lvl="0" indent="0" algn="ctr" defTabSz="914400">
                        <a:lnSpc>
                          <a:spcPct val="100000"/>
                        </a:lnSpc>
                        <a:spcBef>
                          <a:spcPts val="0"/>
                        </a:spcBef>
                        <a:spcAft>
                          <a:spcPts val="0"/>
                        </a:spcAft>
                        <a:buNone/>
                        <a:tabLst/>
                        <a:defRPr/>
                      </a:pPr>
                      <a:r>
                        <a:rPr lang="en-US" sz="1000" b="0" i="0" u="none" strike="noStrike" kern="1200" cap="none" spc="0" normalizeH="0" baseline="0" noProof="0">
                          <a:ln>
                            <a:noFill/>
                          </a:ln>
                          <a:solidFill>
                            <a:srgbClr val="000000"/>
                          </a:solidFill>
                          <a:effectLst/>
                          <a:uLnTx/>
                          <a:uFillTx/>
                        </a:rPr>
                        <a:t>Required</a:t>
                      </a:r>
                      <a:endParaRPr kumimoji="0" lang="en-US"/>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2012711696"/>
                  </a:ext>
                </a:extLst>
              </a:tr>
              <a:tr h="814044">
                <a:tc>
                  <a:txBody>
                    <a:bodyPr/>
                    <a:lstStyle/>
                    <a:p>
                      <a:pPr algn="ctr"/>
                      <a:r>
                        <a:rPr lang="en-US" sz="1000">
                          <a:solidFill>
                            <a:schemeClr val="tx1"/>
                          </a:solidFill>
                          <a:latin typeface="+mn-lt"/>
                        </a:rPr>
                        <a:t>2</a:t>
                      </a:r>
                    </a:p>
                  </a:txBody>
                  <a:tcPr anchor="ctr">
                    <a:solidFill>
                      <a:schemeClr val="bg1">
                        <a:lumMod val="95000"/>
                      </a:schemeClr>
                    </a:solidFill>
                  </a:tcPr>
                </a:tc>
                <a:tc>
                  <a:txBody>
                    <a:bodyPr/>
                    <a:lstStyle/>
                    <a:p>
                      <a:pPr lvl="0" algn="ctr">
                        <a:lnSpc>
                          <a:spcPct val="100000"/>
                        </a:lnSpc>
                        <a:spcBef>
                          <a:spcPts val="0"/>
                        </a:spcBef>
                        <a:spcAft>
                          <a:spcPts val="0"/>
                        </a:spcAft>
                        <a:buNone/>
                      </a:pPr>
                      <a:r>
                        <a:rPr lang="en-US" sz="1000" b="1" i="0" u="none" strike="noStrike" noProof="0" dirty="0">
                          <a:solidFill>
                            <a:srgbClr val="404040"/>
                          </a:solidFill>
                        </a:rPr>
                        <a:t>Comparison across producers and consumers</a:t>
                      </a:r>
                      <a:endParaRPr lang="en-US" sz="1000" b="0" i="0" u="none" strike="noStrike" noProof="0" dirty="0">
                        <a:solidFill>
                          <a:srgbClr val="000000"/>
                        </a:solidFill>
                        <a:latin typeface="+mn-lt"/>
                      </a:endParaRPr>
                    </a:p>
                  </a:txBody>
                  <a:tcPr anchor="ctr">
                    <a:solidFill>
                      <a:schemeClr val="bg1">
                        <a:lumMod val="95000"/>
                      </a:schemeClr>
                    </a:solidFill>
                  </a:tcPr>
                </a:tc>
                <a:tc>
                  <a:txBody>
                    <a:bodyPr/>
                    <a:lstStyle/>
                    <a:p>
                      <a:pPr marL="0" lvl="0" algn="ctr" rtl="0">
                        <a:buNone/>
                      </a:pPr>
                      <a:r>
                        <a:rPr lang="en-US" sz="1000" b="0" i="0" u="none" strike="noStrike" kern="1200" noProof="0" dirty="0">
                          <a:solidFill>
                            <a:srgbClr val="000000"/>
                          </a:solidFill>
                          <a:latin typeface="+mn-lt"/>
                        </a:rPr>
                        <a:t>5</a:t>
                      </a:r>
                      <a:endParaRPr kumimoji="0" lang="en-US" sz="1000" b="0" i="0" u="none" strike="noStrike" kern="1200" noProof="0" dirty="0">
                        <a:solidFill>
                          <a:srgbClr val="000000"/>
                        </a:solidFill>
                        <a:latin typeface="+mn-lt"/>
                      </a:endParaRPr>
                    </a:p>
                  </a:txBody>
                  <a:tcPr anchor="ctr">
                    <a:solidFill>
                      <a:schemeClr val="bg1">
                        <a:lumMod val="95000"/>
                      </a:schemeClr>
                    </a:solidFill>
                  </a:tcPr>
                </a:tc>
                <a:tc>
                  <a:txBody>
                    <a:bodyPr/>
                    <a:lstStyle/>
                    <a:p>
                      <a:pPr marL="0" lvl="0" algn="ctr" rtl="0">
                        <a:buNone/>
                      </a:pPr>
                      <a:r>
                        <a:rPr lang="en-US" sz="1000" b="0" i="0" u="none" strike="noStrike" kern="1200" noProof="0" dirty="0">
                          <a:solidFill>
                            <a:srgbClr val="000000"/>
                          </a:solidFill>
                          <a:latin typeface="+mn-lt"/>
                        </a:rPr>
                        <a:t>Stacked column chart</a:t>
                      </a:r>
                      <a:endParaRPr kumimoji="0" lang="en-US" sz="1000" dirty="0">
                        <a:solidFill>
                          <a:schemeClr val="tx1"/>
                        </a:solidFill>
                        <a:latin typeface="+mn-lt"/>
                      </a:endParaRPr>
                    </a:p>
                  </a:txBody>
                  <a:tcPr anchor="ctr">
                    <a:solidFill>
                      <a:schemeClr val="bg1">
                        <a:lumMod val="95000"/>
                      </a:schemeClr>
                    </a:solidFill>
                  </a:tcPr>
                </a:tc>
                <a:tc>
                  <a:txBody>
                    <a:bodyPr/>
                    <a:lstStyle/>
                    <a:p>
                      <a:pPr marL="0" lvl="0" algn="ctr" rtl="0">
                        <a:buNone/>
                      </a:pPr>
                      <a:r>
                        <a:rPr lang="en-US" sz="1000" kern="1200">
                          <a:solidFill>
                            <a:schemeClr val="dk1"/>
                          </a:solidFill>
                          <a:latin typeface="+mn-lt"/>
                          <a:ea typeface="+mn-ea"/>
                          <a:cs typeface="+mn-cs"/>
                        </a:rPr>
                        <a:t>Depicts the credit usage comparison between producers and consumers.</a:t>
                      </a:r>
                      <a:endParaRPr kumimoji="0" lang="en-US" sz="1000" kern="1200">
                        <a:solidFill>
                          <a:schemeClr val="dk1"/>
                        </a:solidFill>
                        <a:latin typeface="+mn-lt"/>
                        <a:ea typeface="+mn-ea"/>
                        <a:cs typeface="+mn-cs"/>
                      </a:endParaRPr>
                    </a:p>
                  </a:txBody>
                  <a:tcPr anchor="ctr">
                    <a:solidFill>
                      <a:schemeClr val="bg1">
                        <a:lumMod val="95000"/>
                      </a:schemeClr>
                    </a:solidFill>
                  </a:tcPr>
                </a:tc>
                <a:tc>
                  <a:txBody>
                    <a:bodyPr/>
                    <a:lstStyle/>
                    <a:p>
                      <a:pPr marL="0" marR="0" lvl="0" indent="0" algn="ctr" defTabSz="914400" rtl="0">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mn-lt"/>
                          <a:ea typeface="+mn-ea"/>
                          <a:cs typeface="+mn-cs"/>
                        </a:rPr>
                        <a:t>Required</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chemeClr val="tx1"/>
                        </a:solidFill>
                        <a:effectLst/>
                        <a:uLnTx/>
                        <a:uFillTx/>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3318944014"/>
                  </a:ext>
                </a:extLst>
              </a:tr>
              <a:tr h="11271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n-lt"/>
                          <a:ea typeface="+mn-ea"/>
                          <a:cs typeface="+mn-cs"/>
                        </a:rPr>
                        <a:t>3</a:t>
                      </a:r>
                    </a:p>
                  </a:txBody>
                  <a:tcPr anchor="ctr">
                    <a:solidFill>
                      <a:schemeClr val="bg1">
                        <a:lumMod val="95000"/>
                      </a:schemeClr>
                    </a:solidFill>
                  </a:tcPr>
                </a:tc>
                <a:tc>
                  <a:txBody>
                    <a:bodyPr/>
                    <a:lstStyle/>
                    <a:p>
                      <a:pPr lvl="0" algn="ctr">
                        <a:lnSpc>
                          <a:spcPct val="100000"/>
                        </a:lnSpc>
                        <a:spcBef>
                          <a:spcPts val="0"/>
                        </a:spcBef>
                        <a:spcAft>
                          <a:spcPts val="0"/>
                        </a:spcAft>
                        <a:buNone/>
                      </a:pPr>
                      <a:r>
                        <a:rPr lang="en-US" sz="1000" b="1" i="0" u="none" strike="noStrike" noProof="0" dirty="0">
                          <a:solidFill>
                            <a:srgbClr val="333333"/>
                          </a:solidFill>
                        </a:rPr>
                        <a:t>Usage Trend</a:t>
                      </a:r>
                      <a:endParaRPr lang="en-US" dirty="0"/>
                    </a:p>
                  </a:txBody>
                  <a:tcPr anchor="ctr">
                    <a:solidFill>
                      <a:schemeClr val="bg1">
                        <a:lumMod val="95000"/>
                      </a:schemeClr>
                    </a:solidFill>
                  </a:tcPr>
                </a:tc>
                <a:tc>
                  <a:txBody>
                    <a:bodyPr/>
                    <a:lstStyle/>
                    <a:p>
                      <a:pPr marL="0" marR="0" lvl="0" indent="0" algn="ctr" rtl="0">
                        <a:lnSpc>
                          <a:spcPct val="100000"/>
                        </a:lnSpc>
                        <a:spcBef>
                          <a:spcPts val="0"/>
                        </a:spcBef>
                        <a:spcAft>
                          <a:spcPts val="0"/>
                        </a:spcAft>
                        <a:buClrTx/>
                        <a:buSzTx/>
                        <a:buFontTx/>
                        <a:buNone/>
                      </a:pPr>
                      <a:r>
                        <a:rPr lang="en-US" sz="1000" b="0" i="0" u="none" strike="noStrike" kern="1200" cap="none" spc="0" normalizeH="0" baseline="0" noProof="0" dirty="0">
                          <a:ln>
                            <a:noFill/>
                          </a:ln>
                          <a:solidFill>
                            <a:schemeClr val="tx1"/>
                          </a:solidFill>
                          <a:effectLst/>
                          <a:uLnTx/>
                          <a:uFillTx/>
                          <a:latin typeface="+mn-lt"/>
                          <a:ea typeface="+mn-ea"/>
                          <a:cs typeface="+mn-cs"/>
                        </a:rPr>
                        <a:t>5</a:t>
                      </a:r>
                      <a:endParaRPr lang="en-US" dirty="0"/>
                    </a:p>
                  </a:txBody>
                  <a:tcPr anchor="ctr">
                    <a:solidFill>
                      <a:schemeClr val="bg1">
                        <a:lumMod val="95000"/>
                      </a:schemeClr>
                    </a:solidFill>
                  </a:tcPr>
                </a:tc>
                <a:tc>
                  <a:txBody>
                    <a:bodyPr/>
                    <a:lstStyle/>
                    <a:p>
                      <a:pPr marL="0" marR="0" lvl="0" indent="0" algn="ctr" rtl="0">
                        <a:lnSpc>
                          <a:spcPct val="100000"/>
                        </a:lnSpc>
                        <a:spcBef>
                          <a:spcPts val="0"/>
                        </a:spcBef>
                        <a:spcAft>
                          <a:spcPts val="0"/>
                        </a:spcAft>
                        <a:buClrTx/>
                        <a:buSzTx/>
                        <a:buFontTx/>
                        <a:buNone/>
                      </a:pPr>
                      <a:r>
                        <a:rPr lang="en-US" sz="1000" b="0" i="0" u="none" strike="noStrike" kern="1200" cap="none" spc="0" normalizeH="0" baseline="0" noProof="0" dirty="0">
                          <a:ln>
                            <a:noFill/>
                          </a:ln>
                          <a:solidFill>
                            <a:schemeClr val="tx1"/>
                          </a:solidFill>
                          <a:effectLst/>
                          <a:uLnTx/>
                          <a:uFillTx/>
                          <a:latin typeface="+mn-lt"/>
                          <a:ea typeface="+mn-ea"/>
                          <a:cs typeface="+mn-cs"/>
                        </a:rPr>
                        <a:t>Clustered Column Chart</a:t>
                      </a:r>
                    </a:p>
                  </a:txBody>
                  <a:tcPr anchor="ctr">
                    <a:solidFill>
                      <a:schemeClr val="bg1">
                        <a:lumMod val="95000"/>
                      </a:schemeClr>
                    </a:solidFill>
                  </a:tcPr>
                </a:tc>
                <a:tc>
                  <a:txBody>
                    <a:bodyPr/>
                    <a:lstStyle/>
                    <a:p>
                      <a:pPr marL="0" marR="0" lvl="0" indent="0" algn="ctr" rtl="0">
                        <a:lnSpc>
                          <a:spcPct val="100000"/>
                        </a:lnSpc>
                        <a:spcBef>
                          <a:spcPts val="0"/>
                        </a:spcBef>
                        <a:spcAft>
                          <a:spcPts val="0"/>
                        </a:spcAft>
                        <a:buClrTx/>
                        <a:buSzTx/>
                        <a:buFontTx/>
                        <a:buNone/>
                      </a:pPr>
                      <a:r>
                        <a:rPr lang="en-US" sz="1000" b="0" i="0" u="none" strike="noStrike" kern="1200" cap="none" spc="0" normalizeH="0" baseline="0" noProof="0" dirty="0">
                          <a:ln>
                            <a:noFill/>
                          </a:ln>
                          <a:solidFill>
                            <a:schemeClr val="tx1"/>
                          </a:solidFill>
                          <a:effectLst/>
                          <a:uLnTx/>
                          <a:uFillTx/>
                          <a:latin typeface="+mn-lt"/>
                          <a:ea typeface="+mn-ea"/>
                          <a:cs typeface="+mn-cs"/>
                        </a:rPr>
                        <a:t>Depicts the product usage comparison over time.</a:t>
                      </a:r>
                    </a:p>
                  </a:txBody>
                  <a:tcPr anchor="ctr">
                    <a:solidFill>
                      <a:schemeClr val="bg1">
                        <a:lumMod val="95000"/>
                      </a:schemeClr>
                    </a:solidFill>
                  </a:tcPr>
                </a:tc>
                <a:tc>
                  <a:txBody>
                    <a:bodyPr/>
                    <a:lstStyle/>
                    <a:p>
                      <a:pPr marL="0" marR="0" lvl="0" indent="0" algn="ctr" defTabSz="914400" rtl="0">
                        <a:lnSpc>
                          <a:spcPct val="100000"/>
                        </a:lnSpc>
                        <a:spcBef>
                          <a:spcPts val="0"/>
                        </a:spcBef>
                        <a:spcAft>
                          <a:spcPts val="0"/>
                        </a:spcAft>
                        <a:buClrTx/>
                        <a:buSzTx/>
                        <a:buFontTx/>
                        <a:buNone/>
                        <a:tabLst/>
                        <a:defRPr/>
                      </a:pPr>
                      <a:r>
                        <a:rPr lang="en-US" sz="1000" b="0" i="0" u="none" strike="noStrike" kern="1200" cap="none" spc="0" normalizeH="0" baseline="0" noProof="0" dirty="0">
                          <a:ln>
                            <a:noFill/>
                          </a:ln>
                          <a:solidFill>
                            <a:schemeClr val="tx1"/>
                          </a:solidFill>
                          <a:effectLst/>
                          <a:uLnTx/>
                          <a:uFillTx/>
                          <a:latin typeface="+mn-lt"/>
                          <a:ea typeface="+mn-ea"/>
                          <a:cs typeface="+mn-cs"/>
                        </a:rPr>
                        <a:t>Required</a:t>
                      </a:r>
                      <a:endParaRPr kumimoji="0" lang="en-US" dirty="0"/>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chemeClr val="tx1"/>
                        </a:solidFill>
                        <a:effectLst/>
                        <a:uLnTx/>
                        <a:uFillTx/>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2615708042"/>
                  </a:ext>
                </a:extLst>
              </a:tr>
              <a:tr h="11271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tx1"/>
                          </a:solidFill>
                          <a:effectLst/>
                          <a:uLnTx/>
                          <a:uFillTx/>
                          <a:latin typeface="+mn-lt"/>
                          <a:ea typeface="+mn-ea"/>
                          <a:cs typeface="+mn-cs"/>
                        </a:rPr>
                        <a:t>4</a:t>
                      </a:r>
                    </a:p>
                  </a:txBody>
                  <a:tcPr anchor="ctr">
                    <a:solidFill>
                      <a:schemeClr val="bg1">
                        <a:lumMod val="95000"/>
                      </a:schemeClr>
                    </a:solidFill>
                  </a:tcPr>
                </a:tc>
                <a:tc>
                  <a:txBody>
                    <a:bodyPr/>
                    <a:lstStyle/>
                    <a:p>
                      <a:pPr lvl="0" algn="ctr">
                        <a:lnSpc>
                          <a:spcPct val="100000"/>
                        </a:lnSpc>
                        <a:spcBef>
                          <a:spcPts val="0"/>
                        </a:spcBef>
                        <a:spcAft>
                          <a:spcPts val="0"/>
                        </a:spcAft>
                        <a:buNone/>
                      </a:pPr>
                      <a:r>
                        <a:rPr lang="en-US" sz="1000" b="1" i="0" u="none" strike="noStrike" noProof="0" dirty="0">
                          <a:solidFill>
                            <a:srgbClr val="404040"/>
                          </a:solidFill>
                        </a:rPr>
                        <a:t>Cost / Usage by consumption tools</a:t>
                      </a:r>
                      <a:endParaRPr lang="en-US" dirty="0"/>
                    </a:p>
                  </a:txBody>
                  <a:tcPr anchor="ctr">
                    <a:solidFill>
                      <a:schemeClr val="bg1">
                        <a:lumMod val="95000"/>
                      </a:schemeClr>
                    </a:solidFill>
                  </a:tcPr>
                </a:tc>
                <a:tc>
                  <a:txBody>
                    <a:bodyPr/>
                    <a:lstStyle/>
                    <a:p>
                      <a:pPr marL="0" marR="0" lvl="0" indent="0" algn="ctr">
                        <a:lnSpc>
                          <a:spcPct val="100000"/>
                        </a:lnSpc>
                        <a:spcBef>
                          <a:spcPts val="0"/>
                        </a:spcBef>
                        <a:spcAft>
                          <a:spcPts val="0"/>
                        </a:spcAft>
                        <a:buNone/>
                      </a:pPr>
                      <a:r>
                        <a:rPr kumimoji="0" lang="en-US" sz="1000" dirty="0">
                          <a:solidFill>
                            <a:schemeClr val="tx1"/>
                          </a:solidFill>
                          <a:latin typeface="+mn-lt"/>
                        </a:rPr>
                        <a:t>5</a:t>
                      </a:r>
                    </a:p>
                  </a:txBody>
                  <a:tcPr anchor="ctr">
                    <a:solidFill>
                      <a:schemeClr val="bg1">
                        <a:lumMod val="95000"/>
                      </a:schemeClr>
                    </a:solidFill>
                  </a:tcPr>
                </a:tc>
                <a:tc>
                  <a:txBody>
                    <a:bodyPr/>
                    <a:lstStyle/>
                    <a:p>
                      <a:pPr marL="0" marR="0" lvl="0" indent="0" algn="ctr">
                        <a:lnSpc>
                          <a:spcPct val="100000"/>
                        </a:lnSpc>
                        <a:spcBef>
                          <a:spcPts val="0"/>
                        </a:spcBef>
                        <a:spcAft>
                          <a:spcPts val="0"/>
                        </a:spcAft>
                        <a:buNone/>
                      </a:pPr>
                      <a:r>
                        <a:rPr lang="en-US" sz="1000" dirty="0">
                          <a:solidFill>
                            <a:schemeClr val="tx1"/>
                          </a:solidFill>
                          <a:latin typeface="+mn-lt"/>
                        </a:rPr>
                        <a:t>Clustered Bar Chart</a:t>
                      </a:r>
                      <a:endParaRPr kumimoji="0" lang="en-US" sz="1000" dirty="0">
                        <a:solidFill>
                          <a:schemeClr val="tx1"/>
                        </a:solidFill>
                        <a:latin typeface="+mn-lt"/>
                      </a:endParaRPr>
                    </a:p>
                  </a:txBody>
                  <a:tcPr anchor="ctr">
                    <a:solidFill>
                      <a:schemeClr val="bg1">
                        <a:lumMod val="95000"/>
                      </a:schemeClr>
                    </a:solidFill>
                  </a:tcPr>
                </a:tc>
                <a:tc>
                  <a:txBody>
                    <a:bodyPr/>
                    <a:lstStyle/>
                    <a:p>
                      <a:pPr marL="0" marR="0" lvl="0" indent="0" algn="ctr">
                        <a:lnSpc>
                          <a:spcPct val="100000"/>
                        </a:lnSpc>
                        <a:spcBef>
                          <a:spcPts val="0"/>
                        </a:spcBef>
                        <a:spcAft>
                          <a:spcPts val="0"/>
                        </a:spcAft>
                        <a:buNone/>
                      </a:pPr>
                      <a:r>
                        <a:rPr lang="en-US" sz="1000" dirty="0">
                          <a:solidFill>
                            <a:schemeClr val="tx1"/>
                          </a:solidFill>
                          <a:latin typeface="+mn-lt"/>
                        </a:rPr>
                        <a:t>Depicts the usage by different consumer tools.</a:t>
                      </a:r>
                      <a:endParaRPr kumimoji="0" lang="en-US" sz="1000" dirty="0">
                        <a:solidFill>
                          <a:schemeClr val="tx1"/>
                        </a:solidFill>
                        <a:latin typeface="+mn-lt"/>
                      </a:endParaRPr>
                    </a:p>
                  </a:txBody>
                  <a:tcPr anchor="ctr">
                    <a:solidFill>
                      <a:schemeClr val="bg1">
                        <a:lumMod val="95000"/>
                      </a:schemeClr>
                    </a:solidFill>
                  </a:tcPr>
                </a:tc>
                <a:tc>
                  <a:txBody>
                    <a:bodyPr/>
                    <a:lstStyle/>
                    <a:p>
                      <a:pPr marL="0" marR="0" lvl="0" indent="0" algn="ctr" defTabSz="914400" rtl="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mn-lt"/>
                          <a:ea typeface="+mn-ea"/>
                          <a:cs typeface="+mn-cs"/>
                        </a:rPr>
                        <a:t>Required</a:t>
                      </a:r>
                    </a:p>
                  </a:txBody>
                  <a:tcPr anchor="ctr">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schemeClr val="tx1"/>
                        </a:solidFill>
                        <a:effectLst/>
                        <a:uLnTx/>
                        <a:uFillTx/>
                        <a:latin typeface="+mn-lt"/>
                        <a:ea typeface="+mn-ea"/>
                        <a:cs typeface="+mn-cs"/>
                      </a:endParaRPr>
                    </a:p>
                  </a:txBody>
                  <a:tcPr anchor="ctr">
                    <a:solidFill>
                      <a:schemeClr val="bg1">
                        <a:lumMod val="95000"/>
                      </a:schemeClr>
                    </a:solidFill>
                  </a:tcPr>
                </a:tc>
                <a:extLst>
                  <a:ext uri="{0D108BD9-81ED-4DB2-BD59-A6C34878D82A}">
                    <a16:rowId xmlns:a16="http://schemas.microsoft.com/office/drawing/2014/main" val="892817511"/>
                  </a:ext>
                </a:extLst>
              </a:tr>
            </a:tbl>
          </a:graphicData>
        </a:graphic>
      </p:graphicFrame>
    </p:spTree>
    <p:extLst>
      <p:ext uri="{BB962C8B-B14F-4D97-AF65-F5344CB8AC3E}">
        <p14:creationId xmlns:p14="http://schemas.microsoft.com/office/powerpoint/2010/main" val="33841218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8EE719F-AF57-D9D7-0A92-12DFD740A497}"/>
              </a:ext>
            </a:extLst>
          </p:cNvPr>
          <p:cNvSpPr>
            <a:spLocks noGrp="1"/>
          </p:cNvSpPr>
          <p:nvPr>
            <p:ph type="sldNum" sz="quarter" idx="12"/>
          </p:nvPr>
        </p:nvSpPr>
        <p:spPr/>
        <p:txBody>
          <a:bodyPr/>
          <a:lstStyle/>
          <a:p>
            <a:fld id="{13CF28CE-A392-6E4E-B8A8-233A7BF58CFD}" type="slidenum">
              <a:rPr lang="en-US" smtClean="0"/>
              <a:t>32</a:t>
            </a:fld>
            <a:endParaRPr lang="en-US"/>
          </a:p>
        </p:txBody>
      </p:sp>
      <p:pic>
        <p:nvPicPr>
          <p:cNvPr id="3" name="Picture 2">
            <a:extLst>
              <a:ext uri="{FF2B5EF4-FFF2-40B4-BE49-F238E27FC236}">
                <a16:creationId xmlns:a16="http://schemas.microsoft.com/office/drawing/2014/main" id="{C73B7DF2-04F9-BC1C-9E8C-ACB00D6E699B}"/>
              </a:ext>
            </a:extLst>
          </p:cNvPr>
          <p:cNvPicPr>
            <a:picLocks/>
          </p:cNvPicPr>
          <p:nvPr/>
        </p:nvPicPr>
        <p:blipFill>
          <a:blip r:embed="rId2"/>
          <a:stretch>
            <a:fillRect/>
          </a:stretch>
        </p:blipFill>
        <p:spPr>
          <a:xfrm>
            <a:off x="2164800" y="1216800"/>
            <a:ext cx="7862400" cy="5396400"/>
          </a:xfrm>
          <a:prstGeom prst="rect">
            <a:avLst/>
          </a:prstGeom>
          <a:ln>
            <a:solidFill>
              <a:schemeClr val="bg1">
                <a:lumMod val="75000"/>
              </a:schemeClr>
            </a:solidFill>
          </a:ln>
        </p:spPr>
      </p:pic>
      <p:sp>
        <p:nvSpPr>
          <p:cNvPr id="4" name="Title 1">
            <a:extLst>
              <a:ext uri="{FF2B5EF4-FFF2-40B4-BE49-F238E27FC236}">
                <a16:creationId xmlns:a16="http://schemas.microsoft.com/office/drawing/2014/main" id="{8DCECD08-D9BE-408E-CEB5-633D2CCAEEE8}"/>
              </a:ext>
            </a:extLst>
          </p:cNvPr>
          <p:cNvSpPr txBox="1">
            <a:spLocks/>
          </p:cNvSpPr>
          <p:nvPr/>
        </p:nvSpPr>
        <p:spPr>
          <a:xfrm>
            <a:off x="284550" y="216713"/>
            <a:ext cx="11904087" cy="509780"/>
          </a:xfrm>
          <a:prstGeom prst="rect">
            <a:avLst/>
          </a:prstGeom>
        </p:spPr>
        <p:txBody>
          <a:bodyPr lIns="91440" tIns="45720" rIns="91440" bIns="45720" anchor="t"/>
          <a:lstStyle>
            <a:lvl1pPr algn="l" defTabSz="914400" rtl="0" eaLnBrk="1" latinLnBrk="0" hangingPunct="1">
              <a:lnSpc>
                <a:spcPct val="100000"/>
              </a:lnSpc>
              <a:spcBef>
                <a:spcPct val="0"/>
              </a:spcBef>
              <a:buNone/>
              <a:defRPr sz="3400" b="0" i="0" kern="1200">
                <a:solidFill>
                  <a:srgbClr val="0076CF"/>
                </a:solidFill>
                <a:latin typeface="FS Elliot Pro Light" panose="02000503040000020004" pitchFamily="2" charset="0"/>
                <a:ea typeface="+mj-ea"/>
                <a:cs typeface="+mj-cs"/>
              </a:defRPr>
            </a:lvl1pPr>
          </a:lstStyle>
          <a:p>
            <a:pPr>
              <a:defRPr/>
            </a:pPr>
            <a:r>
              <a:rPr lang="en-US" sz="3200" dirty="0">
                <a:latin typeface="FS Elliot Pro Light"/>
              </a:rPr>
              <a:t>Product Usage – Detail View</a:t>
            </a:r>
            <a:endParaRPr lang="en-US" sz="3200" dirty="0"/>
          </a:p>
        </p:txBody>
      </p:sp>
      <p:sp>
        <p:nvSpPr>
          <p:cNvPr id="6" name="Rectangle 5">
            <a:extLst>
              <a:ext uri="{FF2B5EF4-FFF2-40B4-BE49-F238E27FC236}">
                <a16:creationId xmlns:a16="http://schemas.microsoft.com/office/drawing/2014/main" id="{67B3B4FC-F31A-8C05-8D2B-4AF8C019172D}"/>
              </a:ext>
            </a:extLst>
          </p:cNvPr>
          <p:cNvSpPr/>
          <p:nvPr/>
        </p:nvSpPr>
        <p:spPr>
          <a:xfrm>
            <a:off x="828961" y="782546"/>
            <a:ext cx="11130975" cy="323141"/>
          </a:xfrm>
          <a:prstGeom prst="rect">
            <a:avLst/>
          </a:prstGeom>
          <a:solidFill>
            <a:schemeClr val="tx2">
              <a:lumMod val="20000"/>
              <a:lumOff val="80000"/>
            </a:schemeClr>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marL="171450" indent="-115570">
              <a:buFont typeface="Wingdings" panose="05000000000000000000" pitchFamily="2" charset="2"/>
              <a:buChar char="ü"/>
            </a:pPr>
            <a:r>
              <a:rPr lang="en-US" sz="1100" dirty="0">
                <a:solidFill>
                  <a:schemeClr val="tx1"/>
                </a:solidFill>
              </a:rPr>
              <a:t>Quick view to understand the product usage.</a:t>
            </a:r>
          </a:p>
        </p:txBody>
      </p:sp>
      <p:grpSp>
        <p:nvGrpSpPr>
          <p:cNvPr id="8" name="Graphic 4">
            <a:extLst>
              <a:ext uri="{FF2B5EF4-FFF2-40B4-BE49-F238E27FC236}">
                <a16:creationId xmlns:a16="http://schemas.microsoft.com/office/drawing/2014/main" id="{6716E684-34D2-3AA7-E161-FD75A382EBDC}"/>
              </a:ext>
            </a:extLst>
          </p:cNvPr>
          <p:cNvGrpSpPr>
            <a:grpSpLocks noChangeAspect="1"/>
          </p:cNvGrpSpPr>
          <p:nvPr/>
        </p:nvGrpSpPr>
        <p:grpSpPr>
          <a:xfrm>
            <a:off x="427888" y="696089"/>
            <a:ext cx="496522" cy="496054"/>
            <a:chOff x="1952125" y="1402723"/>
            <a:chExt cx="362313" cy="361971"/>
          </a:xfrm>
          <a:solidFill>
            <a:schemeClr val="tx2">
              <a:lumMod val="60000"/>
              <a:lumOff val="40000"/>
            </a:schemeClr>
          </a:solidFill>
        </p:grpSpPr>
        <p:sp>
          <p:nvSpPr>
            <p:cNvPr id="15" name="Graphic 4">
              <a:extLst>
                <a:ext uri="{FF2B5EF4-FFF2-40B4-BE49-F238E27FC236}">
                  <a16:creationId xmlns:a16="http://schemas.microsoft.com/office/drawing/2014/main" id="{198C2ADC-2411-7441-471E-FF1526B2584A}"/>
                </a:ext>
              </a:extLst>
            </p:cNvPr>
            <p:cNvSpPr/>
            <p:nvPr/>
          </p:nvSpPr>
          <p:spPr>
            <a:xfrm>
              <a:off x="2069061" y="1471670"/>
              <a:ext cx="126174" cy="158322"/>
            </a:xfrm>
            <a:custGeom>
              <a:avLst/>
              <a:gdLst>
                <a:gd name="connsiteX0" fmla="*/ 50481 w 126174"/>
                <a:gd name="connsiteY0" fmla="*/ 53626 h 158322"/>
                <a:gd name="connsiteX1" fmla="*/ 40896 w 126174"/>
                <a:gd name="connsiteY1" fmla="*/ 72139 h 158322"/>
                <a:gd name="connsiteX2" fmla="*/ 35145 w 126174"/>
                <a:gd name="connsiteY2" fmla="*/ 75969 h 158322"/>
                <a:gd name="connsiteX3" fmla="*/ 0 w 126174"/>
                <a:gd name="connsiteY3" fmla="*/ 105974 h 158322"/>
                <a:gd name="connsiteX4" fmla="*/ 32589 w 126174"/>
                <a:gd name="connsiteY4" fmla="*/ 121296 h 158322"/>
                <a:gd name="connsiteX5" fmla="*/ 36423 w 126174"/>
                <a:gd name="connsiteY5" fmla="*/ 128318 h 158322"/>
                <a:gd name="connsiteX6" fmla="*/ 46008 w 126174"/>
                <a:gd name="connsiteY6" fmla="*/ 151939 h 158322"/>
                <a:gd name="connsiteX7" fmla="*/ 68372 w 126174"/>
                <a:gd name="connsiteY7" fmla="*/ 144916 h 158322"/>
                <a:gd name="connsiteX8" fmla="*/ 73484 w 126174"/>
                <a:gd name="connsiteY8" fmla="*/ 142363 h 158322"/>
                <a:gd name="connsiteX9" fmla="*/ 76040 w 126174"/>
                <a:gd name="connsiteY9" fmla="*/ 143001 h 158322"/>
                <a:gd name="connsiteX10" fmla="*/ 108629 w 126174"/>
                <a:gd name="connsiteY10" fmla="*/ 158323 h 158322"/>
                <a:gd name="connsiteX11" fmla="*/ 111824 w 126174"/>
                <a:gd name="connsiteY11" fmla="*/ 110443 h 158322"/>
                <a:gd name="connsiteX12" fmla="*/ 111824 w 126174"/>
                <a:gd name="connsiteY12" fmla="*/ 104697 h 158322"/>
                <a:gd name="connsiteX13" fmla="*/ 118214 w 126174"/>
                <a:gd name="connsiteY13" fmla="*/ 0 h 158322"/>
                <a:gd name="connsiteX14" fmla="*/ 53676 w 126174"/>
                <a:gd name="connsiteY14" fmla="*/ 49795 h 158322"/>
                <a:gd name="connsiteX15" fmla="*/ 50481 w 126174"/>
                <a:gd name="connsiteY15" fmla="*/ 53626 h 158322"/>
                <a:gd name="connsiteX16" fmla="*/ 99683 w 126174"/>
                <a:gd name="connsiteY16" fmla="*/ 91929 h 158322"/>
                <a:gd name="connsiteX17" fmla="*/ 72206 w 126174"/>
                <a:gd name="connsiteY17" fmla="*/ 119381 h 158322"/>
                <a:gd name="connsiteX18" fmla="*/ 44730 w 126174"/>
                <a:gd name="connsiteY18" fmla="*/ 91929 h 158322"/>
                <a:gd name="connsiteX19" fmla="*/ 72206 w 126174"/>
                <a:gd name="connsiteY19" fmla="*/ 64478 h 158322"/>
                <a:gd name="connsiteX20" fmla="*/ 99683 w 126174"/>
                <a:gd name="connsiteY20" fmla="*/ 91929 h 158322"/>
                <a:gd name="connsiteX21" fmla="*/ 99683 w 126174"/>
                <a:gd name="connsiteY21" fmla="*/ 91929 h 158322"/>
                <a:gd name="connsiteX22" fmla="*/ 99683 w 126174"/>
                <a:gd name="connsiteY22" fmla="*/ 91929 h 158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6174" h="158322">
                  <a:moveTo>
                    <a:pt x="50481" y="53626"/>
                  </a:moveTo>
                  <a:cubicBezTo>
                    <a:pt x="46647" y="59371"/>
                    <a:pt x="44091" y="65755"/>
                    <a:pt x="40896" y="72139"/>
                  </a:cubicBezTo>
                  <a:cubicBezTo>
                    <a:pt x="39618" y="74693"/>
                    <a:pt x="37701" y="75969"/>
                    <a:pt x="35145" y="75969"/>
                  </a:cubicBezTo>
                  <a:cubicBezTo>
                    <a:pt x="17892" y="76608"/>
                    <a:pt x="3195" y="88737"/>
                    <a:pt x="0" y="105974"/>
                  </a:cubicBezTo>
                  <a:lnTo>
                    <a:pt x="32589" y="121296"/>
                  </a:lnTo>
                  <a:cubicBezTo>
                    <a:pt x="35145" y="122573"/>
                    <a:pt x="36423" y="125126"/>
                    <a:pt x="36423" y="128318"/>
                  </a:cubicBezTo>
                  <a:cubicBezTo>
                    <a:pt x="36423" y="128318"/>
                    <a:pt x="33867" y="146832"/>
                    <a:pt x="46008" y="151939"/>
                  </a:cubicBezTo>
                  <a:cubicBezTo>
                    <a:pt x="58148" y="157046"/>
                    <a:pt x="68372" y="145555"/>
                    <a:pt x="68372" y="144916"/>
                  </a:cubicBezTo>
                  <a:cubicBezTo>
                    <a:pt x="69650" y="143640"/>
                    <a:pt x="71567" y="142363"/>
                    <a:pt x="73484" y="142363"/>
                  </a:cubicBezTo>
                  <a:cubicBezTo>
                    <a:pt x="74123" y="142363"/>
                    <a:pt x="75401" y="142363"/>
                    <a:pt x="76040" y="143001"/>
                  </a:cubicBezTo>
                  <a:lnTo>
                    <a:pt x="108629" y="158323"/>
                  </a:lnTo>
                  <a:cubicBezTo>
                    <a:pt x="117575" y="143640"/>
                    <a:pt x="118853" y="125765"/>
                    <a:pt x="111824" y="110443"/>
                  </a:cubicBezTo>
                  <a:cubicBezTo>
                    <a:pt x="111185" y="108528"/>
                    <a:pt x="111185" y="106613"/>
                    <a:pt x="111824" y="104697"/>
                  </a:cubicBezTo>
                  <a:cubicBezTo>
                    <a:pt x="111824" y="104059"/>
                    <a:pt x="139301" y="49795"/>
                    <a:pt x="118214" y="0"/>
                  </a:cubicBezTo>
                  <a:cubicBezTo>
                    <a:pt x="106712" y="2554"/>
                    <a:pt x="77318" y="12130"/>
                    <a:pt x="53676" y="49795"/>
                  </a:cubicBezTo>
                  <a:cubicBezTo>
                    <a:pt x="52398" y="51710"/>
                    <a:pt x="51759" y="52987"/>
                    <a:pt x="50481" y="53626"/>
                  </a:cubicBezTo>
                  <a:close/>
                  <a:moveTo>
                    <a:pt x="99683" y="91929"/>
                  </a:moveTo>
                  <a:cubicBezTo>
                    <a:pt x="99683" y="107251"/>
                    <a:pt x="87542" y="119381"/>
                    <a:pt x="72206" y="119381"/>
                  </a:cubicBezTo>
                  <a:cubicBezTo>
                    <a:pt x="56871" y="119381"/>
                    <a:pt x="44730" y="107251"/>
                    <a:pt x="44730" y="91929"/>
                  </a:cubicBezTo>
                  <a:cubicBezTo>
                    <a:pt x="44730" y="76608"/>
                    <a:pt x="56871" y="64478"/>
                    <a:pt x="72206" y="64478"/>
                  </a:cubicBezTo>
                  <a:cubicBezTo>
                    <a:pt x="87542" y="65117"/>
                    <a:pt x="99683" y="77246"/>
                    <a:pt x="99683" y="91929"/>
                  </a:cubicBezTo>
                  <a:cubicBezTo>
                    <a:pt x="99683" y="92568"/>
                    <a:pt x="99683" y="92568"/>
                    <a:pt x="99683" y="91929"/>
                  </a:cubicBezTo>
                  <a:lnTo>
                    <a:pt x="99683" y="91929"/>
                  </a:lnTo>
                  <a:close/>
                </a:path>
              </a:pathLst>
            </a:custGeom>
            <a:grpFill/>
            <a:ln w="6390" cap="flat">
              <a:noFill/>
              <a:prstDash val="solid"/>
              <a:miter/>
            </a:ln>
          </p:spPr>
          <p:txBody>
            <a:bodyPr rtlCol="0" anchor="ctr"/>
            <a:lstStyle/>
            <a:p>
              <a:endParaRPr lang="en-US"/>
            </a:p>
          </p:txBody>
        </p:sp>
        <p:sp>
          <p:nvSpPr>
            <p:cNvPr id="16" name="Graphic 4">
              <a:extLst>
                <a:ext uri="{FF2B5EF4-FFF2-40B4-BE49-F238E27FC236}">
                  <a16:creationId xmlns:a16="http://schemas.microsoft.com/office/drawing/2014/main" id="{B2DFC949-65C5-0EFF-0F4E-1D9098417E37}"/>
                </a:ext>
              </a:extLst>
            </p:cNvPr>
            <p:cNvSpPr/>
            <p:nvPr/>
          </p:nvSpPr>
          <p:spPr>
            <a:xfrm>
              <a:off x="2043501" y="1527211"/>
              <a:ext cx="180835" cy="126402"/>
            </a:xfrm>
            <a:custGeom>
              <a:avLst/>
              <a:gdLst>
                <a:gd name="connsiteX0" fmla="*/ 180835 w 180835"/>
                <a:gd name="connsiteY0" fmla="*/ 5746 h 126402"/>
                <a:gd name="connsiteX1" fmla="*/ 175084 w 180835"/>
                <a:gd name="connsiteY1" fmla="*/ 0 h 126402"/>
                <a:gd name="connsiteX2" fmla="*/ 175084 w 180835"/>
                <a:gd name="connsiteY2" fmla="*/ 0 h 126402"/>
                <a:gd name="connsiteX3" fmla="*/ 163582 w 180835"/>
                <a:gd name="connsiteY3" fmla="*/ 0 h 126402"/>
                <a:gd name="connsiteX4" fmla="*/ 149525 w 180835"/>
                <a:gd name="connsiteY4" fmla="*/ 52987 h 126402"/>
                <a:gd name="connsiteX5" fmla="*/ 140579 w 180835"/>
                <a:gd name="connsiteY5" fmla="*/ 115550 h 126402"/>
                <a:gd name="connsiteX6" fmla="*/ 135467 w 180835"/>
                <a:gd name="connsiteY6" fmla="*/ 118104 h 126402"/>
                <a:gd name="connsiteX7" fmla="*/ 132911 w 180835"/>
                <a:gd name="connsiteY7" fmla="*/ 117465 h 126402"/>
                <a:gd name="connsiteX8" fmla="*/ 99044 w 180835"/>
                <a:gd name="connsiteY8" fmla="*/ 101505 h 126402"/>
                <a:gd name="connsiteX9" fmla="*/ 65177 w 180835"/>
                <a:gd name="connsiteY9" fmla="*/ 108528 h 126402"/>
                <a:gd name="connsiteX10" fmla="*/ 47925 w 180835"/>
                <a:gd name="connsiteY10" fmla="*/ 75969 h 126402"/>
                <a:gd name="connsiteX11" fmla="*/ 14697 w 180835"/>
                <a:gd name="connsiteY11" fmla="*/ 60009 h 126402"/>
                <a:gd name="connsiteX12" fmla="*/ 11502 w 180835"/>
                <a:gd name="connsiteY12" fmla="*/ 52987 h 126402"/>
                <a:gd name="connsiteX13" fmla="*/ 56232 w 180835"/>
                <a:gd name="connsiteY13" fmla="*/ 8299 h 126402"/>
                <a:gd name="connsiteX14" fmla="*/ 60066 w 180835"/>
                <a:gd name="connsiteY14" fmla="*/ 0 h 126402"/>
                <a:gd name="connsiteX15" fmla="*/ 5751 w 180835"/>
                <a:gd name="connsiteY15" fmla="*/ 0 h 126402"/>
                <a:gd name="connsiteX16" fmla="*/ 0 w 180835"/>
                <a:gd name="connsiteY16" fmla="*/ 5746 h 126402"/>
                <a:gd name="connsiteX17" fmla="*/ 0 w 180835"/>
                <a:gd name="connsiteY17" fmla="*/ 5746 h 126402"/>
                <a:gd name="connsiteX18" fmla="*/ 0 w 180835"/>
                <a:gd name="connsiteY18" fmla="*/ 126403 h 126402"/>
                <a:gd name="connsiteX19" fmla="*/ 180835 w 180835"/>
                <a:gd name="connsiteY19" fmla="*/ 126403 h 126402"/>
                <a:gd name="connsiteX20" fmla="*/ 180835 w 180835"/>
                <a:gd name="connsiteY20" fmla="*/ 5746 h 126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80835" h="126402">
                  <a:moveTo>
                    <a:pt x="180835" y="5746"/>
                  </a:moveTo>
                  <a:cubicBezTo>
                    <a:pt x="180835" y="2554"/>
                    <a:pt x="178279" y="0"/>
                    <a:pt x="175084" y="0"/>
                  </a:cubicBezTo>
                  <a:lnTo>
                    <a:pt x="175084" y="0"/>
                  </a:lnTo>
                  <a:lnTo>
                    <a:pt x="163582" y="0"/>
                  </a:lnTo>
                  <a:cubicBezTo>
                    <a:pt x="161666" y="18514"/>
                    <a:pt x="157192" y="36389"/>
                    <a:pt x="149525" y="52987"/>
                  </a:cubicBezTo>
                  <a:cubicBezTo>
                    <a:pt x="157832" y="74054"/>
                    <a:pt x="154637" y="97675"/>
                    <a:pt x="140579" y="115550"/>
                  </a:cubicBezTo>
                  <a:cubicBezTo>
                    <a:pt x="139301" y="116827"/>
                    <a:pt x="137384" y="118104"/>
                    <a:pt x="135467" y="118104"/>
                  </a:cubicBezTo>
                  <a:cubicBezTo>
                    <a:pt x="134828" y="118104"/>
                    <a:pt x="133550" y="118104"/>
                    <a:pt x="132911" y="117465"/>
                  </a:cubicBezTo>
                  <a:lnTo>
                    <a:pt x="99044" y="101505"/>
                  </a:lnTo>
                  <a:cubicBezTo>
                    <a:pt x="90098" y="110443"/>
                    <a:pt x="76679" y="112996"/>
                    <a:pt x="65177" y="108528"/>
                  </a:cubicBezTo>
                  <a:cubicBezTo>
                    <a:pt x="49203" y="100867"/>
                    <a:pt x="47286" y="84269"/>
                    <a:pt x="47925" y="75969"/>
                  </a:cubicBezTo>
                  <a:lnTo>
                    <a:pt x="14697" y="60009"/>
                  </a:lnTo>
                  <a:cubicBezTo>
                    <a:pt x="12141" y="58733"/>
                    <a:pt x="10863" y="56179"/>
                    <a:pt x="11502" y="52987"/>
                  </a:cubicBezTo>
                  <a:cubicBezTo>
                    <a:pt x="17892" y="20429"/>
                    <a:pt x="41535" y="9576"/>
                    <a:pt x="56232" y="8299"/>
                  </a:cubicBezTo>
                  <a:cubicBezTo>
                    <a:pt x="57509" y="5746"/>
                    <a:pt x="58788" y="2554"/>
                    <a:pt x="60066" y="0"/>
                  </a:cubicBezTo>
                  <a:lnTo>
                    <a:pt x="5751" y="0"/>
                  </a:lnTo>
                  <a:cubicBezTo>
                    <a:pt x="2556" y="0"/>
                    <a:pt x="0" y="2554"/>
                    <a:pt x="0" y="5746"/>
                  </a:cubicBezTo>
                  <a:lnTo>
                    <a:pt x="0" y="5746"/>
                  </a:lnTo>
                  <a:lnTo>
                    <a:pt x="0" y="126403"/>
                  </a:lnTo>
                  <a:lnTo>
                    <a:pt x="180835" y="126403"/>
                  </a:lnTo>
                  <a:lnTo>
                    <a:pt x="180835" y="5746"/>
                  </a:lnTo>
                  <a:close/>
                </a:path>
              </a:pathLst>
            </a:custGeom>
            <a:grpFill/>
            <a:ln w="6390" cap="flat">
              <a:noFill/>
              <a:prstDash val="solid"/>
              <a:miter/>
            </a:ln>
          </p:spPr>
          <p:txBody>
            <a:bodyPr rtlCol="0" anchor="ctr"/>
            <a:lstStyle/>
            <a:p>
              <a:endParaRPr lang="en-US"/>
            </a:p>
          </p:txBody>
        </p:sp>
        <p:sp>
          <p:nvSpPr>
            <p:cNvPr id="17" name="Graphic 4">
              <a:extLst>
                <a:ext uri="{FF2B5EF4-FFF2-40B4-BE49-F238E27FC236}">
                  <a16:creationId xmlns:a16="http://schemas.microsoft.com/office/drawing/2014/main" id="{47971EEA-97B5-797D-997D-9B3B22A6257F}"/>
                </a:ext>
              </a:extLst>
            </p:cNvPr>
            <p:cNvSpPr/>
            <p:nvPr/>
          </p:nvSpPr>
          <p:spPr>
            <a:xfrm>
              <a:off x="2126570" y="1549555"/>
              <a:ext cx="29393" cy="29366"/>
            </a:xfrm>
            <a:custGeom>
              <a:avLst/>
              <a:gdLst>
                <a:gd name="connsiteX0" fmla="*/ 14697 w 29393"/>
                <a:gd name="connsiteY0" fmla="*/ 29366 h 29366"/>
                <a:gd name="connsiteX1" fmla="*/ 29394 w 29393"/>
                <a:gd name="connsiteY1" fmla="*/ 14683 h 29366"/>
                <a:gd name="connsiteX2" fmla="*/ 14697 w 29393"/>
                <a:gd name="connsiteY2" fmla="*/ 0 h 29366"/>
                <a:gd name="connsiteX3" fmla="*/ 0 w 29393"/>
                <a:gd name="connsiteY3" fmla="*/ 14683 h 29366"/>
                <a:gd name="connsiteX4" fmla="*/ 14697 w 29393"/>
                <a:gd name="connsiteY4" fmla="*/ 29366 h 293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393" h="29366">
                  <a:moveTo>
                    <a:pt x="14697" y="29366"/>
                  </a:moveTo>
                  <a:cubicBezTo>
                    <a:pt x="23004" y="29366"/>
                    <a:pt x="29394" y="22982"/>
                    <a:pt x="29394" y="14683"/>
                  </a:cubicBezTo>
                  <a:cubicBezTo>
                    <a:pt x="29394" y="6384"/>
                    <a:pt x="23004" y="0"/>
                    <a:pt x="14697" y="0"/>
                  </a:cubicBezTo>
                  <a:cubicBezTo>
                    <a:pt x="6390" y="0"/>
                    <a:pt x="0" y="6384"/>
                    <a:pt x="0" y="14683"/>
                  </a:cubicBezTo>
                  <a:cubicBezTo>
                    <a:pt x="0" y="22982"/>
                    <a:pt x="6390" y="29366"/>
                    <a:pt x="14697" y="29366"/>
                  </a:cubicBezTo>
                  <a:close/>
                </a:path>
              </a:pathLst>
            </a:custGeom>
            <a:grpFill/>
            <a:ln w="6390" cap="flat">
              <a:noFill/>
              <a:prstDash val="solid"/>
              <a:miter/>
            </a:ln>
          </p:spPr>
          <p:txBody>
            <a:bodyPr rtlCol="0" anchor="ctr"/>
            <a:lstStyle/>
            <a:p>
              <a:endParaRPr lang="en-US"/>
            </a:p>
          </p:txBody>
        </p:sp>
        <p:sp>
          <p:nvSpPr>
            <p:cNvPr id="18" name="Graphic 4">
              <a:extLst>
                <a:ext uri="{FF2B5EF4-FFF2-40B4-BE49-F238E27FC236}">
                  <a16:creationId xmlns:a16="http://schemas.microsoft.com/office/drawing/2014/main" id="{03705559-03A7-CD54-8C50-AAB0A6989B6D}"/>
                </a:ext>
              </a:extLst>
            </p:cNvPr>
            <p:cNvSpPr/>
            <p:nvPr/>
          </p:nvSpPr>
          <p:spPr>
            <a:xfrm>
              <a:off x="2033278" y="1666381"/>
              <a:ext cx="201283" cy="3191"/>
            </a:xfrm>
            <a:custGeom>
              <a:avLst/>
              <a:gdLst>
                <a:gd name="connsiteX0" fmla="*/ 3834 w 201283"/>
                <a:gd name="connsiteY0" fmla="*/ 0 h 3191"/>
                <a:gd name="connsiteX1" fmla="*/ 0 w 201283"/>
                <a:gd name="connsiteY1" fmla="*/ 0 h 3191"/>
                <a:gd name="connsiteX2" fmla="*/ 7029 w 201283"/>
                <a:gd name="connsiteY2" fmla="*/ 3192 h 3191"/>
                <a:gd name="connsiteX3" fmla="*/ 194254 w 201283"/>
                <a:gd name="connsiteY3" fmla="*/ 3192 h 3191"/>
                <a:gd name="connsiteX4" fmla="*/ 201283 w 201283"/>
                <a:gd name="connsiteY4" fmla="*/ 0 h 3191"/>
                <a:gd name="connsiteX5" fmla="*/ 3834 w 201283"/>
                <a:gd name="connsiteY5" fmla="*/ 0 h 3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1283" h="3191">
                  <a:moveTo>
                    <a:pt x="3834" y="0"/>
                  </a:moveTo>
                  <a:lnTo>
                    <a:pt x="0" y="0"/>
                  </a:lnTo>
                  <a:cubicBezTo>
                    <a:pt x="1917" y="1915"/>
                    <a:pt x="4473" y="3192"/>
                    <a:pt x="7029" y="3192"/>
                  </a:cubicBezTo>
                  <a:lnTo>
                    <a:pt x="194254" y="3192"/>
                  </a:lnTo>
                  <a:cubicBezTo>
                    <a:pt x="196810" y="3192"/>
                    <a:pt x="199366" y="1915"/>
                    <a:pt x="201283" y="0"/>
                  </a:cubicBezTo>
                  <a:lnTo>
                    <a:pt x="3834" y="0"/>
                  </a:lnTo>
                  <a:close/>
                </a:path>
              </a:pathLst>
            </a:custGeom>
            <a:grpFill/>
            <a:ln w="6390" cap="flat">
              <a:noFill/>
              <a:prstDash val="solid"/>
              <a:miter/>
            </a:ln>
          </p:spPr>
          <p:txBody>
            <a:bodyPr rtlCol="0" anchor="ctr"/>
            <a:lstStyle/>
            <a:p>
              <a:endParaRPr lang="en-US"/>
            </a:p>
          </p:txBody>
        </p:sp>
        <p:sp>
          <p:nvSpPr>
            <p:cNvPr id="19" name="Graphic 4">
              <a:extLst>
                <a:ext uri="{FF2B5EF4-FFF2-40B4-BE49-F238E27FC236}">
                  <a16:creationId xmlns:a16="http://schemas.microsoft.com/office/drawing/2014/main" id="{744DA693-2302-E680-C142-F646A310A83A}"/>
                </a:ext>
              </a:extLst>
            </p:cNvPr>
            <p:cNvSpPr/>
            <p:nvPr/>
          </p:nvSpPr>
          <p:spPr>
            <a:xfrm>
              <a:off x="1952125" y="1402723"/>
              <a:ext cx="362313" cy="361971"/>
            </a:xfrm>
            <a:custGeom>
              <a:avLst/>
              <a:gdLst>
                <a:gd name="connsiteX0" fmla="*/ 181474 w 362313"/>
                <a:gd name="connsiteY0" fmla="*/ 0 h 361971"/>
                <a:gd name="connsiteX1" fmla="*/ 0 w 362313"/>
                <a:gd name="connsiteY1" fmla="*/ 180667 h 361971"/>
                <a:gd name="connsiteX2" fmla="*/ 180835 w 362313"/>
                <a:gd name="connsiteY2" fmla="*/ 361972 h 361971"/>
                <a:gd name="connsiteX3" fmla="*/ 362310 w 362313"/>
                <a:gd name="connsiteY3" fmla="*/ 181305 h 361971"/>
                <a:gd name="connsiteX4" fmla="*/ 362310 w 362313"/>
                <a:gd name="connsiteY4" fmla="*/ 181305 h 361971"/>
                <a:gd name="connsiteX5" fmla="*/ 181474 w 362313"/>
                <a:gd name="connsiteY5" fmla="*/ 0 h 361971"/>
                <a:gd name="connsiteX6" fmla="*/ 275406 w 362313"/>
                <a:gd name="connsiteY6" fmla="*/ 279618 h 361971"/>
                <a:gd name="connsiteX7" fmla="*/ 88181 w 362313"/>
                <a:gd name="connsiteY7" fmla="*/ 279618 h 361971"/>
                <a:gd name="connsiteX8" fmla="*/ 65816 w 362313"/>
                <a:gd name="connsiteY8" fmla="*/ 257274 h 361971"/>
                <a:gd name="connsiteX9" fmla="*/ 72206 w 362313"/>
                <a:gd name="connsiteY9" fmla="*/ 250890 h 361971"/>
                <a:gd name="connsiteX10" fmla="*/ 78596 w 362313"/>
                <a:gd name="connsiteY10" fmla="*/ 250890 h 361971"/>
                <a:gd name="connsiteX11" fmla="*/ 78596 w 362313"/>
                <a:gd name="connsiteY11" fmla="*/ 130233 h 361971"/>
                <a:gd name="connsiteX12" fmla="*/ 97127 w 362313"/>
                <a:gd name="connsiteY12" fmla="*/ 111720 h 361971"/>
                <a:gd name="connsiteX13" fmla="*/ 97127 w 362313"/>
                <a:gd name="connsiteY13" fmla="*/ 111720 h 361971"/>
                <a:gd name="connsiteX14" fmla="*/ 159109 w 362313"/>
                <a:gd name="connsiteY14" fmla="*/ 111720 h 361971"/>
                <a:gd name="connsiteX15" fmla="*/ 237067 w 362313"/>
                <a:gd name="connsiteY15" fmla="*/ 56817 h 361971"/>
                <a:gd name="connsiteX16" fmla="*/ 243457 w 362313"/>
                <a:gd name="connsiteY16" fmla="*/ 60648 h 361971"/>
                <a:gd name="connsiteX17" fmla="*/ 254958 w 362313"/>
                <a:gd name="connsiteY17" fmla="*/ 112358 h 361971"/>
                <a:gd name="connsiteX18" fmla="*/ 265821 w 362313"/>
                <a:gd name="connsiteY18" fmla="*/ 112358 h 361971"/>
                <a:gd name="connsiteX19" fmla="*/ 284352 w 362313"/>
                <a:gd name="connsiteY19" fmla="*/ 130872 h 361971"/>
                <a:gd name="connsiteX20" fmla="*/ 284352 w 362313"/>
                <a:gd name="connsiteY20" fmla="*/ 130872 h 361971"/>
                <a:gd name="connsiteX21" fmla="*/ 284352 w 362313"/>
                <a:gd name="connsiteY21" fmla="*/ 251529 h 361971"/>
                <a:gd name="connsiteX22" fmla="*/ 290742 w 362313"/>
                <a:gd name="connsiteY22" fmla="*/ 251529 h 361971"/>
                <a:gd name="connsiteX23" fmla="*/ 297132 w 362313"/>
                <a:gd name="connsiteY23" fmla="*/ 257913 h 361971"/>
                <a:gd name="connsiteX24" fmla="*/ 275406 w 362313"/>
                <a:gd name="connsiteY24" fmla="*/ 279618 h 361971"/>
                <a:gd name="connsiteX25" fmla="*/ 275406 w 362313"/>
                <a:gd name="connsiteY25" fmla="*/ 279618 h 361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62313" h="361971">
                  <a:moveTo>
                    <a:pt x="181474" y="0"/>
                  </a:moveTo>
                  <a:cubicBezTo>
                    <a:pt x="81152" y="0"/>
                    <a:pt x="0" y="81077"/>
                    <a:pt x="0" y="180667"/>
                  </a:cubicBezTo>
                  <a:cubicBezTo>
                    <a:pt x="0" y="280895"/>
                    <a:pt x="81152" y="361972"/>
                    <a:pt x="180835" y="361972"/>
                  </a:cubicBezTo>
                  <a:cubicBezTo>
                    <a:pt x="281157" y="361972"/>
                    <a:pt x="362310" y="280895"/>
                    <a:pt x="362310" y="181305"/>
                  </a:cubicBezTo>
                  <a:cubicBezTo>
                    <a:pt x="362310" y="181305"/>
                    <a:pt x="362310" y="181305"/>
                    <a:pt x="362310" y="181305"/>
                  </a:cubicBezTo>
                  <a:cubicBezTo>
                    <a:pt x="362948" y="80438"/>
                    <a:pt x="281796" y="0"/>
                    <a:pt x="181474" y="0"/>
                  </a:cubicBezTo>
                  <a:close/>
                  <a:moveTo>
                    <a:pt x="275406" y="279618"/>
                  </a:moveTo>
                  <a:lnTo>
                    <a:pt x="88181" y="279618"/>
                  </a:lnTo>
                  <a:cubicBezTo>
                    <a:pt x="76040" y="279618"/>
                    <a:pt x="65816" y="269404"/>
                    <a:pt x="65816" y="257274"/>
                  </a:cubicBezTo>
                  <a:cubicBezTo>
                    <a:pt x="65816" y="253444"/>
                    <a:pt x="68372" y="250890"/>
                    <a:pt x="72206" y="250890"/>
                  </a:cubicBezTo>
                  <a:lnTo>
                    <a:pt x="78596" y="250890"/>
                  </a:lnTo>
                  <a:lnTo>
                    <a:pt x="78596" y="130233"/>
                  </a:lnTo>
                  <a:cubicBezTo>
                    <a:pt x="78596" y="120019"/>
                    <a:pt x="86903" y="111720"/>
                    <a:pt x="97127" y="111720"/>
                  </a:cubicBezTo>
                  <a:lnTo>
                    <a:pt x="97127" y="111720"/>
                  </a:lnTo>
                  <a:lnTo>
                    <a:pt x="159109" y="111720"/>
                  </a:lnTo>
                  <a:cubicBezTo>
                    <a:pt x="191698" y="61286"/>
                    <a:pt x="235150" y="56817"/>
                    <a:pt x="237067" y="56817"/>
                  </a:cubicBezTo>
                  <a:cubicBezTo>
                    <a:pt x="239623" y="56817"/>
                    <a:pt x="242179" y="58094"/>
                    <a:pt x="243457" y="60648"/>
                  </a:cubicBezTo>
                  <a:cubicBezTo>
                    <a:pt x="251124" y="76608"/>
                    <a:pt x="254958" y="94483"/>
                    <a:pt x="254958" y="112358"/>
                  </a:cubicBezTo>
                  <a:lnTo>
                    <a:pt x="265821" y="112358"/>
                  </a:lnTo>
                  <a:cubicBezTo>
                    <a:pt x="276045" y="112358"/>
                    <a:pt x="284352" y="120657"/>
                    <a:pt x="284352" y="130872"/>
                  </a:cubicBezTo>
                  <a:lnTo>
                    <a:pt x="284352" y="130872"/>
                  </a:lnTo>
                  <a:lnTo>
                    <a:pt x="284352" y="251529"/>
                  </a:lnTo>
                  <a:lnTo>
                    <a:pt x="290742" y="251529"/>
                  </a:lnTo>
                  <a:cubicBezTo>
                    <a:pt x="294576" y="251529"/>
                    <a:pt x="297132" y="254082"/>
                    <a:pt x="297132" y="257913"/>
                  </a:cubicBezTo>
                  <a:cubicBezTo>
                    <a:pt x="297771" y="269404"/>
                    <a:pt x="287547" y="278980"/>
                    <a:pt x="275406" y="279618"/>
                  </a:cubicBezTo>
                  <a:lnTo>
                    <a:pt x="275406" y="279618"/>
                  </a:lnTo>
                  <a:close/>
                </a:path>
              </a:pathLst>
            </a:custGeom>
            <a:grpFill/>
            <a:ln w="6390" cap="flat">
              <a:noFill/>
              <a:prstDash val="solid"/>
              <a:miter/>
            </a:ln>
          </p:spPr>
          <p:txBody>
            <a:bodyPr rtlCol="0" anchor="ctr"/>
            <a:lstStyle/>
            <a:p>
              <a:endParaRPr lang="en-US"/>
            </a:p>
          </p:txBody>
        </p:sp>
      </p:grpSp>
    </p:spTree>
    <p:extLst>
      <p:ext uri="{BB962C8B-B14F-4D97-AF65-F5344CB8AC3E}">
        <p14:creationId xmlns:p14="http://schemas.microsoft.com/office/powerpoint/2010/main" val="25819602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2FA592-79BA-CF81-F340-9009ABA228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C7B181-E044-8129-D777-2EFBEB32CD0E}"/>
              </a:ext>
            </a:extLst>
          </p:cNvPr>
          <p:cNvSpPr>
            <a:spLocks noGrp="1"/>
          </p:cNvSpPr>
          <p:nvPr>
            <p:ph type="title"/>
          </p:nvPr>
        </p:nvSpPr>
        <p:spPr/>
        <p:txBody>
          <a:bodyPr/>
          <a:lstStyle/>
          <a:p>
            <a:r>
              <a:rPr lang="en-US"/>
              <a:t>New Product Onboard Forecast</a:t>
            </a:r>
          </a:p>
        </p:txBody>
      </p:sp>
    </p:spTree>
    <p:extLst>
      <p:ext uri="{BB962C8B-B14F-4D97-AF65-F5344CB8AC3E}">
        <p14:creationId xmlns:p14="http://schemas.microsoft.com/office/powerpoint/2010/main" val="371897242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F5814-913E-4F65-099E-2819F47D8E7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D9E3A4B-7B09-F54D-57E2-AD79F5BE692C}"/>
              </a:ext>
            </a:extLst>
          </p:cNvPr>
          <p:cNvSpPr txBox="1">
            <a:spLocks/>
          </p:cNvSpPr>
          <p:nvPr/>
        </p:nvSpPr>
        <p:spPr>
          <a:xfrm>
            <a:off x="284550" y="216713"/>
            <a:ext cx="11904087" cy="509780"/>
          </a:xfrm>
          <a:prstGeom prst="rect">
            <a:avLst/>
          </a:prstGeom>
        </p:spPr>
        <p:txBody>
          <a:bodyPr/>
          <a:lstStyle>
            <a:lvl1pPr algn="l" defTabSz="914400" rtl="0" eaLnBrk="1" latinLnBrk="0" hangingPunct="1">
              <a:lnSpc>
                <a:spcPct val="100000"/>
              </a:lnSpc>
              <a:spcBef>
                <a:spcPct val="0"/>
              </a:spcBef>
              <a:buNone/>
              <a:defRPr sz="3400" b="0" i="0" kern="1200">
                <a:solidFill>
                  <a:srgbClr val="0076CF"/>
                </a:solidFill>
                <a:latin typeface="FS Elliot Pro Light" panose="02000503040000020004" pitchFamily="2"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dirty="0">
                <a:ln>
                  <a:noFill/>
                </a:ln>
                <a:solidFill>
                  <a:srgbClr val="0076CF"/>
                </a:solidFill>
                <a:effectLst/>
                <a:uLnTx/>
                <a:uFillTx/>
                <a:latin typeface="FS Elliot Pro Light" panose="02000503040000020004" pitchFamily="2" charset="0"/>
                <a:ea typeface="+mj-ea"/>
                <a:cs typeface="+mj-cs"/>
              </a:rPr>
              <a:t>New Team Onboard Forecast - Option 1 (Preferred)</a:t>
            </a:r>
          </a:p>
        </p:txBody>
      </p:sp>
      <p:sp>
        <p:nvSpPr>
          <p:cNvPr id="45" name="Rectangle 44">
            <a:extLst>
              <a:ext uri="{FF2B5EF4-FFF2-40B4-BE49-F238E27FC236}">
                <a16:creationId xmlns:a16="http://schemas.microsoft.com/office/drawing/2014/main" id="{98655C7C-8351-91F9-5A74-5F96D718F466}"/>
              </a:ext>
            </a:extLst>
          </p:cNvPr>
          <p:cNvSpPr/>
          <p:nvPr/>
        </p:nvSpPr>
        <p:spPr>
          <a:xfrm>
            <a:off x="394952" y="1219540"/>
            <a:ext cx="900448" cy="361309"/>
          </a:xfrm>
          <a:prstGeom prst="rect">
            <a:avLst/>
          </a:prstGeom>
          <a:no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14" name="TextBox 13">
            <a:extLst>
              <a:ext uri="{FF2B5EF4-FFF2-40B4-BE49-F238E27FC236}">
                <a16:creationId xmlns:a16="http://schemas.microsoft.com/office/drawing/2014/main" id="{F26F6776-2DF8-758A-FE69-64FF138DCD56}"/>
              </a:ext>
            </a:extLst>
          </p:cNvPr>
          <p:cNvSpPr txBox="1"/>
          <p:nvPr/>
        </p:nvSpPr>
        <p:spPr>
          <a:xfrm>
            <a:off x="443991" y="850208"/>
            <a:ext cx="2261110" cy="369332"/>
          </a:xfrm>
          <a:prstGeom prst="rect">
            <a:avLst/>
          </a:prstGeom>
          <a:noFill/>
        </p:spPr>
        <p:txBody>
          <a:bodyPr wrap="square">
            <a:spAutoFit/>
          </a:bodyPr>
          <a:lstStyle/>
          <a:p>
            <a:r>
              <a:rPr lang="en-US" sz="1800" kern="1200">
                <a:solidFill>
                  <a:schemeClr val="tx1"/>
                </a:solidFill>
                <a:latin typeface="+mn-lt"/>
                <a:ea typeface="+mn-ea"/>
                <a:cs typeface="+mn-cs"/>
              </a:rPr>
              <a:t>Current Forecast</a:t>
            </a:r>
          </a:p>
        </p:txBody>
      </p:sp>
      <p:sp>
        <p:nvSpPr>
          <p:cNvPr id="16" name="TextBox 15">
            <a:extLst>
              <a:ext uri="{FF2B5EF4-FFF2-40B4-BE49-F238E27FC236}">
                <a16:creationId xmlns:a16="http://schemas.microsoft.com/office/drawing/2014/main" id="{29E29281-3EEE-0E1C-F9EF-3D4B5363F04F}"/>
              </a:ext>
            </a:extLst>
          </p:cNvPr>
          <p:cNvSpPr txBox="1"/>
          <p:nvPr/>
        </p:nvSpPr>
        <p:spPr>
          <a:xfrm>
            <a:off x="595794" y="3059668"/>
            <a:ext cx="10490823" cy="369332"/>
          </a:xfrm>
          <a:prstGeom prst="rect">
            <a:avLst/>
          </a:prstGeom>
          <a:noFill/>
        </p:spPr>
        <p:txBody>
          <a:bodyPr wrap="square">
            <a:spAutoFit/>
          </a:bodyPr>
          <a:lstStyle/>
          <a:p>
            <a:r>
              <a:rPr lang="en-US" sz="1800" kern="1200">
                <a:solidFill>
                  <a:schemeClr val="tx1"/>
                </a:solidFill>
                <a:latin typeface="+mn-lt"/>
                <a:ea typeface="+mn-ea"/>
                <a:cs typeface="+mn-cs"/>
              </a:rPr>
              <a:t>New Forecast post onboarding new data product</a:t>
            </a:r>
          </a:p>
        </p:txBody>
      </p:sp>
      <p:pic>
        <p:nvPicPr>
          <p:cNvPr id="20" name="Picture 19">
            <a:extLst>
              <a:ext uri="{FF2B5EF4-FFF2-40B4-BE49-F238E27FC236}">
                <a16:creationId xmlns:a16="http://schemas.microsoft.com/office/drawing/2014/main" id="{E42E2258-6983-E273-C2B3-BBB049EDAE38}"/>
              </a:ext>
            </a:extLst>
          </p:cNvPr>
          <p:cNvPicPr>
            <a:picLocks noChangeAspect="1"/>
          </p:cNvPicPr>
          <p:nvPr/>
        </p:nvPicPr>
        <p:blipFill>
          <a:blip r:embed="rId3"/>
          <a:stretch>
            <a:fillRect/>
          </a:stretch>
        </p:blipFill>
        <p:spPr>
          <a:xfrm>
            <a:off x="3617902" y="1271731"/>
            <a:ext cx="7030431" cy="1867161"/>
          </a:xfrm>
          <a:prstGeom prst="rect">
            <a:avLst/>
          </a:prstGeom>
        </p:spPr>
      </p:pic>
      <p:pic>
        <p:nvPicPr>
          <p:cNvPr id="22" name="Picture 21">
            <a:extLst>
              <a:ext uri="{FF2B5EF4-FFF2-40B4-BE49-F238E27FC236}">
                <a16:creationId xmlns:a16="http://schemas.microsoft.com/office/drawing/2014/main" id="{654ABD9E-48CA-403D-FB55-D812781E8D06}"/>
              </a:ext>
            </a:extLst>
          </p:cNvPr>
          <p:cNvPicPr>
            <a:picLocks noChangeAspect="1"/>
          </p:cNvPicPr>
          <p:nvPr/>
        </p:nvPicPr>
        <p:blipFill>
          <a:blip r:embed="rId3"/>
          <a:stretch>
            <a:fillRect/>
          </a:stretch>
        </p:blipFill>
        <p:spPr>
          <a:xfrm>
            <a:off x="3617902" y="4153517"/>
            <a:ext cx="7030431" cy="1867161"/>
          </a:xfrm>
          <a:prstGeom prst="rect">
            <a:avLst/>
          </a:prstGeom>
        </p:spPr>
      </p:pic>
      <p:pic>
        <p:nvPicPr>
          <p:cNvPr id="34" name="Picture 33">
            <a:extLst>
              <a:ext uri="{FF2B5EF4-FFF2-40B4-BE49-F238E27FC236}">
                <a16:creationId xmlns:a16="http://schemas.microsoft.com/office/drawing/2014/main" id="{46191561-A585-BA1D-3051-ADEE4CC2883B}"/>
              </a:ext>
            </a:extLst>
          </p:cNvPr>
          <p:cNvPicPr>
            <a:picLocks noChangeAspect="1"/>
          </p:cNvPicPr>
          <p:nvPr/>
        </p:nvPicPr>
        <p:blipFill>
          <a:blip r:embed="rId4"/>
          <a:stretch>
            <a:fillRect/>
          </a:stretch>
        </p:blipFill>
        <p:spPr>
          <a:xfrm>
            <a:off x="595794" y="3429000"/>
            <a:ext cx="2583824" cy="3316196"/>
          </a:xfrm>
          <a:prstGeom prst="rect">
            <a:avLst/>
          </a:prstGeom>
        </p:spPr>
      </p:pic>
      <p:sp>
        <p:nvSpPr>
          <p:cNvPr id="35" name="Speech Bubble: Oval 34">
            <a:extLst>
              <a:ext uri="{FF2B5EF4-FFF2-40B4-BE49-F238E27FC236}">
                <a16:creationId xmlns:a16="http://schemas.microsoft.com/office/drawing/2014/main" id="{668F7F45-706F-F9CC-E089-0035C744D290}"/>
              </a:ext>
            </a:extLst>
          </p:cNvPr>
          <p:cNvSpPr/>
          <p:nvPr/>
        </p:nvSpPr>
        <p:spPr>
          <a:xfrm>
            <a:off x="10131135" y="3270502"/>
            <a:ext cx="1901537" cy="751405"/>
          </a:xfrm>
          <a:prstGeom prst="wedgeEllipseCallout">
            <a:avLst>
              <a:gd name="adj1" fmla="val -93062"/>
              <a:gd name="adj2" fmla="val 230313"/>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Increased Forecast Numbers</a:t>
            </a:r>
          </a:p>
        </p:txBody>
      </p:sp>
      <p:sp>
        <p:nvSpPr>
          <p:cNvPr id="38" name="Speech Bubble: Oval 37">
            <a:extLst>
              <a:ext uri="{FF2B5EF4-FFF2-40B4-BE49-F238E27FC236}">
                <a16:creationId xmlns:a16="http://schemas.microsoft.com/office/drawing/2014/main" id="{5FFE984F-7741-5C82-35CF-E51DD1036FCD}"/>
              </a:ext>
            </a:extLst>
          </p:cNvPr>
          <p:cNvSpPr/>
          <p:nvPr/>
        </p:nvSpPr>
        <p:spPr>
          <a:xfrm>
            <a:off x="10287100" y="185922"/>
            <a:ext cx="1901537" cy="751405"/>
          </a:xfrm>
          <a:prstGeom prst="wedgeEllipseCallout">
            <a:avLst>
              <a:gd name="adj1" fmla="val -102352"/>
              <a:gd name="adj2" fmla="val 255205"/>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solidFill>
                  <a:schemeClr val="tx1"/>
                </a:solidFill>
              </a:rPr>
              <a:t>Present Forecast</a:t>
            </a:r>
          </a:p>
        </p:txBody>
      </p:sp>
    </p:spTree>
    <p:extLst>
      <p:ext uri="{BB962C8B-B14F-4D97-AF65-F5344CB8AC3E}">
        <p14:creationId xmlns:p14="http://schemas.microsoft.com/office/powerpoint/2010/main" val="8550691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D37E8-35FF-5ACB-C8C8-329B09E82E9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607D78D1-5D2F-EE34-B336-45D0E7162A36}"/>
              </a:ext>
            </a:extLst>
          </p:cNvPr>
          <p:cNvSpPr txBox="1">
            <a:spLocks/>
          </p:cNvSpPr>
          <p:nvPr/>
        </p:nvSpPr>
        <p:spPr>
          <a:xfrm>
            <a:off x="284550" y="216713"/>
            <a:ext cx="11904087" cy="509780"/>
          </a:xfrm>
          <a:prstGeom prst="rect">
            <a:avLst/>
          </a:prstGeom>
        </p:spPr>
        <p:txBody>
          <a:bodyPr/>
          <a:lstStyle>
            <a:lvl1pPr algn="l" defTabSz="914400" rtl="0" eaLnBrk="1" latinLnBrk="0" hangingPunct="1">
              <a:lnSpc>
                <a:spcPct val="100000"/>
              </a:lnSpc>
              <a:spcBef>
                <a:spcPct val="0"/>
              </a:spcBef>
              <a:buNone/>
              <a:defRPr sz="3400" b="0" i="0" kern="1200">
                <a:solidFill>
                  <a:srgbClr val="0076CF"/>
                </a:solidFill>
                <a:latin typeface="FS Elliot Pro Light" panose="02000503040000020004" pitchFamily="2" charset="0"/>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b="0" i="0" u="none" strike="noStrike" kern="1200" cap="none" spc="0" normalizeH="0" baseline="0" noProof="0" dirty="0">
                <a:ln>
                  <a:noFill/>
                </a:ln>
                <a:solidFill>
                  <a:srgbClr val="0076CF"/>
                </a:solidFill>
                <a:effectLst/>
                <a:uLnTx/>
                <a:uFillTx/>
                <a:latin typeface="FS Elliot Pro Light" panose="02000503040000020004" pitchFamily="2" charset="0"/>
                <a:ea typeface="+mj-ea"/>
                <a:cs typeface="+mj-cs"/>
              </a:rPr>
              <a:t>New Team Onboard Forecast - Option 2 (Client Selected)</a:t>
            </a:r>
          </a:p>
        </p:txBody>
      </p:sp>
      <p:sp>
        <p:nvSpPr>
          <p:cNvPr id="6" name="Rectangle 5">
            <a:extLst>
              <a:ext uri="{FF2B5EF4-FFF2-40B4-BE49-F238E27FC236}">
                <a16:creationId xmlns:a16="http://schemas.microsoft.com/office/drawing/2014/main" id="{BD527B1E-CB8F-235F-880C-76D6B4F309FB}"/>
              </a:ext>
            </a:extLst>
          </p:cNvPr>
          <p:cNvSpPr/>
          <p:nvPr/>
        </p:nvSpPr>
        <p:spPr>
          <a:xfrm>
            <a:off x="4769366" y="1450662"/>
            <a:ext cx="2977116" cy="169055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8" name="Picture 87">
            <a:extLst>
              <a:ext uri="{FF2B5EF4-FFF2-40B4-BE49-F238E27FC236}">
                <a16:creationId xmlns:a16="http://schemas.microsoft.com/office/drawing/2014/main" id="{EA1F1EB7-4CC1-CF6C-0BEF-2031904B1BCA}"/>
              </a:ext>
            </a:extLst>
          </p:cNvPr>
          <p:cNvPicPr>
            <a:picLocks noChangeAspect="1"/>
          </p:cNvPicPr>
          <p:nvPr/>
        </p:nvPicPr>
        <p:blipFill>
          <a:blip r:embed="rId3"/>
          <a:srcRect b="31336"/>
          <a:stretch/>
        </p:blipFill>
        <p:spPr>
          <a:xfrm>
            <a:off x="5354416" y="1232801"/>
            <a:ext cx="1594358" cy="450410"/>
          </a:xfrm>
          <a:prstGeom prst="rect">
            <a:avLst/>
          </a:prstGeom>
        </p:spPr>
      </p:pic>
      <p:sp>
        <p:nvSpPr>
          <p:cNvPr id="25" name="TextBox 24">
            <a:extLst>
              <a:ext uri="{FF2B5EF4-FFF2-40B4-BE49-F238E27FC236}">
                <a16:creationId xmlns:a16="http://schemas.microsoft.com/office/drawing/2014/main" id="{D999147F-EDE9-55EB-3A0E-ED713BF91EE5}"/>
              </a:ext>
            </a:extLst>
          </p:cNvPr>
          <p:cNvSpPr txBox="1"/>
          <p:nvPr/>
        </p:nvSpPr>
        <p:spPr>
          <a:xfrm>
            <a:off x="2237551" y="2527060"/>
            <a:ext cx="1539379" cy="430887"/>
          </a:xfrm>
          <a:prstGeom prst="rect">
            <a:avLst/>
          </a:prstGeom>
          <a:noFill/>
        </p:spPr>
        <p:txBody>
          <a:bodyPr wrap="square" rtlCol="0">
            <a:spAutoFit/>
          </a:bodyPr>
          <a:lstStyle/>
          <a:p>
            <a:pPr algn="ctr"/>
            <a:r>
              <a:rPr lang="en-US" sz="1100"/>
              <a:t>Snowflake Platform Team</a:t>
            </a:r>
          </a:p>
        </p:txBody>
      </p:sp>
      <p:pic>
        <p:nvPicPr>
          <p:cNvPr id="26" name="Graphic 25" descr="Users outline">
            <a:extLst>
              <a:ext uri="{FF2B5EF4-FFF2-40B4-BE49-F238E27FC236}">
                <a16:creationId xmlns:a16="http://schemas.microsoft.com/office/drawing/2014/main" id="{E3A05F5E-49CB-7337-76DB-5C4A88F466F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550041" y="1838737"/>
            <a:ext cx="914400" cy="914400"/>
          </a:xfrm>
          <a:prstGeom prst="rect">
            <a:avLst/>
          </a:prstGeom>
        </p:spPr>
      </p:pic>
      <p:sp>
        <p:nvSpPr>
          <p:cNvPr id="28" name="TextBox 27">
            <a:extLst>
              <a:ext uri="{FF2B5EF4-FFF2-40B4-BE49-F238E27FC236}">
                <a16:creationId xmlns:a16="http://schemas.microsoft.com/office/drawing/2014/main" id="{B843EE28-66AD-F479-0A56-35CB954B0D71}"/>
              </a:ext>
            </a:extLst>
          </p:cNvPr>
          <p:cNvSpPr txBox="1"/>
          <p:nvPr/>
        </p:nvSpPr>
        <p:spPr>
          <a:xfrm>
            <a:off x="166449" y="2527060"/>
            <a:ext cx="1539379" cy="261610"/>
          </a:xfrm>
          <a:prstGeom prst="rect">
            <a:avLst/>
          </a:prstGeom>
          <a:noFill/>
        </p:spPr>
        <p:txBody>
          <a:bodyPr wrap="square" rtlCol="0">
            <a:spAutoFit/>
          </a:bodyPr>
          <a:lstStyle/>
          <a:p>
            <a:pPr algn="ctr"/>
            <a:r>
              <a:rPr lang="en-US" sz="1100"/>
              <a:t>Data Product Team</a:t>
            </a:r>
          </a:p>
        </p:txBody>
      </p:sp>
      <p:pic>
        <p:nvPicPr>
          <p:cNvPr id="29" name="Graphic 28" descr="Users outline">
            <a:extLst>
              <a:ext uri="{FF2B5EF4-FFF2-40B4-BE49-F238E27FC236}">
                <a16:creationId xmlns:a16="http://schemas.microsoft.com/office/drawing/2014/main" id="{4742C31C-427C-DBC3-B2B4-A77F74F0FECA}"/>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36517" y="1828104"/>
            <a:ext cx="914400" cy="914400"/>
          </a:xfrm>
          <a:prstGeom prst="rect">
            <a:avLst/>
          </a:prstGeom>
        </p:spPr>
      </p:pic>
      <p:cxnSp>
        <p:nvCxnSpPr>
          <p:cNvPr id="33" name="Straight Arrow Connector 32">
            <a:extLst>
              <a:ext uri="{FF2B5EF4-FFF2-40B4-BE49-F238E27FC236}">
                <a16:creationId xmlns:a16="http://schemas.microsoft.com/office/drawing/2014/main" id="{04F44A69-E9FD-E9EA-9142-C326FA6F523D}"/>
              </a:ext>
            </a:extLst>
          </p:cNvPr>
          <p:cNvCxnSpPr>
            <a:cxnSpLocks/>
            <a:stCxn id="29" idx="3"/>
            <a:endCxn id="26" idx="1"/>
          </p:cNvCxnSpPr>
          <p:nvPr/>
        </p:nvCxnSpPr>
        <p:spPr>
          <a:xfrm>
            <a:off x="1350917" y="2285304"/>
            <a:ext cx="1199124" cy="106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16E5D5A6-35D6-2B83-BA4F-4E106944CDEB}"/>
              </a:ext>
            </a:extLst>
          </p:cNvPr>
          <p:cNvSpPr txBox="1"/>
          <p:nvPr/>
        </p:nvSpPr>
        <p:spPr>
          <a:xfrm>
            <a:off x="1171422" y="2010995"/>
            <a:ext cx="1539379" cy="261610"/>
          </a:xfrm>
          <a:prstGeom prst="rect">
            <a:avLst/>
          </a:prstGeom>
          <a:noFill/>
        </p:spPr>
        <p:txBody>
          <a:bodyPr wrap="square" rtlCol="0">
            <a:spAutoFit/>
          </a:bodyPr>
          <a:lstStyle/>
          <a:p>
            <a:pPr algn="ctr"/>
            <a:r>
              <a:rPr lang="en-US" sz="1100"/>
              <a:t>Input Parameters</a:t>
            </a:r>
          </a:p>
        </p:txBody>
      </p:sp>
      <p:cxnSp>
        <p:nvCxnSpPr>
          <p:cNvPr id="38" name="Straight Arrow Connector 37">
            <a:extLst>
              <a:ext uri="{FF2B5EF4-FFF2-40B4-BE49-F238E27FC236}">
                <a16:creationId xmlns:a16="http://schemas.microsoft.com/office/drawing/2014/main" id="{70B2B628-3FFE-88B2-6DD2-E179D172B013}"/>
              </a:ext>
            </a:extLst>
          </p:cNvPr>
          <p:cNvCxnSpPr>
            <a:cxnSpLocks/>
            <a:stCxn id="26" idx="3"/>
          </p:cNvCxnSpPr>
          <p:nvPr/>
        </p:nvCxnSpPr>
        <p:spPr>
          <a:xfrm>
            <a:off x="3464441" y="2295937"/>
            <a:ext cx="1063445" cy="734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667C7F6C-0228-DC9B-CED2-A4F387C642DC}"/>
              </a:ext>
            </a:extLst>
          </p:cNvPr>
          <p:cNvSpPr txBox="1"/>
          <p:nvPr/>
        </p:nvSpPr>
        <p:spPr>
          <a:xfrm>
            <a:off x="3222961" y="1869822"/>
            <a:ext cx="1386774" cy="430887"/>
          </a:xfrm>
          <a:prstGeom prst="rect">
            <a:avLst/>
          </a:prstGeom>
          <a:noFill/>
        </p:spPr>
        <p:txBody>
          <a:bodyPr wrap="square" rtlCol="0">
            <a:spAutoFit/>
          </a:bodyPr>
          <a:lstStyle/>
          <a:p>
            <a:pPr algn="ctr"/>
            <a:r>
              <a:rPr lang="en-US" sz="1100"/>
              <a:t>Enter details in the config table</a:t>
            </a:r>
          </a:p>
        </p:txBody>
      </p:sp>
      <p:sp>
        <p:nvSpPr>
          <p:cNvPr id="45" name="Rectangle: Rounded Corners 44">
            <a:extLst>
              <a:ext uri="{FF2B5EF4-FFF2-40B4-BE49-F238E27FC236}">
                <a16:creationId xmlns:a16="http://schemas.microsoft.com/office/drawing/2014/main" id="{6C47F6D9-C3F0-E454-7623-2A62B5EE3DB2}"/>
              </a:ext>
            </a:extLst>
          </p:cNvPr>
          <p:cNvSpPr/>
          <p:nvPr/>
        </p:nvSpPr>
        <p:spPr>
          <a:xfrm>
            <a:off x="5036725" y="2047399"/>
            <a:ext cx="487537" cy="45041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solidFill>
                  <a:schemeClr val="tx1"/>
                </a:solidFill>
              </a:rPr>
              <a:t>Config Table</a:t>
            </a:r>
          </a:p>
        </p:txBody>
      </p:sp>
      <p:sp>
        <p:nvSpPr>
          <p:cNvPr id="51" name="Rectangle: Rounded Corners 50">
            <a:extLst>
              <a:ext uri="{FF2B5EF4-FFF2-40B4-BE49-F238E27FC236}">
                <a16:creationId xmlns:a16="http://schemas.microsoft.com/office/drawing/2014/main" id="{129C3B91-8627-CFE0-63D9-F87978E01343}"/>
              </a:ext>
            </a:extLst>
          </p:cNvPr>
          <p:cNvSpPr/>
          <p:nvPr/>
        </p:nvSpPr>
        <p:spPr>
          <a:xfrm>
            <a:off x="5783326" y="1596988"/>
            <a:ext cx="703216" cy="45041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solidFill>
                  <a:schemeClr val="tx1"/>
                </a:solidFill>
              </a:rPr>
              <a:t>Current forecast  Table</a:t>
            </a:r>
          </a:p>
        </p:txBody>
      </p:sp>
      <p:cxnSp>
        <p:nvCxnSpPr>
          <p:cNvPr id="52" name="Straight Arrow Connector 51">
            <a:extLst>
              <a:ext uri="{FF2B5EF4-FFF2-40B4-BE49-F238E27FC236}">
                <a16:creationId xmlns:a16="http://schemas.microsoft.com/office/drawing/2014/main" id="{A5A6F4F8-42FC-8440-E9A0-0FACBA2D9744}"/>
              </a:ext>
            </a:extLst>
          </p:cNvPr>
          <p:cNvCxnSpPr>
            <a:cxnSpLocks/>
            <a:stCxn id="45" idx="3"/>
          </p:cNvCxnSpPr>
          <p:nvPr/>
        </p:nvCxnSpPr>
        <p:spPr>
          <a:xfrm>
            <a:off x="5524262" y="2272605"/>
            <a:ext cx="1182355" cy="14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09ED957D-E4A0-1949-FDFD-1E63FAD47DC5}"/>
              </a:ext>
            </a:extLst>
          </p:cNvPr>
          <p:cNvCxnSpPr>
            <a:cxnSpLocks/>
            <a:stCxn id="51" idx="2"/>
          </p:cNvCxnSpPr>
          <p:nvPr/>
        </p:nvCxnSpPr>
        <p:spPr>
          <a:xfrm>
            <a:off x="6134934" y="2047399"/>
            <a:ext cx="0" cy="2485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1" name="Rectangle: Rounded Corners 60">
            <a:extLst>
              <a:ext uri="{FF2B5EF4-FFF2-40B4-BE49-F238E27FC236}">
                <a16:creationId xmlns:a16="http://schemas.microsoft.com/office/drawing/2014/main" id="{D4C0253C-835D-2BF5-F934-E686EE56C88B}"/>
              </a:ext>
            </a:extLst>
          </p:cNvPr>
          <p:cNvSpPr/>
          <p:nvPr/>
        </p:nvSpPr>
        <p:spPr>
          <a:xfrm>
            <a:off x="6728365" y="2047399"/>
            <a:ext cx="588921" cy="450411"/>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a:solidFill>
                  <a:schemeClr val="tx1"/>
                </a:solidFill>
              </a:rPr>
              <a:t>Curated Data Product</a:t>
            </a:r>
          </a:p>
        </p:txBody>
      </p:sp>
      <p:sp>
        <p:nvSpPr>
          <p:cNvPr id="62" name="TextBox 61">
            <a:extLst>
              <a:ext uri="{FF2B5EF4-FFF2-40B4-BE49-F238E27FC236}">
                <a16:creationId xmlns:a16="http://schemas.microsoft.com/office/drawing/2014/main" id="{88D1B74F-D432-8C89-49F2-CDBEA4841DB2}"/>
              </a:ext>
            </a:extLst>
          </p:cNvPr>
          <p:cNvSpPr txBox="1"/>
          <p:nvPr/>
        </p:nvSpPr>
        <p:spPr>
          <a:xfrm>
            <a:off x="9491080" y="2619553"/>
            <a:ext cx="1539379" cy="430887"/>
          </a:xfrm>
          <a:prstGeom prst="rect">
            <a:avLst/>
          </a:prstGeom>
          <a:noFill/>
        </p:spPr>
        <p:txBody>
          <a:bodyPr wrap="square" rtlCol="0">
            <a:spAutoFit/>
          </a:bodyPr>
          <a:lstStyle/>
          <a:p>
            <a:pPr algn="ctr"/>
            <a:r>
              <a:rPr lang="en-US" sz="1100"/>
              <a:t>Snowflake Platform Team</a:t>
            </a:r>
          </a:p>
        </p:txBody>
      </p:sp>
      <p:pic>
        <p:nvPicPr>
          <p:cNvPr id="63" name="Graphic 62" descr="Users outline">
            <a:extLst>
              <a:ext uri="{FF2B5EF4-FFF2-40B4-BE49-F238E27FC236}">
                <a16:creationId xmlns:a16="http://schemas.microsoft.com/office/drawing/2014/main" id="{18734813-2691-C940-03A6-67AAF14249C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767571" y="1858584"/>
            <a:ext cx="914400" cy="914400"/>
          </a:xfrm>
          <a:prstGeom prst="rect">
            <a:avLst/>
          </a:prstGeom>
        </p:spPr>
      </p:pic>
      <p:pic>
        <p:nvPicPr>
          <p:cNvPr id="65" name="Picture 64">
            <a:extLst>
              <a:ext uri="{FF2B5EF4-FFF2-40B4-BE49-F238E27FC236}">
                <a16:creationId xmlns:a16="http://schemas.microsoft.com/office/drawing/2014/main" id="{A1432C88-194D-938F-6651-5DED9027C057}"/>
              </a:ext>
            </a:extLst>
          </p:cNvPr>
          <p:cNvPicPr>
            <a:picLocks noChangeAspect="1"/>
          </p:cNvPicPr>
          <p:nvPr/>
        </p:nvPicPr>
        <p:blipFill>
          <a:blip r:embed="rId6"/>
          <a:srcRect t="23842" b="24049"/>
          <a:stretch/>
        </p:blipFill>
        <p:spPr>
          <a:xfrm>
            <a:off x="8233597" y="2169165"/>
            <a:ext cx="978428" cy="282872"/>
          </a:xfrm>
          <a:prstGeom prst="rect">
            <a:avLst/>
          </a:prstGeom>
        </p:spPr>
      </p:pic>
      <p:cxnSp>
        <p:nvCxnSpPr>
          <p:cNvPr id="66" name="Straight Arrow Connector 65">
            <a:extLst>
              <a:ext uri="{FF2B5EF4-FFF2-40B4-BE49-F238E27FC236}">
                <a16:creationId xmlns:a16="http://schemas.microsoft.com/office/drawing/2014/main" id="{48B9A828-E78F-5073-5868-D6E23395A5F4}"/>
              </a:ext>
            </a:extLst>
          </p:cNvPr>
          <p:cNvCxnSpPr>
            <a:cxnSpLocks/>
            <a:stCxn id="67" idx="3"/>
            <a:endCxn id="63" idx="1"/>
          </p:cNvCxnSpPr>
          <p:nvPr/>
        </p:nvCxnSpPr>
        <p:spPr>
          <a:xfrm>
            <a:off x="9353433" y="2309107"/>
            <a:ext cx="414138" cy="667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7" name="Rectangle 66">
            <a:extLst>
              <a:ext uri="{FF2B5EF4-FFF2-40B4-BE49-F238E27FC236}">
                <a16:creationId xmlns:a16="http://schemas.microsoft.com/office/drawing/2014/main" id="{9A5B2C36-7777-DEE0-A88E-C0EECADE23FD}"/>
              </a:ext>
            </a:extLst>
          </p:cNvPr>
          <p:cNvSpPr/>
          <p:nvPr/>
        </p:nvSpPr>
        <p:spPr>
          <a:xfrm>
            <a:off x="8108410" y="2072090"/>
            <a:ext cx="1245023" cy="474033"/>
          </a:xfrm>
          <a:prstGeom prst="rect">
            <a:avLst/>
          </a:prstGeom>
          <a:noFill/>
          <a:ln>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8" name="Straight Arrow Connector 67">
            <a:extLst>
              <a:ext uri="{FF2B5EF4-FFF2-40B4-BE49-F238E27FC236}">
                <a16:creationId xmlns:a16="http://schemas.microsoft.com/office/drawing/2014/main" id="{AED6F003-DAAA-7FE6-4D99-8B1534DFC700}"/>
              </a:ext>
            </a:extLst>
          </p:cNvPr>
          <p:cNvCxnSpPr>
            <a:cxnSpLocks/>
            <a:endCxn id="67" idx="1"/>
          </p:cNvCxnSpPr>
          <p:nvPr/>
        </p:nvCxnSpPr>
        <p:spPr>
          <a:xfrm>
            <a:off x="7505002" y="2303281"/>
            <a:ext cx="603408" cy="58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3" name="Rectangle 72">
            <a:extLst>
              <a:ext uri="{FF2B5EF4-FFF2-40B4-BE49-F238E27FC236}">
                <a16:creationId xmlns:a16="http://schemas.microsoft.com/office/drawing/2014/main" id="{CDBE30F9-3D4D-06A7-E775-C8EEAE3DAC44}"/>
              </a:ext>
            </a:extLst>
          </p:cNvPr>
          <p:cNvSpPr/>
          <p:nvPr/>
        </p:nvSpPr>
        <p:spPr>
          <a:xfrm>
            <a:off x="5357691" y="1794285"/>
            <a:ext cx="738997" cy="361309"/>
          </a:xfrm>
          <a:prstGeom prst="rect">
            <a:avLst/>
          </a:prstGeom>
          <a:no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a:ea typeface="+mn-ea"/>
              <a:cs typeface="+mn-cs"/>
            </a:endParaRPr>
          </a:p>
        </p:txBody>
      </p:sp>
      <p:sp>
        <p:nvSpPr>
          <p:cNvPr id="78" name="TextBox 77">
            <a:extLst>
              <a:ext uri="{FF2B5EF4-FFF2-40B4-BE49-F238E27FC236}">
                <a16:creationId xmlns:a16="http://schemas.microsoft.com/office/drawing/2014/main" id="{CE1D68ED-2858-4C21-DE79-7CBB9BB1C011}"/>
              </a:ext>
            </a:extLst>
          </p:cNvPr>
          <p:cNvSpPr txBox="1"/>
          <p:nvPr/>
        </p:nvSpPr>
        <p:spPr>
          <a:xfrm>
            <a:off x="2092406" y="3421290"/>
            <a:ext cx="2261110" cy="369332"/>
          </a:xfrm>
          <a:prstGeom prst="rect">
            <a:avLst/>
          </a:prstGeom>
          <a:noFill/>
        </p:spPr>
        <p:txBody>
          <a:bodyPr wrap="square">
            <a:spAutoFit/>
          </a:bodyPr>
          <a:lstStyle/>
          <a:p>
            <a:r>
              <a:rPr lang="en-US" sz="1800" kern="1200">
                <a:solidFill>
                  <a:schemeClr val="tx1"/>
                </a:solidFill>
                <a:latin typeface="+mn-lt"/>
                <a:ea typeface="+mn-ea"/>
                <a:cs typeface="+mn-cs"/>
              </a:rPr>
              <a:t>Current Forecast</a:t>
            </a:r>
          </a:p>
        </p:txBody>
      </p:sp>
      <p:sp>
        <p:nvSpPr>
          <p:cNvPr id="79" name="TextBox 78">
            <a:extLst>
              <a:ext uri="{FF2B5EF4-FFF2-40B4-BE49-F238E27FC236}">
                <a16:creationId xmlns:a16="http://schemas.microsoft.com/office/drawing/2014/main" id="{EB4FFC6B-C154-C5DA-9A0C-6DEF5C98D409}"/>
              </a:ext>
            </a:extLst>
          </p:cNvPr>
          <p:cNvSpPr txBox="1"/>
          <p:nvPr/>
        </p:nvSpPr>
        <p:spPr>
          <a:xfrm>
            <a:off x="7838486" y="3392715"/>
            <a:ext cx="2261110" cy="369332"/>
          </a:xfrm>
          <a:prstGeom prst="rect">
            <a:avLst/>
          </a:prstGeom>
          <a:noFill/>
        </p:spPr>
        <p:txBody>
          <a:bodyPr wrap="square">
            <a:spAutoFit/>
          </a:bodyPr>
          <a:lstStyle/>
          <a:p>
            <a:r>
              <a:rPr lang="en-US" sz="1800" kern="1200">
                <a:solidFill>
                  <a:schemeClr val="tx1"/>
                </a:solidFill>
                <a:latin typeface="+mn-lt"/>
                <a:ea typeface="+mn-ea"/>
                <a:cs typeface="+mn-cs"/>
              </a:rPr>
              <a:t>New Forecast</a:t>
            </a:r>
          </a:p>
        </p:txBody>
      </p:sp>
      <p:pic>
        <p:nvPicPr>
          <p:cNvPr id="80" name="Picture 79">
            <a:extLst>
              <a:ext uri="{FF2B5EF4-FFF2-40B4-BE49-F238E27FC236}">
                <a16:creationId xmlns:a16="http://schemas.microsoft.com/office/drawing/2014/main" id="{696C1C66-B7D5-A2FA-120A-85B74EB83DB8}"/>
              </a:ext>
            </a:extLst>
          </p:cNvPr>
          <p:cNvPicPr>
            <a:picLocks noChangeAspect="1"/>
          </p:cNvPicPr>
          <p:nvPr/>
        </p:nvPicPr>
        <p:blipFill>
          <a:blip r:embed="rId7"/>
          <a:stretch>
            <a:fillRect/>
          </a:stretch>
        </p:blipFill>
        <p:spPr>
          <a:xfrm>
            <a:off x="401132" y="4242823"/>
            <a:ext cx="5382193" cy="1867161"/>
          </a:xfrm>
          <a:prstGeom prst="rect">
            <a:avLst/>
          </a:prstGeom>
        </p:spPr>
      </p:pic>
      <p:pic>
        <p:nvPicPr>
          <p:cNvPr id="82" name="Picture 81">
            <a:extLst>
              <a:ext uri="{FF2B5EF4-FFF2-40B4-BE49-F238E27FC236}">
                <a16:creationId xmlns:a16="http://schemas.microsoft.com/office/drawing/2014/main" id="{2299968A-580C-964A-4630-7DA4D950D660}"/>
              </a:ext>
            </a:extLst>
          </p:cNvPr>
          <p:cNvPicPr>
            <a:picLocks noChangeAspect="1"/>
          </p:cNvPicPr>
          <p:nvPr/>
        </p:nvPicPr>
        <p:blipFill>
          <a:blip r:embed="rId7"/>
          <a:stretch>
            <a:fillRect/>
          </a:stretch>
        </p:blipFill>
        <p:spPr>
          <a:xfrm>
            <a:off x="6265717" y="4219061"/>
            <a:ext cx="5621483" cy="1867161"/>
          </a:xfrm>
          <a:prstGeom prst="rect">
            <a:avLst/>
          </a:prstGeom>
        </p:spPr>
      </p:pic>
    </p:spTree>
    <p:extLst>
      <p:ext uri="{BB962C8B-B14F-4D97-AF65-F5344CB8AC3E}">
        <p14:creationId xmlns:p14="http://schemas.microsoft.com/office/powerpoint/2010/main" val="420137723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Office Theme">
  <a:themeElements>
    <a:clrScheme name="Principal">
      <a:dk1>
        <a:srgbClr val="333333"/>
      </a:dk1>
      <a:lt1>
        <a:srgbClr val="FFFFFF"/>
      </a:lt1>
      <a:dk2>
        <a:srgbClr val="004C97"/>
      </a:dk2>
      <a:lt2>
        <a:srgbClr val="55FFF5"/>
      </a:lt2>
      <a:accent1>
        <a:srgbClr val="002855"/>
      </a:accent1>
      <a:accent2>
        <a:srgbClr val="0076CF"/>
      </a:accent2>
      <a:accent3>
        <a:srgbClr val="00C3D9"/>
      </a:accent3>
      <a:accent4>
        <a:srgbClr val="BDE3FC"/>
      </a:accent4>
      <a:accent5>
        <a:srgbClr val="DCF94D"/>
      </a:accent5>
      <a:accent6>
        <a:srgbClr val="FAC800"/>
      </a:accent6>
      <a:hlink>
        <a:srgbClr val="0061A0"/>
      </a:hlink>
      <a:folHlink>
        <a:srgbClr val="0091DA"/>
      </a:folHlink>
    </a:clrScheme>
    <a:fontScheme name="Custom 1">
      <a:majorFont>
        <a:latin typeface="FS Elliot Pro Light"/>
        <a:ea typeface=""/>
        <a:cs typeface=""/>
      </a:majorFont>
      <a:minorFont>
        <a:latin typeface="FS Elliot Pro Ligh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5" id="{87BC9DAA-2887-8C46-B724-36BA6E6180F2}" vid="{920FCF56-11AC-2346-AC26-E79F42B9EDB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F54C77A1458144082AE147E7F09B8FA" ma:contentTypeVersion="11" ma:contentTypeDescription="Create a new document." ma:contentTypeScope="" ma:versionID="443376b4e501b32bd9d642efb7b038c0">
  <xsd:schema xmlns:xsd="http://www.w3.org/2001/XMLSchema" xmlns:xs="http://www.w3.org/2001/XMLSchema" xmlns:p="http://schemas.microsoft.com/office/2006/metadata/properties" xmlns:ns2="747df5d4-2ee9-4481-82f2-5f8ae4a7651b" xmlns:ns3="48eb6c90-d7c5-4f82-a4bd-74382039df2f" targetNamespace="http://schemas.microsoft.com/office/2006/metadata/properties" ma:root="true" ma:fieldsID="823255a1fd90b669f859384c3affdf5e" ns2:_="" ns3:_="">
    <xsd:import namespace="747df5d4-2ee9-4481-82f2-5f8ae4a7651b"/>
    <xsd:import namespace="48eb6c90-d7c5-4f82-a4bd-74382039df2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47df5d4-2ee9-4481-82f2-5f8ae4a7651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MediaServiceBillingMetadata" ma:index="1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8eb6c90-d7c5-4f82-a4bd-74382039df2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2BAA7EC-43DE-4782-B6EB-5F11977ADEDE}">
  <ds:schemaRefs>
    <ds:schemaRef ds:uri="http://schemas.microsoft.com/sharepoint/v3/contenttype/forms"/>
  </ds:schemaRefs>
</ds:datastoreItem>
</file>

<file path=customXml/itemProps2.xml><?xml version="1.0" encoding="utf-8"?>
<ds:datastoreItem xmlns:ds="http://schemas.openxmlformats.org/officeDocument/2006/customXml" ds:itemID="{410D9611-42F9-4DF6-9D06-64D059C6C299}">
  <ds:schemaRefs>
    <ds:schemaRef ds:uri="50cb40ca-a4c3-4d36-be70-27c25699bf1e"/>
    <ds:schemaRef ds:uri="8a059c31-e9fe-4f76-bbed-5701c13b717c"/>
    <ds:schemaRef ds:uri="http://schemas.microsoft.com/office/2006/documentManagement/types"/>
    <ds:schemaRef ds:uri="http://purl.org/dc/terms/"/>
    <ds:schemaRef ds:uri="http://www.w3.org/XML/1998/namespace"/>
    <ds:schemaRef ds:uri="http://schemas.microsoft.com/office/2006/metadata/properties"/>
    <ds:schemaRef ds:uri="http://purl.org/dc/elements/1.1/"/>
    <ds:schemaRef ds:uri="http://schemas.microsoft.com/office/infopath/2007/PartnerControls"/>
    <ds:schemaRef ds:uri="http://schemas.openxmlformats.org/package/2006/metadata/core-properties"/>
    <ds:schemaRef ds:uri="http://purl.org/dc/dcmitype/"/>
  </ds:schemaRefs>
</ds:datastoreItem>
</file>

<file path=customXml/itemProps3.xml><?xml version="1.0" encoding="utf-8"?>
<ds:datastoreItem xmlns:ds="http://schemas.openxmlformats.org/officeDocument/2006/customXml" ds:itemID="{3315189F-0017-494F-9F43-617C02C1A0B3}"/>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otalTime>57</TotalTime>
  <Words>2334</Words>
  <Application>Microsoft Office PowerPoint</Application>
  <PresentationFormat>Widescreen</PresentationFormat>
  <Paragraphs>557</Paragraphs>
  <Slides>35</Slides>
  <Notes>34</Notes>
  <HiddenSlides>0</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1</vt:i4>
      </vt:variant>
      <vt:variant>
        <vt:lpstr>Slide Titles</vt:lpstr>
      </vt:variant>
      <vt:variant>
        <vt:i4>35</vt:i4>
      </vt:variant>
    </vt:vector>
  </HeadingPairs>
  <TitlesOfParts>
    <vt:vector size="49" baseType="lpstr">
      <vt:lpstr>.PingFang SC Regular</vt:lpstr>
      <vt:lpstr>Aptos</vt:lpstr>
      <vt:lpstr>Arial</vt:lpstr>
      <vt:lpstr>Calibri</vt:lpstr>
      <vt:lpstr>FS Elliot Pro</vt:lpstr>
      <vt:lpstr>FS Elliot Pro Light</vt:lpstr>
      <vt:lpstr>Monaco</vt:lpstr>
      <vt:lpstr>Open Sans</vt:lpstr>
      <vt:lpstr>Segoe UI</vt:lpstr>
      <vt:lpstr>STIXGeneral-Regular</vt:lpstr>
      <vt:lpstr>Wingdings</vt:lpstr>
      <vt:lpstr>Wingdings 2</vt:lpstr>
      <vt:lpstr>1_Office Theme</vt:lpstr>
      <vt:lpstr>think-cell Slide</vt:lpstr>
      <vt:lpstr>Financial Operations Dashboards Wireframes </vt:lpstr>
      <vt:lpstr>PowerPoint Presentation</vt:lpstr>
      <vt:lpstr>PowerPoint Presentation</vt:lpstr>
      <vt:lpstr>PowerPoint Presentation</vt:lpstr>
      <vt:lpstr>PowerPoint Presentation</vt:lpstr>
      <vt:lpstr>PowerPoint Presentation</vt:lpstr>
      <vt:lpstr>Summary Page</vt:lpstr>
      <vt:lpstr>PowerPoint Presentation</vt:lpstr>
      <vt:lpstr>Cost Management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Performance Management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Product Usage</vt:lpstr>
      <vt:lpstr>PowerPoint Presentation</vt:lpstr>
      <vt:lpstr>PowerPoint Presentation</vt:lpstr>
      <vt:lpstr>PowerPoint Presentation</vt:lpstr>
      <vt:lpstr>New Product Onboard Forecast</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&amp; AI Foundation Current State and Requirements Document</dc:title>
  <dc:creator>Marwah, Ankit</dc:creator>
  <cp:lastModifiedBy>Dandekar, Rupesh</cp:lastModifiedBy>
  <cp:revision>3</cp:revision>
  <dcterms:created xsi:type="dcterms:W3CDTF">2025-05-12T13:53:20Z</dcterms:created>
  <dcterms:modified xsi:type="dcterms:W3CDTF">2025-09-05T14:40:08Z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0x010100BF54C77A1458144082AE147E7F09B8FA</vt:lpwstr>
  </property>
  <property fmtid="{D5CDD505-2E9C-101B-9397-08002B2CF9AE}" pid="3" name="MediaServiceImageTags">
    <vt:lpwstr/>
  </property>
</Properties>
</file>