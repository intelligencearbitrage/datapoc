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4"/>
    <p:sldMasterId id="2147483757" r:id="rId5"/>
    <p:sldMasterId id="2147483779" r:id="rId6"/>
    <p:sldMasterId id="2147483792" r:id="rId7"/>
  </p:sldMasterIdLst>
  <p:notesMasterIdLst>
    <p:notesMasterId r:id="rId18"/>
  </p:notesMasterIdLst>
  <p:sldIdLst>
    <p:sldId id="2147476310" r:id="rId8"/>
    <p:sldId id="2147474115" r:id="rId9"/>
    <p:sldId id="2147476312" r:id="rId10"/>
    <p:sldId id="2147482036" r:id="rId11"/>
    <p:sldId id="2445" r:id="rId12"/>
    <p:sldId id="2147481301" r:id="rId13"/>
    <p:sldId id="597" r:id="rId14"/>
    <p:sldId id="2147481299" r:id="rId15"/>
    <p:sldId id="2147476314" r:id="rId16"/>
    <p:sldId id="269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1F23EC3-D3FC-462D-A190-375494CDEBAB}">
          <p14:sldIdLst>
            <p14:sldId id="2147476310"/>
            <p14:sldId id="2147474115"/>
            <p14:sldId id="2147476312"/>
            <p14:sldId id="2147482036"/>
            <p14:sldId id="2445"/>
            <p14:sldId id="2147481301"/>
            <p14:sldId id="597"/>
            <p14:sldId id="2147481299"/>
            <p14:sldId id="2147476314"/>
            <p14:sldId id="269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70C5B0-0535-5E58-EB72-05AF1DB7718E}" name="Harish, Himanshu" initials="HH" userId="Harish, Himanshu"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7C4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EED842-5645-4BC9-B736-9CEB58256370}" v="1" dt="2026-03-15T22:55:56.2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9" d="100"/>
          <a:sy n="99" d="100"/>
        </p:scale>
        <p:origin x="89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470118-C17E-4832-8BE1-52E335A72ABA}"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64B4DB-DF8F-4433-82C1-1BD511F80210}" type="slidenum">
              <a:rPr lang="en-US" smtClean="0"/>
              <a:t>‹#›</a:t>
            </a:fld>
            <a:endParaRPr lang="en-US"/>
          </a:p>
        </p:txBody>
      </p:sp>
    </p:spTree>
    <p:extLst>
      <p:ext uri="{BB962C8B-B14F-4D97-AF65-F5344CB8AC3E}">
        <p14:creationId xmlns:p14="http://schemas.microsoft.com/office/powerpoint/2010/main" val="46156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5554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8464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61228-F899-1217-C846-89CF5480FB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90E42-8AAF-35B2-86B5-17FF343CC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5CEF3-4A02-C1D1-36A1-42C2BD0D4F93}"/>
              </a:ext>
            </a:extLst>
          </p:cNvPr>
          <p:cNvSpPr>
            <a:spLocks noGrp="1"/>
          </p:cNvSpPr>
          <p:nvPr>
            <p:ph type="body" idx="1"/>
          </p:nvPr>
        </p:nvSpPr>
        <p:spPr/>
        <p:txBody>
          <a:bodyPr/>
          <a:lstStyle/>
          <a:p>
            <a:r>
              <a:rPr lang="en-US"/>
              <a:t>Rupesh </a:t>
            </a:r>
          </a:p>
        </p:txBody>
      </p:sp>
      <p:sp>
        <p:nvSpPr>
          <p:cNvPr id="4" name="Slide Number Placeholder 3">
            <a:extLst>
              <a:ext uri="{FF2B5EF4-FFF2-40B4-BE49-F238E27FC236}">
                <a16:creationId xmlns:a16="http://schemas.microsoft.com/office/drawing/2014/main" id="{4778F1F7-F054-9091-8FD8-99F1D6C75D91}"/>
              </a:ext>
            </a:extLst>
          </p:cNvPr>
          <p:cNvSpPr>
            <a:spLocks noGrp="1"/>
          </p:cNvSpPr>
          <p:nvPr>
            <p:ph type="sldNum" sz="quarter" idx="5"/>
          </p:nvPr>
        </p:nvSpPr>
        <p:spPr/>
        <p:txBody>
          <a:bodyPr/>
          <a:lstStyle/>
          <a:p>
            <a:pPr marL="0" marR="0" lvl="0" indent="0" algn="r" defTabSz="1232825"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1232825"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43341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Rupesh </a:t>
            </a:r>
          </a:p>
        </p:txBody>
      </p:sp>
      <p:sp>
        <p:nvSpPr>
          <p:cNvPr id="4" name="Slide Number Placeholder 3"/>
          <p:cNvSpPr>
            <a:spLocks noGrp="1"/>
          </p:cNvSpPr>
          <p:nvPr>
            <p:ph type="sldNum" sz="quarter" idx="5"/>
          </p:nvPr>
        </p:nvSpPr>
        <p:spPr/>
        <p:txBody>
          <a:bodyPr/>
          <a:lstStyle/>
          <a:p>
            <a:pPr marL="0" marR="0" lvl="0" indent="0" algn="r" defTabSz="1232825"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1232825"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873531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0304224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42382320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589216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0949793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FDE Practice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7557000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FDE Practice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19866602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FDE Practice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2772839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FDE Practice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1082776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FDE Practice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79021715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99870767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FDE Practice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2469563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FDE Practice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92076337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9"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FDE Practice Development LLC. All rights reserved.</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6457968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FDE Practice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41095460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25823531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78539912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dirty="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86167797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28721229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37355939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52551964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41997434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4127489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9428706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3626837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84280002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38776698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dirty="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13385112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99724985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114361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9806669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dirty="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dirty="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dirty="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1029666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06291785"/>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51200725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180320333"/>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26870217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4290318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FDE Practice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9899589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551159308"/>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433526265"/>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202959"/>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Subhea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08" imgH="508" progId="TCLayout.ActiveDocument.1">
                  <p:embed/>
                </p:oleObj>
              </mc:Choice>
              <mc:Fallback>
                <p:oleObj name="think-cell Slide" r:id="rId3" imgW="508" imgH="508"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421341" y="381179"/>
            <a:ext cx="11170024" cy="594360"/>
          </a:xfrm>
        </p:spPr>
        <p:txBody>
          <a:bodyPr vert="horz" lIns="0" tIns="45720" rIns="0" bIns="0" rtlCol="0" anchor="b" anchorCtr="0">
            <a:noAutofit/>
          </a:bodyPr>
          <a:lstStyle>
            <a:lvl1pPr>
              <a:defRPr lang="en-US" sz="3200" spc="-75" dirty="0">
                <a:latin typeface="Chronicle Display Black"/>
              </a:defRPr>
            </a:lvl1pPr>
          </a:lstStyle>
          <a:p>
            <a:pPr lvl="0" defTabSz="685800">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421341" y="1020004"/>
            <a:ext cx="11170024" cy="475488"/>
          </a:xfrm>
        </p:spPr>
        <p:txBody>
          <a:bodyPr vert="horz" lIns="0" tIns="0" rIns="0" bIns="0" rtlCol="0">
            <a:noAutofit/>
          </a:bodyPr>
          <a:lstStyle>
            <a:lvl1pPr marL="0" indent="0">
              <a:buNone/>
              <a:defRPr lang="en-US" sz="1200"/>
            </a:lvl1pPr>
          </a:lstStyle>
          <a:p>
            <a:pPr marL="228600" lvl="0" indent="-228600">
              <a:lnSpc>
                <a:spcPct val="130000"/>
              </a:lnSpc>
            </a:pPr>
            <a:r>
              <a:rPr lang="en-US" dirty="0"/>
              <a:t>Edit Master text styles</a:t>
            </a:r>
          </a:p>
        </p:txBody>
      </p:sp>
      <p:cxnSp>
        <p:nvCxnSpPr>
          <p:cNvPr id="5" name="Straight Connector 4"/>
          <p:cNvCxnSpPr/>
          <p:nvPr userDrawn="1"/>
        </p:nvCxnSpPr>
        <p:spPr>
          <a:xfrm>
            <a:off x="219856" y="993403"/>
            <a:ext cx="11774920" cy="0"/>
          </a:xfrm>
          <a:prstGeom prst="line">
            <a:avLst/>
          </a:prstGeom>
          <a:ln>
            <a:prstDash val="sysDot"/>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2567139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SF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815298"/>
            <a:ext cx="11252200" cy="184666"/>
          </a:xfrm>
          <a:prstGeom prst="rect">
            <a:avLst/>
          </a:prstGeom>
        </p:spPr>
        <p:txBody>
          <a:bodyPr vert="horz" lIns="0" tIns="0" rIns="0" bIns="0" anchor="t" anchorCtr="0">
            <a:spAutoFit/>
          </a:bodyPr>
          <a:lstStyle>
            <a:lvl1pPr marL="0" indent="0">
              <a:buNone/>
              <a:defRPr sz="12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69332"/>
          </a:xfrm>
          <a:prstGeom prst="rect">
            <a:avLst/>
          </a:prstGeom>
        </p:spPr>
        <p:txBody>
          <a:bodyPr vert="horz" lIns="0" tIns="0" rIns="0" bIns="0" rtlCol="0" anchor="t" anchorCtr="0">
            <a:spAutoFit/>
          </a:bodyPr>
          <a:lstStyle>
            <a:lvl1pPr>
              <a:defRPr sz="2400"/>
            </a:lvl1pPr>
          </a:lstStyle>
          <a:p>
            <a:r>
              <a:rPr lang="en-US" noProof="0"/>
              <a:t>Click to edit Master title style</a:t>
            </a:r>
          </a:p>
        </p:txBody>
      </p:sp>
    </p:spTree>
    <p:extLst>
      <p:ext uri="{BB962C8B-B14F-4D97-AF65-F5344CB8AC3E}">
        <p14:creationId xmlns:p14="http://schemas.microsoft.com/office/powerpoint/2010/main" val="3995672380"/>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le, Subhead, Breadcrumb">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8CDA913-053B-41DE-91C7-CDD8D7B615FE}"/>
              </a:ext>
            </a:extLst>
          </p:cNvPr>
          <p:cNvSpPr>
            <a:spLocks noGrp="1"/>
          </p:cNvSpPr>
          <p:nvPr>
            <p:ph type="body" sz="quarter" idx="15" hasCustomPrompt="1"/>
          </p:nvPr>
        </p:nvSpPr>
        <p:spPr>
          <a:xfrm>
            <a:off x="469900" y="242268"/>
            <a:ext cx="11252200" cy="173038"/>
          </a:xfrm>
        </p:spPr>
        <p:txBody>
          <a:bodyPr anchor="b"/>
          <a:lstStyle>
            <a:lvl1pPr>
              <a:defRPr sz="1000" b="1" cap="all" spc="300" baseline="0">
                <a:solidFill>
                  <a:schemeClr val="bg1">
                    <a:lumMod val="65000"/>
                  </a:schemeClr>
                </a:solidFill>
                <a:latin typeface="Open Sans" panose="020B0606030504020204" pitchFamily="34" charset="0"/>
              </a:defRPr>
            </a:lvl1pPr>
          </a:lstStyle>
          <a:p>
            <a:pPr lvl="0"/>
            <a:r>
              <a:rPr lang="en-US" dirty="0"/>
              <a:t>CLICK TO EDIT BREADCRUMB</a:t>
            </a:r>
          </a:p>
        </p:txBody>
      </p:sp>
      <p:sp>
        <p:nvSpPr>
          <p:cNvPr id="6" name="Text Placeholder 8">
            <a:extLst>
              <a:ext uri="{FF2B5EF4-FFF2-40B4-BE49-F238E27FC236}">
                <a16:creationId xmlns:a16="http://schemas.microsoft.com/office/drawing/2014/main" id="{97460AE7-C41F-B742-A869-5900E2154F01}"/>
              </a:ext>
            </a:extLst>
          </p:cNvPr>
          <p:cNvSpPr>
            <a:spLocks noGrp="1"/>
          </p:cNvSpPr>
          <p:nvPr>
            <p:ph type="body" sz="quarter" idx="14"/>
          </p:nvPr>
        </p:nvSpPr>
        <p:spPr>
          <a:xfrm>
            <a:off x="469900" y="835067"/>
            <a:ext cx="11252200" cy="392111"/>
          </a:xfrm>
        </p:spPr>
        <p:txBody>
          <a:bodyPr vert="horz" lIns="0" tIns="0" rIns="0" bIns="0" rtlCol="0">
            <a:noAutofit/>
          </a:bodyPr>
          <a:lstStyle>
            <a:lvl1pPr marL="0" indent="0">
              <a:buNone/>
              <a:defRPr lang="en-US" sz="1200">
                <a:latin typeface="Open Sans" panose="020B0606030504020204" pitchFamily="34" charset="0"/>
              </a:defRPr>
            </a:lvl1pPr>
          </a:lstStyle>
          <a:p>
            <a:pPr marL="228600" lvl="0" indent="-228600">
              <a:lnSpc>
                <a:spcPct val="130000"/>
              </a:lnSpc>
            </a:pPr>
            <a:r>
              <a:rPr lang="en-US" dirty="0"/>
              <a:t>Click to edit Master text styles</a:t>
            </a:r>
          </a:p>
        </p:txBody>
      </p:sp>
      <p:sp>
        <p:nvSpPr>
          <p:cNvPr id="7" name="Title Placeholder 1">
            <a:extLst>
              <a:ext uri="{FF2B5EF4-FFF2-40B4-BE49-F238E27FC236}">
                <a16:creationId xmlns:a16="http://schemas.microsoft.com/office/drawing/2014/main" id="{F117C93D-60BC-C04D-874C-030B601BD595}"/>
              </a:ext>
            </a:extLst>
          </p:cNvPr>
          <p:cNvSpPr>
            <a:spLocks noGrp="1"/>
          </p:cNvSpPr>
          <p:nvPr>
            <p:ph type="title"/>
          </p:nvPr>
        </p:nvSpPr>
        <p:spPr bwMode="gray">
          <a:xfrm>
            <a:off x="459739" y="456863"/>
            <a:ext cx="11252200" cy="451866"/>
          </a:xfrm>
          <a:prstGeom prst="rect">
            <a:avLst/>
          </a:prstGeom>
        </p:spPr>
        <p:txBody>
          <a:bodyPr vert="horz" lIns="0" tIns="0" rIns="0" bIns="0" rtlCol="0" anchor="t" anchorCtr="0">
            <a:noAutofit/>
          </a:bodyPr>
          <a:lstStyle>
            <a:lvl1pPr>
              <a:defRPr>
                <a:latin typeface="+mn-lt"/>
              </a:defRPr>
            </a:lvl1pPr>
          </a:lstStyle>
          <a:p>
            <a:r>
              <a:rPr lang="en-US" noProof="0" dirty="0"/>
              <a:t>Click to edit Master title style</a:t>
            </a:r>
          </a:p>
        </p:txBody>
      </p:sp>
    </p:spTree>
    <p:extLst>
      <p:ext uri="{BB962C8B-B14F-4D97-AF65-F5344CB8AC3E}">
        <p14:creationId xmlns:p14="http://schemas.microsoft.com/office/powerpoint/2010/main" val="2202897540"/>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WHITE_Title, subtitle &amp; 1 column text">
    <p:bg>
      <p:bgPr>
        <a:solidFill>
          <a:schemeClr val="bg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95301" y="651600"/>
            <a:ext cx="11198304" cy="307777"/>
          </a:xfrm>
          <a:prstGeom prst="rect">
            <a:avLst/>
          </a:prstGeom>
        </p:spPr>
        <p:txBody>
          <a:bodyPr lIns="0" tIns="0" rIns="0" bIns="0">
            <a:spAutoFit/>
          </a:bodyPr>
          <a:lstStyle>
            <a:lvl1pPr marL="0" indent="0">
              <a:buNone/>
              <a:defRPr sz="2000" b="0">
                <a:solidFill>
                  <a:schemeClr val="bg2"/>
                </a:solidFill>
                <a:latin typeface="+mj-lt"/>
              </a:defRPr>
            </a:lvl1pPr>
          </a:lstStyle>
          <a:p>
            <a:pPr lvl="0"/>
            <a:r>
              <a:rPr lang="en-US"/>
              <a:t>Click to add subtitle</a:t>
            </a:r>
          </a:p>
        </p:txBody>
      </p:sp>
      <p:sp>
        <p:nvSpPr>
          <p:cNvPr id="14" name="Title Placeholder 1"/>
          <p:cNvSpPr>
            <a:spLocks noGrp="1"/>
          </p:cNvSpPr>
          <p:nvPr>
            <p:ph type="title"/>
          </p:nvPr>
        </p:nvSpPr>
        <p:spPr>
          <a:xfrm>
            <a:off x="495301" y="317500"/>
            <a:ext cx="11198304" cy="338554"/>
          </a:xfrm>
          <a:prstGeom prst="rect">
            <a:avLst/>
          </a:prstGeom>
        </p:spPr>
        <p:txBody>
          <a:bodyPr vert="horz" lIns="0" tIns="0" rIns="0" bIns="0" rtlCol="0" anchor="t" anchorCtr="0">
            <a:spAutoFit/>
          </a:bodyPr>
          <a:lstStyle>
            <a:lvl1pPr>
              <a:defRPr sz="2200">
                <a:solidFill>
                  <a:schemeClr val="tx1"/>
                </a:solidFill>
                <a:latin typeface="+mj-lt"/>
              </a:defRPr>
            </a:lvl1pPr>
          </a:lstStyle>
          <a:p>
            <a:r>
              <a:rPr lang="en-US" noProof="0"/>
              <a:t>Click to edit Master title style</a:t>
            </a:r>
          </a:p>
        </p:txBody>
      </p:sp>
      <p:sp>
        <p:nvSpPr>
          <p:cNvPr id="8" name="Text Placeholder 18"/>
          <p:cNvSpPr>
            <a:spLocks noGrp="1"/>
          </p:cNvSpPr>
          <p:nvPr>
            <p:ph idx="1"/>
          </p:nvPr>
        </p:nvSpPr>
        <p:spPr>
          <a:xfrm>
            <a:off x="495322" y="1665290"/>
            <a:ext cx="11201378" cy="4678986"/>
          </a:xfrm>
          <a:prstGeom prst="rect">
            <a:avLst/>
          </a:prstGeom>
        </p:spPr>
        <p:txBody>
          <a:bodyPr vert="horz" lIns="0" tIns="0" rIns="0" bIns="0" rtlCol="0">
            <a:normAutofit/>
          </a:bodyPr>
          <a:lstStyle>
            <a:lvl1pPr>
              <a:defRPr sz="1400">
                <a:solidFill>
                  <a:schemeClr val="tx1"/>
                </a:solidFill>
                <a:latin typeface="+mj-lt"/>
              </a:defRPr>
            </a:lvl1pPr>
            <a:lvl2pPr>
              <a:defRPr sz="1400">
                <a:solidFill>
                  <a:schemeClr val="tx1"/>
                </a:solidFill>
                <a:latin typeface="+mj-lt"/>
              </a:defRPr>
            </a:lvl2pPr>
            <a:lvl3pPr>
              <a:defRPr sz="1400">
                <a:solidFill>
                  <a:schemeClr val="tx1"/>
                </a:solidFill>
                <a:latin typeface="+mj-lt"/>
              </a:defRPr>
            </a:lvl3pPr>
            <a:lvl4pPr>
              <a:defRPr sz="1400">
                <a:solidFill>
                  <a:schemeClr val="tx1"/>
                </a:solidFill>
                <a:latin typeface="+mj-lt"/>
              </a:defRPr>
            </a:lvl4pPr>
            <a:lvl5pPr>
              <a:defRPr sz="14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Box 4">
            <a:extLst>
              <a:ext uri="{FF2B5EF4-FFF2-40B4-BE49-F238E27FC236}">
                <a16:creationId xmlns:a16="http://schemas.microsoft.com/office/drawing/2014/main" id="{35D88051-3B85-4A4B-800F-E003F2885B69}"/>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tx1"/>
                </a:solidFill>
                <a:latin typeface="Calibri" panose="020F0502020204030204" pitchFamily="34" charset="0"/>
                <a:cs typeface="Calibri" panose="020F0502020204030204" pitchFamily="34" charset="0"/>
              </a:rPr>
              <a:t>Customer ODS to Snowflake Modernization</a:t>
            </a:r>
          </a:p>
        </p:txBody>
      </p:sp>
      <p:sp>
        <p:nvSpPr>
          <p:cNvPr id="6" name="TextBox 5">
            <a:extLst>
              <a:ext uri="{FF2B5EF4-FFF2-40B4-BE49-F238E27FC236}">
                <a16:creationId xmlns:a16="http://schemas.microsoft.com/office/drawing/2014/main" id="{BAE21057-A6FB-4434-B8B3-85F66C389301}"/>
              </a:ext>
            </a:extLst>
          </p:cNvPr>
          <p:cNvSpPr txBox="1"/>
          <p:nvPr userDrawn="1"/>
        </p:nvSpPr>
        <p:spPr>
          <a:xfrm>
            <a:off x="495300" y="6477000"/>
            <a:ext cx="5361517"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2026. For information, contact FDE Practice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Limited.</a:t>
            </a:r>
          </a:p>
        </p:txBody>
      </p:sp>
      <p:sp>
        <p:nvSpPr>
          <p:cNvPr id="7" name="TextBox 6">
            <a:extLst>
              <a:ext uri="{FF2B5EF4-FFF2-40B4-BE49-F238E27FC236}">
                <a16:creationId xmlns:a16="http://schemas.microsoft.com/office/drawing/2014/main" id="{4B36A146-5A4C-4245-9B39-F749CD53E3A3}"/>
              </a:ext>
            </a:extLst>
          </p:cNvPr>
          <p:cNvSpPr txBox="1"/>
          <p:nvPr userDrawn="1"/>
        </p:nvSpPr>
        <p:spPr>
          <a:xfrm>
            <a:off x="11382377" y="6477000"/>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9761590"/>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D09D2F-E345-6040-9408-A642F236AC9B}"/>
              </a:ext>
            </a:extLst>
          </p:cNvPr>
          <p:cNvSpPr>
            <a:spLocks noGrp="1"/>
          </p:cNvSpPr>
          <p:nvPr>
            <p:ph type="title"/>
          </p:nvPr>
        </p:nvSpPr>
        <p:spPr bwMode="gray">
          <a:xfrm>
            <a:off x="571500" y="571500"/>
            <a:ext cx="11047409" cy="568792"/>
          </a:xfrm>
          <a:prstGeom prst="rect">
            <a:avLst/>
          </a:prstGeom>
        </p:spPr>
        <p:txBody>
          <a:bodyPr/>
          <a:lstStyle>
            <a:lvl1pPr>
              <a:lnSpc>
                <a:spcPct val="95000"/>
              </a:lnSpc>
              <a:defRPr sz="2400" baseline="0">
                <a:latin typeface="+mj-lt"/>
              </a:defRPr>
            </a:lvl1pPr>
          </a:lstStyle>
          <a:p>
            <a:r>
              <a:rPr lang="en-US" noProof="0"/>
              <a:t>Click to edit Master title style</a:t>
            </a:r>
          </a:p>
        </p:txBody>
      </p:sp>
    </p:spTree>
    <p:extLst>
      <p:ext uri="{BB962C8B-B14F-4D97-AF65-F5344CB8AC3E}">
        <p14:creationId xmlns:p14="http://schemas.microsoft.com/office/powerpoint/2010/main" val="205579398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1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2" y="4965303"/>
            <a:ext cx="4407673" cy="897983"/>
          </a:xfrm>
        </p:spPr>
        <p:txBody>
          <a:bodyPr anchor="b" anchorCtr="0"/>
          <a:lstStyle>
            <a:lvl1pPr>
              <a:lnSpc>
                <a:spcPct val="85000"/>
              </a:lnSpc>
              <a:defRPr sz="2800" b="1" baseline="0">
                <a:latin typeface="+mn-lt"/>
              </a:defRPr>
            </a:lvl1pPr>
          </a:lstStyle>
          <a:p>
            <a:r>
              <a:rPr lang="en-US" dirty="0"/>
              <a:t>Click to edit Title</a:t>
            </a:r>
          </a:p>
        </p:txBody>
      </p:sp>
      <p:sp>
        <p:nvSpPr>
          <p:cNvPr id="6" name="Text Placeholder 9"/>
          <p:cNvSpPr>
            <a:spLocks noGrp="1"/>
          </p:cNvSpPr>
          <p:nvPr>
            <p:ph type="body" sz="quarter" idx="16" hasCustomPrompt="1"/>
          </p:nvPr>
        </p:nvSpPr>
        <p:spPr>
          <a:xfrm>
            <a:off x="914402" y="5940663"/>
            <a:ext cx="4407673" cy="478209"/>
          </a:xfrm>
        </p:spPr>
        <p:txBody>
          <a:bodyPr vert="horz" lIns="0" tIns="0" rIns="0" bIns="0" rtlCol="0">
            <a:noAutofit/>
          </a:bodyPr>
          <a:lstStyle>
            <a:lvl1pPr marL="0" indent="0">
              <a:buNone/>
              <a:defRPr lang="en-US" sz="1200" dirty="0"/>
            </a:lvl1pPr>
          </a:lstStyle>
          <a:p>
            <a:pPr marL="228600" lvl="0" indent="-228600">
              <a:lnSpc>
                <a:spcPct val="130000"/>
              </a:lnSpc>
            </a:pPr>
            <a:r>
              <a:rPr lang="en-US" dirty="0"/>
              <a:t>Click to edit Subtitle</a:t>
            </a:r>
          </a:p>
        </p:txBody>
      </p:sp>
      <p:sp>
        <p:nvSpPr>
          <p:cNvPr id="7" name="Text Placeholder 9"/>
          <p:cNvSpPr>
            <a:spLocks noGrp="1"/>
          </p:cNvSpPr>
          <p:nvPr>
            <p:ph type="body" sz="quarter" idx="17" hasCustomPrompt="1"/>
          </p:nvPr>
        </p:nvSpPr>
        <p:spPr>
          <a:xfrm>
            <a:off x="914402" y="4585210"/>
            <a:ext cx="4407673" cy="348286"/>
          </a:xfrm>
        </p:spPr>
        <p:txBody>
          <a:bodyPr vert="horz" lIns="0" tIns="0" rIns="0" bIns="0" rtlCol="0">
            <a:noAutofit/>
          </a:bodyPr>
          <a:lstStyle>
            <a:lvl1pPr marL="0" indent="0">
              <a:buNone/>
              <a:defRPr lang="en-US" sz="900" b="1" kern="0" cap="all" spc="250" baseline="0" dirty="0">
                <a:solidFill>
                  <a:schemeClr val="accent6">
                    <a:lumMod val="60000"/>
                    <a:lumOff val="40000"/>
                  </a:schemeClr>
                </a:solidFill>
                <a:ea typeface="Nexa Black" charset="0"/>
                <a:cs typeface="Nexa Black" charset="0"/>
              </a:defRPr>
            </a:lvl1pPr>
          </a:lstStyle>
          <a:p>
            <a:pPr marL="228600" lvl="0" indent="-228600"/>
            <a:r>
              <a:rPr lang="en-US" dirty="0"/>
              <a:t>Date</a:t>
            </a:r>
          </a:p>
        </p:txBody>
      </p:sp>
      <p:sp>
        <p:nvSpPr>
          <p:cNvPr id="8" name="Picture Placeholder 7"/>
          <p:cNvSpPr>
            <a:spLocks noGrp="1"/>
          </p:cNvSpPr>
          <p:nvPr>
            <p:ph type="pic" sz="quarter" idx="19" hasCustomPrompt="1"/>
          </p:nvPr>
        </p:nvSpPr>
        <p:spPr>
          <a:xfrm>
            <a:off x="5322074" y="0"/>
            <a:ext cx="6869925" cy="6858000"/>
          </a:xfrm>
        </p:spPr>
        <p:txBody>
          <a:bodyPr anchor="ctr"/>
          <a:lstStyle>
            <a:lvl1pPr marL="0" indent="0" algn="ctr">
              <a:buNone/>
              <a:defRPr/>
            </a:lvl1pPr>
          </a:lstStyle>
          <a:p>
            <a:r>
              <a:rPr lang="en-US" dirty="0"/>
              <a:t>Click to insert picture</a:t>
            </a:r>
          </a:p>
        </p:txBody>
      </p:sp>
    </p:spTree>
    <p:extLst>
      <p:ext uri="{BB962C8B-B14F-4D97-AF65-F5344CB8AC3E}">
        <p14:creationId xmlns:p14="http://schemas.microsoft.com/office/powerpoint/2010/main" val="334563127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9C95D0-169E-461D-8A36-F36A2D650550}"/>
              </a:ext>
            </a:extLst>
          </p:cNvPr>
          <p:cNvSpPr>
            <a:spLocks noGrp="1"/>
          </p:cNvSpPr>
          <p:nvPr>
            <p:ph type="title"/>
          </p:nvPr>
        </p:nvSpPr>
        <p:spPr>
          <a:xfrm>
            <a:off x="501651" y="423832"/>
            <a:ext cx="11188700" cy="334099"/>
          </a:xfrm>
        </p:spPr>
        <p:txBody>
          <a:bodyPr/>
          <a:lstStyle>
            <a:lvl1pPr>
              <a:defRPr sz="240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dirty="0"/>
              <a:t>Click to edit Master title style</a:t>
            </a:r>
          </a:p>
        </p:txBody>
      </p:sp>
      <p:sp>
        <p:nvSpPr>
          <p:cNvPr id="5" name="Text Placeholder 8">
            <a:extLst>
              <a:ext uri="{FF2B5EF4-FFF2-40B4-BE49-F238E27FC236}">
                <a16:creationId xmlns:a16="http://schemas.microsoft.com/office/drawing/2014/main" id="{FE8A48AD-3964-4E2F-84E5-10B01376CE0A}"/>
              </a:ext>
            </a:extLst>
          </p:cNvPr>
          <p:cNvSpPr>
            <a:spLocks noGrp="1"/>
          </p:cNvSpPr>
          <p:nvPr>
            <p:ph type="body" sz="quarter" idx="13" hasCustomPrompt="1"/>
          </p:nvPr>
        </p:nvSpPr>
        <p:spPr>
          <a:xfrm>
            <a:off x="501650" y="757931"/>
            <a:ext cx="11188700" cy="334100"/>
          </a:xfrm>
          <a:prstGeom prst="rect">
            <a:avLst/>
          </a:prstGeom>
        </p:spPr>
        <p:txBody>
          <a:bodyPr lIns="0" tIns="0" rIns="0" bIns="0">
            <a:noAutofit/>
          </a:bodyPr>
          <a:lstStyle>
            <a:lvl1pPr marL="0" indent="0">
              <a:buNone/>
              <a:defRPr sz="1800" b="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noProof="0"/>
              <a:t>Click to add subtitle</a:t>
            </a:r>
          </a:p>
        </p:txBody>
      </p:sp>
    </p:spTree>
    <p:extLst>
      <p:ext uri="{BB962C8B-B14F-4D97-AF65-F5344CB8AC3E}">
        <p14:creationId xmlns:p14="http://schemas.microsoft.com/office/powerpoint/2010/main" val="4122118911"/>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2_Title Slide - White">
    <p:bg bwMode="gray">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B469CF-428F-5027-1D25-4B5736EFE0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22072" y="868841"/>
            <a:ext cx="5845886" cy="5481708"/>
          </a:xfrm>
          <a:prstGeom prst="rect">
            <a:avLst/>
          </a:prstGeom>
        </p:spPr>
      </p:pic>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93561" y="474218"/>
            <a:ext cx="1816364" cy="340364"/>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19" name="Text Placeholder 9">
            <a:extLst>
              <a:ext uri="{FF2B5EF4-FFF2-40B4-BE49-F238E27FC236}">
                <a16:creationId xmlns:a16="http://schemas.microsoft.com/office/drawing/2014/main" id="{DB0FFD41-6932-C542-BED0-7BFE546399ED}"/>
              </a:ext>
            </a:extLst>
          </p:cNvPr>
          <p:cNvSpPr>
            <a:spLocks noGrp="1"/>
          </p:cNvSpPr>
          <p:nvPr>
            <p:ph type="body" sz="quarter" idx="16" hasCustomPrompt="1"/>
          </p:nvPr>
        </p:nvSpPr>
        <p:spPr>
          <a:xfrm>
            <a:off x="490295" y="5940663"/>
            <a:ext cx="4407673" cy="478209"/>
          </a:xfrm>
        </p:spPr>
        <p:txBody>
          <a:bodyPr vert="horz" lIns="0" tIns="0" rIns="0" bIns="0" rtlCol="0">
            <a:noAutofit/>
          </a:bodyPr>
          <a:lstStyle>
            <a:lvl1pPr marL="0" indent="0">
              <a:buNone/>
              <a:defRPr lang="en-US" sz="1200" b="0" i="0" spc="-30" baseline="0"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228600" lvl="0" indent="-228600">
              <a:lnSpc>
                <a:spcPct val="130000"/>
              </a:lnSpc>
            </a:pPr>
            <a:r>
              <a:rPr lang="en-US"/>
              <a:t>Click to edit Subtitle</a:t>
            </a:r>
          </a:p>
        </p:txBody>
      </p:sp>
      <p:sp>
        <p:nvSpPr>
          <p:cNvPr id="20" name="Text Placeholder 9">
            <a:extLst>
              <a:ext uri="{FF2B5EF4-FFF2-40B4-BE49-F238E27FC236}">
                <a16:creationId xmlns:a16="http://schemas.microsoft.com/office/drawing/2014/main" id="{AA5E058E-2788-6942-A870-D57592460284}"/>
              </a:ext>
            </a:extLst>
          </p:cNvPr>
          <p:cNvSpPr>
            <a:spLocks noGrp="1"/>
          </p:cNvSpPr>
          <p:nvPr>
            <p:ph type="body" sz="quarter" idx="17" hasCustomPrompt="1"/>
          </p:nvPr>
        </p:nvSpPr>
        <p:spPr>
          <a:xfrm>
            <a:off x="490295" y="4585210"/>
            <a:ext cx="4407673" cy="348286"/>
          </a:xfrm>
        </p:spPr>
        <p:txBody>
          <a:bodyPr vert="horz" lIns="0" tIns="0" rIns="0" bIns="0" rtlCol="0">
            <a:noAutofit/>
          </a:bodyPr>
          <a:lstStyle>
            <a:lvl1pPr marL="0" indent="0">
              <a:buNone/>
              <a:defRPr lang="en-US" sz="800" b="1" i="0" kern="0" cap="none" spc="250" baseline="0" noProof="0" dirty="0">
                <a:solidFill>
                  <a:schemeClr val="bg2"/>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gn="l" defTabSz="1219170" rtl="0" eaLnBrk="1" latinLnBrk="0" hangingPunct="1">
              <a:spcBef>
                <a:spcPts val="0"/>
              </a:spcBef>
              <a:spcAft>
                <a:spcPts val="1333"/>
              </a:spcAft>
              <a:buSzPct val="100000"/>
              <a:buFont typeface="Arial" panose="020B0604020202020204" pitchFamily="34" charset="0"/>
              <a:buNone/>
            </a:pPr>
            <a:r>
              <a:rPr lang="en-US"/>
              <a:t>DATE</a:t>
            </a:r>
          </a:p>
        </p:txBody>
      </p:sp>
      <p:sp>
        <p:nvSpPr>
          <p:cNvPr id="22" name="Text Placeholder 9">
            <a:extLst>
              <a:ext uri="{FF2B5EF4-FFF2-40B4-BE49-F238E27FC236}">
                <a16:creationId xmlns:a16="http://schemas.microsoft.com/office/drawing/2014/main" id="{40A713AE-DEFF-DE43-AB83-D6B9ED2DAE85}"/>
              </a:ext>
            </a:extLst>
          </p:cNvPr>
          <p:cNvSpPr>
            <a:spLocks noGrp="1"/>
          </p:cNvSpPr>
          <p:nvPr>
            <p:ph type="body" sz="quarter" idx="18" hasCustomPrompt="1"/>
          </p:nvPr>
        </p:nvSpPr>
        <p:spPr>
          <a:xfrm>
            <a:off x="490295" y="4933497"/>
            <a:ext cx="4407673" cy="929790"/>
          </a:xfrm>
        </p:spPr>
        <p:txBody>
          <a:bodyPr vert="horz" lIns="0" tIns="0" rIns="0" bIns="0" rtlCol="0" anchor="b">
            <a:noAutofit/>
          </a:bodyPr>
          <a:lstStyle>
            <a:lvl1pPr marL="0" indent="0">
              <a:buNone/>
              <a:defRPr lang="en-US" sz="3200" b="1" i="0" spc="-100" baseline="0" dirty="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nSpc>
                <a:spcPct val="130000"/>
              </a:lnSpc>
            </a:pPr>
            <a:r>
              <a:rPr lang="en-US"/>
              <a:t>Click to edit Title</a:t>
            </a:r>
          </a:p>
        </p:txBody>
      </p:sp>
      <p:pic>
        <p:nvPicPr>
          <p:cNvPr id="8" name="Picture 4">
            <a:extLst>
              <a:ext uri="{FF2B5EF4-FFF2-40B4-BE49-F238E27FC236}">
                <a16:creationId xmlns:a16="http://schemas.microsoft.com/office/drawing/2014/main" id="{2FF48687-B96E-BC15-FCD0-99044EF91086}"/>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9378125" y="387008"/>
            <a:ext cx="2320314" cy="552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353312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3_Title Slide - White">
    <p:bg bwMode="gray">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B469CF-428F-5027-1D25-4B5736EFE0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95570" y="766334"/>
            <a:ext cx="5845886" cy="5481708"/>
          </a:xfrm>
          <a:prstGeom prst="rect">
            <a:avLst/>
          </a:prstGeom>
        </p:spPr>
      </p:pic>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93561" y="474218"/>
            <a:ext cx="1816364" cy="340364"/>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pic>
        <p:nvPicPr>
          <p:cNvPr id="18" name="Picture 17" descr="A picture containing graphical user interface&#10;&#10;Description automatically generated">
            <a:extLst>
              <a:ext uri="{FF2B5EF4-FFF2-40B4-BE49-F238E27FC236}">
                <a16:creationId xmlns:a16="http://schemas.microsoft.com/office/drawing/2014/main" id="{EDBAA55A-3D15-7E4E-8A0D-8F4D49B3007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59141" y="474218"/>
            <a:ext cx="1344447" cy="1108364"/>
          </a:xfrm>
          <a:prstGeom prst="rect">
            <a:avLst/>
          </a:prstGeom>
        </p:spPr>
      </p:pic>
      <p:sp>
        <p:nvSpPr>
          <p:cNvPr id="19" name="Text Placeholder 9">
            <a:extLst>
              <a:ext uri="{FF2B5EF4-FFF2-40B4-BE49-F238E27FC236}">
                <a16:creationId xmlns:a16="http://schemas.microsoft.com/office/drawing/2014/main" id="{DB0FFD41-6932-C542-BED0-7BFE546399ED}"/>
              </a:ext>
            </a:extLst>
          </p:cNvPr>
          <p:cNvSpPr>
            <a:spLocks noGrp="1"/>
          </p:cNvSpPr>
          <p:nvPr>
            <p:ph type="body" sz="quarter" idx="16" hasCustomPrompt="1"/>
          </p:nvPr>
        </p:nvSpPr>
        <p:spPr>
          <a:xfrm>
            <a:off x="490295" y="5940663"/>
            <a:ext cx="4407673" cy="478209"/>
          </a:xfrm>
        </p:spPr>
        <p:txBody>
          <a:bodyPr vert="horz" lIns="0" tIns="0" rIns="0" bIns="0" rtlCol="0">
            <a:noAutofit/>
          </a:bodyPr>
          <a:lstStyle>
            <a:lvl1pPr marL="0" indent="0">
              <a:buNone/>
              <a:defRPr lang="en-US" sz="1200" b="0" i="0" spc="-30" baseline="0"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228600" lvl="0" indent="-228600">
              <a:lnSpc>
                <a:spcPct val="130000"/>
              </a:lnSpc>
            </a:pPr>
            <a:r>
              <a:rPr lang="en-US"/>
              <a:t>Click to edit Subtitle</a:t>
            </a:r>
          </a:p>
        </p:txBody>
      </p:sp>
      <p:sp>
        <p:nvSpPr>
          <p:cNvPr id="20" name="Text Placeholder 9">
            <a:extLst>
              <a:ext uri="{FF2B5EF4-FFF2-40B4-BE49-F238E27FC236}">
                <a16:creationId xmlns:a16="http://schemas.microsoft.com/office/drawing/2014/main" id="{AA5E058E-2788-6942-A870-D57592460284}"/>
              </a:ext>
            </a:extLst>
          </p:cNvPr>
          <p:cNvSpPr>
            <a:spLocks noGrp="1"/>
          </p:cNvSpPr>
          <p:nvPr>
            <p:ph type="body" sz="quarter" idx="17" hasCustomPrompt="1"/>
          </p:nvPr>
        </p:nvSpPr>
        <p:spPr>
          <a:xfrm>
            <a:off x="490295" y="4585210"/>
            <a:ext cx="4407673" cy="348286"/>
          </a:xfrm>
        </p:spPr>
        <p:txBody>
          <a:bodyPr vert="horz" lIns="0" tIns="0" rIns="0" bIns="0" rtlCol="0">
            <a:noAutofit/>
          </a:bodyPr>
          <a:lstStyle>
            <a:lvl1pPr marL="0" indent="0">
              <a:buNone/>
              <a:defRPr lang="en-US" sz="800" b="1" i="0" kern="0" cap="none" spc="250" baseline="0" dirty="0">
                <a:solidFill>
                  <a:schemeClr val="bg2"/>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DATE</a:t>
            </a:r>
          </a:p>
        </p:txBody>
      </p:sp>
      <p:sp>
        <p:nvSpPr>
          <p:cNvPr id="22" name="Text Placeholder 9">
            <a:extLst>
              <a:ext uri="{FF2B5EF4-FFF2-40B4-BE49-F238E27FC236}">
                <a16:creationId xmlns:a16="http://schemas.microsoft.com/office/drawing/2014/main" id="{40A713AE-DEFF-DE43-AB83-D6B9ED2DAE85}"/>
              </a:ext>
            </a:extLst>
          </p:cNvPr>
          <p:cNvSpPr>
            <a:spLocks noGrp="1"/>
          </p:cNvSpPr>
          <p:nvPr>
            <p:ph type="body" sz="quarter" idx="18" hasCustomPrompt="1"/>
          </p:nvPr>
        </p:nvSpPr>
        <p:spPr>
          <a:xfrm>
            <a:off x="490295" y="4933497"/>
            <a:ext cx="4407673" cy="929790"/>
          </a:xfrm>
        </p:spPr>
        <p:txBody>
          <a:bodyPr vert="horz" lIns="0" tIns="0" rIns="0" bIns="0" rtlCol="0" anchor="b">
            <a:noAutofit/>
          </a:bodyPr>
          <a:lstStyle>
            <a:lvl1pPr marL="0" indent="0">
              <a:buNone/>
              <a:defRPr lang="en-US" sz="3200" b="1" i="0" spc="-100" baseline="0" dirty="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nSpc>
                <a:spcPct val="130000"/>
              </a:lnSpc>
            </a:pPr>
            <a:r>
              <a:rPr lang="en-US"/>
              <a:t>Click to edit Title</a:t>
            </a:r>
          </a:p>
        </p:txBody>
      </p:sp>
    </p:spTree>
    <p:extLst>
      <p:ext uri="{BB962C8B-B14F-4D97-AF65-F5344CB8AC3E}">
        <p14:creationId xmlns:p14="http://schemas.microsoft.com/office/powerpoint/2010/main" val="173308504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509656" y="887296"/>
            <a:ext cx="11252200" cy="757255"/>
          </a:xfrm>
          <a:prstGeom prst="rect">
            <a:avLst/>
          </a:prstGeom>
        </p:spPr>
        <p:txBody>
          <a:bodyPr lIns="0" tIns="0" rIns="0" bIns="0">
            <a:noAutofit/>
          </a:bodyPr>
          <a:lstStyle>
            <a:lvl1pPr marL="0" indent="0">
              <a:buNone/>
              <a:defRPr sz="1200" b="0">
                <a:solidFill>
                  <a:schemeClr val="tx2"/>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3200"/>
            </a:lvl1pPr>
          </a:lstStyle>
          <a:p>
            <a:r>
              <a:rPr lang="en-US" noProof="0"/>
              <a:t>Click to edit Master title style</a:t>
            </a:r>
          </a:p>
        </p:txBody>
      </p:sp>
    </p:spTree>
    <p:extLst>
      <p:ext uri="{BB962C8B-B14F-4D97-AF65-F5344CB8AC3E}">
        <p14:creationId xmlns:p14="http://schemas.microsoft.com/office/powerpoint/2010/main" val="296097275"/>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596279-5157-F418-72BD-2FDE51F379B2}"/>
              </a:ext>
            </a:extLst>
          </p:cNvPr>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3200"/>
            </a:lvl1pPr>
          </a:lstStyle>
          <a:p>
            <a:r>
              <a:rPr lang="en-US" noProof="0"/>
              <a:t>Click to edit Master title style</a:t>
            </a:r>
          </a:p>
        </p:txBody>
      </p:sp>
    </p:spTree>
    <p:extLst>
      <p:ext uri="{BB962C8B-B14F-4D97-AF65-F5344CB8AC3E}">
        <p14:creationId xmlns:p14="http://schemas.microsoft.com/office/powerpoint/2010/main" val="277389150"/>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CBA49C-A73A-2BB1-0692-7FC6C631209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tretch/>
        </p:blipFill>
        <p:spPr>
          <a:xfrm>
            <a:off x="-1" y="0"/>
            <a:ext cx="12192000" cy="6858000"/>
          </a:xfrm>
          <a:prstGeom prst="rect">
            <a:avLst/>
          </a:prstGeom>
        </p:spPr>
      </p:pic>
      <p:sp>
        <p:nvSpPr>
          <p:cNvPr id="4" name="TextBox 3">
            <a:extLst>
              <a:ext uri="{FF2B5EF4-FFF2-40B4-BE49-F238E27FC236}">
                <a16:creationId xmlns:a16="http://schemas.microsoft.com/office/drawing/2014/main" id="{18B702D4-74E4-B0B6-1753-763C8C134BF1}"/>
              </a:ext>
            </a:extLst>
          </p:cNvPr>
          <p:cNvSpPr txBox="1"/>
          <p:nvPr userDrawn="1"/>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alpha val="70000"/>
                  </a:schemeClr>
                </a:solidFill>
              </a:rPr>
              <a:pPr marL="0" indent="0" algn="r">
                <a:spcBef>
                  <a:spcPts val="800"/>
                </a:spcBef>
                <a:buSzPct val="100000"/>
                <a:buFont typeface="Arial"/>
                <a:buNone/>
              </a:pPr>
              <a:t>‹#›</a:t>
            </a:fld>
            <a:endParaRPr lang="en-US" sz="700" noProof="0">
              <a:solidFill>
                <a:schemeClr val="bg1">
                  <a:alpha val="70000"/>
                </a:schemeClr>
              </a:solidFill>
            </a:endParaRPr>
          </a:p>
        </p:txBody>
      </p:sp>
      <p:sp>
        <p:nvSpPr>
          <p:cNvPr id="5" name="Copyright">
            <a:extLst>
              <a:ext uri="{FF2B5EF4-FFF2-40B4-BE49-F238E27FC236}">
                <a16:creationId xmlns:a16="http://schemas.microsoft.com/office/drawing/2014/main" id="{F4E75C42-69D3-FC67-C77E-E5C62AA543EC}"/>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700" b="0" noProof="0" dirty="0">
                <a:solidFill>
                  <a:schemeClr val="bg1">
                    <a:alpha val="70000"/>
                  </a:schemeClr>
                </a:solidFill>
                <a:latin typeface="+mn-lt"/>
              </a:rPr>
              <a:t>Copyright © 2026 FDE Practice Development LLC. All rights reserved.</a:t>
            </a:r>
          </a:p>
        </p:txBody>
      </p:sp>
      <p:sp>
        <p:nvSpPr>
          <p:cNvPr id="6" name="Title Placeholder 1">
            <a:extLst>
              <a:ext uri="{FF2B5EF4-FFF2-40B4-BE49-F238E27FC236}">
                <a16:creationId xmlns:a16="http://schemas.microsoft.com/office/drawing/2014/main" id="{B0349F0C-2764-6800-219B-2012AC9E2BE1}"/>
              </a:ext>
            </a:extLst>
          </p:cNvPr>
          <p:cNvSpPr>
            <a:spLocks noGrp="1"/>
          </p:cNvSpPr>
          <p:nvPr>
            <p:ph type="title" hasCustomPrompt="1"/>
          </p:nvPr>
        </p:nvSpPr>
        <p:spPr>
          <a:xfrm>
            <a:off x="469900" y="1254642"/>
            <a:ext cx="4761319" cy="1084521"/>
          </a:xfrm>
          <a:prstGeom prst="rect">
            <a:avLst/>
          </a:prstGeom>
        </p:spPr>
        <p:txBody>
          <a:bodyPr vert="horz" lIns="0" tIns="0" rIns="0" bIns="0" rtlCol="0" anchor="b" anchorCtr="0">
            <a:noAutofit/>
          </a:bodyPr>
          <a:lstStyle>
            <a:lvl1pPr>
              <a:defRPr sz="5400">
                <a:solidFill>
                  <a:schemeClr val="bg1"/>
                </a:solidFill>
              </a:defRPr>
            </a:lvl1pPr>
          </a:lstStyle>
          <a:p>
            <a:r>
              <a:rPr lang="en-US" noProof="0"/>
              <a:t>Divider slide</a:t>
            </a:r>
          </a:p>
        </p:txBody>
      </p:sp>
      <p:sp>
        <p:nvSpPr>
          <p:cNvPr id="7" name="Text Placeholder 8">
            <a:extLst>
              <a:ext uri="{FF2B5EF4-FFF2-40B4-BE49-F238E27FC236}">
                <a16:creationId xmlns:a16="http://schemas.microsoft.com/office/drawing/2014/main" id="{779E7ED9-F282-08D8-5F0D-B1E0B39CAF27}"/>
              </a:ext>
            </a:extLst>
          </p:cNvPr>
          <p:cNvSpPr>
            <a:spLocks noGrp="1"/>
          </p:cNvSpPr>
          <p:nvPr>
            <p:ph type="body" sz="quarter" idx="13" hasCustomPrompt="1"/>
          </p:nvPr>
        </p:nvSpPr>
        <p:spPr>
          <a:xfrm>
            <a:off x="469900" y="2413592"/>
            <a:ext cx="4761319"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Subtitle goes here</a:t>
            </a:r>
          </a:p>
        </p:txBody>
      </p:sp>
    </p:spTree>
    <p:extLst>
      <p:ext uri="{BB962C8B-B14F-4D97-AF65-F5344CB8AC3E}">
        <p14:creationId xmlns:p14="http://schemas.microsoft.com/office/powerpoint/2010/main" val="3620462047"/>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9F1B777-3A27-B35F-D1A4-305BF54DF3E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 y="0"/>
            <a:ext cx="12192001" cy="6858000"/>
          </a:xfrm>
          <a:prstGeom prst="rect">
            <a:avLst/>
          </a:prstGeom>
        </p:spPr>
      </p:pic>
      <p:sp>
        <p:nvSpPr>
          <p:cNvPr id="4" name="TextBox 3">
            <a:extLst>
              <a:ext uri="{FF2B5EF4-FFF2-40B4-BE49-F238E27FC236}">
                <a16:creationId xmlns:a16="http://schemas.microsoft.com/office/drawing/2014/main" id="{18B702D4-74E4-B0B6-1753-763C8C134BF1}"/>
              </a:ext>
            </a:extLst>
          </p:cNvPr>
          <p:cNvSpPr txBox="1"/>
          <p:nvPr userDrawn="1"/>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alpha val="70000"/>
                  </a:schemeClr>
                </a:solidFill>
              </a:rPr>
              <a:pPr marL="0" indent="0" algn="r">
                <a:spcBef>
                  <a:spcPts val="800"/>
                </a:spcBef>
                <a:buSzPct val="100000"/>
                <a:buFont typeface="Arial"/>
                <a:buNone/>
              </a:pPr>
              <a:t>‹#›</a:t>
            </a:fld>
            <a:endParaRPr lang="en-US" sz="700" noProof="0">
              <a:solidFill>
                <a:schemeClr val="bg1">
                  <a:alpha val="70000"/>
                </a:schemeClr>
              </a:solidFill>
            </a:endParaRPr>
          </a:p>
        </p:txBody>
      </p:sp>
      <p:sp>
        <p:nvSpPr>
          <p:cNvPr id="5" name="Copyright">
            <a:extLst>
              <a:ext uri="{FF2B5EF4-FFF2-40B4-BE49-F238E27FC236}">
                <a16:creationId xmlns:a16="http://schemas.microsoft.com/office/drawing/2014/main" id="{F4E75C42-69D3-FC67-C77E-E5C62AA543EC}"/>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700" b="0" noProof="0" dirty="0">
                <a:solidFill>
                  <a:schemeClr val="bg1">
                    <a:alpha val="70000"/>
                  </a:schemeClr>
                </a:solidFill>
                <a:latin typeface="+mn-lt"/>
              </a:rPr>
              <a:t>Copyright © 2026 FDE Practice Development LLC. All rights reserved.</a:t>
            </a:r>
          </a:p>
        </p:txBody>
      </p:sp>
      <p:sp>
        <p:nvSpPr>
          <p:cNvPr id="6" name="Title Placeholder 1">
            <a:extLst>
              <a:ext uri="{FF2B5EF4-FFF2-40B4-BE49-F238E27FC236}">
                <a16:creationId xmlns:a16="http://schemas.microsoft.com/office/drawing/2014/main" id="{B0349F0C-2764-6800-219B-2012AC9E2BE1}"/>
              </a:ext>
            </a:extLst>
          </p:cNvPr>
          <p:cNvSpPr>
            <a:spLocks noGrp="1"/>
          </p:cNvSpPr>
          <p:nvPr>
            <p:ph type="title" hasCustomPrompt="1"/>
          </p:nvPr>
        </p:nvSpPr>
        <p:spPr>
          <a:xfrm>
            <a:off x="469900" y="1254642"/>
            <a:ext cx="4761319" cy="1084521"/>
          </a:xfrm>
          <a:prstGeom prst="rect">
            <a:avLst/>
          </a:prstGeom>
        </p:spPr>
        <p:txBody>
          <a:bodyPr vert="horz" lIns="0" tIns="0" rIns="0" bIns="0" rtlCol="0" anchor="b" anchorCtr="0">
            <a:noAutofit/>
          </a:bodyPr>
          <a:lstStyle>
            <a:lvl1pPr>
              <a:defRPr sz="5400">
                <a:solidFill>
                  <a:schemeClr val="tx2"/>
                </a:solidFill>
              </a:defRPr>
            </a:lvl1pPr>
          </a:lstStyle>
          <a:p>
            <a:r>
              <a:rPr lang="en-US" noProof="0"/>
              <a:t>Divider slide</a:t>
            </a:r>
          </a:p>
        </p:txBody>
      </p:sp>
      <p:sp>
        <p:nvSpPr>
          <p:cNvPr id="7" name="Text Placeholder 8">
            <a:extLst>
              <a:ext uri="{FF2B5EF4-FFF2-40B4-BE49-F238E27FC236}">
                <a16:creationId xmlns:a16="http://schemas.microsoft.com/office/drawing/2014/main" id="{779E7ED9-F282-08D8-5F0D-B1E0B39CAF27}"/>
              </a:ext>
            </a:extLst>
          </p:cNvPr>
          <p:cNvSpPr>
            <a:spLocks noGrp="1"/>
          </p:cNvSpPr>
          <p:nvPr>
            <p:ph type="body" sz="quarter" idx="13" hasCustomPrompt="1"/>
          </p:nvPr>
        </p:nvSpPr>
        <p:spPr>
          <a:xfrm>
            <a:off x="469900" y="2413592"/>
            <a:ext cx="4761319"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a:t>Subtitle goes here</a:t>
            </a:r>
          </a:p>
        </p:txBody>
      </p:sp>
    </p:spTree>
    <p:extLst>
      <p:ext uri="{BB962C8B-B14F-4D97-AF65-F5344CB8AC3E}">
        <p14:creationId xmlns:p14="http://schemas.microsoft.com/office/powerpoint/2010/main" val="246074356"/>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CBA49C-A73A-2BB1-0692-7FC6C631209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7999"/>
          </a:xfrm>
          <a:prstGeom prst="rect">
            <a:avLst/>
          </a:prstGeom>
        </p:spPr>
      </p:pic>
      <p:sp>
        <p:nvSpPr>
          <p:cNvPr id="4" name="TextBox 3">
            <a:extLst>
              <a:ext uri="{FF2B5EF4-FFF2-40B4-BE49-F238E27FC236}">
                <a16:creationId xmlns:a16="http://schemas.microsoft.com/office/drawing/2014/main" id="{18B702D4-74E4-B0B6-1753-763C8C134BF1}"/>
              </a:ext>
            </a:extLst>
          </p:cNvPr>
          <p:cNvSpPr txBox="1"/>
          <p:nvPr userDrawn="1"/>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alpha val="70000"/>
                  </a:schemeClr>
                </a:solidFill>
              </a:rPr>
              <a:pPr marL="0" indent="0" algn="r">
                <a:spcBef>
                  <a:spcPts val="800"/>
                </a:spcBef>
                <a:buSzPct val="100000"/>
                <a:buFont typeface="Arial"/>
                <a:buNone/>
              </a:pPr>
              <a:t>‹#›</a:t>
            </a:fld>
            <a:endParaRPr lang="en-US" sz="700" noProof="0">
              <a:solidFill>
                <a:schemeClr val="bg1">
                  <a:alpha val="70000"/>
                </a:schemeClr>
              </a:solidFill>
            </a:endParaRPr>
          </a:p>
        </p:txBody>
      </p:sp>
      <p:sp>
        <p:nvSpPr>
          <p:cNvPr id="6" name="Title Placeholder 1">
            <a:extLst>
              <a:ext uri="{FF2B5EF4-FFF2-40B4-BE49-F238E27FC236}">
                <a16:creationId xmlns:a16="http://schemas.microsoft.com/office/drawing/2014/main" id="{B0349F0C-2764-6800-219B-2012AC9E2BE1}"/>
              </a:ext>
            </a:extLst>
          </p:cNvPr>
          <p:cNvSpPr>
            <a:spLocks noGrp="1"/>
          </p:cNvSpPr>
          <p:nvPr>
            <p:ph type="title" hasCustomPrompt="1"/>
          </p:nvPr>
        </p:nvSpPr>
        <p:spPr>
          <a:xfrm>
            <a:off x="6232747" y="1254642"/>
            <a:ext cx="4761319" cy="1084521"/>
          </a:xfrm>
          <a:prstGeom prst="rect">
            <a:avLst/>
          </a:prstGeom>
        </p:spPr>
        <p:txBody>
          <a:bodyPr vert="horz" lIns="0" tIns="0" rIns="0" bIns="0" rtlCol="0" anchor="b" anchorCtr="0">
            <a:noAutofit/>
          </a:bodyPr>
          <a:lstStyle>
            <a:lvl1pPr>
              <a:defRPr sz="5400">
                <a:solidFill>
                  <a:schemeClr val="bg1"/>
                </a:solidFill>
              </a:defRPr>
            </a:lvl1pPr>
          </a:lstStyle>
          <a:p>
            <a:r>
              <a:rPr lang="en-US" noProof="0"/>
              <a:t>Divider slide</a:t>
            </a:r>
          </a:p>
        </p:txBody>
      </p:sp>
      <p:sp>
        <p:nvSpPr>
          <p:cNvPr id="7" name="Text Placeholder 8">
            <a:extLst>
              <a:ext uri="{FF2B5EF4-FFF2-40B4-BE49-F238E27FC236}">
                <a16:creationId xmlns:a16="http://schemas.microsoft.com/office/drawing/2014/main" id="{779E7ED9-F282-08D8-5F0D-B1E0B39CAF27}"/>
              </a:ext>
            </a:extLst>
          </p:cNvPr>
          <p:cNvSpPr>
            <a:spLocks noGrp="1"/>
          </p:cNvSpPr>
          <p:nvPr>
            <p:ph type="body" sz="quarter" idx="13" hasCustomPrompt="1"/>
          </p:nvPr>
        </p:nvSpPr>
        <p:spPr>
          <a:xfrm>
            <a:off x="6232747" y="2413592"/>
            <a:ext cx="4761319"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Subtitle goes here</a:t>
            </a:r>
          </a:p>
        </p:txBody>
      </p:sp>
    </p:spTree>
    <p:extLst>
      <p:ext uri="{BB962C8B-B14F-4D97-AF65-F5344CB8AC3E}">
        <p14:creationId xmlns:p14="http://schemas.microsoft.com/office/powerpoint/2010/main" val="3291189709"/>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CBA49C-A73A-2BB1-0692-7FC6C631209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tretch/>
        </p:blipFill>
        <p:spPr>
          <a:xfrm>
            <a:off x="0" y="1"/>
            <a:ext cx="12192000" cy="6858000"/>
          </a:xfrm>
          <a:prstGeom prst="rect">
            <a:avLst/>
          </a:prstGeom>
        </p:spPr>
      </p:pic>
      <p:sp>
        <p:nvSpPr>
          <p:cNvPr id="4" name="TextBox 3">
            <a:extLst>
              <a:ext uri="{FF2B5EF4-FFF2-40B4-BE49-F238E27FC236}">
                <a16:creationId xmlns:a16="http://schemas.microsoft.com/office/drawing/2014/main" id="{18B702D4-74E4-B0B6-1753-763C8C134BF1}"/>
              </a:ext>
            </a:extLst>
          </p:cNvPr>
          <p:cNvSpPr txBox="1"/>
          <p:nvPr userDrawn="1"/>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alpha val="70000"/>
                  </a:schemeClr>
                </a:solidFill>
              </a:rPr>
              <a:pPr marL="0" indent="0" algn="r">
                <a:spcBef>
                  <a:spcPts val="800"/>
                </a:spcBef>
                <a:buSzPct val="100000"/>
                <a:buFont typeface="Arial"/>
                <a:buNone/>
              </a:pPr>
              <a:t>‹#›</a:t>
            </a:fld>
            <a:endParaRPr lang="en-US" sz="700" noProof="0">
              <a:solidFill>
                <a:schemeClr val="bg1">
                  <a:alpha val="70000"/>
                </a:schemeClr>
              </a:solidFill>
            </a:endParaRPr>
          </a:p>
        </p:txBody>
      </p:sp>
      <p:sp>
        <p:nvSpPr>
          <p:cNvPr id="6" name="Title Placeholder 1">
            <a:extLst>
              <a:ext uri="{FF2B5EF4-FFF2-40B4-BE49-F238E27FC236}">
                <a16:creationId xmlns:a16="http://schemas.microsoft.com/office/drawing/2014/main" id="{B0349F0C-2764-6800-219B-2012AC9E2BE1}"/>
              </a:ext>
            </a:extLst>
          </p:cNvPr>
          <p:cNvSpPr>
            <a:spLocks noGrp="1"/>
          </p:cNvSpPr>
          <p:nvPr>
            <p:ph type="title" hasCustomPrompt="1"/>
          </p:nvPr>
        </p:nvSpPr>
        <p:spPr>
          <a:xfrm>
            <a:off x="6232747" y="1254642"/>
            <a:ext cx="4761319" cy="1084521"/>
          </a:xfrm>
          <a:prstGeom prst="rect">
            <a:avLst/>
          </a:prstGeom>
        </p:spPr>
        <p:txBody>
          <a:bodyPr vert="horz" lIns="0" tIns="0" rIns="0" bIns="0" rtlCol="0" anchor="b" anchorCtr="0">
            <a:noAutofit/>
          </a:bodyPr>
          <a:lstStyle>
            <a:lvl1pPr>
              <a:defRPr sz="5400">
                <a:solidFill>
                  <a:schemeClr val="bg1"/>
                </a:solidFill>
              </a:defRPr>
            </a:lvl1pPr>
          </a:lstStyle>
          <a:p>
            <a:r>
              <a:rPr lang="en-US" noProof="0"/>
              <a:t>Divider slide</a:t>
            </a:r>
          </a:p>
        </p:txBody>
      </p:sp>
      <p:sp>
        <p:nvSpPr>
          <p:cNvPr id="7" name="Text Placeholder 8">
            <a:extLst>
              <a:ext uri="{FF2B5EF4-FFF2-40B4-BE49-F238E27FC236}">
                <a16:creationId xmlns:a16="http://schemas.microsoft.com/office/drawing/2014/main" id="{779E7ED9-F282-08D8-5F0D-B1E0B39CAF27}"/>
              </a:ext>
            </a:extLst>
          </p:cNvPr>
          <p:cNvSpPr>
            <a:spLocks noGrp="1"/>
          </p:cNvSpPr>
          <p:nvPr>
            <p:ph type="body" sz="quarter" idx="13" hasCustomPrompt="1"/>
          </p:nvPr>
        </p:nvSpPr>
        <p:spPr>
          <a:xfrm>
            <a:off x="6232747" y="2413592"/>
            <a:ext cx="4761319"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Subtitle goes here</a:t>
            </a:r>
          </a:p>
        </p:txBody>
      </p:sp>
    </p:spTree>
    <p:extLst>
      <p:ext uri="{BB962C8B-B14F-4D97-AF65-F5344CB8AC3E}">
        <p14:creationId xmlns:p14="http://schemas.microsoft.com/office/powerpoint/2010/main" val="588133982"/>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6BC97F-710D-DB5C-20B8-EE376D2504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sp>
        <p:nvSpPr>
          <p:cNvPr id="4" name="TextBox 3">
            <a:extLst>
              <a:ext uri="{FF2B5EF4-FFF2-40B4-BE49-F238E27FC236}">
                <a16:creationId xmlns:a16="http://schemas.microsoft.com/office/drawing/2014/main" id="{18B702D4-74E4-B0B6-1753-763C8C134BF1}"/>
              </a:ext>
            </a:extLst>
          </p:cNvPr>
          <p:cNvSpPr txBox="1"/>
          <p:nvPr userDrawn="1"/>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1">
                    <a:alpha val="70000"/>
                  </a:schemeClr>
                </a:solidFill>
              </a:rPr>
              <a:pPr marL="0" indent="0" algn="r">
                <a:spcBef>
                  <a:spcPts val="800"/>
                </a:spcBef>
                <a:buSzPct val="100000"/>
                <a:buFont typeface="Arial"/>
                <a:buNone/>
              </a:pPr>
              <a:t>‹#›</a:t>
            </a:fld>
            <a:endParaRPr lang="en-US" sz="700" noProof="0">
              <a:solidFill>
                <a:schemeClr val="bg1">
                  <a:alpha val="70000"/>
                </a:schemeClr>
              </a:solidFill>
            </a:endParaRPr>
          </a:p>
        </p:txBody>
      </p:sp>
      <p:sp>
        <p:nvSpPr>
          <p:cNvPr id="6" name="Title Placeholder 1">
            <a:extLst>
              <a:ext uri="{FF2B5EF4-FFF2-40B4-BE49-F238E27FC236}">
                <a16:creationId xmlns:a16="http://schemas.microsoft.com/office/drawing/2014/main" id="{B0349F0C-2764-6800-219B-2012AC9E2BE1}"/>
              </a:ext>
            </a:extLst>
          </p:cNvPr>
          <p:cNvSpPr>
            <a:spLocks noGrp="1"/>
          </p:cNvSpPr>
          <p:nvPr>
            <p:ph type="title" hasCustomPrompt="1"/>
          </p:nvPr>
        </p:nvSpPr>
        <p:spPr>
          <a:xfrm>
            <a:off x="6232747" y="1254642"/>
            <a:ext cx="4761319" cy="1084521"/>
          </a:xfrm>
          <a:prstGeom prst="rect">
            <a:avLst/>
          </a:prstGeom>
        </p:spPr>
        <p:txBody>
          <a:bodyPr vert="horz" lIns="0" tIns="0" rIns="0" bIns="0" rtlCol="0" anchor="b" anchorCtr="0">
            <a:noAutofit/>
          </a:bodyPr>
          <a:lstStyle>
            <a:lvl1pPr>
              <a:defRPr sz="5400">
                <a:solidFill>
                  <a:schemeClr val="tx2"/>
                </a:solidFill>
              </a:defRPr>
            </a:lvl1pPr>
          </a:lstStyle>
          <a:p>
            <a:r>
              <a:rPr lang="en-US" noProof="0"/>
              <a:t>Divider slide</a:t>
            </a:r>
          </a:p>
        </p:txBody>
      </p:sp>
      <p:sp>
        <p:nvSpPr>
          <p:cNvPr id="7" name="Text Placeholder 8">
            <a:extLst>
              <a:ext uri="{FF2B5EF4-FFF2-40B4-BE49-F238E27FC236}">
                <a16:creationId xmlns:a16="http://schemas.microsoft.com/office/drawing/2014/main" id="{779E7ED9-F282-08D8-5F0D-B1E0B39CAF27}"/>
              </a:ext>
            </a:extLst>
          </p:cNvPr>
          <p:cNvSpPr>
            <a:spLocks noGrp="1"/>
          </p:cNvSpPr>
          <p:nvPr>
            <p:ph type="body" sz="quarter" idx="13" hasCustomPrompt="1"/>
          </p:nvPr>
        </p:nvSpPr>
        <p:spPr>
          <a:xfrm>
            <a:off x="6232747" y="2413592"/>
            <a:ext cx="4761319"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a:t>Subtitle goes here</a:t>
            </a:r>
          </a:p>
        </p:txBody>
      </p:sp>
    </p:spTree>
    <p:extLst>
      <p:ext uri="{BB962C8B-B14F-4D97-AF65-F5344CB8AC3E}">
        <p14:creationId xmlns:p14="http://schemas.microsoft.com/office/powerpoint/2010/main" val="3066520589"/>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readcrumb, 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6" name="Text Placeholder 5">
            <a:extLst>
              <a:ext uri="{FF2B5EF4-FFF2-40B4-BE49-F238E27FC236}">
                <a16:creationId xmlns:a16="http://schemas.microsoft.com/office/drawing/2014/main" id="{0724E812-201F-604E-A6F2-DD427D7A9E8D}"/>
              </a:ext>
            </a:extLst>
          </p:cNvPr>
          <p:cNvSpPr>
            <a:spLocks noGrp="1"/>
          </p:cNvSpPr>
          <p:nvPr>
            <p:ph type="body" sz="quarter" idx="15" hasCustomPrompt="1"/>
          </p:nvPr>
        </p:nvSpPr>
        <p:spPr>
          <a:xfrm>
            <a:off x="469900" y="139307"/>
            <a:ext cx="3355848" cy="203200"/>
          </a:xfrm>
        </p:spPr>
        <p:txBody>
          <a:bodyPr vert="horz" lIns="0" tIns="0" rIns="0" bIns="0" rtlCol="0" anchor="b">
            <a:noAutofit/>
          </a:bodyPr>
          <a:lstStyle>
            <a:lvl1pPr marL="0" indent="0">
              <a:buNone/>
              <a:defRPr lang="en-US" sz="800" b="1" kern="0" cap="all" spc="250" baseline="0" dirty="0">
                <a:solidFill>
                  <a:srgbClr val="A7A8AA"/>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BREADCRUMBS</a:t>
            </a:r>
          </a:p>
        </p:txBody>
      </p:sp>
    </p:spTree>
    <p:extLst>
      <p:ext uri="{BB962C8B-B14F-4D97-AF65-F5344CB8AC3E}">
        <p14:creationId xmlns:p14="http://schemas.microsoft.com/office/powerpoint/2010/main" val="3140796544"/>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Rectangle 6"/>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7" name="Rectangle 16">
            <a:extLst>
              <a:ext uri="{FF2B5EF4-FFF2-40B4-BE49-F238E27FC236}">
                <a16:creationId xmlns:a16="http://schemas.microsoft.com/office/drawing/2014/main" id="{E2555C56-D126-7D45-B56E-7E9F1F0D4471}"/>
              </a:ext>
            </a:extLst>
          </p:cNvPr>
          <p:cNvSpPr/>
          <p:nvPr userDrawn="1"/>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19">
            <a:extLst>
              <a:ext uri="{FF2B5EF4-FFF2-40B4-BE49-F238E27FC236}">
                <a16:creationId xmlns:a16="http://schemas.microsoft.com/office/drawing/2014/main" id="{A5403690-88C5-7E4F-ABF4-E66B8FBD1668}"/>
              </a:ext>
            </a:extLst>
          </p:cNvPr>
          <p:cNvSpPr/>
          <p:nvPr userDrawn="1"/>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ectangle 20">
            <a:extLst>
              <a:ext uri="{FF2B5EF4-FFF2-40B4-BE49-F238E27FC236}">
                <a16:creationId xmlns:a16="http://schemas.microsoft.com/office/drawing/2014/main" id="{75B5A2A5-A6D5-9B4A-9A38-35DFDF399556}"/>
              </a:ext>
            </a:extLst>
          </p:cNvPr>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Rectangle 21">
            <a:extLst>
              <a:ext uri="{FF2B5EF4-FFF2-40B4-BE49-F238E27FC236}">
                <a16:creationId xmlns:a16="http://schemas.microsoft.com/office/drawing/2014/main" id="{159D27C2-FE9E-9742-A8A1-C44798829F20}"/>
              </a:ext>
            </a:extLst>
          </p:cNvPr>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3527097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8" name="Rectangle 17"/>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2" name="Rectangle 11">
            <a:extLst>
              <a:ext uri="{FF2B5EF4-FFF2-40B4-BE49-F238E27FC236}">
                <a16:creationId xmlns:a16="http://schemas.microsoft.com/office/drawing/2014/main" id="{103DEC92-448F-3449-9962-8BE033F883FC}"/>
              </a:ext>
            </a:extLst>
          </p:cNvPr>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Rectangle 12">
            <a:extLst>
              <a:ext uri="{FF2B5EF4-FFF2-40B4-BE49-F238E27FC236}">
                <a16:creationId xmlns:a16="http://schemas.microsoft.com/office/drawing/2014/main" id="{C94AE224-4C55-1044-A302-F0C19FB12674}"/>
              </a:ext>
            </a:extLst>
          </p:cNvPr>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6" name="Group 15">
            <a:extLst>
              <a:ext uri="{FF2B5EF4-FFF2-40B4-BE49-F238E27FC236}">
                <a16:creationId xmlns:a16="http://schemas.microsoft.com/office/drawing/2014/main" id="{F66D4E9D-EBD5-2640-B4E5-DDE91188B93D}"/>
              </a:ext>
            </a:extLst>
          </p:cNvPr>
          <p:cNvGrpSpPr/>
          <p:nvPr userDrawn="1"/>
        </p:nvGrpSpPr>
        <p:grpSpPr>
          <a:xfrm>
            <a:off x="0" y="3429000"/>
            <a:ext cx="4267197" cy="3429000"/>
            <a:chOff x="0" y="3069927"/>
            <a:chExt cx="4267197" cy="3429000"/>
          </a:xfrm>
        </p:grpSpPr>
        <p:sp>
          <p:nvSpPr>
            <p:cNvPr id="21" name="Rectangle 20">
              <a:extLst>
                <a:ext uri="{FF2B5EF4-FFF2-40B4-BE49-F238E27FC236}">
                  <a16:creationId xmlns:a16="http://schemas.microsoft.com/office/drawing/2014/main" id="{03FF918D-D7E0-BE4D-A31B-E7AFED074494}"/>
                </a:ext>
              </a:extLst>
            </p:cNvPr>
            <p:cNvSpPr/>
            <p:nvPr/>
          </p:nvSpPr>
          <p:spPr>
            <a:xfrm>
              <a:off x="0" y="5873262"/>
              <a:ext cx="4267197" cy="6256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pic>
          <p:nvPicPr>
            <p:cNvPr id="22" name="Picture 21" descr="A picture containing electronics&#10;&#10;Description automatically generated">
              <a:extLst>
                <a:ext uri="{FF2B5EF4-FFF2-40B4-BE49-F238E27FC236}">
                  <a16:creationId xmlns:a16="http://schemas.microsoft.com/office/drawing/2014/main" id="{083B6929-0DC5-9841-9C93-5B685CCBCE7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flipH="1" flipV="1">
              <a:off x="0" y="3069927"/>
              <a:ext cx="3508510" cy="3429000"/>
            </a:xfrm>
            <a:prstGeom prst="rect">
              <a:avLst/>
            </a:prstGeom>
          </p:spPr>
        </p:pic>
      </p:grpSp>
    </p:spTree>
    <p:extLst>
      <p:ext uri="{BB962C8B-B14F-4D97-AF65-F5344CB8AC3E}">
        <p14:creationId xmlns:p14="http://schemas.microsoft.com/office/powerpoint/2010/main" val="3124558492"/>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69330257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212440657"/>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871442663"/>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text styles</a:t>
            </a:r>
          </a:p>
        </p:txBody>
      </p:sp>
      <p:grpSp>
        <p:nvGrpSpPr>
          <p:cNvPr id="2" name="Group 1">
            <a:extLst>
              <a:ext uri="{FF2B5EF4-FFF2-40B4-BE49-F238E27FC236}">
                <a16:creationId xmlns:a16="http://schemas.microsoft.com/office/drawing/2014/main" id="{F859C1B3-C19E-A47B-38E3-9B67C54A8D8C}"/>
              </a:ext>
            </a:extLst>
          </p:cNvPr>
          <p:cNvGrpSpPr>
            <a:grpSpLocks noChangeAspect="1"/>
          </p:cNvGrpSpPr>
          <p:nvPr userDrawn="1"/>
        </p:nvGrpSpPr>
        <p:grpSpPr>
          <a:xfrm>
            <a:off x="493561" y="474218"/>
            <a:ext cx="1816364" cy="340364"/>
            <a:chOff x="398463" y="404813"/>
            <a:chExt cx="1627187" cy="307976"/>
          </a:xfrm>
          <a:solidFill>
            <a:schemeClr val="tx1"/>
          </a:solidFill>
        </p:grpSpPr>
        <p:sp>
          <p:nvSpPr>
            <p:cNvPr id="4" name="Oval 5">
              <a:extLst>
                <a:ext uri="{FF2B5EF4-FFF2-40B4-BE49-F238E27FC236}">
                  <a16:creationId xmlns:a16="http://schemas.microsoft.com/office/drawing/2014/main" id="{08499228-DB19-C132-3216-407EBAFBA72A}"/>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208BD8DF-05DA-42D3-B3FF-47EFF6525311}"/>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7AE3CFAB-13B8-3B63-2DDC-BCB266D07AC2}"/>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192BB561-B393-A08E-4489-A8FD07C94FD4}"/>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FCCC4564-37F1-A0BD-AE39-2B3E099E9704}"/>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50D4B80F-DCE7-C0C1-80A7-4116FE5F7EB3}"/>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AAF71D6C-CEDC-24C6-ECCC-69ECB9AD6153}"/>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E49A664B-D0D4-2479-4617-00822B489498}"/>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8A3CF77D-6C84-F172-7F4F-5531941392AF}"/>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C532A7A7-9C56-A1C8-FD43-233674D6F39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688517386"/>
      </p:ext>
    </p:extLst>
  </p:cSld>
  <p:clrMapOvr>
    <a:masterClrMapping/>
  </p:clrMapOvr>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rgbClr val="DA291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DABDBD-F268-6746-AD26-6BC680C16BE3}"/>
              </a:ext>
            </a:extLst>
          </p:cNvPr>
          <p:cNvSpPr txBox="1"/>
          <p:nvPr userDrawn="1"/>
        </p:nvSpPr>
        <p:spPr>
          <a:xfrm>
            <a:off x="495300" y="235818"/>
            <a:ext cx="11201400" cy="6386364"/>
          </a:xfrm>
          <a:prstGeom prst="rect">
            <a:avLst/>
          </a:prstGeom>
          <a:noFill/>
        </p:spPr>
        <p:txBody>
          <a:bodyPr wrap="square" rtlCol="0">
            <a:spAutoFit/>
          </a:bodyPr>
          <a:lstStyle/>
          <a:p>
            <a:pPr algn="ctr"/>
            <a:r>
              <a:rPr lang="en-US" sz="11500" b="1">
                <a:latin typeface="Open Sans" panose="020B0606030504020204" pitchFamily="34" charset="0"/>
                <a:ea typeface="Open Sans" panose="020B0606030504020204" pitchFamily="34" charset="0"/>
                <a:cs typeface="Open Sans" panose="020B0606030504020204" pitchFamily="34" charset="0"/>
              </a:rPr>
              <a:t>End of approved Master Slides</a:t>
            </a:r>
            <a:endParaRPr lang="en-US" sz="11500" b="1" baseline="0">
              <a:latin typeface="Open Sans" panose="020B0606030504020204" pitchFamily="34" charset="0"/>
              <a:ea typeface="Open Sans" panose="020B0606030504020204" pitchFamily="34" charset="0"/>
              <a:cs typeface="Open Sans" panose="020B0606030504020204" pitchFamily="34" charset="0"/>
            </a:endParaRPr>
          </a:p>
          <a:p>
            <a:pPr algn="ctr"/>
            <a:endParaRPr lang="en-US" sz="3200" b="1" baseline="0">
              <a:latin typeface="Open Sans" panose="020B0606030504020204" pitchFamily="34" charset="0"/>
              <a:ea typeface="Open Sans" panose="020B0606030504020204" pitchFamily="34" charset="0"/>
              <a:cs typeface="Open Sans" panose="020B0606030504020204" pitchFamily="34" charset="0"/>
            </a:endParaRPr>
          </a:p>
          <a:p>
            <a:pPr algn="ctr"/>
            <a:r>
              <a:rPr lang="en-US" sz="3200" b="0" baseline="0">
                <a:latin typeface="Open Sans" panose="020B0606030504020204" pitchFamily="34" charset="0"/>
                <a:ea typeface="Open Sans" panose="020B0606030504020204" pitchFamily="34" charset="0"/>
                <a:cs typeface="Open Sans" panose="020B0606030504020204" pitchFamily="34" charset="0"/>
              </a:rPr>
              <a:t>Do not use any master slides that occur after this layout</a:t>
            </a:r>
            <a:endParaRPr lang="en-US" sz="3200" b="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5236526"/>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26849B-9F82-BE43-B371-8FA3B1F65F4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34328864"/>
      </p:ext>
    </p:extLst>
  </p:cSld>
  <p:clrMapOvr>
    <a:masterClrMapping/>
  </p:clrMapOvr>
  <p:transition>
    <p:fade/>
  </p:transition>
  <p:extLst>
    <p:ext uri="{DCECCB84-F9BA-43D5-87BE-67443E8EF086}">
      <p15:sldGuideLst xmlns:p15="http://schemas.microsoft.com/office/powerpoint/2012/main">
        <p15:guide id="1" orient="horz" pos="412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cSld name="Section divider slide_dark blue">
    <p:bg>
      <p:bgPr>
        <a:solidFill>
          <a:srgbClr val="012169"/>
        </a:solidFill>
        <a:effectLst/>
      </p:bgPr>
    </p:bg>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1905805C-2EFB-4B40-A3FD-BFD14E8E8A8B}"/>
              </a:ext>
            </a:extLst>
          </p:cNvPr>
          <p:cNvSpPr>
            <a:spLocks noGrp="1"/>
          </p:cNvSpPr>
          <p:nvPr>
            <p:ph type="body" sz="quarter" idx="13" hasCustomPrompt="1"/>
          </p:nvPr>
        </p:nvSpPr>
        <p:spPr>
          <a:xfrm>
            <a:off x="502920" y="1466470"/>
            <a:ext cx="2485950" cy="1979413"/>
          </a:xfrm>
          <a:prstGeom prst="rect">
            <a:avLst/>
          </a:prstGeom>
        </p:spPr>
        <p:txBody>
          <a:bodyPr lIns="0" tIns="0" rIns="0" bIns="0">
            <a:noAutofit/>
          </a:bodyPr>
          <a:lstStyle>
            <a:lvl1pPr marL="0" indent="0">
              <a:buNone/>
              <a:defRPr sz="1800" b="0">
                <a:solidFill>
                  <a:schemeClr val="bg1"/>
                </a:solidFill>
              </a:defRPr>
            </a:lvl1pPr>
          </a:lstStyle>
          <a:p>
            <a:pPr lvl="0"/>
            <a:r>
              <a:rPr lang="en-US" noProof="0"/>
              <a:t>Click to add subtitle</a:t>
            </a:r>
          </a:p>
        </p:txBody>
      </p:sp>
      <p:sp>
        <p:nvSpPr>
          <p:cNvPr id="7" name="Title Placeholder 1">
            <a:extLst>
              <a:ext uri="{FF2B5EF4-FFF2-40B4-BE49-F238E27FC236}">
                <a16:creationId xmlns:a16="http://schemas.microsoft.com/office/drawing/2014/main" id="{E749AA31-7B7D-4A2C-B169-844DD4E92D7F}"/>
              </a:ext>
            </a:extLst>
          </p:cNvPr>
          <p:cNvSpPr>
            <a:spLocks noGrp="1"/>
          </p:cNvSpPr>
          <p:nvPr>
            <p:ph type="title"/>
          </p:nvPr>
        </p:nvSpPr>
        <p:spPr>
          <a:xfrm>
            <a:off x="502920" y="320040"/>
            <a:ext cx="3355848" cy="941832"/>
          </a:xfrm>
          <a:prstGeom prst="rect">
            <a:avLst/>
          </a:prstGeom>
        </p:spPr>
        <p:txBody>
          <a:bodyPr vert="horz" lIns="0" tIns="0" rIns="0" bIns="0" rtlCol="0" anchor="t" anchorCtr="0">
            <a:noAutofit/>
          </a:bodyPr>
          <a:lstStyle>
            <a:lvl1pPr>
              <a:defRPr sz="2800">
                <a:solidFill>
                  <a:schemeClr val="bg1"/>
                </a:solidFill>
              </a:defRPr>
            </a:lvl1pPr>
          </a:lstStyle>
          <a:p>
            <a:r>
              <a:rPr lang="en-US" noProof="0"/>
              <a:t>Click to edit Master title style</a:t>
            </a:r>
          </a:p>
        </p:txBody>
      </p:sp>
      <p:pic>
        <p:nvPicPr>
          <p:cNvPr id="11" name="Picture Placeholder 9">
            <a:extLst>
              <a:ext uri="{FF2B5EF4-FFF2-40B4-BE49-F238E27FC236}">
                <a16:creationId xmlns:a16="http://schemas.microsoft.com/office/drawing/2014/main" id="{03C9BB26-379B-C64A-B725-32BCE967BDAB}"/>
              </a:ext>
            </a:extLst>
          </p:cNvPr>
          <p:cNvPicPr>
            <a:picLocks noChangeAspect="1"/>
          </p:cNvPicPr>
          <p:nvPr userDrawn="1"/>
        </p:nvPicPr>
        <p:blipFill>
          <a:blip r:embed="rId2" cstate="screen">
            <a:extLst>
              <a:ext uri="{28A0092B-C50C-407E-A947-70E740481C1C}">
                <a14:useLocalDpi xmlns:a14="http://schemas.microsoft.com/office/drawing/2010/main"/>
              </a:ext>
            </a:extLst>
          </a:blip>
          <a:srcRect l="4216" r="4216"/>
          <a:stretch>
            <a:fillRect/>
          </a:stretch>
        </p:blipFill>
        <p:spPr>
          <a:xfrm>
            <a:off x="3588500" y="1120239"/>
            <a:ext cx="5080012" cy="5080012"/>
          </a:xfrm>
          <a:prstGeom prst="rect">
            <a:avLst/>
          </a:prstGeom>
        </p:spPr>
      </p:pic>
      <p:pic>
        <p:nvPicPr>
          <p:cNvPr id="12" name="Picture 11">
            <a:extLst>
              <a:ext uri="{FF2B5EF4-FFF2-40B4-BE49-F238E27FC236}">
                <a16:creationId xmlns:a16="http://schemas.microsoft.com/office/drawing/2014/main" id="{70529BCF-E253-8D42-AB1D-F72A35E6348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723" r="21919"/>
          <a:stretch/>
        </p:blipFill>
        <p:spPr>
          <a:xfrm>
            <a:off x="0" y="3965189"/>
            <a:ext cx="4230350" cy="2357818"/>
          </a:xfrm>
          <a:prstGeom prst="rect">
            <a:avLst/>
          </a:prstGeom>
        </p:spPr>
      </p:pic>
      <p:pic>
        <p:nvPicPr>
          <p:cNvPr id="13" name="Picture Placeholder 9">
            <a:extLst>
              <a:ext uri="{FF2B5EF4-FFF2-40B4-BE49-F238E27FC236}">
                <a16:creationId xmlns:a16="http://schemas.microsoft.com/office/drawing/2014/main" id="{B2C78AAC-1E67-2844-BEE0-55EEFBAECC2B}"/>
              </a:ext>
            </a:extLst>
          </p:cNvPr>
          <p:cNvPicPr>
            <a:picLocks noChangeAspect="1"/>
          </p:cNvPicPr>
          <p:nvPr userDrawn="1"/>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l="4216" r="4216"/>
          <a:stretch>
            <a:fillRect/>
          </a:stretch>
        </p:blipFill>
        <p:spPr>
          <a:xfrm rot="5400000">
            <a:off x="3729756" y="1321719"/>
            <a:ext cx="4583122" cy="4583122"/>
          </a:xfrm>
          <a:prstGeom prst="rect">
            <a:avLst/>
          </a:prstGeom>
        </p:spPr>
      </p:pic>
      <p:pic>
        <p:nvPicPr>
          <p:cNvPr id="14" name="Picture 13">
            <a:extLst>
              <a:ext uri="{FF2B5EF4-FFF2-40B4-BE49-F238E27FC236}">
                <a16:creationId xmlns:a16="http://schemas.microsoft.com/office/drawing/2014/main" id="{66DF2B68-CA70-4D44-973C-89FD2A578CC6}"/>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15672" t="24108" b="24108"/>
          <a:stretch/>
        </p:blipFill>
        <p:spPr>
          <a:xfrm>
            <a:off x="8255844" y="2598454"/>
            <a:ext cx="2759628" cy="1462766"/>
          </a:xfrm>
          <a:prstGeom prst="rect">
            <a:avLst/>
          </a:prstGeom>
        </p:spPr>
      </p:pic>
      <p:sp>
        <p:nvSpPr>
          <p:cNvPr id="10" name="Copyright">
            <a:extLst>
              <a:ext uri="{FF2B5EF4-FFF2-40B4-BE49-F238E27FC236}">
                <a16:creationId xmlns:a16="http://schemas.microsoft.com/office/drawing/2014/main" id="{FC981020-0E30-6448-8CBE-434E0F83656A}"/>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700" b="0" noProof="0" dirty="0">
                <a:solidFill>
                  <a:schemeClr val="bg1"/>
                </a:solidFill>
                <a:latin typeface="+mn-lt"/>
              </a:rPr>
              <a:t>Copyright © 2021 FDE Practice Development LLC. All rights reserved.</a:t>
            </a:r>
          </a:p>
        </p:txBody>
      </p:sp>
    </p:spTree>
    <p:extLst>
      <p:ext uri="{BB962C8B-B14F-4D97-AF65-F5344CB8AC3E}">
        <p14:creationId xmlns:p14="http://schemas.microsoft.com/office/powerpoint/2010/main" val="1509517085"/>
      </p:ext>
    </p:extLst>
  </p:cSld>
  <p:clrMapOvr>
    <a:masterClrMapping/>
  </p:clrMapOvr>
  <p:transition>
    <p:fade/>
  </p:transition>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mp; Subtitle">
  <p:cSld name="1_Title &amp; Subtitle">
    <p:spTree>
      <p:nvGrpSpPr>
        <p:cNvPr id="1" name="Shape 39"/>
        <p:cNvGrpSpPr/>
        <p:nvPr/>
      </p:nvGrpSpPr>
      <p:grpSpPr>
        <a:xfrm>
          <a:off x="0" y="0"/>
          <a:ext cx="0" cy="0"/>
          <a:chOff x="0" y="0"/>
          <a:chExt cx="0" cy="0"/>
        </a:xfrm>
      </p:grpSpPr>
      <p:sp>
        <p:nvSpPr>
          <p:cNvPr id="40" name="Google Shape;40;p10"/>
          <p:cNvSpPr txBox="1">
            <a:spLocks noGrp="1"/>
          </p:cNvSpPr>
          <p:nvPr>
            <p:ph type="body" idx="1"/>
          </p:nvPr>
        </p:nvSpPr>
        <p:spPr>
          <a:xfrm>
            <a:off x="469900" y="736688"/>
            <a:ext cx="112522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rgbClr val="575757"/>
              </a:buClr>
              <a:buSzPts val="1600"/>
              <a:buNone/>
              <a:defRPr sz="1600" b="0">
                <a:solidFill>
                  <a:srgbClr val="575757"/>
                </a:solidFill>
              </a:defRPr>
            </a:lvl1pPr>
            <a:lvl2pPr marL="914400" lvl="1" indent="-228600" algn="l">
              <a:spcBef>
                <a:spcPts val="1333"/>
              </a:spcBef>
              <a:spcAft>
                <a:spcPts val="0"/>
              </a:spcAft>
              <a:buClr>
                <a:schemeClr val="dk1"/>
              </a:buClr>
              <a:buSzPts val="1800"/>
              <a:buNone/>
              <a:defRPr/>
            </a:lvl2pPr>
            <a:lvl3pPr marL="1371600" lvl="2" indent="-342900" algn="l">
              <a:spcBef>
                <a:spcPts val="1333"/>
              </a:spcBef>
              <a:spcAft>
                <a:spcPts val="0"/>
              </a:spcAft>
              <a:buClr>
                <a:schemeClr val="dk1"/>
              </a:buClr>
              <a:buSzPts val="1800"/>
              <a:buChar char="•"/>
              <a:defRPr/>
            </a:lvl3pPr>
            <a:lvl4pPr marL="1828800" lvl="3" indent="-342900" algn="l">
              <a:spcBef>
                <a:spcPts val="1333"/>
              </a:spcBef>
              <a:spcAft>
                <a:spcPts val="0"/>
              </a:spcAft>
              <a:buClr>
                <a:schemeClr val="dk1"/>
              </a:buClr>
              <a:buSzPts val="1800"/>
              <a:buChar char="−"/>
              <a:defRPr/>
            </a:lvl4pPr>
            <a:lvl5pPr marL="2286000" lvl="4" indent="-342900" algn="l">
              <a:spcBef>
                <a:spcPts val="1333"/>
              </a:spcBef>
              <a:spcAft>
                <a:spcPts val="0"/>
              </a:spcAft>
              <a:buClr>
                <a:schemeClr val="dk1"/>
              </a:buClr>
              <a:buSzPts val="1800"/>
              <a:buChar char="−"/>
              <a:defRPr/>
            </a:lvl5pPr>
            <a:lvl6pPr marL="2743200" lvl="5" indent="-342900" algn="l">
              <a:spcBef>
                <a:spcPts val="1333"/>
              </a:spcBef>
              <a:spcAft>
                <a:spcPts val="0"/>
              </a:spcAft>
              <a:buClr>
                <a:schemeClr val="dk1"/>
              </a:buClr>
              <a:buSzPts val="1800"/>
              <a:buChar char="−"/>
              <a:defRPr/>
            </a:lvl6pPr>
            <a:lvl7pPr marL="3200400" lvl="6" indent="-342900" algn="l">
              <a:spcBef>
                <a:spcPts val="1333"/>
              </a:spcBef>
              <a:spcAft>
                <a:spcPts val="0"/>
              </a:spcAft>
              <a:buClr>
                <a:schemeClr val="dk1"/>
              </a:buClr>
              <a:buSzPts val="1800"/>
              <a:buChar char="−"/>
              <a:defRPr/>
            </a:lvl7pPr>
            <a:lvl8pPr marL="3657600" lvl="7" indent="-342900" algn="l">
              <a:spcBef>
                <a:spcPts val="1333"/>
              </a:spcBef>
              <a:spcAft>
                <a:spcPts val="0"/>
              </a:spcAft>
              <a:buClr>
                <a:schemeClr val="dk1"/>
              </a:buClr>
              <a:buSzPts val="1800"/>
              <a:buChar char="−"/>
              <a:defRPr/>
            </a:lvl8pPr>
            <a:lvl9pPr marL="4114800" lvl="8" indent="-342900" algn="l">
              <a:spcBef>
                <a:spcPts val="1333"/>
              </a:spcBef>
              <a:spcAft>
                <a:spcPts val="1333"/>
              </a:spcAft>
              <a:buClr>
                <a:schemeClr val="dk1"/>
              </a:buClr>
              <a:buSzPts val="1800"/>
              <a:buChar char="−"/>
              <a:defRPr/>
            </a:lvl9pPr>
          </a:lstStyle>
          <a:p>
            <a:endParaRPr/>
          </a:p>
        </p:txBody>
      </p:sp>
      <p:sp>
        <p:nvSpPr>
          <p:cNvPr id="41" name="Google Shape;41;p10"/>
          <p:cNvSpPr txBox="1">
            <a:spLocks noGrp="1"/>
          </p:cNvSpPr>
          <p:nvPr>
            <p:ph type="title"/>
          </p:nvPr>
        </p:nvSpPr>
        <p:spPr>
          <a:xfrm>
            <a:off x="469900" y="402587"/>
            <a:ext cx="11252200" cy="334102"/>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dk1"/>
              </a:buClr>
              <a:buSzPts val="2000"/>
              <a:buFont typeface="Open Sans"/>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084967790"/>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Qualifications 2 x 1">
  <p:cSld name="1_Qualifications 2 x 1">
    <p:spTree>
      <p:nvGrpSpPr>
        <p:cNvPr id="1" name="Shape 71"/>
        <p:cNvGrpSpPr/>
        <p:nvPr/>
      </p:nvGrpSpPr>
      <p:grpSpPr>
        <a:xfrm>
          <a:off x="0" y="0"/>
          <a:ext cx="0" cy="0"/>
          <a:chOff x="0" y="0"/>
          <a:chExt cx="0" cy="0"/>
        </a:xfrm>
      </p:grpSpPr>
      <p:sp>
        <p:nvSpPr>
          <p:cNvPr id="72" name="Google Shape;72;p15"/>
          <p:cNvSpPr txBox="1">
            <a:spLocks noGrp="1"/>
          </p:cNvSpPr>
          <p:nvPr>
            <p:ph type="body" idx="1"/>
          </p:nvPr>
        </p:nvSpPr>
        <p:spPr>
          <a:xfrm>
            <a:off x="469900" y="736688"/>
            <a:ext cx="11252200" cy="757255"/>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rgbClr val="575757"/>
              </a:buClr>
              <a:buSzPts val="1600"/>
              <a:buNone/>
              <a:defRPr sz="1600" b="0">
                <a:solidFill>
                  <a:srgbClr val="575757"/>
                </a:solidFill>
              </a:defRPr>
            </a:lvl1pPr>
            <a:lvl2pPr marL="914400" lvl="1" indent="-228600" algn="l">
              <a:spcBef>
                <a:spcPts val="1333"/>
              </a:spcBef>
              <a:spcAft>
                <a:spcPts val="0"/>
              </a:spcAft>
              <a:buClr>
                <a:schemeClr val="dk1"/>
              </a:buClr>
              <a:buSzPts val="1800"/>
              <a:buNone/>
              <a:defRPr/>
            </a:lvl2pPr>
            <a:lvl3pPr marL="1371600" lvl="2" indent="-342900" algn="l">
              <a:spcBef>
                <a:spcPts val="1333"/>
              </a:spcBef>
              <a:spcAft>
                <a:spcPts val="0"/>
              </a:spcAft>
              <a:buClr>
                <a:schemeClr val="dk1"/>
              </a:buClr>
              <a:buSzPts val="1800"/>
              <a:buChar char="•"/>
              <a:defRPr/>
            </a:lvl3pPr>
            <a:lvl4pPr marL="1828800" lvl="3" indent="-342900" algn="l">
              <a:spcBef>
                <a:spcPts val="1333"/>
              </a:spcBef>
              <a:spcAft>
                <a:spcPts val="0"/>
              </a:spcAft>
              <a:buClr>
                <a:schemeClr val="dk1"/>
              </a:buClr>
              <a:buSzPts val="1800"/>
              <a:buChar char="−"/>
              <a:defRPr/>
            </a:lvl4pPr>
            <a:lvl5pPr marL="2286000" lvl="4" indent="-342900" algn="l">
              <a:spcBef>
                <a:spcPts val="1333"/>
              </a:spcBef>
              <a:spcAft>
                <a:spcPts val="0"/>
              </a:spcAft>
              <a:buClr>
                <a:schemeClr val="dk1"/>
              </a:buClr>
              <a:buSzPts val="1800"/>
              <a:buChar char="−"/>
              <a:defRPr/>
            </a:lvl5pPr>
            <a:lvl6pPr marL="2743200" lvl="5" indent="-342900" algn="l">
              <a:spcBef>
                <a:spcPts val="1333"/>
              </a:spcBef>
              <a:spcAft>
                <a:spcPts val="0"/>
              </a:spcAft>
              <a:buClr>
                <a:schemeClr val="dk1"/>
              </a:buClr>
              <a:buSzPts val="1800"/>
              <a:buChar char="−"/>
              <a:defRPr/>
            </a:lvl6pPr>
            <a:lvl7pPr marL="3200400" lvl="6" indent="-342900" algn="l">
              <a:spcBef>
                <a:spcPts val="1333"/>
              </a:spcBef>
              <a:spcAft>
                <a:spcPts val="0"/>
              </a:spcAft>
              <a:buClr>
                <a:schemeClr val="dk1"/>
              </a:buClr>
              <a:buSzPts val="1800"/>
              <a:buChar char="−"/>
              <a:defRPr/>
            </a:lvl7pPr>
            <a:lvl8pPr marL="3657600" lvl="7" indent="-342900" algn="l">
              <a:spcBef>
                <a:spcPts val="1333"/>
              </a:spcBef>
              <a:spcAft>
                <a:spcPts val="0"/>
              </a:spcAft>
              <a:buClr>
                <a:schemeClr val="dk1"/>
              </a:buClr>
              <a:buSzPts val="1800"/>
              <a:buChar char="−"/>
              <a:defRPr/>
            </a:lvl8pPr>
            <a:lvl9pPr marL="4114800" lvl="8" indent="-342900" algn="l">
              <a:spcBef>
                <a:spcPts val="1333"/>
              </a:spcBef>
              <a:spcAft>
                <a:spcPts val="1333"/>
              </a:spcAft>
              <a:buClr>
                <a:schemeClr val="dk1"/>
              </a:buClr>
              <a:buSzPts val="1800"/>
              <a:buChar char="−"/>
              <a:defRPr/>
            </a:lvl9pPr>
          </a:lstStyle>
          <a:p>
            <a:endParaRPr/>
          </a:p>
        </p:txBody>
      </p:sp>
      <p:sp>
        <p:nvSpPr>
          <p:cNvPr id="73" name="Google Shape;73;p15"/>
          <p:cNvSpPr txBox="1">
            <a:spLocks noGrp="1"/>
          </p:cNvSpPr>
          <p:nvPr>
            <p:ph type="title"/>
          </p:nvPr>
        </p:nvSpPr>
        <p:spPr>
          <a:xfrm>
            <a:off x="469900" y="402586"/>
            <a:ext cx="11252200" cy="334101"/>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dk1"/>
              </a:buClr>
              <a:buSzPts val="2000"/>
              <a:buFont typeface="Open Sans"/>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5"/>
          <p:cNvSpPr txBox="1">
            <a:spLocks noGrp="1"/>
          </p:cNvSpPr>
          <p:nvPr>
            <p:ph type="body" idx="2"/>
          </p:nvPr>
        </p:nvSpPr>
        <p:spPr>
          <a:xfrm>
            <a:off x="469899" y="1857892"/>
            <a:ext cx="5544000" cy="1695451"/>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None/>
              <a:defRPr b="1">
                <a:solidFill>
                  <a:schemeClr val="accent1"/>
                </a:solidFill>
              </a:defRPr>
            </a:lvl1pPr>
            <a:lvl2pPr marL="914400" lvl="1" indent="-228600" algn="l">
              <a:spcBef>
                <a:spcPts val="1333"/>
              </a:spcBef>
              <a:spcAft>
                <a:spcPts val="0"/>
              </a:spcAft>
              <a:buClr>
                <a:schemeClr val="dk1"/>
              </a:buClr>
              <a:buSzPts val="1200"/>
              <a:buNone/>
              <a:defRPr/>
            </a:lvl2pPr>
            <a:lvl3pPr marL="1371600" lvl="2" indent="-228600" algn="l">
              <a:spcBef>
                <a:spcPts val="1333"/>
              </a:spcBef>
              <a:spcAft>
                <a:spcPts val="0"/>
              </a:spcAft>
              <a:buClr>
                <a:schemeClr val="dk1"/>
              </a:buClr>
              <a:buSzPts val="1200"/>
              <a:buNone/>
              <a:defRPr/>
            </a:lvl3pPr>
            <a:lvl4pPr marL="1828800" lvl="3" indent="-304800" algn="l">
              <a:spcBef>
                <a:spcPts val="1333"/>
              </a:spcBef>
              <a:spcAft>
                <a:spcPts val="0"/>
              </a:spcAft>
              <a:buClr>
                <a:schemeClr val="dk1"/>
              </a:buClr>
              <a:buSzPts val="1200"/>
              <a:buFont typeface="Arial"/>
              <a:buChar char="•"/>
              <a:defRPr/>
            </a:lvl4pPr>
            <a:lvl5pPr marL="2286000" lvl="4" indent="-304800" algn="l">
              <a:spcBef>
                <a:spcPts val="1333"/>
              </a:spcBef>
              <a:spcAft>
                <a:spcPts val="0"/>
              </a:spcAft>
              <a:buClr>
                <a:schemeClr val="dk1"/>
              </a:buClr>
              <a:buSzPts val="1200"/>
              <a:buChar char="−"/>
              <a:defRPr/>
            </a:lvl5pPr>
            <a:lvl6pPr marL="2743200" lvl="5" indent="-330200" algn="l">
              <a:spcBef>
                <a:spcPts val="1333"/>
              </a:spcBef>
              <a:spcAft>
                <a:spcPts val="0"/>
              </a:spcAft>
              <a:buClr>
                <a:schemeClr val="dk1"/>
              </a:buClr>
              <a:buSzPts val="1600"/>
              <a:buFont typeface="Verdana"/>
              <a:buChar char="−"/>
              <a:defRPr/>
            </a:lvl6pPr>
            <a:lvl7pPr marL="3200400" lvl="6" indent="-330200" algn="l">
              <a:spcBef>
                <a:spcPts val="1333"/>
              </a:spcBef>
              <a:spcAft>
                <a:spcPts val="0"/>
              </a:spcAft>
              <a:buClr>
                <a:schemeClr val="dk1"/>
              </a:buClr>
              <a:buSzPts val="1600"/>
              <a:buChar char="−"/>
              <a:defRPr/>
            </a:lvl7pPr>
            <a:lvl8pPr marL="3657600" lvl="7" indent="-330200" algn="l">
              <a:spcBef>
                <a:spcPts val="1333"/>
              </a:spcBef>
              <a:spcAft>
                <a:spcPts val="0"/>
              </a:spcAft>
              <a:buClr>
                <a:schemeClr val="dk1"/>
              </a:buClr>
              <a:buSzPts val="1600"/>
              <a:buChar char="−"/>
              <a:defRPr/>
            </a:lvl8pPr>
            <a:lvl9pPr marL="4114800" lvl="8" indent="-330200" algn="l">
              <a:spcBef>
                <a:spcPts val="1333"/>
              </a:spcBef>
              <a:spcAft>
                <a:spcPts val="1333"/>
              </a:spcAft>
              <a:buClr>
                <a:schemeClr val="dk1"/>
              </a:buClr>
              <a:buSzPts val="1600"/>
              <a:buChar char="−"/>
              <a:defRPr/>
            </a:lvl9pPr>
          </a:lstStyle>
          <a:p>
            <a:endParaRPr/>
          </a:p>
        </p:txBody>
      </p:sp>
      <p:sp>
        <p:nvSpPr>
          <p:cNvPr id="75" name="Google Shape;75;p15"/>
          <p:cNvSpPr txBox="1">
            <a:spLocks noGrp="1"/>
          </p:cNvSpPr>
          <p:nvPr>
            <p:ph type="body" idx="3"/>
          </p:nvPr>
        </p:nvSpPr>
        <p:spPr>
          <a:xfrm>
            <a:off x="6177462" y="1857892"/>
            <a:ext cx="5544000" cy="1695451"/>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Clr>
                <a:schemeClr val="accent1"/>
              </a:buClr>
              <a:buSzPts val="1200"/>
              <a:buNone/>
              <a:defRPr b="1">
                <a:solidFill>
                  <a:schemeClr val="accent1"/>
                </a:solidFill>
              </a:defRPr>
            </a:lvl1pPr>
            <a:lvl2pPr marL="914400" lvl="1" indent="-228600" algn="l">
              <a:spcBef>
                <a:spcPts val="1333"/>
              </a:spcBef>
              <a:spcAft>
                <a:spcPts val="0"/>
              </a:spcAft>
              <a:buClr>
                <a:schemeClr val="dk1"/>
              </a:buClr>
              <a:buSzPts val="1200"/>
              <a:buNone/>
              <a:defRPr/>
            </a:lvl2pPr>
            <a:lvl3pPr marL="1371600" lvl="2" indent="-228600" algn="l">
              <a:spcBef>
                <a:spcPts val="1333"/>
              </a:spcBef>
              <a:spcAft>
                <a:spcPts val="0"/>
              </a:spcAft>
              <a:buClr>
                <a:schemeClr val="dk1"/>
              </a:buClr>
              <a:buSzPts val="1200"/>
              <a:buNone/>
              <a:defRPr/>
            </a:lvl3pPr>
            <a:lvl4pPr marL="1828800" lvl="3" indent="-304800" algn="l">
              <a:spcBef>
                <a:spcPts val="1333"/>
              </a:spcBef>
              <a:spcAft>
                <a:spcPts val="0"/>
              </a:spcAft>
              <a:buClr>
                <a:schemeClr val="dk1"/>
              </a:buClr>
              <a:buSzPts val="1200"/>
              <a:buFont typeface="Arial"/>
              <a:buChar char="•"/>
              <a:defRPr/>
            </a:lvl4pPr>
            <a:lvl5pPr marL="2286000" lvl="4" indent="-304800" algn="l">
              <a:spcBef>
                <a:spcPts val="1333"/>
              </a:spcBef>
              <a:spcAft>
                <a:spcPts val="0"/>
              </a:spcAft>
              <a:buClr>
                <a:schemeClr val="dk1"/>
              </a:buClr>
              <a:buSzPts val="1200"/>
              <a:buChar char="−"/>
              <a:defRPr/>
            </a:lvl5pPr>
            <a:lvl6pPr marL="2743200" lvl="5" indent="-330200" algn="l">
              <a:spcBef>
                <a:spcPts val="1333"/>
              </a:spcBef>
              <a:spcAft>
                <a:spcPts val="0"/>
              </a:spcAft>
              <a:buClr>
                <a:schemeClr val="dk1"/>
              </a:buClr>
              <a:buSzPts val="1600"/>
              <a:buFont typeface="Verdana"/>
              <a:buChar char="−"/>
              <a:defRPr/>
            </a:lvl6pPr>
            <a:lvl7pPr marL="3200400" lvl="6" indent="-330200" algn="l">
              <a:spcBef>
                <a:spcPts val="1333"/>
              </a:spcBef>
              <a:spcAft>
                <a:spcPts val="0"/>
              </a:spcAft>
              <a:buClr>
                <a:schemeClr val="dk1"/>
              </a:buClr>
              <a:buSzPts val="1600"/>
              <a:buChar char="−"/>
              <a:defRPr/>
            </a:lvl7pPr>
            <a:lvl8pPr marL="3657600" lvl="7" indent="-330200" algn="l">
              <a:spcBef>
                <a:spcPts val="1333"/>
              </a:spcBef>
              <a:spcAft>
                <a:spcPts val="0"/>
              </a:spcAft>
              <a:buClr>
                <a:schemeClr val="dk1"/>
              </a:buClr>
              <a:buSzPts val="1600"/>
              <a:buChar char="−"/>
              <a:defRPr/>
            </a:lvl8pPr>
            <a:lvl9pPr marL="4114800" lvl="8" indent="-330200" algn="l">
              <a:spcBef>
                <a:spcPts val="1333"/>
              </a:spcBef>
              <a:spcAft>
                <a:spcPts val="1333"/>
              </a:spcAft>
              <a:buClr>
                <a:schemeClr val="dk1"/>
              </a:buClr>
              <a:buSzPts val="1600"/>
              <a:buChar char="−"/>
              <a:defRPr/>
            </a:lvl9pPr>
          </a:lstStyle>
          <a:p>
            <a:endParaRPr/>
          </a:p>
        </p:txBody>
      </p:sp>
      <p:sp>
        <p:nvSpPr>
          <p:cNvPr id="76" name="Google Shape;76;p15"/>
          <p:cNvSpPr/>
          <p:nvPr/>
        </p:nvSpPr>
        <p:spPr>
          <a:xfrm>
            <a:off x="469899" y="1705379"/>
            <a:ext cx="5544000" cy="53044"/>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467">
              <a:solidFill>
                <a:schemeClr val="lt1"/>
              </a:solidFill>
              <a:latin typeface="Open Sans"/>
              <a:ea typeface="Open Sans"/>
              <a:cs typeface="Open Sans"/>
              <a:sym typeface="Open Sans"/>
            </a:endParaRPr>
          </a:p>
        </p:txBody>
      </p:sp>
      <p:sp>
        <p:nvSpPr>
          <p:cNvPr id="77" name="Google Shape;77;p15"/>
          <p:cNvSpPr/>
          <p:nvPr/>
        </p:nvSpPr>
        <p:spPr>
          <a:xfrm>
            <a:off x="6167796" y="1705379"/>
            <a:ext cx="5544000" cy="53044"/>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467">
              <a:solidFill>
                <a:schemeClr val="lt1"/>
              </a:solidFill>
              <a:latin typeface="Open Sans"/>
              <a:ea typeface="Open Sans"/>
              <a:cs typeface="Open Sans"/>
              <a:sym typeface="Open Sans"/>
            </a:endParaRPr>
          </a:p>
        </p:txBody>
      </p:sp>
      <p:sp>
        <p:nvSpPr>
          <p:cNvPr id="78" name="Google Shape;78;p15"/>
          <p:cNvSpPr/>
          <p:nvPr/>
        </p:nvSpPr>
        <p:spPr>
          <a:xfrm>
            <a:off x="469899" y="1705379"/>
            <a:ext cx="5544000" cy="53044"/>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467">
              <a:solidFill>
                <a:schemeClr val="lt1"/>
              </a:solidFill>
              <a:latin typeface="Open Sans"/>
              <a:ea typeface="Open Sans"/>
              <a:cs typeface="Open Sans"/>
              <a:sym typeface="Open Sans"/>
            </a:endParaRPr>
          </a:p>
        </p:txBody>
      </p:sp>
      <p:sp>
        <p:nvSpPr>
          <p:cNvPr id="79" name="Google Shape;79;p15"/>
          <p:cNvSpPr/>
          <p:nvPr/>
        </p:nvSpPr>
        <p:spPr>
          <a:xfrm>
            <a:off x="6167796" y="1705379"/>
            <a:ext cx="5544000" cy="53044"/>
          </a:xfrm>
          <a:prstGeom prst="rect">
            <a:avLst/>
          </a:prstGeom>
          <a:solidFill>
            <a:schemeClr val="accen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467">
              <a:solidFill>
                <a:schemeClr val="lt1"/>
              </a:solidFill>
              <a:latin typeface="Open Sans"/>
              <a:ea typeface="Open Sans"/>
              <a:cs typeface="Open Sans"/>
              <a:sym typeface="Open Sans"/>
            </a:endParaRPr>
          </a:p>
        </p:txBody>
      </p:sp>
      <p:grpSp>
        <p:nvGrpSpPr>
          <p:cNvPr id="80" name="Google Shape;80;p15"/>
          <p:cNvGrpSpPr/>
          <p:nvPr/>
        </p:nvGrpSpPr>
        <p:grpSpPr>
          <a:xfrm>
            <a:off x="0" y="3429000"/>
            <a:ext cx="4267197" cy="3429000"/>
            <a:chOff x="0" y="3069927"/>
            <a:chExt cx="4267197" cy="3429000"/>
          </a:xfrm>
        </p:grpSpPr>
        <p:sp>
          <p:nvSpPr>
            <p:cNvPr id="81" name="Google Shape;81;p15"/>
            <p:cNvSpPr/>
            <p:nvPr/>
          </p:nvSpPr>
          <p:spPr>
            <a:xfrm>
              <a:off x="0" y="5873262"/>
              <a:ext cx="4267197" cy="6256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Open Sans"/>
                <a:ea typeface="Open Sans"/>
                <a:cs typeface="Open Sans"/>
                <a:sym typeface="Open Sans"/>
              </a:endParaRPr>
            </a:p>
          </p:txBody>
        </p:sp>
        <p:pic>
          <p:nvPicPr>
            <p:cNvPr id="82" name="Google Shape;82;p15" descr="A picture containing electronics&#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rot="10800000">
              <a:off x="0" y="3069927"/>
              <a:ext cx="3508510" cy="3429000"/>
            </a:xfrm>
            <a:prstGeom prst="rect">
              <a:avLst/>
            </a:prstGeom>
            <a:noFill/>
            <a:ln>
              <a:noFill/>
            </a:ln>
          </p:spPr>
        </p:pic>
      </p:grpSp>
    </p:spTree>
    <p:extLst>
      <p:ext uri="{BB962C8B-B14F-4D97-AF65-F5344CB8AC3E}">
        <p14:creationId xmlns:p14="http://schemas.microsoft.com/office/powerpoint/2010/main" val="2911785639"/>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11AA1-6EAF-A87E-DEF9-AAB277532D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B283A5-10B1-4DFC-ACC3-D7D4AEA145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9DC4EF-0D97-5F7B-8B91-CA55166738E3}"/>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E040DBBB-B5A3-16D6-B899-0C72CF3443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9788C1-076A-AD55-918A-E8FC37026060}"/>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108923938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244B-21D3-2BEA-8805-FBBAD5700C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362A3C-AFFB-4207-0897-996DA02BF6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B7DCE-46FB-3BCC-BFC7-106EF2636C00}"/>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5C461B56-4AF8-046D-942E-B221D22228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7C2040-9971-2E75-C01E-36566BDFA11B}"/>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328199145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08CE2-7C3D-9B13-05BD-F9BA92B7B7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717356-B5E0-A1DD-118C-A60904557C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A16A80-5049-6C3E-95E9-20B439F127B9}"/>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222B5F52-9F3B-116E-6678-75F5657A4B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5AD522-3202-B122-413B-121B47251071}"/>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33533246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EF127-7729-6364-329C-5E10F566DD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3EBD55-E62F-8A4A-089B-57075FBC8B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4CC8FD-7A13-A065-9E2D-B214B82867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CF3BAC-D06A-9F5F-0CFB-8B6EE0C5B918}"/>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6" name="Footer Placeholder 5">
            <a:extLst>
              <a:ext uri="{FF2B5EF4-FFF2-40B4-BE49-F238E27FC236}">
                <a16:creationId xmlns:a16="http://schemas.microsoft.com/office/drawing/2014/main" id="{0AF68583-B9A4-C726-F9DE-B03E051E56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546E12-B4EA-849B-B579-C41D7A54ACAD}"/>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334365659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9D939-A80D-F1F7-1F2C-3DA56BCA3D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8CAE65-8A5A-1ED3-EC82-7C91C2527A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7CFADA-F065-8517-3D00-2A5034FDE4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CA45E8-65B5-8E67-A49D-86AD20973A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CE2F2F-EE8C-8AD5-4434-5278503BA9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9D67AA-6A71-BA44-C53B-BB99BE1D8CDD}"/>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8" name="Footer Placeholder 7">
            <a:extLst>
              <a:ext uri="{FF2B5EF4-FFF2-40B4-BE49-F238E27FC236}">
                <a16:creationId xmlns:a16="http://schemas.microsoft.com/office/drawing/2014/main" id="{A517D78C-A5D2-1811-C21C-0A374AB35F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DFFEF8-0328-C1FA-E63D-928F5F1CDF50}"/>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140606141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C8B5E-4C0B-94DA-9B3A-1CB0EDA41B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098005-74BF-86F0-9626-73945602BA69}"/>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4" name="Footer Placeholder 3">
            <a:extLst>
              <a:ext uri="{FF2B5EF4-FFF2-40B4-BE49-F238E27FC236}">
                <a16:creationId xmlns:a16="http://schemas.microsoft.com/office/drawing/2014/main" id="{892FB547-E233-1B2F-F3B4-64D941E7D5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F27C4A-79F6-23F6-EE3D-F9DE7EEDC768}"/>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18205292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1A1158-D517-F57C-E287-0407C72927F3}"/>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3" name="Footer Placeholder 2">
            <a:extLst>
              <a:ext uri="{FF2B5EF4-FFF2-40B4-BE49-F238E27FC236}">
                <a16:creationId xmlns:a16="http://schemas.microsoft.com/office/drawing/2014/main" id="{AABB52E1-CA87-FE08-8404-EFE7830945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EEC637-39B4-37E8-4E11-9304C2AC9F42}"/>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4172915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D2FCB-517D-4F46-33B5-30DA80039D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EBD33B-8A32-F6D2-F0FF-0186716AF5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B55852-C7F5-F19D-3DC5-A8769E562A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E78193-0D73-75C5-9602-31176340C778}"/>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6" name="Footer Placeholder 5">
            <a:extLst>
              <a:ext uri="{FF2B5EF4-FFF2-40B4-BE49-F238E27FC236}">
                <a16:creationId xmlns:a16="http://schemas.microsoft.com/office/drawing/2014/main" id="{93C54E09-EDA2-8218-71FF-8FB58BD12F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F4FCB-32E7-2A3A-C7D1-381359311209}"/>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49401666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6CD07-81EA-DD99-457C-B443208E57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1081E7-7B72-30F1-01F3-EB10D8BDDB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FE988A-412F-389A-488B-A7CCF64C09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8C9F32-4246-0405-EB36-ED21BA988285}"/>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6" name="Footer Placeholder 5">
            <a:extLst>
              <a:ext uri="{FF2B5EF4-FFF2-40B4-BE49-F238E27FC236}">
                <a16:creationId xmlns:a16="http://schemas.microsoft.com/office/drawing/2014/main" id="{E16E5433-E7CB-89B5-E5CF-EC38D289A9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38C1FF-87BB-2F3F-5519-5145C1443FA4}"/>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215304705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AD415-A044-D5D8-327E-F51E9774AA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DFD165-5167-1FDE-F5A4-2D32BB8CD2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C463B-5528-95A3-392D-BFF61E49A8AF}"/>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C21B0F6B-9C9B-DF90-B934-795D370347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BD5FEB-FBA6-104E-37FF-89A63B80FBB1}"/>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147766854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E08CE9-DA53-0403-45EA-4CCDA554B9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155E93-E34B-9E01-67D0-DBF7501F42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81830-E3AC-E304-B6E1-1686E020F0FD}"/>
              </a:ext>
            </a:extLst>
          </p:cNvPr>
          <p:cNvSpPr>
            <a:spLocks noGrp="1"/>
          </p:cNvSpPr>
          <p:nvPr>
            <p:ph type="dt" sz="half" idx="10"/>
          </p:nvPr>
        </p:nvSpPr>
        <p:spPr/>
        <p:txBody>
          <a:body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5441EE70-2C4C-71DC-091E-9BF24A77F7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4E8259-230A-AF11-2C9D-A71FE956B5BC}"/>
              </a:ext>
            </a:extLst>
          </p:cNvPr>
          <p:cNvSpPr>
            <a:spLocks noGrp="1"/>
          </p:cNvSpPr>
          <p:nvPr>
            <p:ph type="sldNum" sz="quarter" idx="12"/>
          </p:nvPr>
        </p:nvSpPr>
        <p:spPr/>
        <p:txBody>
          <a:bodyPr/>
          <a:lstStyle/>
          <a:p>
            <a:fld id="{A346F934-08A2-4672-B1EF-506188B6D0A7}" type="slidenum">
              <a:rPr lang="en-US" smtClean="0"/>
              <a:t>‹#›</a:t>
            </a:fld>
            <a:endParaRPr lang="en-US"/>
          </a:p>
        </p:txBody>
      </p:sp>
    </p:spTree>
    <p:extLst>
      <p:ext uri="{BB962C8B-B14F-4D97-AF65-F5344CB8AC3E}">
        <p14:creationId xmlns:p14="http://schemas.microsoft.com/office/powerpoint/2010/main" val="7695906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3_Title Slide - White">
    <p:bg bwMode="gray">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B469CF-428F-5027-1D25-4B5736EFE0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95570" y="766334"/>
            <a:ext cx="5845886" cy="5481708"/>
          </a:xfrm>
          <a:prstGeom prst="rect">
            <a:avLst/>
          </a:prstGeom>
        </p:spPr>
      </p:pic>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93561" y="474218"/>
            <a:ext cx="1816364" cy="340364"/>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19" name="Text Placeholder 9">
            <a:extLst>
              <a:ext uri="{FF2B5EF4-FFF2-40B4-BE49-F238E27FC236}">
                <a16:creationId xmlns:a16="http://schemas.microsoft.com/office/drawing/2014/main" id="{DB0FFD41-6932-C542-BED0-7BFE546399ED}"/>
              </a:ext>
            </a:extLst>
          </p:cNvPr>
          <p:cNvSpPr>
            <a:spLocks noGrp="1"/>
          </p:cNvSpPr>
          <p:nvPr>
            <p:ph type="body" sz="quarter" idx="16" hasCustomPrompt="1"/>
          </p:nvPr>
        </p:nvSpPr>
        <p:spPr>
          <a:xfrm>
            <a:off x="490295" y="5940663"/>
            <a:ext cx="4407673" cy="478209"/>
          </a:xfrm>
        </p:spPr>
        <p:txBody>
          <a:bodyPr vert="horz" lIns="0" tIns="0" rIns="0" bIns="0" rtlCol="0">
            <a:noAutofit/>
          </a:bodyPr>
          <a:lstStyle>
            <a:lvl1pPr marL="0" indent="0">
              <a:buNone/>
              <a:defRPr lang="en-US" sz="1200" b="0" i="0" spc="-30" baseline="0"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228600" lvl="0" indent="-228600">
              <a:lnSpc>
                <a:spcPct val="130000"/>
              </a:lnSpc>
            </a:pPr>
            <a:r>
              <a:rPr lang="en-US"/>
              <a:t>Click to edit Subtitle</a:t>
            </a:r>
          </a:p>
        </p:txBody>
      </p:sp>
      <p:sp>
        <p:nvSpPr>
          <p:cNvPr id="20" name="Text Placeholder 9">
            <a:extLst>
              <a:ext uri="{FF2B5EF4-FFF2-40B4-BE49-F238E27FC236}">
                <a16:creationId xmlns:a16="http://schemas.microsoft.com/office/drawing/2014/main" id="{AA5E058E-2788-6942-A870-D57592460284}"/>
              </a:ext>
            </a:extLst>
          </p:cNvPr>
          <p:cNvSpPr>
            <a:spLocks noGrp="1"/>
          </p:cNvSpPr>
          <p:nvPr>
            <p:ph type="body" sz="quarter" idx="17" hasCustomPrompt="1"/>
          </p:nvPr>
        </p:nvSpPr>
        <p:spPr>
          <a:xfrm>
            <a:off x="490295" y="4585210"/>
            <a:ext cx="4407673" cy="348286"/>
          </a:xfrm>
        </p:spPr>
        <p:txBody>
          <a:bodyPr vert="horz" lIns="0" tIns="0" rIns="0" bIns="0" rtlCol="0">
            <a:noAutofit/>
          </a:bodyPr>
          <a:lstStyle>
            <a:lvl1pPr marL="0" indent="0">
              <a:buNone/>
              <a:defRPr lang="en-US" sz="800" b="1" i="0" kern="0" cap="none" spc="250" baseline="0" dirty="0">
                <a:solidFill>
                  <a:schemeClr val="bg2"/>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DATE</a:t>
            </a:r>
          </a:p>
        </p:txBody>
      </p:sp>
      <p:sp>
        <p:nvSpPr>
          <p:cNvPr id="22" name="Text Placeholder 9">
            <a:extLst>
              <a:ext uri="{FF2B5EF4-FFF2-40B4-BE49-F238E27FC236}">
                <a16:creationId xmlns:a16="http://schemas.microsoft.com/office/drawing/2014/main" id="{40A713AE-DEFF-DE43-AB83-D6B9ED2DAE85}"/>
              </a:ext>
            </a:extLst>
          </p:cNvPr>
          <p:cNvSpPr>
            <a:spLocks noGrp="1"/>
          </p:cNvSpPr>
          <p:nvPr>
            <p:ph type="body" sz="quarter" idx="18" hasCustomPrompt="1"/>
          </p:nvPr>
        </p:nvSpPr>
        <p:spPr>
          <a:xfrm>
            <a:off x="490295" y="4933497"/>
            <a:ext cx="4407673" cy="929790"/>
          </a:xfrm>
        </p:spPr>
        <p:txBody>
          <a:bodyPr vert="horz" lIns="0" tIns="0" rIns="0" bIns="0" rtlCol="0" anchor="b">
            <a:noAutofit/>
          </a:bodyPr>
          <a:lstStyle>
            <a:lvl1pPr marL="0" indent="0">
              <a:buNone/>
              <a:defRPr lang="en-US" sz="3200" b="1" i="0" spc="-100" baseline="0" dirty="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nSpc>
                <a:spcPct val="130000"/>
              </a:lnSpc>
            </a:pPr>
            <a:r>
              <a:rPr lang="en-US"/>
              <a:t>Click to edit Title</a:t>
            </a:r>
          </a:p>
        </p:txBody>
      </p:sp>
    </p:spTree>
    <p:extLst>
      <p:ext uri="{BB962C8B-B14F-4D97-AF65-F5344CB8AC3E}">
        <p14:creationId xmlns:p14="http://schemas.microsoft.com/office/powerpoint/2010/main" val="195269817"/>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EXEC SUM">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610365" y="816122"/>
            <a:ext cx="11256264" cy="256032"/>
          </a:xfrm>
          <a:prstGeom prst="rect">
            <a:avLst/>
          </a:prstGeom>
        </p:spPr>
        <p:txBody>
          <a:bodyPr lIns="0" tIns="0" rIns="0" bIns="0">
            <a:noAutofit/>
          </a:bodyPr>
          <a:lstStyle>
            <a:lvl1pPr marL="0" indent="0">
              <a:buNone/>
              <a:defRPr sz="1400" b="0" i="1">
                <a:solidFill>
                  <a:srgbClr val="575757"/>
                </a:solidFill>
                <a:latin typeface="Calibri" panose="020F0502020204030204" pitchFamily="34" charset="0"/>
                <a:cs typeface="Calibri" panose="020F0502020204030204" pitchFamily="34" charset="0"/>
              </a:defRPr>
            </a:lvl1pPr>
          </a:lstStyle>
          <a:p>
            <a:pPr lvl="0"/>
            <a:r>
              <a:rPr lang="en-US" noProof="0"/>
              <a:t>Click to add subtitle</a:t>
            </a:r>
          </a:p>
        </p:txBody>
      </p:sp>
      <p:sp>
        <p:nvSpPr>
          <p:cNvPr id="9" name="Title Placeholder 1"/>
          <p:cNvSpPr>
            <a:spLocks noGrp="1"/>
          </p:cNvSpPr>
          <p:nvPr>
            <p:ph type="title"/>
          </p:nvPr>
        </p:nvSpPr>
        <p:spPr>
          <a:xfrm>
            <a:off x="610365" y="402587"/>
            <a:ext cx="11256264" cy="360984"/>
          </a:xfrm>
          <a:prstGeom prst="rect">
            <a:avLst/>
          </a:prstGeom>
        </p:spPr>
        <p:txBody>
          <a:bodyPr vert="horz" lIns="0" tIns="0" rIns="0" bIns="0" rtlCol="0" anchor="t" anchorCtr="0">
            <a:noAutofit/>
          </a:bodyPr>
          <a:lstStyle>
            <a:lvl1pPr>
              <a:defRPr sz="2400">
                <a:latin typeface="Calibri" panose="020F0502020204030204" pitchFamily="34" charset="0"/>
                <a:cs typeface="Calibri" panose="020F0502020204030204" pitchFamily="34" charset="0"/>
              </a:defRPr>
            </a:lvl1pPr>
          </a:lstStyle>
          <a:p>
            <a:r>
              <a:rPr lang="en-US" noProof="0"/>
              <a:t>Click to edit Master title style</a:t>
            </a:r>
          </a:p>
        </p:txBody>
      </p:sp>
    </p:spTree>
    <p:extLst>
      <p:ext uri="{BB962C8B-B14F-4D97-AF65-F5344CB8AC3E}">
        <p14:creationId xmlns:p14="http://schemas.microsoft.com/office/powerpoint/2010/main" val="1119305827"/>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7459239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62319043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54139770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87214290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98105316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4482654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0047176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61283244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16552121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09378932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27741247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Corning_Title, subhead">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D09D2F-E345-6040-9408-A642F236AC9B}"/>
              </a:ext>
            </a:extLst>
          </p:cNvPr>
          <p:cNvSpPr>
            <a:spLocks noGrp="1"/>
          </p:cNvSpPr>
          <p:nvPr>
            <p:ph type="title"/>
          </p:nvPr>
        </p:nvSpPr>
        <p:spPr bwMode="gray">
          <a:xfrm>
            <a:off x="457200" y="434975"/>
            <a:ext cx="11277599" cy="492443"/>
          </a:xfrm>
          <a:prstGeom prst="rect">
            <a:avLst/>
          </a:prstGeom>
        </p:spPr>
        <p:txBody>
          <a:bodyPr>
            <a:spAutoFit/>
          </a:bodyPr>
          <a:lstStyle>
            <a:lvl1pPr>
              <a:defRPr sz="3200" spc="0" baseline="0">
                <a:latin typeface="+mj-lt"/>
              </a:defRPr>
            </a:lvl1pPr>
          </a:lstStyle>
          <a:p>
            <a:r>
              <a:rPr lang="en-US" noProof="0"/>
              <a:t>Click to edit Master title style</a:t>
            </a:r>
          </a:p>
        </p:txBody>
      </p:sp>
      <p:sp>
        <p:nvSpPr>
          <p:cNvPr id="3" name="Text Placeholder 8">
            <a:extLst>
              <a:ext uri="{FF2B5EF4-FFF2-40B4-BE49-F238E27FC236}">
                <a16:creationId xmlns:a16="http://schemas.microsoft.com/office/drawing/2014/main" id="{61ECAAFF-8F4D-1041-9BD6-F01200012957}"/>
              </a:ext>
            </a:extLst>
          </p:cNvPr>
          <p:cNvSpPr>
            <a:spLocks noGrp="1"/>
          </p:cNvSpPr>
          <p:nvPr>
            <p:ph type="body" sz="quarter" idx="13" hasCustomPrompt="1"/>
          </p:nvPr>
        </p:nvSpPr>
        <p:spPr>
          <a:xfrm>
            <a:off x="458791" y="985838"/>
            <a:ext cx="11275995" cy="215444"/>
          </a:xfrm>
          <a:prstGeom prst="rect">
            <a:avLst/>
          </a:prstGeom>
        </p:spPr>
        <p:txBody>
          <a:bodyPr>
            <a:spAutoFit/>
          </a:bodyPr>
          <a:lstStyle>
            <a:lvl1pPr marL="0" indent="0">
              <a:spcAft>
                <a:spcPts val="600"/>
              </a:spcAft>
              <a:buNone/>
              <a:defRPr sz="1400" b="0" spc="0" baseline="0">
                <a:solidFill>
                  <a:schemeClr val="accent6"/>
                </a:solidFill>
                <a:latin typeface="+mj-lt"/>
              </a:defRPr>
            </a:lvl1pPr>
          </a:lstStyle>
          <a:p>
            <a:pPr lvl="0"/>
            <a:r>
              <a:rPr lang="en-US" noProof="0"/>
              <a:t>Click to edit Master text styles</a:t>
            </a:r>
          </a:p>
        </p:txBody>
      </p:sp>
    </p:spTree>
    <p:extLst>
      <p:ext uri="{BB962C8B-B14F-4D97-AF65-F5344CB8AC3E}">
        <p14:creationId xmlns:p14="http://schemas.microsoft.com/office/powerpoint/2010/main" val="1245731074"/>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2026 FDE Practice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28417982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682944"/>
            <a:ext cx="11277600" cy="757255"/>
          </a:xfrm>
          <a:prstGeom prst="rect">
            <a:avLst/>
          </a:prstGeom>
        </p:spPr>
        <p:txBody>
          <a:bodyPr lIns="0" tIns="0" rIns="0" bIns="0">
            <a:noAutofit/>
          </a:bodyPr>
          <a:lstStyle>
            <a:lvl1pPr marL="0" indent="0">
              <a:buNone/>
              <a:defRPr sz="1422" b="0">
                <a:solidFill>
                  <a:schemeClr val="tx2"/>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4"/>
            <a:ext cx="11277600" cy="334099"/>
          </a:xfrm>
          <a:prstGeom prst="rect">
            <a:avLst/>
          </a:prstGeom>
        </p:spPr>
        <p:txBody>
          <a:bodyPr vert="horz" lIns="0" tIns="0" rIns="0" bIns="0" rtlCol="0" anchor="t" anchorCtr="0">
            <a:noAutofit/>
          </a:bodyPr>
          <a:lstStyle>
            <a:lvl1pPr>
              <a:defRPr sz="1867">
                <a:latin typeface="+mj-lt"/>
              </a:defRPr>
            </a:lvl1pPr>
          </a:lstStyle>
          <a:p>
            <a:r>
              <a:rPr lang="en-US"/>
              <a:t>Click to add title</a:t>
            </a:r>
          </a:p>
        </p:txBody>
      </p:sp>
    </p:spTree>
    <p:extLst>
      <p:ext uri="{BB962C8B-B14F-4D97-AF65-F5344CB8AC3E}">
        <p14:creationId xmlns:p14="http://schemas.microsoft.com/office/powerpoint/2010/main" val="2060653429"/>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_Title: No Content">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4FF7658A-43FB-0B4D-86E1-500CE541A5C2}"/>
              </a:ext>
            </a:extLst>
          </p:cNvPr>
          <p:cNvSpPr>
            <a:spLocks noGrp="1"/>
          </p:cNvSpPr>
          <p:nvPr>
            <p:ph type="title" hasCustomPrompt="1"/>
          </p:nvPr>
        </p:nvSpPr>
        <p:spPr bwMode="gray">
          <a:xfrm>
            <a:off x="914400" y="279400"/>
            <a:ext cx="10325100" cy="787400"/>
          </a:xfrm>
          <a:prstGeom prst="rect">
            <a:avLst/>
          </a:prstGeom>
        </p:spPr>
        <p:txBody>
          <a:bodyPr vert="horz" lIns="0" tIns="0" rIns="0" bIns="0" rtlCol="0" anchor="b" anchorCtr="0">
            <a:noAutofit/>
          </a:bodyPr>
          <a:lstStyle/>
          <a:p>
            <a:r>
              <a:rPr lang="en-US" noProof="0"/>
              <a:t>Click to edit Master title s edit Master title style tyle</a:t>
            </a:r>
          </a:p>
        </p:txBody>
      </p:sp>
    </p:spTree>
    <p:extLst>
      <p:ext uri="{BB962C8B-B14F-4D97-AF65-F5344CB8AC3E}">
        <p14:creationId xmlns:p14="http://schemas.microsoft.com/office/powerpoint/2010/main" val="1708826622"/>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_Title and Subhead: 3 Column - Breadcrumbs">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D1FA0000-C94E-E149-9623-BD66BFB0643F}"/>
              </a:ext>
            </a:extLst>
          </p:cNvPr>
          <p:cNvSpPr>
            <a:spLocks noGrp="1"/>
          </p:cNvSpPr>
          <p:nvPr>
            <p:ph type="title" hasCustomPrompt="1"/>
          </p:nvPr>
        </p:nvSpPr>
        <p:spPr bwMode="gray">
          <a:xfrm>
            <a:off x="914400" y="812800"/>
            <a:ext cx="10325100" cy="787400"/>
          </a:xfrm>
          <a:prstGeom prst="rect">
            <a:avLst/>
          </a:prstGeom>
        </p:spPr>
        <p:txBody>
          <a:bodyPr vert="horz" lIns="0" tIns="0" rIns="0" bIns="0" rtlCol="0" anchor="b" anchorCtr="0">
            <a:noAutofit/>
          </a:bodyPr>
          <a:lstStyle/>
          <a:p>
            <a:r>
              <a:rPr lang="en-US" noProof="0"/>
              <a:t>Click to edit Master title s edit Master title style tyle</a:t>
            </a:r>
          </a:p>
        </p:txBody>
      </p:sp>
      <p:sp>
        <p:nvSpPr>
          <p:cNvPr id="13" name="Text Placeholder 7">
            <a:extLst>
              <a:ext uri="{FF2B5EF4-FFF2-40B4-BE49-F238E27FC236}">
                <a16:creationId xmlns:a16="http://schemas.microsoft.com/office/drawing/2014/main" id="{A8B5101F-02F4-F644-B829-A903E6C5AF82}"/>
              </a:ext>
            </a:extLst>
          </p:cNvPr>
          <p:cNvSpPr>
            <a:spLocks noGrp="1"/>
          </p:cNvSpPr>
          <p:nvPr>
            <p:ph type="body" sz="quarter" idx="17" hasCustomPrompt="1"/>
          </p:nvPr>
        </p:nvSpPr>
        <p:spPr>
          <a:xfrm>
            <a:off x="914400" y="1724535"/>
            <a:ext cx="9296400" cy="584200"/>
          </a:xfrm>
        </p:spPr>
        <p:txBody>
          <a:bodyPr>
            <a:noAutofit/>
          </a:bodyPr>
          <a:lstStyle>
            <a:lvl1pPr marL="0" marR="0" indent="0" algn="l" defTabSz="914400" rtl="0" eaLnBrk="1" fontAlgn="auto" latinLnBrk="0" hangingPunct="1">
              <a:lnSpc>
                <a:spcPct val="120000"/>
              </a:lnSpc>
              <a:spcBef>
                <a:spcPts val="0"/>
              </a:spcBef>
              <a:spcAft>
                <a:spcPts val="0"/>
              </a:spcAft>
              <a:buClrTx/>
              <a:buSzTx/>
              <a:buFontTx/>
              <a:buNone/>
              <a:tabLst/>
              <a:defRPr sz="1100"/>
            </a:lvl1pPr>
          </a:lstStyle>
          <a:p>
            <a:pPr lvl="0"/>
            <a:r>
              <a:rPr lang="en-US"/>
              <a:t>2 lines running intro text. Morbi </a:t>
            </a:r>
            <a:r>
              <a:rPr lang="en-US" err="1"/>
              <a:t>leo</a:t>
            </a:r>
            <a:r>
              <a:rPr lang="en-US"/>
              <a:t> </a:t>
            </a:r>
            <a:r>
              <a:rPr lang="en-US" err="1"/>
              <a:t>risus</a:t>
            </a:r>
            <a:r>
              <a:rPr lang="en-US"/>
              <a:t>, porta ac </a:t>
            </a:r>
            <a:r>
              <a:rPr lang="en-US" err="1"/>
              <a:t>consectetur</a:t>
            </a:r>
            <a:r>
              <a:rPr lang="en-US"/>
              <a:t> ac, vestibulum at eros. Donec sed </a:t>
            </a:r>
            <a:r>
              <a:rPr lang="en-US" err="1"/>
              <a:t>odio</a:t>
            </a:r>
            <a:r>
              <a:rPr lang="en-US"/>
              <a:t> dui. </a:t>
            </a:r>
            <a:r>
              <a:rPr lang="en-US" err="1"/>
              <a:t>Praesent</a:t>
            </a:r>
            <a:r>
              <a:rPr lang="en-US"/>
              <a:t> </a:t>
            </a:r>
            <a:r>
              <a:rPr lang="en-US" err="1"/>
              <a:t>commodo</a:t>
            </a:r>
            <a:r>
              <a:rPr lang="en-US"/>
              <a:t> cursus magna, vel </a:t>
            </a:r>
            <a:r>
              <a:rPr lang="en-US" err="1"/>
              <a:t>scelerisque</a:t>
            </a:r>
            <a:r>
              <a:rPr lang="en-US"/>
              <a:t> </a:t>
            </a:r>
            <a:r>
              <a:rPr lang="en-US" err="1"/>
              <a:t>nisl</a:t>
            </a:r>
            <a:r>
              <a:rPr lang="en-US"/>
              <a:t> </a:t>
            </a:r>
            <a:r>
              <a:rPr lang="en-US" err="1"/>
              <a:t>consectetur</a:t>
            </a:r>
            <a:r>
              <a:rPr lang="en-US"/>
              <a:t> et. Sed </a:t>
            </a:r>
            <a:r>
              <a:rPr lang="en-US" err="1"/>
              <a:t>posuere</a:t>
            </a:r>
            <a:r>
              <a:rPr lang="en-US"/>
              <a:t> </a:t>
            </a:r>
            <a:r>
              <a:rPr lang="en-US" err="1"/>
              <a:t>consectetur</a:t>
            </a:r>
            <a:r>
              <a:rPr lang="en-US"/>
              <a:t> </a:t>
            </a:r>
            <a:r>
              <a:rPr lang="en-US" err="1"/>
              <a:t>est</a:t>
            </a:r>
            <a:r>
              <a:rPr lang="en-US"/>
              <a:t> at </a:t>
            </a:r>
            <a:r>
              <a:rPr lang="en-US" err="1"/>
              <a:t>lobortis</a:t>
            </a:r>
            <a:r>
              <a:rPr lang="en-US"/>
              <a:t>.</a:t>
            </a:r>
          </a:p>
        </p:txBody>
      </p:sp>
      <p:sp>
        <p:nvSpPr>
          <p:cNvPr id="3" name="Text Placeholder 2">
            <a:extLst>
              <a:ext uri="{FF2B5EF4-FFF2-40B4-BE49-F238E27FC236}">
                <a16:creationId xmlns:a16="http://schemas.microsoft.com/office/drawing/2014/main" id="{9A91C994-DD05-CB44-8508-2A07253626FD}"/>
              </a:ext>
            </a:extLst>
          </p:cNvPr>
          <p:cNvSpPr>
            <a:spLocks noGrp="1"/>
          </p:cNvSpPr>
          <p:nvPr>
            <p:ph type="body" sz="quarter" idx="18" hasCustomPrompt="1"/>
          </p:nvPr>
        </p:nvSpPr>
        <p:spPr>
          <a:xfrm>
            <a:off x="914399" y="2675965"/>
            <a:ext cx="3092823" cy="3321610"/>
          </a:xfrm>
        </p:spPr>
        <p:txBody>
          <a:bodyPr/>
          <a:lstStyle>
            <a:lvl1pPr>
              <a:defRPr sz="1000">
                <a:latin typeface="+mn-lt"/>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lvl="0"/>
            <a:r>
              <a:rPr lang="en-US"/>
              <a:t>Felis </a:t>
            </a:r>
            <a:r>
              <a:rPr lang="en-US" err="1"/>
              <a:t>blandit</a:t>
            </a:r>
            <a:r>
              <a:rPr lang="en-US"/>
              <a:t> cursus</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urna</a:t>
            </a:r>
            <a:r>
              <a:rPr lang="en-US"/>
              <a:t> </a:t>
            </a:r>
            <a:r>
              <a:rPr lang="en-US" err="1"/>
              <a:t>consequat</a:t>
            </a:r>
            <a:r>
              <a:rPr lang="en-US"/>
              <a:t> </a:t>
            </a:r>
            <a:r>
              <a:rPr lang="en-US" err="1"/>
              <a:t>felis</a:t>
            </a:r>
            <a:r>
              <a:rPr lang="en-US"/>
              <a:t> </a:t>
            </a:r>
            <a:r>
              <a:rPr lang="en-US" err="1"/>
              <a:t>vehicula</a:t>
            </a:r>
            <a:r>
              <a:rPr lang="en-US"/>
              <a:t> class </a:t>
            </a:r>
            <a:r>
              <a:rPr lang="en-US" err="1"/>
              <a:t>ultricies</a:t>
            </a:r>
            <a:r>
              <a:rPr lang="en-US"/>
              <a:t> </a:t>
            </a:r>
            <a:r>
              <a:rPr lang="en-US" err="1"/>
              <a:t>mollis</a:t>
            </a:r>
            <a:r>
              <a:rPr lang="en-US"/>
              <a:t> </a:t>
            </a:r>
            <a:r>
              <a:rPr lang="en-US" err="1"/>
              <a:t>dictumst</a:t>
            </a:r>
            <a:r>
              <a:rPr lang="en-US"/>
              <a:t>, </a:t>
            </a:r>
            <a:r>
              <a:rPr lang="en-US" err="1"/>
              <a:t>aenean</a:t>
            </a:r>
            <a:r>
              <a:rPr lang="en-US"/>
              <a:t> non a in </a:t>
            </a:r>
            <a:r>
              <a:rPr lang="en-US" err="1"/>
              <a:t>donec</a:t>
            </a:r>
            <a:r>
              <a:rPr lang="en-US"/>
              <a:t> </a:t>
            </a:r>
            <a:r>
              <a:rPr lang="en-US" err="1"/>
              <a:t>nulla.Etu</a:t>
            </a:r>
            <a:r>
              <a:rPr lang="en-US"/>
              <a:t> </a:t>
            </a:r>
            <a:r>
              <a:rPr lang="en-US" err="1"/>
              <a:t>phasellus</a:t>
            </a:r>
            <a:r>
              <a:rPr lang="en-US"/>
              <a:t> ante </a:t>
            </a:r>
            <a:r>
              <a:rPr lang="en-US" err="1"/>
              <a:t>pellentesque</a:t>
            </a:r>
            <a:r>
              <a:rPr lang="en-US"/>
              <a:t> </a:t>
            </a:r>
            <a:r>
              <a:rPr lang="en-US" err="1"/>
              <a:t>erat</a:t>
            </a:r>
            <a:r>
              <a:rPr lang="en-US"/>
              <a:t> cum </a:t>
            </a:r>
            <a:r>
              <a:rPr lang="en-US" err="1"/>
              <a:t>risus</a:t>
            </a:r>
            <a:r>
              <a:rPr lang="en-US"/>
              <a:t> dolor </a:t>
            </a:r>
            <a:r>
              <a:rPr lang="en-US" err="1"/>
              <a:t>consequat</a:t>
            </a:r>
            <a:r>
              <a:rPr lang="en-US"/>
              <a:t> </a:t>
            </a:r>
            <a:r>
              <a:rPr lang="en-US" err="1"/>
              <a:t>imperdiet</a:t>
            </a:r>
            <a:r>
              <a:rPr lang="en-US"/>
              <a:t> </a:t>
            </a:r>
            <a:r>
              <a:rPr lang="en-US" err="1"/>
              <a:t>aliquam</a:t>
            </a:r>
            <a:r>
              <a:rPr lang="en-US"/>
              <a:t>, integer </a:t>
            </a:r>
            <a:r>
              <a:rPr lang="en-US" err="1"/>
              <a:t>placerat</a:t>
            </a:r>
            <a:r>
              <a:rPr lang="en-US"/>
              <a:t> et </a:t>
            </a:r>
            <a:r>
              <a:rPr lang="en-US" err="1"/>
              <a:t>turpis</a:t>
            </a:r>
            <a:r>
              <a:rPr lang="en-US"/>
              <a:t> mi eros </a:t>
            </a:r>
            <a:r>
              <a:rPr lang="en-US" err="1"/>
              <a:t>nec</a:t>
            </a:r>
            <a:r>
              <a:rPr lang="en-US"/>
              <a:t> </a:t>
            </a:r>
            <a:r>
              <a:rPr lang="en-US" err="1"/>
              <a:t>lobortis</a:t>
            </a:r>
            <a:r>
              <a:rPr lang="en-US"/>
              <a:t> </a:t>
            </a:r>
            <a:r>
              <a:rPr lang="en-US" err="1"/>
              <a:t>taciti</a:t>
            </a:r>
            <a:r>
              <a:rPr lang="en-US"/>
              <a:t>, </a:t>
            </a:r>
            <a:r>
              <a:rPr lang="en-US" err="1"/>
              <a:t>vehicula</a:t>
            </a:r>
            <a:r>
              <a:rPr lang="en-US"/>
              <a:t> </a:t>
            </a:r>
            <a:r>
              <a:rPr lang="en-US" err="1"/>
              <a:t>nisl</a:t>
            </a:r>
            <a:r>
              <a:rPr lang="en-US"/>
              <a:t> </a:t>
            </a:r>
            <a:r>
              <a:rPr lang="en-US" err="1"/>
              <a:t>litora</a:t>
            </a:r>
            <a:r>
              <a:rPr lang="en-US"/>
              <a:t> </a:t>
            </a:r>
            <a:r>
              <a:rPr lang="en-US" err="1"/>
              <a:t>tellus</a:t>
            </a:r>
            <a:r>
              <a:rPr lang="en-US"/>
              <a:t> ligula </a:t>
            </a:r>
            <a:r>
              <a:rPr lang="en-US" err="1"/>
              <a:t>porttitor</a:t>
            </a:r>
            <a:r>
              <a:rPr lang="en-US"/>
              <a:t> </a:t>
            </a:r>
            <a:r>
              <a:rPr lang="en-US" err="1"/>
              <a:t>metus</a:t>
            </a:r>
            <a:r>
              <a:rPr lang="en-US"/>
              <a:t>.</a:t>
            </a:r>
          </a:p>
          <a:p>
            <a:pPr lvl="0"/>
            <a:r>
              <a:rPr lang="en-US" err="1"/>
              <a:t>Mollis</a:t>
            </a:r>
            <a:r>
              <a:rPr lang="en-US"/>
              <a:t> </a:t>
            </a:r>
            <a:r>
              <a:rPr lang="en-US" err="1"/>
              <a:t>pretium</a:t>
            </a:r>
            <a:r>
              <a:rPr lang="en-US"/>
              <a:t> lorem </a:t>
            </a:r>
            <a:r>
              <a:rPr lang="en-US" err="1"/>
              <a:t>primisetua</a:t>
            </a:r>
            <a:r>
              <a:rPr lang="en-US"/>
              <a:t>, </a:t>
            </a:r>
            <a:r>
              <a:rPr lang="en-US" err="1"/>
              <a:t>senectus</a:t>
            </a:r>
            <a:r>
              <a:rPr lang="en-US"/>
              <a:t> </a:t>
            </a:r>
            <a:r>
              <a:rPr lang="en-US" err="1"/>
              <a:t>habitasse</a:t>
            </a:r>
            <a:r>
              <a:rPr lang="en-US"/>
              <a:t> </a:t>
            </a:r>
            <a:r>
              <a:rPr lang="en-US" err="1"/>
              <a:t>lectusetu</a:t>
            </a:r>
            <a:r>
              <a:rPr lang="en-US"/>
              <a:t> </a:t>
            </a:r>
            <a:r>
              <a:rPr lang="en-US" err="1"/>
              <a:t>doler</a:t>
            </a:r>
            <a:r>
              <a:rPr lang="en-US"/>
              <a:t> </a:t>
            </a:r>
            <a:r>
              <a:rPr lang="en-US" err="1"/>
              <a:t>scelerisque</a:t>
            </a:r>
            <a:r>
              <a:rPr lang="en-US"/>
              <a:t> </a:t>
            </a:r>
            <a:r>
              <a:rPr lang="en-US" err="1"/>
              <a:t>donec</a:t>
            </a:r>
            <a:r>
              <a:rPr lang="en-US"/>
              <a:t>, </a:t>
            </a:r>
            <a:r>
              <a:rPr lang="en-US" err="1"/>
              <a:t>ultricies</a:t>
            </a:r>
            <a:r>
              <a:rPr lang="en-US"/>
              <a:t> </a:t>
            </a:r>
            <a:r>
              <a:rPr lang="en-US" err="1"/>
              <a:t>tortor</a:t>
            </a:r>
            <a:r>
              <a:rPr lang="en-US"/>
              <a:t> </a:t>
            </a:r>
            <a:r>
              <a:rPr lang="en-US" err="1"/>
              <a:t>suspendisse</a:t>
            </a:r>
            <a:r>
              <a:rPr lang="en-US"/>
              <a:t> </a:t>
            </a:r>
            <a:r>
              <a:rPr lang="en-US" err="1"/>
              <a:t>adipiscing</a:t>
            </a:r>
            <a:r>
              <a:rPr lang="en-US"/>
              <a:t> </a:t>
            </a:r>
            <a:r>
              <a:rPr lang="en-US" err="1"/>
              <a:t>fusce</a:t>
            </a:r>
            <a:r>
              <a:rPr lang="en-US"/>
              <a:t> </a:t>
            </a:r>
            <a:r>
              <a:rPr lang="en-US" err="1"/>
              <a:t>morbi</a:t>
            </a:r>
            <a:r>
              <a:rPr lang="en-US"/>
              <a:t> </a:t>
            </a:r>
            <a:r>
              <a:rPr lang="en-US" err="1"/>
              <a:t>volutpat</a:t>
            </a:r>
            <a:r>
              <a:rPr lang="en-US"/>
              <a:t> </a:t>
            </a:r>
            <a:r>
              <a:rPr lang="en-US" err="1"/>
              <a:t>pellentesque</a:t>
            </a:r>
            <a:r>
              <a:rPr lang="en-US"/>
              <a:t>, </a:t>
            </a:r>
            <a:r>
              <a:rPr lang="en-US" err="1"/>
              <a:t>consectetur</a:t>
            </a:r>
            <a:r>
              <a:rPr lang="en-US"/>
              <a:t> mi </a:t>
            </a:r>
            <a:r>
              <a:rPr lang="en-US" err="1"/>
              <a:t>risus</a:t>
            </a:r>
            <a:r>
              <a:rPr lang="en-US"/>
              <a:t> </a:t>
            </a:r>
            <a:r>
              <a:rPr lang="en-US" err="1"/>
              <a:t>molestie</a:t>
            </a:r>
            <a:r>
              <a:rPr lang="en-US"/>
              <a:t> </a:t>
            </a:r>
            <a:r>
              <a:rPr lang="en-US" err="1"/>
              <a:t>curae</a:t>
            </a:r>
            <a:r>
              <a:rPr lang="en-US"/>
              <a:t> </a:t>
            </a:r>
            <a:r>
              <a:rPr lang="en-US" err="1"/>
              <a:t>malesuada</a:t>
            </a:r>
            <a:r>
              <a:rPr lang="en-US"/>
              <a:t>. Massa </a:t>
            </a:r>
            <a:r>
              <a:rPr lang="en-US" err="1"/>
              <a:t>curae</a:t>
            </a:r>
            <a:r>
              <a:rPr lang="en-US"/>
              <a:t> </a:t>
            </a:r>
            <a:r>
              <a:rPr lang="en-US" err="1"/>
              <a:t>fringilla</a:t>
            </a:r>
            <a:r>
              <a:rPr lang="en-US"/>
              <a:t> </a:t>
            </a:r>
            <a:r>
              <a:rPr lang="en-US" err="1"/>
              <a:t>porttitor</a:t>
            </a:r>
            <a:r>
              <a:rPr lang="en-US"/>
              <a:t> </a:t>
            </a:r>
            <a:r>
              <a:rPr lang="en-US" err="1"/>
              <a:t>quam</a:t>
            </a:r>
            <a:r>
              <a:rPr lang="en-US"/>
              <a:t> =</a:t>
            </a:r>
            <a:r>
              <a:rPr lang="en-US" err="1"/>
              <a:t>elit</a:t>
            </a:r>
            <a:r>
              <a:rPr lang="en-US"/>
              <a:t>, </a:t>
            </a:r>
            <a:r>
              <a:rPr lang="en-US" err="1"/>
              <a:t>urna</a:t>
            </a:r>
            <a:r>
              <a:rPr lang="en-US"/>
              <a:t> </a:t>
            </a:r>
            <a:r>
              <a:rPr lang="en-US" err="1"/>
              <a:t>consequat</a:t>
            </a:r>
            <a:r>
              <a:rPr lang="en-US"/>
              <a:t> </a:t>
            </a:r>
            <a:r>
              <a:rPr lang="en-US" err="1"/>
              <a:t>felis</a:t>
            </a:r>
            <a:r>
              <a:rPr lang="en-US"/>
              <a:t> </a:t>
            </a:r>
            <a:r>
              <a:rPr lang="en-US" err="1"/>
              <a:t>vehicula</a:t>
            </a:r>
            <a:r>
              <a:rPr lang="en-US"/>
              <a:t> class </a:t>
            </a:r>
            <a:r>
              <a:rPr lang="en-US" err="1"/>
              <a:t>ultricies</a:t>
            </a:r>
            <a:r>
              <a:rPr lang="en-US"/>
              <a:t> </a:t>
            </a:r>
            <a:r>
              <a:rPr lang="en-US" err="1"/>
              <a:t>mollis</a:t>
            </a:r>
            <a:r>
              <a:rPr lang="en-US"/>
              <a:t> </a:t>
            </a:r>
            <a:r>
              <a:rPr lang="en-US" err="1"/>
              <a:t>dictumst</a:t>
            </a:r>
            <a:r>
              <a:rPr lang="en-US"/>
              <a:t>, </a:t>
            </a:r>
            <a:r>
              <a:rPr lang="en-US" err="1"/>
              <a:t>aenean</a:t>
            </a:r>
            <a:r>
              <a:rPr lang="en-US"/>
              <a:t> non a in </a:t>
            </a:r>
            <a:r>
              <a:rPr lang="en-US" err="1"/>
              <a:t>donec</a:t>
            </a:r>
            <a:r>
              <a:rPr lang="en-US"/>
              <a:t> </a:t>
            </a:r>
            <a:r>
              <a:rPr lang="en-US" err="1"/>
              <a:t>nulla</a:t>
            </a:r>
            <a:r>
              <a:rPr lang="en-US"/>
              <a:t>.</a:t>
            </a:r>
          </a:p>
        </p:txBody>
      </p:sp>
      <p:sp>
        <p:nvSpPr>
          <p:cNvPr id="14" name="Text Placeholder 2">
            <a:extLst>
              <a:ext uri="{FF2B5EF4-FFF2-40B4-BE49-F238E27FC236}">
                <a16:creationId xmlns:a16="http://schemas.microsoft.com/office/drawing/2014/main" id="{62BE551D-14EE-544A-8F49-DE7C4E74B109}"/>
              </a:ext>
            </a:extLst>
          </p:cNvPr>
          <p:cNvSpPr>
            <a:spLocks noGrp="1"/>
          </p:cNvSpPr>
          <p:nvPr>
            <p:ph type="body" sz="quarter" idx="19" hasCustomPrompt="1"/>
          </p:nvPr>
        </p:nvSpPr>
        <p:spPr>
          <a:xfrm>
            <a:off x="4410635" y="2675965"/>
            <a:ext cx="3092823" cy="3321610"/>
          </a:xfrm>
        </p:spPr>
        <p:txBody>
          <a:bodyPr/>
          <a:lstStyle>
            <a:lvl1pPr>
              <a:defRPr sz="1000">
                <a:latin typeface="+mn-lt"/>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lvl="0"/>
            <a:r>
              <a:rPr lang="en-US"/>
              <a:t>Felis </a:t>
            </a:r>
            <a:r>
              <a:rPr lang="en-US" err="1"/>
              <a:t>blandit</a:t>
            </a:r>
            <a:r>
              <a:rPr lang="en-US"/>
              <a:t> cursus</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urna</a:t>
            </a:r>
            <a:r>
              <a:rPr lang="en-US"/>
              <a:t> </a:t>
            </a:r>
            <a:r>
              <a:rPr lang="en-US" err="1"/>
              <a:t>consequat</a:t>
            </a:r>
            <a:r>
              <a:rPr lang="en-US"/>
              <a:t> </a:t>
            </a:r>
            <a:r>
              <a:rPr lang="en-US" err="1"/>
              <a:t>felis</a:t>
            </a:r>
            <a:r>
              <a:rPr lang="en-US"/>
              <a:t> </a:t>
            </a:r>
            <a:r>
              <a:rPr lang="en-US" err="1"/>
              <a:t>vehicula</a:t>
            </a:r>
            <a:r>
              <a:rPr lang="en-US"/>
              <a:t> class </a:t>
            </a:r>
            <a:r>
              <a:rPr lang="en-US" err="1"/>
              <a:t>ultricies</a:t>
            </a:r>
            <a:r>
              <a:rPr lang="en-US"/>
              <a:t> </a:t>
            </a:r>
            <a:r>
              <a:rPr lang="en-US" err="1"/>
              <a:t>mollis</a:t>
            </a:r>
            <a:r>
              <a:rPr lang="en-US"/>
              <a:t> </a:t>
            </a:r>
            <a:r>
              <a:rPr lang="en-US" err="1"/>
              <a:t>dictumst</a:t>
            </a:r>
            <a:r>
              <a:rPr lang="en-US"/>
              <a:t>, </a:t>
            </a:r>
            <a:r>
              <a:rPr lang="en-US" err="1"/>
              <a:t>aenean</a:t>
            </a:r>
            <a:r>
              <a:rPr lang="en-US"/>
              <a:t> non a in </a:t>
            </a:r>
            <a:r>
              <a:rPr lang="en-US" err="1"/>
              <a:t>donec</a:t>
            </a:r>
            <a:r>
              <a:rPr lang="en-US"/>
              <a:t> </a:t>
            </a:r>
            <a:r>
              <a:rPr lang="en-US" err="1"/>
              <a:t>nulla.Etu</a:t>
            </a:r>
            <a:r>
              <a:rPr lang="en-US"/>
              <a:t> </a:t>
            </a:r>
            <a:r>
              <a:rPr lang="en-US" err="1"/>
              <a:t>phasellus</a:t>
            </a:r>
            <a:r>
              <a:rPr lang="en-US"/>
              <a:t> ante </a:t>
            </a:r>
            <a:r>
              <a:rPr lang="en-US" err="1"/>
              <a:t>pellentesque</a:t>
            </a:r>
            <a:r>
              <a:rPr lang="en-US"/>
              <a:t> </a:t>
            </a:r>
            <a:r>
              <a:rPr lang="en-US" err="1"/>
              <a:t>erat</a:t>
            </a:r>
            <a:r>
              <a:rPr lang="en-US"/>
              <a:t> cum </a:t>
            </a:r>
            <a:r>
              <a:rPr lang="en-US" err="1"/>
              <a:t>risus</a:t>
            </a:r>
            <a:r>
              <a:rPr lang="en-US"/>
              <a:t> dolor </a:t>
            </a:r>
            <a:r>
              <a:rPr lang="en-US" err="1"/>
              <a:t>consequat</a:t>
            </a:r>
            <a:r>
              <a:rPr lang="en-US"/>
              <a:t> </a:t>
            </a:r>
            <a:r>
              <a:rPr lang="en-US" err="1"/>
              <a:t>imperdiet</a:t>
            </a:r>
            <a:r>
              <a:rPr lang="en-US"/>
              <a:t> </a:t>
            </a:r>
            <a:r>
              <a:rPr lang="en-US" err="1"/>
              <a:t>aliquam</a:t>
            </a:r>
            <a:r>
              <a:rPr lang="en-US"/>
              <a:t>, integer </a:t>
            </a:r>
            <a:r>
              <a:rPr lang="en-US" err="1"/>
              <a:t>placerat</a:t>
            </a:r>
            <a:r>
              <a:rPr lang="en-US"/>
              <a:t> et </a:t>
            </a:r>
            <a:r>
              <a:rPr lang="en-US" err="1"/>
              <a:t>turpis</a:t>
            </a:r>
            <a:r>
              <a:rPr lang="en-US"/>
              <a:t> mi eros </a:t>
            </a:r>
            <a:r>
              <a:rPr lang="en-US" err="1"/>
              <a:t>nec</a:t>
            </a:r>
            <a:r>
              <a:rPr lang="en-US"/>
              <a:t> </a:t>
            </a:r>
            <a:r>
              <a:rPr lang="en-US" err="1"/>
              <a:t>lobortis</a:t>
            </a:r>
            <a:r>
              <a:rPr lang="en-US"/>
              <a:t> </a:t>
            </a:r>
            <a:r>
              <a:rPr lang="en-US" err="1"/>
              <a:t>taciti</a:t>
            </a:r>
            <a:r>
              <a:rPr lang="en-US"/>
              <a:t>, </a:t>
            </a:r>
            <a:r>
              <a:rPr lang="en-US" err="1"/>
              <a:t>vehicula</a:t>
            </a:r>
            <a:r>
              <a:rPr lang="en-US"/>
              <a:t> </a:t>
            </a:r>
            <a:r>
              <a:rPr lang="en-US" err="1"/>
              <a:t>nisl</a:t>
            </a:r>
            <a:r>
              <a:rPr lang="en-US"/>
              <a:t> </a:t>
            </a:r>
            <a:r>
              <a:rPr lang="en-US" err="1"/>
              <a:t>litora</a:t>
            </a:r>
            <a:r>
              <a:rPr lang="en-US"/>
              <a:t> </a:t>
            </a:r>
            <a:r>
              <a:rPr lang="en-US" err="1"/>
              <a:t>tellus</a:t>
            </a:r>
            <a:r>
              <a:rPr lang="en-US"/>
              <a:t> ligula </a:t>
            </a:r>
            <a:r>
              <a:rPr lang="en-US" err="1"/>
              <a:t>porttitor</a:t>
            </a:r>
            <a:r>
              <a:rPr lang="en-US"/>
              <a:t> </a:t>
            </a:r>
            <a:r>
              <a:rPr lang="en-US" err="1"/>
              <a:t>metus</a:t>
            </a:r>
            <a:r>
              <a:rPr lang="en-US"/>
              <a:t>.</a:t>
            </a:r>
          </a:p>
          <a:p>
            <a:pPr lvl="0"/>
            <a:r>
              <a:rPr lang="en-US" err="1"/>
              <a:t>Mollis</a:t>
            </a:r>
            <a:r>
              <a:rPr lang="en-US"/>
              <a:t> </a:t>
            </a:r>
            <a:r>
              <a:rPr lang="en-US" err="1"/>
              <a:t>pretium</a:t>
            </a:r>
            <a:r>
              <a:rPr lang="en-US"/>
              <a:t> lorem </a:t>
            </a:r>
            <a:r>
              <a:rPr lang="en-US" err="1"/>
              <a:t>primisetua</a:t>
            </a:r>
            <a:r>
              <a:rPr lang="en-US"/>
              <a:t>, </a:t>
            </a:r>
            <a:r>
              <a:rPr lang="en-US" err="1"/>
              <a:t>senectus</a:t>
            </a:r>
            <a:r>
              <a:rPr lang="en-US"/>
              <a:t> </a:t>
            </a:r>
            <a:r>
              <a:rPr lang="en-US" err="1"/>
              <a:t>habitasse</a:t>
            </a:r>
            <a:r>
              <a:rPr lang="en-US"/>
              <a:t> </a:t>
            </a:r>
            <a:r>
              <a:rPr lang="en-US" err="1"/>
              <a:t>lectusetu</a:t>
            </a:r>
            <a:r>
              <a:rPr lang="en-US"/>
              <a:t> </a:t>
            </a:r>
            <a:r>
              <a:rPr lang="en-US" err="1"/>
              <a:t>doler</a:t>
            </a:r>
            <a:r>
              <a:rPr lang="en-US"/>
              <a:t> </a:t>
            </a:r>
            <a:r>
              <a:rPr lang="en-US" err="1"/>
              <a:t>scelerisque</a:t>
            </a:r>
            <a:r>
              <a:rPr lang="en-US"/>
              <a:t> </a:t>
            </a:r>
            <a:r>
              <a:rPr lang="en-US" err="1"/>
              <a:t>donec</a:t>
            </a:r>
            <a:r>
              <a:rPr lang="en-US"/>
              <a:t>, </a:t>
            </a:r>
            <a:r>
              <a:rPr lang="en-US" err="1"/>
              <a:t>ultricies</a:t>
            </a:r>
            <a:r>
              <a:rPr lang="en-US"/>
              <a:t> </a:t>
            </a:r>
            <a:r>
              <a:rPr lang="en-US" err="1"/>
              <a:t>tortor</a:t>
            </a:r>
            <a:r>
              <a:rPr lang="en-US"/>
              <a:t> </a:t>
            </a:r>
            <a:r>
              <a:rPr lang="en-US" err="1"/>
              <a:t>suspendisse</a:t>
            </a:r>
            <a:r>
              <a:rPr lang="en-US"/>
              <a:t> </a:t>
            </a:r>
            <a:r>
              <a:rPr lang="en-US" err="1"/>
              <a:t>adipiscing</a:t>
            </a:r>
            <a:r>
              <a:rPr lang="en-US"/>
              <a:t> </a:t>
            </a:r>
            <a:r>
              <a:rPr lang="en-US" err="1"/>
              <a:t>fusce</a:t>
            </a:r>
            <a:r>
              <a:rPr lang="en-US"/>
              <a:t> </a:t>
            </a:r>
            <a:r>
              <a:rPr lang="en-US" err="1"/>
              <a:t>morbi</a:t>
            </a:r>
            <a:r>
              <a:rPr lang="en-US"/>
              <a:t> </a:t>
            </a:r>
            <a:r>
              <a:rPr lang="en-US" err="1"/>
              <a:t>volutpat</a:t>
            </a:r>
            <a:r>
              <a:rPr lang="en-US"/>
              <a:t> </a:t>
            </a:r>
            <a:r>
              <a:rPr lang="en-US" err="1"/>
              <a:t>pellentesque</a:t>
            </a:r>
            <a:r>
              <a:rPr lang="en-US"/>
              <a:t>, </a:t>
            </a:r>
            <a:r>
              <a:rPr lang="en-US" err="1"/>
              <a:t>consectetur</a:t>
            </a:r>
            <a:r>
              <a:rPr lang="en-US"/>
              <a:t> mi </a:t>
            </a:r>
            <a:r>
              <a:rPr lang="en-US" err="1"/>
              <a:t>risus</a:t>
            </a:r>
            <a:r>
              <a:rPr lang="en-US"/>
              <a:t> </a:t>
            </a:r>
            <a:r>
              <a:rPr lang="en-US" err="1"/>
              <a:t>molestie</a:t>
            </a:r>
            <a:r>
              <a:rPr lang="en-US"/>
              <a:t> </a:t>
            </a:r>
            <a:r>
              <a:rPr lang="en-US" err="1"/>
              <a:t>curae</a:t>
            </a:r>
            <a:r>
              <a:rPr lang="en-US"/>
              <a:t> </a:t>
            </a:r>
            <a:r>
              <a:rPr lang="en-US" err="1"/>
              <a:t>malesuada</a:t>
            </a:r>
            <a:r>
              <a:rPr lang="en-US"/>
              <a:t>. Massa </a:t>
            </a:r>
            <a:r>
              <a:rPr lang="en-US" err="1"/>
              <a:t>curae</a:t>
            </a:r>
            <a:r>
              <a:rPr lang="en-US"/>
              <a:t> </a:t>
            </a:r>
            <a:r>
              <a:rPr lang="en-US" err="1"/>
              <a:t>fringilla</a:t>
            </a:r>
            <a:r>
              <a:rPr lang="en-US"/>
              <a:t> </a:t>
            </a:r>
            <a:r>
              <a:rPr lang="en-US" err="1"/>
              <a:t>porttitor</a:t>
            </a:r>
            <a:r>
              <a:rPr lang="en-US"/>
              <a:t> </a:t>
            </a:r>
            <a:r>
              <a:rPr lang="en-US" err="1"/>
              <a:t>quam</a:t>
            </a:r>
            <a:r>
              <a:rPr lang="en-US"/>
              <a:t> =</a:t>
            </a:r>
            <a:r>
              <a:rPr lang="en-US" err="1"/>
              <a:t>elit</a:t>
            </a:r>
            <a:r>
              <a:rPr lang="en-US"/>
              <a:t>, </a:t>
            </a:r>
            <a:r>
              <a:rPr lang="en-US" err="1"/>
              <a:t>urna</a:t>
            </a:r>
            <a:r>
              <a:rPr lang="en-US"/>
              <a:t> </a:t>
            </a:r>
            <a:r>
              <a:rPr lang="en-US" err="1"/>
              <a:t>consequat</a:t>
            </a:r>
            <a:r>
              <a:rPr lang="en-US"/>
              <a:t> </a:t>
            </a:r>
            <a:r>
              <a:rPr lang="en-US" err="1"/>
              <a:t>felis</a:t>
            </a:r>
            <a:r>
              <a:rPr lang="en-US"/>
              <a:t> </a:t>
            </a:r>
            <a:r>
              <a:rPr lang="en-US" err="1"/>
              <a:t>vehicula</a:t>
            </a:r>
            <a:r>
              <a:rPr lang="en-US"/>
              <a:t> class </a:t>
            </a:r>
            <a:r>
              <a:rPr lang="en-US" err="1"/>
              <a:t>ultricies</a:t>
            </a:r>
            <a:r>
              <a:rPr lang="en-US"/>
              <a:t> </a:t>
            </a:r>
            <a:r>
              <a:rPr lang="en-US" err="1"/>
              <a:t>mollis</a:t>
            </a:r>
            <a:r>
              <a:rPr lang="en-US"/>
              <a:t> </a:t>
            </a:r>
            <a:r>
              <a:rPr lang="en-US" err="1"/>
              <a:t>dictumst</a:t>
            </a:r>
            <a:r>
              <a:rPr lang="en-US"/>
              <a:t>, </a:t>
            </a:r>
            <a:r>
              <a:rPr lang="en-US" err="1"/>
              <a:t>aenean</a:t>
            </a:r>
            <a:r>
              <a:rPr lang="en-US"/>
              <a:t> non a in </a:t>
            </a:r>
            <a:r>
              <a:rPr lang="en-US" err="1"/>
              <a:t>donec</a:t>
            </a:r>
            <a:r>
              <a:rPr lang="en-US"/>
              <a:t> </a:t>
            </a:r>
            <a:r>
              <a:rPr lang="en-US" err="1"/>
              <a:t>nulla</a:t>
            </a:r>
            <a:r>
              <a:rPr lang="en-US"/>
              <a:t>.</a:t>
            </a:r>
          </a:p>
        </p:txBody>
      </p:sp>
      <p:sp>
        <p:nvSpPr>
          <p:cNvPr id="18" name="Text Placeholder 2">
            <a:extLst>
              <a:ext uri="{FF2B5EF4-FFF2-40B4-BE49-F238E27FC236}">
                <a16:creationId xmlns:a16="http://schemas.microsoft.com/office/drawing/2014/main" id="{8F694449-2177-6F4F-978A-F254F736AAED}"/>
              </a:ext>
            </a:extLst>
          </p:cNvPr>
          <p:cNvSpPr>
            <a:spLocks noGrp="1"/>
          </p:cNvSpPr>
          <p:nvPr>
            <p:ph type="body" sz="quarter" idx="21" hasCustomPrompt="1"/>
          </p:nvPr>
        </p:nvSpPr>
        <p:spPr>
          <a:xfrm>
            <a:off x="7893423" y="2675965"/>
            <a:ext cx="3092823" cy="3321610"/>
          </a:xfrm>
        </p:spPr>
        <p:txBody>
          <a:bodyPr/>
          <a:lstStyle>
            <a:lvl1pPr>
              <a:defRPr sz="1000">
                <a:latin typeface="+mn-lt"/>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lvl="0"/>
            <a:r>
              <a:rPr lang="en-US"/>
              <a:t>Felis </a:t>
            </a:r>
            <a:r>
              <a:rPr lang="en-US" err="1"/>
              <a:t>blandit</a:t>
            </a:r>
            <a:r>
              <a:rPr lang="en-US"/>
              <a:t> cursus</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urna</a:t>
            </a:r>
            <a:r>
              <a:rPr lang="en-US"/>
              <a:t> </a:t>
            </a:r>
            <a:r>
              <a:rPr lang="en-US" err="1"/>
              <a:t>consequat</a:t>
            </a:r>
            <a:r>
              <a:rPr lang="en-US"/>
              <a:t> </a:t>
            </a:r>
            <a:r>
              <a:rPr lang="en-US" err="1"/>
              <a:t>felis</a:t>
            </a:r>
            <a:r>
              <a:rPr lang="en-US"/>
              <a:t> </a:t>
            </a:r>
            <a:r>
              <a:rPr lang="en-US" err="1"/>
              <a:t>vehicula</a:t>
            </a:r>
            <a:r>
              <a:rPr lang="en-US"/>
              <a:t> class </a:t>
            </a:r>
            <a:r>
              <a:rPr lang="en-US" err="1"/>
              <a:t>ultricies</a:t>
            </a:r>
            <a:r>
              <a:rPr lang="en-US"/>
              <a:t> </a:t>
            </a:r>
            <a:r>
              <a:rPr lang="en-US" err="1"/>
              <a:t>mollis</a:t>
            </a:r>
            <a:r>
              <a:rPr lang="en-US"/>
              <a:t> </a:t>
            </a:r>
            <a:r>
              <a:rPr lang="en-US" err="1"/>
              <a:t>dictumst</a:t>
            </a:r>
            <a:r>
              <a:rPr lang="en-US"/>
              <a:t>, </a:t>
            </a:r>
            <a:r>
              <a:rPr lang="en-US" err="1"/>
              <a:t>aenean</a:t>
            </a:r>
            <a:r>
              <a:rPr lang="en-US"/>
              <a:t> non a in </a:t>
            </a:r>
            <a:r>
              <a:rPr lang="en-US" err="1"/>
              <a:t>donec</a:t>
            </a:r>
            <a:r>
              <a:rPr lang="en-US"/>
              <a:t> </a:t>
            </a:r>
            <a:r>
              <a:rPr lang="en-US" err="1"/>
              <a:t>nulla.Etu</a:t>
            </a:r>
            <a:r>
              <a:rPr lang="en-US"/>
              <a:t> </a:t>
            </a:r>
            <a:r>
              <a:rPr lang="en-US" err="1"/>
              <a:t>phasellus</a:t>
            </a:r>
            <a:r>
              <a:rPr lang="en-US"/>
              <a:t> ante </a:t>
            </a:r>
            <a:r>
              <a:rPr lang="en-US" err="1"/>
              <a:t>pellentesque</a:t>
            </a:r>
            <a:r>
              <a:rPr lang="en-US"/>
              <a:t> </a:t>
            </a:r>
            <a:r>
              <a:rPr lang="en-US" err="1"/>
              <a:t>erat</a:t>
            </a:r>
            <a:r>
              <a:rPr lang="en-US"/>
              <a:t> cum </a:t>
            </a:r>
            <a:r>
              <a:rPr lang="en-US" err="1"/>
              <a:t>risus</a:t>
            </a:r>
            <a:r>
              <a:rPr lang="en-US"/>
              <a:t> dolor </a:t>
            </a:r>
            <a:r>
              <a:rPr lang="en-US" err="1"/>
              <a:t>consequat</a:t>
            </a:r>
            <a:r>
              <a:rPr lang="en-US"/>
              <a:t> </a:t>
            </a:r>
            <a:r>
              <a:rPr lang="en-US" err="1"/>
              <a:t>imperdiet</a:t>
            </a:r>
            <a:r>
              <a:rPr lang="en-US"/>
              <a:t> </a:t>
            </a:r>
            <a:r>
              <a:rPr lang="en-US" err="1"/>
              <a:t>aliquam</a:t>
            </a:r>
            <a:r>
              <a:rPr lang="en-US"/>
              <a:t>, integer </a:t>
            </a:r>
            <a:r>
              <a:rPr lang="en-US" err="1"/>
              <a:t>placerat</a:t>
            </a:r>
            <a:r>
              <a:rPr lang="en-US"/>
              <a:t> et </a:t>
            </a:r>
            <a:r>
              <a:rPr lang="en-US" err="1"/>
              <a:t>turpis</a:t>
            </a:r>
            <a:r>
              <a:rPr lang="en-US"/>
              <a:t> mi eros </a:t>
            </a:r>
            <a:r>
              <a:rPr lang="en-US" err="1"/>
              <a:t>nec</a:t>
            </a:r>
            <a:r>
              <a:rPr lang="en-US"/>
              <a:t> </a:t>
            </a:r>
            <a:r>
              <a:rPr lang="en-US" err="1"/>
              <a:t>lobortis</a:t>
            </a:r>
            <a:r>
              <a:rPr lang="en-US"/>
              <a:t> </a:t>
            </a:r>
            <a:r>
              <a:rPr lang="en-US" err="1"/>
              <a:t>taciti</a:t>
            </a:r>
            <a:r>
              <a:rPr lang="en-US"/>
              <a:t>, </a:t>
            </a:r>
            <a:r>
              <a:rPr lang="en-US" err="1"/>
              <a:t>vehicula</a:t>
            </a:r>
            <a:r>
              <a:rPr lang="en-US"/>
              <a:t> </a:t>
            </a:r>
            <a:r>
              <a:rPr lang="en-US" err="1"/>
              <a:t>nisl</a:t>
            </a:r>
            <a:r>
              <a:rPr lang="en-US"/>
              <a:t> </a:t>
            </a:r>
            <a:r>
              <a:rPr lang="en-US" err="1"/>
              <a:t>litora</a:t>
            </a:r>
            <a:r>
              <a:rPr lang="en-US"/>
              <a:t> </a:t>
            </a:r>
            <a:r>
              <a:rPr lang="en-US" err="1"/>
              <a:t>tellus</a:t>
            </a:r>
            <a:r>
              <a:rPr lang="en-US"/>
              <a:t> ligula </a:t>
            </a:r>
            <a:r>
              <a:rPr lang="en-US" err="1"/>
              <a:t>porttitor</a:t>
            </a:r>
            <a:r>
              <a:rPr lang="en-US"/>
              <a:t> </a:t>
            </a:r>
            <a:r>
              <a:rPr lang="en-US" err="1"/>
              <a:t>metus</a:t>
            </a:r>
            <a:r>
              <a:rPr lang="en-US"/>
              <a:t>.</a:t>
            </a:r>
          </a:p>
          <a:p>
            <a:pPr lvl="0"/>
            <a:r>
              <a:rPr lang="en-US" err="1"/>
              <a:t>Mollis</a:t>
            </a:r>
            <a:r>
              <a:rPr lang="en-US"/>
              <a:t> </a:t>
            </a:r>
            <a:r>
              <a:rPr lang="en-US" err="1"/>
              <a:t>pretium</a:t>
            </a:r>
            <a:r>
              <a:rPr lang="en-US"/>
              <a:t> lorem </a:t>
            </a:r>
            <a:r>
              <a:rPr lang="en-US" err="1"/>
              <a:t>primisetua</a:t>
            </a:r>
            <a:r>
              <a:rPr lang="en-US"/>
              <a:t>, </a:t>
            </a:r>
            <a:r>
              <a:rPr lang="en-US" err="1"/>
              <a:t>senectus</a:t>
            </a:r>
            <a:r>
              <a:rPr lang="en-US"/>
              <a:t> </a:t>
            </a:r>
            <a:r>
              <a:rPr lang="en-US" err="1"/>
              <a:t>habitasse</a:t>
            </a:r>
            <a:r>
              <a:rPr lang="en-US"/>
              <a:t> </a:t>
            </a:r>
            <a:r>
              <a:rPr lang="en-US" err="1"/>
              <a:t>lectusetu</a:t>
            </a:r>
            <a:r>
              <a:rPr lang="en-US"/>
              <a:t> </a:t>
            </a:r>
            <a:r>
              <a:rPr lang="en-US" err="1"/>
              <a:t>doler</a:t>
            </a:r>
            <a:r>
              <a:rPr lang="en-US"/>
              <a:t> </a:t>
            </a:r>
            <a:r>
              <a:rPr lang="en-US" err="1"/>
              <a:t>scelerisque</a:t>
            </a:r>
            <a:r>
              <a:rPr lang="en-US"/>
              <a:t> </a:t>
            </a:r>
            <a:r>
              <a:rPr lang="en-US" err="1"/>
              <a:t>donec</a:t>
            </a:r>
            <a:r>
              <a:rPr lang="en-US"/>
              <a:t>, </a:t>
            </a:r>
            <a:r>
              <a:rPr lang="en-US" err="1"/>
              <a:t>ultricies</a:t>
            </a:r>
            <a:r>
              <a:rPr lang="en-US"/>
              <a:t> </a:t>
            </a:r>
            <a:r>
              <a:rPr lang="en-US" err="1"/>
              <a:t>tortor</a:t>
            </a:r>
            <a:r>
              <a:rPr lang="en-US"/>
              <a:t> </a:t>
            </a:r>
            <a:r>
              <a:rPr lang="en-US" err="1"/>
              <a:t>suspendisse</a:t>
            </a:r>
            <a:r>
              <a:rPr lang="en-US"/>
              <a:t> </a:t>
            </a:r>
            <a:r>
              <a:rPr lang="en-US" err="1"/>
              <a:t>adipiscing</a:t>
            </a:r>
            <a:r>
              <a:rPr lang="en-US"/>
              <a:t> </a:t>
            </a:r>
            <a:r>
              <a:rPr lang="en-US" err="1"/>
              <a:t>fusce</a:t>
            </a:r>
            <a:r>
              <a:rPr lang="en-US"/>
              <a:t> </a:t>
            </a:r>
            <a:r>
              <a:rPr lang="en-US" err="1"/>
              <a:t>morbi</a:t>
            </a:r>
            <a:r>
              <a:rPr lang="en-US"/>
              <a:t> </a:t>
            </a:r>
            <a:r>
              <a:rPr lang="en-US" err="1"/>
              <a:t>volutpat</a:t>
            </a:r>
            <a:r>
              <a:rPr lang="en-US"/>
              <a:t> </a:t>
            </a:r>
            <a:r>
              <a:rPr lang="en-US" err="1"/>
              <a:t>pellentesque</a:t>
            </a:r>
            <a:r>
              <a:rPr lang="en-US"/>
              <a:t>, </a:t>
            </a:r>
            <a:r>
              <a:rPr lang="en-US" err="1"/>
              <a:t>consectetur</a:t>
            </a:r>
            <a:r>
              <a:rPr lang="en-US"/>
              <a:t> mi </a:t>
            </a:r>
            <a:r>
              <a:rPr lang="en-US" err="1"/>
              <a:t>risus</a:t>
            </a:r>
            <a:r>
              <a:rPr lang="en-US"/>
              <a:t> </a:t>
            </a:r>
            <a:r>
              <a:rPr lang="en-US" err="1"/>
              <a:t>molestie</a:t>
            </a:r>
            <a:r>
              <a:rPr lang="en-US"/>
              <a:t> </a:t>
            </a:r>
            <a:r>
              <a:rPr lang="en-US" err="1"/>
              <a:t>curae</a:t>
            </a:r>
            <a:r>
              <a:rPr lang="en-US"/>
              <a:t> </a:t>
            </a:r>
            <a:r>
              <a:rPr lang="en-US" err="1"/>
              <a:t>malesuada</a:t>
            </a:r>
            <a:r>
              <a:rPr lang="en-US"/>
              <a:t>. Massa </a:t>
            </a:r>
            <a:r>
              <a:rPr lang="en-US" err="1"/>
              <a:t>curae</a:t>
            </a:r>
            <a:r>
              <a:rPr lang="en-US"/>
              <a:t> </a:t>
            </a:r>
            <a:r>
              <a:rPr lang="en-US" err="1"/>
              <a:t>fringilla</a:t>
            </a:r>
            <a:r>
              <a:rPr lang="en-US"/>
              <a:t> </a:t>
            </a:r>
            <a:r>
              <a:rPr lang="en-US" err="1"/>
              <a:t>porttitor</a:t>
            </a:r>
            <a:r>
              <a:rPr lang="en-US"/>
              <a:t> </a:t>
            </a:r>
            <a:r>
              <a:rPr lang="en-US" err="1"/>
              <a:t>quam</a:t>
            </a:r>
            <a:r>
              <a:rPr lang="en-US"/>
              <a:t> =</a:t>
            </a:r>
            <a:r>
              <a:rPr lang="en-US" err="1"/>
              <a:t>elit</a:t>
            </a:r>
            <a:r>
              <a:rPr lang="en-US"/>
              <a:t>, </a:t>
            </a:r>
            <a:r>
              <a:rPr lang="en-US" err="1"/>
              <a:t>urna</a:t>
            </a:r>
            <a:r>
              <a:rPr lang="en-US"/>
              <a:t> </a:t>
            </a:r>
            <a:r>
              <a:rPr lang="en-US" err="1"/>
              <a:t>consequat</a:t>
            </a:r>
            <a:r>
              <a:rPr lang="en-US"/>
              <a:t> </a:t>
            </a:r>
            <a:r>
              <a:rPr lang="en-US" err="1"/>
              <a:t>felis</a:t>
            </a:r>
            <a:r>
              <a:rPr lang="en-US"/>
              <a:t> </a:t>
            </a:r>
            <a:r>
              <a:rPr lang="en-US" err="1"/>
              <a:t>vehicula</a:t>
            </a:r>
            <a:r>
              <a:rPr lang="en-US"/>
              <a:t> class </a:t>
            </a:r>
            <a:r>
              <a:rPr lang="en-US" err="1"/>
              <a:t>ultricies</a:t>
            </a:r>
            <a:r>
              <a:rPr lang="en-US"/>
              <a:t> </a:t>
            </a:r>
            <a:r>
              <a:rPr lang="en-US" err="1"/>
              <a:t>mollis</a:t>
            </a:r>
            <a:r>
              <a:rPr lang="en-US"/>
              <a:t> </a:t>
            </a:r>
            <a:r>
              <a:rPr lang="en-US" err="1"/>
              <a:t>dictumst</a:t>
            </a:r>
            <a:r>
              <a:rPr lang="en-US"/>
              <a:t>, </a:t>
            </a:r>
            <a:r>
              <a:rPr lang="en-US" err="1"/>
              <a:t>aenean</a:t>
            </a:r>
            <a:r>
              <a:rPr lang="en-US"/>
              <a:t> non a in </a:t>
            </a:r>
            <a:r>
              <a:rPr lang="en-US" err="1"/>
              <a:t>donec</a:t>
            </a:r>
            <a:r>
              <a:rPr lang="en-US"/>
              <a:t> </a:t>
            </a:r>
            <a:r>
              <a:rPr lang="en-US" err="1"/>
              <a:t>nulla</a:t>
            </a:r>
            <a:r>
              <a:rPr lang="en-US"/>
              <a:t>.</a:t>
            </a:r>
          </a:p>
        </p:txBody>
      </p:sp>
      <p:sp>
        <p:nvSpPr>
          <p:cNvPr id="19" name="Text Placeholder 2">
            <a:extLst>
              <a:ext uri="{FF2B5EF4-FFF2-40B4-BE49-F238E27FC236}">
                <a16:creationId xmlns:a16="http://schemas.microsoft.com/office/drawing/2014/main" id="{AA02C6BE-9131-7144-A89D-17B9B6BF1F0F}"/>
              </a:ext>
            </a:extLst>
          </p:cNvPr>
          <p:cNvSpPr>
            <a:spLocks noGrp="1"/>
          </p:cNvSpPr>
          <p:nvPr>
            <p:ph type="body" sz="quarter" idx="25" hasCustomPrompt="1"/>
          </p:nvPr>
        </p:nvSpPr>
        <p:spPr>
          <a:xfrm>
            <a:off x="926512" y="495992"/>
            <a:ext cx="569228" cy="139781"/>
          </a:xfrm>
        </p:spPr>
        <p:txBody>
          <a:bodyPr/>
          <a:lstStyle>
            <a:lvl1pPr>
              <a:lnSpc>
                <a:spcPct val="100000"/>
              </a:lnSpc>
              <a:spcAft>
                <a:spcPts val="0"/>
              </a:spcAft>
              <a:defRPr sz="700" b="1" cap="all" spc="100" baseline="0">
                <a:solidFill>
                  <a:schemeClr val="tx2"/>
                </a:solidFill>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00</a:t>
            </a:r>
          </a:p>
        </p:txBody>
      </p:sp>
      <p:sp>
        <p:nvSpPr>
          <p:cNvPr id="20" name="Text Placeholder 2">
            <a:extLst>
              <a:ext uri="{FF2B5EF4-FFF2-40B4-BE49-F238E27FC236}">
                <a16:creationId xmlns:a16="http://schemas.microsoft.com/office/drawing/2014/main" id="{E2674560-4F3C-1240-A50E-2F71A3F4C759}"/>
              </a:ext>
            </a:extLst>
          </p:cNvPr>
          <p:cNvSpPr>
            <a:spLocks noGrp="1"/>
          </p:cNvSpPr>
          <p:nvPr>
            <p:ph type="body" sz="quarter" idx="26" hasCustomPrompt="1"/>
          </p:nvPr>
        </p:nvSpPr>
        <p:spPr>
          <a:xfrm>
            <a:off x="1986247" y="495992"/>
            <a:ext cx="3488042" cy="139781"/>
          </a:xfrm>
        </p:spPr>
        <p:txBody>
          <a:bodyPr/>
          <a:lstStyle>
            <a:lvl1pPr>
              <a:lnSpc>
                <a:spcPct val="100000"/>
              </a:lnSpc>
              <a:spcAft>
                <a:spcPts val="0"/>
              </a:spcAft>
              <a:defRPr sz="700" b="1" cap="all" spc="150" baseline="0">
                <a:solidFill>
                  <a:schemeClr val="tx2"/>
                </a:solidFill>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DELOITTE DIGITAL</a:t>
            </a:r>
          </a:p>
        </p:txBody>
      </p:sp>
    </p:spTree>
    <p:extLst>
      <p:ext uri="{BB962C8B-B14F-4D97-AF65-F5344CB8AC3E}">
        <p14:creationId xmlns:p14="http://schemas.microsoft.com/office/powerpoint/2010/main" val="546012750"/>
      </p:ext>
    </p:extLst>
  </p:cSld>
  <p:clrMapOvr>
    <a:masterClrMapping/>
  </p:clrMapOvr>
  <p:transition/>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_Title, Subhea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53FA4AC-5C1A-48F1-8104-772492F66149}"/>
              </a:ext>
            </a:extLst>
          </p:cNvPr>
          <p:cNvSpPr>
            <a:spLocks noGrp="1"/>
          </p:cNvSpPr>
          <p:nvPr>
            <p:ph type="title"/>
          </p:nvPr>
        </p:nvSpPr>
        <p:spPr>
          <a:xfrm>
            <a:off x="596537" y="656744"/>
            <a:ext cx="11188700" cy="334099"/>
          </a:xfrm>
        </p:spPr>
        <p:txBody>
          <a:bodyPr vert="horz" lIns="0" tIns="0" rIns="0" bIns="0" rtlCol="0" anchor="t" anchorCtr="0">
            <a:noAutofit/>
          </a:bodyPr>
          <a:lstStyle>
            <a:lvl1pPr>
              <a:defRPr lang="en-US" sz="2800" spc="-100" baseline="0" noProof="0" dirty="0">
                <a:latin typeface="Chronicle Display Black" pitchFamily="50" charset="0"/>
                <a:ea typeface="Open Sans Light" panose="020B0306030504020204" pitchFamily="34" charset="0"/>
                <a:cs typeface="Open Sans Light" panose="020B0306030504020204" pitchFamily="34" charset="0"/>
              </a:defRPr>
            </a:lvl1pPr>
          </a:lstStyle>
          <a:p>
            <a:pPr lvl="0"/>
            <a:r>
              <a:rPr lang="en-US" noProof="0"/>
              <a:t>Click to edit Master title style</a:t>
            </a:r>
          </a:p>
        </p:txBody>
      </p:sp>
      <p:sp>
        <p:nvSpPr>
          <p:cNvPr id="12" name="Text Placeholder 5">
            <a:extLst>
              <a:ext uri="{FF2B5EF4-FFF2-40B4-BE49-F238E27FC236}">
                <a16:creationId xmlns:a16="http://schemas.microsoft.com/office/drawing/2014/main" id="{BFFD23B3-1E1F-4D17-A763-6EB7F23C66DA}"/>
              </a:ext>
            </a:extLst>
          </p:cNvPr>
          <p:cNvSpPr>
            <a:spLocks noGrp="1"/>
          </p:cNvSpPr>
          <p:nvPr>
            <p:ph type="body" sz="quarter" idx="15" hasCustomPrompt="1"/>
          </p:nvPr>
        </p:nvSpPr>
        <p:spPr>
          <a:xfrm>
            <a:off x="601545" y="443108"/>
            <a:ext cx="3553251" cy="203200"/>
          </a:xfrm>
          <a:prstGeom prst="rect">
            <a:avLst/>
          </a:prstGeom>
        </p:spPr>
        <p:txBody>
          <a:bodyPr vert="horz" lIns="0" tIns="0" rIns="0" bIns="0" rtlCol="0">
            <a:noAutofit/>
          </a:bodyPr>
          <a:lstStyle>
            <a:lvl1pPr marL="0" indent="0">
              <a:buNone/>
              <a:defRPr kumimoji="0" lang="en-US" sz="900" b="1" i="0" u="none" strike="noStrike" kern="0" cap="all" spc="250" normalizeH="0" baseline="0" dirty="0">
                <a:ln>
                  <a:noFill/>
                </a:ln>
                <a:solidFill>
                  <a:srgbClr val="787878">
                    <a:lumMod val="60000"/>
                    <a:lumOff val="40000"/>
                  </a:srgbClr>
                </a:solidFill>
                <a:effectLst/>
                <a:uLnTx/>
                <a:uFillTx/>
                <a:latin typeface="Open Sans"/>
                <a:ea typeface="Nexa Black" charset="0"/>
                <a:cs typeface="Nexa Black" charset="0"/>
              </a:defRPr>
            </a:lvl1pPr>
          </a:lstStyle>
          <a:p>
            <a:pPr marL="228600" marR="0" lvl="0" indent="-22860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lang="en-US"/>
              <a:t>BREADCRUMBS</a:t>
            </a:r>
          </a:p>
        </p:txBody>
      </p:sp>
    </p:spTree>
    <p:extLst>
      <p:ext uri="{BB962C8B-B14F-4D97-AF65-F5344CB8AC3E}">
        <p14:creationId xmlns:p14="http://schemas.microsoft.com/office/powerpoint/2010/main" val="3909812767"/>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Title_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0270183"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388991923"/>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FootLocker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81051" y="773152"/>
            <a:ext cx="11277600" cy="184666"/>
          </a:xfrm>
          <a:prstGeom prst="rect">
            <a:avLst/>
          </a:prstGeom>
        </p:spPr>
        <p:txBody>
          <a:bodyPr lIns="0" tIns="0" rIns="0" bIns="0">
            <a:spAutoFit/>
          </a:bodyPr>
          <a:lstStyle>
            <a:lvl1pPr marL="0" indent="0">
              <a:spcBef>
                <a:spcPts val="0"/>
              </a:spcBef>
              <a:spcAft>
                <a:spcPts val="0"/>
              </a:spcAft>
              <a:buNone/>
              <a:defRPr sz="1200" b="0">
                <a:solidFill>
                  <a:schemeClr val="bg1">
                    <a:lumMod val="50000"/>
                  </a:schemeClr>
                </a:solidFill>
              </a:defRPr>
            </a:lvl1pPr>
          </a:lstStyle>
          <a:p>
            <a:pPr lvl="0"/>
            <a:r>
              <a:rPr lang="en-US"/>
              <a:t>Click to add subtitle</a:t>
            </a:r>
          </a:p>
        </p:txBody>
      </p:sp>
      <p:sp>
        <p:nvSpPr>
          <p:cNvPr id="4" name="Text Placeholder 3">
            <a:extLst>
              <a:ext uri="{FF2B5EF4-FFF2-40B4-BE49-F238E27FC236}">
                <a16:creationId xmlns:a16="http://schemas.microsoft.com/office/drawing/2014/main" id="{03B6EB95-5395-7149-AC43-35C833153366}"/>
              </a:ext>
            </a:extLst>
          </p:cNvPr>
          <p:cNvSpPr>
            <a:spLocks noGrp="1"/>
          </p:cNvSpPr>
          <p:nvPr>
            <p:ph type="body" sz="quarter" idx="10"/>
          </p:nvPr>
        </p:nvSpPr>
        <p:spPr>
          <a:xfrm>
            <a:off x="481051" y="412789"/>
            <a:ext cx="11233150" cy="309563"/>
          </a:xfrm>
        </p:spPr>
        <p:txBody>
          <a:bodyPr/>
          <a:lstStyle>
            <a:lvl1pPr>
              <a:defRPr sz="2000" b="1">
                <a:latin typeface="Open Sans" panose="020B0606030504020204" pitchFamily="34" charset="0"/>
                <a:ea typeface="Open Sans" panose="020B0606030504020204" pitchFamily="34" charset="0"/>
                <a:cs typeface="Open Sans" panose="020B0606030504020204" pitchFamily="34" charset="0"/>
              </a:defRPr>
            </a:lvl1pPr>
            <a:lvl2pPr marL="0" indent="0">
              <a:buNone/>
              <a:defRPr sz="2000" b="1">
                <a:latin typeface="Open Sans" panose="020B0606030504020204" pitchFamily="34" charset="0"/>
                <a:ea typeface="Open Sans" panose="020B0606030504020204" pitchFamily="34" charset="0"/>
                <a:cs typeface="Open Sans" panose="020B0606030504020204" pitchFamily="34" charset="0"/>
              </a:defRPr>
            </a:lvl2pPr>
            <a:lvl3pPr>
              <a:defRPr sz="2000" b="1">
                <a:latin typeface="Open Sans" panose="020B0606030504020204" pitchFamily="34" charset="0"/>
                <a:ea typeface="Open Sans" panose="020B0606030504020204" pitchFamily="34" charset="0"/>
                <a:cs typeface="Open Sans" panose="020B0606030504020204" pitchFamily="34" charset="0"/>
              </a:defRPr>
            </a:lvl3pPr>
            <a:lvl4pPr>
              <a:defRPr sz="2000" b="1">
                <a:latin typeface="Open Sans" panose="020B0606030504020204" pitchFamily="34" charset="0"/>
                <a:ea typeface="Open Sans" panose="020B0606030504020204" pitchFamily="34" charset="0"/>
                <a:cs typeface="Open Sans" panose="020B0606030504020204" pitchFamily="34" charset="0"/>
              </a:defRPr>
            </a:lvl4pPr>
            <a:lvl5pPr>
              <a:defRPr sz="2000" b="1">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p:txBody>
      </p:sp>
    </p:spTree>
    <p:extLst>
      <p:ext uri="{BB962C8B-B14F-4D97-AF65-F5344CB8AC3E}">
        <p14:creationId xmlns:p14="http://schemas.microsoft.com/office/powerpoint/2010/main" val="1451771861"/>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AD2EBC6F-831C-033F-1EF3-B57867C15596}"/>
              </a:ext>
            </a:extLst>
          </p:cNvPr>
          <p:cNvSpPr>
            <a:spLocks noGrp="1"/>
          </p:cNvSpPr>
          <p:nvPr>
            <p:ph type="title" hasCustomPrompt="1"/>
          </p:nvPr>
        </p:nvSpPr>
        <p:spPr>
          <a:xfrm>
            <a:off x="742950" y="742950"/>
            <a:ext cx="10706100" cy="371475"/>
          </a:xfrm>
          <a:prstGeom prst="rect">
            <a:avLst/>
          </a:prstGeom>
        </p:spPr>
        <p:txBody>
          <a:bodyPr vert="horz" lIns="0" tIns="0" rIns="0" bIns="0" rtlCol="0" anchor="t" anchorCtr="0">
            <a:noAutofit/>
          </a:bodyPr>
          <a:lstStyle>
            <a:lvl1pPr>
              <a:defRPr sz="3600" b="0" i="0">
                <a:solidFill>
                  <a:srgbClr val="009A44"/>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Tree>
    <p:extLst>
      <p:ext uri="{BB962C8B-B14F-4D97-AF65-F5344CB8AC3E}">
        <p14:creationId xmlns:p14="http://schemas.microsoft.com/office/powerpoint/2010/main" val="4267928213"/>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Title, Subhead, Breadcrumb">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8CDA913-053B-41DE-91C7-CDD8D7B615FE}"/>
              </a:ext>
            </a:extLst>
          </p:cNvPr>
          <p:cNvSpPr>
            <a:spLocks noGrp="1"/>
          </p:cNvSpPr>
          <p:nvPr>
            <p:ph type="body" sz="quarter" idx="15" hasCustomPrompt="1"/>
          </p:nvPr>
        </p:nvSpPr>
        <p:spPr>
          <a:xfrm>
            <a:off x="469900" y="242268"/>
            <a:ext cx="11252200" cy="173038"/>
          </a:xfrm>
        </p:spPr>
        <p:txBody>
          <a:bodyPr anchor="b"/>
          <a:lstStyle>
            <a:lvl1pPr>
              <a:defRPr sz="1000" b="1" cap="all" spc="300" baseline="0">
                <a:solidFill>
                  <a:schemeClr val="bg1">
                    <a:lumMod val="65000"/>
                  </a:schemeClr>
                </a:solidFill>
                <a:latin typeface="Open Sans" panose="020B0606030504020204" pitchFamily="34" charset="0"/>
              </a:defRPr>
            </a:lvl1pPr>
          </a:lstStyle>
          <a:p>
            <a:pPr lvl="0"/>
            <a:r>
              <a:rPr lang="en-US"/>
              <a:t>CLICK TO EDIT BREADCRUMB</a:t>
            </a:r>
          </a:p>
        </p:txBody>
      </p:sp>
      <p:sp>
        <p:nvSpPr>
          <p:cNvPr id="6" name="Text Placeholder 8">
            <a:extLst>
              <a:ext uri="{FF2B5EF4-FFF2-40B4-BE49-F238E27FC236}">
                <a16:creationId xmlns:a16="http://schemas.microsoft.com/office/drawing/2014/main" id="{97460AE7-C41F-B742-A869-5900E2154F01}"/>
              </a:ext>
            </a:extLst>
          </p:cNvPr>
          <p:cNvSpPr>
            <a:spLocks noGrp="1"/>
          </p:cNvSpPr>
          <p:nvPr>
            <p:ph type="body" sz="quarter" idx="14"/>
          </p:nvPr>
        </p:nvSpPr>
        <p:spPr>
          <a:xfrm>
            <a:off x="469900" y="835067"/>
            <a:ext cx="11252200" cy="392111"/>
          </a:xfrm>
        </p:spPr>
        <p:txBody>
          <a:bodyPr vert="horz" lIns="0" tIns="0" rIns="0" bIns="0" rtlCol="0">
            <a:noAutofit/>
          </a:bodyPr>
          <a:lstStyle>
            <a:lvl1pPr marL="0" indent="0">
              <a:buNone/>
              <a:defRPr lang="en-US" sz="1200">
                <a:latin typeface="Open Sans" panose="020B0606030504020204" pitchFamily="34" charset="0"/>
              </a:defRPr>
            </a:lvl1pPr>
          </a:lstStyle>
          <a:p>
            <a:pPr marL="228600" lvl="0" indent="-228600">
              <a:lnSpc>
                <a:spcPct val="130000"/>
              </a:lnSpc>
            </a:pPr>
            <a:r>
              <a:rPr lang="en-US"/>
              <a:t>Click to edit Master text styles</a:t>
            </a:r>
          </a:p>
        </p:txBody>
      </p:sp>
      <p:sp>
        <p:nvSpPr>
          <p:cNvPr id="7" name="Title Placeholder 1">
            <a:extLst>
              <a:ext uri="{FF2B5EF4-FFF2-40B4-BE49-F238E27FC236}">
                <a16:creationId xmlns:a16="http://schemas.microsoft.com/office/drawing/2014/main" id="{F117C93D-60BC-C04D-874C-030B601BD595}"/>
              </a:ext>
            </a:extLst>
          </p:cNvPr>
          <p:cNvSpPr>
            <a:spLocks noGrp="1"/>
          </p:cNvSpPr>
          <p:nvPr>
            <p:ph type="title"/>
          </p:nvPr>
        </p:nvSpPr>
        <p:spPr bwMode="gray">
          <a:xfrm>
            <a:off x="459739" y="456863"/>
            <a:ext cx="11252200" cy="451866"/>
          </a:xfrm>
          <a:prstGeom prst="rect">
            <a:avLst/>
          </a:prstGeom>
        </p:spPr>
        <p:txBody>
          <a:bodyPr vert="horz" lIns="0" tIns="0" rIns="0" bIns="0" rtlCol="0" anchor="t" anchorCtr="0">
            <a:noAutofit/>
          </a:bodyPr>
          <a:lstStyle/>
          <a:p>
            <a:r>
              <a:rPr lang="en-US" noProof="0"/>
              <a:t>Click to edit Master title style</a:t>
            </a:r>
          </a:p>
        </p:txBody>
      </p:sp>
    </p:spTree>
    <p:extLst>
      <p:ext uri="{BB962C8B-B14F-4D97-AF65-F5344CB8AC3E}">
        <p14:creationId xmlns:p14="http://schemas.microsoft.com/office/powerpoint/2010/main" val="3077041832"/>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1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681352789"/>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Title,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Edit Master text styles</a:t>
            </a:r>
          </a:p>
        </p:txBody>
      </p:sp>
    </p:spTree>
    <p:extLst>
      <p:ext uri="{BB962C8B-B14F-4D97-AF65-F5344CB8AC3E}">
        <p14:creationId xmlns:p14="http://schemas.microsoft.com/office/powerpoint/2010/main" val="409246250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Title &amp; subtitle_Breadcrumb">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57200" y="792778"/>
            <a:ext cx="11277600" cy="215444"/>
          </a:xfrm>
          <a:prstGeom prst="rect">
            <a:avLst/>
          </a:prstGeom>
        </p:spPr>
        <p:txBody>
          <a:bodyPr lIns="0" tIns="0" rIns="0" bIns="0">
            <a:spAutoFit/>
          </a:bodyPr>
          <a:lstStyle>
            <a:lvl1pPr marL="0" indent="0">
              <a:spcBef>
                <a:spcPts val="0"/>
              </a:spcBef>
              <a:spcAft>
                <a:spcPts val="0"/>
              </a:spcAft>
              <a:buNone/>
              <a:defRPr sz="14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57200" y="399982"/>
            <a:ext cx="11277600" cy="338554"/>
          </a:xfrm>
          <a:prstGeom prst="rect">
            <a:avLst/>
          </a:prstGeom>
        </p:spPr>
        <p:txBody>
          <a:bodyPr vert="horz" lIns="0" tIns="0" rIns="0" bIns="0" rtlCol="0" anchor="t" anchorCtr="0">
            <a:spAutoFit/>
          </a:bodyPr>
          <a:lstStyle>
            <a:lvl1pPr>
              <a:spcBef>
                <a:spcPts val="0"/>
              </a:spcBef>
              <a:spcAft>
                <a:spcPts val="0"/>
              </a:spcAft>
              <a:defRPr sz="2200">
                <a:latin typeface="+mj-lt"/>
              </a:defRPr>
            </a:lvl1pPr>
          </a:lstStyle>
          <a:p>
            <a:r>
              <a:rPr lang="en-US"/>
              <a:t>Click to add title</a:t>
            </a:r>
          </a:p>
        </p:txBody>
      </p:sp>
      <p:sp>
        <p:nvSpPr>
          <p:cNvPr id="5" name="Text Placeholder 4">
            <a:extLst>
              <a:ext uri="{FF2B5EF4-FFF2-40B4-BE49-F238E27FC236}">
                <a16:creationId xmlns:a16="http://schemas.microsoft.com/office/drawing/2014/main" id="{D57B9B88-77D4-4F38-94DA-086F90E002B8}"/>
              </a:ext>
            </a:extLst>
          </p:cNvPr>
          <p:cNvSpPr>
            <a:spLocks noGrp="1"/>
          </p:cNvSpPr>
          <p:nvPr>
            <p:ph type="body" sz="quarter" idx="14" hasCustomPrompt="1"/>
          </p:nvPr>
        </p:nvSpPr>
        <p:spPr>
          <a:xfrm>
            <a:off x="457200" y="176892"/>
            <a:ext cx="5627687" cy="138499"/>
          </a:xfrm>
          <a:prstGeom prst="rect">
            <a:avLst/>
          </a:prstGeom>
        </p:spPr>
        <p:txBody>
          <a:bodyPr wrap="square" lIns="0" tIns="0" rIns="0" bIns="0">
            <a:spAutoFit/>
          </a:bodyPr>
          <a:lstStyle>
            <a:lvl1pPr>
              <a:defRPr kumimoji="0" lang="en-US" sz="900" b="1" i="0" u="none" strike="noStrike" kern="0" cap="all" spc="250" normalizeH="0" baseline="0" dirty="0">
                <a:ln>
                  <a:noFill/>
                </a:ln>
                <a:solidFill>
                  <a:srgbClr val="00A3E0"/>
                </a:solidFill>
                <a:effectLst/>
                <a:uLnTx/>
                <a:uFillTx/>
                <a:latin typeface="Open Sans"/>
                <a:ea typeface="Nexa Black" charset="0"/>
                <a:cs typeface="Nexa Black" charset="0"/>
              </a:defRPr>
            </a:lvl1p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lang="en-US"/>
              <a:t>CLICK TO EDIT MASTER TEXT STYLES</a:t>
            </a:r>
          </a:p>
        </p:txBody>
      </p:sp>
    </p:spTree>
    <p:extLst>
      <p:ext uri="{BB962C8B-B14F-4D97-AF65-F5344CB8AC3E}">
        <p14:creationId xmlns:p14="http://schemas.microsoft.com/office/powerpoint/2010/main" val="1642352225"/>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cSld name="1_Clos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91001" y="1961812"/>
            <a:ext cx="8001000" cy="2921731"/>
          </a:xfrm>
        </p:spPr>
        <p:txBody>
          <a:bodyPr anchor="b" anchorCtr="0"/>
          <a:lstStyle>
            <a:lvl1pPr>
              <a:lnSpc>
                <a:spcPct val="85000"/>
              </a:lnSpc>
              <a:defRPr sz="5400" b="1" baseline="0">
                <a:latin typeface="+mn-lt"/>
              </a:defRPr>
            </a:lvl1pPr>
          </a:lstStyle>
          <a:p>
            <a:r>
              <a:rPr lang="en-US"/>
              <a:t>Thank You </a:t>
            </a:r>
            <a:br>
              <a:rPr lang="en-US"/>
            </a:br>
            <a:r>
              <a:rPr lang="en-US"/>
              <a:t>Goes Here.</a:t>
            </a:r>
          </a:p>
        </p:txBody>
      </p:sp>
      <p:sp>
        <p:nvSpPr>
          <p:cNvPr id="9" name="Rectangle 8"/>
          <p:cNvSpPr/>
          <p:nvPr/>
        </p:nvSpPr>
        <p:spPr>
          <a:xfrm>
            <a:off x="4134012" y="5436072"/>
            <a:ext cx="7143588" cy="1421928"/>
          </a:xfrm>
          <a:prstGeom prst="rect">
            <a:avLst/>
          </a:prstGeom>
        </p:spPr>
        <p:txBody>
          <a:bodyPr wrap="square" numCol="2" spcCol="182880">
            <a:spAutoFit/>
          </a:bodyPr>
          <a:lstStyle/>
          <a:p>
            <a:pPr>
              <a:lnSpc>
                <a:spcPct val="120000"/>
              </a:lnSpc>
            </a:pPr>
            <a:r>
              <a:rPr lang="en-US" sz="700" dirty="0">
                <a:solidFill>
                  <a:srgbClr val="000000"/>
                </a:solidFill>
                <a:ea typeface="Open Sans" charset="0"/>
                <a:cs typeface="Open Sans" charset="0"/>
              </a:rPr>
              <a:t>This publication contains general information only, and none of the member firms of FDE Practice Touche Tohmatsu Limited, its member firms, or their related entities (collective, the “FDE Practice Network”) is, by means of this publication, rendering professional advice or services. Before making any decision or taking any action that may affect your business, you should consult a qualified professional adviser. No entity in the FDE Practice Network shall be responsible for any loss whatsoever sustained by any person who relies on this publication.</a:t>
            </a:r>
          </a:p>
          <a:p>
            <a:pPr>
              <a:lnSpc>
                <a:spcPct val="120000"/>
              </a:lnSpc>
            </a:pPr>
            <a:br>
              <a:rPr lang="en-US" sz="700" dirty="0">
                <a:solidFill>
                  <a:srgbClr val="000000"/>
                </a:solidFill>
                <a:ea typeface="Open Sans" charset="0"/>
                <a:cs typeface="Open Sans" charset="0"/>
              </a:rPr>
            </a:br>
            <a:br>
              <a:rPr lang="en-US" sz="700" dirty="0">
                <a:solidFill>
                  <a:srgbClr val="000000"/>
                </a:solidFill>
                <a:ea typeface="Open Sans" charset="0"/>
                <a:cs typeface="Open Sans" charset="0"/>
              </a:rPr>
            </a:br>
            <a:endParaRPr lang="en-US" sz="700" dirty="0">
              <a:solidFill>
                <a:srgbClr val="000000"/>
              </a:solidFill>
              <a:ea typeface="Open Sans" charset="0"/>
              <a:cs typeface="Open Sans" charset="0"/>
            </a:endParaRPr>
          </a:p>
          <a:p>
            <a:pPr>
              <a:lnSpc>
                <a:spcPct val="120000"/>
              </a:lnSpc>
            </a:pPr>
            <a:r>
              <a:rPr lang="en-US" sz="700" dirty="0">
                <a:solidFill>
                  <a:srgbClr val="000000"/>
                </a:solidFill>
                <a:ea typeface="Open Sans" charset="0"/>
                <a:cs typeface="Open Sans" charset="0"/>
              </a:rPr>
              <a:t>As used in this document, “FDE Practice” means FDE Practice Consulting LLP, a subsidiary of FDE Practice LLP. Please see www.FDE Practice.com/us/about for a detailed description of the legal structure of FDE Practice USA LLP, FDE Practice LLP and their respective subsidiary. Certain services may not be available to attest clients under </a:t>
            </a:r>
            <a:br>
              <a:rPr lang="en-US" sz="700" dirty="0">
                <a:solidFill>
                  <a:srgbClr val="000000"/>
                </a:solidFill>
                <a:ea typeface="Open Sans" charset="0"/>
                <a:cs typeface="Open Sans" charset="0"/>
              </a:rPr>
            </a:br>
            <a:r>
              <a:rPr lang="en-US" sz="700" dirty="0">
                <a:solidFill>
                  <a:srgbClr val="000000"/>
                </a:solidFill>
                <a:ea typeface="Open Sans" charset="0"/>
                <a:cs typeface="Open Sans" charset="0"/>
              </a:rPr>
              <a:t>the rules and regulations of public accounting.</a:t>
            </a:r>
          </a:p>
          <a:p>
            <a:endParaRPr lang="en-US" sz="700" dirty="0">
              <a:solidFill>
                <a:srgbClr val="000000"/>
              </a:solidFill>
              <a:ea typeface="Open Sans" charset="0"/>
              <a:cs typeface="Open Sans" charset="0"/>
              <a:sym typeface="Frutiger Next Pro Light" charset="0"/>
            </a:endParaRPr>
          </a:p>
          <a:p>
            <a:r>
              <a:rPr lang="en-US" sz="700" b="1" dirty="0">
                <a:solidFill>
                  <a:srgbClr val="000000"/>
                </a:solidFill>
                <a:ea typeface="Open Sans" charset="0"/>
                <a:cs typeface="Open Sans" charset="0"/>
                <a:sym typeface="Frutiger Next Pro Light" charset="0"/>
              </a:rPr>
              <a:t>Copyright © 2020 FDE Practice Development LLC. </a:t>
            </a:r>
            <a:br>
              <a:rPr lang="en-US" sz="700" dirty="0">
                <a:solidFill>
                  <a:srgbClr val="000000"/>
                </a:solidFill>
                <a:ea typeface="Open Sans" charset="0"/>
                <a:cs typeface="Open Sans" charset="0"/>
                <a:sym typeface="Frutiger Next Pro Light" charset="0"/>
              </a:rPr>
            </a:br>
            <a:r>
              <a:rPr lang="en-US" sz="700" b="1" dirty="0">
                <a:solidFill>
                  <a:srgbClr val="000000"/>
                </a:solidFill>
                <a:ea typeface="Open Sans" charset="0"/>
                <a:cs typeface="Open Sans" charset="0"/>
                <a:sym typeface="Frutiger Next Pro Light" charset="0"/>
              </a:rPr>
              <a:t>All rights reserved. </a:t>
            </a:r>
            <a:r>
              <a:rPr lang="en-US" sz="700" b="1" dirty="0">
                <a:solidFill>
                  <a:srgbClr val="000000"/>
                </a:solidFill>
                <a:ea typeface="Open Sans" charset="0"/>
                <a:cs typeface="Open Sans" charset="0"/>
              </a:rPr>
              <a:t>Member of FDE Practice Touche Tohmatsu Limited</a:t>
            </a:r>
          </a:p>
        </p:txBody>
      </p:sp>
    </p:spTree>
    <p:extLst>
      <p:ext uri="{BB962C8B-B14F-4D97-AF65-F5344CB8AC3E}">
        <p14:creationId xmlns:p14="http://schemas.microsoft.com/office/powerpoint/2010/main" val="1435566812"/>
      </p:ext>
    </p:extLst>
  </p:cSld>
  <p:clrMapOvr>
    <a:masterClrMapping/>
  </p:clrMapOv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3" name="Title 2">
            <a:extLst>
              <a:ext uri="{FF2B5EF4-FFF2-40B4-BE49-F238E27FC236}">
                <a16:creationId xmlns:a16="http://schemas.microsoft.com/office/drawing/2014/main" id="{CB045B67-A01E-4417-85FE-09316D9E244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7375993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3" Type="http://schemas.openxmlformats.org/officeDocument/2006/relationships/slideLayout" Target="../slideLayouts/slideLayout50.xml"/><Relationship Id="rId21" Type="http://schemas.openxmlformats.org/officeDocument/2006/relationships/slideLayout" Target="../slideLayouts/slideLayout68.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image" Target="../media/image1.emf"/><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24" Type="http://schemas.openxmlformats.org/officeDocument/2006/relationships/oleObject" Target="../embeddings/oleObject3.bin"/><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tags" Target="../tags/tag3.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3" Type="http://schemas.openxmlformats.org/officeDocument/2006/relationships/slideLayout" Target="../slideLayouts/slideLayout84.xml"/><Relationship Id="rId21" Type="http://schemas.openxmlformats.org/officeDocument/2006/relationships/slideLayout" Target="../slideLayouts/slideLayout102.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9"/>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50" imgW="270" imgH="270" progId="TCLayout.ActiveDocument.1">
                  <p:embed/>
                </p:oleObj>
              </mc:Choice>
              <mc:Fallback>
                <p:oleObj name="think-cell Slide" r:id="rId50" imgW="270" imgH="270" progId="TCLayout.ActiveDocument.1">
                  <p:embed/>
                  <p:pic>
                    <p:nvPicPr>
                      <p:cNvPr id="4" name="Object 3" hidden="1"/>
                      <p:cNvPicPr/>
                      <p:nvPr/>
                    </p:nvPicPr>
                    <p:blipFill>
                      <a:blip r:embed="rId51"/>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Copyright"/>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dirty="0">
                <a:solidFill>
                  <a:schemeClr val="tx1"/>
                </a:solidFill>
                <a:latin typeface="+mn-lt"/>
              </a:rPr>
              <a:t>Copyright © 2026 FDE Practice Development LLC. All rights reserved.</a:t>
            </a:r>
          </a:p>
        </p:txBody>
      </p:sp>
      <p:sp>
        <p:nvSpPr>
          <p:cNvPr id="12" name="TextBox 11"/>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4173400067"/>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3"/>
            </p:custDataLst>
            <p:extLst>
              <p:ext uri="{D42A27DB-BD31-4B8C-83A1-F6EECF244321}">
                <p14:modId xmlns:p14="http://schemas.microsoft.com/office/powerpoint/2010/main" val="2192424797"/>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24" imgW="270" imgH="270" progId="TCLayout.ActiveDocument.1">
                  <p:embed/>
                </p:oleObj>
              </mc:Choice>
              <mc:Fallback>
                <p:oleObj name="think-cell Slide" r:id="rId24" imgW="270" imgH="270" progId="TCLayout.ActiveDocument.1">
                  <p:embed/>
                  <p:pic>
                    <p:nvPicPr>
                      <p:cNvPr id="4" name="Object 3" hidden="1"/>
                      <p:cNvPicPr/>
                      <p:nvPr/>
                    </p:nvPicPr>
                    <p:blipFill>
                      <a:blip r:embed="rId25"/>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marL="228600" lvl="0" indent="-228600" algn="l" defTabSz="1219170" rtl="0" eaLnBrk="1" latinLnBrk="0" hangingPunct="1">
              <a:lnSpc>
                <a:spcPct val="130000"/>
              </a:lnSpc>
              <a:spcBef>
                <a:spcPts val="0"/>
              </a:spcBef>
              <a:spcAft>
                <a:spcPts val="1333"/>
              </a:spcAft>
              <a:buSzPct val="100000"/>
              <a:buFont typeface="Arial" panose="020B0604020202020204" pitchFamily="34" charset="0"/>
              <a:buNone/>
            </a:pPr>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Box 11"/>
          <p:cNvSpPr txBox="1"/>
          <p:nvPr/>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bg2"/>
                </a:solidFill>
              </a:rPr>
              <a:pPr marL="0" indent="0" algn="r">
                <a:spcBef>
                  <a:spcPts val="800"/>
                </a:spcBef>
                <a:buSzPct val="100000"/>
                <a:buFont typeface="Arial"/>
                <a:buNone/>
              </a:pPr>
              <a:t>‹#›</a:t>
            </a:fld>
            <a:endParaRPr lang="en-US" sz="700" noProof="0">
              <a:solidFill>
                <a:schemeClr val="bg2"/>
              </a:solidFill>
            </a:endParaRPr>
          </a:p>
        </p:txBody>
      </p:sp>
      <p:sp>
        <p:nvSpPr>
          <p:cNvPr id="7" name="Copyright">
            <a:extLst>
              <a:ext uri="{FF2B5EF4-FFF2-40B4-BE49-F238E27FC236}">
                <a16:creationId xmlns:a16="http://schemas.microsoft.com/office/drawing/2014/main" id="{23B2E5F1-2456-3E45-B0FB-219E5DC3B919}"/>
              </a:ext>
            </a:extLst>
          </p:cNvPr>
          <p:cNvSpPr txBox="1"/>
          <p:nvPr/>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700" b="0" noProof="0" dirty="0">
                <a:solidFill>
                  <a:schemeClr val="bg2"/>
                </a:solidFill>
                <a:latin typeface="+mn-lt"/>
              </a:rPr>
              <a:t>Copyright © 2026 FDE Practice Development LLC. All rights reserved.</a:t>
            </a:r>
          </a:p>
        </p:txBody>
      </p:sp>
    </p:spTree>
    <p:extLst>
      <p:ext uri="{BB962C8B-B14F-4D97-AF65-F5344CB8AC3E}">
        <p14:creationId xmlns:p14="http://schemas.microsoft.com/office/powerpoint/2010/main" val="155859510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Lst>
  <p:transition>
    <p:fade/>
  </p:transition>
  <p:hf hdr="0" dt="0"/>
  <p:txStyles>
    <p:titleStyle>
      <a:lvl1pPr algn="l" defTabSz="1219170" rtl="0" eaLnBrk="1" latinLnBrk="0" hangingPunct="1">
        <a:spcBef>
          <a:spcPct val="0"/>
        </a:spcBef>
        <a:buNone/>
        <a:defRPr sz="3200" b="1" i="0" kern="1200" spc="-1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lang="en-US" sz="1600" b="0" i="0" kern="1200" spc="-30" baseline="0" noProof="0"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b="0" i="0" kern="120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b="0" i="0" kern="1200" baseline="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b="0" i="0" kern="1200" baseline="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20" pos="6299">
          <p15:clr>
            <a:srgbClr val="F26B43"/>
          </p15:clr>
        </p15:guide>
        <p15:guide id="22" orient="horz" pos="486">
          <p15:clr>
            <a:srgbClr val="F26B43"/>
          </p15:clr>
        </p15:guide>
        <p15:guide id="23" orient="horz" pos="288">
          <p15:clr>
            <a:srgbClr val="F26B43"/>
          </p15:clr>
        </p15:guide>
        <p15:guide id="24" pos="3840">
          <p15:clr>
            <a:srgbClr val="F26B43"/>
          </p15:clr>
        </p15:guide>
        <p15:guide id="25" pos="312">
          <p15:clr>
            <a:srgbClr val="F26B43"/>
          </p15:clr>
        </p15:guide>
        <p15:guide id="26" pos="1392">
          <p15:clr>
            <a:srgbClr val="F26B43"/>
          </p15:clr>
        </p15:guide>
        <p15:guide id="27" pos="1512">
          <p15:clr>
            <a:srgbClr val="F26B43"/>
          </p15:clr>
        </p15:guide>
        <p15:guide id="28" pos="2592">
          <p15:clr>
            <a:srgbClr val="F26B43"/>
          </p15:clr>
        </p15:guide>
        <p15:guide id="29" pos="2712">
          <p15:clr>
            <a:srgbClr val="F26B43"/>
          </p15:clr>
        </p15:guide>
        <p15:guide id="30" pos="3768">
          <p15:clr>
            <a:srgbClr val="F26B43"/>
          </p15:clr>
        </p15:guide>
        <p15:guide id="31" pos="7368">
          <p15:clr>
            <a:srgbClr val="F26B43"/>
          </p15:clr>
        </p15:guide>
        <p15:guide id="32" pos="6288">
          <p15:clr>
            <a:srgbClr val="F26B43"/>
          </p15:clr>
        </p15:guide>
        <p15:guide id="33" pos="6168">
          <p15:clr>
            <a:srgbClr val="F26B43"/>
          </p15:clr>
        </p15:guide>
        <p15:guide id="34" pos="5088">
          <p15:clr>
            <a:srgbClr val="F26B43"/>
          </p15:clr>
        </p15:guide>
        <p15:guide id="35" pos="4968">
          <p15:clr>
            <a:srgbClr val="F26B43"/>
          </p15:clr>
        </p15:guide>
        <p15:guide id="36" pos="3912">
          <p15:clr>
            <a:srgbClr val="F26B43"/>
          </p15:clr>
        </p15:guide>
        <p15:guide id="37" orient="horz" pos="4084">
          <p15:clr>
            <a:srgbClr val="F26B43"/>
          </p15:clr>
        </p15:guide>
        <p15:guide id="38" orient="horz" pos="4032">
          <p15:clr>
            <a:srgbClr val="F26B43"/>
          </p15:clr>
        </p15:guide>
        <p15:guide id="39" orient="horz" pos="2232">
          <p15:clr>
            <a:srgbClr val="F26B43"/>
          </p15:clr>
        </p15:guide>
        <p15:guide id="40" orient="horz" pos="1062">
          <p15:clr>
            <a:srgbClr val="F26B43"/>
          </p15:clr>
        </p15:guide>
        <p15:guide id="41" orient="horz" pos="19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5C207F-FBB0-EA6E-92C7-FFDDCAD782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36EA8A-4496-2696-F5B8-8F14DC5439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774B3D-E60F-3CA4-B5A4-8661C18C00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636C80-6917-41BF-809F-41E925982F5D}" type="datetimeFigureOut">
              <a:rPr lang="en-US" smtClean="0"/>
              <a:t>5/5/2026</a:t>
            </a:fld>
            <a:endParaRPr lang="en-US"/>
          </a:p>
        </p:txBody>
      </p:sp>
      <p:sp>
        <p:nvSpPr>
          <p:cNvPr id="5" name="Footer Placeholder 4">
            <a:extLst>
              <a:ext uri="{FF2B5EF4-FFF2-40B4-BE49-F238E27FC236}">
                <a16:creationId xmlns:a16="http://schemas.microsoft.com/office/drawing/2014/main" id="{D7F2F9FC-9948-760B-7A87-C0E98FCE18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955F78-2D6A-9EC5-7FA7-F6048E6804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46F934-08A2-4672-B1EF-506188B6D0A7}" type="slidenum">
              <a:rPr lang="en-US" smtClean="0"/>
              <a:t>‹#›</a:t>
            </a:fld>
            <a:endParaRPr lang="en-US"/>
          </a:p>
        </p:txBody>
      </p:sp>
    </p:spTree>
    <p:extLst>
      <p:ext uri="{BB962C8B-B14F-4D97-AF65-F5344CB8AC3E}">
        <p14:creationId xmlns:p14="http://schemas.microsoft.com/office/powerpoint/2010/main" val="1397519692"/>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82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5/5/2026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
        <p:nvSpPr>
          <p:cNvPr id="7" name="Copyright">
            <a:extLst>
              <a:ext uri="{FF2B5EF4-FFF2-40B4-BE49-F238E27FC236}">
                <a16:creationId xmlns:a16="http://schemas.microsoft.com/office/drawing/2014/main" id="{A2401813-862B-72AF-23F6-DD90E617563A}"/>
              </a:ext>
            </a:extLst>
          </p:cNvPr>
          <p:cNvSpPr txBox="1"/>
          <p:nvPr userDrawn="1"/>
        </p:nvSpPr>
        <p:spPr>
          <a:xfrm>
            <a:off x="463549" y="6518275"/>
            <a:ext cx="5355168" cy="107722"/>
          </a:xfrm>
          <a:prstGeom prst="rect">
            <a:avLst/>
          </a:prstGeom>
          <a:noFill/>
        </p:spPr>
        <p:txBody>
          <a:bodyPr wrap="square" lIns="0" tIns="0" rIns="0" bIns="0" rtlCol="0">
            <a:spAutoFit/>
          </a:bodyPr>
          <a:lstStyle/>
          <a:p>
            <a:pPr marL="0" indent="0">
              <a:spcBef>
                <a:spcPts val="450"/>
              </a:spcBef>
              <a:buSzPct val="100000"/>
              <a:buFont typeface="Arial"/>
              <a:buNone/>
            </a:pPr>
            <a:r>
              <a:rPr lang="en-US" sz="700" noProof="0" dirty="0">
                <a:solidFill>
                  <a:srgbClr val="53565A"/>
                </a:solidFill>
                <a:latin typeface="+mn-lt"/>
                <a:cs typeface="Calibri" panose="020F0502020204030204" pitchFamily="34" charset="0"/>
              </a:rPr>
              <a:t>Copyright © 2022 FDE Practice Development LLC. All rights reserved.</a:t>
            </a:r>
          </a:p>
        </p:txBody>
      </p:sp>
      <p:sp>
        <p:nvSpPr>
          <p:cNvPr id="8" name="Rectangle 7">
            <a:extLst>
              <a:ext uri="{FF2B5EF4-FFF2-40B4-BE49-F238E27FC236}">
                <a16:creationId xmlns:a16="http://schemas.microsoft.com/office/drawing/2014/main" id="{AE421791-B60F-3127-0A80-545879989A2A}"/>
              </a:ext>
            </a:extLst>
          </p:cNvPr>
          <p:cNvSpPr/>
          <p:nvPr userDrawn="1"/>
        </p:nvSpPr>
        <p:spPr>
          <a:xfrm>
            <a:off x="11608162" y="6518275"/>
            <a:ext cx="126638" cy="123111"/>
          </a:xfrm>
          <a:prstGeom prst="rect">
            <a:avLst/>
          </a:prstGeom>
        </p:spPr>
        <p:txBody>
          <a:bodyPr wrap="none" lIns="0" tIns="0" rIns="0" bIns="0">
            <a:spAutoFit/>
          </a:bodyPr>
          <a:lstStyle/>
          <a:p>
            <a:pPr marL="0" indent="0" algn="r" defTabSz="914400" rtl="0" eaLnBrk="1" latinLnBrk="0" hangingPunct="1">
              <a:spcBef>
                <a:spcPts val="450"/>
              </a:spcBef>
              <a:buSzPct val="100000"/>
              <a:buFont typeface="Arial"/>
              <a:buNone/>
            </a:pPr>
            <a:fld id="{C58DF478-B544-4ED8-9ED4-6A2648E2D233}" type="slidenum">
              <a:rPr lang="en-US" sz="800" kern="1200" noProof="0" smtClean="0">
                <a:solidFill>
                  <a:srgbClr val="53565A"/>
                </a:solidFill>
                <a:latin typeface="+mn-lt"/>
                <a:ea typeface="+mn-ea"/>
                <a:cs typeface="Calibri" panose="020F0502020204030204" pitchFamily="34" charset="0"/>
              </a:rPr>
              <a:pPr marL="0" indent="0" algn="r" defTabSz="914400" rtl="0" eaLnBrk="1" latinLnBrk="0" hangingPunct="1">
                <a:spcBef>
                  <a:spcPts val="450"/>
                </a:spcBef>
                <a:buSzPct val="100000"/>
                <a:buFont typeface="Arial"/>
                <a:buNone/>
              </a:pPr>
              <a:t>‹#›</a:t>
            </a:fld>
            <a:endParaRPr lang="en-US" sz="800" kern="1200">
              <a:solidFill>
                <a:srgbClr val="53565A"/>
              </a:solidFill>
              <a:latin typeface="+mn-lt"/>
              <a:ea typeface="+mn-ea"/>
              <a:cs typeface="Calibri" panose="020F0502020204030204" pitchFamily="34" charset="0"/>
            </a:endParaRPr>
          </a:p>
        </p:txBody>
      </p:sp>
    </p:spTree>
    <p:extLst>
      <p:ext uri="{BB962C8B-B14F-4D97-AF65-F5344CB8AC3E}">
        <p14:creationId xmlns:p14="http://schemas.microsoft.com/office/powerpoint/2010/main" val="2961990423"/>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5" r:id="rId22"/>
    <p:sldLayoutId id="2147483816" r:id="rId23"/>
    <p:sldLayoutId id="2147483817" r:id="rId24"/>
    <p:sldLayoutId id="2147483818" r:id="rId25"/>
    <p:sldLayoutId id="2147483819" r:id="rId2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1.x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8.png"/><Relationship Id="rId2" Type="http://schemas.openxmlformats.org/officeDocument/2006/relationships/image" Target="../media/image24.jpeg"/><Relationship Id="rId1" Type="http://schemas.openxmlformats.org/officeDocument/2006/relationships/slideLayout" Target="../slideLayouts/slideLayout41.xml"/><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image" Target="../media/image25.jpeg"/></Relationships>
</file>

<file path=ppt/slides/_rels/slide7.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C10E461-81A7-534C-B844-C165A1F5711A}"/>
              </a:ext>
            </a:extLst>
          </p:cNvPr>
          <p:cNvSpPr>
            <a:spLocks noGrp="1"/>
          </p:cNvSpPr>
          <p:nvPr>
            <p:ph type="body" sz="quarter" idx="18"/>
          </p:nvPr>
        </p:nvSpPr>
        <p:spPr>
          <a:xfrm>
            <a:off x="469029" y="4933497"/>
            <a:ext cx="5312339" cy="929790"/>
          </a:xfrm>
        </p:spPr>
        <p:txBody>
          <a:bodyPr/>
          <a:lstStyle/>
          <a:p>
            <a:r>
              <a:rPr lang="en-US" sz="2400" dirty="0"/>
              <a:t>Modernization to Snowflake</a:t>
            </a:r>
          </a:p>
        </p:txBody>
      </p:sp>
      <p:sp>
        <p:nvSpPr>
          <p:cNvPr id="6" name="Text Placeholder 3"/>
          <p:cNvSpPr txBox="1">
            <a:spLocks/>
          </p:cNvSpPr>
          <p:nvPr/>
        </p:nvSpPr>
        <p:spPr>
          <a:xfrm>
            <a:off x="1530127" y="6182586"/>
            <a:ext cx="910252" cy="298451"/>
          </a:xfrm>
          <a:prstGeom prst="rect">
            <a:avLst/>
          </a:prstGeom>
        </p:spPr>
        <p:txBody>
          <a:bodyPr vert="horz" lIns="0" tIns="0" rIns="0" bIns="0" rtlCol="0" anchor="ctr">
            <a:noAutofit/>
          </a:bodyPr>
          <a:lstStyle>
            <a:lvl1pPr marL="0" indent="0" algn="l" defTabSz="914400" rtl="0" eaLnBrk="1" latinLnBrk="0" hangingPunct="1">
              <a:spcBef>
                <a:spcPts val="0"/>
              </a:spcBef>
              <a:spcAft>
                <a:spcPts val="0"/>
              </a:spcAft>
              <a:buSzPct val="100000"/>
              <a:buFontTx/>
              <a:buNone/>
              <a:defRPr sz="1000" b="0" kern="1200">
                <a:solidFill>
                  <a:schemeClr val="bg1"/>
                </a:solidFill>
                <a:latin typeface="+mn-lt"/>
                <a:ea typeface="+mn-ea"/>
                <a:cs typeface="+mn-cs"/>
              </a:defRPr>
            </a:lvl1pPr>
            <a:lvl2pPr marL="127000" indent="-127000" algn="l" defTabSz="914400" rtl="0" eaLnBrk="1" latinLnBrk="0" hangingPunct="1">
              <a:spcBef>
                <a:spcPts val="0"/>
              </a:spcBef>
              <a:spcAft>
                <a:spcPts val="1000"/>
              </a:spcAft>
              <a:buClrTx/>
              <a:buSzPct val="100000"/>
              <a:buFont typeface="Arial" panose="020B0604020202020204" pitchFamily="34" charset="0"/>
              <a:buChar char="•"/>
              <a:defRPr lang="en-US" sz="1200" b="0" kern="1200">
                <a:solidFill>
                  <a:schemeClr val="bg1"/>
                </a:solidFill>
                <a:latin typeface="+mn-lt"/>
                <a:ea typeface="+mn-ea"/>
                <a:cs typeface="+mn-cs"/>
              </a:defRPr>
            </a:lvl2pPr>
            <a:lvl3pPr marL="2794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a:solidFill>
                  <a:schemeClr val="bg1"/>
                </a:solidFill>
                <a:latin typeface="+mn-lt"/>
                <a:ea typeface="+mn-ea"/>
                <a:cs typeface="+mn-cs"/>
              </a:defRPr>
            </a:lvl3pPr>
            <a:lvl4pPr marL="4318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baseline="0">
                <a:solidFill>
                  <a:schemeClr val="bg1"/>
                </a:solidFill>
                <a:latin typeface="+mn-lt"/>
                <a:ea typeface="+mn-ea"/>
                <a:cs typeface="+mn-cs"/>
              </a:defRPr>
            </a:lvl4pPr>
            <a:lvl5pPr marL="584200" indent="-127000" algn="l" defTabSz="798513" rtl="0" eaLnBrk="1" latinLnBrk="0" hangingPunct="1">
              <a:spcBef>
                <a:spcPts val="0"/>
              </a:spcBef>
              <a:spcAft>
                <a:spcPts val="1000"/>
              </a:spcAft>
              <a:buClrTx/>
              <a:buSzPct val="100000"/>
              <a:buFont typeface="Arial" panose="020B0604020202020204" pitchFamily="34" charset="0"/>
              <a:buChar char="−"/>
              <a:tabLst/>
              <a:defRPr lang="en-US" sz="1200" kern="1200" baseline="0">
                <a:solidFill>
                  <a:schemeClr val="bg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1200" cap="none" spc="0" normalizeH="0" baseline="0" noProof="0">
                <a:ln>
                  <a:noFill/>
                </a:ln>
                <a:solidFill>
                  <a:prstClr val="white"/>
                </a:solidFill>
                <a:effectLst/>
                <a:uLnTx/>
                <a:uFillTx/>
                <a:latin typeface="Calibri" panose="020F0502020204030204"/>
                <a:ea typeface="+mn-ea"/>
                <a:cs typeface="+mn-cs"/>
              </a:rPr>
              <a:t>Version 1.0</a:t>
            </a:r>
          </a:p>
        </p:txBody>
      </p:sp>
      <p:sp>
        <p:nvSpPr>
          <p:cNvPr id="9" name="Text Placeholder 8">
            <a:extLst>
              <a:ext uri="{FF2B5EF4-FFF2-40B4-BE49-F238E27FC236}">
                <a16:creationId xmlns:a16="http://schemas.microsoft.com/office/drawing/2014/main" id="{E15E0D0D-791F-268C-706C-5344059289E2}"/>
              </a:ext>
            </a:extLst>
          </p:cNvPr>
          <p:cNvSpPr>
            <a:spLocks noGrp="1"/>
          </p:cNvSpPr>
          <p:nvPr>
            <p:ph type="body" sz="quarter" idx="16"/>
          </p:nvPr>
        </p:nvSpPr>
        <p:spPr/>
        <p:txBody>
          <a:bodyPr/>
          <a:lstStyle/>
          <a:p>
            <a:r>
              <a:rPr lang="en-US" dirty="0"/>
              <a:t>February 2026</a:t>
            </a:r>
          </a:p>
        </p:txBody>
      </p:sp>
    </p:spTree>
    <p:extLst>
      <p:ext uri="{BB962C8B-B14F-4D97-AF65-F5344CB8AC3E}">
        <p14:creationId xmlns:p14="http://schemas.microsoft.com/office/powerpoint/2010/main" val="34518479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D63F75F-CF51-DB35-449E-D4CD7D140ED0}"/>
              </a:ext>
            </a:extLst>
          </p:cNvPr>
          <p:cNvSpPr>
            <a:spLocks noGrp="1"/>
          </p:cNvSpPr>
          <p:nvPr>
            <p:ph type="body" sz="quarter" idx="13"/>
          </p:nvPr>
        </p:nvSpPr>
        <p:spPr>
          <a:xfrm>
            <a:off x="610365" y="816122"/>
            <a:ext cx="11256264" cy="369332"/>
          </a:xfrm>
        </p:spPr>
        <p:txBody>
          <a:bodyPr vert="horz" lIns="0" tIns="0" rIns="0" bIns="0" rtlCol="0" anchor="t" anchorCtr="0">
            <a:spAutoFit/>
          </a:bodyPr>
          <a:lstStyle/>
          <a:p>
            <a:r>
              <a:rPr lang="en-US" sz="1200" i="0" dirty="0">
                <a:latin typeface="Open Sans" panose="020B0606030504020204" pitchFamily="34" charset="0"/>
                <a:ea typeface="Open Sans" panose="020B0606030504020204" pitchFamily="34" charset="0"/>
                <a:cs typeface="Open Sans" panose="020B0606030504020204" pitchFamily="34" charset="0"/>
              </a:rPr>
              <a:t>Most common approaches to Cloud Modernization. </a:t>
            </a:r>
            <a:r>
              <a:rPr lang="en-US" sz="1200" i="0" dirty="0" err="1">
                <a:latin typeface="Open Sans" panose="020B0606030504020204" pitchFamily="34" charset="0"/>
                <a:ea typeface="Open Sans" panose="020B0606030504020204" pitchFamily="34" charset="0"/>
                <a:cs typeface="Open Sans" panose="020B0606030504020204" pitchFamily="34" charset="0"/>
              </a:rPr>
              <a:t>Replatform</a:t>
            </a:r>
            <a:r>
              <a:rPr lang="en-US" sz="1200" i="0" dirty="0">
                <a:latin typeface="Open Sans" panose="020B0606030504020204" pitchFamily="34" charset="0"/>
                <a:ea typeface="Open Sans" panose="020B0606030504020204" pitchFamily="34" charset="0"/>
                <a:cs typeface="Open Sans" panose="020B0606030504020204" pitchFamily="34" charset="0"/>
              </a:rPr>
              <a:t> and modernize has proven to be the most pragmatic approach with the maximum value to clients while lowering the total cost of ownership with minimal risk to delivery.</a:t>
            </a:r>
          </a:p>
        </p:txBody>
      </p:sp>
      <p:sp>
        <p:nvSpPr>
          <p:cNvPr id="4" name="Title 3">
            <a:extLst>
              <a:ext uri="{FF2B5EF4-FFF2-40B4-BE49-F238E27FC236}">
                <a16:creationId xmlns:a16="http://schemas.microsoft.com/office/drawing/2014/main" id="{C2BA1474-7346-FBDF-CE6F-CB33259122A2}"/>
              </a:ext>
            </a:extLst>
          </p:cNvPr>
          <p:cNvSpPr>
            <a:spLocks noGrp="1"/>
          </p:cNvSpPr>
          <p:nvPr>
            <p:ph type="title"/>
          </p:nvPr>
        </p:nvSpPr>
        <p:spPr/>
        <p:txBody>
          <a:bodyPr vert="horz" lIns="0" tIns="0" rIns="0" bIns="0" rtlCol="0" anchor="t" anchorCtr="0">
            <a:noAutofit/>
          </a:bodyPr>
          <a:lstStyle/>
          <a:p>
            <a:r>
              <a:rPr lang="en-US" sz="2000" b="1" dirty="0">
                <a:latin typeface="Open Sans" panose="020B0606030504020204" pitchFamily="34" charset="0"/>
                <a:ea typeface="Open Sans" panose="020B0606030504020204" pitchFamily="34" charset="0"/>
                <a:cs typeface="Open Sans" panose="020B0606030504020204" pitchFamily="34" charset="0"/>
              </a:rPr>
              <a:t>Cloud Modernization Patterns</a:t>
            </a:r>
          </a:p>
        </p:txBody>
      </p:sp>
      <p:grpSp>
        <p:nvGrpSpPr>
          <p:cNvPr id="2" name="Group 1">
            <a:extLst>
              <a:ext uri="{FF2B5EF4-FFF2-40B4-BE49-F238E27FC236}">
                <a16:creationId xmlns:a16="http://schemas.microsoft.com/office/drawing/2014/main" id="{AE94E944-75D2-A9A6-A577-CD16D6097852}"/>
              </a:ext>
            </a:extLst>
          </p:cNvPr>
          <p:cNvGrpSpPr/>
          <p:nvPr/>
        </p:nvGrpSpPr>
        <p:grpSpPr>
          <a:xfrm>
            <a:off x="418923" y="1285828"/>
            <a:ext cx="11505672" cy="5230903"/>
            <a:chOff x="418923" y="1285828"/>
            <a:chExt cx="11505672" cy="5230903"/>
          </a:xfrm>
        </p:grpSpPr>
        <p:sp>
          <p:nvSpPr>
            <p:cNvPr id="6" name="Oval 5">
              <a:extLst>
                <a:ext uri="{FF2B5EF4-FFF2-40B4-BE49-F238E27FC236}">
                  <a16:creationId xmlns:a16="http://schemas.microsoft.com/office/drawing/2014/main" id="{366625D4-959A-C6D2-36F4-4F3F867B9AE0}"/>
                </a:ext>
              </a:extLst>
            </p:cNvPr>
            <p:cNvSpPr/>
            <p:nvPr/>
          </p:nvSpPr>
          <p:spPr bwMode="gray">
            <a:xfrm>
              <a:off x="8138082" y="6206395"/>
              <a:ext cx="290462" cy="310336"/>
            </a:xfrm>
            <a:prstGeom prst="ellips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7" name="TextBox 6">
              <a:extLst>
                <a:ext uri="{FF2B5EF4-FFF2-40B4-BE49-F238E27FC236}">
                  <a16:creationId xmlns:a16="http://schemas.microsoft.com/office/drawing/2014/main" id="{859D4E05-7B30-7592-BB58-02F5FC249450}"/>
                </a:ext>
              </a:extLst>
            </p:cNvPr>
            <p:cNvSpPr txBox="1"/>
            <p:nvPr/>
          </p:nvSpPr>
          <p:spPr>
            <a:xfrm>
              <a:off x="8544037" y="6238453"/>
              <a:ext cx="3247913"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800" b="0" i="0" u="none" strike="noStrike" kern="1200" cap="none" spc="0" normalizeH="0" baseline="0" noProof="0" dirty="0">
                  <a:ln>
                    <a:noFill/>
                  </a:ln>
                  <a:solidFill>
                    <a:srgbClr val="313131"/>
                  </a:solidFill>
                  <a:effectLst/>
                  <a:uLnTx/>
                  <a:uFillTx/>
                  <a:latin typeface="Verdana"/>
                  <a:ea typeface="+mn-ea"/>
                  <a:cs typeface="+mn-cs"/>
                </a:rPr>
                <a:t>Cost Savings –Reduction in Future Operational Expenditure</a:t>
              </a:r>
              <a:br>
                <a:rPr kumimoji="0" lang="en-US" sz="800" b="0" i="0" u="none" strike="noStrike" kern="1200" cap="none" spc="0" normalizeH="0" baseline="0" noProof="0" dirty="0">
                  <a:ln>
                    <a:noFill/>
                  </a:ln>
                  <a:solidFill>
                    <a:srgbClr val="313131"/>
                  </a:solidFill>
                  <a:effectLst/>
                  <a:uLnTx/>
                  <a:uFillTx/>
                  <a:latin typeface="Verdana"/>
                  <a:ea typeface="+mn-ea"/>
                  <a:cs typeface="+mn-cs"/>
                </a:rPr>
              </a:br>
              <a:r>
                <a:rPr kumimoji="0" lang="en-US" sz="800" b="0" i="0" u="none" strike="noStrike" kern="1200" cap="none" spc="0" normalizeH="0" baseline="0" noProof="0" dirty="0">
                  <a:ln>
                    <a:noFill/>
                  </a:ln>
                  <a:solidFill>
                    <a:srgbClr val="313131"/>
                  </a:solidFill>
                  <a:effectLst/>
                  <a:uLnTx/>
                  <a:uFillTx/>
                  <a:latin typeface="Verdana"/>
                  <a:ea typeface="+mn-ea"/>
                  <a:cs typeface="+mn-cs"/>
                </a:rPr>
                <a:t>Size of the bubble represents the degree of cost savings</a:t>
              </a:r>
            </a:p>
          </p:txBody>
        </p:sp>
        <p:grpSp>
          <p:nvGrpSpPr>
            <p:cNvPr id="8" name="Group 7">
              <a:extLst>
                <a:ext uri="{FF2B5EF4-FFF2-40B4-BE49-F238E27FC236}">
                  <a16:creationId xmlns:a16="http://schemas.microsoft.com/office/drawing/2014/main" id="{5CDD7329-8B03-5161-B03A-4C4AF263F973}"/>
                </a:ext>
              </a:extLst>
            </p:cNvPr>
            <p:cNvGrpSpPr/>
            <p:nvPr/>
          </p:nvGrpSpPr>
          <p:grpSpPr>
            <a:xfrm>
              <a:off x="454733" y="5114034"/>
              <a:ext cx="6784998" cy="1119561"/>
              <a:chOff x="454733" y="4154964"/>
              <a:chExt cx="6784998" cy="1119561"/>
            </a:xfrm>
          </p:grpSpPr>
          <p:sp>
            <p:nvSpPr>
              <p:cNvPr id="9" name="Rectangle 8">
                <a:extLst>
                  <a:ext uri="{FF2B5EF4-FFF2-40B4-BE49-F238E27FC236}">
                    <a16:creationId xmlns:a16="http://schemas.microsoft.com/office/drawing/2014/main" id="{19651FC2-7B2F-42AB-968A-5BF398FDFFEA}"/>
                  </a:ext>
                </a:extLst>
              </p:cNvPr>
              <p:cNvSpPr>
                <a:spLocks/>
              </p:cNvSpPr>
              <p:nvPr/>
            </p:nvSpPr>
            <p:spPr>
              <a:xfrm>
                <a:off x="698137" y="4479029"/>
                <a:ext cx="6541594" cy="795496"/>
              </a:xfrm>
              <a:prstGeom prst="rect">
                <a:avLst/>
              </a:prstGeom>
              <a:noFill/>
              <a:ln w="19050" cap="flat">
                <a:solidFill>
                  <a:srgbClr val="EAEBED"/>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Open Sans"/>
                  <a:cs typeface="Open Sans"/>
                  <a:sym typeface="Open Sans"/>
                </a:endParaRPr>
              </a:p>
            </p:txBody>
          </p:sp>
          <p:sp>
            <p:nvSpPr>
              <p:cNvPr id="10" name="Rectangle 9">
                <a:extLst>
                  <a:ext uri="{FF2B5EF4-FFF2-40B4-BE49-F238E27FC236}">
                    <a16:creationId xmlns:a16="http://schemas.microsoft.com/office/drawing/2014/main" id="{F2C7779B-B4F7-D3B8-8220-8C7BCA09792C}"/>
                  </a:ext>
                </a:extLst>
              </p:cNvPr>
              <p:cNvSpPr>
                <a:spLocks noChangeAspect="1"/>
              </p:cNvSpPr>
              <p:nvPr/>
            </p:nvSpPr>
            <p:spPr>
              <a:xfrm>
                <a:off x="698137" y="4221556"/>
                <a:ext cx="3349813" cy="376029"/>
              </a:xfrm>
              <a:prstGeom prst="rect">
                <a:avLst/>
              </a:prstGeom>
              <a:solidFill>
                <a:schemeClr val="tx2">
                  <a:lumMod val="20000"/>
                  <a:lumOff val="80000"/>
                </a:schemeClr>
              </a:solidFill>
              <a:ln w="28575">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lIns="182880" tIns="91440" rIns="91440" bIns="9144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Open Sans"/>
                    <a:ea typeface="+mn-ea"/>
                    <a:cs typeface="+mn-cs"/>
                  </a:rPr>
                  <a:t>REPLATFORM</a:t>
                </a:r>
                <a:endParaRPr kumimoji="0" lang="en-US" sz="1200" b="0" i="1" u="none" strike="noStrike" kern="1200" cap="none" spc="300" normalizeH="0" baseline="0" noProof="0" dirty="0">
                  <a:ln>
                    <a:noFill/>
                  </a:ln>
                  <a:solidFill>
                    <a:prstClr val="black"/>
                  </a:solidFill>
                  <a:effectLst/>
                  <a:uLnTx/>
                  <a:uFillTx/>
                  <a:latin typeface="Open Sans"/>
                  <a:ea typeface="Open Sans Extrabold" charset="0"/>
                  <a:cs typeface="Open Sans Extrabold" charset="0"/>
                </a:endParaRPr>
              </a:p>
            </p:txBody>
          </p:sp>
          <p:grpSp>
            <p:nvGrpSpPr>
              <p:cNvPr id="11" name="Group 10">
                <a:extLst>
                  <a:ext uri="{FF2B5EF4-FFF2-40B4-BE49-F238E27FC236}">
                    <a16:creationId xmlns:a16="http://schemas.microsoft.com/office/drawing/2014/main" id="{39B0D9B8-F57E-8B1A-F1FA-3B38CA8DD3C5}"/>
                  </a:ext>
                </a:extLst>
              </p:cNvPr>
              <p:cNvGrpSpPr/>
              <p:nvPr/>
            </p:nvGrpSpPr>
            <p:grpSpPr>
              <a:xfrm>
                <a:off x="454733" y="4154964"/>
                <a:ext cx="512206" cy="512206"/>
                <a:chOff x="4991377" y="1556489"/>
                <a:chExt cx="619770" cy="619770"/>
              </a:xfrm>
            </p:grpSpPr>
            <p:sp>
              <p:nvSpPr>
                <p:cNvPr id="13" name="Oval 12">
                  <a:extLst>
                    <a:ext uri="{FF2B5EF4-FFF2-40B4-BE49-F238E27FC236}">
                      <a16:creationId xmlns:a16="http://schemas.microsoft.com/office/drawing/2014/main" id="{1787978D-6193-A6BC-480C-12BB335D9CA3}"/>
                    </a:ext>
                  </a:extLst>
                </p:cNvPr>
                <p:cNvSpPr/>
                <p:nvPr/>
              </p:nvSpPr>
              <p:spPr>
                <a:xfrm>
                  <a:off x="4991377" y="1556489"/>
                  <a:ext cx="619770" cy="6197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Open Sans"/>
                    <a:ea typeface="+mn-ea"/>
                    <a:cs typeface="+mn-cs"/>
                  </a:endParaRPr>
                </a:p>
              </p:txBody>
            </p:sp>
            <p:sp>
              <p:nvSpPr>
                <p:cNvPr id="14" name="Freeform 20">
                  <a:extLst>
                    <a:ext uri="{FF2B5EF4-FFF2-40B4-BE49-F238E27FC236}">
                      <a16:creationId xmlns:a16="http://schemas.microsoft.com/office/drawing/2014/main" id="{201C796E-E722-2C4C-15EB-EBA0234C4ACA}"/>
                    </a:ext>
                  </a:extLst>
                </p:cNvPr>
                <p:cNvSpPr>
                  <a:spLocks noEditPoints="1"/>
                </p:cNvSpPr>
                <p:nvPr/>
              </p:nvSpPr>
              <p:spPr bwMode="auto">
                <a:xfrm>
                  <a:off x="5018064" y="1582313"/>
                  <a:ext cx="570188" cy="568123"/>
                </a:xfrm>
                <a:custGeom>
                  <a:avLst/>
                  <a:gdLst>
                    <a:gd name="T0" fmla="*/ 312 w 657"/>
                    <a:gd name="T1" fmla="*/ 658 h 658"/>
                    <a:gd name="T2" fmla="*/ 262 w 657"/>
                    <a:gd name="T3" fmla="*/ 652 h 658"/>
                    <a:gd name="T4" fmla="*/ 200 w 657"/>
                    <a:gd name="T5" fmla="*/ 633 h 658"/>
                    <a:gd name="T6" fmla="*/ 119 w 657"/>
                    <a:gd name="T7" fmla="*/ 583 h 658"/>
                    <a:gd name="T8" fmla="*/ 56 w 657"/>
                    <a:gd name="T9" fmla="*/ 513 h 658"/>
                    <a:gd name="T10" fmla="*/ 14 w 657"/>
                    <a:gd name="T11" fmla="*/ 427 h 658"/>
                    <a:gd name="T12" fmla="*/ 4 w 657"/>
                    <a:gd name="T13" fmla="*/ 379 h 658"/>
                    <a:gd name="T14" fmla="*/ 0 w 657"/>
                    <a:gd name="T15" fmla="*/ 329 h 658"/>
                    <a:gd name="T16" fmla="*/ 1 w 657"/>
                    <a:gd name="T17" fmla="*/ 296 h 658"/>
                    <a:gd name="T18" fmla="*/ 10 w 657"/>
                    <a:gd name="T19" fmla="*/ 247 h 658"/>
                    <a:gd name="T20" fmla="*/ 39 w 657"/>
                    <a:gd name="T21" fmla="*/ 173 h 658"/>
                    <a:gd name="T22" fmla="*/ 96 w 657"/>
                    <a:gd name="T23" fmla="*/ 97 h 658"/>
                    <a:gd name="T24" fmla="*/ 172 w 657"/>
                    <a:gd name="T25" fmla="*/ 40 h 658"/>
                    <a:gd name="T26" fmla="*/ 247 w 657"/>
                    <a:gd name="T27" fmla="*/ 11 h 658"/>
                    <a:gd name="T28" fmla="*/ 295 w 657"/>
                    <a:gd name="T29" fmla="*/ 3 h 658"/>
                    <a:gd name="T30" fmla="*/ 329 w 657"/>
                    <a:gd name="T31" fmla="*/ 0 h 658"/>
                    <a:gd name="T32" fmla="*/ 379 w 657"/>
                    <a:gd name="T33" fmla="*/ 4 h 658"/>
                    <a:gd name="T34" fmla="*/ 426 w 657"/>
                    <a:gd name="T35" fmla="*/ 16 h 658"/>
                    <a:gd name="T36" fmla="*/ 512 w 657"/>
                    <a:gd name="T37" fmla="*/ 56 h 658"/>
                    <a:gd name="T38" fmla="*/ 582 w 657"/>
                    <a:gd name="T39" fmla="*/ 121 h 658"/>
                    <a:gd name="T40" fmla="*/ 631 w 657"/>
                    <a:gd name="T41" fmla="*/ 201 h 658"/>
                    <a:gd name="T42" fmla="*/ 650 w 657"/>
                    <a:gd name="T43" fmla="*/ 263 h 658"/>
                    <a:gd name="T44" fmla="*/ 657 w 657"/>
                    <a:gd name="T45" fmla="*/ 313 h 658"/>
                    <a:gd name="T46" fmla="*/ 657 w 657"/>
                    <a:gd name="T47" fmla="*/ 347 h 658"/>
                    <a:gd name="T48" fmla="*/ 650 w 657"/>
                    <a:gd name="T49" fmla="*/ 396 h 658"/>
                    <a:gd name="T50" fmla="*/ 631 w 657"/>
                    <a:gd name="T51" fmla="*/ 457 h 658"/>
                    <a:gd name="T52" fmla="*/ 582 w 657"/>
                    <a:gd name="T53" fmla="*/ 539 h 658"/>
                    <a:gd name="T54" fmla="*/ 512 w 657"/>
                    <a:gd name="T55" fmla="*/ 602 h 658"/>
                    <a:gd name="T56" fmla="*/ 426 w 657"/>
                    <a:gd name="T57" fmla="*/ 644 h 658"/>
                    <a:gd name="T58" fmla="*/ 379 w 657"/>
                    <a:gd name="T59" fmla="*/ 654 h 658"/>
                    <a:gd name="T60" fmla="*/ 329 w 657"/>
                    <a:gd name="T61" fmla="*/ 658 h 658"/>
                    <a:gd name="T62" fmla="*/ 329 w 657"/>
                    <a:gd name="T63" fmla="*/ 37 h 658"/>
                    <a:gd name="T64" fmla="*/ 242 w 657"/>
                    <a:gd name="T65" fmla="*/ 51 h 658"/>
                    <a:gd name="T66" fmla="*/ 166 w 657"/>
                    <a:gd name="T67" fmla="*/ 89 h 658"/>
                    <a:gd name="T68" fmla="*/ 103 w 657"/>
                    <a:gd name="T69" fmla="*/ 144 h 658"/>
                    <a:gd name="T70" fmla="*/ 60 w 657"/>
                    <a:gd name="T71" fmla="*/ 216 h 658"/>
                    <a:gd name="T72" fmla="*/ 39 w 657"/>
                    <a:gd name="T73" fmla="*/ 300 h 658"/>
                    <a:gd name="T74" fmla="*/ 39 w 657"/>
                    <a:gd name="T75" fmla="*/ 359 h 658"/>
                    <a:gd name="T76" fmla="*/ 60 w 657"/>
                    <a:gd name="T77" fmla="*/ 443 h 658"/>
                    <a:gd name="T78" fmla="*/ 103 w 657"/>
                    <a:gd name="T79" fmla="*/ 515 h 658"/>
                    <a:gd name="T80" fmla="*/ 166 w 657"/>
                    <a:gd name="T81" fmla="*/ 571 h 658"/>
                    <a:gd name="T82" fmla="*/ 242 w 657"/>
                    <a:gd name="T83" fmla="*/ 607 h 658"/>
                    <a:gd name="T84" fmla="*/ 329 w 657"/>
                    <a:gd name="T85" fmla="*/ 621 h 658"/>
                    <a:gd name="T86" fmla="*/ 387 w 657"/>
                    <a:gd name="T87" fmla="*/ 615 h 658"/>
                    <a:gd name="T88" fmla="*/ 467 w 657"/>
                    <a:gd name="T89" fmla="*/ 586 h 658"/>
                    <a:gd name="T90" fmla="*/ 535 w 657"/>
                    <a:gd name="T91" fmla="*/ 535 h 658"/>
                    <a:gd name="T92" fmla="*/ 584 w 657"/>
                    <a:gd name="T93" fmla="*/ 468 h 658"/>
                    <a:gd name="T94" fmla="*/ 614 w 657"/>
                    <a:gd name="T95" fmla="*/ 388 h 658"/>
                    <a:gd name="T96" fmla="*/ 619 w 657"/>
                    <a:gd name="T97" fmla="*/ 329 h 658"/>
                    <a:gd name="T98" fmla="*/ 607 w 657"/>
                    <a:gd name="T99" fmla="*/ 243 h 658"/>
                    <a:gd name="T100" fmla="*/ 570 w 657"/>
                    <a:gd name="T101" fmla="*/ 166 h 658"/>
                    <a:gd name="T102" fmla="*/ 513 w 657"/>
                    <a:gd name="T103" fmla="*/ 105 h 658"/>
                    <a:gd name="T104" fmla="*/ 442 w 657"/>
                    <a:gd name="T105" fmla="*/ 62 h 658"/>
                    <a:gd name="T106" fmla="*/ 359 w 657"/>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8">
                      <a:moveTo>
                        <a:pt x="329" y="658"/>
                      </a:moveTo>
                      <a:lnTo>
                        <a:pt x="329" y="658"/>
                      </a:lnTo>
                      <a:lnTo>
                        <a:pt x="312" y="658"/>
                      </a:lnTo>
                      <a:lnTo>
                        <a:pt x="295" y="657"/>
                      </a:lnTo>
                      <a:lnTo>
                        <a:pt x="278" y="654"/>
                      </a:lnTo>
                      <a:lnTo>
                        <a:pt x="262" y="652"/>
                      </a:lnTo>
                      <a:lnTo>
                        <a:pt x="247" y="648"/>
                      </a:lnTo>
                      <a:lnTo>
                        <a:pt x="231" y="644"/>
                      </a:lnTo>
                      <a:lnTo>
                        <a:pt x="200" y="633"/>
                      </a:lnTo>
                      <a:lnTo>
                        <a:pt x="172" y="618"/>
                      </a:lnTo>
                      <a:lnTo>
                        <a:pt x="145" y="602"/>
                      </a:lnTo>
                      <a:lnTo>
                        <a:pt x="119" y="583"/>
                      </a:lnTo>
                      <a:lnTo>
                        <a:pt x="96" y="562"/>
                      </a:lnTo>
                      <a:lnTo>
                        <a:pt x="75" y="539"/>
                      </a:lnTo>
                      <a:lnTo>
                        <a:pt x="56" y="513"/>
                      </a:lnTo>
                      <a:lnTo>
                        <a:pt x="39" y="486"/>
                      </a:lnTo>
                      <a:lnTo>
                        <a:pt x="25" y="457"/>
                      </a:lnTo>
                      <a:lnTo>
                        <a:pt x="14" y="427"/>
                      </a:lnTo>
                      <a:lnTo>
                        <a:pt x="10" y="411"/>
                      </a:lnTo>
                      <a:lnTo>
                        <a:pt x="6" y="396"/>
                      </a:lnTo>
                      <a:lnTo>
                        <a:pt x="4" y="379"/>
                      </a:lnTo>
                      <a:lnTo>
                        <a:pt x="1" y="363"/>
                      </a:lnTo>
                      <a:lnTo>
                        <a:pt x="0" y="347"/>
                      </a:lnTo>
                      <a:lnTo>
                        <a:pt x="0" y="329"/>
                      </a:lnTo>
                      <a:lnTo>
                        <a:pt x="0" y="329"/>
                      </a:lnTo>
                      <a:lnTo>
                        <a:pt x="0" y="313"/>
                      </a:lnTo>
                      <a:lnTo>
                        <a:pt x="1" y="296"/>
                      </a:lnTo>
                      <a:lnTo>
                        <a:pt x="4" y="279"/>
                      </a:lnTo>
                      <a:lnTo>
                        <a:pt x="6" y="263"/>
                      </a:lnTo>
                      <a:lnTo>
                        <a:pt x="10" y="247"/>
                      </a:lnTo>
                      <a:lnTo>
                        <a:pt x="14" y="232"/>
                      </a:lnTo>
                      <a:lnTo>
                        <a:pt x="25" y="201"/>
                      </a:lnTo>
                      <a:lnTo>
                        <a:pt x="39" y="173"/>
                      </a:lnTo>
                      <a:lnTo>
                        <a:pt x="56" y="145"/>
                      </a:lnTo>
                      <a:lnTo>
                        <a:pt x="75" y="121"/>
                      </a:lnTo>
                      <a:lnTo>
                        <a:pt x="96" y="97"/>
                      </a:lnTo>
                      <a:lnTo>
                        <a:pt x="119" y="75"/>
                      </a:lnTo>
                      <a:lnTo>
                        <a:pt x="145" y="56"/>
                      </a:lnTo>
                      <a:lnTo>
                        <a:pt x="172" y="40"/>
                      </a:lnTo>
                      <a:lnTo>
                        <a:pt x="200" y="27"/>
                      </a:lnTo>
                      <a:lnTo>
                        <a:pt x="231" y="16"/>
                      </a:lnTo>
                      <a:lnTo>
                        <a:pt x="247" y="11"/>
                      </a:lnTo>
                      <a:lnTo>
                        <a:pt x="262" y="7"/>
                      </a:lnTo>
                      <a:lnTo>
                        <a:pt x="278" y="4"/>
                      </a:lnTo>
                      <a:lnTo>
                        <a:pt x="295" y="3"/>
                      </a:lnTo>
                      <a:lnTo>
                        <a:pt x="312" y="1"/>
                      </a:lnTo>
                      <a:lnTo>
                        <a:pt x="329" y="0"/>
                      </a:lnTo>
                      <a:lnTo>
                        <a:pt x="329" y="0"/>
                      </a:lnTo>
                      <a:lnTo>
                        <a:pt x="345" y="1"/>
                      </a:lnTo>
                      <a:lnTo>
                        <a:pt x="363" y="3"/>
                      </a:lnTo>
                      <a:lnTo>
                        <a:pt x="379" y="4"/>
                      </a:lnTo>
                      <a:lnTo>
                        <a:pt x="395" y="7"/>
                      </a:lnTo>
                      <a:lnTo>
                        <a:pt x="411" y="11"/>
                      </a:lnTo>
                      <a:lnTo>
                        <a:pt x="426" y="16"/>
                      </a:lnTo>
                      <a:lnTo>
                        <a:pt x="457" y="27"/>
                      </a:lnTo>
                      <a:lnTo>
                        <a:pt x="485" y="40"/>
                      </a:lnTo>
                      <a:lnTo>
                        <a:pt x="512" y="56"/>
                      </a:lnTo>
                      <a:lnTo>
                        <a:pt x="537" y="75"/>
                      </a:lnTo>
                      <a:lnTo>
                        <a:pt x="561" y="97"/>
                      </a:lnTo>
                      <a:lnTo>
                        <a:pt x="582" y="121"/>
                      </a:lnTo>
                      <a:lnTo>
                        <a:pt x="602" y="145"/>
                      </a:lnTo>
                      <a:lnTo>
                        <a:pt x="618" y="173"/>
                      </a:lnTo>
                      <a:lnTo>
                        <a:pt x="631" y="201"/>
                      </a:lnTo>
                      <a:lnTo>
                        <a:pt x="642" y="232"/>
                      </a:lnTo>
                      <a:lnTo>
                        <a:pt x="648" y="247"/>
                      </a:lnTo>
                      <a:lnTo>
                        <a:pt x="650" y="263"/>
                      </a:lnTo>
                      <a:lnTo>
                        <a:pt x="654" y="279"/>
                      </a:lnTo>
                      <a:lnTo>
                        <a:pt x="656" y="296"/>
                      </a:lnTo>
                      <a:lnTo>
                        <a:pt x="657" y="313"/>
                      </a:lnTo>
                      <a:lnTo>
                        <a:pt x="657" y="329"/>
                      </a:lnTo>
                      <a:lnTo>
                        <a:pt x="657" y="329"/>
                      </a:lnTo>
                      <a:lnTo>
                        <a:pt x="657" y="347"/>
                      </a:lnTo>
                      <a:lnTo>
                        <a:pt x="656" y="363"/>
                      </a:lnTo>
                      <a:lnTo>
                        <a:pt x="654" y="379"/>
                      </a:lnTo>
                      <a:lnTo>
                        <a:pt x="650" y="396"/>
                      </a:lnTo>
                      <a:lnTo>
                        <a:pt x="648" y="411"/>
                      </a:lnTo>
                      <a:lnTo>
                        <a:pt x="642" y="427"/>
                      </a:lnTo>
                      <a:lnTo>
                        <a:pt x="631" y="457"/>
                      </a:lnTo>
                      <a:lnTo>
                        <a:pt x="618" y="486"/>
                      </a:lnTo>
                      <a:lnTo>
                        <a:pt x="602" y="513"/>
                      </a:lnTo>
                      <a:lnTo>
                        <a:pt x="582" y="539"/>
                      </a:lnTo>
                      <a:lnTo>
                        <a:pt x="561" y="562"/>
                      </a:lnTo>
                      <a:lnTo>
                        <a:pt x="537" y="583"/>
                      </a:lnTo>
                      <a:lnTo>
                        <a:pt x="512" y="602"/>
                      </a:lnTo>
                      <a:lnTo>
                        <a:pt x="485" y="618"/>
                      </a:lnTo>
                      <a:lnTo>
                        <a:pt x="457" y="633"/>
                      </a:lnTo>
                      <a:lnTo>
                        <a:pt x="426" y="644"/>
                      </a:lnTo>
                      <a:lnTo>
                        <a:pt x="411" y="648"/>
                      </a:lnTo>
                      <a:lnTo>
                        <a:pt x="395" y="652"/>
                      </a:lnTo>
                      <a:lnTo>
                        <a:pt x="379" y="654"/>
                      </a:lnTo>
                      <a:lnTo>
                        <a:pt x="363" y="657"/>
                      </a:lnTo>
                      <a:lnTo>
                        <a:pt x="345" y="658"/>
                      </a:lnTo>
                      <a:lnTo>
                        <a:pt x="329" y="658"/>
                      </a:lnTo>
                      <a:lnTo>
                        <a:pt x="329" y="658"/>
                      </a:lnTo>
                      <a:close/>
                      <a:moveTo>
                        <a:pt x="329" y="37"/>
                      </a:moveTo>
                      <a:lnTo>
                        <a:pt x="329" y="37"/>
                      </a:lnTo>
                      <a:lnTo>
                        <a:pt x="299" y="40"/>
                      </a:lnTo>
                      <a:lnTo>
                        <a:pt x="270" y="44"/>
                      </a:lnTo>
                      <a:lnTo>
                        <a:pt x="242" y="51"/>
                      </a:lnTo>
                      <a:lnTo>
                        <a:pt x="215" y="62"/>
                      </a:lnTo>
                      <a:lnTo>
                        <a:pt x="189" y="74"/>
                      </a:lnTo>
                      <a:lnTo>
                        <a:pt x="166" y="89"/>
                      </a:lnTo>
                      <a:lnTo>
                        <a:pt x="144" y="105"/>
                      </a:lnTo>
                      <a:lnTo>
                        <a:pt x="122" y="123"/>
                      </a:lnTo>
                      <a:lnTo>
                        <a:pt x="103" y="144"/>
                      </a:lnTo>
                      <a:lnTo>
                        <a:pt x="87" y="166"/>
                      </a:lnTo>
                      <a:lnTo>
                        <a:pt x="72" y="191"/>
                      </a:lnTo>
                      <a:lnTo>
                        <a:pt x="60" y="216"/>
                      </a:lnTo>
                      <a:lnTo>
                        <a:pt x="51" y="243"/>
                      </a:lnTo>
                      <a:lnTo>
                        <a:pt x="43" y="271"/>
                      </a:lnTo>
                      <a:lnTo>
                        <a:pt x="39" y="300"/>
                      </a:lnTo>
                      <a:lnTo>
                        <a:pt x="37" y="329"/>
                      </a:lnTo>
                      <a:lnTo>
                        <a:pt x="37" y="329"/>
                      </a:lnTo>
                      <a:lnTo>
                        <a:pt x="39" y="359"/>
                      </a:lnTo>
                      <a:lnTo>
                        <a:pt x="43" y="388"/>
                      </a:lnTo>
                      <a:lnTo>
                        <a:pt x="51" y="416"/>
                      </a:lnTo>
                      <a:lnTo>
                        <a:pt x="60" y="443"/>
                      </a:lnTo>
                      <a:lnTo>
                        <a:pt x="72" y="468"/>
                      </a:lnTo>
                      <a:lnTo>
                        <a:pt x="87" y="492"/>
                      </a:lnTo>
                      <a:lnTo>
                        <a:pt x="103" y="515"/>
                      </a:lnTo>
                      <a:lnTo>
                        <a:pt x="122" y="535"/>
                      </a:lnTo>
                      <a:lnTo>
                        <a:pt x="144" y="554"/>
                      </a:lnTo>
                      <a:lnTo>
                        <a:pt x="166" y="571"/>
                      </a:lnTo>
                      <a:lnTo>
                        <a:pt x="189" y="586"/>
                      </a:lnTo>
                      <a:lnTo>
                        <a:pt x="215" y="598"/>
                      </a:lnTo>
                      <a:lnTo>
                        <a:pt x="242" y="607"/>
                      </a:lnTo>
                      <a:lnTo>
                        <a:pt x="270" y="615"/>
                      </a:lnTo>
                      <a:lnTo>
                        <a:pt x="299" y="619"/>
                      </a:lnTo>
                      <a:lnTo>
                        <a:pt x="329" y="621"/>
                      </a:lnTo>
                      <a:lnTo>
                        <a:pt x="329" y="621"/>
                      </a:lnTo>
                      <a:lnTo>
                        <a:pt x="359" y="619"/>
                      </a:lnTo>
                      <a:lnTo>
                        <a:pt x="387" y="615"/>
                      </a:lnTo>
                      <a:lnTo>
                        <a:pt x="415" y="607"/>
                      </a:lnTo>
                      <a:lnTo>
                        <a:pt x="442" y="598"/>
                      </a:lnTo>
                      <a:lnTo>
                        <a:pt x="467" y="586"/>
                      </a:lnTo>
                      <a:lnTo>
                        <a:pt x="492" y="571"/>
                      </a:lnTo>
                      <a:lnTo>
                        <a:pt x="513" y="554"/>
                      </a:lnTo>
                      <a:lnTo>
                        <a:pt x="535" y="535"/>
                      </a:lnTo>
                      <a:lnTo>
                        <a:pt x="553" y="515"/>
                      </a:lnTo>
                      <a:lnTo>
                        <a:pt x="570" y="492"/>
                      </a:lnTo>
                      <a:lnTo>
                        <a:pt x="584" y="468"/>
                      </a:lnTo>
                      <a:lnTo>
                        <a:pt x="596" y="443"/>
                      </a:lnTo>
                      <a:lnTo>
                        <a:pt x="607" y="416"/>
                      </a:lnTo>
                      <a:lnTo>
                        <a:pt x="614" y="388"/>
                      </a:lnTo>
                      <a:lnTo>
                        <a:pt x="618" y="359"/>
                      </a:lnTo>
                      <a:lnTo>
                        <a:pt x="619" y="329"/>
                      </a:lnTo>
                      <a:lnTo>
                        <a:pt x="619" y="329"/>
                      </a:lnTo>
                      <a:lnTo>
                        <a:pt x="618" y="300"/>
                      </a:lnTo>
                      <a:lnTo>
                        <a:pt x="614" y="271"/>
                      </a:lnTo>
                      <a:lnTo>
                        <a:pt x="607" y="243"/>
                      </a:lnTo>
                      <a:lnTo>
                        <a:pt x="596" y="216"/>
                      </a:lnTo>
                      <a:lnTo>
                        <a:pt x="584" y="191"/>
                      </a:lnTo>
                      <a:lnTo>
                        <a:pt x="570" y="166"/>
                      </a:lnTo>
                      <a:lnTo>
                        <a:pt x="553" y="144"/>
                      </a:lnTo>
                      <a:lnTo>
                        <a:pt x="535" y="123"/>
                      </a:lnTo>
                      <a:lnTo>
                        <a:pt x="513" y="105"/>
                      </a:lnTo>
                      <a:lnTo>
                        <a:pt x="492" y="89"/>
                      </a:lnTo>
                      <a:lnTo>
                        <a:pt x="467" y="74"/>
                      </a:lnTo>
                      <a:lnTo>
                        <a:pt x="442" y="62"/>
                      </a:lnTo>
                      <a:lnTo>
                        <a:pt x="415" y="51"/>
                      </a:lnTo>
                      <a:lnTo>
                        <a:pt x="387" y="44"/>
                      </a:lnTo>
                      <a:lnTo>
                        <a:pt x="359" y="40"/>
                      </a:lnTo>
                      <a:lnTo>
                        <a:pt x="329" y="37"/>
                      </a:lnTo>
                      <a:lnTo>
                        <a:pt x="329" y="37"/>
                      </a:lnTo>
                      <a:close/>
                    </a:path>
                  </a:pathLst>
                </a:custGeom>
                <a:solidFill>
                  <a:srgbClr val="EAEB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Open Sans"/>
                    <a:ea typeface="+mn-ea"/>
                    <a:cs typeface="+mn-cs"/>
                  </a:endParaRPr>
                </a:p>
              </p:txBody>
            </p:sp>
            <p:sp>
              <p:nvSpPr>
                <p:cNvPr id="15" name="TextBox 14">
                  <a:extLst>
                    <a:ext uri="{FF2B5EF4-FFF2-40B4-BE49-F238E27FC236}">
                      <a16:creationId xmlns:a16="http://schemas.microsoft.com/office/drawing/2014/main" id="{4ACD2C00-864A-084C-F24B-2D9265615E6D}"/>
                    </a:ext>
                  </a:extLst>
                </p:cNvPr>
                <p:cNvSpPr txBox="1"/>
                <p:nvPr/>
              </p:nvSpPr>
              <p:spPr>
                <a:xfrm>
                  <a:off x="5008812" y="1642929"/>
                  <a:ext cx="584901" cy="446892"/>
                </a:xfrm>
                <a:prstGeom prst="rect">
                  <a:avLst/>
                </a:prstGeom>
                <a:noFill/>
                <a:ln>
                  <a:noFill/>
                </a:ln>
              </p:spPr>
              <p:txBody>
                <a:bodyPr wrap="squar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Open Sans"/>
                      <a:ea typeface="+mn-ea"/>
                      <a:cs typeface="+mn-cs"/>
                    </a:rPr>
                    <a:t>4</a:t>
                  </a:r>
                  <a:endParaRPr kumimoji="0" lang="en-US" sz="2400" b="1" i="0" u="none" strike="noStrike" kern="1200" cap="none" spc="0" normalizeH="0" baseline="0" noProof="0">
                    <a:ln>
                      <a:noFill/>
                    </a:ln>
                    <a:solidFill>
                      <a:prstClr val="black"/>
                    </a:solidFill>
                    <a:effectLst/>
                    <a:uLnTx/>
                    <a:uFillTx/>
                    <a:latin typeface="Open Sans"/>
                    <a:ea typeface="+mn-ea"/>
                    <a:cs typeface="+mn-cs"/>
                  </a:endParaRPr>
                </a:p>
              </p:txBody>
            </p:sp>
          </p:grpSp>
          <p:sp>
            <p:nvSpPr>
              <p:cNvPr id="12" name="TextBox 11">
                <a:extLst>
                  <a:ext uri="{FF2B5EF4-FFF2-40B4-BE49-F238E27FC236}">
                    <a16:creationId xmlns:a16="http://schemas.microsoft.com/office/drawing/2014/main" id="{717722A8-B48E-CA93-2BE2-9BE7E1FAF8ED}"/>
                  </a:ext>
                </a:extLst>
              </p:cNvPr>
              <p:cNvSpPr txBox="1"/>
              <p:nvPr/>
            </p:nvSpPr>
            <p:spPr>
              <a:xfrm>
                <a:off x="770835" y="4632067"/>
                <a:ext cx="6447617"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Lift and shift of existing code base from Source Data platform to cloud (or Hybrid architecture) with minimal refactoring to maintain the status quo of existing applications. Lowest business disruption and fastest time to market to decommission legacy platform. Highest technical debt. Not recommended as a standalone option.</a:t>
                </a:r>
              </a:p>
            </p:txBody>
          </p:sp>
        </p:grpSp>
        <p:grpSp>
          <p:nvGrpSpPr>
            <p:cNvPr id="16" name="Group 15">
              <a:extLst>
                <a:ext uri="{FF2B5EF4-FFF2-40B4-BE49-F238E27FC236}">
                  <a16:creationId xmlns:a16="http://schemas.microsoft.com/office/drawing/2014/main" id="{8EAB8A0C-5C10-BC97-407A-7004FA9543C6}"/>
                </a:ext>
              </a:extLst>
            </p:cNvPr>
            <p:cNvGrpSpPr/>
            <p:nvPr/>
          </p:nvGrpSpPr>
          <p:grpSpPr>
            <a:xfrm>
              <a:off x="418923" y="1400811"/>
              <a:ext cx="6799529" cy="1097404"/>
              <a:chOff x="418923" y="1400811"/>
              <a:chExt cx="6799529" cy="1097404"/>
            </a:xfrm>
          </p:grpSpPr>
          <p:sp>
            <p:nvSpPr>
              <p:cNvPr id="17" name="Rectangle 16">
                <a:extLst>
                  <a:ext uri="{FF2B5EF4-FFF2-40B4-BE49-F238E27FC236}">
                    <a16:creationId xmlns:a16="http://schemas.microsoft.com/office/drawing/2014/main" id="{FE41E2A0-2525-14DA-6858-A5D7D9E1A235}"/>
                  </a:ext>
                </a:extLst>
              </p:cNvPr>
              <p:cNvSpPr>
                <a:spLocks/>
              </p:cNvSpPr>
              <p:nvPr/>
            </p:nvSpPr>
            <p:spPr>
              <a:xfrm>
                <a:off x="739798" y="1702719"/>
                <a:ext cx="6478654" cy="795496"/>
              </a:xfrm>
              <a:prstGeom prst="rect">
                <a:avLst/>
              </a:prstGeom>
              <a:noFill/>
              <a:ln w="19050" cap="flat">
                <a:solidFill>
                  <a:srgbClr val="0585CE"/>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Open Sans"/>
                  <a:cs typeface="Open Sans"/>
                  <a:sym typeface="Open Sans"/>
                </a:endParaRPr>
              </a:p>
            </p:txBody>
          </p:sp>
          <p:sp>
            <p:nvSpPr>
              <p:cNvPr id="18" name="Rectangle 17">
                <a:extLst>
                  <a:ext uri="{FF2B5EF4-FFF2-40B4-BE49-F238E27FC236}">
                    <a16:creationId xmlns:a16="http://schemas.microsoft.com/office/drawing/2014/main" id="{5ED83DC3-752D-68CA-3039-67B50D875321}"/>
                  </a:ext>
                </a:extLst>
              </p:cNvPr>
              <p:cNvSpPr>
                <a:spLocks noChangeAspect="1"/>
              </p:cNvSpPr>
              <p:nvPr/>
            </p:nvSpPr>
            <p:spPr>
              <a:xfrm>
                <a:off x="783672" y="1485798"/>
                <a:ext cx="3232250" cy="376029"/>
              </a:xfrm>
              <a:prstGeom prst="rect">
                <a:avLst/>
              </a:prstGeom>
              <a:solidFill>
                <a:srgbClr val="007BC1"/>
              </a:solidFill>
              <a:ln w="28575">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lIns="182880" tIns="91440" rIns="91440" bIns="9144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Open Sans"/>
                    <a:ea typeface="+mn-ea"/>
                    <a:cs typeface="+mn-cs"/>
                  </a:rPr>
                  <a:t>REPLATFORM </a:t>
                </a:r>
                <a:r>
                  <a:rPr kumimoji="0" lang="en-US" sz="1200" b="1" i="0" u="none" strike="noStrike" kern="1200" cap="none" spc="0" normalizeH="0" baseline="0" noProof="0">
                    <a:ln>
                      <a:noFill/>
                    </a:ln>
                    <a:solidFill>
                      <a:prstClr val="black"/>
                    </a:solidFill>
                    <a:effectLst/>
                    <a:uLnTx/>
                    <a:uFillTx/>
                    <a:latin typeface="Open Sans"/>
                    <a:ea typeface="+mn-ea"/>
                    <a:cs typeface="+mn-cs"/>
                  </a:rPr>
                  <a:t>&amp; REENGINEER</a:t>
                </a:r>
                <a:endParaRPr kumimoji="0" lang="en-US" sz="1200" b="0" i="1" u="none" strike="noStrike" kern="1200" cap="none" spc="300" normalizeH="0" baseline="0" noProof="0" dirty="0">
                  <a:ln>
                    <a:noFill/>
                  </a:ln>
                  <a:solidFill>
                    <a:prstClr val="black"/>
                  </a:solidFill>
                  <a:effectLst/>
                  <a:uLnTx/>
                  <a:uFillTx/>
                  <a:latin typeface="Open Sans"/>
                  <a:ea typeface="Open Sans Extrabold" charset="0"/>
                  <a:cs typeface="Open Sans Extrabold" charset="0"/>
                </a:endParaRPr>
              </a:p>
            </p:txBody>
          </p:sp>
          <p:grpSp>
            <p:nvGrpSpPr>
              <p:cNvPr id="19" name="Group 18">
                <a:extLst>
                  <a:ext uri="{FF2B5EF4-FFF2-40B4-BE49-F238E27FC236}">
                    <a16:creationId xmlns:a16="http://schemas.microsoft.com/office/drawing/2014/main" id="{B0C3B1B5-4AEB-F5C1-8D20-31DC0D71F48B}"/>
                  </a:ext>
                </a:extLst>
              </p:cNvPr>
              <p:cNvGrpSpPr/>
              <p:nvPr/>
            </p:nvGrpSpPr>
            <p:grpSpPr>
              <a:xfrm>
                <a:off x="418923" y="1400811"/>
                <a:ext cx="531702" cy="604278"/>
                <a:chOff x="527244" y="1450631"/>
                <a:chExt cx="531702" cy="604278"/>
              </a:xfrm>
            </p:grpSpPr>
            <p:sp>
              <p:nvSpPr>
                <p:cNvPr id="21" name="Oval 20">
                  <a:extLst>
                    <a:ext uri="{FF2B5EF4-FFF2-40B4-BE49-F238E27FC236}">
                      <a16:creationId xmlns:a16="http://schemas.microsoft.com/office/drawing/2014/main" id="{0BF7F75C-9682-4309-B3DE-011B628D81BB}"/>
                    </a:ext>
                  </a:extLst>
                </p:cNvPr>
                <p:cNvSpPr/>
                <p:nvPr/>
              </p:nvSpPr>
              <p:spPr>
                <a:xfrm>
                  <a:off x="527244" y="1450631"/>
                  <a:ext cx="531702" cy="6042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Open Sans"/>
                    <a:ea typeface="+mn-ea"/>
                    <a:cs typeface="+mn-cs"/>
                  </a:endParaRPr>
                </a:p>
              </p:txBody>
            </p:sp>
            <p:sp>
              <p:nvSpPr>
                <p:cNvPr id="22" name="Freeform 20">
                  <a:extLst>
                    <a:ext uri="{FF2B5EF4-FFF2-40B4-BE49-F238E27FC236}">
                      <a16:creationId xmlns:a16="http://schemas.microsoft.com/office/drawing/2014/main" id="{6A6FC3EA-9825-9664-2884-BA6090932BE0}"/>
                    </a:ext>
                  </a:extLst>
                </p:cNvPr>
                <p:cNvSpPr>
                  <a:spLocks noEditPoints="1"/>
                </p:cNvSpPr>
                <p:nvPr/>
              </p:nvSpPr>
              <p:spPr bwMode="auto">
                <a:xfrm>
                  <a:off x="568495" y="1510262"/>
                  <a:ext cx="471230" cy="469523"/>
                </a:xfrm>
                <a:custGeom>
                  <a:avLst/>
                  <a:gdLst>
                    <a:gd name="T0" fmla="*/ 312 w 657"/>
                    <a:gd name="T1" fmla="*/ 658 h 658"/>
                    <a:gd name="T2" fmla="*/ 262 w 657"/>
                    <a:gd name="T3" fmla="*/ 652 h 658"/>
                    <a:gd name="T4" fmla="*/ 200 w 657"/>
                    <a:gd name="T5" fmla="*/ 633 h 658"/>
                    <a:gd name="T6" fmla="*/ 119 w 657"/>
                    <a:gd name="T7" fmla="*/ 583 h 658"/>
                    <a:gd name="T8" fmla="*/ 56 w 657"/>
                    <a:gd name="T9" fmla="*/ 513 h 658"/>
                    <a:gd name="T10" fmla="*/ 14 w 657"/>
                    <a:gd name="T11" fmla="*/ 427 h 658"/>
                    <a:gd name="T12" fmla="*/ 4 w 657"/>
                    <a:gd name="T13" fmla="*/ 379 h 658"/>
                    <a:gd name="T14" fmla="*/ 0 w 657"/>
                    <a:gd name="T15" fmla="*/ 329 h 658"/>
                    <a:gd name="T16" fmla="*/ 1 w 657"/>
                    <a:gd name="T17" fmla="*/ 296 h 658"/>
                    <a:gd name="T18" fmla="*/ 10 w 657"/>
                    <a:gd name="T19" fmla="*/ 247 h 658"/>
                    <a:gd name="T20" fmla="*/ 39 w 657"/>
                    <a:gd name="T21" fmla="*/ 173 h 658"/>
                    <a:gd name="T22" fmla="*/ 96 w 657"/>
                    <a:gd name="T23" fmla="*/ 97 h 658"/>
                    <a:gd name="T24" fmla="*/ 172 w 657"/>
                    <a:gd name="T25" fmla="*/ 40 h 658"/>
                    <a:gd name="T26" fmla="*/ 247 w 657"/>
                    <a:gd name="T27" fmla="*/ 11 h 658"/>
                    <a:gd name="T28" fmla="*/ 295 w 657"/>
                    <a:gd name="T29" fmla="*/ 3 h 658"/>
                    <a:gd name="T30" fmla="*/ 329 w 657"/>
                    <a:gd name="T31" fmla="*/ 0 h 658"/>
                    <a:gd name="T32" fmla="*/ 379 w 657"/>
                    <a:gd name="T33" fmla="*/ 4 h 658"/>
                    <a:gd name="T34" fmla="*/ 426 w 657"/>
                    <a:gd name="T35" fmla="*/ 16 h 658"/>
                    <a:gd name="T36" fmla="*/ 512 w 657"/>
                    <a:gd name="T37" fmla="*/ 56 h 658"/>
                    <a:gd name="T38" fmla="*/ 582 w 657"/>
                    <a:gd name="T39" fmla="*/ 121 h 658"/>
                    <a:gd name="T40" fmla="*/ 631 w 657"/>
                    <a:gd name="T41" fmla="*/ 201 h 658"/>
                    <a:gd name="T42" fmla="*/ 650 w 657"/>
                    <a:gd name="T43" fmla="*/ 263 h 658"/>
                    <a:gd name="T44" fmla="*/ 657 w 657"/>
                    <a:gd name="T45" fmla="*/ 313 h 658"/>
                    <a:gd name="T46" fmla="*/ 657 w 657"/>
                    <a:gd name="T47" fmla="*/ 347 h 658"/>
                    <a:gd name="T48" fmla="*/ 650 w 657"/>
                    <a:gd name="T49" fmla="*/ 396 h 658"/>
                    <a:gd name="T50" fmla="*/ 631 w 657"/>
                    <a:gd name="T51" fmla="*/ 457 h 658"/>
                    <a:gd name="T52" fmla="*/ 582 w 657"/>
                    <a:gd name="T53" fmla="*/ 539 h 658"/>
                    <a:gd name="T54" fmla="*/ 512 w 657"/>
                    <a:gd name="T55" fmla="*/ 602 h 658"/>
                    <a:gd name="T56" fmla="*/ 426 w 657"/>
                    <a:gd name="T57" fmla="*/ 644 h 658"/>
                    <a:gd name="T58" fmla="*/ 379 w 657"/>
                    <a:gd name="T59" fmla="*/ 654 h 658"/>
                    <a:gd name="T60" fmla="*/ 329 w 657"/>
                    <a:gd name="T61" fmla="*/ 658 h 658"/>
                    <a:gd name="T62" fmla="*/ 329 w 657"/>
                    <a:gd name="T63" fmla="*/ 37 h 658"/>
                    <a:gd name="T64" fmla="*/ 242 w 657"/>
                    <a:gd name="T65" fmla="*/ 51 h 658"/>
                    <a:gd name="T66" fmla="*/ 166 w 657"/>
                    <a:gd name="T67" fmla="*/ 89 h 658"/>
                    <a:gd name="T68" fmla="*/ 103 w 657"/>
                    <a:gd name="T69" fmla="*/ 144 h 658"/>
                    <a:gd name="T70" fmla="*/ 60 w 657"/>
                    <a:gd name="T71" fmla="*/ 216 h 658"/>
                    <a:gd name="T72" fmla="*/ 39 w 657"/>
                    <a:gd name="T73" fmla="*/ 300 h 658"/>
                    <a:gd name="T74" fmla="*/ 39 w 657"/>
                    <a:gd name="T75" fmla="*/ 359 h 658"/>
                    <a:gd name="T76" fmla="*/ 60 w 657"/>
                    <a:gd name="T77" fmla="*/ 443 h 658"/>
                    <a:gd name="T78" fmla="*/ 103 w 657"/>
                    <a:gd name="T79" fmla="*/ 515 h 658"/>
                    <a:gd name="T80" fmla="*/ 166 w 657"/>
                    <a:gd name="T81" fmla="*/ 571 h 658"/>
                    <a:gd name="T82" fmla="*/ 242 w 657"/>
                    <a:gd name="T83" fmla="*/ 607 h 658"/>
                    <a:gd name="T84" fmla="*/ 329 w 657"/>
                    <a:gd name="T85" fmla="*/ 621 h 658"/>
                    <a:gd name="T86" fmla="*/ 387 w 657"/>
                    <a:gd name="T87" fmla="*/ 615 h 658"/>
                    <a:gd name="T88" fmla="*/ 467 w 657"/>
                    <a:gd name="T89" fmla="*/ 586 h 658"/>
                    <a:gd name="T90" fmla="*/ 535 w 657"/>
                    <a:gd name="T91" fmla="*/ 535 h 658"/>
                    <a:gd name="T92" fmla="*/ 584 w 657"/>
                    <a:gd name="T93" fmla="*/ 468 h 658"/>
                    <a:gd name="T94" fmla="*/ 614 w 657"/>
                    <a:gd name="T95" fmla="*/ 388 h 658"/>
                    <a:gd name="T96" fmla="*/ 619 w 657"/>
                    <a:gd name="T97" fmla="*/ 329 h 658"/>
                    <a:gd name="T98" fmla="*/ 607 w 657"/>
                    <a:gd name="T99" fmla="*/ 243 h 658"/>
                    <a:gd name="T100" fmla="*/ 570 w 657"/>
                    <a:gd name="T101" fmla="*/ 166 h 658"/>
                    <a:gd name="T102" fmla="*/ 513 w 657"/>
                    <a:gd name="T103" fmla="*/ 105 h 658"/>
                    <a:gd name="T104" fmla="*/ 442 w 657"/>
                    <a:gd name="T105" fmla="*/ 62 h 658"/>
                    <a:gd name="T106" fmla="*/ 359 w 657"/>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8">
                      <a:moveTo>
                        <a:pt x="329" y="658"/>
                      </a:moveTo>
                      <a:lnTo>
                        <a:pt x="329" y="658"/>
                      </a:lnTo>
                      <a:lnTo>
                        <a:pt x="312" y="658"/>
                      </a:lnTo>
                      <a:lnTo>
                        <a:pt x="295" y="657"/>
                      </a:lnTo>
                      <a:lnTo>
                        <a:pt x="278" y="654"/>
                      </a:lnTo>
                      <a:lnTo>
                        <a:pt x="262" y="652"/>
                      </a:lnTo>
                      <a:lnTo>
                        <a:pt x="247" y="648"/>
                      </a:lnTo>
                      <a:lnTo>
                        <a:pt x="231" y="644"/>
                      </a:lnTo>
                      <a:lnTo>
                        <a:pt x="200" y="633"/>
                      </a:lnTo>
                      <a:lnTo>
                        <a:pt x="172" y="618"/>
                      </a:lnTo>
                      <a:lnTo>
                        <a:pt x="145" y="602"/>
                      </a:lnTo>
                      <a:lnTo>
                        <a:pt x="119" y="583"/>
                      </a:lnTo>
                      <a:lnTo>
                        <a:pt x="96" y="562"/>
                      </a:lnTo>
                      <a:lnTo>
                        <a:pt x="75" y="539"/>
                      </a:lnTo>
                      <a:lnTo>
                        <a:pt x="56" y="513"/>
                      </a:lnTo>
                      <a:lnTo>
                        <a:pt x="39" y="486"/>
                      </a:lnTo>
                      <a:lnTo>
                        <a:pt x="25" y="457"/>
                      </a:lnTo>
                      <a:lnTo>
                        <a:pt x="14" y="427"/>
                      </a:lnTo>
                      <a:lnTo>
                        <a:pt x="10" y="411"/>
                      </a:lnTo>
                      <a:lnTo>
                        <a:pt x="6" y="396"/>
                      </a:lnTo>
                      <a:lnTo>
                        <a:pt x="4" y="379"/>
                      </a:lnTo>
                      <a:lnTo>
                        <a:pt x="1" y="363"/>
                      </a:lnTo>
                      <a:lnTo>
                        <a:pt x="0" y="347"/>
                      </a:lnTo>
                      <a:lnTo>
                        <a:pt x="0" y="329"/>
                      </a:lnTo>
                      <a:lnTo>
                        <a:pt x="0" y="329"/>
                      </a:lnTo>
                      <a:lnTo>
                        <a:pt x="0" y="313"/>
                      </a:lnTo>
                      <a:lnTo>
                        <a:pt x="1" y="296"/>
                      </a:lnTo>
                      <a:lnTo>
                        <a:pt x="4" y="279"/>
                      </a:lnTo>
                      <a:lnTo>
                        <a:pt x="6" y="263"/>
                      </a:lnTo>
                      <a:lnTo>
                        <a:pt x="10" y="247"/>
                      </a:lnTo>
                      <a:lnTo>
                        <a:pt x="14" y="232"/>
                      </a:lnTo>
                      <a:lnTo>
                        <a:pt x="25" y="201"/>
                      </a:lnTo>
                      <a:lnTo>
                        <a:pt x="39" y="173"/>
                      </a:lnTo>
                      <a:lnTo>
                        <a:pt x="56" y="145"/>
                      </a:lnTo>
                      <a:lnTo>
                        <a:pt x="75" y="121"/>
                      </a:lnTo>
                      <a:lnTo>
                        <a:pt x="96" y="97"/>
                      </a:lnTo>
                      <a:lnTo>
                        <a:pt x="119" y="75"/>
                      </a:lnTo>
                      <a:lnTo>
                        <a:pt x="145" y="56"/>
                      </a:lnTo>
                      <a:lnTo>
                        <a:pt x="172" y="40"/>
                      </a:lnTo>
                      <a:lnTo>
                        <a:pt x="200" y="27"/>
                      </a:lnTo>
                      <a:lnTo>
                        <a:pt x="231" y="16"/>
                      </a:lnTo>
                      <a:lnTo>
                        <a:pt x="247" y="11"/>
                      </a:lnTo>
                      <a:lnTo>
                        <a:pt x="262" y="7"/>
                      </a:lnTo>
                      <a:lnTo>
                        <a:pt x="278" y="4"/>
                      </a:lnTo>
                      <a:lnTo>
                        <a:pt x="295" y="3"/>
                      </a:lnTo>
                      <a:lnTo>
                        <a:pt x="312" y="1"/>
                      </a:lnTo>
                      <a:lnTo>
                        <a:pt x="329" y="0"/>
                      </a:lnTo>
                      <a:lnTo>
                        <a:pt x="329" y="0"/>
                      </a:lnTo>
                      <a:lnTo>
                        <a:pt x="345" y="1"/>
                      </a:lnTo>
                      <a:lnTo>
                        <a:pt x="363" y="3"/>
                      </a:lnTo>
                      <a:lnTo>
                        <a:pt x="379" y="4"/>
                      </a:lnTo>
                      <a:lnTo>
                        <a:pt x="395" y="7"/>
                      </a:lnTo>
                      <a:lnTo>
                        <a:pt x="411" y="11"/>
                      </a:lnTo>
                      <a:lnTo>
                        <a:pt x="426" y="16"/>
                      </a:lnTo>
                      <a:lnTo>
                        <a:pt x="457" y="27"/>
                      </a:lnTo>
                      <a:lnTo>
                        <a:pt x="485" y="40"/>
                      </a:lnTo>
                      <a:lnTo>
                        <a:pt x="512" y="56"/>
                      </a:lnTo>
                      <a:lnTo>
                        <a:pt x="537" y="75"/>
                      </a:lnTo>
                      <a:lnTo>
                        <a:pt x="561" y="97"/>
                      </a:lnTo>
                      <a:lnTo>
                        <a:pt x="582" y="121"/>
                      </a:lnTo>
                      <a:lnTo>
                        <a:pt x="602" y="145"/>
                      </a:lnTo>
                      <a:lnTo>
                        <a:pt x="618" y="173"/>
                      </a:lnTo>
                      <a:lnTo>
                        <a:pt x="631" y="201"/>
                      </a:lnTo>
                      <a:lnTo>
                        <a:pt x="642" y="232"/>
                      </a:lnTo>
                      <a:lnTo>
                        <a:pt x="648" y="247"/>
                      </a:lnTo>
                      <a:lnTo>
                        <a:pt x="650" y="263"/>
                      </a:lnTo>
                      <a:lnTo>
                        <a:pt x="654" y="279"/>
                      </a:lnTo>
                      <a:lnTo>
                        <a:pt x="656" y="296"/>
                      </a:lnTo>
                      <a:lnTo>
                        <a:pt x="657" y="313"/>
                      </a:lnTo>
                      <a:lnTo>
                        <a:pt x="657" y="329"/>
                      </a:lnTo>
                      <a:lnTo>
                        <a:pt x="657" y="329"/>
                      </a:lnTo>
                      <a:lnTo>
                        <a:pt x="657" y="347"/>
                      </a:lnTo>
                      <a:lnTo>
                        <a:pt x="656" y="363"/>
                      </a:lnTo>
                      <a:lnTo>
                        <a:pt x="654" y="379"/>
                      </a:lnTo>
                      <a:lnTo>
                        <a:pt x="650" y="396"/>
                      </a:lnTo>
                      <a:lnTo>
                        <a:pt x="648" y="411"/>
                      </a:lnTo>
                      <a:lnTo>
                        <a:pt x="642" y="427"/>
                      </a:lnTo>
                      <a:lnTo>
                        <a:pt x="631" y="457"/>
                      </a:lnTo>
                      <a:lnTo>
                        <a:pt x="618" y="486"/>
                      </a:lnTo>
                      <a:lnTo>
                        <a:pt x="602" y="513"/>
                      </a:lnTo>
                      <a:lnTo>
                        <a:pt x="582" y="539"/>
                      </a:lnTo>
                      <a:lnTo>
                        <a:pt x="561" y="562"/>
                      </a:lnTo>
                      <a:lnTo>
                        <a:pt x="537" y="583"/>
                      </a:lnTo>
                      <a:lnTo>
                        <a:pt x="512" y="602"/>
                      </a:lnTo>
                      <a:lnTo>
                        <a:pt x="485" y="618"/>
                      </a:lnTo>
                      <a:lnTo>
                        <a:pt x="457" y="633"/>
                      </a:lnTo>
                      <a:lnTo>
                        <a:pt x="426" y="644"/>
                      </a:lnTo>
                      <a:lnTo>
                        <a:pt x="411" y="648"/>
                      </a:lnTo>
                      <a:lnTo>
                        <a:pt x="395" y="652"/>
                      </a:lnTo>
                      <a:lnTo>
                        <a:pt x="379" y="654"/>
                      </a:lnTo>
                      <a:lnTo>
                        <a:pt x="363" y="657"/>
                      </a:lnTo>
                      <a:lnTo>
                        <a:pt x="345" y="658"/>
                      </a:lnTo>
                      <a:lnTo>
                        <a:pt x="329" y="658"/>
                      </a:lnTo>
                      <a:lnTo>
                        <a:pt x="329" y="658"/>
                      </a:lnTo>
                      <a:close/>
                      <a:moveTo>
                        <a:pt x="329" y="37"/>
                      </a:moveTo>
                      <a:lnTo>
                        <a:pt x="329" y="37"/>
                      </a:lnTo>
                      <a:lnTo>
                        <a:pt x="299" y="40"/>
                      </a:lnTo>
                      <a:lnTo>
                        <a:pt x="270" y="44"/>
                      </a:lnTo>
                      <a:lnTo>
                        <a:pt x="242" y="51"/>
                      </a:lnTo>
                      <a:lnTo>
                        <a:pt x="215" y="62"/>
                      </a:lnTo>
                      <a:lnTo>
                        <a:pt x="189" y="74"/>
                      </a:lnTo>
                      <a:lnTo>
                        <a:pt x="166" y="89"/>
                      </a:lnTo>
                      <a:lnTo>
                        <a:pt x="144" y="105"/>
                      </a:lnTo>
                      <a:lnTo>
                        <a:pt x="122" y="123"/>
                      </a:lnTo>
                      <a:lnTo>
                        <a:pt x="103" y="144"/>
                      </a:lnTo>
                      <a:lnTo>
                        <a:pt x="87" y="166"/>
                      </a:lnTo>
                      <a:lnTo>
                        <a:pt x="72" y="191"/>
                      </a:lnTo>
                      <a:lnTo>
                        <a:pt x="60" y="216"/>
                      </a:lnTo>
                      <a:lnTo>
                        <a:pt x="51" y="243"/>
                      </a:lnTo>
                      <a:lnTo>
                        <a:pt x="43" y="271"/>
                      </a:lnTo>
                      <a:lnTo>
                        <a:pt x="39" y="300"/>
                      </a:lnTo>
                      <a:lnTo>
                        <a:pt x="37" y="329"/>
                      </a:lnTo>
                      <a:lnTo>
                        <a:pt x="37" y="329"/>
                      </a:lnTo>
                      <a:lnTo>
                        <a:pt x="39" y="359"/>
                      </a:lnTo>
                      <a:lnTo>
                        <a:pt x="43" y="388"/>
                      </a:lnTo>
                      <a:lnTo>
                        <a:pt x="51" y="416"/>
                      </a:lnTo>
                      <a:lnTo>
                        <a:pt x="60" y="443"/>
                      </a:lnTo>
                      <a:lnTo>
                        <a:pt x="72" y="468"/>
                      </a:lnTo>
                      <a:lnTo>
                        <a:pt x="87" y="492"/>
                      </a:lnTo>
                      <a:lnTo>
                        <a:pt x="103" y="515"/>
                      </a:lnTo>
                      <a:lnTo>
                        <a:pt x="122" y="535"/>
                      </a:lnTo>
                      <a:lnTo>
                        <a:pt x="144" y="554"/>
                      </a:lnTo>
                      <a:lnTo>
                        <a:pt x="166" y="571"/>
                      </a:lnTo>
                      <a:lnTo>
                        <a:pt x="189" y="586"/>
                      </a:lnTo>
                      <a:lnTo>
                        <a:pt x="215" y="598"/>
                      </a:lnTo>
                      <a:lnTo>
                        <a:pt x="242" y="607"/>
                      </a:lnTo>
                      <a:lnTo>
                        <a:pt x="270" y="615"/>
                      </a:lnTo>
                      <a:lnTo>
                        <a:pt x="299" y="619"/>
                      </a:lnTo>
                      <a:lnTo>
                        <a:pt x="329" y="621"/>
                      </a:lnTo>
                      <a:lnTo>
                        <a:pt x="329" y="621"/>
                      </a:lnTo>
                      <a:lnTo>
                        <a:pt x="359" y="619"/>
                      </a:lnTo>
                      <a:lnTo>
                        <a:pt x="387" y="615"/>
                      </a:lnTo>
                      <a:lnTo>
                        <a:pt x="415" y="607"/>
                      </a:lnTo>
                      <a:lnTo>
                        <a:pt x="442" y="598"/>
                      </a:lnTo>
                      <a:lnTo>
                        <a:pt x="467" y="586"/>
                      </a:lnTo>
                      <a:lnTo>
                        <a:pt x="492" y="571"/>
                      </a:lnTo>
                      <a:lnTo>
                        <a:pt x="513" y="554"/>
                      </a:lnTo>
                      <a:lnTo>
                        <a:pt x="535" y="535"/>
                      </a:lnTo>
                      <a:lnTo>
                        <a:pt x="553" y="515"/>
                      </a:lnTo>
                      <a:lnTo>
                        <a:pt x="570" y="492"/>
                      </a:lnTo>
                      <a:lnTo>
                        <a:pt x="584" y="468"/>
                      </a:lnTo>
                      <a:lnTo>
                        <a:pt x="596" y="443"/>
                      </a:lnTo>
                      <a:lnTo>
                        <a:pt x="607" y="416"/>
                      </a:lnTo>
                      <a:lnTo>
                        <a:pt x="614" y="388"/>
                      </a:lnTo>
                      <a:lnTo>
                        <a:pt x="618" y="359"/>
                      </a:lnTo>
                      <a:lnTo>
                        <a:pt x="619" y="329"/>
                      </a:lnTo>
                      <a:lnTo>
                        <a:pt x="619" y="329"/>
                      </a:lnTo>
                      <a:lnTo>
                        <a:pt x="618" y="300"/>
                      </a:lnTo>
                      <a:lnTo>
                        <a:pt x="614" y="271"/>
                      </a:lnTo>
                      <a:lnTo>
                        <a:pt x="607" y="243"/>
                      </a:lnTo>
                      <a:lnTo>
                        <a:pt x="596" y="216"/>
                      </a:lnTo>
                      <a:lnTo>
                        <a:pt x="584" y="191"/>
                      </a:lnTo>
                      <a:lnTo>
                        <a:pt x="570" y="166"/>
                      </a:lnTo>
                      <a:lnTo>
                        <a:pt x="553" y="144"/>
                      </a:lnTo>
                      <a:lnTo>
                        <a:pt x="535" y="123"/>
                      </a:lnTo>
                      <a:lnTo>
                        <a:pt x="513" y="105"/>
                      </a:lnTo>
                      <a:lnTo>
                        <a:pt x="492" y="89"/>
                      </a:lnTo>
                      <a:lnTo>
                        <a:pt x="467" y="74"/>
                      </a:lnTo>
                      <a:lnTo>
                        <a:pt x="442" y="62"/>
                      </a:lnTo>
                      <a:lnTo>
                        <a:pt x="415" y="51"/>
                      </a:lnTo>
                      <a:lnTo>
                        <a:pt x="387" y="44"/>
                      </a:lnTo>
                      <a:lnTo>
                        <a:pt x="359" y="40"/>
                      </a:lnTo>
                      <a:lnTo>
                        <a:pt x="329" y="37"/>
                      </a:lnTo>
                      <a:lnTo>
                        <a:pt x="329" y="37"/>
                      </a:lnTo>
                      <a:close/>
                    </a:path>
                  </a:pathLst>
                </a:custGeom>
                <a:solidFill>
                  <a:srgbClr val="0585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Open Sans"/>
                    <a:ea typeface="+mn-ea"/>
                    <a:cs typeface="+mn-cs"/>
                  </a:endParaRPr>
                </a:p>
              </p:txBody>
            </p:sp>
            <p:sp>
              <p:nvSpPr>
                <p:cNvPr id="23" name="TextBox 22">
                  <a:extLst>
                    <a:ext uri="{FF2B5EF4-FFF2-40B4-BE49-F238E27FC236}">
                      <a16:creationId xmlns:a16="http://schemas.microsoft.com/office/drawing/2014/main" id="{E9D628DD-B86C-761F-BF7A-B4295D519A98}"/>
                    </a:ext>
                  </a:extLst>
                </p:cNvPr>
                <p:cNvSpPr txBox="1"/>
                <p:nvPr/>
              </p:nvSpPr>
              <p:spPr>
                <a:xfrm>
                  <a:off x="560849" y="1554253"/>
                  <a:ext cx="483389" cy="381541"/>
                </a:xfrm>
                <a:prstGeom prst="rect">
                  <a:avLst/>
                </a:prstGeom>
                <a:noFill/>
              </p:spPr>
              <p:txBody>
                <a:bodyPr wrap="squar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Open Sans"/>
                      <a:ea typeface="+mn-ea"/>
                      <a:cs typeface="+mn-cs"/>
                    </a:rPr>
                    <a:t>1</a:t>
                  </a:r>
                  <a:endParaRPr kumimoji="0" lang="en-US" sz="2400" b="1" i="0" u="none" strike="noStrike" kern="1200" cap="none" spc="0" normalizeH="0" baseline="0" noProof="0">
                    <a:ln>
                      <a:noFill/>
                    </a:ln>
                    <a:solidFill>
                      <a:srgbClr val="000000"/>
                    </a:solidFill>
                    <a:effectLst/>
                    <a:uLnTx/>
                    <a:uFillTx/>
                    <a:latin typeface="Open Sans"/>
                    <a:ea typeface="+mn-ea"/>
                    <a:cs typeface="+mn-cs"/>
                  </a:endParaRPr>
                </a:p>
              </p:txBody>
            </p:sp>
          </p:grpSp>
          <p:sp>
            <p:nvSpPr>
              <p:cNvPr id="20" name="TextBox 19">
                <a:extLst>
                  <a:ext uri="{FF2B5EF4-FFF2-40B4-BE49-F238E27FC236}">
                    <a16:creationId xmlns:a16="http://schemas.microsoft.com/office/drawing/2014/main" id="{1A5BFC1F-B277-DE44-5A8A-95B675EB12CF}"/>
                  </a:ext>
                </a:extLst>
              </p:cNvPr>
              <p:cNvSpPr txBox="1"/>
              <p:nvPr/>
            </p:nvSpPr>
            <p:spPr>
              <a:xfrm>
                <a:off x="750546" y="1821037"/>
                <a:ext cx="6357113"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Two phased approach. First, </a:t>
                </a:r>
                <a:r>
                  <a:rPr kumimoji="0" lang="en-US" sz="900" b="0" i="0" u="none" strike="noStrike" kern="1200" cap="none" spc="0" normalizeH="0" baseline="0" noProof="0" dirty="0" err="1">
                    <a:ln>
                      <a:noFill/>
                    </a:ln>
                    <a:solidFill>
                      <a:prstClr val="black"/>
                    </a:solidFill>
                    <a:effectLst/>
                    <a:uLnTx/>
                    <a:uFillTx/>
                    <a:latin typeface="Verdana"/>
                    <a:ea typeface="+mn-ea"/>
                    <a:cs typeface="+mn-cs"/>
                  </a:rPr>
                  <a:t>replatform</a:t>
                </a:r>
                <a:r>
                  <a:rPr kumimoji="0" lang="en-US" sz="900" b="0" i="0" u="none" strike="noStrike" kern="1200" cap="none" spc="0" normalizeH="0" baseline="0" noProof="0" dirty="0">
                    <a:ln>
                      <a:noFill/>
                    </a:ln>
                    <a:solidFill>
                      <a:prstClr val="black"/>
                    </a:solidFill>
                    <a:effectLst/>
                    <a:uLnTx/>
                    <a:uFillTx/>
                    <a:latin typeface="Verdana"/>
                    <a:ea typeface="+mn-ea"/>
                    <a:cs typeface="+mn-cs"/>
                  </a:rPr>
                  <a:t> existing code base from Source Data platform to cloud. </a:t>
                </a:r>
                <a:r>
                  <a:rPr kumimoji="0" lang="en-US" sz="900" b="0" i="0" u="none" strike="noStrike" kern="1200" cap="none" spc="0" normalizeH="0" baseline="0" noProof="0" dirty="0">
                    <a:ln>
                      <a:noFill/>
                    </a:ln>
                    <a:solidFill>
                      <a:prstClr val="black">
                        <a:lumMod val="85000"/>
                        <a:lumOff val="15000"/>
                      </a:prstClr>
                    </a:solidFill>
                    <a:effectLst/>
                    <a:uLnTx/>
                    <a:uFillTx/>
                    <a:latin typeface="Verdana"/>
                    <a:ea typeface="+mn-ea"/>
                    <a:cs typeface="+mn-cs"/>
                  </a:rPr>
                  <a:t>Selective processes are refactored to improve performance, solution stability and maintainability. Second, modernize to target state (e.g. Data Products, Data Mesh, etc.)</a:t>
                </a:r>
              </a:p>
            </p:txBody>
          </p:sp>
        </p:grpSp>
        <p:grpSp>
          <p:nvGrpSpPr>
            <p:cNvPr id="24" name="Group 23">
              <a:extLst>
                <a:ext uri="{FF2B5EF4-FFF2-40B4-BE49-F238E27FC236}">
                  <a16:creationId xmlns:a16="http://schemas.microsoft.com/office/drawing/2014/main" id="{05BE214E-B505-CCC9-2DF8-9B991FC76230}"/>
                </a:ext>
              </a:extLst>
            </p:cNvPr>
            <p:cNvGrpSpPr/>
            <p:nvPr/>
          </p:nvGrpSpPr>
          <p:grpSpPr>
            <a:xfrm>
              <a:off x="450951" y="3862240"/>
              <a:ext cx="6799529" cy="1119561"/>
              <a:chOff x="450951" y="2781633"/>
              <a:chExt cx="6799529" cy="1119561"/>
            </a:xfrm>
          </p:grpSpPr>
          <p:sp>
            <p:nvSpPr>
              <p:cNvPr id="25" name="Rectangle 24">
                <a:extLst>
                  <a:ext uri="{FF2B5EF4-FFF2-40B4-BE49-F238E27FC236}">
                    <a16:creationId xmlns:a16="http://schemas.microsoft.com/office/drawing/2014/main" id="{8BD4BB3F-AD97-2203-06A7-CF8E7D99F9BE}"/>
                  </a:ext>
                </a:extLst>
              </p:cNvPr>
              <p:cNvSpPr>
                <a:spLocks/>
              </p:cNvSpPr>
              <p:nvPr/>
            </p:nvSpPr>
            <p:spPr>
              <a:xfrm>
                <a:off x="694355" y="3105698"/>
                <a:ext cx="6556125" cy="795496"/>
              </a:xfrm>
              <a:prstGeom prst="rect">
                <a:avLst/>
              </a:prstGeom>
              <a:noFill/>
              <a:ln w="19050" cap="flat">
                <a:solidFill>
                  <a:srgbClr val="DDF3FB"/>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Open Sans"/>
                  <a:cs typeface="Open Sans"/>
                  <a:sym typeface="Open Sans"/>
                </a:endParaRPr>
              </a:p>
            </p:txBody>
          </p:sp>
          <p:sp>
            <p:nvSpPr>
              <p:cNvPr id="26" name="Rectangle 25">
                <a:extLst>
                  <a:ext uri="{FF2B5EF4-FFF2-40B4-BE49-F238E27FC236}">
                    <a16:creationId xmlns:a16="http://schemas.microsoft.com/office/drawing/2014/main" id="{45AD58A2-A290-EF5A-38AD-8C8AAC627D11}"/>
                  </a:ext>
                </a:extLst>
              </p:cNvPr>
              <p:cNvSpPr>
                <a:spLocks noChangeAspect="1"/>
              </p:cNvSpPr>
              <p:nvPr/>
            </p:nvSpPr>
            <p:spPr>
              <a:xfrm>
                <a:off x="867729" y="2869439"/>
                <a:ext cx="3180221" cy="376029"/>
              </a:xfrm>
              <a:prstGeom prst="rect">
                <a:avLst/>
              </a:prstGeom>
              <a:solidFill>
                <a:srgbClr val="DDF3FB"/>
              </a:solidFill>
              <a:ln w="28575">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lIns="182880" tIns="91440" rIns="91440" bIns="9144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Open Sans"/>
                    <a:ea typeface="+mn-ea"/>
                    <a:cs typeface="+mn-cs"/>
                  </a:rPr>
                  <a:t>REARCHITECT &amp; REENGINEER</a:t>
                </a:r>
                <a:endParaRPr kumimoji="0" lang="en-US" sz="1200" b="0" i="1" u="none" strike="noStrike" kern="1200" cap="none" spc="300" normalizeH="0" baseline="0" noProof="0" dirty="0">
                  <a:ln>
                    <a:noFill/>
                  </a:ln>
                  <a:solidFill>
                    <a:prstClr val="black"/>
                  </a:solidFill>
                  <a:effectLst/>
                  <a:uLnTx/>
                  <a:uFillTx/>
                  <a:latin typeface="Open Sans"/>
                  <a:ea typeface="Open Sans Extrabold" charset="0"/>
                  <a:cs typeface="Open Sans Extrabold" charset="0"/>
                </a:endParaRPr>
              </a:p>
            </p:txBody>
          </p:sp>
          <p:grpSp>
            <p:nvGrpSpPr>
              <p:cNvPr id="27" name="Group 26">
                <a:extLst>
                  <a:ext uri="{FF2B5EF4-FFF2-40B4-BE49-F238E27FC236}">
                    <a16:creationId xmlns:a16="http://schemas.microsoft.com/office/drawing/2014/main" id="{688BF6BB-5DB0-DA51-0458-57E13163BFC1}"/>
                  </a:ext>
                </a:extLst>
              </p:cNvPr>
              <p:cNvGrpSpPr/>
              <p:nvPr/>
            </p:nvGrpSpPr>
            <p:grpSpPr>
              <a:xfrm>
                <a:off x="450951" y="2781633"/>
                <a:ext cx="512206" cy="512206"/>
                <a:chOff x="4991377" y="1556489"/>
                <a:chExt cx="619770" cy="619770"/>
              </a:xfrm>
            </p:grpSpPr>
            <p:sp>
              <p:nvSpPr>
                <p:cNvPr id="29" name="Oval 28">
                  <a:extLst>
                    <a:ext uri="{FF2B5EF4-FFF2-40B4-BE49-F238E27FC236}">
                      <a16:creationId xmlns:a16="http://schemas.microsoft.com/office/drawing/2014/main" id="{05C2E874-0B2A-54B0-6CC3-4F3F1C08333E}"/>
                    </a:ext>
                  </a:extLst>
                </p:cNvPr>
                <p:cNvSpPr/>
                <p:nvPr/>
              </p:nvSpPr>
              <p:spPr>
                <a:xfrm>
                  <a:off x="4991377" y="1556489"/>
                  <a:ext cx="619770" cy="6197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Open Sans"/>
                    <a:ea typeface="+mn-ea"/>
                    <a:cs typeface="+mn-cs"/>
                  </a:endParaRPr>
                </a:p>
              </p:txBody>
            </p:sp>
            <p:sp>
              <p:nvSpPr>
                <p:cNvPr id="30" name="Freeform 20">
                  <a:extLst>
                    <a:ext uri="{FF2B5EF4-FFF2-40B4-BE49-F238E27FC236}">
                      <a16:creationId xmlns:a16="http://schemas.microsoft.com/office/drawing/2014/main" id="{876D0C39-094B-844F-74D5-38348ED9AB9C}"/>
                    </a:ext>
                  </a:extLst>
                </p:cNvPr>
                <p:cNvSpPr>
                  <a:spLocks noEditPoints="1"/>
                </p:cNvSpPr>
                <p:nvPr/>
              </p:nvSpPr>
              <p:spPr bwMode="auto">
                <a:xfrm>
                  <a:off x="5018064" y="1582313"/>
                  <a:ext cx="570188" cy="568123"/>
                </a:xfrm>
                <a:custGeom>
                  <a:avLst/>
                  <a:gdLst>
                    <a:gd name="T0" fmla="*/ 312 w 657"/>
                    <a:gd name="T1" fmla="*/ 658 h 658"/>
                    <a:gd name="T2" fmla="*/ 262 w 657"/>
                    <a:gd name="T3" fmla="*/ 652 h 658"/>
                    <a:gd name="T4" fmla="*/ 200 w 657"/>
                    <a:gd name="T5" fmla="*/ 633 h 658"/>
                    <a:gd name="T6" fmla="*/ 119 w 657"/>
                    <a:gd name="T7" fmla="*/ 583 h 658"/>
                    <a:gd name="T8" fmla="*/ 56 w 657"/>
                    <a:gd name="T9" fmla="*/ 513 h 658"/>
                    <a:gd name="T10" fmla="*/ 14 w 657"/>
                    <a:gd name="T11" fmla="*/ 427 h 658"/>
                    <a:gd name="T12" fmla="*/ 4 w 657"/>
                    <a:gd name="T13" fmla="*/ 379 h 658"/>
                    <a:gd name="T14" fmla="*/ 0 w 657"/>
                    <a:gd name="T15" fmla="*/ 329 h 658"/>
                    <a:gd name="T16" fmla="*/ 1 w 657"/>
                    <a:gd name="T17" fmla="*/ 296 h 658"/>
                    <a:gd name="T18" fmla="*/ 10 w 657"/>
                    <a:gd name="T19" fmla="*/ 247 h 658"/>
                    <a:gd name="T20" fmla="*/ 39 w 657"/>
                    <a:gd name="T21" fmla="*/ 173 h 658"/>
                    <a:gd name="T22" fmla="*/ 96 w 657"/>
                    <a:gd name="T23" fmla="*/ 97 h 658"/>
                    <a:gd name="T24" fmla="*/ 172 w 657"/>
                    <a:gd name="T25" fmla="*/ 40 h 658"/>
                    <a:gd name="T26" fmla="*/ 247 w 657"/>
                    <a:gd name="T27" fmla="*/ 11 h 658"/>
                    <a:gd name="T28" fmla="*/ 295 w 657"/>
                    <a:gd name="T29" fmla="*/ 3 h 658"/>
                    <a:gd name="T30" fmla="*/ 329 w 657"/>
                    <a:gd name="T31" fmla="*/ 0 h 658"/>
                    <a:gd name="T32" fmla="*/ 379 w 657"/>
                    <a:gd name="T33" fmla="*/ 4 h 658"/>
                    <a:gd name="T34" fmla="*/ 426 w 657"/>
                    <a:gd name="T35" fmla="*/ 16 h 658"/>
                    <a:gd name="T36" fmla="*/ 512 w 657"/>
                    <a:gd name="T37" fmla="*/ 56 h 658"/>
                    <a:gd name="T38" fmla="*/ 582 w 657"/>
                    <a:gd name="T39" fmla="*/ 121 h 658"/>
                    <a:gd name="T40" fmla="*/ 631 w 657"/>
                    <a:gd name="T41" fmla="*/ 201 h 658"/>
                    <a:gd name="T42" fmla="*/ 650 w 657"/>
                    <a:gd name="T43" fmla="*/ 263 h 658"/>
                    <a:gd name="T44" fmla="*/ 657 w 657"/>
                    <a:gd name="T45" fmla="*/ 313 h 658"/>
                    <a:gd name="T46" fmla="*/ 657 w 657"/>
                    <a:gd name="T47" fmla="*/ 347 h 658"/>
                    <a:gd name="T48" fmla="*/ 650 w 657"/>
                    <a:gd name="T49" fmla="*/ 396 h 658"/>
                    <a:gd name="T50" fmla="*/ 631 w 657"/>
                    <a:gd name="T51" fmla="*/ 457 h 658"/>
                    <a:gd name="T52" fmla="*/ 582 w 657"/>
                    <a:gd name="T53" fmla="*/ 539 h 658"/>
                    <a:gd name="T54" fmla="*/ 512 w 657"/>
                    <a:gd name="T55" fmla="*/ 602 h 658"/>
                    <a:gd name="T56" fmla="*/ 426 w 657"/>
                    <a:gd name="T57" fmla="*/ 644 h 658"/>
                    <a:gd name="T58" fmla="*/ 379 w 657"/>
                    <a:gd name="T59" fmla="*/ 654 h 658"/>
                    <a:gd name="T60" fmla="*/ 329 w 657"/>
                    <a:gd name="T61" fmla="*/ 658 h 658"/>
                    <a:gd name="T62" fmla="*/ 329 w 657"/>
                    <a:gd name="T63" fmla="*/ 37 h 658"/>
                    <a:gd name="T64" fmla="*/ 242 w 657"/>
                    <a:gd name="T65" fmla="*/ 51 h 658"/>
                    <a:gd name="T66" fmla="*/ 166 w 657"/>
                    <a:gd name="T67" fmla="*/ 89 h 658"/>
                    <a:gd name="T68" fmla="*/ 103 w 657"/>
                    <a:gd name="T69" fmla="*/ 144 h 658"/>
                    <a:gd name="T70" fmla="*/ 60 w 657"/>
                    <a:gd name="T71" fmla="*/ 216 h 658"/>
                    <a:gd name="T72" fmla="*/ 39 w 657"/>
                    <a:gd name="T73" fmla="*/ 300 h 658"/>
                    <a:gd name="T74" fmla="*/ 39 w 657"/>
                    <a:gd name="T75" fmla="*/ 359 h 658"/>
                    <a:gd name="T76" fmla="*/ 60 w 657"/>
                    <a:gd name="T77" fmla="*/ 443 h 658"/>
                    <a:gd name="T78" fmla="*/ 103 w 657"/>
                    <a:gd name="T79" fmla="*/ 515 h 658"/>
                    <a:gd name="T80" fmla="*/ 166 w 657"/>
                    <a:gd name="T81" fmla="*/ 571 h 658"/>
                    <a:gd name="T82" fmla="*/ 242 w 657"/>
                    <a:gd name="T83" fmla="*/ 607 h 658"/>
                    <a:gd name="T84" fmla="*/ 329 w 657"/>
                    <a:gd name="T85" fmla="*/ 621 h 658"/>
                    <a:gd name="T86" fmla="*/ 387 w 657"/>
                    <a:gd name="T87" fmla="*/ 615 h 658"/>
                    <a:gd name="T88" fmla="*/ 467 w 657"/>
                    <a:gd name="T89" fmla="*/ 586 h 658"/>
                    <a:gd name="T90" fmla="*/ 535 w 657"/>
                    <a:gd name="T91" fmla="*/ 535 h 658"/>
                    <a:gd name="T92" fmla="*/ 584 w 657"/>
                    <a:gd name="T93" fmla="*/ 468 h 658"/>
                    <a:gd name="T94" fmla="*/ 614 w 657"/>
                    <a:gd name="T95" fmla="*/ 388 h 658"/>
                    <a:gd name="T96" fmla="*/ 619 w 657"/>
                    <a:gd name="T97" fmla="*/ 329 h 658"/>
                    <a:gd name="T98" fmla="*/ 607 w 657"/>
                    <a:gd name="T99" fmla="*/ 243 h 658"/>
                    <a:gd name="T100" fmla="*/ 570 w 657"/>
                    <a:gd name="T101" fmla="*/ 166 h 658"/>
                    <a:gd name="T102" fmla="*/ 513 w 657"/>
                    <a:gd name="T103" fmla="*/ 105 h 658"/>
                    <a:gd name="T104" fmla="*/ 442 w 657"/>
                    <a:gd name="T105" fmla="*/ 62 h 658"/>
                    <a:gd name="T106" fmla="*/ 359 w 657"/>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8">
                      <a:moveTo>
                        <a:pt x="329" y="658"/>
                      </a:moveTo>
                      <a:lnTo>
                        <a:pt x="329" y="658"/>
                      </a:lnTo>
                      <a:lnTo>
                        <a:pt x="312" y="658"/>
                      </a:lnTo>
                      <a:lnTo>
                        <a:pt x="295" y="657"/>
                      </a:lnTo>
                      <a:lnTo>
                        <a:pt x="278" y="654"/>
                      </a:lnTo>
                      <a:lnTo>
                        <a:pt x="262" y="652"/>
                      </a:lnTo>
                      <a:lnTo>
                        <a:pt x="247" y="648"/>
                      </a:lnTo>
                      <a:lnTo>
                        <a:pt x="231" y="644"/>
                      </a:lnTo>
                      <a:lnTo>
                        <a:pt x="200" y="633"/>
                      </a:lnTo>
                      <a:lnTo>
                        <a:pt x="172" y="618"/>
                      </a:lnTo>
                      <a:lnTo>
                        <a:pt x="145" y="602"/>
                      </a:lnTo>
                      <a:lnTo>
                        <a:pt x="119" y="583"/>
                      </a:lnTo>
                      <a:lnTo>
                        <a:pt x="96" y="562"/>
                      </a:lnTo>
                      <a:lnTo>
                        <a:pt x="75" y="539"/>
                      </a:lnTo>
                      <a:lnTo>
                        <a:pt x="56" y="513"/>
                      </a:lnTo>
                      <a:lnTo>
                        <a:pt x="39" y="486"/>
                      </a:lnTo>
                      <a:lnTo>
                        <a:pt x="25" y="457"/>
                      </a:lnTo>
                      <a:lnTo>
                        <a:pt x="14" y="427"/>
                      </a:lnTo>
                      <a:lnTo>
                        <a:pt x="10" y="411"/>
                      </a:lnTo>
                      <a:lnTo>
                        <a:pt x="6" y="396"/>
                      </a:lnTo>
                      <a:lnTo>
                        <a:pt x="4" y="379"/>
                      </a:lnTo>
                      <a:lnTo>
                        <a:pt x="1" y="363"/>
                      </a:lnTo>
                      <a:lnTo>
                        <a:pt x="0" y="347"/>
                      </a:lnTo>
                      <a:lnTo>
                        <a:pt x="0" y="329"/>
                      </a:lnTo>
                      <a:lnTo>
                        <a:pt x="0" y="329"/>
                      </a:lnTo>
                      <a:lnTo>
                        <a:pt x="0" y="313"/>
                      </a:lnTo>
                      <a:lnTo>
                        <a:pt x="1" y="296"/>
                      </a:lnTo>
                      <a:lnTo>
                        <a:pt x="4" y="279"/>
                      </a:lnTo>
                      <a:lnTo>
                        <a:pt x="6" y="263"/>
                      </a:lnTo>
                      <a:lnTo>
                        <a:pt x="10" y="247"/>
                      </a:lnTo>
                      <a:lnTo>
                        <a:pt x="14" y="232"/>
                      </a:lnTo>
                      <a:lnTo>
                        <a:pt x="25" y="201"/>
                      </a:lnTo>
                      <a:lnTo>
                        <a:pt x="39" y="173"/>
                      </a:lnTo>
                      <a:lnTo>
                        <a:pt x="56" y="145"/>
                      </a:lnTo>
                      <a:lnTo>
                        <a:pt x="75" y="121"/>
                      </a:lnTo>
                      <a:lnTo>
                        <a:pt x="96" y="97"/>
                      </a:lnTo>
                      <a:lnTo>
                        <a:pt x="119" y="75"/>
                      </a:lnTo>
                      <a:lnTo>
                        <a:pt x="145" y="56"/>
                      </a:lnTo>
                      <a:lnTo>
                        <a:pt x="172" y="40"/>
                      </a:lnTo>
                      <a:lnTo>
                        <a:pt x="200" y="27"/>
                      </a:lnTo>
                      <a:lnTo>
                        <a:pt x="231" y="16"/>
                      </a:lnTo>
                      <a:lnTo>
                        <a:pt x="247" y="11"/>
                      </a:lnTo>
                      <a:lnTo>
                        <a:pt x="262" y="7"/>
                      </a:lnTo>
                      <a:lnTo>
                        <a:pt x="278" y="4"/>
                      </a:lnTo>
                      <a:lnTo>
                        <a:pt x="295" y="3"/>
                      </a:lnTo>
                      <a:lnTo>
                        <a:pt x="312" y="1"/>
                      </a:lnTo>
                      <a:lnTo>
                        <a:pt x="329" y="0"/>
                      </a:lnTo>
                      <a:lnTo>
                        <a:pt x="329" y="0"/>
                      </a:lnTo>
                      <a:lnTo>
                        <a:pt x="345" y="1"/>
                      </a:lnTo>
                      <a:lnTo>
                        <a:pt x="363" y="3"/>
                      </a:lnTo>
                      <a:lnTo>
                        <a:pt x="379" y="4"/>
                      </a:lnTo>
                      <a:lnTo>
                        <a:pt x="395" y="7"/>
                      </a:lnTo>
                      <a:lnTo>
                        <a:pt x="411" y="11"/>
                      </a:lnTo>
                      <a:lnTo>
                        <a:pt x="426" y="16"/>
                      </a:lnTo>
                      <a:lnTo>
                        <a:pt x="457" y="27"/>
                      </a:lnTo>
                      <a:lnTo>
                        <a:pt x="485" y="40"/>
                      </a:lnTo>
                      <a:lnTo>
                        <a:pt x="512" y="56"/>
                      </a:lnTo>
                      <a:lnTo>
                        <a:pt x="537" y="75"/>
                      </a:lnTo>
                      <a:lnTo>
                        <a:pt x="561" y="97"/>
                      </a:lnTo>
                      <a:lnTo>
                        <a:pt x="582" y="121"/>
                      </a:lnTo>
                      <a:lnTo>
                        <a:pt x="602" y="145"/>
                      </a:lnTo>
                      <a:lnTo>
                        <a:pt x="618" y="173"/>
                      </a:lnTo>
                      <a:lnTo>
                        <a:pt x="631" y="201"/>
                      </a:lnTo>
                      <a:lnTo>
                        <a:pt x="642" y="232"/>
                      </a:lnTo>
                      <a:lnTo>
                        <a:pt x="648" y="247"/>
                      </a:lnTo>
                      <a:lnTo>
                        <a:pt x="650" y="263"/>
                      </a:lnTo>
                      <a:lnTo>
                        <a:pt x="654" y="279"/>
                      </a:lnTo>
                      <a:lnTo>
                        <a:pt x="656" y="296"/>
                      </a:lnTo>
                      <a:lnTo>
                        <a:pt x="657" y="313"/>
                      </a:lnTo>
                      <a:lnTo>
                        <a:pt x="657" y="329"/>
                      </a:lnTo>
                      <a:lnTo>
                        <a:pt x="657" y="329"/>
                      </a:lnTo>
                      <a:lnTo>
                        <a:pt x="657" y="347"/>
                      </a:lnTo>
                      <a:lnTo>
                        <a:pt x="656" y="363"/>
                      </a:lnTo>
                      <a:lnTo>
                        <a:pt x="654" y="379"/>
                      </a:lnTo>
                      <a:lnTo>
                        <a:pt x="650" y="396"/>
                      </a:lnTo>
                      <a:lnTo>
                        <a:pt x="648" y="411"/>
                      </a:lnTo>
                      <a:lnTo>
                        <a:pt x="642" y="427"/>
                      </a:lnTo>
                      <a:lnTo>
                        <a:pt x="631" y="457"/>
                      </a:lnTo>
                      <a:lnTo>
                        <a:pt x="618" y="486"/>
                      </a:lnTo>
                      <a:lnTo>
                        <a:pt x="602" y="513"/>
                      </a:lnTo>
                      <a:lnTo>
                        <a:pt x="582" y="539"/>
                      </a:lnTo>
                      <a:lnTo>
                        <a:pt x="561" y="562"/>
                      </a:lnTo>
                      <a:lnTo>
                        <a:pt x="537" y="583"/>
                      </a:lnTo>
                      <a:lnTo>
                        <a:pt x="512" y="602"/>
                      </a:lnTo>
                      <a:lnTo>
                        <a:pt x="485" y="618"/>
                      </a:lnTo>
                      <a:lnTo>
                        <a:pt x="457" y="633"/>
                      </a:lnTo>
                      <a:lnTo>
                        <a:pt x="426" y="644"/>
                      </a:lnTo>
                      <a:lnTo>
                        <a:pt x="411" y="648"/>
                      </a:lnTo>
                      <a:lnTo>
                        <a:pt x="395" y="652"/>
                      </a:lnTo>
                      <a:lnTo>
                        <a:pt x="379" y="654"/>
                      </a:lnTo>
                      <a:lnTo>
                        <a:pt x="363" y="657"/>
                      </a:lnTo>
                      <a:lnTo>
                        <a:pt x="345" y="658"/>
                      </a:lnTo>
                      <a:lnTo>
                        <a:pt x="329" y="658"/>
                      </a:lnTo>
                      <a:lnTo>
                        <a:pt x="329" y="658"/>
                      </a:lnTo>
                      <a:close/>
                      <a:moveTo>
                        <a:pt x="329" y="37"/>
                      </a:moveTo>
                      <a:lnTo>
                        <a:pt x="329" y="37"/>
                      </a:lnTo>
                      <a:lnTo>
                        <a:pt x="299" y="40"/>
                      </a:lnTo>
                      <a:lnTo>
                        <a:pt x="270" y="44"/>
                      </a:lnTo>
                      <a:lnTo>
                        <a:pt x="242" y="51"/>
                      </a:lnTo>
                      <a:lnTo>
                        <a:pt x="215" y="62"/>
                      </a:lnTo>
                      <a:lnTo>
                        <a:pt x="189" y="74"/>
                      </a:lnTo>
                      <a:lnTo>
                        <a:pt x="166" y="89"/>
                      </a:lnTo>
                      <a:lnTo>
                        <a:pt x="144" y="105"/>
                      </a:lnTo>
                      <a:lnTo>
                        <a:pt x="122" y="123"/>
                      </a:lnTo>
                      <a:lnTo>
                        <a:pt x="103" y="144"/>
                      </a:lnTo>
                      <a:lnTo>
                        <a:pt x="87" y="166"/>
                      </a:lnTo>
                      <a:lnTo>
                        <a:pt x="72" y="191"/>
                      </a:lnTo>
                      <a:lnTo>
                        <a:pt x="60" y="216"/>
                      </a:lnTo>
                      <a:lnTo>
                        <a:pt x="51" y="243"/>
                      </a:lnTo>
                      <a:lnTo>
                        <a:pt x="43" y="271"/>
                      </a:lnTo>
                      <a:lnTo>
                        <a:pt x="39" y="300"/>
                      </a:lnTo>
                      <a:lnTo>
                        <a:pt x="37" y="329"/>
                      </a:lnTo>
                      <a:lnTo>
                        <a:pt x="37" y="329"/>
                      </a:lnTo>
                      <a:lnTo>
                        <a:pt x="39" y="359"/>
                      </a:lnTo>
                      <a:lnTo>
                        <a:pt x="43" y="388"/>
                      </a:lnTo>
                      <a:lnTo>
                        <a:pt x="51" y="416"/>
                      </a:lnTo>
                      <a:lnTo>
                        <a:pt x="60" y="443"/>
                      </a:lnTo>
                      <a:lnTo>
                        <a:pt x="72" y="468"/>
                      </a:lnTo>
                      <a:lnTo>
                        <a:pt x="87" y="492"/>
                      </a:lnTo>
                      <a:lnTo>
                        <a:pt x="103" y="515"/>
                      </a:lnTo>
                      <a:lnTo>
                        <a:pt x="122" y="535"/>
                      </a:lnTo>
                      <a:lnTo>
                        <a:pt x="144" y="554"/>
                      </a:lnTo>
                      <a:lnTo>
                        <a:pt x="166" y="571"/>
                      </a:lnTo>
                      <a:lnTo>
                        <a:pt x="189" y="586"/>
                      </a:lnTo>
                      <a:lnTo>
                        <a:pt x="215" y="598"/>
                      </a:lnTo>
                      <a:lnTo>
                        <a:pt x="242" y="607"/>
                      </a:lnTo>
                      <a:lnTo>
                        <a:pt x="270" y="615"/>
                      </a:lnTo>
                      <a:lnTo>
                        <a:pt x="299" y="619"/>
                      </a:lnTo>
                      <a:lnTo>
                        <a:pt x="329" y="621"/>
                      </a:lnTo>
                      <a:lnTo>
                        <a:pt x="329" y="621"/>
                      </a:lnTo>
                      <a:lnTo>
                        <a:pt x="359" y="619"/>
                      </a:lnTo>
                      <a:lnTo>
                        <a:pt x="387" y="615"/>
                      </a:lnTo>
                      <a:lnTo>
                        <a:pt x="415" y="607"/>
                      </a:lnTo>
                      <a:lnTo>
                        <a:pt x="442" y="598"/>
                      </a:lnTo>
                      <a:lnTo>
                        <a:pt x="467" y="586"/>
                      </a:lnTo>
                      <a:lnTo>
                        <a:pt x="492" y="571"/>
                      </a:lnTo>
                      <a:lnTo>
                        <a:pt x="513" y="554"/>
                      </a:lnTo>
                      <a:lnTo>
                        <a:pt x="535" y="535"/>
                      </a:lnTo>
                      <a:lnTo>
                        <a:pt x="553" y="515"/>
                      </a:lnTo>
                      <a:lnTo>
                        <a:pt x="570" y="492"/>
                      </a:lnTo>
                      <a:lnTo>
                        <a:pt x="584" y="468"/>
                      </a:lnTo>
                      <a:lnTo>
                        <a:pt x="596" y="443"/>
                      </a:lnTo>
                      <a:lnTo>
                        <a:pt x="607" y="416"/>
                      </a:lnTo>
                      <a:lnTo>
                        <a:pt x="614" y="388"/>
                      </a:lnTo>
                      <a:lnTo>
                        <a:pt x="618" y="359"/>
                      </a:lnTo>
                      <a:lnTo>
                        <a:pt x="619" y="329"/>
                      </a:lnTo>
                      <a:lnTo>
                        <a:pt x="619" y="329"/>
                      </a:lnTo>
                      <a:lnTo>
                        <a:pt x="618" y="300"/>
                      </a:lnTo>
                      <a:lnTo>
                        <a:pt x="614" y="271"/>
                      </a:lnTo>
                      <a:lnTo>
                        <a:pt x="607" y="243"/>
                      </a:lnTo>
                      <a:lnTo>
                        <a:pt x="596" y="216"/>
                      </a:lnTo>
                      <a:lnTo>
                        <a:pt x="584" y="191"/>
                      </a:lnTo>
                      <a:lnTo>
                        <a:pt x="570" y="166"/>
                      </a:lnTo>
                      <a:lnTo>
                        <a:pt x="553" y="144"/>
                      </a:lnTo>
                      <a:lnTo>
                        <a:pt x="535" y="123"/>
                      </a:lnTo>
                      <a:lnTo>
                        <a:pt x="513" y="105"/>
                      </a:lnTo>
                      <a:lnTo>
                        <a:pt x="492" y="89"/>
                      </a:lnTo>
                      <a:lnTo>
                        <a:pt x="467" y="74"/>
                      </a:lnTo>
                      <a:lnTo>
                        <a:pt x="442" y="62"/>
                      </a:lnTo>
                      <a:lnTo>
                        <a:pt x="415" y="51"/>
                      </a:lnTo>
                      <a:lnTo>
                        <a:pt x="387" y="44"/>
                      </a:lnTo>
                      <a:lnTo>
                        <a:pt x="359" y="40"/>
                      </a:lnTo>
                      <a:lnTo>
                        <a:pt x="329" y="37"/>
                      </a:lnTo>
                      <a:lnTo>
                        <a:pt x="329" y="37"/>
                      </a:lnTo>
                      <a:close/>
                    </a:path>
                  </a:pathLst>
                </a:custGeom>
                <a:solidFill>
                  <a:srgbClr val="CCE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Open Sans"/>
                    <a:ea typeface="+mn-ea"/>
                    <a:cs typeface="+mn-cs"/>
                  </a:endParaRPr>
                </a:p>
              </p:txBody>
            </p:sp>
            <p:sp>
              <p:nvSpPr>
                <p:cNvPr id="31" name="TextBox 30">
                  <a:extLst>
                    <a:ext uri="{FF2B5EF4-FFF2-40B4-BE49-F238E27FC236}">
                      <a16:creationId xmlns:a16="http://schemas.microsoft.com/office/drawing/2014/main" id="{E7DD258C-4349-C889-6AF0-5E37ED2A3079}"/>
                    </a:ext>
                  </a:extLst>
                </p:cNvPr>
                <p:cNvSpPr txBox="1"/>
                <p:nvPr/>
              </p:nvSpPr>
              <p:spPr>
                <a:xfrm>
                  <a:off x="5008812" y="1642929"/>
                  <a:ext cx="584901" cy="446892"/>
                </a:xfrm>
                <a:prstGeom prst="rect">
                  <a:avLst/>
                </a:prstGeom>
                <a:noFill/>
                <a:ln>
                  <a:noFill/>
                </a:ln>
              </p:spPr>
              <p:txBody>
                <a:bodyPr wrap="squar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Open Sans"/>
                      <a:ea typeface="+mn-ea"/>
                      <a:cs typeface="+mn-cs"/>
                    </a:rPr>
                    <a:t>3</a:t>
                  </a:r>
                  <a:endParaRPr kumimoji="0" lang="en-US" sz="2400" b="1" i="0" u="none" strike="noStrike" kern="1200" cap="none" spc="0" normalizeH="0" baseline="0" noProof="0">
                    <a:ln>
                      <a:noFill/>
                    </a:ln>
                    <a:solidFill>
                      <a:srgbClr val="000000"/>
                    </a:solidFill>
                    <a:effectLst/>
                    <a:uLnTx/>
                    <a:uFillTx/>
                    <a:latin typeface="Open Sans"/>
                    <a:ea typeface="+mn-ea"/>
                    <a:cs typeface="+mn-cs"/>
                  </a:endParaRPr>
                </a:p>
              </p:txBody>
            </p:sp>
          </p:grpSp>
          <p:sp>
            <p:nvSpPr>
              <p:cNvPr id="28" name="TextBox 27">
                <a:extLst>
                  <a:ext uri="{FF2B5EF4-FFF2-40B4-BE49-F238E27FC236}">
                    <a16:creationId xmlns:a16="http://schemas.microsoft.com/office/drawing/2014/main" id="{BBB4FA87-DEFB-9837-A647-5AD4F05FA8A4}"/>
                  </a:ext>
                </a:extLst>
              </p:cNvPr>
              <p:cNvSpPr txBox="1"/>
              <p:nvPr/>
            </p:nvSpPr>
            <p:spPr>
              <a:xfrm>
                <a:off x="782575" y="3249771"/>
                <a:ext cx="6325084"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lumMod val="85000"/>
                        <a:lumOff val="15000"/>
                      </a:prstClr>
                    </a:solidFill>
                    <a:effectLst/>
                    <a:uLnTx/>
                    <a:uFillTx/>
                    <a:latin typeface="Verdana"/>
                    <a:ea typeface="+mn-ea"/>
                    <a:cs typeface="+mn-cs"/>
                  </a:rPr>
                  <a:t>Design and implement existing and net new capabilities on to a cloud to take full advantage of cloud native and/or cloud enabled features. Data models and processes are re-architected and re-engineered to replace the existing solution and add new functional capabilities. Very high complexity and business disruption and lowest technical debt.</a:t>
                </a:r>
              </a:p>
            </p:txBody>
          </p:sp>
        </p:grpSp>
        <p:grpSp>
          <p:nvGrpSpPr>
            <p:cNvPr id="32" name="Group 31">
              <a:extLst>
                <a:ext uri="{FF2B5EF4-FFF2-40B4-BE49-F238E27FC236}">
                  <a16:creationId xmlns:a16="http://schemas.microsoft.com/office/drawing/2014/main" id="{03988131-BCCA-F3EF-F2FD-48CA1998D722}"/>
                </a:ext>
              </a:extLst>
            </p:cNvPr>
            <p:cNvGrpSpPr/>
            <p:nvPr/>
          </p:nvGrpSpPr>
          <p:grpSpPr>
            <a:xfrm>
              <a:off x="7470772" y="1285828"/>
              <a:ext cx="4453823" cy="3786419"/>
              <a:chOff x="7221411" y="1620938"/>
              <a:chExt cx="4453823" cy="3786419"/>
            </a:xfrm>
          </p:grpSpPr>
          <p:sp>
            <p:nvSpPr>
              <p:cNvPr id="33" name="Rectangle 32">
                <a:extLst>
                  <a:ext uri="{FF2B5EF4-FFF2-40B4-BE49-F238E27FC236}">
                    <a16:creationId xmlns:a16="http://schemas.microsoft.com/office/drawing/2014/main" id="{7E44F487-F1DE-3247-D4AE-5D4955E41B70}"/>
                  </a:ext>
                </a:extLst>
              </p:cNvPr>
              <p:cNvSpPr>
                <a:spLocks noChangeAspect="1"/>
              </p:cNvSpPr>
              <p:nvPr/>
            </p:nvSpPr>
            <p:spPr>
              <a:xfrm>
                <a:off x="7487007" y="1620938"/>
                <a:ext cx="3915716" cy="559844"/>
              </a:xfrm>
              <a:prstGeom prst="rect">
                <a:avLst/>
              </a:prstGeom>
              <a:noFill/>
              <a:ln w="28575">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lIns="182880" tIns="91440" rIns="91440" bIns="9144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Open Sans"/>
                    <a:ea typeface="+mn-ea"/>
                    <a:cs typeface="+mn-cs"/>
                  </a:rPr>
                  <a:t>Comparative Study of the approaches</a:t>
                </a:r>
                <a:endParaRPr kumimoji="0" lang="en-US" sz="1200" b="0" i="1" u="none" strike="noStrike" kern="1200" cap="none" spc="300" normalizeH="0" baseline="0" noProof="0">
                  <a:ln>
                    <a:noFill/>
                  </a:ln>
                  <a:solidFill>
                    <a:prstClr val="black"/>
                  </a:solidFill>
                  <a:effectLst/>
                  <a:uLnTx/>
                  <a:uFillTx/>
                  <a:latin typeface="Open Sans"/>
                  <a:ea typeface="Open Sans Extrabold" charset="0"/>
                  <a:cs typeface="Open Sans Extrabold" charset="0"/>
                </a:endParaRPr>
              </a:p>
            </p:txBody>
          </p:sp>
          <p:grpSp>
            <p:nvGrpSpPr>
              <p:cNvPr id="34" name="Group 33">
                <a:extLst>
                  <a:ext uri="{FF2B5EF4-FFF2-40B4-BE49-F238E27FC236}">
                    <a16:creationId xmlns:a16="http://schemas.microsoft.com/office/drawing/2014/main" id="{10CD8B85-5484-C9F2-BEC1-A4555680C0A4}"/>
                  </a:ext>
                </a:extLst>
              </p:cNvPr>
              <p:cNvGrpSpPr/>
              <p:nvPr/>
            </p:nvGrpSpPr>
            <p:grpSpPr>
              <a:xfrm>
                <a:off x="7221411" y="2143913"/>
                <a:ext cx="4453823" cy="3263444"/>
                <a:chOff x="7221411" y="2143913"/>
                <a:chExt cx="4453823" cy="3263444"/>
              </a:xfrm>
            </p:grpSpPr>
            <p:grpSp>
              <p:nvGrpSpPr>
                <p:cNvPr id="35" name="Group 34">
                  <a:extLst>
                    <a:ext uri="{FF2B5EF4-FFF2-40B4-BE49-F238E27FC236}">
                      <a16:creationId xmlns:a16="http://schemas.microsoft.com/office/drawing/2014/main" id="{F7B7B006-302B-3C46-8857-CBB473BAD256}"/>
                    </a:ext>
                  </a:extLst>
                </p:cNvPr>
                <p:cNvGrpSpPr/>
                <p:nvPr/>
              </p:nvGrpSpPr>
              <p:grpSpPr>
                <a:xfrm>
                  <a:off x="7221411" y="2143913"/>
                  <a:ext cx="4327750" cy="3263444"/>
                  <a:chOff x="560679" y="2163004"/>
                  <a:chExt cx="4327750" cy="3263444"/>
                </a:xfrm>
              </p:grpSpPr>
              <p:cxnSp>
                <p:nvCxnSpPr>
                  <p:cNvPr id="38" name="Straight Arrow Connector 37">
                    <a:extLst>
                      <a:ext uri="{FF2B5EF4-FFF2-40B4-BE49-F238E27FC236}">
                        <a16:creationId xmlns:a16="http://schemas.microsoft.com/office/drawing/2014/main" id="{C19E3351-2209-8874-E855-D2BA460042C5}"/>
                      </a:ext>
                    </a:extLst>
                  </p:cNvPr>
                  <p:cNvCxnSpPr/>
                  <p:nvPr/>
                </p:nvCxnSpPr>
                <p:spPr>
                  <a:xfrm>
                    <a:off x="821254" y="5115754"/>
                    <a:ext cx="4067175"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D15F2DD-FAF4-AABF-1781-36E19BE16EF1}"/>
                      </a:ext>
                    </a:extLst>
                  </p:cNvPr>
                  <p:cNvCxnSpPr>
                    <a:cxnSpLocks/>
                  </p:cNvCxnSpPr>
                  <p:nvPr/>
                </p:nvCxnSpPr>
                <p:spPr>
                  <a:xfrm flipV="1">
                    <a:off x="821254" y="2163004"/>
                    <a:ext cx="0" cy="295275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EFE440D-2CCB-98BC-0131-884374130DBA}"/>
                      </a:ext>
                    </a:extLst>
                  </p:cNvPr>
                  <p:cNvSpPr txBox="1"/>
                  <p:nvPr/>
                </p:nvSpPr>
                <p:spPr>
                  <a:xfrm>
                    <a:off x="1935679" y="5211004"/>
                    <a:ext cx="161925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a:ln>
                          <a:noFill/>
                        </a:ln>
                        <a:solidFill>
                          <a:srgbClr val="313131"/>
                        </a:solidFill>
                        <a:effectLst/>
                        <a:uLnTx/>
                        <a:uFillTx/>
                        <a:latin typeface="Verdana"/>
                        <a:ea typeface="+mn-ea"/>
                        <a:cs typeface="+mn-cs"/>
                      </a:rPr>
                      <a:t>Value*</a:t>
                    </a:r>
                  </a:p>
                </p:txBody>
              </p:sp>
              <p:sp>
                <p:nvSpPr>
                  <p:cNvPr id="41" name="TextBox 40">
                    <a:extLst>
                      <a:ext uri="{FF2B5EF4-FFF2-40B4-BE49-F238E27FC236}">
                        <a16:creationId xmlns:a16="http://schemas.microsoft.com/office/drawing/2014/main" id="{8D7E85CE-6D3D-02D9-AF37-D024DB33C5E3}"/>
                      </a:ext>
                    </a:extLst>
                  </p:cNvPr>
                  <p:cNvSpPr txBox="1"/>
                  <p:nvPr/>
                </p:nvSpPr>
                <p:spPr>
                  <a:xfrm rot="16200000">
                    <a:off x="-574612" y="4011782"/>
                    <a:ext cx="2486025" cy="21544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600"/>
                      </a:spcBef>
                      <a:spcAft>
                        <a:spcPts val="0"/>
                      </a:spcAft>
                      <a:buClrTx/>
                      <a:buSzPct val="100000"/>
                      <a:buFontTx/>
                      <a:buNone/>
                      <a:tabLst/>
                      <a:defRPr/>
                    </a:pPr>
                    <a:r>
                      <a:rPr kumimoji="0" lang="en-US" sz="1400" b="0" i="0" u="none" strike="noStrike" kern="1200" cap="none" spc="0" normalizeH="0" baseline="0" noProof="0">
                        <a:ln>
                          <a:noFill/>
                        </a:ln>
                        <a:solidFill>
                          <a:srgbClr val="313131"/>
                        </a:solidFill>
                        <a:effectLst/>
                        <a:uLnTx/>
                        <a:uFillTx/>
                        <a:latin typeface="Verdana"/>
                        <a:ea typeface="+mn-ea"/>
                        <a:cs typeface="+mn-cs"/>
                      </a:rPr>
                      <a:t>Probability of Success</a:t>
                    </a:r>
                  </a:p>
                </p:txBody>
              </p:sp>
              <p:sp>
                <p:nvSpPr>
                  <p:cNvPr id="42" name="Oval 41">
                    <a:extLst>
                      <a:ext uri="{FF2B5EF4-FFF2-40B4-BE49-F238E27FC236}">
                        <a16:creationId xmlns:a16="http://schemas.microsoft.com/office/drawing/2014/main" id="{5A2C3F41-4649-E546-8580-D26EF193BDBA}"/>
                      </a:ext>
                    </a:extLst>
                  </p:cNvPr>
                  <p:cNvSpPr/>
                  <p:nvPr/>
                </p:nvSpPr>
                <p:spPr bwMode="gray">
                  <a:xfrm>
                    <a:off x="3696017" y="2386731"/>
                    <a:ext cx="891531" cy="911142"/>
                  </a:xfrm>
                  <a:prstGeom prst="ellipse">
                    <a:avLst/>
                  </a:prstGeom>
                  <a:solidFill>
                    <a:srgbClr val="0585CE"/>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black"/>
                        </a:solidFill>
                        <a:effectLst/>
                        <a:uLnTx/>
                        <a:uFillTx/>
                        <a:latin typeface="Verdana"/>
                        <a:ea typeface="+mn-ea"/>
                        <a:cs typeface="+mn-cs"/>
                      </a:rPr>
                      <a:t>1</a:t>
                    </a:r>
                  </a:p>
                </p:txBody>
              </p:sp>
              <p:sp>
                <p:nvSpPr>
                  <p:cNvPr id="43" name="Oval 42">
                    <a:extLst>
                      <a:ext uri="{FF2B5EF4-FFF2-40B4-BE49-F238E27FC236}">
                        <a16:creationId xmlns:a16="http://schemas.microsoft.com/office/drawing/2014/main" id="{913BDC3F-D579-9F2E-62C5-739953EB413E}"/>
                      </a:ext>
                    </a:extLst>
                  </p:cNvPr>
                  <p:cNvSpPr/>
                  <p:nvPr/>
                </p:nvSpPr>
                <p:spPr bwMode="gray">
                  <a:xfrm>
                    <a:off x="3696017" y="4035704"/>
                    <a:ext cx="562093" cy="562093"/>
                  </a:xfrm>
                  <a:prstGeom prst="ellipse">
                    <a:avLst/>
                  </a:prstGeom>
                  <a:solidFill>
                    <a:srgbClr val="DDF3FB"/>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black"/>
                        </a:solidFill>
                        <a:effectLst/>
                        <a:uLnTx/>
                        <a:uFillTx/>
                        <a:latin typeface="Verdana"/>
                        <a:ea typeface="+mn-ea"/>
                        <a:cs typeface="+mn-cs"/>
                      </a:rPr>
                      <a:t>3</a:t>
                    </a:r>
                  </a:p>
                </p:txBody>
              </p:sp>
              <p:sp>
                <p:nvSpPr>
                  <p:cNvPr id="44" name="Oval 43">
                    <a:extLst>
                      <a:ext uri="{FF2B5EF4-FFF2-40B4-BE49-F238E27FC236}">
                        <a16:creationId xmlns:a16="http://schemas.microsoft.com/office/drawing/2014/main" id="{CB12F49A-9B6F-09CC-76AE-77EC17A6A6C9}"/>
                      </a:ext>
                    </a:extLst>
                  </p:cNvPr>
                  <p:cNvSpPr/>
                  <p:nvPr/>
                </p:nvSpPr>
                <p:spPr bwMode="gray">
                  <a:xfrm>
                    <a:off x="1322782" y="4148851"/>
                    <a:ext cx="680132" cy="680132"/>
                  </a:xfrm>
                  <a:prstGeom prst="ellipse">
                    <a:avLst/>
                  </a:prstGeom>
                  <a:solidFill>
                    <a:schemeClr val="tx2">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black"/>
                        </a:solidFill>
                        <a:effectLst/>
                        <a:uLnTx/>
                        <a:uFillTx/>
                        <a:latin typeface="Verdana"/>
                        <a:ea typeface="+mn-ea"/>
                        <a:cs typeface="+mn-cs"/>
                      </a:rPr>
                      <a:t>4</a:t>
                    </a:r>
                  </a:p>
                </p:txBody>
              </p:sp>
            </p:grpSp>
            <p:sp>
              <p:nvSpPr>
                <p:cNvPr id="36" name="TextBox 35">
                  <a:extLst>
                    <a:ext uri="{FF2B5EF4-FFF2-40B4-BE49-F238E27FC236}">
                      <a16:creationId xmlns:a16="http://schemas.microsoft.com/office/drawing/2014/main" id="{94435EA8-50AE-DE74-03ED-46ADF65F419C}"/>
                    </a:ext>
                  </a:extLst>
                </p:cNvPr>
                <p:cNvSpPr txBox="1"/>
                <p:nvPr/>
              </p:nvSpPr>
              <p:spPr>
                <a:xfrm>
                  <a:off x="7238339" y="2281954"/>
                  <a:ext cx="822961"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a:ln>
                        <a:noFill/>
                      </a:ln>
                      <a:solidFill>
                        <a:srgbClr val="313131"/>
                      </a:solidFill>
                      <a:effectLst/>
                      <a:uLnTx/>
                      <a:uFillTx/>
                      <a:latin typeface="Verdana"/>
                      <a:ea typeface="+mn-ea"/>
                      <a:cs typeface="+mn-cs"/>
                    </a:rPr>
                    <a:t>High</a:t>
                  </a:r>
                </a:p>
              </p:txBody>
            </p:sp>
            <p:sp>
              <p:nvSpPr>
                <p:cNvPr id="37" name="TextBox 36">
                  <a:extLst>
                    <a:ext uri="{FF2B5EF4-FFF2-40B4-BE49-F238E27FC236}">
                      <a16:creationId xmlns:a16="http://schemas.microsoft.com/office/drawing/2014/main" id="{F0AB9556-9EA3-9BC2-72C2-FD4C53C3CAB9}"/>
                    </a:ext>
                  </a:extLst>
                </p:cNvPr>
                <p:cNvSpPr txBox="1"/>
                <p:nvPr/>
              </p:nvSpPr>
              <p:spPr>
                <a:xfrm>
                  <a:off x="10852273" y="5132602"/>
                  <a:ext cx="822961"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00" b="0" i="0" u="none" strike="noStrike" kern="1200" cap="none" spc="0" normalizeH="0" baseline="0" noProof="0">
                      <a:ln>
                        <a:noFill/>
                      </a:ln>
                      <a:solidFill>
                        <a:srgbClr val="313131"/>
                      </a:solidFill>
                      <a:effectLst/>
                      <a:uLnTx/>
                      <a:uFillTx/>
                      <a:latin typeface="Verdana"/>
                      <a:ea typeface="+mn-ea"/>
                      <a:cs typeface="+mn-cs"/>
                    </a:rPr>
                    <a:t>High</a:t>
                  </a:r>
                </a:p>
              </p:txBody>
            </p:sp>
          </p:grpSp>
        </p:grpSp>
        <p:sp>
          <p:nvSpPr>
            <p:cNvPr id="45" name="TextBox 44">
              <a:extLst>
                <a:ext uri="{FF2B5EF4-FFF2-40B4-BE49-F238E27FC236}">
                  <a16:creationId xmlns:a16="http://schemas.microsoft.com/office/drawing/2014/main" id="{6858E572-A49A-51A0-161E-D1739CF5F37C}"/>
                </a:ext>
              </a:extLst>
            </p:cNvPr>
            <p:cNvSpPr txBox="1"/>
            <p:nvPr/>
          </p:nvSpPr>
          <p:spPr>
            <a:xfrm>
              <a:off x="4403367" y="1557238"/>
              <a:ext cx="310275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000" b="1" i="1" u="none" strike="noStrike" kern="1200" cap="none" spc="0" normalizeH="0" baseline="0" noProof="0" dirty="0">
                  <a:ln>
                    <a:noFill/>
                  </a:ln>
                  <a:solidFill>
                    <a:srgbClr val="313131"/>
                  </a:solidFill>
                  <a:effectLst/>
                  <a:uLnTx/>
                  <a:uFillTx/>
                  <a:latin typeface="Verdana"/>
                  <a:ea typeface="+mn-ea"/>
                  <a:cs typeface="+mn-cs"/>
                </a:rPr>
                <a:t>Most Pragmatic Approach</a:t>
              </a:r>
            </a:p>
          </p:txBody>
        </p:sp>
        <p:sp>
          <p:nvSpPr>
            <p:cNvPr id="46" name="TextBox 45">
              <a:extLst>
                <a:ext uri="{FF2B5EF4-FFF2-40B4-BE49-F238E27FC236}">
                  <a16:creationId xmlns:a16="http://schemas.microsoft.com/office/drawing/2014/main" id="{14AF14F5-F278-50F9-2FDC-6084E0A9E331}"/>
                </a:ext>
              </a:extLst>
            </p:cNvPr>
            <p:cNvSpPr txBox="1"/>
            <p:nvPr/>
          </p:nvSpPr>
          <p:spPr bwMode="gray">
            <a:xfrm>
              <a:off x="7881276" y="5094348"/>
              <a:ext cx="3985354" cy="1054896"/>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1" u="none" strike="noStrike" kern="1200" cap="none" spc="0" normalizeH="0" baseline="0" noProof="0" dirty="0">
                  <a:ln>
                    <a:noFill/>
                  </a:ln>
                  <a:solidFill>
                    <a:prstClr val="black"/>
                  </a:solidFill>
                  <a:effectLst/>
                  <a:uLnTx/>
                  <a:uFillTx/>
                  <a:latin typeface="Verdana"/>
                  <a:ea typeface="Open Sans" panose="020B0606030504020204" pitchFamily="34" charset="0"/>
                  <a:cs typeface="Open Sans" panose="020B0606030504020204" pitchFamily="34" charset="0"/>
                </a:rPr>
                <a:t>*Value represents:</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dirty="0">
                  <a:ln>
                    <a:noFill/>
                  </a:ln>
                  <a:solidFill>
                    <a:prstClr val="black"/>
                  </a:solidFill>
                  <a:effectLst/>
                  <a:uLnTx/>
                  <a:uFillTx/>
                  <a:latin typeface="Verdana"/>
                  <a:ea typeface="Open Sans" panose="020B0606030504020204" pitchFamily="34" charset="0"/>
                  <a:cs typeface="Open Sans" panose="020B0606030504020204" pitchFamily="34" charset="0"/>
                </a:rPr>
                <a:t>Faster time-to-market for new capability launches</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dirty="0">
                  <a:ln>
                    <a:noFill/>
                  </a:ln>
                  <a:solidFill>
                    <a:prstClr val="black"/>
                  </a:solidFill>
                  <a:effectLst/>
                  <a:uLnTx/>
                  <a:uFillTx/>
                  <a:latin typeface="Verdana"/>
                  <a:ea typeface="Open Sans" panose="020B0606030504020204" pitchFamily="34" charset="0"/>
                  <a:cs typeface="Open Sans" panose="020B0606030504020204" pitchFamily="34" charset="0"/>
                </a:rPr>
                <a:t>Efficient system with reduced technical debt</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dirty="0">
                  <a:ln>
                    <a:noFill/>
                  </a:ln>
                  <a:solidFill>
                    <a:prstClr val="black"/>
                  </a:solidFill>
                  <a:effectLst/>
                  <a:uLnTx/>
                  <a:uFillTx/>
                  <a:latin typeface="Verdana"/>
                  <a:ea typeface="Open Sans" panose="020B0606030504020204" pitchFamily="34" charset="0"/>
                  <a:cs typeface="Open Sans" panose="020B0606030504020204" pitchFamily="34" charset="0"/>
                </a:rPr>
                <a:t>Lower total cost of ownership</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dirty="0">
                  <a:ln>
                    <a:noFill/>
                  </a:ln>
                  <a:solidFill>
                    <a:prstClr val="black"/>
                  </a:solidFill>
                  <a:effectLst/>
                  <a:uLnTx/>
                  <a:uFillTx/>
                  <a:latin typeface="Verdana"/>
                  <a:ea typeface="Open Sans" panose="020B0606030504020204" pitchFamily="34" charset="0"/>
                  <a:cs typeface="Open Sans" panose="020B0606030504020204" pitchFamily="34" charset="0"/>
                </a:rPr>
                <a:t>Business Disruption</a:t>
              </a:r>
            </a:p>
            <a:p>
              <a:pPr marL="171450" marR="0" lvl="0" indent="-171450" algn="l" defTabSz="914400" rtl="0" eaLnBrk="1" fontAlgn="auto" latinLnBrk="0" hangingPunct="1">
                <a:lnSpc>
                  <a:spcPct val="11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dirty="0">
                  <a:ln>
                    <a:noFill/>
                  </a:ln>
                  <a:solidFill>
                    <a:prstClr val="black"/>
                  </a:solidFill>
                  <a:effectLst/>
                  <a:uLnTx/>
                  <a:uFillTx/>
                  <a:latin typeface="Verdana"/>
                  <a:ea typeface="Open Sans" panose="020B0606030504020204" pitchFamily="34" charset="0"/>
                  <a:cs typeface="Open Sans" panose="020B0606030504020204" pitchFamily="34" charset="0"/>
                </a:rPr>
                <a:t>Total time for modernization</a:t>
              </a:r>
            </a:p>
          </p:txBody>
        </p:sp>
        <p:grpSp>
          <p:nvGrpSpPr>
            <p:cNvPr id="47" name="Group 46">
              <a:extLst>
                <a:ext uri="{FF2B5EF4-FFF2-40B4-BE49-F238E27FC236}">
                  <a16:creationId xmlns:a16="http://schemas.microsoft.com/office/drawing/2014/main" id="{30168613-5EF8-CAC3-F1CD-AF0DDD6B8716}"/>
                </a:ext>
              </a:extLst>
            </p:cNvPr>
            <p:cNvGrpSpPr/>
            <p:nvPr/>
          </p:nvGrpSpPr>
          <p:grpSpPr>
            <a:xfrm>
              <a:off x="450951" y="2617690"/>
              <a:ext cx="6788780" cy="1119560"/>
              <a:chOff x="450951" y="5295572"/>
              <a:chExt cx="6788780" cy="1119560"/>
            </a:xfrm>
          </p:grpSpPr>
          <p:sp>
            <p:nvSpPr>
              <p:cNvPr id="48" name="Rectangle 47">
                <a:extLst>
                  <a:ext uri="{FF2B5EF4-FFF2-40B4-BE49-F238E27FC236}">
                    <a16:creationId xmlns:a16="http://schemas.microsoft.com/office/drawing/2014/main" id="{BA75EBC4-4CA6-39D0-0B21-4F99457B6D3F}"/>
                  </a:ext>
                </a:extLst>
              </p:cNvPr>
              <p:cNvSpPr>
                <a:spLocks/>
              </p:cNvSpPr>
              <p:nvPr/>
            </p:nvSpPr>
            <p:spPr>
              <a:xfrm>
                <a:off x="694355" y="5619636"/>
                <a:ext cx="6545376" cy="795496"/>
              </a:xfrm>
              <a:prstGeom prst="rect">
                <a:avLst/>
              </a:prstGeom>
              <a:noFill/>
              <a:ln w="19050" cap="flat">
                <a:solidFill>
                  <a:srgbClr val="62B5E5"/>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Open Sans"/>
                  <a:cs typeface="Open Sans"/>
                  <a:sym typeface="Open Sans"/>
                </a:endParaRPr>
              </a:p>
            </p:txBody>
          </p:sp>
          <p:sp>
            <p:nvSpPr>
              <p:cNvPr id="49" name="Rectangle 48">
                <a:extLst>
                  <a:ext uri="{FF2B5EF4-FFF2-40B4-BE49-F238E27FC236}">
                    <a16:creationId xmlns:a16="http://schemas.microsoft.com/office/drawing/2014/main" id="{58FF674D-055A-4CF1-06A1-722756F5DE51}"/>
                  </a:ext>
                </a:extLst>
              </p:cNvPr>
              <p:cNvSpPr>
                <a:spLocks noChangeAspect="1"/>
              </p:cNvSpPr>
              <p:nvPr/>
            </p:nvSpPr>
            <p:spPr>
              <a:xfrm>
                <a:off x="694355" y="5362164"/>
                <a:ext cx="3353595" cy="376029"/>
              </a:xfrm>
              <a:prstGeom prst="rect">
                <a:avLst/>
              </a:prstGeom>
              <a:solidFill>
                <a:srgbClr val="A0DCFF"/>
              </a:solidFill>
              <a:ln w="28575">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lIns="182880" tIns="91440" rIns="91440" bIns="9144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Open Sans"/>
                    <a:ea typeface="+mn-ea"/>
                    <a:cs typeface="+mn-cs"/>
                  </a:rPr>
                  <a:t>USE CASES/BUSINESS PROCESSES</a:t>
                </a:r>
                <a:endParaRPr kumimoji="0" lang="en-US" sz="1200" b="0" i="1" u="none" strike="noStrike" kern="1200" cap="none" spc="300" normalizeH="0" baseline="0" noProof="0" dirty="0">
                  <a:ln>
                    <a:noFill/>
                  </a:ln>
                  <a:solidFill>
                    <a:prstClr val="black"/>
                  </a:solidFill>
                  <a:effectLst/>
                  <a:uLnTx/>
                  <a:uFillTx/>
                  <a:latin typeface="Open Sans"/>
                  <a:ea typeface="Open Sans Extrabold" charset="0"/>
                  <a:cs typeface="Open Sans Extrabold" charset="0"/>
                </a:endParaRPr>
              </a:p>
            </p:txBody>
          </p:sp>
          <p:grpSp>
            <p:nvGrpSpPr>
              <p:cNvPr id="50" name="Group 49">
                <a:extLst>
                  <a:ext uri="{FF2B5EF4-FFF2-40B4-BE49-F238E27FC236}">
                    <a16:creationId xmlns:a16="http://schemas.microsoft.com/office/drawing/2014/main" id="{F8CEF2D0-6CC1-0458-4CF9-9BF101058EDD}"/>
                  </a:ext>
                </a:extLst>
              </p:cNvPr>
              <p:cNvGrpSpPr/>
              <p:nvPr/>
            </p:nvGrpSpPr>
            <p:grpSpPr>
              <a:xfrm>
                <a:off x="450951" y="5295572"/>
                <a:ext cx="512206" cy="512206"/>
                <a:chOff x="4991377" y="1556489"/>
                <a:chExt cx="619770" cy="619770"/>
              </a:xfrm>
            </p:grpSpPr>
            <p:sp>
              <p:nvSpPr>
                <p:cNvPr id="52" name="Oval 51">
                  <a:extLst>
                    <a:ext uri="{FF2B5EF4-FFF2-40B4-BE49-F238E27FC236}">
                      <a16:creationId xmlns:a16="http://schemas.microsoft.com/office/drawing/2014/main" id="{99DD9D42-EA3E-D428-391D-C2C543F3E1D9}"/>
                    </a:ext>
                  </a:extLst>
                </p:cNvPr>
                <p:cNvSpPr/>
                <p:nvPr/>
              </p:nvSpPr>
              <p:spPr>
                <a:xfrm>
                  <a:off x="4991377" y="1556489"/>
                  <a:ext cx="619770" cy="6197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Open Sans"/>
                    <a:ea typeface="+mn-ea"/>
                    <a:cs typeface="+mn-cs"/>
                  </a:endParaRPr>
                </a:p>
              </p:txBody>
            </p:sp>
            <p:sp>
              <p:nvSpPr>
                <p:cNvPr id="53" name="Freeform 20">
                  <a:extLst>
                    <a:ext uri="{FF2B5EF4-FFF2-40B4-BE49-F238E27FC236}">
                      <a16:creationId xmlns:a16="http://schemas.microsoft.com/office/drawing/2014/main" id="{843E4950-9563-166C-C8E2-FC35EAE8FA7B}"/>
                    </a:ext>
                  </a:extLst>
                </p:cNvPr>
                <p:cNvSpPr>
                  <a:spLocks noEditPoints="1"/>
                </p:cNvSpPr>
                <p:nvPr/>
              </p:nvSpPr>
              <p:spPr bwMode="auto">
                <a:xfrm>
                  <a:off x="5018064" y="1582313"/>
                  <a:ext cx="570188" cy="568123"/>
                </a:xfrm>
                <a:custGeom>
                  <a:avLst/>
                  <a:gdLst>
                    <a:gd name="T0" fmla="*/ 312 w 657"/>
                    <a:gd name="T1" fmla="*/ 658 h 658"/>
                    <a:gd name="T2" fmla="*/ 262 w 657"/>
                    <a:gd name="T3" fmla="*/ 652 h 658"/>
                    <a:gd name="T4" fmla="*/ 200 w 657"/>
                    <a:gd name="T5" fmla="*/ 633 h 658"/>
                    <a:gd name="T6" fmla="*/ 119 w 657"/>
                    <a:gd name="T7" fmla="*/ 583 h 658"/>
                    <a:gd name="T8" fmla="*/ 56 w 657"/>
                    <a:gd name="T9" fmla="*/ 513 h 658"/>
                    <a:gd name="T10" fmla="*/ 14 w 657"/>
                    <a:gd name="T11" fmla="*/ 427 h 658"/>
                    <a:gd name="T12" fmla="*/ 4 w 657"/>
                    <a:gd name="T13" fmla="*/ 379 h 658"/>
                    <a:gd name="T14" fmla="*/ 0 w 657"/>
                    <a:gd name="T15" fmla="*/ 329 h 658"/>
                    <a:gd name="T16" fmla="*/ 1 w 657"/>
                    <a:gd name="T17" fmla="*/ 296 h 658"/>
                    <a:gd name="T18" fmla="*/ 10 w 657"/>
                    <a:gd name="T19" fmla="*/ 247 h 658"/>
                    <a:gd name="T20" fmla="*/ 39 w 657"/>
                    <a:gd name="T21" fmla="*/ 173 h 658"/>
                    <a:gd name="T22" fmla="*/ 96 w 657"/>
                    <a:gd name="T23" fmla="*/ 97 h 658"/>
                    <a:gd name="T24" fmla="*/ 172 w 657"/>
                    <a:gd name="T25" fmla="*/ 40 h 658"/>
                    <a:gd name="T26" fmla="*/ 247 w 657"/>
                    <a:gd name="T27" fmla="*/ 11 h 658"/>
                    <a:gd name="T28" fmla="*/ 295 w 657"/>
                    <a:gd name="T29" fmla="*/ 3 h 658"/>
                    <a:gd name="T30" fmla="*/ 329 w 657"/>
                    <a:gd name="T31" fmla="*/ 0 h 658"/>
                    <a:gd name="T32" fmla="*/ 379 w 657"/>
                    <a:gd name="T33" fmla="*/ 4 h 658"/>
                    <a:gd name="T34" fmla="*/ 426 w 657"/>
                    <a:gd name="T35" fmla="*/ 16 h 658"/>
                    <a:gd name="T36" fmla="*/ 512 w 657"/>
                    <a:gd name="T37" fmla="*/ 56 h 658"/>
                    <a:gd name="T38" fmla="*/ 582 w 657"/>
                    <a:gd name="T39" fmla="*/ 121 h 658"/>
                    <a:gd name="T40" fmla="*/ 631 w 657"/>
                    <a:gd name="T41" fmla="*/ 201 h 658"/>
                    <a:gd name="T42" fmla="*/ 650 w 657"/>
                    <a:gd name="T43" fmla="*/ 263 h 658"/>
                    <a:gd name="T44" fmla="*/ 657 w 657"/>
                    <a:gd name="T45" fmla="*/ 313 h 658"/>
                    <a:gd name="T46" fmla="*/ 657 w 657"/>
                    <a:gd name="T47" fmla="*/ 347 h 658"/>
                    <a:gd name="T48" fmla="*/ 650 w 657"/>
                    <a:gd name="T49" fmla="*/ 396 h 658"/>
                    <a:gd name="T50" fmla="*/ 631 w 657"/>
                    <a:gd name="T51" fmla="*/ 457 h 658"/>
                    <a:gd name="T52" fmla="*/ 582 w 657"/>
                    <a:gd name="T53" fmla="*/ 539 h 658"/>
                    <a:gd name="T54" fmla="*/ 512 w 657"/>
                    <a:gd name="T55" fmla="*/ 602 h 658"/>
                    <a:gd name="T56" fmla="*/ 426 w 657"/>
                    <a:gd name="T57" fmla="*/ 644 h 658"/>
                    <a:gd name="T58" fmla="*/ 379 w 657"/>
                    <a:gd name="T59" fmla="*/ 654 h 658"/>
                    <a:gd name="T60" fmla="*/ 329 w 657"/>
                    <a:gd name="T61" fmla="*/ 658 h 658"/>
                    <a:gd name="T62" fmla="*/ 329 w 657"/>
                    <a:gd name="T63" fmla="*/ 37 h 658"/>
                    <a:gd name="T64" fmla="*/ 242 w 657"/>
                    <a:gd name="T65" fmla="*/ 51 h 658"/>
                    <a:gd name="T66" fmla="*/ 166 w 657"/>
                    <a:gd name="T67" fmla="*/ 89 h 658"/>
                    <a:gd name="T68" fmla="*/ 103 w 657"/>
                    <a:gd name="T69" fmla="*/ 144 h 658"/>
                    <a:gd name="T70" fmla="*/ 60 w 657"/>
                    <a:gd name="T71" fmla="*/ 216 h 658"/>
                    <a:gd name="T72" fmla="*/ 39 w 657"/>
                    <a:gd name="T73" fmla="*/ 300 h 658"/>
                    <a:gd name="T74" fmla="*/ 39 w 657"/>
                    <a:gd name="T75" fmla="*/ 359 h 658"/>
                    <a:gd name="T76" fmla="*/ 60 w 657"/>
                    <a:gd name="T77" fmla="*/ 443 h 658"/>
                    <a:gd name="T78" fmla="*/ 103 w 657"/>
                    <a:gd name="T79" fmla="*/ 515 h 658"/>
                    <a:gd name="T80" fmla="*/ 166 w 657"/>
                    <a:gd name="T81" fmla="*/ 571 h 658"/>
                    <a:gd name="T82" fmla="*/ 242 w 657"/>
                    <a:gd name="T83" fmla="*/ 607 h 658"/>
                    <a:gd name="T84" fmla="*/ 329 w 657"/>
                    <a:gd name="T85" fmla="*/ 621 h 658"/>
                    <a:gd name="T86" fmla="*/ 387 w 657"/>
                    <a:gd name="T87" fmla="*/ 615 h 658"/>
                    <a:gd name="T88" fmla="*/ 467 w 657"/>
                    <a:gd name="T89" fmla="*/ 586 h 658"/>
                    <a:gd name="T90" fmla="*/ 535 w 657"/>
                    <a:gd name="T91" fmla="*/ 535 h 658"/>
                    <a:gd name="T92" fmla="*/ 584 w 657"/>
                    <a:gd name="T93" fmla="*/ 468 h 658"/>
                    <a:gd name="T94" fmla="*/ 614 w 657"/>
                    <a:gd name="T95" fmla="*/ 388 h 658"/>
                    <a:gd name="T96" fmla="*/ 619 w 657"/>
                    <a:gd name="T97" fmla="*/ 329 h 658"/>
                    <a:gd name="T98" fmla="*/ 607 w 657"/>
                    <a:gd name="T99" fmla="*/ 243 h 658"/>
                    <a:gd name="T100" fmla="*/ 570 w 657"/>
                    <a:gd name="T101" fmla="*/ 166 h 658"/>
                    <a:gd name="T102" fmla="*/ 513 w 657"/>
                    <a:gd name="T103" fmla="*/ 105 h 658"/>
                    <a:gd name="T104" fmla="*/ 442 w 657"/>
                    <a:gd name="T105" fmla="*/ 62 h 658"/>
                    <a:gd name="T106" fmla="*/ 359 w 657"/>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8">
                      <a:moveTo>
                        <a:pt x="329" y="658"/>
                      </a:moveTo>
                      <a:lnTo>
                        <a:pt x="329" y="658"/>
                      </a:lnTo>
                      <a:lnTo>
                        <a:pt x="312" y="658"/>
                      </a:lnTo>
                      <a:lnTo>
                        <a:pt x="295" y="657"/>
                      </a:lnTo>
                      <a:lnTo>
                        <a:pt x="278" y="654"/>
                      </a:lnTo>
                      <a:lnTo>
                        <a:pt x="262" y="652"/>
                      </a:lnTo>
                      <a:lnTo>
                        <a:pt x="247" y="648"/>
                      </a:lnTo>
                      <a:lnTo>
                        <a:pt x="231" y="644"/>
                      </a:lnTo>
                      <a:lnTo>
                        <a:pt x="200" y="633"/>
                      </a:lnTo>
                      <a:lnTo>
                        <a:pt x="172" y="618"/>
                      </a:lnTo>
                      <a:lnTo>
                        <a:pt x="145" y="602"/>
                      </a:lnTo>
                      <a:lnTo>
                        <a:pt x="119" y="583"/>
                      </a:lnTo>
                      <a:lnTo>
                        <a:pt x="96" y="562"/>
                      </a:lnTo>
                      <a:lnTo>
                        <a:pt x="75" y="539"/>
                      </a:lnTo>
                      <a:lnTo>
                        <a:pt x="56" y="513"/>
                      </a:lnTo>
                      <a:lnTo>
                        <a:pt x="39" y="486"/>
                      </a:lnTo>
                      <a:lnTo>
                        <a:pt x="25" y="457"/>
                      </a:lnTo>
                      <a:lnTo>
                        <a:pt x="14" y="427"/>
                      </a:lnTo>
                      <a:lnTo>
                        <a:pt x="10" y="411"/>
                      </a:lnTo>
                      <a:lnTo>
                        <a:pt x="6" y="396"/>
                      </a:lnTo>
                      <a:lnTo>
                        <a:pt x="4" y="379"/>
                      </a:lnTo>
                      <a:lnTo>
                        <a:pt x="1" y="363"/>
                      </a:lnTo>
                      <a:lnTo>
                        <a:pt x="0" y="347"/>
                      </a:lnTo>
                      <a:lnTo>
                        <a:pt x="0" y="329"/>
                      </a:lnTo>
                      <a:lnTo>
                        <a:pt x="0" y="329"/>
                      </a:lnTo>
                      <a:lnTo>
                        <a:pt x="0" y="313"/>
                      </a:lnTo>
                      <a:lnTo>
                        <a:pt x="1" y="296"/>
                      </a:lnTo>
                      <a:lnTo>
                        <a:pt x="4" y="279"/>
                      </a:lnTo>
                      <a:lnTo>
                        <a:pt x="6" y="263"/>
                      </a:lnTo>
                      <a:lnTo>
                        <a:pt x="10" y="247"/>
                      </a:lnTo>
                      <a:lnTo>
                        <a:pt x="14" y="232"/>
                      </a:lnTo>
                      <a:lnTo>
                        <a:pt x="25" y="201"/>
                      </a:lnTo>
                      <a:lnTo>
                        <a:pt x="39" y="173"/>
                      </a:lnTo>
                      <a:lnTo>
                        <a:pt x="56" y="145"/>
                      </a:lnTo>
                      <a:lnTo>
                        <a:pt x="75" y="121"/>
                      </a:lnTo>
                      <a:lnTo>
                        <a:pt x="96" y="97"/>
                      </a:lnTo>
                      <a:lnTo>
                        <a:pt x="119" y="75"/>
                      </a:lnTo>
                      <a:lnTo>
                        <a:pt x="145" y="56"/>
                      </a:lnTo>
                      <a:lnTo>
                        <a:pt x="172" y="40"/>
                      </a:lnTo>
                      <a:lnTo>
                        <a:pt x="200" y="27"/>
                      </a:lnTo>
                      <a:lnTo>
                        <a:pt x="231" y="16"/>
                      </a:lnTo>
                      <a:lnTo>
                        <a:pt x="247" y="11"/>
                      </a:lnTo>
                      <a:lnTo>
                        <a:pt x="262" y="7"/>
                      </a:lnTo>
                      <a:lnTo>
                        <a:pt x="278" y="4"/>
                      </a:lnTo>
                      <a:lnTo>
                        <a:pt x="295" y="3"/>
                      </a:lnTo>
                      <a:lnTo>
                        <a:pt x="312" y="1"/>
                      </a:lnTo>
                      <a:lnTo>
                        <a:pt x="329" y="0"/>
                      </a:lnTo>
                      <a:lnTo>
                        <a:pt x="329" y="0"/>
                      </a:lnTo>
                      <a:lnTo>
                        <a:pt x="345" y="1"/>
                      </a:lnTo>
                      <a:lnTo>
                        <a:pt x="363" y="3"/>
                      </a:lnTo>
                      <a:lnTo>
                        <a:pt x="379" y="4"/>
                      </a:lnTo>
                      <a:lnTo>
                        <a:pt x="395" y="7"/>
                      </a:lnTo>
                      <a:lnTo>
                        <a:pt x="411" y="11"/>
                      </a:lnTo>
                      <a:lnTo>
                        <a:pt x="426" y="16"/>
                      </a:lnTo>
                      <a:lnTo>
                        <a:pt x="457" y="27"/>
                      </a:lnTo>
                      <a:lnTo>
                        <a:pt x="485" y="40"/>
                      </a:lnTo>
                      <a:lnTo>
                        <a:pt x="512" y="56"/>
                      </a:lnTo>
                      <a:lnTo>
                        <a:pt x="537" y="75"/>
                      </a:lnTo>
                      <a:lnTo>
                        <a:pt x="561" y="97"/>
                      </a:lnTo>
                      <a:lnTo>
                        <a:pt x="582" y="121"/>
                      </a:lnTo>
                      <a:lnTo>
                        <a:pt x="602" y="145"/>
                      </a:lnTo>
                      <a:lnTo>
                        <a:pt x="618" y="173"/>
                      </a:lnTo>
                      <a:lnTo>
                        <a:pt x="631" y="201"/>
                      </a:lnTo>
                      <a:lnTo>
                        <a:pt x="642" y="232"/>
                      </a:lnTo>
                      <a:lnTo>
                        <a:pt x="648" y="247"/>
                      </a:lnTo>
                      <a:lnTo>
                        <a:pt x="650" y="263"/>
                      </a:lnTo>
                      <a:lnTo>
                        <a:pt x="654" y="279"/>
                      </a:lnTo>
                      <a:lnTo>
                        <a:pt x="656" y="296"/>
                      </a:lnTo>
                      <a:lnTo>
                        <a:pt x="657" y="313"/>
                      </a:lnTo>
                      <a:lnTo>
                        <a:pt x="657" y="329"/>
                      </a:lnTo>
                      <a:lnTo>
                        <a:pt x="657" y="329"/>
                      </a:lnTo>
                      <a:lnTo>
                        <a:pt x="657" y="347"/>
                      </a:lnTo>
                      <a:lnTo>
                        <a:pt x="656" y="363"/>
                      </a:lnTo>
                      <a:lnTo>
                        <a:pt x="654" y="379"/>
                      </a:lnTo>
                      <a:lnTo>
                        <a:pt x="650" y="396"/>
                      </a:lnTo>
                      <a:lnTo>
                        <a:pt x="648" y="411"/>
                      </a:lnTo>
                      <a:lnTo>
                        <a:pt x="642" y="427"/>
                      </a:lnTo>
                      <a:lnTo>
                        <a:pt x="631" y="457"/>
                      </a:lnTo>
                      <a:lnTo>
                        <a:pt x="618" y="486"/>
                      </a:lnTo>
                      <a:lnTo>
                        <a:pt x="602" y="513"/>
                      </a:lnTo>
                      <a:lnTo>
                        <a:pt x="582" y="539"/>
                      </a:lnTo>
                      <a:lnTo>
                        <a:pt x="561" y="562"/>
                      </a:lnTo>
                      <a:lnTo>
                        <a:pt x="537" y="583"/>
                      </a:lnTo>
                      <a:lnTo>
                        <a:pt x="512" y="602"/>
                      </a:lnTo>
                      <a:lnTo>
                        <a:pt x="485" y="618"/>
                      </a:lnTo>
                      <a:lnTo>
                        <a:pt x="457" y="633"/>
                      </a:lnTo>
                      <a:lnTo>
                        <a:pt x="426" y="644"/>
                      </a:lnTo>
                      <a:lnTo>
                        <a:pt x="411" y="648"/>
                      </a:lnTo>
                      <a:lnTo>
                        <a:pt x="395" y="652"/>
                      </a:lnTo>
                      <a:lnTo>
                        <a:pt x="379" y="654"/>
                      </a:lnTo>
                      <a:lnTo>
                        <a:pt x="363" y="657"/>
                      </a:lnTo>
                      <a:lnTo>
                        <a:pt x="345" y="658"/>
                      </a:lnTo>
                      <a:lnTo>
                        <a:pt x="329" y="658"/>
                      </a:lnTo>
                      <a:lnTo>
                        <a:pt x="329" y="658"/>
                      </a:lnTo>
                      <a:close/>
                      <a:moveTo>
                        <a:pt x="329" y="37"/>
                      </a:moveTo>
                      <a:lnTo>
                        <a:pt x="329" y="37"/>
                      </a:lnTo>
                      <a:lnTo>
                        <a:pt x="299" y="40"/>
                      </a:lnTo>
                      <a:lnTo>
                        <a:pt x="270" y="44"/>
                      </a:lnTo>
                      <a:lnTo>
                        <a:pt x="242" y="51"/>
                      </a:lnTo>
                      <a:lnTo>
                        <a:pt x="215" y="62"/>
                      </a:lnTo>
                      <a:lnTo>
                        <a:pt x="189" y="74"/>
                      </a:lnTo>
                      <a:lnTo>
                        <a:pt x="166" y="89"/>
                      </a:lnTo>
                      <a:lnTo>
                        <a:pt x="144" y="105"/>
                      </a:lnTo>
                      <a:lnTo>
                        <a:pt x="122" y="123"/>
                      </a:lnTo>
                      <a:lnTo>
                        <a:pt x="103" y="144"/>
                      </a:lnTo>
                      <a:lnTo>
                        <a:pt x="87" y="166"/>
                      </a:lnTo>
                      <a:lnTo>
                        <a:pt x="72" y="191"/>
                      </a:lnTo>
                      <a:lnTo>
                        <a:pt x="60" y="216"/>
                      </a:lnTo>
                      <a:lnTo>
                        <a:pt x="51" y="243"/>
                      </a:lnTo>
                      <a:lnTo>
                        <a:pt x="43" y="271"/>
                      </a:lnTo>
                      <a:lnTo>
                        <a:pt x="39" y="300"/>
                      </a:lnTo>
                      <a:lnTo>
                        <a:pt x="37" y="329"/>
                      </a:lnTo>
                      <a:lnTo>
                        <a:pt x="37" y="329"/>
                      </a:lnTo>
                      <a:lnTo>
                        <a:pt x="39" y="359"/>
                      </a:lnTo>
                      <a:lnTo>
                        <a:pt x="43" y="388"/>
                      </a:lnTo>
                      <a:lnTo>
                        <a:pt x="51" y="416"/>
                      </a:lnTo>
                      <a:lnTo>
                        <a:pt x="60" y="443"/>
                      </a:lnTo>
                      <a:lnTo>
                        <a:pt x="72" y="468"/>
                      </a:lnTo>
                      <a:lnTo>
                        <a:pt x="87" y="492"/>
                      </a:lnTo>
                      <a:lnTo>
                        <a:pt x="103" y="515"/>
                      </a:lnTo>
                      <a:lnTo>
                        <a:pt x="122" y="535"/>
                      </a:lnTo>
                      <a:lnTo>
                        <a:pt x="144" y="554"/>
                      </a:lnTo>
                      <a:lnTo>
                        <a:pt x="166" y="571"/>
                      </a:lnTo>
                      <a:lnTo>
                        <a:pt x="189" y="586"/>
                      </a:lnTo>
                      <a:lnTo>
                        <a:pt x="215" y="598"/>
                      </a:lnTo>
                      <a:lnTo>
                        <a:pt x="242" y="607"/>
                      </a:lnTo>
                      <a:lnTo>
                        <a:pt x="270" y="615"/>
                      </a:lnTo>
                      <a:lnTo>
                        <a:pt x="299" y="619"/>
                      </a:lnTo>
                      <a:lnTo>
                        <a:pt x="329" y="621"/>
                      </a:lnTo>
                      <a:lnTo>
                        <a:pt x="329" y="621"/>
                      </a:lnTo>
                      <a:lnTo>
                        <a:pt x="359" y="619"/>
                      </a:lnTo>
                      <a:lnTo>
                        <a:pt x="387" y="615"/>
                      </a:lnTo>
                      <a:lnTo>
                        <a:pt x="415" y="607"/>
                      </a:lnTo>
                      <a:lnTo>
                        <a:pt x="442" y="598"/>
                      </a:lnTo>
                      <a:lnTo>
                        <a:pt x="467" y="586"/>
                      </a:lnTo>
                      <a:lnTo>
                        <a:pt x="492" y="571"/>
                      </a:lnTo>
                      <a:lnTo>
                        <a:pt x="513" y="554"/>
                      </a:lnTo>
                      <a:lnTo>
                        <a:pt x="535" y="535"/>
                      </a:lnTo>
                      <a:lnTo>
                        <a:pt x="553" y="515"/>
                      </a:lnTo>
                      <a:lnTo>
                        <a:pt x="570" y="492"/>
                      </a:lnTo>
                      <a:lnTo>
                        <a:pt x="584" y="468"/>
                      </a:lnTo>
                      <a:lnTo>
                        <a:pt x="596" y="443"/>
                      </a:lnTo>
                      <a:lnTo>
                        <a:pt x="607" y="416"/>
                      </a:lnTo>
                      <a:lnTo>
                        <a:pt x="614" y="388"/>
                      </a:lnTo>
                      <a:lnTo>
                        <a:pt x="618" y="359"/>
                      </a:lnTo>
                      <a:lnTo>
                        <a:pt x="619" y="329"/>
                      </a:lnTo>
                      <a:lnTo>
                        <a:pt x="619" y="329"/>
                      </a:lnTo>
                      <a:lnTo>
                        <a:pt x="618" y="300"/>
                      </a:lnTo>
                      <a:lnTo>
                        <a:pt x="614" y="271"/>
                      </a:lnTo>
                      <a:lnTo>
                        <a:pt x="607" y="243"/>
                      </a:lnTo>
                      <a:lnTo>
                        <a:pt x="596" y="216"/>
                      </a:lnTo>
                      <a:lnTo>
                        <a:pt x="584" y="191"/>
                      </a:lnTo>
                      <a:lnTo>
                        <a:pt x="570" y="166"/>
                      </a:lnTo>
                      <a:lnTo>
                        <a:pt x="553" y="144"/>
                      </a:lnTo>
                      <a:lnTo>
                        <a:pt x="535" y="123"/>
                      </a:lnTo>
                      <a:lnTo>
                        <a:pt x="513" y="105"/>
                      </a:lnTo>
                      <a:lnTo>
                        <a:pt x="492" y="89"/>
                      </a:lnTo>
                      <a:lnTo>
                        <a:pt x="467" y="74"/>
                      </a:lnTo>
                      <a:lnTo>
                        <a:pt x="442" y="62"/>
                      </a:lnTo>
                      <a:lnTo>
                        <a:pt x="415" y="51"/>
                      </a:lnTo>
                      <a:lnTo>
                        <a:pt x="387" y="44"/>
                      </a:lnTo>
                      <a:lnTo>
                        <a:pt x="359" y="40"/>
                      </a:lnTo>
                      <a:lnTo>
                        <a:pt x="329" y="37"/>
                      </a:lnTo>
                      <a:lnTo>
                        <a:pt x="329" y="37"/>
                      </a:lnTo>
                      <a:close/>
                    </a:path>
                  </a:pathLst>
                </a:custGeom>
                <a:solidFill>
                  <a:srgbClr val="ABEAFF"/>
                </a:solidFill>
                <a:ln w="9525">
                  <a:no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Open Sans"/>
                    <a:ea typeface="+mn-ea"/>
                    <a:cs typeface="+mn-cs"/>
                  </a:endParaRPr>
                </a:p>
              </p:txBody>
            </p:sp>
            <p:sp>
              <p:nvSpPr>
                <p:cNvPr id="54" name="TextBox 53">
                  <a:extLst>
                    <a:ext uri="{FF2B5EF4-FFF2-40B4-BE49-F238E27FC236}">
                      <a16:creationId xmlns:a16="http://schemas.microsoft.com/office/drawing/2014/main" id="{2DF97E09-EB84-C804-5C63-6EED47F12C3A}"/>
                    </a:ext>
                  </a:extLst>
                </p:cNvPr>
                <p:cNvSpPr txBox="1"/>
                <p:nvPr/>
              </p:nvSpPr>
              <p:spPr>
                <a:xfrm>
                  <a:off x="5008812" y="1642928"/>
                  <a:ext cx="584901" cy="446892"/>
                </a:xfrm>
                <a:prstGeom prst="rect">
                  <a:avLst/>
                </a:prstGeom>
                <a:noFill/>
                <a:ln>
                  <a:noFill/>
                </a:ln>
              </p:spPr>
              <p:txBody>
                <a:bodyPr wrap="squar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Open Sans"/>
                      <a:ea typeface="+mn-ea"/>
                      <a:cs typeface="+mn-cs"/>
                    </a:rPr>
                    <a:t>2</a:t>
                  </a:r>
                </a:p>
              </p:txBody>
            </p:sp>
          </p:grpSp>
          <p:sp>
            <p:nvSpPr>
              <p:cNvPr id="51" name="TextBox 50">
                <a:extLst>
                  <a:ext uri="{FF2B5EF4-FFF2-40B4-BE49-F238E27FC236}">
                    <a16:creationId xmlns:a16="http://schemas.microsoft.com/office/drawing/2014/main" id="{535B7A63-C0EC-6707-925A-3ED487153E1F}"/>
                  </a:ext>
                </a:extLst>
              </p:cNvPr>
              <p:cNvSpPr txBox="1"/>
              <p:nvPr/>
            </p:nvSpPr>
            <p:spPr>
              <a:xfrm>
                <a:off x="751046" y="5789383"/>
                <a:ext cx="6356613"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Modernization/implementation of prioritized use cases and/or business processes. Fastest time to market and value for the selected use cases/business processes. Introduces high degree of complexity due to data bridging required and very high level of business disruption.</a:t>
                </a:r>
              </a:p>
            </p:txBody>
          </p:sp>
        </p:grpSp>
        <p:sp>
          <p:nvSpPr>
            <p:cNvPr id="55" name="Oval 54">
              <a:extLst>
                <a:ext uri="{FF2B5EF4-FFF2-40B4-BE49-F238E27FC236}">
                  <a16:creationId xmlns:a16="http://schemas.microsoft.com/office/drawing/2014/main" id="{4E27326A-0A7F-A7CA-6BC9-3E26850CC12B}"/>
                </a:ext>
              </a:extLst>
            </p:cNvPr>
            <p:cNvSpPr/>
            <p:nvPr/>
          </p:nvSpPr>
          <p:spPr bwMode="gray">
            <a:xfrm>
              <a:off x="9963074" y="2881669"/>
              <a:ext cx="787504" cy="751323"/>
            </a:xfrm>
            <a:prstGeom prst="ellipse">
              <a:avLst/>
            </a:prstGeom>
            <a:solidFill>
              <a:srgbClr val="A0DCF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black"/>
                  </a:solidFill>
                  <a:effectLst/>
                  <a:uLnTx/>
                  <a:uFillTx/>
                  <a:latin typeface="Verdana"/>
                  <a:ea typeface="+mn-ea"/>
                  <a:cs typeface="+mn-cs"/>
                </a:rPr>
                <a:t>2</a:t>
              </a:r>
            </a:p>
          </p:txBody>
        </p:sp>
      </p:grpSp>
    </p:spTree>
    <p:extLst>
      <p:ext uri="{BB962C8B-B14F-4D97-AF65-F5344CB8AC3E}">
        <p14:creationId xmlns:p14="http://schemas.microsoft.com/office/powerpoint/2010/main" val="118428248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BDA6988-39F5-4D82-BFD4-88103B9F76A0}"/>
              </a:ext>
            </a:extLst>
          </p:cNvPr>
          <p:cNvSpPr>
            <a:spLocks noGrp="1"/>
          </p:cNvSpPr>
          <p:nvPr>
            <p:ph type="body" sz="quarter" idx="13"/>
          </p:nvPr>
        </p:nvSpPr>
        <p:spPr>
          <a:xfrm>
            <a:off x="469900" y="835067"/>
            <a:ext cx="9991446" cy="184666"/>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We bring market leading automation across each of the implementation phases to successfully deliver client engagements</a:t>
            </a:r>
          </a:p>
        </p:txBody>
      </p:sp>
      <p:sp>
        <p:nvSpPr>
          <p:cNvPr id="2" name="Title 1">
            <a:extLst>
              <a:ext uri="{FF2B5EF4-FFF2-40B4-BE49-F238E27FC236}">
                <a16:creationId xmlns:a16="http://schemas.microsoft.com/office/drawing/2014/main" id="{5DCAC19C-95D8-4B42-B7F6-8CBB21490FD4}"/>
              </a:ext>
            </a:extLst>
          </p:cNvPr>
          <p:cNvSpPr>
            <a:spLocks noGrp="1"/>
          </p:cNvSpPr>
          <p:nvPr>
            <p:ph type="title"/>
          </p:nvPr>
        </p:nvSpPr>
        <p:spPr>
          <a:xfrm>
            <a:off x="459739" y="456863"/>
            <a:ext cx="11252200" cy="369332"/>
          </a:xfrm>
        </p:spPr>
        <p:txBody>
          <a:bodyPr vert="horz" lIns="0" tIns="0" rIns="0" bIns="0" rtlCol="0" anchor="t" anchorCtr="0">
            <a:noAutofit/>
          </a:bodyPr>
          <a:lstStyle/>
          <a:p>
            <a:r>
              <a:rPr lang="en-US" sz="2000" b="1" dirty="0">
                <a:latin typeface="Open Sans" panose="020B0606030504020204" pitchFamily="34" charset="0"/>
                <a:ea typeface="Open Sans" panose="020B0606030504020204" pitchFamily="34" charset="0"/>
                <a:cs typeface="Open Sans" panose="020B0606030504020204" pitchFamily="34" charset="0"/>
              </a:rPr>
              <a:t>FDE Practice Modernization Factory – Our Differentiated Approach</a:t>
            </a:r>
          </a:p>
        </p:txBody>
      </p:sp>
      <p:sp>
        <p:nvSpPr>
          <p:cNvPr id="21" name="Right Arrow 150">
            <a:extLst>
              <a:ext uri="{FF2B5EF4-FFF2-40B4-BE49-F238E27FC236}">
                <a16:creationId xmlns:a16="http://schemas.microsoft.com/office/drawing/2014/main" id="{3CC027EA-1EC6-4D43-B910-6F4C7FD804B9}"/>
              </a:ext>
            </a:extLst>
          </p:cNvPr>
          <p:cNvSpPr/>
          <p:nvPr/>
        </p:nvSpPr>
        <p:spPr bwMode="gray">
          <a:xfrm>
            <a:off x="457200" y="1123442"/>
            <a:ext cx="11252200" cy="439408"/>
          </a:xfrm>
          <a:prstGeom prst="rightArrow">
            <a:avLst>
              <a:gd name="adj1" fmla="val 66966"/>
              <a:gd name="adj2" fmla="val 78199"/>
            </a:avLst>
          </a:prstGeom>
          <a:gradFill flip="none" rotWithShape="1">
            <a:gsLst>
              <a:gs pos="0">
                <a:srgbClr val="046A38"/>
              </a:gs>
              <a:gs pos="36000">
                <a:srgbClr val="009A44"/>
              </a:gs>
              <a:gs pos="100000">
                <a:srgbClr val="86BC25"/>
              </a:gs>
            </a:gsLst>
            <a:lin ang="0" scaled="1"/>
            <a:tileRect/>
          </a:gra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30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ENTERPRISE DATA ANALYTICS AND MODERNIZATION AUTOMATION LED APPROACH </a:t>
            </a:r>
          </a:p>
        </p:txBody>
      </p:sp>
      <p:grpSp>
        <p:nvGrpSpPr>
          <p:cNvPr id="42" name="Group 41">
            <a:extLst>
              <a:ext uri="{FF2B5EF4-FFF2-40B4-BE49-F238E27FC236}">
                <a16:creationId xmlns:a16="http://schemas.microsoft.com/office/drawing/2014/main" id="{01929354-E6F7-4508-8B92-B2C9105EA323}"/>
              </a:ext>
            </a:extLst>
          </p:cNvPr>
          <p:cNvGrpSpPr>
            <a:grpSpLocks noChangeAspect="1"/>
          </p:cNvGrpSpPr>
          <p:nvPr/>
        </p:nvGrpSpPr>
        <p:grpSpPr>
          <a:xfrm>
            <a:off x="8883929" y="2510030"/>
            <a:ext cx="137160" cy="137160"/>
            <a:chOff x="3543866" y="2922772"/>
            <a:chExt cx="308608" cy="308608"/>
          </a:xfrm>
        </p:grpSpPr>
        <p:sp>
          <p:nvSpPr>
            <p:cNvPr id="43" name="Arc 42">
              <a:extLst>
                <a:ext uri="{FF2B5EF4-FFF2-40B4-BE49-F238E27FC236}">
                  <a16:creationId xmlns:a16="http://schemas.microsoft.com/office/drawing/2014/main" id="{55C07EAB-7FEB-4CE5-B4ED-E0616FD41A02}"/>
                </a:ext>
              </a:extLst>
            </p:cNvPr>
            <p:cNvSpPr/>
            <p:nvPr/>
          </p:nvSpPr>
          <p:spPr>
            <a:xfrm>
              <a:off x="3543866" y="2922772"/>
              <a:ext cx="308608" cy="308608"/>
            </a:xfrm>
            <a:prstGeom prst="arc">
              <a:avLst>
                <a:gd name="adj1" fmla="val 17580675"/>
                <a:gd name="adj2" fmla="val 14727569"/>
              </a:avLst>
            </a:prstGeom>
            <a:noFill/>
            <a:ln w="12700" cap="flat" cmpd="sng" algn="ctr">
              <a:solidFill>
                <a:srgbClr val="01216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4" name="Arc 43">
              <a:extLst>
                <a:ext uri="{FF2B5EF4-FFF2-40B4-BE49-F238E27FC236}">
                  <a16:creationId xmlns:a16="http://schemas.microsoft.com/office/drawing/2014/main" id="{1DF8587B-C6E0-4047-9E4A-82B9139ADA4B}"/>
                </a:ext>
              </a:extLst>
            </p:cNvPr>
            <p:cNvSpPr/>
            <p:nvPr/>
          </p:nvSpPr>
          <p:spPr>
            <a:xfrm>
              <a:off x="3570345" y="2949251"/>
              <a:ext cx="255650" cy="255650"/>
            </a:xfrm>
            <a:prstGeom prst="arc">
              <a:avLst>
                <a:gd name="adj1" fmla="val 18638933"/>
                <a:gd name="adj2" fmla="val 17228096"/>
              </a:avLst>
            </a:prstGeom>
            <a:noFill/>
            <a:ln w="12700" cap="flat" cmpd="sng" algn="ctr">
              <a:solidFill>
                <a:srgbClr val="0097A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45" name="Group 44">
            <a:extLst>
              <a:ext uri="{FF2B5EF4-FFF2-40B4-BE49-F238E27FC236}">
                <a16:creationId xmlns:a16="http://schemas.microsoft.com/office/drawing/2014/main" id="{D07DCEFF-5966-4A09-91B4-08B6C9FD54C5}"/>
              </a:ext>
            </a:extLst>
          </p:cNvPr>
          <p:cNvGrpSpPr/>
          <p:nvPr/>
        </p:nvGrpSpPr>
        <p:grpSpPr>
          <a:xfrm>
            <a:off x="475012" y="6113138"/>
            <a:ext cx="182880" cy="182880"/>
            <a:chOff x="3543866" y="2922772"/>
            <a:chExt cx="308608" cy="308608"/>
          </a:xfrm>
        </p:grpSpPr>
        <p:sp>
          <p:nvSpPr>
            <p:cNvPr id="46" name="Arc 45">
              <a:extLst>
                <a:ext uri="{FF2B5EF4-FFF2-40B4-BE49-F238E27FC236}">
                  <a16:creationId xmlns:a16="http://schemas.microsoft.com/office/drawing/2014/main" id="{F3A77553-1193-4C63-B550-0410F8E2CBBF}"/>
                </a:ext>
              </a:extLst>
            </p:cNvPr>
            <p:cNvSpPr/>
            <p:nvPr/>
          </p:nvSpPr>
          <p:spPr>
            <a:xfrm>
              <a:off x="3543866" y="2922772"/>
              <a:ext cx="308608" cy="308608"/>
            </a:xfrm>
            <a:prstGeom prst="arc">
              <a:avLst>
                <a:gd name="adj1" fmla="val 17580675"/>
                <a:gd name="adj2" fmla="val 14727569"/>
              </a:avLst>
            </a:prstGeom>
            <a:noFill/>
            <a:ln w="12700" cap="flat" cmpd="sng" algn="ctr">
              <a:solidFill>
                <a:srgbClr val="01216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7" name="Arc 46">
              <a:extLst>
                <a:ext uri="{FF2B5EF4-FFF2-40B4-BE49-F238E27FC236}">
                  <a16:creationId xmlns:a16="http://schemas.microsoft.com/office/drawing/2014/main" id="{9BB12E7C-E228-4996-BCA9-1B931D062933}"/>
                </a:ext>
              </a:extLst>
            </p:cNvPr>
            <p:cNvSpPr/>
            <p:nvPr/>
          </p:nvSpPr>
          <p:spPr>
            <a:xfrm>
              <a:off x="3570345" y="2949251"/>
              <a:ext cx="255650" cy="255650"/>
            </a:xfrm>
            <a:prstGeom prst="arc">
              <a:avLst>
                <a:gd name="adj1" fmla="val 18638933"/>
                <a:gd name="adj2" fmla="val 17228096"/>
              </a:avLst>
            </a:prstGeom>
            <a:noFill/>
            <a:ln w="12700" cap="flat" cmpd="sng" algn="ctr">
              <a:solidFill>
                <a:srgbClr val="0097A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48" name="TextBox 47">
            <a:extLst>
              <a:ext uri="{FF2B5EF4-FFF2-40B4-BE49-F238E27FC236}">
                <a16:creationId xmlns:a16="http://schemas.microsoft.com/office/drawing/2014/main" id="{5363E5FF-3D53-4AD6-98BA-A69B0FC23D71}"/>
              </a:ext>
            </a:extLst>
          </p:cNvPr>
          <p:cNvSpPr txBox="1"/>
          <p:nvPr/>
        </p:nvSpPr>
        <p:spPr>
          <a:xfrm>
            <a:off x="730738" y="6135329"/>
            <a:ext cx="7614498" cy="138499"/>
          </a:xfrm>
          <a:prstGeom prst="rect">
            <a:avLst/>
          </a:prstGeom>
          <a:noFill/>
        </p:spPr>
        <p:txBody>
          <a:bodyPr vert="horz" wrap="square" lIns="0" tIns="0" rIns="0" bIns="0" rtlCol="0" anchor="t">
            <a:spAutoFit/>
          </a:bodyPr>
          <a:lstStyle/>
          <a:p>
            <a:pPr marL="0" marR="0" lvl="0" indent="0" algn="l" defTabSz="1219170" rtl="0" eaLnBrk="1" fontAlgn="auto" latinLnBrk="0" hangingPunct="1">
              <a:lnSpc>
                <a:spcPct val="100000"/>
              </a:lnSpc>
              <a:spcBef>
                <a:spcPts val="0"/>
              </a:spcBef>
              <a:spcAft>
                <a:spcPts val="0"/>
              </a:spcAft>
              <a:buClrTx/>
              <a:buSzPct val="100000"/>
              <a:buFontTx/>
              <a:buNone/>
              <a:tabLst/>
              <a:defRPr/>
            </a:pPr>
            <a:r>
              <a:rPr kumimoji="0" lang="en-US" sz="900" b="0"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Iteratively migrate use cases / data domains to production for live workloads and begin sunset approach of legacy applications</a:t>
            </a:r>
          </a:p>
        </p:txBody>
      </p:sp>
      <p:sp>
        <p:nvSpPr>
          <p:cNvPr id="51" name="Rounded Rectangle 4">
            <a:extLst>
              <a:ext uri="{FF2B5EF4-FFF2-40B4-BE49-F238E27FC236}">
                <a16:creationId xmlns:a16="http://schemas.microsoft.com/office/drawing/2014/main" id="{5BE9C99D-7565-409C-8FDA-6ACF120E05CC}"/>
              </a:ext>
            </a:extLst>
          </p:cNvPr>
          <p:cNvSpPr/>
          <p:nvPr/>
        </p:nvSpPr>
        <p:spPr bwMode="gray">
          <a:xfrm>
            <a:off x="741712" y="5295938"/>
            <a:ext cx="10972800" cy="679917"/>
          </a:xfrm>
          <a:prstGeom prst="rect">
            <a:avLst/>
          </a:prstGeom>
          <a:solidFill>
            <a:srgbClr val="86BC25"/>
          </a:solidFill>
          <a:ln w="12700" algn="ctr">
            <a:solidFill>
              <a:srgbClr val="92D050"/>
            </a:solidFill>
            <a:miter lim="800000"/>
            <a:headEnd/>
            <a:tailEnd/>
          </a:ln>
        </p:spPr>
        <p:txBody>
          <a:bodyPr wrap="square" lIns="274320" tIns="91440" rIns="91440" bIns="8890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Program Management &amp; Governance</a:t>
            </a:r>
          </a:p>
          <a:p>
            <a:pPr marL="0" marR="0" lvl="0" indent="0" algn="l" defTabSz="1219170" rtl="0" eaLnBrk="1" fontAlgn="auto" latinLnBrk="0" hangingPunct="1">
              <a:lnSpc>
                <a:spcPct val="100000"/>
              </a:lnSpc>
              <a:spcBef>
                <a:spcPts val="300"/>
              </a:spcBef>
              <a:spcAft>
                <a:spcPts val="0"/>
              </a:spcAft>
              <a:buClrTx/>
              <a:buSzTx/>
              <a:buFontTx/>
              <a:buNone/>
              <a:tabLst/>
              <a:defRPr/>
            </a:pPr>
            <a:r>
              <a:rPr kumimoji="0" lang="en-US" sz="1000" b="0" i="0" u="none" strike="noStrike" kern="1200" cap="none" spc="-2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Establish the key functions required to govern program strategy and execution, manage staffing needs, monitor delivery progress and quality, and provide change management support</a:t>
            </a:r>
            <a:endParaRPr kumimoji="0" lang="en-US" sz="1100" b="0"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26830696-152E-458A-A1B9-34655EAEEBF3}"/>
              </a:ext>
            </a:extLst>
          </p:cNvPr>
          <p:cNvSpPr/>
          <p:nvPr/>
        </p:nvSpPr>
        <p:spPr bwMode="gray">
          <a:xfrm>
            <a:off x="3323410" y="2032602"/>
            <a:ext cx="2686774" cy="3148376"/>
          </a:xfrm>
          <a:prstGeom prst="rect">
            <a:avLst/>
          </a:prstGeom>
          <a:solidFill>
            <a:schemeClr val="bg1"/>
          </a:solidFill>
          <a:ln w="12700" algn="ctr">
            <a:solidFill>
              <a:schemeClr val="bg1">
                <a:lumMod val="75000"/>
              </a:schemeClr>
            </a:solidFill>
            <a:miter lim="800000"/>
            <a:headEnd/>
            <a:tailEnd/>
          </a:ln>
        </p:spPr>
        <p:txBody>
          <a:bodyPr rot="0" spcFirstLastPara="0" vertOverflow="overflow" horzOverflow="overflow" vert="horz" wrap="square" lIns="88900" tIns="45720" rIns="88900" bIns="88900"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Establish Foundation</a:t>
            </a:r>
          </a:p>
        </p:txBody>
      </p:sp>
      <p:sp>
        <p:nvSpPr>
          <p:cNvPr id="38" name="TextBox 37">
            <a:extLst>
              <a:ext uri="{FF2B5EF4-FFF2-40B4-BE49-F238E27FC236}">
                <a16:creationId xmlns:a16="http://schemas.microsoft.com/office/drawing/2014/main" id="{0DF57FAD-EC69-4FBD-8E6C-D494C4743EDD}"/>
              </a:ext>
            </a:extLst>
          </p:cNvPr>
          <p:cNvSpPr txBox="1"/>
          <p:nvPr/>
        </p:nvSpPr>
        <p:spPr>
          <a:xfrm>
            <a:off x="3350842" y="2340604"/>
            <a:ext cx="2633472" cy="215444"/>
          </a:xfrm>
          <a:prstGeom prst="rect">
            <a:avLst/>
          </a:prstGeom>
          <a:solidFill>
            <a:schemeClr val="tx2">
              <a:lumMod val="20000"/>
              <a:lumOff val="80000"/>
            </a:schemeClr>
          </a:solidFill>
        </p:spPr>
        <p:txBody>
          <a:bodyPr wrap="square"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Modernization PODs</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9" name="Rectangle 38">
            <a:extLst>
              <a:ext uri="{FF2B5EF4-FFF2-40B4-BE49-F238E27FC236}">
                <a16:creationId xmlns:a16="http://schemas.microsoft.com/office/drawing/2014/main" id="{7A99EC33-1B6C-4C2F-8C85-AEFAEF010CCC}"/>
              </a:ext>
            </a:extLst>
          </p:cNvPr>
          <p:cNvSpPr/>
          <p:nvPr/>
        </p:nvSpPr>
        <p:spPr>
          <a:xfrm>
            <a:off x="3362514" y="2650052"/>
            <a:ext cx="722407" cy="497782"/>
          </a:xfrm>
          <a:prstGeom prst="rect">
            <a:avLst/>
          </a:prstGeom>
          <a:solidFill>
            <a:srgbClr val="37C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Enterprise PODs</a:t>
            </a:r>
          </a:p>
        </p:txBody>
      </p:sp>
      <p:sp>
        <p:nvSpPr>
          <p:cNvPr id="40" name="Rectangle 39">
            <a:extLst>
              <a:ext uri="{FF2B5EF4-FFF2-40B4-BE49-F238E27FC236}">
                <a16:creationId xmlns:a16="http://schemas.microsoft.com/office/drawing/2014/main" id="{FDDEFF7B-E38D-4A0A-B74C-7D5EF4242537}"/>
              </a:ext>
            </a:extLst>
          </p:cNvPr>
          <p:cNvSpPr/>
          <p:nvPr/>
        </p:nvSpPr>
        <p:spPr>
          <a:xfrm>
            <a:off x="4355500" y="2650052"/>
            <a:ext cx="676911" cy="497782"/>
          </a:xfrm>
          <a:prstGeom prst="rect">
            <a:avLst/>
          </a:prstGeom>
          <a:solidFill>
            <a:srgbClr val="37C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Domain PODs</a:t>
            </a:r>
          </a:p>
        </p:txBody>
      </p:sp>
      <p:sp>
        <p:nvSpPr>
          <p:cNvPr id="41" name="Rectangle 40">
            <a:extLst>
              <a:ext uri="{FF2B5EF4-FFF2-40B4-BE49-F238E27FC236}">
                <a16:creationId xmlns:a16="http://schemas.microsoft.com/office/drawing/2014/main" id="{1C425DCB-EFC1-4E33-999C-22D30154A115}"/>
              </a:ext>
            </a:extLst>
          </p:cNvPr>
          <p:cNvSpPr/>
          <p:nvPr/>
        </p:nvSpPr>
        <p:spPr>
          <a:xfrm>
            <a:off x="5302989" y="2650052"/>
            <a:ext cx="676911" cy="497782"/>
          </a:xfrm>
          <a:prstGeom prst="rect">
            <a:avLst/>
          </a:prstGeom>
          <a:solidFill>
            <a:srgbClr val="37C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 Other PODs</a:t>
            </a:r>
          </a:p>
        </p:txBody>
      </p:sp>
      <p:grpSp>
        <p:nvGrpSpPr>
          <p:cNvPr id="64" name="Group 63">
            <a:extLst>
              <a:ext uri="{FF2B5EF4-FFF2-40B4-BE49-F238E27FC236}">
                <a16:creationId xmlns:a16="http://schemas.microsoft.com/office/drawing/2014/main" id="{821F214C-E415-422A-8A95-3121FFA40227}"/>
              </a:ext>
            </a:extLst>
          </p:cNvPr>
          <p:cNvGrpSpPr/>
          <p:nvPr/>
        </p:nvGrpSpPr>
        <p:grpSpPr>
          <a:xfrm>
            <a:off x="3347473" y="3241708"/>
            <a:ext cx="2640210" cy="1901127"/>
            <a:chOff x="3330272" y="3283354"/>
            <a:chExt cx="2640210" cy="1901127"/>
          </a:xfrm>
        </p:grpSpPr>
        <p:sp>
          <p:nvSpPr>
            <p:cNvPr id="65" name="TextBox 64">
              <a:extLst>
                <a:ext uri="{FF2B5EF4-FFF2-40B4-BE49-F238E27FC236}">
                  <a16:creationId xmlns:a16="http://schemas.microsoft.com/office/drawing/2014/main" id="{1B121555-2AD2-4BAC-8865-A4F946BDBAE6}"/>
                </a:ext>
              </a:extLst>
            </p:cNvPr>
            <p:cNvSpPr txBox="1"/>
            <p:nvPr/>
          </p:nvSpPr>
          <p:spPr>
            <a:xfrm>
              <a:off x="3336284" y="3283354"/>
              <a:ext cx="2633472" cy="307777"/>
            </a:xfrm>
            <a:prstGeom prst="rect">
              <a:avLst/>
            </a:prstGeom>
            <a:solidFill>
              <a:schemeClr val="tx2">
                <a:lumMod val="20000"/>
                <a:lumOff val="80000"/>
              </a:schemeClr>
            </a:solid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Pool of SMEs</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(Network, Security, Database, Platforms, Tools, Domain etc.)</a:t>
              </a:r>
            </a:p>
          </p:txBody>
        </p:sp>
        <p:sp>
          <p:nvSpPr>
            <p:cNvPr id="66" name="TextBox 65">
              <a:extLst>
                <a:ext uri="{FF2B5EF4-FFF2-40B4-BE49-F238E27FC236}">
                  <a16:creationId xmlns:a16="http://schemas.microsoft.com/office/drawing/2014/main" id="{C8D0ED2E-AA01-4F68-A138-505C1B92C967}"/>
                </a:ext>
              </a:extLst>
            </p:cNvPr>
            <p:cNvSpPr txBox="1"/>
            <p:nvPr/>
          </p:nvSpPr>
          <p:spPr>
            <a:xfrm>
              <a:off x="3336284" y="4002546"/>
              <a:ext cx="2633472" cy="215444"/>
            </a:xfrm>
            <a:prstGeom prst="rect">
              <a:avLst/>
            </a:prstGeom>
            <a:solidFill>
              <a:schemeClr val="tx2">
                <a:lumMod val="20000"/>
                <a:lumOff val="80000"/>
              </a:schemeClr>
            </a:solidFill>
          </p:spPr>
          <p:txBody>
            <a:bodyPr wrap="square" lIns="91440" tIns="45720" rIns="91440" bIns="45720" rtlCol="0" anchor="t">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Foundation Services </a:t>
              </a: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(Refactor / Rehost)</a:t>
              </a:r>
            </a:p>
          </p:txBody>
        </p:sp>
        <p:grpSp>
          <p:nvGrpSpPr>
            <p:cNvPr id="67" name="Group 66">
              <a:extLst>
                <a:ext uri="{FF2B5EF4-FFF2-40B4-BE49-F238E27FC236}">
                  <a16:creationId xmlns:a16="http://schemas.microsoft.com/office/drawing/2014/main" id="{959FE32D-F723-4420-844C-C5CFB1DF785F}"/>
                </a:ext>
              </a:extLst>
            </p:cNvPr>
            <p:cNvGrpSpPr/>
            <p:nvPr/>
          </p:nvGrpSpPr>
          <p:grpSpPr>
            <a:xfrm>
              <a:off x="3337010" y="4285198"/>
              <a:ext cx="2627098" cy="257036"/>
              <a:chOff x="3337010" y="4294063"/>
              <a:chExt cx="2627098" cy="257036"/>
            </a:xfrm>
          </p:grpSpPr>
          <p:sp>
            <p:nvSpPr>
              <p:cNvPr id="71" name="TextBox 70">
                <a:extLst>
                  <a:ext uri="{FF2B5EF4-FFF2-40B4-BE49-F238E27FC236}">
                    <a16:creationId xmlns:a16="http://schemas.microsoft.com/office/drawing/2014/main" id="{335C0E21-1842-4DBC-8DF7-561BCFAA42D9}"/>
                  </a:ext>
                </a:extLst>
              </p:cNvPr>
              <p:cNvSpPr txBox="1"/>
              <p:nvPr/>
            </p:nvSpPr>
            <p:spPr>
              <a:xfrm>
                <a:off x="3337010" y="4296242"/>
                <a:ext cx="1280160" cy="254857"/>
              </a:xfrm>
              <a:prstGeom prst="rect">
                <a:avLst/>
              </a:prstGeom>
              <a:solidFill>
                <a:schemeClr val="bg2">
                  <a:lumMod val="90000"/>
                </a:schemeClr>
              </a:solidFill>
              <a:ln>
                <a:noFill/>
              </a:ln>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Conformed Data Model </a:t>
                </a:r>
              </a:p>
            </p:txBody>
          </p:sp>
          <p:sp>
            <p:nvSpPr>
              <p:cNvPr id="72" name="TextBox 71">
                <a:extLst>
                  <a:ext uri="{FF2B5EF4-FFF2-40B4-BE49-F238E27FC236}">
                    <a16:creationId xmlns:a16="http://schemas.microsoft.com/office/drawing/2014/main" id="{62D4CD5B-01CD-4A8C-A857-DCDF5F0FBD0F}"/>
                  </a:ext>
                </a:extLst>
              </p:cNvPr>
              <p:cNvSpPr txBox="1"/>
              <p:nvPr/>
            </p:nvSpPr>
            <p:spPr>
              <a:xfrm>
                <a:off x="4686735" y="4294063"/>
                <a:ext cx="1277373" cy="254857"/>
              </a:xfrm>
              <a:prstGeom prst="rect">
                <a:avLst/>
              </a:prstGeom>
              <a:solidFill>
                <a:schemeClr val="bg2">
                  <a:lumMod val="90000"/>
                </a:schemeClr>
              </a:solidFill>
              <a:ln>
                <a:noFill/>
              </a:ln>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Integration Patterns</a:t>
                </a:r>
              </a:p>
            </p:txBody>
          </p:sp>
        </p:grpSp>
        <p:sp>
          <p:nvSpPr>
            <p:cNvPr id="68" name="TextBox 67">
              <a:extLst>
                <a:ext uri="{FF2B5EF4-FFF2-40B4-BE49-F238E27FC236}">
                  <a16:creationId xmlns:a16="http://schemas.microsoft.com/office/drawing/2014/main" id="{EA7D8CB9-B57C-422C-9B26-B1D8EBB01ED7}"/>
                </a:ext>
              </a:extLst>
            </p:cNvPr>
            <p:cNvSpPr txBox="1"/>
            <p:nvPr/>
          </p:nvSpPr>
          <p:spPr>
            <a:xfrm>
              <a:off x="3330272" y="4876704"/>
              <a:ext cx="2633472" cy="307777"/>
            </a:xfrm>
            <a:prstGeom prst="rect">
              <a:avLst/>
            </a:prstGeom>
            <a:solidFill>
              <a:srgbClr val="DCDDDF"/>
            </a:solidFill>
            <a:ln>
              <a:noFill/>
            </a:ln>
          </p:spPr>
          <p:style>
            <a:lnRef idx="2">
              <a:schemeClr val="dk1"/>
            </a:lnRef>
            <a:fillRef idx="1">
              <a:schemeClr val="lt1"/>
            </a:fillRef>
            <a:effectRef idx="0">
              <a:schemeClr val="dk1"/>
            </a:effectRef>
            <a:fontRef idx="minor">
              <a:schemeClr val="dk1"/>
            </a:fontRef>
          </p:style>
          <p:txBody>
            <a:bodyPr wrap="square" rtlCol="0" anchor="ctr">
              <a:spAutoFit/>
            </a:bodyPr>
            <a:lstStyle>
              <a:defPPr>
                <a:defRPr lang="en-US"/>
              </a:defPPr>
              <a:lvl1pPr algn="ctr">
                <a:defRPr sz="700" b="1">
                  <a:ea typeface="Verdana" panose="020B0604030504040204"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Updated Modernization Roadmap and Refined Future State Architecture</a:t>
              </a:r>
            </a:p>
          </p:txBody>
        </p:sp>
        <p:sp>
          <p:nvSpPr>
            <p:cNvPr id="69" name="TextBox 68">
              <a:extLst>
                <a:ext uri="{FF2B5EF4-FFF2-40B4-BE49-F238E27FC236}">
                  <a16:creationId xmlns:a16="http://schemas.microsoft.com/office/drawing/2014/main" id="{F9F1253D-7498-458E-AE65-267F99F62FAD}"/>
                </a:ext>
              </a:extLst>
            </p:cNvPr>
            <p:cNvSpPr txBox="1"/>
            <p:nvPr/>
          </p:nvSpPr>
          <p:spPr>
            <a:xfrm>
              <a:off x="3336284" y="3642950"/>
              <a:ext cx="2633472" cy="307777"/>
            </a:xfrm>
            <a:prstGeom prst="rect">
              <a:avLst/>
            </a:prstGeom>
            <a:solidFill>
              <a:schemeClr val="tx2">
                <a:lumMod val="20000"/>
                <a:lumOff val="80000"/>
              </a:schemeClr>
            </a:solid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AWS / Snowflake Center of Excellence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(Automation frameworks, Azure / Snowflake build strategies)</a:t>
              </a:r>
              <a:endParaRPr kumimoji="0" lang="en-US" sz="5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0" name="TextBox 69">
              <a:extLst>
                <a:ext uri="{FF2B5EF4-FFF2-40B4-BE49-F238E27FC236}">
                  <a16:creationId xmlns:a16="http://schemas.microsoft.com/office/drawing/2014/main" id="{07135841-45C7-4F03-A070-0FBB5FEB4524}"/>
                </a:ext>
              </a:extLst>
            </p:cNvPr>
            <p:cNvSpPr txBox="1"/>
            <p:nvPr/>
          </p:nvSpPr>
          <p:spPr>
            <a:xfrm>
              <a:off x="3337010" y="4609442"/>
              <a:ext cx="2633472" cy="200055"/>
            </a:xfrm>
            <a:prstGeom prst="rect">
              <a:avLst/>
            </a:prstGeom>
            <a:solidFill>
              <a:srgbClr val="DCDDDF"/>
            </a:solidFill>
            <a:ln>
              <a:noFill/>
            </a:ln>
          </p:spPr>
          <p:style>
            <a:lnRef idx="2">
              <a:schemeClr val="dk1"/>
            </a:lnRef>
            <a:fillRef idx="1">
              <a:schemeClr val="lt1"/>
            </a:fillRef>
            <a:effectRef idx="0">
              <a:schemeClr val="dk1"/>
            </a:effectRef>
            <a:fontRef idx="minor">
              <a:schemeClr val="dk1"/>
            </a:fontRef>
          </p:style>
          <p:txBody>
            <a:bodyPr wrap="square"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MVP Use Case implementation</a:t>
              </a:r>
            </a:p>
          </p:txBody>
        </p:sp>
      </p:grpSp>
      <p:sp>
        <p:nvSpPr>
          <p:cNvPr id="77" name="Rectangle 76">
            <a:extLst>
              <a:ext uri="{FF2B5EF4-FFF2-40B4-BE49-F238E27FC236}">
                <a16:creationId xmlns:a16="http://schemas.microsoft.com/office/drawing/2014/main" id="{2E7104E5-59C5-4FCC-8970-252230A8FADC}"/>
              </a:ext>
            </a:extLst>
          </p:cNvPr>
          <p:cNvSpPr/>
          <p:nvPr/>
        </p:nvSpPr>
        <p:spPr bwMode="gray">
          <a:xfrm>
            <a:off x="3735420" y="1613328"/>
            <a:ext cx="2274763" cy="365760"/>
          </a:xfrm>
          <a:prstGeom prst="rect">
            <a:avLst/>
          </a:prstGeom>
          <a:solidFill>
            <a:schemeClr val="bg1">
              <a:lumMod val="8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l" defTabSz="1219170" rtl="0" eaLnBrk="1" fontAlgn="auto" latinLnBrk="0" hangingPunct="1">
              <a:lnSpc>
                <a:spcPct val="100000"/>
              </a:lnSpc>
              <a:spcBef>
                <a:spcPts val="0"/>
              </a:spcBef>
              <a:spcAft>
                <a:spcPts val="1200"/>
              </a:spcAft>
              <a:buClrTx/>
              <a:buSzTx/>
              <a:buFontTx/>
              <a:buNone/>
              <a:tabLst/>
              <a:defRPr/>
            </a:pPr>
            <a:r>
              <a:rPr kumimoji="0" lang="en-US" sz="105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Implement: Minimum Viable Product (“MVP”)</a:t>
            </a:r>
          </a:p>
        </p:txBody>
      </p:sp>
      <p:sp>
        <p:nvSpPr>
          <p:cNvPr id="78" name="Rectangle 77">
            <a:extLst>
              <a:ext uri="{FF2B5EF4-FFF2-40B4-BE49-F238E27FC236}">
                <a16:creationId xmlns:a16="http://schemas.microsoft.com/office/drawing/2014/main" id="{ECFCA30A-EE97-4B5C-BDDD-D22C0BBE782F}"/>
              </a:ext>
            </a:extLst>
          </p:cNvPr>
          <p:cNvSpPr/>
          <p:nvPr/>
        </p:nvSpPr>
        <p:spPr bwMode="gray">
          <a:xfrm>
            <a:off x="3323411" y="1613328"/>
            <a:ext cx="412010" cy="365760"/>
          </a:xfrm>
          <a:prstGeom prst="rect">
            <a:avLst/>
          </a:prstGeom>
          <a:solidFill>
            <a:srgbClr val="37C4FF"/>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1b</a:t>
            </a:r>
            <a:endParaRPr kumimoji="0" lang="en-US" sz="10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07B22003-1B98-4A66-829C-DFDE1E2D8938}"/>
              </a:ext>
            </a:extLst>
          </p:cNvPr>
          <p:cNvSpPr/>
          <p:nvPr/>
        </p:nvSpPr>
        <p:spPr bwMode="gray">
          <a:xfrm>
            <a:off x="9034662" y="2032602"/>
            <a:ext cx="2686774" cy="3148376"/>
          </a:xfrm>
          <a:prstGeom prst="rect">
            <a:avLst/>
          </a:prstGeom>
          <a:noFill/>
          <a:ln w="12700" algn="ctr">
            <a:solidFill>
              <a:schemeClr val="bg1">
                <a:lumMod val="7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9" name="Chevron 4">
            <a:extLst>
              <a:ext uri="{FF2B5EF4-FFF2-40B4-BE49-F238E27FC236}">
                <a16:creationId xmlns:a16="http://schemas.microsoft.com/office/drawing/2014/main" id="{4BCE0A9C-7A90-49E9-A954-0F44B26682D3}"/>
              </a:ext>
            </a:extLst>
          </p:cNvPr>
          <p:cNvSpPr/>
          <p:nvPr/>
        </p:nvSpPr>
        <p:spPr bwMode="gray">
          <a:xfrm rot="5400000">
            <a:off x="10201790" y="2991048"/>
            <a:ext cx="347444" cy="874777"/>
          </a:xfrm>
          <a:custGeom>
            <a:avLst/>
            <a:gdLst>
              <a:gd name="connsiteX0" fmla="*/ 0 w 1621331"/>
              <a:gd name="connsiteY0" fmla="*/ 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637775 w 1621331"/>
              <a:gd name="connsiteY5" fmla="*/ 637775 h 1275550"/>
              <a:gd name="connsiteX6" fmla="*/ 0 w 1621331"/>
              <a:gd name="connsiteY6" fmla="*/ 0 h 1275550"/>
              <a:gd name="connsiteX0" fmla="*/ 0 w 1621331"/>
              <a:gd name="connsiteY0" fmla="*/ 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421546 w 1621331"/>
              <a:gd name="connsiteY5" fmla="*/ 622407 h 1275550"/>
              <a:gd name="connsiteX6" fmla="*/ 0 w 1621331"/>
              <a:gd name="connsiteY6" fmla="*/ 0 h 1275550"/>
              <a:gd name="connsiteX0" fmla="*/ 72229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421546 w 1621331"/>
              <a:gd name="connsiteY5" fmla="*/ 622407 h 1275550"/>
              <a:gd name="connsiteX6" fmla="*/ 722299 w 1621331"/>
              <a:gd name="connsiteY6" fmla="*/ 38420 h 1275550"/>
              <a:gd name="connsiteX0" fmla="*/ 72229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244813 w 1621331"/>
              <a:gd name="connsiteY5" fmla="*/ 622407 h 1275550"/>
              <a:gd name="connsiteX6" fmla="*/ 722299 w 1621331"/>
              <a:gd name="connsiteY6" fmla="*/ 38420 h 1275550"/>
              <a:gd name="connsiteX0" fmla="*/ 60703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244813 w 1621331"/>
              <a:gd name="connsiteY5" fmla="*/ 622407 h 1275550"/>
              <a:gd name="connsiteX6" fmla="*/ 607039 w 1621331"/>
              <a:gd name="connsiteY6" fmla="*/ 38420 h 1275550"/>
              <a:gd name="connsiteX0" fmla="*/ 46105 w 1060397"/>
              <a:gd name="connsiteY0" fmla="*/ 38420 h 1290918"/>
              <a:gd name="connsiteX1" fmla="*/ 422622 w 1060397"/>
              <a:gd name="connsiteY1" fmla="*/ 0 h 1290918"/>
              <a:gd name="connsiteX2" fmla="*/ 1060397 w 1060397"/>
              <a:gd name="connsiteY2" fmla="*/ 637775 h 1290918"/>
              <a:gd name="connsiteX3" fmla="*/ 422622 w 1060397"/>
              <a:gd name="connsiteY3" fmla="*/ 1275550 h 1290918"/>
              <a:gd name="connsiteX4" fmla="*/ 0 w 1060397"/>
              <a:gd name="connsiteY4" fmla="*/ 1290918 h 1290918"/>
              <a:gd name="connsiteX5" fmla="*/ 683879 w 1060397"/>
              <a:gd name="connsiteY5" fmla="*/ 622407 h 1290918"/>
              <a:gd name="connsiteX6" fmla="*/ 46105 w 1060397"/>
              <a:gd name="connsiteY6" fmla="*/ 38420 h 1290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0397" h="1290918">
                <a:moveTo>
                  <a:pt x="46105" y="38420"/>
                </a:moveTo>
                <a:lnTo>
                  <a:pt x="422622" y="0"/>
                </a:lnTo>
                <a:lnTo>
                  <a:pt x="1060397" y="637775"/>
                </a:lnTo>
                <a:lnTo>
                  <a:pt x="422622" y="1275550"/>
                </a:lnTo>
                <a:lnTo>
                  <a:pt x="0" y="1290918"/>
                </a:lnTo>
                <a:lnTo>
                  <a:pt x="683879" y="622407"/>
                </a:lnTo>
                <a:lnTo>
                  <a:pt x="46105" y="38420"/>
                </a:lnTo>
                <a:close/>
              </a:path>
            </a:pathLst>
          </a:custGeom>
          <a:solidFill>
            <a:srgbClr val="37C4FF"/>
          </a:solidFill>
          <a:ln w="19050" algn="ctr">
            <a:noFill/>
            <a:miter lim="800000"/>
            <a:headEnd/>
            <a:tailEnd/>
          </a:ln>
        </p:spPr>
        <p:txBody>
          <a:bodyPr wrap="square" lIns="88900" tIns="88900" rIns="88900" bIns="88900" rtlCol="0" anchor="ctr"/>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6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0" name="TextBox 49">
            <a:extLst>
              <a:ext uri="{FF2B5EF4-FFF2-40B4-BE49-F238E27FC236}">
                <a16:creationId xmlns:a16="http://schemas.microsoft.com/office/drawing/2014/main" id="{DB4E8380-B5D3-435E-8145-D057F7D23DF4}"/>
              </a:ext>
            </a:extLst>
          </p:cNvPr>
          <p:cNvSpPr txBox="1"/>
          <p:nvPr/>
        </p:nvSpPr>
        <p:spPr>
          <a:xfrm>
            <a:off x="9214874" y="2202727"/>
            <a:ext cx="2321277" cy="977263"/>
          </a:xfrm>
          <a:prstGeom prst="rect">
            <a:avLst/>
          </a:prstGeom>
          <a:solidFill>
            <a:schemeClr val="tx2">
              <a:lumMod val="20000"/>
              <a:lumOff val="80000"/>
            </a:schemeClr>
          </a:solidFill>
        </p:spPr>
        <p:txBody>
          <a:bodyPr wrap="square" rtlCol="0" anchor="ctr">
            <a:noAutofit/>
          </a:bodyPr>
          <a:lstStyle/>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Retire Legacy Applications</a:t>
            </a:r>
          </a:p>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Upon successful completion of testing cycles and transition to operate team for all associated use cases by domain, it will be live </a:t>
            </a: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in production</a:t>
            </a:r>
            <a:endPar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3" name="TextBox 52">
            <a:extLst>
              <a:ext uri="{FF2B5EF4-FFF2-40B4-BE49-F238E27FC236}">
                <a16:creationId xmlns:a16="http://schemas.microsoft.com/office/drawing/2014/main" id="{B11CE287-36BC-4DC6-BCEB-2626F59D9535}"/>
              </a:ext>
            </a:extLst>
          </p:cNvPr>
          <p:cNvSpPr txBox="1"/>
          <p:nvPr/>
        </p:nvSpPr>
        <p:spPr>
          <a:xfrm>
            <a:off x="9214224" y="3679439"/>
            <a:ext cx="2322576" cy="1308050"/>
          </a:xfrm>
          <a:prstGeom prst="rect">
            <a:avLst/>
          </a:prstGeom>
          <a:solidFill>
            <a:schemeClr val="tx2">
              <a:lumMod val="20000"/>
              <a:lumOff val="80000"/>
            </a:schemeClr>
          </a:solidFill>
        </p:spPr>
        <p:txBody>
          <a:bodyPr wrap="square" rtlCol="0" anchor="ctr">
            <a:noAutofit/>
          </a:bodyPr>
          <a:lstStyle/>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Optimize</a:t>
            </a:r>
          </a:p>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Technical: Collect system characteristics and behavior. Identify optimization areas for performance and cost</a:t>
            </a:r>
          </a:p>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User: Collect feedback from users, and triangulate with system documentations of reported issues and perform optimizations</a:t>
            </a:r>
          </a:p>
        </p:txBody>
      </p:sp>
      <p:sp>
        <p:nvSpPr>
          <p:cNvPr id="83" name="Rectangle 82">
            <a:extLst>
              <a:ext uri="{FF2B5EF4-FFF2-40B4-BE49-F238E27FC236}">
                <a16:creationId xmlns:a16="http://schemas.microsoft.com/office/drawing/2014/main" id="{32356B38-1EF7-42C4-9A2C-011FDA564DDA}"/>
              </a:ext>
            </a:extLst>
          </p:cNvPr>
          <p:cNvSpPr/>
          <p:nvPr/>
        </p:nvSpPr>
        <p:spPr bwMode="gray">
          <a:xfrm>
            <a:off x="9459681" y="1613328"/>
            <a:ext cx="2263013" cy="365760"/>
          </a:xfrm>
          <a:prstGeom prst="rect">
            <a:avLst/>
          </a:prstGeom>
          <a:solidFill>
            <a:schemeClr val="bg1">
              <a:lumMod val="8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l" defTabSz="1219170" rtl="0" eaLnBrk="1" fontAlgn="auto" latinLnBrk="0" hangingPunct="1">
              <a:lnSpc>
                <a:spcPct val="100000"/>
              </a:lnSpc>
              <a:spcBef>
                <a:spcPts val="0"/>
              </a:spcBef>
              <a:spcAft>
                <a:spcPts val="120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Testing, Data Ops, Optimize</a:t>
            </a:r>
            <a:endParaRPr kumimoji="0" lang="en-US" sz="1050" b="0"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8">
            <a:extLst>
              <a:ext uri="{FF2B5EF4-FFF2-40B4-BE49-F238E27FC236}">
                <a16:creationId xmlns:a16="http://schemas.microsoft.com/office/drawing/2014/main" id="{765FB57A-83BF-4686-BB7D-4491C239C85C}"/>
              </a:ext>
            </a:extLst>
          </p:cNvPr>
          <p:cNvSpPr/>
          <p:nvPr/>
        </p:nvSpPr>
        <p:spPr bwMode="gray">
          <a:xfrm>
            <a:off x="6179036" y="2032602"/>
            <a:ext cx="2686774" cy="3148376"/>
          </a:xfrm>
          <a:prstGeom prst="rect">
            <a:avLst/>
          </a:prstGeom>
          <a:solidFill>
            <a:schemeClr val="bg1"/>
          </a:solidFill>
          <a:ln w="12700" algn="ctr">
            <a:solidFill>
              <a:schemeClr val="bg1">
                <a:lumMod val="75000"/>
              </a:schemeClr>
            </a:solidFill>
            <a:miter lim="800000"/>
            <a:headEnd/>
            <a:tailEnd/>
          </a:ln>
        </p:spPr>
        <p:txBody>
          <a:bodyPr rot="0" spcFirstLastPara="0" vertOverflow="overflow" horzOverflow="overflow" vert="horz" wrap="square" lIns="88900" tIns="45720" rIns="88900" bIns="88900"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10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Continuous Delivery of Enterprise and Domain Applications</a:t>
            </a:r>
          </a:p>
        </p:txBody>
      </p:sp>
      <p:sp>
        <p:nvSpPr>
          <p:cNvPr id="22" name="Trapezoid 111">
            <a:extLst>
              <a:ext uri="{FF2B5EF4-FFF2-40B4-BE49-F238E27FC236}">
                <a16:creationId xmlns:a16="http://schemas.microsoft.com/office/drawing/2014/main" id="{AD617E4D-8D18-4C19-A3BA-6060F2019C74}"/>
              </a:ext>
            </a:extLst>
          </p:cNvPr>
          <p:cNvSpPr/>
          <p:nvPr/>
        </p:nvSpPr>
        <p:spPr>
          <a:xfrm>
            <a:off x="6204301" y="2439517"/>
            <a:ext cx="2637806" cy="411979"/>
          </a:xfrm>
          <a:custGeom>
            <a:avLst/>
            <a:gdLst>
              <a:gd name="connsiteX0" fmla="*/ 0 w 3434613"/>
              <a:gd name="connsiteY0" fmla="*/ 474532 h 474532"/>
              <a:gd name="connsiteX1" fmla="*/ 631208 w 3434613"/>
              <a:gd name="connsiteY1" fmla="*/ 0 h 474532"/>
              <a:gd name="connsiteX2" fmla="*/ 2803405 w 3434613"/>
              <a:gd name="connsiteY2" fmla="*/ 0 h 474532"/>
              <a:gd name="connsiteX3" fmla="*/ 3434613 w 3434613"/>
              <a:gd name="connsiteY3" fmla="*/ 474532 h 474532"/>
              <a:gd name="connsiteX4" fmla="*/ 0 w 3434613"/>
              <a:gd name="connsiteY4" fmla="*/ 474532 h 474532"/>
              <a:gd name="connsiteX0" fmla="*/ 0 w 3303985"/>
              <a:gd name="connsiteY0" fmla="*/ 474532 h 474532"/>
              <a:gd name="connsiteX1" fmla="*/ 500580 w 3303985"/>
              <a:gd name="connsiteY1" fmla="*/ 0 h 474532"/>
              <a:gd name="connsiteX2" fmla="*/ 2672777 w 3303985"/>
              <a:gd name="connsiteY2" fmla="*/ 0 h 474532"/>
              <a:gd name="connsiteX3" fmla="*/ 3303985 w 3303985"/>
              <a:gd name="connsiteY3" fmla="*/ 474532 h 474532"/>
              <a:gd name="connsiteX4" fmla="*/ 0 w 3303985"/>
              <a:gd name="connsiteY4" fmla="*/ 474532 h 474532"/>
              <a:gd name="connsiteX0" fmla="*/ 0 w 3202385"/>
              <a:gd name="connsiteY0" fmla="*/ 474532 h 478161"/>
              <a:gd name="connsiteX1" fmla="*/ 500580 w 3202385"/>
              <a:gd name="connsiteY1" fmla="*/ 0 h 478161"/>
              <a:gd name="connsiteX2" fmla="*/ 2672777 w 3202385"/>
              <a:gd name="connsiteY2" fmla="*/ 0 h 478161"/>
              <a:gd name="connsiteX3" fmla="*/ 3202385 w 3202385"/>
              <a:gd name="connsiteY3" fmla="*/ 478161 h 478161"/>
              <a:gd name="connsiteX4" fmla="*/ 0 w 3202385"/>
              <a:gd name="connsiteY4" fmla="*/ 474532 h 47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2385" h="478161">
                <a:moveTo>
                  <a:pt x="0" y="474532"/>
                </a:moveTo>
                <a:lnTo>
                  <a:pt x="500580" y="0"/>
                </a:lnTo>
                <a:lnTo>
                  <a:pt x="2672777" y="0"/>
                </a:lnTo>
                <a:lnTo>
                  <a:pt x="3202385" y="478161"/>
                </a:lnTo>
                <a:lnTo>
                  <a:pt x="0" y="474532"/>
                </a:lnTo>
                <a:close/>
              </a:path>
            </a:pathLst>
          </a:custGeom>
          <a:solidFill>
            <a:srgbClr val="37C4FF"/>
          </a:solidFill>
          <a:ln w="9525" cap="flat" cmpd="sng" algn="ctr">
            <a:solidFill>
              <a:schemeClr val="accent1"/>
            </a:solidFill>
            <a:prstDash val="solid"/>
          </a:ln>
          <a:effectLst/>
        </p:spPr>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Integration Management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Across Enterprise</a:t>
            </a:r>
          </a:p>
        </p:txBody>
      </p:sp>
      <p:sp>
        <p:nvSpPr>
          <p:cNvPr id="23" name="Rectangle 22">
            <a:extLst>
              <a:ext uri="{FF2B5EF4-FFF2-40B4-BE49-F238E27FC236}">
                <a16:creationId xmlns:a16="http://schemas.microsoft.com/office/drawing/2014/main" id="{7703608D-8398-4874-8D93-C5DE2E2D9094}"/>
              </a:ext>
            </a:extLst>
          </p:cNvPr>
          <p:cNvSpPr/>
          <p:nvPr/>
        </p:nvSpPr>
        <p:spPr bwMode="auto">
          <a:xfrm>
            <a:off x="6206898" y="3346356"/>
            <a:ext cx="548640" cy="817472"/>
          </a:xfrm>
          <a:prstGeom prst="rect">
            <a:avLst/>
          </a:prstGeom>
          <a:solidFill>
            <a:srgbClr val="37C4FF"/>
          </a:solidFill>
          <a:ln w="19050" cap="flat" cmpd="sng" algn="ctr">
            <a:noFill/>
            <a:prstDash val="solid"/>
            <a:round/>
            <a:headEnd type="none" w="med" len="med"/>
            <a:tailEnd type="none" w="med" len="med"/>
          </a:ln>
          <a:effectLst/>
        </p:spPr>
        <p:txBody>
          <a:bodyPr vert="horz" wrap="square" lIns="0" tIns="548640" rIns="0" bIns="0" numCol="1" rtlCol="0" anchor="t" anchorCtr="0" compatLnSpc="1">
            <a:prstTxWarp prst="textNoShape">
              <a:avLst/>
            </a:prstTxWarp>
          </a:bodyPr>
          <a:lstStyle/>
          <a:p>
            <a:pPr marL="0" marR="0" lvl="0" indent="0" algn="ctr" defTabSz="914400" rtl="0" eaLnBrk="0" fontAlgn="base" latinLnBrk="0" hangingPunct="0">
              <a:lnSpc>
                <a:spcPct val="100000"/>
              </a:lnSpc>
              <a:spcBef>
                <a:spcPts val="0"/>
              </a:spcBef>
              <a:spcAft>
                <a:spcPct val="0"/>
              </a:spcAft>
              <a:buClrTx/>
              <a:buSzTx/>
              <a:buFontTx/>
              <a:buNone/>
              <a:tabLst/>
              <a:defRPr/>
            </a:pPr>
            <a:endParaRPr kumimoji="0" lang="en-US" sz="6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7119858F-3799-45AF-982F-F2266836E002}"/>
              </a:ext>
            </a:extLst>
          </p:cNvPr>
          <p:cNvSpPr/>
          <p:nvPr/>
        </p:nvSpPr>
        <p:spPr bwMode="auto">
          <a:xfrm>
            <a:off x="7567364" y="3353144"/>
            <a:ext cx="574593" cy="803441"/>
          </a:xfrm>
          <a:prstGeom prst="rect">
            <a:avLst/>
          </a:prstGeom>
          <a:solidFill>
            <a:srgbClr val="37C4FF"/>
          </a:solidFill>
          <a:ln w="19050" cap="flat" cmpd="sng" algn="ctr">
            <a:noFill/>
            <a:prstDash val="solid"/>
            <a:round/>
            <a:headEnd type="none" w="med" len="med"/>
            <a:tailEnd type="none" w="med" len="med"/>
          </a:ln>
          <a:effectLst/>
        </p:spPr>
        <p:txBody>
          <a:bodyPr vert="horz" wrap="square" lIns="0" tIns="548640" rIns="0" bIns="0" numCol="1" rtlCol="0" anchor="t"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 name="Rectangle 24">
            <a:extLst>
              <a:ext uri="{FF2B5EF4-FFF2-40B4-BE49-F238E27FC236}">
                <a16:creationId xmlns:a16="http://schemas.microsoft.com/office/drawing/2014/main" id="{E44894D1-1F1F-4AB5-8D54-D7A76B1DE15E}"/>
              </a:ext>
            </a:extLst>
          </p:cNvPr>
          <p:cNvSpPr/>
          <p:nvPr/>
        </p:nvSpPr>
        <p:spPr bwMode="auto">
          <a:xfrm>
            <a:off x="6879943" y="3344490"/>
            <a:ext cx="548640" cy="819338"/>
          </a:xfrm>
          <a:prstGeom prst="rect">
            <a:avLst/>
          </a:prstGeom>
          <a:solidFill>
            <a:schemeClr val="accent3"/>
          </a:solidFill>
          <a:ln w="19050" cap="flat" cmpd="sng" algn="ctr">
            <a:noFill/>
            <a:prstDash val="solid"/>
            <a:round/>
            <a:headEnd type="none" w="med" len="med"/>
            <a:tailEnd type="none" w="med" len="med"/>
          </a:ln>
          <a:effectLst/>
        </p:spPr>
        <p:txBody>
          <a:bodyPr vert="horz" wrap="square" lIns="0" tIns="548640" rIns="0" bIns="0" numCol="1" rtlCol="0" anchor="t"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 name="Rectangle 25">
            <a:extLst>
              <a:ext uri="{FF2B5EF4-FFF2-40B4-BE49-F238E27FC236}">
                <a16:creationId xmlns:a16="http://schemas.microsoft.com/office/drawing/2014/main" id="{5E150193-7F7E-45C6-B103-67E7C9BD23C3}"/>
              </a:ext>
            </a:extLst>
          </p:cNvPr>
          <p:cNvSpPr/>
          <p:nvPr/>
        </p:nvSpPr>
        <p:spPr bwMode="auto">
          <a:xfrm>
            <a:off x="8287086" y="3346356"/>
            <a:ext cx="548640" cy="817472"/>
          </a:xfrm>
          <a:prstGeom prst="rect">
            <a:avLst/>
          </a:prstGeom>
          <a:solidFill>
            <a:srgbClr val="37C4FF"/>
          </a:solidFill>
          <a:ln w="19050" cap="flat" cmpd="sng" algn="ctr">
            <a:noFill/>
            <a:prstDash val="solid"/>
            <a:round/>
            <a:headEnd type="none" w="med" len="med"/>
            <a:tailEnd type="none" w="med" len="med"/>
          </a:ln>
          <a:effectLst/>
        </p:spPr>
        <p:txBody>
          <a:bodyPr vert="horz" wrap="square" lIns="0" tIns="548640" rIns="0" bIns="0" numCol="1" rtlCol="0" anchor="t"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6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 name="Rectangle 26">
            <a:extLst>
              <a:ext uri="{FF2B5EF4-FFF2-40B4-BE49-F238E27FC236}">
                <a16:creationId xmlns:a16="http://schemas.microsoft.com/office/drawing/2014/main" id="{1E8293D0-7D04-4E55-A6BF-F3B8A04EBB83}"/>
              </a:ext>
            </a:extLst>
          </p:cNvPr>
          <p:cNvSpPr/>
          <p:nvPr/>
        </p:nvSpPr>
        <p:spPr>
          <a:xfrm>
            <a:off x="6201896" y="4461371"/>
            <a:ext cx="2642616" cy="182880"/>
          </a:xfrm>
          <a:prstGeom prst="rect">
            <a:avLst/>
          </a:prstGeom>
          <a:solidFill>
            <a:schemeClr val="bg1">
              <a:lumMod val="65000"/>
            </a:schemeClr>
          </a:solidFill>
          <a:ln w="6350" cap="flat" cmpd="sng" algn="ctr">
            <a:noFill/>
            <a:prstDash val="solid"/>
          </a:ln>
          <a:effectLst/>
        </p:spPr>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Audit, Balance &amp; Control Framework</a:t>
            </a:r>
          </a:p>
        </p:txBody>
      </p:sp>
      <p:sp>
        <p:nvSpPr>
          <p:cNvPr id="28" name="Rectangle 27">
            <a:extLst>
              <a:ext uri="{FF2B5EF4-FFF2-40B4-BE49-F238E27FC236}">
                <a16:creationId xmlns:a16="http://schemas.microsoft.com/office/drawing/2014/main" id="{785D9F35-9FD5-4A49-9780-AB0063F6B76E}"/>
              </a:ext>
            </a:extLst>
          </p:cNvPr>
          <p:cNvSpPr/>
          <p:nvPr/>
        </p:nvSpPr>
        <p:spPr>
          <a:xfrm>
            <a:off x="6201896" y="4216985"/>
            <a:ext cx="2642616" cy="182880"/>
          </a:xfrm>
          <a:prstGeom prst="rect">
            <a:avLst/>
          </a:prstGeom>
          <a:solidFill>
            <a:schemeClr val="bg1">
              <a:lumMod val="65000"/>
            </a:schemeClr>
          </a:solidFill>
          <a:ln w="6350" cap="flat" cmpd="sng" algn="ctr">
            <a:noFill/>
            <a:prstDash val="solid"/>
          </a:ln>
          <a:effectLst/>
        </p:spPr>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Automation Frameworks</a:t>
            </a:r>
          </a:p>
        </p:txBody>
      </p:sp>
      <p:sp>
        <p:nvSpPr>
          <p:cNvPr id="29" name="Rectangle 28">
            <a:extLst>
              <a:ext uri="{FF2B5EF4-FFF2-40B4-BE49-F238E27FC236}">
                <a16:creationId xmlns:a16="http://schemas.microsoft.com/office/drawing/2014/main" id="{580D9E56-F7F6-4189-8CB1-86323398DD9B}"/>
              </a:ext>
            </a:extLst>
          </p:cNvPr>
          <p:cNvSpPr/>
          <p:nvPr/>
        </p:nvSpPr>
        <p:spPr>
          <a:xfrm>
            <a:off x="6201896" y="2902379"/>
            <a:ext cx="2642616" cy="375837"/>
          </a:xfrm>
          <a:prstGeom prst="rect">
            <a:avLst/>
          </a:prstGeom>
          <a:solidFill>
            <a:srgbClr val="37C4FF"/>
          </a:solidFill>
          <a:ln w="6350" cap="flat" cmpd="sng" algn="ctr">
            <a:noFill/>
            <a:prstDash val="solid"/>
          </a:ln>
          <a:effectLst/>
        </p:spPr>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Adoption of Future Target State Platform</a:t>
            </a:r>
          </a:p>
        </p:txBody>
      </p:sp>
      <p:sp>
        <p:nvSpPr>
          <p:cNvPr id="30" name="Rectangle 29">
            <a:extLst>
              <a:ext uri="{FF2B5EF4-FFF2-40B4-BE49-F238E27FC236}">
                <a16:creationId xmlns:a16="http://schemas.microsoft.com/office/drawing/2014/main" id="{C07987AD-4AAA-4057-9A1C-8F9D24FEFEEF}"/>
              </a:ext>
            </a:extLst>
          </p:cNvPr>
          <p:cNvSpPr/>
          <p:nvPr/>
        </p:nvSpPr>
        <p:spPr>
          <a:xfrm>
            <a:off x="6201896" y="4705757"/>
            <a:ext cx="2642616" cy="182880"/>
          </a:xfrm>
          <a:prstGeom prst="rect">
            <a:avLst/>
          </a:prstGeom>
          <a:solidFill>
            <a:schemeClr val="bg1">
              <a:lumMod val="65000"/>
            </a:schemeClr>
          </a:solidFill>
          <a:ln w="6350" cap="flat" cmpd="sng" algn="ctr">
            <a:noFill/>
            <a:prstDash val="solid"/>
          </a:ln>
          <a:effectLst/>
        </p:spPr>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Data Certification &amp; Lifecycle Management</a:t>
            </a:r>
          </a:p>
        </p:txBody>
      </p:sp>
      <p:sp>
        <p:nvSpPr>
          <p:cNvPr id="31" name="TextBox 30">
            <a:extLst>
              <a:ext uri="{FF2B5EF4-FFF2-40B4-BE49-F238E27FC236}">
                <a16:creationId xmlns:a16="http://schemas.microsoft.com/office/drawing/2014/main" id="{1AA25C6B-9470-49C6-8E76-2C4E4395A889}"/>
              </a:ext>
            </a:extLst>
          </p:cNvPr>
          <p:cNvSpPr txBox="1"/>
          <p:nvPr/>
        </p:nvSpPr>
        <p:spPr>
          <a:xfrm>
            <a:off x="6256841" y="3670994"/>
            <a:ext cx="448754" cy="215444"/>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US" sz="7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Agile Delivery</a:t>
            </a:r>
          </a:p>
        </p:txBody>
      </p:sp>
      <p:sp>
        <p:nvSpPr>
          <p:cNvPr id="32" name="TextBox 31">
            <a:extLst>
              <a:ext uri="{FF2B5EF4-FFF2-40B4-BE49-F238E27FC236}">
                <a16:creationId xmlns:a16="http://schemas.microsoft.com/office/drawing/2014/main" id="{91F9131C-2098-424F-B860-B976113FF74E}"/>
              </a:ext>
            </a:extLst>
          </p:cNvPr>
          <p:cNvSpPr txBox="1"/>
          <p:nvPr/>
        </p:nvSpPr>
        <p:spPr>
          <a:xfrm>
            <a:off x="6879943" y="3670994"/>
            <a:ext cx="548640" cy="107722"/>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US" sz="7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Dev Ops</a:t>
            </a:r>
          </a:p>
        </p:txBody>
      </p:sp>
      <p:sp>
        <p:nvSpPr>
          <p:cNvPr id="33" name="TextBox 32">
            <a:extLst>
              <a:ext uri="{FF2B5EF4-FFF2-40B4-BE49-F238E27FC236}">
                <a16:creationId xmlns:a16="http://schemas.microsoft.com/office/drawing/2014/main" id="{D202FA1A-355F-450B-AE17-685FE70D0061}"/>
              </a:ext>
            </a:extLst>
          </p:cNvPr>
          <p:cNvSpPr txBox="1"/>
          <p:nvPr/>
        </p:nvSpPr>
        <p:spPr>
          <a:xfrm>
            <a:off x="7586381" y="3670994"/>
            <a:ext cx="536559" cy="400110"/>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US" sz="7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Execution Model </a:t>
            </a:r>
            <a:r>
              <a:rPr kumimoji="0" lang="en-US" sz="6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(Delivery</a:t>
            </a:r>
            <a:br>
              <a:rPr kumimoji="0" lang="en-US" sz="6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6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PODs)</a:t>
            </a:r>
          </a:p>
        </p:txBody>
      </p:sp>
      <p:sp>
        <p:nvSpPr>
          <p:cNvPr id="34" name="TextBox 33">
            <a:extLst>
              <a:ext uri="{FF2B5EF4-FFF2-40B4-BE49-F238E27FC236}">
                <a16:creationId xmlns:a16="http://schemas.microsoft.com/office/drawing/2014/main" id="{50F09039-57F1-4766-B5AF-BAAB6C25870A}"/>
              </a:ext>
            </a:extLst>
          </p:cNvPr>
          <p:cNvSpPr txBox="1"/>
          <p:nvPr/>
        </p:nvSpPr>
        <p:spPr>
          <a:xfrm>
            <a:off x="8290377" y="3670994"/>
            <a:ext cx="542059" cy="215444"/>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US" sz="7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Enable new capabilities</a:t>
            </a:r>
          </a:p>
        </p:txBody>
      </p:sp>
      <p:sp>
        <p:nvSpPr>
          <p:cNvPr id="80" name="Rectangle 79">
            <a:extLst>
              <a:ext uri="{FF2B5EF4-FFF2-40B4-BE49-F238E27FC236}">
                <a16:creationId xmlns:a16="http://schemas.microsoft.com/office/drawing/2014/main" id="{C231FCBC-93F6-4B60-8CF0-F071CCEA8314}"/>
              </a:ext>
            </a:extLst>
          </p:cNvPr>
          <p:cNvSpPr/>
          <p:nvPr/>
        </p:nvSpPr>
        <p:spPr bwMode="gray">
          <a:xfrm>
            <a:off x="6579908" y="1613328"/>
            <a:ext cx="2285902" cy="365760"/>
          </a:xfrm>
          <a:prstGeom prst="rect">
            <a:avLst/>
          </a:prstGeom>
          <a:solidFill>
            <a:schemeClr val="bg1">
              <a:lumMod val="8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l" defTabSz="1219170" rtl="0" eaLnBrk="1" fontAlgn="auto" latinLnBrk="0" hangingPunct="1">
              <a:lnSpc>
                <a:spcPct val="100000"/>
              </a:lnSpc>
              <a:spcBef>
                <a:spcPts val="0"/>
              </a:spcBef>
              <a:spcAft>
                <a:spcPts val="120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Scale-out: Re-platform and Refactor</a:t>
            </a:r>
          </a:p>
        </p:txBody>
      </p:sp>
      <p:sp>
        <p:nvSpPr>
          <p:cNvPr id="81" name="Rectangle 80">
            <a:extLst>
              <a:ext uri="{FF2B5EF4-FFF2-40B4-BE49-F238E27FC236}">
                <a16:creationId xmlns:a16="http://schemas.microsoft.com/office/drawing/2014/main" id="{79855506-2409-4F32-8514-49DA9D80B403}"/>
              </a:ext>
            </a:extLst>
          </p:cNvPr>
          <p:cNvSpPr/>
          <p:nvPr/>
        </p:nvSpPr>
        <p:spPr bwMode="gray">
          <a:xfrm>
            <a:off x="9048202" y="1613328"/>
            <a:ext cx="411480" cy="365760"/>
          </a:xfrm>
          <a:prstGeom prst="rect">
            <a:avLst/>
          </a:prstGeom>
          <a:solidFill>
            <a:srgbClr val="37C4FF"/>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3</a:t>
            </a:r>
            <a:endParaRPr kumimoji="0" lang="en-US" sz="105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85" name="Group 526">
            <a:extLst>
              <a:ext uri="{FF2B5EF4-FFF2-40B4-BE49-F238E27FC236}">
                <a16:creationId xmlns:a16="http://schemas.microsoft.com/office/drawing/2014/main" id="{10BBF6DD-CB28-4774-B1EE-B61AA253ED12}"/>
              </a:ext>
            </a:extLst>
          </p:cNvPr>
          <p:cNvGrpSpPr>
            <a:grpSpLocks noChangeAspect="1"/>
          </p:cNvGrpSpPr>
          <p:nvPr/>
        </p:nvGrpSpPr>
        <p:grpSpPr bwMode="auto">
          <a:xfrm>
            <a:off x="6545173" y="2531232"/>
            <a:ext cx="228600" cy="228600"/>
            <a:chOff x="3464" y="1974"/>
            <a:chExt cx="340" cy="340"/>
          </a:xfrm>
          <a:solidFill>
            <a:schemeClr val="bg1"/>
          </a:solidFill>
        </p:grpSpPr>
        <p:sp>
          <p:nvSpPr>
            <p:cNvPr id="86" name="Freeform 527">
              <a:extLst>
                <a:ext uri="{FF2B5EF4-FFF2-40B4-BE49-F238E27FC236}">
                  <a16:creationId xmlns:a16="http://schemas.microsoft.com/office/drawing/2014/main" id="{087F9BFD-1DF0-45FD-9071-6A031097AE0A}"/>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87" name="Freeform 528">
              <a:extLst>
                <a:ext uri="{FF2B5EF4-FFF2-40B4-BE49-F238E27FC236}">
                  <a16:creationId xmlns:a16="http://schemas.microsoft.com/office/drawing/2014/main" id="{2AB21AF7-935D-475D-80E5-260878865561}"/>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88" name="Group 432">
            <a:extLst>
              <a:ext uri="{FF2B5EF4-FFF2-40B4-BE49-F238E27FC236}">
                <a16:creationId xmlns:a16="http://schemas.microsoft.com/office/drawing/2014/main" id="{C234E351-6565-4DE2-9D8C-EB9CB81A3F4A}"/>
              </a:ext>
            </a:extLst>
          </p:cNvPr>
          <p:cNvGrpSpPr>
            <a:grpSpLocks noChangeAspect="1"/>
          </p:cNvGrpSpPr>
          <p:nvPr/>
        </p:nvGrpSpPr>
        <p:grpSpPr bwMode="auto">
          <a:xfrm>
            <a:off x="6267598" y="2968649"/>
            <a:ext cx="228600" cy="229272"/>
            <a:chOff x="3505" y="1546"/>
            <a:chExt cx="340" cy="341"/>
          </a:xfrm>
          <a:solidFill>
            <a:schemeClr val="bg1"/>
          </a:solidFill>
        </p:grpSpPr>
        <p:sp>
          <p:nvSpPr>
            <p:cNvPr id="89" name="Freeform 433">
              <a:extLst>
                <a:ext uri="{FF2B5EF4-FFF2-40B4-BE49-F238E27FC236}">
                  <a16:creationId xmlns:a16="http://schemas.microsoft.com/office/drawing/2014/main" id="{DF9AA352-DFC6-40A1-A86D-4B5DDF4111A0}"/>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0" name="Freeform 434">
              <a:extLst>
                <a:ext uri="{FF2B5EF4-FFF2-40B4-BE49-F238E27FC236}">
                  <a16:creationId xmlns:a16="http://schemas.microsoft.com/office/drawing/2014/main" id="{5DB1DE9F-6637-4588-B683-21D8F2C29886}"/>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91" name="Group 217">
            <a:extLst>
              <a:ext uri="{FF2B5EF4-FFF2-40B4-BE49-F238E27FC236}">
                <a16:creationId xmlns:a16="http://schemas.microsoft.com/office/drawing/2014/main" id="{70E19675-8D60-46EE-A063-171D5E359F2F}"/>
              </a:ext>
            </a:extLst>
          </p:cNvPr>
          <p:cNvGrpSpPr>
            <a:grpSpLocks noChangeAspect="1"/>
          </p:cNvGrpSpPr>
          <p:nvPr/>
        </p:nvGrpSpPr>
        <p:grpSpPr bwMode="auto">
          <a:xfrm>
            <a:off x="6366918" y="3402713"/>
            <a:ext cx="228600" cy="228600"/>
            <a:chOff x="5807" y="746"/>
            <a:chExt cx="340" cy="340"/>
          </a:xfrm>
          <a:solidFill>
            <a:schemeClr val="bg1"/>
          </a:solidFill>
        </p:grpSpPr>
        <p:sp>
          <p:nvSpPr>
            <p:cNvPr id="92" name="Freeform 218">
              <a:extLst>
                <a:ext uri="{FF2B5EF4-FFF2-40B4-BE49-F238E27FC236}">
                  <a16:creationId xmlns:a16="http://schemas.microsoft.com/office/drawing/2014/main" id="{104AE154-008B-4BE2-AA0D-295AEC8D3408}"/>
                </a:ext>
              </a:extLst>
            </p:cNvPr>
            <p:cNvSpPr>
              <a:spLocks noEditPoints="1"/>
            </p:cNvSpPr>
            <p:nvPr/>
          </p:nvSpPr>
          <p:spPr bwMode="auto">
            <a:xfrm>
              <a:off x="5892" y="824"/>
              <a:ext cx="170" cy="184"/>
            </a:xfrm>
            <a:custGeom>
              <a:avLst/>
              <a:gdLst>
                <a:gd name="T0" fmla="*/ 256 w 256"/>
                <a:gd name="T1" fmla="*/ 138 h 277"/>
                <a:gd name="T2" fmla="*/ 128 w 256"/>
                <a:gd name="T3" fmla="*/ 266 h 277"/>
                <a:gd name="T4" fmla="*/ 53 w 256"/>
                <a:gd name="T5" fmla="*/ 242 h 277"/>
                <a:gd name="T6" fmla="*/ 53 w 256"/>
                <a:gd name="T7" fmla="*/ 266 h 277"/>
                <a:gd name="T8" fmla="*/ 43 w 256"/>
                <a:gd name="T9" fmla="*/ 277 h 277"/>
                <a:gd name="T10" fmla="*/ 32 w 256"/>
                <a:gd name="T11" fmla="*/ 266 h 277"/>
                <a:gd name="T12" fmla="*/ 32 w 256"/>
                <a:gd name="T13" fmla="*/ 213 h 277"/>
                <a:gd name="T14" fmla="*/ 43 w 256"/>
                <a:gd name="T15" fmla="*/ 202 h 277"/>
                <a:gd name="T16" fmla="*/ 96 w 256"/>
                <a:gd name="T17" fmla="*/ 202 h 277"/>
                <a:gd name="T18" fmla="*/ 107 w 256"/>
                <a:gd name="T19" fmla="*/ 213 h 277"/>
                <a:gd name="T20" fmla="*/ 96 w 256"/>
                <a:gd name="T21" fmla="*/ 224 h 277"/>
                <a:gd name="T22" fmla="*/ 64 w 256"/>
                <a:gd name="T23" fmla="*/ 224 h 277"/>
                <a:gd name="T24" fmla="*/ 128 w 256"/>
                <a:gd name="T25" fmla="*/ 245 h 277"/>
                <a:gd name="T26" fmla="*/ 235 w 256"/>
                <a:gd name="T27" fmla="*/ 138 h 277"/>
                <a:gd name="T28" fmla="*/ 245 w 256"/>
                <a:gd name="T29" fmla="*/ 128 h 277"/>
                <a:gd name="T30" fmla="*/ 256 w 256"/>
                <a:gd name="T31" fmla="*/ 138 h 277"/>
                <a:gd name="T32" fmla="*/ 128 w 256"/>
                <a:gd name="T33" fmla="*/ 32 h 277"/>
                <a:gd name="T34" fmla="*/ 192 w 256"/>
                <a:gd name="T35" fmla="*/ 53 h 277"/>
                <a:gd name="T36" fmla="*/ 160 w 256"/>
                <a:gd name="T37" fmla="*/ 53 h 277"/>
                <a:gd name="T38" fmla="*/ 149 w 256"/>
                <a:gd name="T39" fmla="*/ 64 h 277"/>
                <a:gd name="T40" fmla="*/ 160 w 256"/>
                <a:gd name="T41" fmla="*/ 74 h 277"/>
                <a:gd name="T42" fmla="*/ 213 w 256"/>
                <a:gd name="T43" fmla="*/ 74 h 277"/>
                <a:gd name="T44" fmla="*/ 224 w 256"/>
                <a:gd name="T45" fmla="*/ 64 h 277"/>
                <a:gd name="T46" fmla="*/ 224 w 256"/>
                <a:gd name="T47" fmla="*/ 10 h 277"/>
                <a:gd name="T48" fmla="*/ 213 w 256"/>
                <a:gd name="T49" fmla="*/ 0 h 277"/>
                <a:gd name="T50" fmla="*/ 203 w 256"/>
                <a:gd name="T51" fmla="*/ 10 h 277"/>
                <a:gd name="T52" fmla="*/ 203 w 256"/>
                <a:gd name="T53" fmla="*/ 35 h 277"/>
                <a:gd name="T54" fmla="*/ 128 w 256"/>
                <a:gd name="T55" fmla="*/ 10 h 277"/>
                <a:gd name="T56" fmla="*/ 0 w 256"/>
                <a:gd name="T57" fmla="*/ 138 h 277"/>
                <a:gd name="T58" fmla="*/ 11 w 256"/>
                <a:gd name="T59" fmla="*/ 149 h 277"/>
                <a:gd name="T60" fmla="*/ 21 w 256"/>
                <a:gd name="T61" fmla="*/ 138 h 277"/>
                <a:gd name="T62" fmla="*/ 128 w 256"/>
                <a:gd name="T63" fmla="*/ 3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6" h="277">
                  <a:moveTo>
                    <a:pt x="256" y="138"/>
                  </a:moveTo>
                  <a:cubicBezTo>
                    <a:pt x="256" y="209"/>
                    <a:pt x="199" y="266"/>
                    <a:pt x="128" y="266"/>
                  </a:cubicBezTo>
                  <a:cubicBezTo>
                    <a:pt x="101" y="266"/>
                    <a:pt x="75" y="258"/>
                    <a:pt x="53" y="242"/>
                  </a:cubicBezTo>
                  <a:cubicBezTo>
                    <a:pt x="53" y="266"/>
                    <a:pt x="53" y="266"/>
                    <a:pt x="53" y="266"/>
                  </a:cubicBezTo>
                  <a:cubicBezTo>
                    <a:pt x="53" y="272"/>
                    <a:pt x="49" y="277"/>
                    <a:pt x="43" y="277"/>
                  </a:cubicBezTo>
                  <a:cubicBezTo>
                    <a:pt x="37" y="277"/>
                    <a:pt x="32" y="272"/>
                    <a:pt x="32" y="266"/>
                  </a:cubicBezTo>
                  <a:cubicBezTo>
                    <a:pt x="32" y="213"/>
                    <a:pt x="32" y="213"/>
                    <a:pt x="32" y="213"/>
                  </a:cubicBezTo>
                  <a:cubicBezTo>
                    <a:pt x="32" y="207"/>
                    <a:pt x="37" y="202"/>
                    <a:pt x="43" y="202"/>
                  </a:cubicBezTo>
                  <a:cubicBezTo>
                    <a:pt x="96" y="202"/>
                    <a:pt x="96" y="202"/>
                    <a:pt x="96" y="202"/>
                  </a:cubicBezTo>
                  <a:cubicBezTo>
                    <a:pt x="102" y="202"/>
                    <a:pt x="107" y="207"/>
                    <a:pt x="107" y="213"/>
                  </a:cubicBezTo>
                  <a:cubicBezTo>
                    <a:pt x="107" y="219"/>
                    <a:pt x="102" y="224"/>
                    <a:pt x="96" y="224"/>
                  </a:cubicBezTo>
                  <a:cubicBezTo>
                    <a:pt x="64" y="224"/>
                    <a:pt x="64" y="224"/>
                    <a:pt x="64" y="224"/>
                  </a:cubicBezTo>
                  <a:cubicBezTo>
                    <a:pt x="82" y="237"/>
                    <a:pt x="105" y="245"/>
                    <a:pt x="128" y="245"/>
                  </a:cubicBezTo>
                  <a:cubicBezTo>
                    <a:pt x="187" y="245"/>
                    <a:pt x="235" y="197"/>
                    <a:pt x="235" y="138"/>
                  </a:cubicBezTo>
                  <a:cubicBezTo>
                    <a:pt x="235" y="132"/>
                    <a:pt x="239" y="128"/>
                    <a:pt x="245" y="128"/>
                  </a:cubicBezTo>
                  <a:cubicBezTo>
                    <a:pt x="251" y="128"/>
                    <a:pt x="256" y="132"/>
                    <a:pt x="256" y="138"/>
                  </a:cubicBezTo>
                  <a:close/>
                  <a:moveTo>
                    <a:pt x="128" y="32"/>
                  </a:moveTo>
                  <a:cubicBezTo>
                    <a:pt x="151" y="32"/>
                    <a:pt x="174" y="39"/>
                    <a:pt x="192" y="53"/>
                  </a:cubicBezTo>
                  <a:cubicBezTo>
                    <a:pt x="160" y="53"/>
                    <a:pt x="160" y="53"/>
                    <a:pt x="160" y="53"/>
                  </a:cubicBezTo>
                  <a:cubicBezTo>
                    <a:pt x="154" y="53"/>
                    <a:pt x="149" y="58"/>
                    <a:pt x="149" y="64"/>
                  </a:cubicBezTo>
                  <a:cubicBezTo>
                    <a:pt x="149" y="70"/>
                    <a:pt x="154" y="74"/>
                    <a:pt x="160" y="74"/>
                  </a:cubicBezTo>
                  <a:cubicBezTo>
                    <a:pt x="213" y="74"/>
                    <a:pt x="213" y="74"/>
                    <a:pt x="213" y="74"/>
                  </a:cubicBezTo>
                  <a:cubicBezTo>
                    <a:pt x="219" y="74"/>
                    <a:pt x="224" y="70"/>
                    <a:pt x="224" y="64"/>
                  </a:cubicBezTo>
                  <a:cubicBezTo>
                    <a:pt x="224" y="10"/>
                    <a:pt x="224" y="10"/>
                    <a:pt x="224" y="10"/>
                  </a:cubicBezTo>
                  <a:cubicBezTo>
                    <a:pt x="224" y="4"/>
                    <a:pt x="219" y="0"/>
                    <a:pt x="213" y="0"/>
                  </a:cubicBezTo>
                  <a:cubicBezTo>
                    <a:pt x="207" y="0"/>
                    <a:pt x="203" y="4"/>
                    <a:pt x="203" y="10"/>
                  </a:cubicBezTo>
                  <a:cubicBezTo>
                    <a:pt x="203" y="35"/>
                    <a:pt x="203" y="35"/>
                    <a:pt x="203" y="35"/>
                  </a:cubicBezTo>
                  <a:cubicBezTo>
                    <a:pt x="181" y="19"/>
                    <a:pt x="155" y="10"/>
                    <a:pt x="128" y="10"/>
                  </a:cubicBezTo>
                  <a:cubicBezTo>
                    <a:pt x="57" y="10"/>
                    <a:pt x="0" y="68"/>
                    <a:pt x="0" y="138"/>
                  </a:cubicBezTo>
                  <a:cubicBezTo>
                    <a:pt x="0" y="144"/>
                    <a:pt x="5" y="149"/>
                    <a:pt x="11" y="149"/>
                  </a:cubicBezTo>
                  <a:cubicBezTo>
                    <a:pt x="17" y="149"/>
                    <a:pt x="21" y="144"/>
                    <a:pt x="21" y="138"/>
                  </a:cubicBezTo>
                  <a:cubicBezTo>
                    <a:pt x="21" y="80"/>
                    <a:pt x="69" y="32"/>
                    <a:pt x="128"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3" name="Freeform 219">
              <a:extLst>
                <a:ext uri="{FF2B5EF4-FFF2-40B4-BE49-F238E27FC236}">
                  <a16:creationId xmlns:a16="http://schemas.microsoft.com/office/drawing/2014/main" id="{F8920FBB-A71A-4C6C-8C6A-4612D420C1FD}"/>
                </a:ext>
              </a:extLst>
            </p:cNvPr>
            <p:cNvSpPr>
              <a:spLocks noEditPoints="1"/>
            </p:cNvSpPr>
            <p:nvPr/>
          </p:nvSpPr>
          <p:spPr bwMode="auto">
            <a:xfrm>
              <a:off x="5807" y="746"/>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94" name="Group 977">
            <a:extLst>
              <a:ext uri="{FF2B5EF4-FFF2-40B4-BE49-F238E27FC236}">
                <a16:creationId xmlns:a16="http://schemas.microsoft.com/office/drawing/2014/main" id="{E87ABA12-62E2-47EF-B6A9-947D6F8778CD}"/>
              </a:ext>
            </a:extLst>
          </p:cNvPr>
          <p:cNvGrpSpPr>
            <a:grpSpLocks noChangeAspect="1"/>
          </p:cNvGrpSpPr>
          <p:nvPr/>
        </p:nvGrpSpPr>
        <p:grpSpPr bwMode="auto">
          <a:xfrm>
            <a:off x="7039963" y="3402377"/>
            <a:ext cx="228600" cy="229272"/>
            <a:chOff x="5095" y="4001"/>
            <a:chExt cx="340" cy="341"/>
          </a:xfrm>
          <a:solidFill>
            <a:srgbClr val="37C4FF"/>
          </a:solidFill>
        </p:grpSpPr>
        <p:sp>
          <p:nvSpPr>
            <p:cNvPr id="95" name="Freeform 978">
              <a:extLst>
                <a:ext uri="{FF2B5EF4-FFF2-40B4-BE49-F238E27FC236}">
                  <a16:creationId xmlns:a16="http://schemas.microsoft.com/office/drawing/2014/main" id="{D5212A85-EE7D-4311-B3BB-67037D516284}"/>
                </a:ext>
              </a:extLst>
            </p:cNvPr>
            <p:cNvSpPr>
              <a:spLocks/>
            </p:cNvSpPr>
            <p:nvPr/>
          </p:nvSpPr>
          <p:spPr bwMode="auto">
            <a:xfrm>
              <a:off x="5159" y="4086"/>
              <a:ext cx="212" cy="171"/>
            </a:xfrm>
            <a:custGeom>
              <a:avLst/>
              <a:gdLst>
                <a:gd name="T0" fmla="*/ 259 w 320"/>
                <a:gd name="T1" fmla="*/ 90 h 257"/>
                <a:gd name="T2" fmla="*/ 284 w 320"/>
                <a:gd name="T3" fmla="*/ 65 h 257"/>
                <a:gd name="T4" fmla="*/ 256 w 320"/>
                <a:gd name="T5" fmla="*/ 65 h 257"/>
                <a:gd name="T6" fmla="*/ 191 w 320"/>
                <a:gd name="T7" fmla="*/ 110 h 257"/>
                <a:gd name="T8" fmla="*/ 179 w 320"/>
                <a:gd name="T9" fmla="*/ 124 h 257"/>
                <a:gd name="T10" fmla="*/ 174 w 320"/>
                <a:gd name="T11" fmla="*/ 129 h 257"/>
                <a:gd name="T12" fmla="*/ 179 w 320"/>
                <a:gd name="T13" fmla="*/ 135 h 257"/>
                <a:gd name="T14" fmla="*/ 191 w 320"/>
                <a:gd name="T15" fmla="*/ 149 h 257"/>
                <a:gd name="T16" fmla="*/ 256 w 320"/>
                <a:gd name="T17" fmla="*/ 193 h 257"/>
                <a:gd name="T18" fmla="*/ 284 w 320"/>
                <a:gd name="T19" fmla="*/ 193 h 257"/>
                <a:gd name="T20" fmla="*/ 259 w 320"/>
                <a:gd name="T21" fmla="*/ 169 h 257"/>
                <a:gd name="T22" fmla="*/ 259 w 320"/>
                <a:gd name="T23" fmla="*/ 154 h 257"/>
                <a:gd name="T24" fmla="*/ 274 w 320"/>
                <a:gd name="T25" fmla="*/ 154 h 257"/>
                <a:gd name="T26" fmla="*/ 317 w 320"/>
                <a:gd name="T27" fmla="*/ 196 h 257"/>
                <a:gd name="T28" fmla="*/ 319 w 320"/>
                <a:gd name="T29" fmla="*/ 200 h 257"/>
                <a:gd name="T30" fmla="*/ 319 w 320"/>
                <a:gd name="T31" fmla="*/ 208 h 257"/>
                <a:gd name="T32" fmla="*/ 317 w 320"/>
                <a:gd name="T33" fmla="*/ 212 h 257"/>
                <a:gd name="T34" fmla="*/ 274 w 320"/>
                <a:gd name="T35" fmla="*/ 254 h 257"/>
                <a:gd name="T36" fmla="*/ 267 w 320"/>
                <a:gd name="T37" fmla="*/ 257 h 257"/>
                <a:gd name="T38" fmla="*/ 259 w 320"/>
                <a:gd name="T39" fmla="*/ 254 h 257"/>
                <a:gd name="T40" fmla="*/ 259 w 320"/>
                <a:gd name="T41" fmla="*/ 239 h 257"/>
                <a:gd name="T42" fmla="*/ 284 w 320"/>
                <a:gd name="T43" fmla="*/ 215 h 257"/>
                <a:gd name="T44" fmla="*/ 256 w 320"/>
                <a:gd name="T45" fmla="*/ 215 h 257"/>
                <a:gd name="T46" fmla="*/ 174 w 320"/>
                <a:gd name="T47" fmla="*/ 162 h 257"/>
                <a:gd name="T48" fmla="*/ 163 w 320"/>
                <a:gd name="T49" fmla="*/ 149 h 257"/>
                <a:gd name="T50" fmla="*/ 160 w 320"/>
                <a:gd name="T51" fmla="*/ 146 h 257"/>
                <a:gd name="T52" fmla="*/ 157 w 320"/>
                <a:gd name="T53" fmla="*/ 149 h 257"/>
                <a:gd name="T54" fmla="*/ 146 w 320"/>
                <a:gd name="T55" fmla="*/ 162 h 257"/>
                <a:gd name="T56" fmla="*/ 64 w 320"/>
                <a:gd name="T57" fmla="*/ 215 h 257"/>
                <a:gd name="T58" fmla="*/ 11 w 320"/>
                <a:gd name="T59" fmla="*/ 215 h 257"/>
                <a:gd name="T60" fmla="*/ 0 w 320"/>
                <a:gd name="T61" fmla="*/ 204 h 257"/>
                <a:gd name="T62" fmla="*/ 11 w 320"/>
                <a:gd name="T63" fmla="*/ 193 h 257"/>
                <a:gd name="T64" fmla="*/ 64 w 320"/>
                <a:gd name="T65" fmla="*/ 193 h 257"/>
                <a:gd name="T66" fmla="*/ 129 w 320"/>
                <a:gd name="T67" fmla="*/ 149 h 257"/>
                <a:gd name="T68" fmla="*/ 141 w 320"/>
                <a:gd name="T69" fmla="*/ 134 h 257"/>
                <a:gd name="T70" fmla="*/ 146 w 320"/>
                <a:gd name="T71" fmla="*/ 129 h 257"/>
                <a:gd name="T72" fmla="*/ 141 w 320"/>
                <a:gd name="T73" fmla="*/ 124 h 257"/>
                <a:gd name="T74" fmla="*/ 129 w 320"/>
                <a:gd name="T75" fmla="*/ 110 h 257"/>
                <a:gd name="T76" fmla="*/ 64 w 320"/>
                <a:gd name="T77" fmla="*/ 65 h 257"/>
                <a:gd name="T78" fmla="*/ 11 w 320"/>
                <a:gd name="T79" fmla="*/ 65 h 257"/>
                <a:gd name="T80" fmla="*/ 0 w 320"/>
                <a:gd name="T81" fmla="*/ 55 h 257"/>
                <a:gd name="T82" fmla="*/ 11 w 320"/>
                <a:gd name="T83" fmla="*/ 44 h 257"/>
                <a:gd name="T84" fmla="*/ 64 w 320"/>
                <a:gd name="T85" fmla="*/ 44 h 257"/>
                <a:gd name="T86" fmla="*/ 146 w 320"/>
                <a:gd name="T87" fmla="*/ 96 h 257"/>
                <a:gd name="T88" fmla="*/ 157 w 320"/>
                <a:gd name="T89" fmla="*/ 110 h 257"/>
                <a:gd name="T90" fmla="*/ 160 w 320"/>
                <a:gd name="T91" fmla="*/ 113 h 257"/>
                <a:gd name="T92" fmla="*/ 163 w 320"/>
                <a:gd name="T93" fmla="*/ 110 h 257"/>
                <a:gd name="T94" fmla="*/ 174 w 320"/>
                <a:gd name="T95" fmla="*/ 96 h 257"/>
                <a:gd name="T96" fmla="*/ 256 w 320"/>
                <a:gd name="T97" fmla="*/ 44 h 257"/>
                <a:gd name="T98" fmla="*/ 284 w 320"/>
                <a:gd name="T99" fmla="*/ 44 h 257"/>
                <a:gd name="T100" fmla="*/ 259 w 320"/>
                <a:gd name="T101" fmla="*/ 20 h 257"/>
                <a:gd name="T102" fmla="*/ 259 w 320"/>
                <a:gd name="T103" fmla="*/ 4 h 257"/>
                <a:gd name="T104" fmla="*/ 274 w 320"/>
                <a:gd name="T105" fmla="*/ 4 h 257"/>
                <a:gd name="T106" fmla="*/ 317 w 320"/>
                <a:gd name="T107" fmla="*/ 47 h 257"/>
                <a:gd name="T108" fmla="*/ 319 w 320"/>
                <a:gd name="T109" fmla="*/ 51 h 257"/>
                <a:gd name="T110" fmla="*/ 319 w 320"/>
                <a:gd name="T111" fmla="*/ 59 h 257"/>
                <a:gd name="T112" fmla="*/ 317 w 320"/>
                <a:gd name="T113" fmla="*/ 62 h 257"/>
                <a:gd name="T114" fmla="*/ 274 w 320"/>
                <a:gd name="T115" fmla="*/ 105 h 257"/>
                <a:gd name="T116" fmla="*/ 267 w 320"/>
                <a:gd name="T117" fmla="*/ 108 h 257"/>
                <a:gd name="T118" fmla="*/ 259 w 320"/>
                <a:gd name="T119" fmla="*/ 105 h 257"/>
                <a:gd name="T120" fmla="*/ 259 w 320"/>
                <a:gd name="T121" fmla="*/ 9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20" h="257">
                  <a:moveTo>
                    <a:pt x="259" y="90"/>
                  </a:moveTo>
                  <a:cubicBezTo>
                    <a:pt x="284" y="65"/>
                    <a:pt x="284" y="65"/>
                    <a:pt x="284" y="65"/>
                  </a:cubicBezTo>
                  <a:cubicBezTo>
                    <a:pt x="256" y="65"/>
                    <a:pt x="256" y="65"/>
                    <a:pt x="256" y="65"/>
                  </a:cubicBezTo>
                  <a:cubicBezTo>
                    <a:pt x="225" y="65"/>
                    <a:pt x="207" y="89"/>
                    <a:pt x="191" y="110"/>
                  </a:cubicBezTo>
                  <a:cubicBezTo>
                    <a:pt x="186" y="115"/>
                    <a:pt x="182" y="120"/>
                    <a:pt x="179" y="124"/>
                  </a:cubicBezTo>
                  <a:cubicBezTo>
                    <a:pt x="174" y="129"/>
                    <a:pt x="174" y="129"/>
                    <a:pt x="174" y="129"/>
                  </a:cubicBezTo>
                  <a:cubicBezTo>
                    <a:pt x="179" y="135"/>
                    <a:pt x="179" y="135"/>
                    <a:pt x="179" y="135"/>
                  </a:cubicBezTo>
                  <a:cubicBezTo>
                    <a:pt x="182" y="139"/>
                    <a:pt x="186" y="144"/>
                    <a:pt x="191" y="149"/>
                  </a:cubicBezTo>
                  <a:cubicBezTo>
                    <a:pt x="207" y="170"/>
                    <a:pt x="225" y="193"/>
                    <a:pt x="256" y="193"/>
                  </a:cubicBezTo>
                  <a:cubicBezTo>
                    <a:pt x="284" y="193"/>
                    <a:pt x="284" y="193"/>
                    <a:pt x="284" y="193"/>
                  </a:cubicBezTo>
                  <a:cubicBezTo>
                    <a:pt x="259" y="169"/>
                    <a:pt x="259" y="169"/>
                    <a:pt x="259" y="169"/>
                  </a:cubicBezTo>
                  <a:cubicBezTo>
                    <a:pt x="255" y="165"/>
                    <a:pt x="255" y="158"/>
                    <a:pt x="259" y="154"/>
                  </a:cubicBezTo>
                  <a:cubicBezTo>
                    <a:pt x="263" y="150"/>
                    <a:pt x="270" y="150"/>
                    <a:pt x="274" y="154"/>
                  </a:cubicBezTo>
                  <a:cubicBezTo>
                    <a:pt x="317" y="196"/>
                    <a:pt x="317" y="196"/>
                    <a:pt x="317" y="196"/>
                  </a:cubicBezTo>
                  <a:cubicBezTo>
                    <a:pt x="318" y="197"/>
                    <a:pt x="319" y="199"/>
                    <a:pt x="319" y="200"/>
                  </a:cubicBezTo>
                  <a:cubicBezTo>
                    <a:pt x="320" y="203"/>
                    <a:pt x="320" y="205"/>
                    <a:pt x="319" y="208"/>
                  </a:cubicBezTo>
                  <a:cubicBezTo>
                    <a:pt x="319" y="209"/>
                    <a:pt x="318" y="211"/>
                    <a:pt x="317" y="212"/>
                  </a:cubicBezTo>
                  <a:cubicBezTo>
                    <a:pt x="274" y="254"/>
                    <a:pt x="274" y="254"/>
                    <a:pt x="274" y="254"/>
                  </a:cubicBezTo>
                  <a:cubicBezTo>
                    <a:pt x="272" y="256"/>
                    <a:pt x="269" y="257"/>
                    <a:pt x="267" y="257"/>
                  </a:cubicBezTo>
                  <a:cubicBezTo>
                    <a:pt x="264" y="257"/>
                    <a:pt x="261" y="256"/>
                    <a:pt x="259" y="254"/>
                  </a:cubicBezTo>
                  <a:cubicBezTo>
                    <a:pt x="255" y="250"/>
                    <a:pt x="255" y="243"/>
                    <a:pt x="259" y="239"/>
                  </a:cubicBezTo>
                  <a:cubicBezTo>
                    <a:pt x="284" y="215"/>
                    <a:pt x="284" y="215"/>
                    <a:pt x="284" y="215"/>
                  </a:cubicBezTo>
                  <a:cubicBezTo>
                    <a:pt x="256" y="215"/>
                    <a:pt x="256" y="215"/>
                    <a:pt x="256" y="215"/>
                  </a:cubicBezTo>
                  <a:cubicBezTo>
                    <a:pt x="215" y="215"/>
                    <a:pt x="191" y="184"/>
                    <a:pt x="174" y="162"/>
                  </a:cubicBezTo>
                  <a:cubicBezTo>
                    <a:pt x="170" y="157"/>
                    <a:pt x="166" y="153"/>
                    <a:pt x="163" y="149"/>
                  </a:cubicBezTo>
                  <a:cubicBezTo>
                    <a:pt x="160" y="146"/>
                    <a:pt x="160" y="146"/>
                    <a:pt x="160" y="146"/>
                  </a:cubicBezTo>
                  <a:cubicBezTo>
                    <a:pt x="157" y="149"/>
                    <a:pt x="157" y="149"/>
                    <a:pt x="157" y="149"/>
                  </a:cubicBezTo>
                  <a:cubicBezTo>
                    <a:pt x="154" y="153"/>
                    <a:pt x="150" y="157"/>
                    <a:pt x="146" y="162"/>
                  </a:cubicBezTo>
                  <a:cubicBezTo>
                    <a:pt x="129" y="184"/>
                    <a:pt x="105" y="215"/>
                    <a:pt x="64" y="215"/>
                  </a:cubicBezTo>
                  <a:cubicBezTo>
                    <a:pt x="11" y="215"/>
                    <a:pt x="11" y="215"/>
                    <a:pt x="11" y="215"/>
                  </a:cubicBezTo>
                  <a:cubicBezTo>
                    <a:pt x="5" y="215"/>
                    <a:pt x="0" y="210"/>
                    <a:pt x="0" y="204"/>
                  </a:cubicBezTo>
                  <a:cubicBezTo>
                    <a:pt x="0" y="198"/>
                    <a:pt x="5" y="193"/>
                    <a:pt x="11" y="193"/>
                  </a:cubicBezTo>
                  <a:cubicBezTo>
                    <a:pt x="64" y="193"/>
                    <a:pt x="64" y="193"/>
                    <a:pt x="64" y="193"/>
                  </a:cubicBezTo>
                  <a:cubicBezTo>
                    <a:pt x="95" y="193"/>
                    <a:pt x="113" y="170"/>
                    <a:pt x="129" y="149"/>
                  </a:cubicBezTo>
                  <a:cubicBezTo>
                    <a:pt x="134" y="144"/>
                    <a:pt x="138" y="139"/>
                    <a:pt x="141" y="134"/>
                  </a:cubicBezTo>
                  <a:cubicBezTo>
                    <a:pt x="146" y="129"/>
                    <a:pt x="146" y="129"/>
                    <a:pt x="146" y="129"/>
                  </a:cubicBezTo>
                  <a:cubicBezTo>
                    <a:pt x="141" y="124"/>
                    <a:pt x="141" y="124"/>
                    <a:pt x="141" y="124"/>
                  </a:cubicBezTo>
                  <a:cubicBezTo>
                    <a:pt x="138" y="120"/>
                    <a:pt x="134" y="115"/>
                    <a:pt x="129" y="110"/>
                  </a:cubicBezTo>
                  <a:cubicBezTo>
                    <a:pt x="113" y="89"/>
                    <a:pt x="95" y="65"/>
                    <a:pt x="64" y="65"/>
                  </a:cubicBezTo>
                  <a:cubicBezTo>
                    <a:pt x="11" y="65"/>
                    <a:pt x="11" y="65"/>
                    <a:pt x="11" y="65"/>
                  </a:cubicBezTo>
                  <a:cubicBezTo>
                    <a:pt x="5" y="65"/>
                    <a:pt x="0" y="61"/>
                    <a:pt x="0" y="55"/>
                  </a:cubicBezTo>
                  <a:cubicBezTo>
                    <a:pt x="0" y="49"/>
                    <a:pt x="5" y="44"/>
                    <a:pt x="11" y="44"/>
                  </a:cubicBezTo>
                  <a:cubicBezTo>
                    <a:pt x="64" y="44"/>
                    <a:pt x="64" y="44"/>
                    <a:pt x="64" y="44"/>
                  </a:cubicBezTo>
                  <a:cubicBezTo>
                    <a:pt x="105" y="44"/>
                    <a:pt x="129" y="74"/>
                    <a:pt x="146" y="96"/>
                  </a:cubicBezTo>
                  <a:cubicBezTo>
                    <a:pt x="150" y="101"/>
                    <a:pt x="154" y="106"/>
                    <a:pt x="157" y="110"/>
                  </a:cubicBezTo>
                  <a:cubicBezTo>
                    <a:pt x="160" y="113"/>
                    <a:pt x="160" y="113"/>
                    <a:pt x="160" y="113"/>
                  </a:cubicBezTo>
                  <a:cubicBezTo>
                    <a:pt x="163" y="110"/>
                    <a:pt x="163" y="110"/>
                    <a:pt x="163" y="110"/>
                  </a:cubicBezTo>
                  <a:cubicBezTo>
                    <a:pt x="166" y="106"/>
                    <a:pt x="170" y="101"/>
                    <a:pt x="174" y="96"/>
                  </a:cubicBezTo>
                  <a:cubicBezTo>
                    <a:pt x="191" y="74"/>
                    <a:pt x="215" y="44"/>
                    <a:pt x="256" y="44"/>
                  </a:cubicBezTo>
                  <a:cubicBezTo>
                    <a:pt x="284" y="44"/>
                    <a:pt x="284" y="44"/>
                    <a:pt x="284" y="44"/>
                  </a:cubicBezTo>
                  <a:cubicBezTo>
                    <a:pt x="259" y="20"/>
                    <a:pt x="259" y="20"/>
                    <a:pt x="259" y="20"/>
                  </a:cubicBezTo>
                  <a:cubicBezTo>
                    <a:pt x="255" y="15"/>
                    <a:pt x="255" y="9"/>
                    <a:pt x="259" y="4"/>
                  </a:cubicBezTo>
                  <a:cubicBezTo>
                    <a:pt x="263" y="0"/>
                    <a:pt x="270" y="0"/>
                    <a:pt x="274" y="4"/>
                  </a:cubicBezTo>
                  <a:cubicBezTo>
                    <a:pt x="317" y="47"/>
                    <a:pt x="317" y="47"/>
                    <a:pt x="317" y="47"/>
                  </a:cubicBezTo>
                  <a:cubicBezTo>
                    <a:pt x="318" y="48"/>
                    <a:pt x="319" y="49"/>
                    <a:pt x="319" y="51"/>
                  </a:cubicBezTo>
                  <a:cubicBezTo>
                    <a:pt x="320" y="53"/>
                    <a:pt x="320" y="56"/>
                    <a:pt x="319" y="59"/>
                  </a:cubicBezTo>
                  <a:cubicBezTo>
                    <a:pt x="319" y="60"/>
                    <a:pt x="318" y="61"/>
                    <a:pt x="317" y="62"/>
                  </a:cubicBezTo>
                  <a:cubicBezTo>
                    <a:pt x="274" y="105"/>
                    <a:pt x="274" y="105"/>
                    <a:pt x="274" y="105"/>
                  </a:cubicBezTo>
                  <a:cubicBezTo>
                    <a:pt x="272" y="107"/>
                    <a:pt x="269" y="108"/>
                    <a:pt x="267" y="108"/>
                  </a:cubicBezTo>
                  <a:cubicBezTo>
                    <a:pt x="264" y="108"/>
                    <a:pt x="261" y="107"/>
                    <a:pt x="259" y="105"/>
                  </a:cubicBezTo>
                  <a:cubicBezTo>
                    <a:pt x="255" y="101"/>
                    <a:pt x="255" y="94"/>
                    <a:pt x="259" y="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6" name="Freeform 979">
              <a:extLst>
                <a:ext uri="{FF2B5EF4-FFF2-40B4-BE49-F238E27FC236}">
                  <a16:creationId xmlns:a16="http://schemas.microsoft.com/office/drawing/2014/main" id="{DD8F9D27-B34A-49FE-B475-4D47587E83AB}"/>
                </a:ext>
              </a:extLst>
            </p:cNvPr>
            <p:cNvSpPr>
              <a:spLocks noEditPoints="1"/>
            </p:cNvSpPr>
            <p:nvPr/>
          </p:nvSpPr>
          <p:spPr bwMode="auto">
            <a:xfrm>
              <a:off x="5095" y="4001"/>
              <a:ext cx="340" cy="34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1 h 512"/>
                <a:gd name="T12" fmla="*/ 21 w 512"/>
                <a:gd name="T13" fmla="*/ 256 h 512"/>
                <a:gd name="T14" fmla="*/ 256 w 512"/>
                <a:gd name="T15" fmla="*/ 22 h 512"/>
                <a:gd name="T16" fmla="*/ 491 w 512"/>
                <a:gd name="T17" fmla="*/ 256 h 512"/>
                <a:gd name="T18" fmla="*/ 256 w 512"/>
                <a:gd name="T19" fmla="*/ 4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256" y="491"/>
                  </a:moveTo>
                  <a:cubicBezTo>
                    <a:pt x="127" y="491"/>
                    <a:pt x="21" y="386"/>
                    <a:pt x="21" y="256"/>
                  </a:cubicBezTo>
                  <a:cubicBezTo>
                    <a:pt x="21" y="127"/>
                    <a:pt x="127" y="22"/>
                    <a:pt x="256" y="22"/>
                  </a:cubicBezTo>
                  <a:cubicBezTo>
                    <a:pt x="385" y="22"/>
                    <a:pt x="491" y="127"/>
                    <a:pt x="491" y="256"/>
                  </a:cubicBezTo>
                  <a:cubicBezTo>
                    <a:pt x="491" y="386"/>
                    <a:pt x="385" y="491"/>
                    <a:pt x="256" y="49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97" name="Group 217">
            <a:extLst>
              <a:ext uri="{FF2B5EF4-FFF2-40B4-BE49-F238E27FC236}">
                <a16:creationId xmlns:a16="http://schemas.microsoft.com/office/drawing/2014/main" id="{6FE74659-AF36-42CF-A35E-A787DF378560}"/>
              </a:ext>
            </a:extLst>
          </p:cNvPr>
          <p:cNvGrpSpPr>
            <a:grpSpLocks noChangeAspect="1"/>
          </p:cNvGrpSpPr>
          <p:nvPr/>
        </p:nvGrpSpPr>
        <p:grpSpPr bwMode="auto">
          <a:xfrm>
            <a:off x="8445995" y="3402713"/>
            <a:ext cx="228600" cy="228600"/>
            <a:chOff x="1900" y="709"/>
            <a:chExt cx="340" cy="340"/>
          </a:xfrm>
          <a:solidFill>
            <a:schemeClr val="bg1"/>
          </a:solidFill>
        </p:grpSpPr>
        <p:sp>
          <p:nvSpPr>
            <p:cNvPr id="98" name="Freeform 218">
              <a:extLst>
                <a:ext uri="{FF2B5EF4-FFF2-40B4-BE49-F238E27FC236}">
                  <a16:creationId xmlns:a16="http://schemas.microsoft.com/office/drawing/2014/main" id="{F9591A37-1F82-4E47-937E-A9472D283675}"/>
                </a:ext>
              </a:extLst>
            </p:cNvPr>
            <p:cNvSpPr>
              <a:spLocks noEditPoints="1"/>
            </p:cNvSpPr>
            <p:nvPr/>
          </p:nvSpPr>
          <p:spPr bwMode="auto">
            <a:xfrm>
              <a:off x="1900" y="70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9" name="Freeform 219">
              <a:extLst>
                <a:ext uri="{FF2B5EF4-FFF2-40B4-BE49-F238E27FC236}">
                  <a16:creationId xmlns:a16="http://schemas.microsoft.com/office/drawing/2014/main" id="{38440CDF-FC5A-4DAF-A35A-998D16C12725}"/>
                </a:ext>
              </a:extLst>
            </p:cNvPr>
            <p:cNvSpPr>
              <a:spLocks noEditPoints="1"/>
            </p:cNvSpPr>
            <p:nvPr/>
          </p:nvSpPr>
          <p:spPr bwMode="auto">
            <a:xfrm>
              <a:off x="1992" y="779"/>
              <a:ext cx="170" cy="192"/>
            </a:xfrm>
            <a:custGeom>
              <a:avLst/>
              <a:gdLst>
                <a:gd name="T0" fmla="*/ 246 w 256"/>
                <a:gd name="T1" fmla="*/ 118 h 288"/>
                <a:gd name="T2" fmla="*/ 214 w 256"/>
                <a:gd name="T3" fmla="*/ 118 h 288"/>
                <a:gd name="T4" fmla="*/ 214 w 256"/>
                <a:gd name="T5" fmla="*/ 11 h 288"/>
                <a:gd name="T6" fmla="*/ 203 w 256"/>
                <a:gd name="T7" fmla="*/ 0 h 288"/>
                <a:gd name="T8" fmla="*/ 11 w 256"/>
                <a:gd name="T9" fmla="*/ 0 h 288"/>
                <a:gd name="T10" fmla="*/ 0 w 256"/>
                <a:gd name="T11" fmla="*/ 11 h 288"/>
                <a:gd name="T12" fmla="*/ 0 w 256"/>
                <a:gd name="T13" fmla="*/ 256 h 288"/>
                <a:gd name="T14" fmla="*/ 11 w 256"/>
                <a:gd name="T15" fmla="*/ 267 h 288"/>
                <a:gd name="T16" fmla="*/ 160 w 256"/>
                <a:gd name="T17" fmla="*/ 267 h 288"/>
                <a:gd name="T18" fmla="*/ 160 w 256"/>
                <a:gd name="T19" fmla="*/ 278 h 288"/>
                <a:gd name="T20" fmla="*/ 171 w 256"/>
                <a:gd name="T21" fmla="*/ 288 h 288"/>
                <a:gd name="T22" fmla="*/ 246 w 256"/>
                <a:gd name="T23" fmla="*/ 288 h 288"/>
                <a:gd name="T24" fmla="*/ 256 w 256"/>
                <a:gd name="T25" fmla="*/ 278 h 288"/>
                <a:gd name="T26" fmla="*/ 256 w 256"/>
                <a:gd name="T27" fmla="*/ 128 h 288"/>
                <a:gd name="T28" fmla="*/ 246 w 256"/>
                <a:gd name="T29" fmla="*/ 118 h 288"/>
                <a:gd name="T30" fmla="*/ 160 w 256"/>
                <a:gd name="T31" fmla="*/ 128 h 288"/>
                <a:gd name="T32" fmla="*/ 160 w 256"/>
                <a:gd name="T33" fmla="*/ 246 h 288"/>
                <a:gd name="T34" fmla="*/ 22 w 256"/>
                <a:gd name="T35" fmla="*/ 246 h 288"/>
                <a:gd name="T36" fmla="*/ 22 w 256"/>
                <a:gd name="T37" fmla="*/ 22 h 288"/>
                <a:gd name="T38" fmla="*/ 192 w 256"/>
                <a:gd name="T39" fmla="*/ 22 h 288"/>
                <a:gd name="T40" fmla="*/ 192 w 256"/>
                <a:gd name="T41" fmla="*/ 118 h 288"/>
                <a:gd name="T42" fmla="*/ 171 w 256"/>
                <a:gd name="T43" fmla="*/ 118 h 288"/>
                <a:gd name="T44" fmla="*/ 160 w 256"/>
                <a:gd name="T45" fmla="*/ 128 h 288"/>
                <a:gd name="T46" fmla="*/ 235 w 256"/>
                <a:gd name="T47" fmla="*/ 267 h 288"/>
                <a:gd name="T48" fmla="*/ 182 w 256"/>
                <a:gd name="T49" fmla="*/ 267 h 288"/>
                <a:gd name="T50" fmla="*/ 182 w 256"/>
                <a:gd name="T51" fmla="*/ 139 h 288"/>
                <a:gd name="T52" fmla="*/ 235 w 256"/>
                <a:gd name="T53" fmla="*/ 139 h 288"/>
                <a:gd name="T54" fmla="*/ 235 w 256"/>
                <a:gd name="T55" fmla="*/ 267 h 288"/>
                <a:gd name="T56" fmla="*/ 118 w 256"/>
                <a:gd name="T57" fmla="*/ 214 h 288"/>
                <a:gd name="T58" fmla="*/ 107 w 256"/>
                <a:gd name="T59" fmla="*/ 224 h 288"/>
                <a:gd name="T60" fmla="*/ 96 w 256"/>
                <a:gd name="T61" fmla="*/ 214 h 288"/>
                <a:gd name="T62" fmla="*/ 107 w 256"/>
                <a:gd name="T63" fmla="*/ 203 h 288"/>
                <a:gd name="T64" fmla="*/ 118 w 256"/>
                <a:gd name="T65" fmla="*/ 21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6" h="288">
                  <a:moveTo>
                    <a:pt x="246" y="118"/>
                  </a:moveTo>
                  <a:cubicBezTo>
                    <a:pt x="214" y="118"/>
                    <a:pt x="214" y="118"/>
                    <a:pt x="214" y="118"/>
                  </a:cubicBezTo>
                  <a:cubicBezTo>
                    <a:pt x="214" y="11"/>
                    <a:pt x="214" y="11"/>
                    <a:pt x="214" y="11"/>
                  </a:cubicBezTo>
                  <a:cubicBezTo>
                    <a:pt x="214" y="5"/>
                    <a:pt x="209" y="0"/>
                    <a:pt x="203" y="0"/>
                  </a:cubicBezTo>
                  <a:cubicBezTo>
                    <a:pt x="11" y="0"/>
                    <a:pt x="11" y="0"/>
                    <a:pt x="11" y="0"/>
                  </a:cubicBezTo>
                  <a:cubicBezTo>
                    <a:pt x="5" y="0"/>
                    <a:pt x="0" y="5"/>
                    <a:pt x="0" y="11"/>
                  </a:cubicBezTo>
                  <a:cubicBezTo>
                    <a:pt x="0" y="256"/>
                    <a:pt x="0" y="256"/>
                    <a:pt x="0" y="256"/>
                  </a:cubicBezTo>
                  <a:cubicBezTo>
                    <a:pt x="0" y="262"/>
                    <a:pt x="5" y="267"/>
                    <a:pt x="11" y="267"/>
                  </a:cubicBezTo>
                  <a:cubicBezTo>
                    <a:pt x="160" y="267"/>
                    <a:pt x="160" y="267"/>
                    <a:pt x="160" y="267"/>
                  </a:cubicBezTo>
                  <a:cubicBezTo>
                    <a:pt x="160" y="278"/>
                    <a:pt x="160" y="278"/>
                    <a:pt x="160" y="278"/>
                  </a:cubicBezTo>
                  <a:cubicBezTo>
                    <a:pt x="160" y="284"/>
                    <a:pt x="165" y="288"/>
                    <a:pt x="171" y="288"/>
                  </a:cubicBezTo>
                  <a:cubicBezTo>
                    <a:pt x="246" y="288"/>
                    <a:pt x="246" y="288"/>
                    <a:pt x="246" y="288"/>
                  </a:cubicBezTo>
                  <a:cubicBezTo>
                    <a:pt x="252" y="288"/>
                    <a:pt x="256" y="284"/>
                    <a:pt x="256" y="278"/>
                  </a:cubicBezTo>
                  <a:cubicBezTo>
                    <a:pt x="256" y="128"/>
                    <a:pt x="256" y="128"/>
                    <a:pt x="256" y="128"/>
                  </a:cubicBezTo>
                  <a:cubicBezTo>
                    <a:pt x="256" y="122"/>
                    <a:pt x="252" y="118"/>
                    <a:pt x="246" y="118"/>
                  </a:cubicBezTo>
                  <a:close/>
                  <a:moveTo>
                    <a:pt x="160" y="128"/>
                  </a:moveTo>
                  <a:cubicBezTo>
                    <a:pt x="160" y="246"/>
                    <a:pt x="160" y="246"/>
                    <a:pt x="160" y="246"/>
                  </a:cubicBezTo>
                  <a:cubicBezTo>
                    <a:pt x="22" y="246"/>
                    <a:pt x="22" y="246"/>
                    <a:pt x="22" y="246"/>
                  </a:cubicBezTo>
                  <a:cubicBezTo>
                    <a:pt x="22" y="22"/>
                    <a:pt x="22" y="22"/>
                    <a:pt x="22" y="22"/>
                  </a:cubicBezTo>
                  <a:cubicBezTo>
                    <a:pt x="192" y="22"/>
                    <a:pt x="192" y="22"/>
                    <a:pt x="192" y="22"/>
                  </a:cubicBezTo>
                  <a:cubicBezTo>
                    <a:pt x="192" y="118"/>
                    <a:pt x="192" y="118"/>
                    <a:pt x="192" y="118"/>
                  </a:cubicBezTo>
                  <a:cubicBezTo>
                    <a:pt x="171" y="118"/>
                    <a:pt x="171" y="118"/>
                    <a:pt x="171" y="118"/>
                  </a:cubicBezTo>
                  <a:cubicBezTo>
                    <a:pt x="165" y="118"/>
                    <a:pt x="160" y="122"/>
                    <a:pt x="160" y="128"/>
                  </a:cubicBezTo>
                  <a:close/>
                  <a:moveTo>
                    <a:pt x="235" y="267"/>
                  </a:moveTo>
                  <a:cubicBezTo>
                    <a:pt x="182" y="267"/>
                    <a:pt x="182" y="267"/>
                    <a:pt x="182" y="267"/>
                  </a:cubicBezTo>
                  <a:cubicBezTo>
                    <a:pt x="182" y="139"/>
                    <a:pt x="182" y="139"/>
                    <a:pt x="182" y="139"/>
                  </a:cubicBezTo>
                  <a:cubicBezTo>
                    <a:pt x="235" y="139"/>
                    <a:pt x="235" y="139"/>
                    <a:pt x="235" y="139"/>
                  </a:cubicBezTo>
                  <a:lnTo>
                    <a:pt x="235" y="267"/>
                  </a:lnTo>
                  <a:close/>
                  <a:moveTo>
                    <a:pt x="118" y="214"/>
                  </a:moveTo>
                  <a:cubicBezTo>
                    <a:pt x="118" y="220"/>
                    <a:pt x="113" y="224"/>
                    <a:pt x="107" y="224"/>
                  </a:cubicBezTo>
                  <a:cubicBezTo>
                    <a:pt x="101" y="224"/>
                    <a:pt x="96" y="220"/>
                    <a:pt x="96" y="214"/>
                  </a:cubicBezTo>
                  <a:cubicBezTo>
                    <a:pt x="96" y="208"/>
                    <a:pt x="101" y="203"/>
                    <a:pt x="107" y="203"/>
                  </a:cubicBezTo>
                  <a:cubicBezTo>
                    <a:pt x="113" y="203"/>
                    <a:pt x="118" y="208"/>
                    <a:pt x="118" y="21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00" name="Group 100">
            <a:extLst>
              <a:ext uri="{FF2B5EF4-FFF2-40B4-BE49-F238E27FC236}">
                <a16:creationId xmlns:a16="http://schemas.microsoft.com/office/drawing/2014/main" id="{06C5DD0A-E02E-4C93-9B6E-880D367CB371}"/>
              </a:ext>
            </a:extLst>
          </p:cNvPr>
          <p:cNvGrpSpPr>
            <a:grpSpLocks noChangeAspect="1"/>
          </p:cNvGrpSpPr>
          <p:nvPr/>
        </p:nvGrpSpPr>
        <p:grpSpPr bwMode="auto">
          <a:xfrm>
            <a:off x="7740360" y="3402713"/>
            <a:ext cx="228600" cy="228600"/>
            <a:chOff x="374" y="351"/>
            <a:chExt cx="340" cy="340"/>
          </a:xfrm>
          <a:solidFill>
            <a:schemeClr val="bg1"/>
          </a:solidFill>
        </p:grpSpPr>
        <p:sp>
          <p:nvSpPr>
            <p:cNvPr id="101" name="Freeform 101">
              <a:extLst>
                <a:ext uri="{FF2B5EF4-FFF2-40B4-BE49-F238E27FC236}">
                  <a16:creationId xmlns:a16="http://schemas.microsoft.com/office/drawing/2014/main" id="{44D7C822-EA83-4258-BD55-538DB2B3836D}"/>
                </a:ext>
              </a:extLst>
            </p:cNvPr>
            <p:cNvSpPr>
              <a:spLocks noEditPoints="1"/>
            </p:cNvSpPr>
            <p:nvPr/>
          </p:nvSpPr>
          <p:spPr bwMode="auto">
            <a:xfrm>
              <a:off x="374" y="35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2" name="Freeform 102">
              <a:extLst>
                <a:ext uri="{FF2B5EF4-FFF2-40B4-BE49-F238E27FC236}">
                  <a16:creationId xmlns:a16="http://schemas.microsoft.com/office/drawing/2014/main" id="{D0985205-6E2A-46EF-92AB-C030193F5309}"/>
                </a:ext>
              </a:extLst>
            </p:cNvPr>
            <p:cNvSpPr>
              <a:spLocks noEditPoints="1"/>
            </p:cNvSpPr>
            <p:nvPr/>
          </p:nvSpPr>
          <p:spPr bwMode="auto">
            <a:xfrm>
              <a:off x="452" y="429"/>
              <a:ext cx="77" cy="77"/>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3" name="Freeform 103">
              <a:extLst>
                <a:ext uri="{FF2B5EF4-FFF2-40B4-BE49-F238E27FC236}">
                  <a16:creationId xmlns:a16="http://schemas.microsoft.com/office/drawing/2014/main" id="{3F4A5028-6726-4946-BEF2-04C1B4BF4C52}"/>
                </a:ext>
              </a:extLst>
            </p:cNvPr>
            <p:cNvSpPr>
              <a:spLocks noEditPoints="1"/>
            </p:cNvSpPr>
            <p:nvPr/>
          </p:nvSpPr>
          <p:spPr bwMode="auto">
            <a:xfrm>
              <a:off x="558" y="429"/>
              <a:ext cx="78" cy="77"/>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4" name="Freeform 104">
              <a:extLst>
                <a:ext uri="{FF2B5EF4-FFF2-40B4-BE49-F238E27FC236}">
                  <a16:creationId xmlns:a16="http://schemas.microsoft.com/office/drawing/2014/main" id="{8DD1C0CC-F30F-4894-BA90-421C04EB3BF5}"/>
                </a:ext>
              </a:extLst>
            </p:cNvPr>
            <p:cNvSpPr>
              <a:spLocks noEditPoints="1"/>
            </p:cNvSpPr>
            <p:nvPr/>
          </p:nvSpPr>
          <p:spPr bwMode="auto">
            <a:xfrm>
              <a:off x="452" y="535"/>
              <a:ext cx="77" cy="78"/>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5" name="Freeform 105">
              <a:extLst>
                <a:ext uri="{FF2B5EF4-FFF2-40B4-BE49-F238E27FC236}">
                  <a16:creationId xmlns:a16="http://schemas.microsoft.com/office/drawing/2014/main" id="{A3E29F03-34B4-49D2-BE5E-33EAB27A9B34}"/>
                </a:ext>
              </a:extLst>
            </p:cNvPr>
            <p:cNvSpPr>
              <a:spLocks noEditPoints="1"/>
            </p:cNvSpPr>
            <p:nvPr/>
          </p:nvSpPr>
          <p:spPr bwMode="auto">
            <a:xfrm>
              <a:off x="558" y="535"/>
              <a:ext cx="78" cy="78"/>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12" name="Rectangle 111">
            <a:extLst>
              <a:ext uri="{FF2B5EF4-FFF2-40B4-BE49-F238E27FC236}">
                <a16:creationId xmlns:a16="http://schemas.microsoft.com/office/drawing/2014/main" id="{9E024990-E9C1-4F68-AA6A-0F0786543A87}"/>
              </a:ext>
            </a:extLst>
          </p:cNvPr>
          <p:cNvSpPr/>
          <p:nvPr/>
        </p:nvSpPr>
        <p:spPr>
          <a:xfrm>
            <a:off x="6201896" y="4950144"/>
            <a:ext cx="2650627" cy="182880"/>
          </a:xfrm>
          <a:prstGeom prst="rect">
            <a:avLst/>
          </a:prstGeom>
          <a:solidFill>
            <a:schemeClr val="bg1">
              <a:lumMod val="65000"/>
            </a:schemeClr>
          </a:solidFill>
          <a:ln w="6350" cap="flat" cmpd="sng" algn="ctr">
            <a:noFill/>
            <a:prstDash val="solid"/>
          </a:ln>
          <a:effectLst/>
        </p:spPr>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Data Security</a:t>
            </a:r>
          </a:p>
        </p:txBody>
      </p:sp>
      <p:sp>
        <p:nvSpPr>
          <p:cNvPr id="113" name="Plus Sign 191">
            <a:extLst>
              <a:ext uri="{FF2B5EF4-FFF2-40B4-BE49-F238E27FC236}">
                <a16:creationId xmlns:a16="http://schemas.microsoft.com/office/drawing/2014/main" id="{06B8E9AA-EFC9-4ECB-9A3D-753E47E3DDE1}"/>
              </a:ext>
            </a:extLst>
          </p:cNvPr>
          <p:cNvSpPr/>
          <p:nvPr/>
        </p:nvSpPr>
        <p:spPr bwMode="gray">
          <a:xfrm>
            <a:off x="6773773" y="3653211"/>
            <a:ext cx="91440" cy="145603"/>
          </a:xfrm>
          <a:prstGeom prst="mathPlus">
            <a:avLst/>
          </a:prstGeom>
          <a:solidFill>
            <a:srgbClr val="012169"/>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4" name="Plus Sign 192">
            <a:extLst>
              <a:ext uri="{FF2B5EF4-FFF2-40B4-BE49-F238E27FC236}">
                <a16:creationId xmlns:a16="http://schemas.microsoft.com/office/drawing/2014/main" id="{EAC42F5B-62F3-4490-B3CD-4F7DF7E24E6C}"/>
              </a:ext>
            </a:extLst>
          </p:cNvPr>
          <p:cNvSpPr/>
          <p:nvPr/>
        </p:nvSpPr>
        <p:spPr bwMode="gray">
          <a:xfrm>
            <a:off x="7452550" y="3662580"/>
            <a:ext cx="91440" cy="145603"/>
          </a:xfrm>
          <a:prstGeom prst="mathPlus">
            <a:avLst/>
          </a:prstGeom>
          <a:solidFill>
            <a:srgbClr val="012169"/>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5" name="Equals 193">
            <a:extLst>
              <a:ext uri="{FF2B5EF4-FFF2-40B4-BE49-F238E27FC236}">
                <a16:creationId xmlns:a16="http://schemas.microsoft.com/office/drawing/2014/main" id="{C0092B0D-22AD-41D6-B97E-D7D0BEA17E97}"/>
              </a:ext>
            </a:extLst>
          </p:cNvPr>
          <p:cNvSpPr/>
          <p:nvPr/>
        </p:nvSpPr>
        <p:spPr bwMode="gray">
          <a:xfrm>
            <a:off x="8162266" y="3696387"/>
            <a:ext cx="91440" cy="91440"/>
          </a:xfrm>
          <a:prstGeom prst="mathEqual">
            <a:avLst/>
          </a:prstGeom>
          <a:solidFill>
            <a:srgbClr val="012169"/>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 name="Rectangle 6">
            <a:extLst>
              <a:ext uri="{FF2B5EF4-FFF2-40B4-BE49-F238E27FC236}">
                <a16:creationId xmlns:a16="http://schemas.microsoft.com/office/drawing/2014/main" id="{0D851807-1A29-4B95-BA95-9506A0058657}"/>
              </a:ext>
            </a:extLst>
          </p:cNvPr>
          <p:cNvSpPr/>
          <p:nvPr/>
        </p:nvSpPr>
        <p:spPr bwMode="gray">
          <a:xfrm>
            <a:off x="467783" y="2032602"/>
            <a:ext cx="2686774" cy="3148376"/>
          </a:xfrm>
          <a:prstGeom prst="rect">
            <a:avLst/>
          </a:prstGeom>
          <a:noFill/>
          <a:ln w="12700" algn="ctr">
            <a:solidFill>
              <a:schemeClr val="bg1">
                <a:lumMod val="7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11" name="Group 10">
            <a:extLst>
              <a:ext uri="{FF2B5EF4-FFF2-40B4-BE49-F238E27FC236}">
                <a16:creationId xmlns:a16="http://schemas.microsoft.com/office/drawing/2014/main" id="{F195D2BB-C092-4A35-8321-C3AC02C77391}"/>
              </a:ext>
            </a:extLst>
          </p:cNvPr>
          <p:cNvGrpSpPr/>
          <p:nvPr/>
        </p:nvGrpSpPr>
        <p:grpSpPr>
          <a:xfrm>
            <a:off x="594364" y="2239283"/>
            <a:ext cx="564081" cy="312901"/>
            <a:chOff x="2330291" y="4821786"/>
            <a:chExt cx="1272422" cy="771881"/>
          </a:xfrm>
          <a:solidFill>
            <a:srgbClr val="37C4FF"/>
          </a:solidFill>
        </p:grpSpPr>
        <p:sp>
          <p:nvSpPr>
            <p:cNvPr id="12" name="Oval 11">
              <a:extLst>
                <a:ext uri="{FF2B5EF4-FFF2-40B4-BE49-F238E27FC236}">
                  <a16:creationId xmlns:a16="http://schemas.microsoft.com/office/drawing/2014/main" id="{C0B54270-E258-43A5-B394-6135C165892F}"/>
                </a:ext>
              </a:extLst>
            </p:cNvPr>
            <p:cNvSpPr/>
            <p:nvPr/>
          </p:nvSpPr>
          <p:spPr bwMode="gray">
            <a:xfrm>
              <a:off x="2330291" y="4825817"/>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3" name="Oval 12">
              <a:extLst>
                <a:ext uri="{FF2B5EF4-FFF2-40B4-BE49-F238E27FC236}">
                  <a16:creationId xmlns:a16="http://schemas.microsoft.com/office/drawing/2014/main" id="{CFC25ABE-4184-40A1-9ABD-7FBC480DA65F}"/>
                </a:ext>
              </a:extLst>
            </p:cNvPr>
            <p:cNvSpPr/>
            <p:nvPr/>
          </p:nvSpPr>
          <p:spPr bwMode="gray">
            <a:xfrm>
              <a:off x="2711439" y="4843642"/>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Oval 13">
              <a:extLst>
                <a:ext uri="{FF2B5EF4-FFF2-40B4-BE49-F238E27FC236}">
                  <a16:creationId xmlns:a16="http://schemas.microsoft.com/office/drawing/2014/main" id="{6DF5E586-1186-4AE9-A94D-91CBE2B5BF1A}"/>
                </a:ext>
              </a:extLst>
            </p:cNvPr>
            <p:cNvSpPr/>
            <p:nvPr/>
          </p:nvSpPr>
          <p:spPr bwMode="gray">
            <a:xfrm>
              <a:off x="3138598" y="4821786"/>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5" name="Oval 14">
              <a:extLst>
                <a:ext uri="{FF2B5EF4-FFF2-40B4-BE49-F238E27FC236}">
                  <a16:creationId xmlns:a16="http://schemas.microsoft.com/office/drawing/2014/main" id="{4F359BD3-B13E-4323-9C39-51559810851D}"/>
                </a:ext>
              </a:extLst>
            </p:cNvPr>
            <p:cNvSpPr/>
            <p:nvPr/>
          </p:nvSpPr>
          <p:spPr bwMode="gray">
            <a:xfrm>
              <a:off x="2938142" y="5024991"/>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6" name="Oval 15">
              <a:extLst>
                <a:ext uri="{FF2B5EF4-FFF2-40B4-BE49-F238E27FC236}">
                  <a16:creationId xmlns:a16="http://schemas.microsoft.com/office/drawing/2014/main" id="{1DA27839-0BFC-4CEF-A2D5-D61A36F14083}"/>
                </a:ext>
              </a:extLst>
            </p:cNvPr>
            <p:cNvSpPr/>
            <p:nvPr/>
          </p:nvSpPr>
          <p:spPr bwMode="gray">
            <a:xfrm>
              <a:off x="2554860" y="5126073"/>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7" name="TextBox 16">
            <a:extLst>
              <a:ext uri="{FF2B5EF4-FFF2-40B4-BE49-F238E27FC236}">
                <a16:creationId xmlns:a16="http://schemas.microsoft.com/office/drawing/2014/main" id="{5648A0E2-FCB8-4348-9BC3-8CC77E203013}"/>
              </a:ext>
            </a:extLst>
          </p:cNvPr>
          <p:cNvSpPr txBox="1"/>
          <p:nvPr/>
        </p:nvSpPr>
        <p:spPr>
          <a:xfrm>
            <a:off x="539998" y="2606514"/>
            <a:ext cx="711962" cy="538609"/>
          </a:xfrm>
          <a:prstGeom prst="rect">
            <a:avLst/>
          </a:prstGeom>
          <a:noFill/>
        </p:spPr>
        <p:txBody>
          <a:bodyPr vert="horz" wrap="square" lIns="0" tIns="0" rIns="0" bIns="0" rtlCol="0">
            <a:sp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Prioritize Use Cases, Enterprise and Domain Assets and Source Systems</a:t>
            </a:r>
          </a:p>
        </p:txBody>
      </p:sp>
      <p:grpSp>
        <p:nvGrpSpPr>
          <p:cNvPr id="18" name="Group 17">
            <a:extLst>
              <a:ext uri="{FF2B5EF4-FFF2-40B4-BE49-F238E27FC236}">
                <a16:creationId xmlns:a16="http://schemas.microsoft.com/office/drawing/2014/main" id="{2E42789A-23B1-40E4-90F6-1A0EA5C0DA65}"/>
              </a:ext>
            </a:extLst>
          </p:cNvPr>
          <p:cNvGrpSpPr/>
          <p:nvPr/>
        </p:nvGrpSpPr>
        <p:grpSpPr>
          <a:xfrm>
            <a:off x="2559896" y="2520820"/>
            <a:ext cx="375662" cy="230528"/>
            <a:chOff x="2554860" y="5024991"/>
            <a:chExt cx="847397" cy="568676"/>
          </a:xfrm>
          <a:solidFill>
            <a:srgbClr val="37C4FF"/>
          </a:solidFill>
        </p:grpSpPr>
        <p:sp>
          <p:nvSpPr>
            <p:cNvPr id="19" name="Oval 18">
              <a:extLst>
                <a:ext uri="{FF2B5EF4-FFF2-40B4-BE49-F238E27FC236}">
                  <a16:creationId xmlns:a16="http://schemas.microsoft.com/office/drawing/2014/main" id="{2EC3A768-83D4-4E1C-A537-61901AEFA97F}"/>
                </a:ext>
              </a:extLst>
            </p:cNvPr>
            <p:cNvSpPr/>
            <p:nvPr/>
          </p:nvSpPr>
          <p:spPr bwMode="gray">
            <a:xfrm>
              <a:off x="2938142" y="5024991"/>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0" name="Oval 19">
              <a:extLst>
                <a:ext uri="{FF2B5EF4-FFF2-40B4-BE49-F238E27FC236}">
                  <a16:creationId xmlns:a16="http://schemas.microsoft.com/office/drawing/2014/main" id="{39078F6A-D55E-4FBB-91EB-019444A2CDC7}"/>
                </a:ext>
              </a:extLst>
            </p:cNvPr>
            <p:cNvSpPr/>
            <p:nvPr/>
          </p:nvSpPr>
          <p:spPr bwMode="gray">
            <a:xfrm>
              <a:off x="2554860" y="5126073"/>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35" name="Chevron 4">
            <a:extLst>
              <a:ext uri="{FF2B5EF4-FFF2-40B4-BE49-F238E27FC236}">
                <a16:creationId xmlns:a16="http://schemas.microsoft.com/office/drawing/2014/main" id="{444EC672-7A8B-43A7-9926-8F326AA2652F}"/>
              </a:ext>
            </a:extLst>
          </p:cNvPr>
          <p:cNvSpPr/>
          <p:nvPr/>
        </p:nvSpPr>
        <p:spPr bwMode="gray">
          <a:xfrm>
            <a:off x="1214802" y="2305213"/>
            <a:ext cx="347444" cy="874777"/>
          </a:xfrm>
          <a:custGeom>
            <a:avLst/>
            <a:gdLst>
              <a:gd name="connsiteX0" fmla="*/ 0 w 1621331"/>
              <a:gd name="connsiteY0" fmla="*/ 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637775 w 1621331"/>
              <a:gd name="connsiteY5" fmla="*/ 637775 h 1275550"/>
              <a:gd name="connsiteX6" fmla="*/ 0 w 1621331"/>
              <a:gd name="connsiteY6" fmla="*/ 0 h 1275550"/>
              <a:gd name="connsiteX0" fmla="*/ 0 w 1621331"/>
              <a:gd name="connsiteY0" fmla="*/ 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421546 w 1621331"/>
              <a:gd name="connsiteY5" fmla="*/ 622407 h 1275550"/>
              <a:gd name="connsiteX6" fmla="*/ 0 w 1621331"/>
              <a:gd name="connsiteY6" fmla="*/ 0 h 1275550"/>
              <a:gd name="connsiteX0" fmla="*/ 72229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421546 w 1621331"/>
              <a:gd name="connsiteY5" fmla="*/ 622407 h 1275550"/>
              <a:gd name="connsiteX6" fmla="*/ 722299 w 1621331"/>
              <a:gd name="connsiteY6" fmla="*/ 38420 h 1275550"/>
              <a:gd name="connsiteX0" fmla="*/ 72229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244813 w 1621331"/>
              <a:gd name="connsiteY5" fmla="*/ 622407 h 1275550"/>
              <a:gd name="connsiteX6" fmla="*/ 722299 w 1621331"/>
              <a:gd name="connsiteY6" fmla="*/ 38420 h 1275550"/>
              <a:gd name="connsiteX0" fmla="*/ 60703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244813 w 1621331"/>
              <a:gd name="connsiteY5" fmla="*/ 622407 h 1275550"/>
              <a:gd name="connsiteX6" fmla="*/ 607039 w 1621331"/>
              <a:gd name="connsiteY6" fmla="*/ 38420 h 1275550"/>
              <a:gd name="connsiteX0" fmla="*/ 46105 w 1060397"/>
              <a:gd name="connsiteY0" fmla="*/ 38420 h 1290918"/>
              <a:gd name="connsiteX1" fmla="*/ 422622 w 1060397"/>
              <a:gd name="connsiteY1" fmla="*/ 0 h 1290918"/>
              <a:gd name="connsiteX2" fmla="*/ 1060397 w 1060397"/>
              <a:gd name="connsiteY2" fmla="*/ 637775 h 1290918"/>
              <a:gd name="connsiteX3" fmla="*/ 422622 w 1060397"/>
              <a:gd name="connsiteY3" fmla="*/ 1275550 h 1290918"/>
              <a:gd name="connsiteX4" fmla="*/ 0 w 1060397"/>
              <a:gd name="connsiteY4" fmla="*/ 1290918 h 1290918"/>
              <a:gd name="connsiteX5" fmla="*/ 683879 w 1060397"/>
              <a:gd name="connsiteY5" fmla="*/ 622407 h 1290918"/>
              <a:gd name="connsiteX6" fmla="*/ 46105 w 1060397"/>
              <a:gd name="connsiteY6" fmla="*/ 38420 h 1290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0397" h="1290918">
                <a:moveTo>
                  <a:pt x="46105" y="38420"/>
                </a:moveTo>
                <a:lnTo>
                  <a:pt x="422622" y="0"/>
                </a:lnTo>
                <a:lnTo>
                  <a:pt x="1060397" y="637775"/>
                </a:lnTo>
                <a:lnTo>
                  <a:pt x="422622" y="1275550"/>
                </a:lnTo>
                <a:lnTo>
                  <a:pt x="0" y="1290918"/>
                </a:lnTo>
                <a:lnTo>
                  <a:pt x="683879" y="622407"/>
                </a:lnTo>
                <a:lnTo>
                  <a:pt x="46105" y="38420"/>
                </a:lnTo>
                <a:close/>
              </a:path>
            </a:pathLst>
          </a:custGeom>
          <a:solidFill>
            <a:srgbClr val="37C4FF"/>
          </a:solidFill>
          <a:ln w="19050" algn="ctr">
            <a:noFill/>
            <a:miter lim="800000"/>
            <a:headEnd/>
            <a:tailEnd/>
          </a:ln>
        </p:spPr>
        <p:txBody>
          <a:bodyPr wrap="square" lIns="88900" tIns="88900" rIns="88900" bIns="88900" rtlCol="0" anchor="ctr"/>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6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6" name="TextBox 35">
            <a:extLst>
              <a:ext uri="{FF2B5EF4-FFF2-40B4-BE49-F238E27FC236}">
                <a16:creationId xmlns:a16="http://schemas.microsoft.com/office/drawing/2014/main" id="{93AEB54D-6E0F-4B8F-BDF4-F35AEC475CE6}"/>
              </a:ext>
            </a:extLst>
          </p:cNvPr>
          <p:cNvSpPr txBox="1"/>
          <p:nvPr/>
        </p:nvSpPr>
        <p:spPr>
          <a:xfrm>
            <a:off x="1555548" y="2365063"/>
            <a:ext cx="654908" cy="861774"/>
          </a:xfrm>
          <a:prstGeom prst="rect">
            <a:avLst/>
          </a:prstGeom>
          <a:noFill/>
        </p:spPr>
        <p:txBody>
          <a:bodyPr vert="horz" wrap="square" lIns="0" tIns="0" rIns="0" bIns="0" rtlCol="0">
            <a:sp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Incorporate dependencies and co-relationships between Enterprise and Domains Assets</a:t>
            </a:r>
          </a:p>
        </p:txBody>
      </p:sp>
      <p:sp>
        <p:nvSpPr>
          <p:cNvPr id="37" name="Chevron 4">
            <a:extLst>
              <a:ext uri="{FF2B5EF4-FFF2-40B4-BE49-F238E27FC236}">
                <a16:creationId xmlns:a16="http://schemas.microsoft.com/office/drawing/2014/main" id="{838B9DD6-54C8-492C-9C58-19BC53BA2A05}"/>
              </a:ext>
            </a:extLst>
          </p:cNvPr>
          <p:cNvSpPr/>
          <p:nvPr/>
        </p:nvSpPr>
        <p:spPr bwMode="gray">
          <a:xfrm>
            <a:off x="2166573" y="2305213"/>
            <a:ext cx="347472" cy="874777"/>
          </a:xfrm>
          <a:custGeom>
            <a:avLst/>
            <a:gdLst>
              <a:gd name="connsiteX0" fmla="*/ 0 w 1621331"/>
              <a:gd name="connsiteY0" fmla="*/ 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637775 w 1621331"/>
              <a:gd name="connsiteY5" fmla="*/ 637775 h 1275550"/>
              <a:gd name="connsiteX6" fmla="*/ 0 w 1621331"/>
              <a:gd name="connsiteY6" fmla="*/ 0 h 1275550"/>
              <a:gd name="connsiteX0" fmla="*/ 0 w 1621331"/>
              <a:gd name="connsiteY0" fmla="*/ 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421546 w 1621331"/>
              <a:gd name="connsiteY5" fmla="*/ 622407 h 1275550"/>
              <a:gd name="connsiteX6" fmla="*/ 0 w 1621331"/>
              <a:gd name="connsiteY6" fmla="*/ 0 h 1275550"/>
              <a:gd name="connsiteX0" fmla="*/ 72229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421546 w 1621331"/>
              <a:gd name="connsiteY5" fmla="*/ 622407 h 1275550"/>
              <a:gd name="connsiteX6" fmla="*/ 722299 w 1621331"/>
              <a:gd name="connsiteY6" fmla="*/ 38420 h 1275550"/>
              <a:gd name="connsiteX0" fmla="*/ 72229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244813 w 1621331"/>
              <a:gd name="connsiteY5" fmla="*/ 622407 h 1275550"/>
              <a:gd name="connsiteX6" fmla="*/ 722299 w 1621331"/>
              <a:gd name="connsiteY6" fmla="*/ 38420 h 1275550"/>
              <a:gd name="connsiteX0" fmla="*/ 60703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244813 w 1621331"/>
              <a:gd name="connsiteY5" fmla="*/ 622407 h 1275550"/>
              <a:gd name="connsiteX6" fmla="*/ 607039 w 1621331"/>
              <a:gd name="connsiteY6" fmla="*/ 38420 h 1275550"/>
              <a:gd name="connsiteX0" fmla="*/ 46105 w 1060397"/>
              <a:gd name="connsiteY0" fmla="*/ 38420 h 1290918"/>
              <a:gd name="connsiteX1" fmla="*/ 422622 w 1060397"/>
              <a:gd name="connsiteY1" fmla="*/ 0 h 1290918"/>
              <a:gd name="connsiteX2" fmla="*/ 1060397 w 1060397"/>
              <a:gd name="connsiteY2" fmla="*/ 637775 h 1290918"/>
              <a:gd name="connsiteX3" fmla="*/ 422622 w 1060397"/>
              <a:gd name="connsiteY3" fmla="*/ 1275550 h 1290918"/>
              <a:gd name="connsiteX4" fmla="*/ 0 w 1060397"/>
              <a:gd name="connsiteY4" fmla="*/ 1290918 h 1290918"/>
              <a:gd name="connsiteX5" fmla="*/ 683879 w 1060397"/>
              <a:gd name="connsiteY5" fmla="*/ 622407 h 1290918"/>
              <a:gd name="connsiteX6" fmla="*/ 46105 w 1060397"/>
              <a:gd name="connsiteY6" fmla="*/ 38420 h 1290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0397" h="1290918">
                <a:moveTo>
                  <a:pt x="46105" y="38420"/>
                </a:moveTo>
                <a:lnTo>
                  <a:pt x="422622" y="0"/>
                </a:lnTo>
                <a:lnTo>
                  <a:pt x="1060397" y="637775"/>
                </a:lnTo>
                <a:lnTo>
                  <a:pt x="422622" y="1275550"/>
                </a:lnTo>
                <a:lnTo>
                  <a:pt x="0" y="1290918"/>
                </a:lnTo>
                <a:lnTo>
                  <a:pt x="683879" y="622407"/>
                </a:lnTo>
                <a:lnTo>
                  <a:pt x="46105" y="38420"/>
                </a:lnTo>
                <a:close/>
              </a:path>
            </a:pathLst>
          </a:custGeom>
          <a:solidFill>
            <a:srgbClr val="37C4FF"/>
          </a:solidFill>
          <a:ln w="19050" algn="ctr">
            <a:noFill/>
            <a:miter lim="800000"/>
            <a:headEnd/>
            <a:tailEnd/>
          </a:ln>
        </p:spPr>
        <p:txBody>
          <a:bodyPr wrap="square" lIns="88900" tIns="88900" rIns="88900" bIns="88900" rtlCol="0" anchor="ctr"/>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6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2" name="TextBox 51">
            <a:extLst>
              <a:ext uri="{FF2B5EF4-FFF2-40B4-BE49-F238E27FC236}">
                <a16:creationId xmlns:a16="http://schemas.microsoft.com/office/drawing/2014/main" id="{2CB05AC4-7D48-4D68-9B25-93C02D2BFD14}"/>
              </a:ext>
            </a:extLst>
          </p:cNvPr>
          <p:cNvSpPr txBox="1"/>
          <p:nvPr/>
        </p:nvSpPr>
        <p:spPr>
          <a:xfrm>
            <a:off x="2466863" y="2761865"/>
            <a:ext cx="654908" cy="754053"/>
          </a:xfrm>
          <a:prstGeom prst="rect">
            <a:avLst/>
          </a:prstGeom>
          <a:noFill/>
        </p:spPr>
        <p:txBody>
          <a:bodyPr vert="horz" wrap="square" lIns="0" tIns="0" rIns="0" bIns="0" rtlCol="0">
            <a:sp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Modernization assessment, Roadmap and plan, Validate use case and data domain tranches</a:t>
            </a:r>
          </a:p>
        </p:txBody>
      </p:sp>
      <p:grpSp>
        <p:nvGrpSpPr>
          <p:cNvPr id="124" name="Group 123">
            <a:extLst>
              <a:ext uri="{FF2B5EF4-FFF2-40B4-BE49-F238E27FC236}">
                <a16:creationId xmlns:a16="http://schemas.microsoft.com/office/drawing/2014/main" id="{A14354B3-BBAB-47E9-9C56-322C4698DCB5}"/>
              </a:ext>
            </a:extLst>
          </p:cNvPr>
          <p:cNvGrpSpPr/>
          <p:nvPr/>
        </p:nvGrpSpPr>
        <p:grpSpPr>
          <a:xfrm>
            <a:off x="2463139" y="3997787"/>
            <a:ext cx="640080" cy="704126"/>
            <a:chOff x="2463139" y="3808377"/>
            <a:chExt cx="640080" cy="704126"/>
          </a:xfrm>
        </p:grpSpPr>
        <p:sp>
          <p:nvSpPr>
            <p:cNvPr id="55" name="TextBox 54">
              <a:extLst>
                <a:ext uri="{FF2B5EF4-FFF2-40B4-BE49-F238E27FC236}">
                  <a16:creationId xmlns:a16="http://schemas.microsoft.com/office/drawing/2014/main" id="{257BD6C3-D8A6-4233-BF90-9B7011CB169F}"/>
                </a:ext>
              </a:extLst>
            </p:cNvPr>
            <p:cNvSpPr txBox="1"/>
            <p:nvPr/>
          </p:nvSpPr>
          <p:spPr>
            <a:xfrm>
              <a:off x="2489059" y="4297059"/>
              <a:ext cx="588240" cy="215444"/>
            </a:xfrm>
            <a:prstGeom prst="rect">
              <a:avLst/>
            </a:prstGeom>
            <a:noFill/>
          </p:spPr>
          <p:txBody>
            <a:bodyPr vert="horz" wrap="square" lIns="0" tIns="0" rIns="0" bIns="0" rtlCol="0">
              <a:sp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Future State Architecture</a:t>
              </a:r>
            </a:p>
          </p:txBody>
        </p:sp>
        <p:pic>
          <p:nvPicPr>
            <p:cNvPr id="56" name="Picture 55">
              <a:extLst>
                <a:ext uri="{FF2B5EF4-FFF2-40B4-BE49-F238E27FC236}">
                  <a16:creationId xmlns:a16="http://schemas.microsoft.com/office/drawing/2014/main" id="{633B1C35-40F7-48AE-BF13-16C09D75FB53}"/>
                </a:ext>
              </a:extLst>
            </p:cNvPr>
            <p:cNvPicPr>
              <a:picLocks noChangeAspect="1"/>
            </p:cNvPicPr>
            <p:nvPr/>
          </p:nvPicPr>
          <p:blipFill>
            <a:blip r:embed="rId2"/>
            <a:stretch>
              <a:fillRect/>
            </a:stretch>
          </p:blipFill>
          <p:spPr>
            <a:xfrm>
              <a:off x="2463139" y="3808377"/>
              <a:ext cx="640080" cy="425876"/>
            </a:xfrm>
            <a:prstGeom prst="rect">
              <a:avLst/>
            </a:prstGeom>
          </p:spPr>
        </p:pic>
      </p:grpSp>
      <p:grpSp>
        <p:nvGrpSpPr>
          <p:cNvPr id="123" name="Group 122">
            <a:extLst>
              <a:ext uri="{FF2B5EF4-FFF2-40B4-BE49-F238E27FC236}">
                <a16:creationId xmlns:a16="http://schemas.microsoft.com/office/drawing/2014/main" id="{A44D3118-84AA-4F23-87B9-E6ED8212EC8B}"/>
              </a:ext>
            </a:extLst>
          </p:cNvPr>
          <p:cNvGrpSpPr/>
          <p:nvPr/>
        </p:nvGrpSpPr>
        <p:grpSpPr>
          <a:xfrm>
            <a:off x="500745" y="3996814"/>
            <a:ext cx="574918" cy="706072"/>
            <a:chOff x="500745" y="3788143"/>
            <a:chExt cx="612992" cy="706072"/>
          </a:xfrm>
        </p:grpSpPr>
        <p:sp>
          <p:nvSpPr>
            <p:cNvPr id="54" name="TextBox 53">
              <a:extLst>
                <a:ext uri="{FF2B5EF4-FFF2-40B4-BE49-F238E27FC236}">
                  <a16:creationId xmlns:a16="http://schemas.microsoft.com/office/drawing/2014/main" id="{1367F231-A80A-41C8-9F85-CEEB39C9BD88}"/>
                </a:ext>
              </a:extLst>
            </p:cNvPr>
            <p:cNvSpPr txBox="1"/>
            <p:nvPr/>
          </p:nvSpPr>
          <p:spPr>
            <a:xfrm>
              <a:off x="530176" y="4278771"/>
              <a:ext cx="554130" cy="215444"/>
            </a:xfrm>
            <a:prstGeom prst="rect">
              <a:avLst/>
            </a:prstGeom>
            <a:noFill/>
          </p:spPr>
          <p:txBody>
            <a:bodyPr vert="horz" wrap="square" lIns="0" tIns="0" rIns="0" bIns="0" rtlCol="0">
              <a:sp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Current State Architecture</a:t>
              </a:r>
            </a:p>
          </p:txBody>
        </p:sp>
        <p:pic>
          <p:nvPicPr>
            <p:cNvPr id="57" name="Picture 56">
              <a:extLst>
                <a:ext uri="{FF2B5EF4-FFF2-40B4-BE49-F238E27FC236}">
                  <a16:creationId xmlns:a16="http://schemas.microsoft.com/office/drawing/2014/main" id="{D438E637-668D-4CA1-A1CD-99C27A488B25}"/>
                </a:ext>
              </a:extLst>
            </p:cNvPr>
            <p:cNvPicPr>
              <a:picLocks/>
            </p:cNvPicPr>
            <p:nvPr/>
          </p:nvPicPr>
          <p:blipFill>
            <a:blip r:embed="rId3"/>
            <a:stretch>
              <a:fillRect/>
            </a:stretch>
          </p:blipFill>
          <p:spPr>
            <a:xfrm>
              <a:off x="500745" y="3788143"/>
              <a:ext cx="612992" cy="429768"/>
            </a:xfrm>
            <a:prstGeom prst="rect">
              <a:avLst/>
            </a:prstGeom>
          </p:spPr>
        </p:pic>
      </p:grpSp>
      <p:sp>
        <p:nvSpPr>
          <p:cNvPr id="63" name="Chevron 4">
            <a:extLst>
              <a:ext uri="{FF2B5EF4-FFF2-40B4-BE49-F238E27FC236}">
                <a16:creationId xmlns:a16="http://schemas.microsoft.com/office/drawing/2014/main" id="{D8B59CC5-5BCC-4E83-9AF1-CA882F04820E}"/>
              </a:ext>
            </a:extLst>
          </p:cNvPr>
          <p:cNvSpPr/>
          <p:nvPr/>
        </p:nvSpPr>
        <p:spPr bwMode="gray">
          <a:xfrm>
            <a:off x="2110295" y="3912462"/>
            <a:ext cx="347472" cy="874777"/>
          </a:xfrm>
          <a:custGeom>
            <a:avLst/>
            <a:gdLst>
              <a:gd name="connsiteX0" fmla="*/ 0 w 1621331"/>
              <a:gd name="connsiteY0" fmla="*/ 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637775 w 1621331"/>
              <a:gd name="connsiteY5" fmla="*/ 637775 h 1275550"/>
              <a:gd name="connsiteX6" fmla="*/ 0 w 1621331"/>
              <a:gd name="connsiteY6" fmla="*/ 0 h 1275550"/>
              <a:gd name="connsiteX0" fmla="*/ 0 w 1621331"/>
              <a:gd name="connsiteY0" fmla="*/ 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421546 w 1621331"/>
              <a:gd name="connsiteY5" fmla="*/ 622407 h 1275550"/>
              <a:gd name="connsiteX6" fmla="*/ 0 w 1621331"/>
              <a:gd name="connsiteY6" fmla="*/ 0 h 1275550"/>
              <a:gd name="connsiteX0" fmla="*/ 72229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421546 w 1621331"/>
              <a:gd name="connsiteY5" fmla="*/ 622407 h 1275550"/>
              <a:gd name="connsiteX6" fmla="*/ 722299 w 1621331"/>
              <a:gd name="connsiteY6" fmla="*/ 38420 h 1275550"/>
              <a:gd name="connsiteX0" fmla="*/ 72229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244813 w 1621331"/>
              <a:gd name="connsiteY5" fmla="*/ 622407 h 1275550"/>
              <a:gd name="connsiteX6" fmla="*/ 722299 w 1621331"/>
              <a:gd name="connsiteY6" fmla="*/ 38420 h 1275550"/>
              <a:gd name="connsiteX0" fmla="*/ 607039 w 1621331"/>
              <a:gd name="connsiteY0" fmla="*/ 38420 h 1275550"/>
              <a:gd name="connsiteX1" fmla="*/ 983556 w 1621331"/>
              <a:gd name="connsiteY1" fmla="*/ 0 h 1275550"/>
              <a:gd name="connsiteX2" fmla="*/ 1621331 w 1621331"/>
              <a:gd name="connsiteY2" fmla="*/ 637775 h 1275550"/>
              <a:gd name="connsiteX3" fmla="*/ 983556 w 1621331"/>
              <a:gd name="connsiteY3" fmla="*/ 1275550 h 1275550"/>
              <a:gd name="connsiteX4" fmla="*/ 0 w 1621331"/>
              <a:gd name="connsiteY4" fmla="*/ 1275550 h 1275550"/>
              <a:gd name="connsiteX5" fmla="*/ 1244813 w 1621331"/>
              <a:gd name="connsiteY5" fmla="*/ 622407 h 1275550"/>
              <a:gd name="connsiteX6" fmla="*/ 607039 w 1621331"/>
              <a:gd name="connsiteY6" fmla="*/ 38420 h 1275550"/>
              <a:gd name="connsiteX0" fmla="*/ 46105 w 1060397"/>
              <a:gd name="connsiteY0" fmla="*/ 38420 h 1290918"/>
              <a:gd name="connsiteX1" fmla="*/ 422622 w 1060397"/>
              <a:gd name="connsiteY1" fmla="*/ 0 h 1290918"/>
              <a:gd name="connsiteX2" fmla="*/ 1060397 w 1060397"/>
              <a:gd name="connsiteY2" fmla="*/ 637775 h 1290918"/>
              <a:gd name="connsiteX3" fmla="*/ 422622 w 1060397"/>
              <a:gd name="connsiteY3" fmla="*/ 1275550 h 1290918"/>
              <a:gd name="connsiteX4" fmla="*/ 0 w 1060397"/>
              <a:gd name="connsiteY4" fmla="*/ 1290918 h 1290918"/>
              <a:gd name="connsiteX5" fmla="*/ 683879 w 1060397"/>
              <a:gd name="connsiteY5" fmla="*/ 622407 h 1290918"/>
              <a:gd name="connsiteX6" fmla="*/ 46105 w 1060397"/>
              <a:gd name="connsiteY6" fmla="*/ 38420 h 1290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0397" h="1290918">
                <a:moveTo>
                  <a:pt x="46105" y="38420"/>
                </a:moveTo>
                <a:lnTo>
                  <a:pt x="422622" y="0"/>
                </a:lnTo>
                <a:lnTo>
                  <a:pt x="1060397" y="637775"/>
                </a:lnTo>
                <a:lnTo>
                  <a:pt x="422622" y="1275550"/>
                </a:lnTo>
                <a:lnTo>
                  <a:pt x="0" y="1290918"/>
                </a:lnTo>
                <a:lnTo>
                  <a:pt x="683879" y="622407"/>
                </a:lnTo>
                <a:lnTo>
                  <a:pt x="46105" y="38420"/>
                </a:lnTo>
                <a:close/>
              </a:path>
            </a:pathLst>
          </a:custGeom>
          <a:solidFill>
            <a:srgbClr val="37C4FF"/>
          </a:solidFill>
          <a:ln w="19050" algn="ctr">
            <a:noFill/>
            <a:miter lim="800000"/>
            <a:headEnd/>
            <a:tailEnd/>
          </a:ln>
        </p:spPr>
        <p:txBody>
          <a:bodyPr wrap="square" lIns="88900" tIns="88900" rIns="88900" bIns="88900" rtlCol="0" anchor="ctr"/>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6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4" name="Rectangle 73">
            <a:extLst>
              <a:ext uri="{FF2B5EF4-FFF2-40B4-BE49-F238E27FC236}">
                <a16:creationId xmlns:a16="http://schemas.microsoft.com/office/drawing/2014/main" id="{A39DF7E9-9DE7-46A4-87C6-E6612027B37F}"/>
              </a:ext>
            </a:extLst>
          </p:cNvPr>
          <p:cNvSpPr/>
          <p:nvPr/>
        </p:nvSpPr>
        <p:spPr bwMode="gray">
          <a:xfrm>
            <a:off x="873290" y="1613328"/>
            <a:ext cx="2281267" cy="365760"/>
          </a:xfrm>
          <a:prstGeom prst="rect">
            <a:avLst/>
          </a:prstGeom>
          <a:solidFill>
            <a:schemeClr val="bg1">
              <a:lumMod val="8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Modernization Design &amp; Plan</a:t>
            </a:r>
          </a:p>
        </p:txBody>
      </p:sp>
      <p:sp>
        <p:nvSpPr>
          <p:cNvPr id="75" name="Rectangle 74">
            <a:extLst>
              <a:ext uri="{FF2B5EF4-FFF2-40B4-BE49-F238E27FC236}">
                <a16:creationId xmlns:a16="http://schemas.microsoft.com/office/drawing/2014/main" id="{9E8278C0-B195-4B33-B89B-EB04CB32F4E3}"/>
              </a:ext>
            </a:extLst>
          </p:cNvPr>
          <p:cNvSpPr/>
          <p:nvPr/>
        </p:nvSpPr>
        <p:spPr bwMode="gray">
          <a:xfrm>
            <a:off x="461811" y="1613328"/>
            <a:ext cx="411480" cy="365760"/>
          </a:xfrm>
          <a:prstGeom prst="rect">
            <a:avLst/>
          </a:prstGeom>
          <a:solidFill>
            <a:srgbClr val="37C4FF"/>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1a</a:t>
            </a:r>
            <a:endParaRPr kumimoji="0" lang="en-US" sz="10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127" name="Group 126">
            <a:extLst>
              <a:ext uri="{FF2B5EF4-FFF2-40B4-BE49-F238E27FC236}">
                <a16:creationId xmlns:a16="http://schemas.microsoft.com/office/drawing/2014/main" id="{1799620D-061A-4B3B-8FFD-05605F2DC379}"/>
              </a:ext>
            </a:extLst>
          </p:cNvPr>
          <p:cNvGrpSpPr/>
          <p:nvPr/>
        </p:nvGrpSpPr>
        <p:grpSpPr>
          <a:xfrm>
            <a:off x="1075856" y="3551917"/>
            <a:ext cx="1044069" cy="1581103"/>
            <a:chOff x="1166387" y="3582470"/>
            <a:chExt cx="909126" cy="1335981"/>
          </a:xfrm>
          <a:solidFill>
            <a:srgbClr val="37C4FF"/>
          </a:solidFill>
        </p:grpSpPr>
        <p:sp>
          <p:nvSpPr>
            <p:cNvPr id="58" name="Rectangle 57">
              <a:extLst>
                <a:ext uri="{FF2B5EF4-FFF2-40B4-BE49-F238E27FC236}">
                  <a16:creationId xmlns:a16="http://schemas.microsoft.com/office/drawing/2014/main" id="{BD765CAE-0961-46D7-ADAA-4290802FDBCD}"/>
                </a:ext>
              </a:extLst>
            </p:cNvPr>
            <p:cNvSpPr/>
            <p:nvPr/>
          </p:nvSpPr>
          <p:spPr bwMode="gray">
            <a:xfrm>
              <a:off x="1166388" y="3582470"/>
              <a:ext cx="909125" cy="193196"/>
            </a:xfrm>
            <a:prstGeom prst="rect">
              <a:avLst/>
            </a:prstGeom>
            <a:grpFill/>
            <a:ln w="19050" algn="ctr">
              <a:noFill/>
              <a:miter lim="800000"/>
              <a:headEnd/>
              <a:tailEnd/>
            </a:ln>
          </p:spPr>
          <p:txBody>
            <a:bodyPr wrap="square" lIns="18288" tIns="18288" rIns="18288" bIns="18288" rtlCol="0" anchor="ctr"/>
            <a:lstStyle/>
            <a:p>
              <a:pPr marL="0" marR="0" lvl="0" indent="0" algn="l" defTabSz="1219170" rtl="0" eaLnBrk="1" fontAlgn="auto" latinLnBrk="0" hangingPunct="1">
                <a:lnSpc>
                  <a:spcPct val="106000"/>
                </a:lnSpc>
                <a:spcBef>
                  <a:spcPts val="0"/>
                </a:spcBef>
                <a:spcAft>
                  <a:spcPts val="0"/>
                </a:spcAft>
                <a:buClrTx/>
                <a:buSzTx/>
                <a:buFontTx/>
                <a:buNone/>
                <a:tabLst/>
                <a:defRPr/>
              </a:pPr>
              <a:r>
                <a:rPr kumimoji="0" lang="en-US" sz="600" b="1" i="0" u="none" strike="noStrike" kern="1200" cap="none" spc="0" normalizeH="0" baseline="0" noProof="0" dirty="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Technology blueprinting</a:t>
              </a:r>
            </a:p>
          </p:txBody>
        </p:sp>
        <p:sp>
          <p:nvSpPr>
            <p:cNvPr id="59" name="Rectangle 58">
              <a:extLst>
                <a:ext uri="{FF2B5EF4-FFF2-40B4-BE49-F238E27FC236}">
                  <a16:creationId xmlns:a16="http://schemas.microsoft.com/office/drawing/2014/main" id="{C0254FDA-8543-452C-B688-8DF6296B2C03}"/>
                </a:ext>
              </a:extLst>
            </p:cNvPr>
            <p:cNvSpPr/>
            <p:nvPr/>
          </p:nvSpPr>
          <p:spPr bwMode="gray">
            <a:xfrm>
              <a:off x="1166387" y="3811027"/>
              <a:ext cx="909126" cy="193196"/>
            </a:xfrm>
            <a:prstGeom prst="rect">
              <a:avLst/>
            </a:prstGeom>
            <a:grpFill/>
            <a:ln w="19050" algn="ctr">
              <a:noFill/>
              <a:miter lim="800000"/>
              <a:headEnd/>
              <a:tailEnd/>
            </a:ln>
          </p:spPr>
          <p:txBody>
            <a:bodyPr wrap="square" lIns="18288" tIns="18288" rIns="18288" bIns="18288" rtlCol="0" anchor="ctr"/>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Technology tooling options</a:t>
              </a:r>
            </a:p>
          </p:txBody>
        </p:sp>
        <p:sp>
          <p:nvSpPr>
            <p:cNvPr id="60" name="Rectangle 59">
              <a:extLst>
                <a:ext uri="{FF2B5EF4-FFF2-40B4-BE49-F238E27FC236}">
                  <a16:creationId xmlns:a16="http://schemas.microsoft.com/office/drawing/2014/main" id="{545267C0-6DF2-43BC-82C5-E75E859B62B2}"/>
                </a:ext>
              </a:extLst>
            </p:cNvPr>
            <p:cNvSpPr/>
            <p:nvPr/>
          </p:nvSpPr>
          <p:spPr bwMode="gray">
            <a:xfrm>
              <a:off x="1166387" y="4039585"/>
              <a:ext cx="909126" cy="193196"/>
            </a:xfrm>
            <a:prstGeom prst="rect">
              <a:avLst/>
            </a:prstGeom>
            <a:grpFill/>
            <a:ln w="19050" algn="ctr">
              <a:noFill/>
              <a:miter lim="800000"/>
              <a:headEnd/>
              <a:tailEnd/>
            </a:ln>
          </p:spPr>
          <p:txBody>
            <a:bodyPr wrap="square" lIns="18288" tIns="18288" rIns="18288" bIns="18288" rtlCol="0" anchor="ctr"/>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Upstream &amp; downstream capabilities</a:t>
              </a:r>
            </a:p>
          </p:txBody>
        </p:sp>
        <p:sp>
          <p:nvSpPr>
            <p:cNvPr id="61" name="Rectangle 60">
              <a:extLst>
                <a:ext uri="{FF2B5EF4-FFF2-40B4-BE49-F238E27FC236}">
                  <a16:creationId xmlns:a16="http://schemas.microsoft.com/office/drawing/2014/main" id="{DAEB5C4B-E260-4BE6-89BB-95F8B871AFE0}"/>
                </a:ext>
              </a:extLst>
            </p:cNvPr>
            <p:cNvSpPr/>
            <p:nvPr/>
          </p:nvSpPr>
          <p:spPr bwMode="gray">
            <a:xfrm>
              <a:off x="1166388" y="4268142"/>
              <a:ext cx="909125" cy="193196"/>
            </a:xfrm>
            <a:prstGeom prst="rect">
              <a:avLst/>
            </a:prstGeom>
            <a:grpFill/>
            <a:ln w="19050" algn="ctr">
              <a:noFill/>
              <a:miter lim="800000"/>
              <a:headEnd/>
              <a:tailEnd/>
            </a:ln>
          </p:spPr>
          <p:txBody>
            <a:bodyPr wrap="square" lIns="18288" tIns="18288" rIns="18288" bIns="18288" rtlCol="0" anchor="ctr"/>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Automation framework</a:t>
              </a:r>
            </a:p>
          </p:txBody>
        </p:sp>
        <p:sp>
          <p:nvSpPr>
            <p:cNvPr id="62" name="Rectangle 61">
              <a:extLst>
                <a:ext uri="{FF2B5EF4-FFF2-40B4-BE49-F238E27FC236}">
                  <a16:creationId xmlns:a16="http://schemas.microsoft.com/office/drawing/2014/main" id="{C188B088-8322-4A3D-B425-8B2A9A82885F}"/>
                </a:ext>
              </a:extLst>
            </p:cNvPr>
            <p:cNvSpPr/>
            <p:nvPr/>
          </p:nvSpPr>
          <p:spPr bwMode="gray">
            <a:xfrm>
              <a:off x="1166388" y="4496699"/>
              <a:ext cx="900834" cy="193196"/>
            </a:xfrm>
            <a:prstGeom prst="rect">
              <a:avLst/>
            </a:prstGeom>
            <a:grpFill/>
            <a:ln w="19050" algn="ctr">
              <a:noFill/>
              <a:miter lim="800000"/>
              <a:headEnd/>
              <a:tailEnd/>
            </a:ln>
          </p:spPr>
          <p:txBody>
            <a:bodyPr wrap="square" lIns="18288" tIns="18288" rIns="18288" bIns="18288" rtlCol="0" anchor="ctr"/>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Data Mgmt. &amp; Security</a:t>
              </a:r>
            </a:p>
          </p:txBody>
        </p:sp>
        <p:sp>
          <p:nvSpPr>
            <p:cNvPr id="116" name="Rectangle 115">
              <a:extLst>
                <a:ext uri="{FF2B5EF4-FFF2-40B4-BE49-F238E27FC236}">
                  <a16:creationId xmlns:a16="http://schemas.microsoft.com/office/drawing/2014/main" id="{97C1E4E7-F490-4A7B-8E68-C1740E370ED3}"/>
                </a:ext>
              </a:extLst>
            </p:cNvPr>
            <p:cNvSpPr/>
            <p:nvPr/>
          </p:nvSpPr>
          <p:spPr bwMode="gray">
            <a:xfrm>
              <a:off x="1166388" y="4725255"/>
              <a:ext cx="900834" cy="193196"/>
            </a:xfrm>
            <a:prstGeom prst="rect">
              <a:avLst/>
            </a:prstGeom>
            <a:grpFill/>
            <a:ln w="19050" algn="ctr">
              <a:noFill/>
              <a:miter lim="800000"/>
              <a:headEnd/>
              <a:tailEnd/>
            </a:ln>
          </p:spPr>
          <p:txBody>
            <a:bodyPr wrap="square" lIns="18288" tIns="18288" rIns="18288" bIns="18288" rtlCol="0" anchor="ctr"/>
            <a:lstStyle/>
            <a:p>
              <a:pPr marL="0" marR="0" lvl="0" indent="0" algn="l" defTabSz="1219170" rtl="0" eaLnBrk="1" fontAlgn="auto" latinLnBrk="0" hangingPunct="1">
                <a:lnSpc>
                  <a:spcPct val="106000"/>
                </a:lnSpc>
                <a:spcBef>
                  <a:spcPts val="0"/>
                </a:spcBef>
                <a:spcAft>
                  <a:spcPts val="0"/>
                </a:spcAft>
                <a:buClrTx/>
                <a:buSzTx/>
                <a:buFontTx/>
                <a:buNone/>
                <a:tabLst/>
                <a:defRPr/>
              </a:pPr>
              <a:r>
                <a:rPr kumimoji="0" lang="en-US" sz="600" b="1" i="0" u="none" strike="noStrike" kern="1200" cap="none" spc="0" normalizeH="0" baseline="0" noProof="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Governance &amp; Security</a:t>
              </a:r>
            </a:p>
          </p:txBody>
        </p:sp>
      </p:grpSp>
      <p:grpSp>
        <p:nvGrpSpPr>
          <p:cNvPr id="117" name="Group 116">
            <a:extLst>
              <a:ext uri="{FF2B5EF4-FFF2-40B4-BE49-F238E27FC236}">
                <a16:creationId xmlns:a16="http://schemas.microsoft.com/office/drawing/2014/main" id="{50245D7A-2139-4787-A44C-18CF0ECD042C}"/>
              </a:ext>
            </a:extLst>
          </p:cNvPr>
          <p:cNvGrpSpPr>
            <a:grpSpLocks noChangeAspect="1"/>
          </p:cNvGrpSpPr>
          <p:nvPr/>
        </p:nvGrpSpPr>
        <p:grpSpPr>
          <a:xfrm>
            <a:off x="8883929" y="3640615"/>
            <a:ext cx="137160" cy="137160"/>
            <a:chOff x="3543866" y="2922772"/>
            <a:chExt cx="308608" cy="308608"/>
          </a:xfrm>
        </p:grpSpPr>
        <p:sp>
          <p:nvSpPr>
            <p:cNvPr id="118" name="Arc 117">
              <a:extLst>
                <a:ext uri="{FF2B5EF4-FFF2-40B4-BE49-F238E27FC236}">
                  <a16:creationId xmlns:a16="http://schemas.microsoft.com/office/drawing/2014/main" id="{9E057F0D-237E-4CF5-8BFF-1DDBBB60A51F}"/>
                </a:ext>
              </a:extLst>
            </p:cNvPr>
            <p:cNvSpPr/>
            <p:nvPr/>
          </p:nvSpPr>
          <p:spPr>
            <a:xfrm>
              <a:off x="3543866" y="2922772"/>
              <a:ext cx="308608" cy="308608"/>
            </a:xfrm>
            <a:prstGeom prst="arc">
              <a:avLst>
                <a:gd name="adj1" fmla="val 17580675"/>
                <a:gd name="adj2" fmla="val 14727569"/>
              </a:avLst>
            </a:prstGeom>
            <a:noFill/>
            <a:ln w="12700" cap="flat" cmpd="sng" algn="ctr">
              <a:solidFill>
                <a:srgbClr val="01216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9" name="Arc 118">
              <a:extLst>
                <a:ext uri="{FF2B5EF4-FFF2-40B4-BE49-F238E27FC236}">
                  <a16:creationId xmlns:a16="http://schemas.microsoft.com/office/drawing/2014/main" id="{02CDCDF5-60BF-44ED-89B7-64F3E7D210F0}"/>
                </a:ext>
              </a:extLst>
            </p:cNvPr>
            <p:cNvSpPr/>
            <p:nvPr/>
          </p:nvSpPr>
          <p:spPr>
            <a:xfrm>
              <a:off x="3570345" y="2949251"/>
              <a:ext cx="255650" cy="255650"/>
            </a:xfrm>
            <a:prstGeom prst="arc">
              <a:avLst>
                <a:gd name="adj1" fmla="val 18638933"/>
                <a:gd name="adj2" fmla="val 17228096"/>
              </a:avLst>
            </a:prstGeom>
            <a:noFill/>
            <a:ln w="12700" cap="flat" cmpd="sng" algn="ctr">
              <a:solidFill>
                <a:srgbClr val="0097A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20" name="Group 119">
            <a:extLst>
              <a:ext uri="{FF2B5EF4-FFF2-40B4-BE49-F238E27FC236}">
                <a16:creationId xmlns:a16="http://schemas.microsoft.com/office/drawing/2014/main" id="{F1DBF687-600E-413F-A966-51ED9017EE3D}"/>
              </a:ext>
            </a:extLst>
          </p:cNvPr>
          <p:cNvGrpSpPr>
            <a:grpSpLocks noChangeAspect="1"/>
          </p:cNvGrpSpPr>
          <p:nvPr/>
        </p:nvGrpSpPr>
        <p:grpSpPr>
          <a:xfrm>
            <a:off x="8883929" y="4744847"/>
            <a:ext cx="137160" cy="137160"/>
            <a:chOff x="3543866" y="2922772"/>
            <a:chExt cx="308608" cy="308608"/>
          </a:xfrm>
        </p:grpSpPr>
        <p:sp>
          <p:nvSpPr>
            <p:cNvPr id="121" name="Arc 120">
              <a:extLst>
                <a:ext uri="{FF2B5EF4-FFF2-40B4-BE49-F238E27FC236}">
                  <a16:creationId xmlns:a16="http://schemas.microsoft.com/office/drawing/2014/main" id="{25513E58-9F1E-407A-ADF4-95E61024C5C9}"/>
                </a:ext>
              </a:extLst>
            </p:cNvPr>
            <p:cNvSpPr/>
            <p:nvPr/>
          </p:nvSpPr>
          <p:spPr>
            <a:xfrm>
              <a:off x="3543866" y="2922772"/>
              <a:ext cx="308608" cy="308608"/>
            </a:xfrm>
            <a:prstGeom prst="arc">
              <a:avLst>
                <a:gd name="adj1" fmla="val 17580675"/>
                <a:gd name="adj2" fmla="val 14727569"/>
              </a:avLst>
            </a:prstGeom>
            <a:noFill/>
            <a:ln w="12700" cap="flat" cmpd="sng" algn="ctr">
              <a:solidFill>
                <a:srgbClr val="01216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2" name="Arc 121">
              <a:extLst>
                <a:ext uri="{FF2B5EF4-FFF2-40B4-BE49-F238E27FC236}">
                  <a16:creationId xmlns:a16="http://schemas.microsoft.com/office/drawing/2014/main" id="{63F7B4E2-2E7D-41C4-9175-F8E8BC7C683D}"/>
                </a:ext>
              </a:extLst>
            </p:cNvPr>
            <p:cNvSpPr/>
            <p:nvPr/>
          </p:nvSpPr>
          <p:spPr>
            <a:xfrm>
              <a:off x="3570345" y="2949251"/>
              <a:ext cx="255650" cy="255650"/>
            </a:xfrm>
            <a:prstGeom prst="arc">
              <a:avLst>
                <a:gd name="adj1" fmla="val 18638933"/>
                <a:gd name="adj2" fmla="val 17228096"/>
              </a:avLst>
            </a:prstGeom>
            <a:noFill/>
            <a:ln w="12700" cap="flat" cmpd="sng" algn="ctr">
              <a:solidFill>
                <a:srgbClr val="0097A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28" name="Rectangle 127">
            <a:extLst>
              <a:ext uri="{FF2B5EF4-FFF2-40B4-BE49-F238E27FC236}">
                <a16:creationId xmlns:a16="http://schemas.microsoft.com/office/drawing/2014/main" id="{C4276072-465C-4E7E-94E8-446BD7C2157A}"/>
              </a:ext>
            </a:extLst>
          </p:cNvPr>
          <p:cNvSpPr/>
          <p:nvPr/>
        </p:nvSpPr>
        <p:spPr bwMode="gray">
          <a:xfrm>
            <a:off x="6167898" y="1613328"/>
            <a:ext cx="412010" cy="365760"/>
          </a:xfrm>
          <a:prstGeom prst="rect">
            <a:avLst/>
          </a:prstGeom>
          <a:solidFill>
            <a:srgbClr val="37C4FF"/>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2</a:t>
            </a:r>
            <a:endParaRPr kumimoji="0" lang="en-US" sz="105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36007180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EC26F-481A-44A2-8694-CC53DE869B0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BF15FF1-D183-53FA-DCC8-531CB68CF5EB}"/>
              </a:ext>
            </a:extLst>
          </p:cNvPr>
          <p:cNvSpPr>
            <a:spLocks noGrp="1"/>
          </p:cNvSpPr>
          <p:nvPr>
            <p:ph type="body" sz="quarter" idx="13"/>
          </p:nvPr>
        </p:nvSpPr>
        <p:spPr>
          <a:xfrm>
            <a:off x="469900" y="835067"/>
            <a:ext cx="11237976" cy="392111"/>
          </a:xfrm>
        </p:spPr>
        <p:txBody>
          <a:bodyPr/>
          <a:lstStyle/>
          <a:p>
            <a:r>
              <a:rPr lang="en-US" sz="1200" dirty="0">
                <a:latin typeface="Open Sans" panose="020B0606030504020204" pitchFamily="34" charset="0"/>
                <a:ea typeface="Open Sans" panose="020B0606030504020204" pitchFamily="34" charset="0"/>
                <a:cs typeface="Open Sans" panose="020B0606030504020204" pitchFamily="34" charset="0"/>
              </a:rPr>
              <a:t>Our Automation led approach mitigates risk and accelerates delivery, which leads to significant cost reduction and faster realization of benefits while minimizing the risk of human error, business disruption and impact of change</a:t>
            </a:r>
          </a:p>
          <a:p>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itle 1">
            <a:extLst>
              <a:ext uri="{FF2B5EF4-FFF2-40B4-BE49-F238E27FC236}">
                <a16:creationId xmlns:a16="http://schemas.microsoft.com/office/drawing/2014/main" id="{A2FD3122-F90A-93BA-9BB5-1B5B40CF4D8E}"/>
              </a:ext>
            </a:extLst>
          </p:cNvPr>
          <p:cNvSpPr>
            <a:spLocks noGrp="1"/>
          </p:cNvSpPr>
          <p:nvPr>
            <p:ph type="title"/>
          </p:nvPr>
        </p:nvSpPr>
        <p:spPr>
          <a:xfrm>
            <a:off x="459739" y="456863"/>
            <a:ext cx="11252200" cy="451866"/>
          </a:xfrm>
        </p:spPr>
        <p: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FDE Practice and Snowflake – Our Automation Suite</a:t>
            </a:r>
          </a:p>
        </p:txBody>
      </p:sp>
      <p:grpSp>
        <p:nvGrpSpPr>
          <p:cNvPr id="20" name="Group 19">
            <a:extLst>
              <a:ext uri="{FF2B5EF4-FFF2-40B4-BE49-F238E27FC236}">
                <a16:creationId xmlns:a16="http://schemas.microsoft.com/office/drawing/2014/main" id="{A03663F2-A687-92D7-A5DB-B01A706034E4}"/>
              </a:ext>
            </a:extLst>
          </p:cNvPr>
          <p:cNvGrpSpPr/>
          <p:nvPr/>
        </p:nvGrpSpPr>
        <p:grpSpPr>
          <a:xfrm>
            <a:off x="469899" y="1341730"/>
            <a:ext cx="11252201" cy="4881270"/>
            <a:chOff x="469899" y="1341730"/>
            <a:chExt cx="11252201" cy="4881270"/>
          </a:xfrm>
        </p:grpSpPr>
        <p:grpSp>
          <p:nvGrpSpPr>
            <p:cNvPr id="25" name="Group 24">
              <a:extLst>
                <a:ext uri="{FF2B5EF4-FFF2-40B4-BE49-F238E27FC236}">
                  <a16:creationId xmlns:a16="http://schemas.microsoft.com/office/drawing/2014/main" id="{25C1CABE-7EE5-D5FD-58A1-AD72D8E2B079}"/>
                </a:ext>
              </a:extLst>
            </p:cNvPr>
            <p:cNvGrpSpPr/>
            <p:nvPr/>
          </p:nvGrpSpPr>
          <p:grpSpPr>
            <a:xfrm>
              <a:off x="5294861" y="5820664"/>
              <a:ext cx="2071472" cy="402336"/>
              <a:chOff x="2441966" y="5629001"/>
              <a:chExt cx="2834641" cy="402336"/>
            </a:xfrm>
          </p:grpSpPr>
          <p:sp>
            <p:nvSpPr>
              <p:cNvPr id="79" name="object 47">
                <a:extLst>
                  <a:ext uri="{FF2B5EF4-FFF2-40B4-BE49-F238E27FC236}">
                    <a16:creationId xmlns:a16="http://schemas.microsoft.com/office/drawing/2014/main" id="{DE0AEDFA-932F-CF3F-D21F-A6B56B0DD61B}"/>
                  </a:ext>
                </a:extLst>
              </p:cNvPr>
              <p:cNvSpPr txBox="1"/>
              <p:nvPr/>
            </p:nvSpPr>
            <p:spPr>
              <a:xfrm>
                <a:off x="2441966" y="5629001"/>
                <a:ext cx="1349358" cy="402336"/>
              </a:xfrm>
              <a:prstGeom prst="rect">
                <a:avLst/>
              </a:prstGeom>
              <a:solidFill>
                <a:srgbClr val="52555A"/>
              </a:solidFill>
            </p:spPr>
            <p:txBody>
              <a:bodyPr vert="horz" wrap="square" lIns="0" tIns="17780" rIns="0" bIns="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Effort</a:t>
                </a:r>
                <a:r>
                  <a:rPr kumimoji="0" lang="en-US" sz="900" b="1" i="0" u="none" strike="noStrike" kern="0" cap="none" spc="-4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900" b="1"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with</a:t>
                </a:r>
                <a:r>
                  <a:rPr kumimoji="0" lang="en-US" sz="900" b="1" i="0" u="none" strike="noStrike" kern="0" cap="none" spc="-45"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900" b="1" i="0" u="none" strike="noStrike" kern="0" cap="none" spc="-1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automation</a:t>
                </a:r>
                <a:endParaRPr kumimoji="0" lang="en-US" sz="900" b="1" i="0" u="none" strike="noStrike" kern="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80" name="object 48">
                <a:extLst>
                  <a:ext uri="{FF2B5EF4-FFF2-40B4-BE49-F238E27FC236}">
                    <a16:creationId xmlns:a16="http://schemas.microsoft.com/office/drawing/2014/main" id="{E7381649-D668-3A2B-BA84-C0DC5ABC19F3}"/>
                  </a:ext>
                </a:extLst>
              </p:cNvPr>
              <p:cNvSpPr txBox="1"/>
              <p:nvPr/>
            </p:nvSpPr>
            <p:spPr>
              <a:xfrm>
                <a:off x="3927248" y="5629001"/>
                <a:ext cx="1349359" cy="402336"/>
              </a:xfrm>
              <a:prstGeom prst="rect">
                <a:avLst/>
              </a:prstGeom>
              <a:solidFill>
                <a:srgbClr val="00A3E0"/>
              </a:solidFill>
            </p:spPr>
            <p:txBody>
              <a:bodyPr vert="horz" wrap="square" lIns="0" tIns="17780" rIns="0" bIns="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Normal</a:t>
                </a:r>
                <a:r>
                  <a:rPr kumimoji="0" lang="en-US" sz="900" b="1" i="0" u="none" strike="noStrike" kern="0" cap="none" spc="-6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900" b="1" i="0" u="none" strike="noStrike" kern="0" cap="none" spc="-1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effort</a:t>
                </a:r>
                <a:endParaRPr kumimoji="0" lang="en-US" sz="900" b="1" i="0" u="none" strike="noStrike" kern="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27" name="object 93">
              <a:extLst>
                <a:ext uri="{FF2B5EF4-FFF2-40B4-BE49-F238E27FC236}">
                  <a16:creationId xmlns:a16="http://schemas.microsoft.com/office/drawing/2014/main" id="{DB9AAC46-5D3E-A4E5-31DF-8AB926192699}"/>
                </a:ext>
              </a:extLst>
            </p:cNvPr>
            <p:cNvSpPr txBox="1"/>
            <p:nvPr/>
          </p:nvSpPr>
          <p:spPr>
            <a:xfrm>
              <a:off x="9205717" y="1519858"/>
              <a:ext cx="2066794" cy="197490"/>
            </a:xfrm>
            <a:prstGeom prst="rect">
              <a:avLst/>
            </a:prstGeom>
            <a:solidFill>
              <a:schemeClr val="bg1"/>
            </a:solidFill>
          </p:spPr>
          <p:txBody>
            <a:bodyPr vert="horz" wrap="square" lIns="0" tIns="1270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tab pos="8761095" algn="l"/>
                </a:tabLst>
                <a:defRPr/>
              </a:pPr>
              <a:endParaRPr kumimoji="0" lang="en-US" sz="12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2" name="object 10">
              <a:extLst>
                <a:ext uri="{FF2B5EF4-FFF2-40B4-BE49-F238E27FC236}">
                  <a16:creationId xmlns:a16="http://schemas.microsoft.com/office/drawing/2014/main" id="{7B7458A2-C8BB-7E9B-4B67-A089AAFE82AD}"/>
                </a:ext>
              </a:extLst>
            </p:cNvPr>
            <p:cNvSpPr txBox="1"/>
            <p:nvPr/>
          </p:nvSpPr>
          <p:spPr>
            <a:xfrm>
              <a:off x="8663795" y="2443780"/>
              <a:ext cx="3058305" cy="469979"/>
            </a:xfrm>
            <a:prstGeom prst="rect">
              <a:avLst/>
            </a:prstGeom>
            <a:solidFill>
              <a:srgbClr val="F1F1F1"/>
            </a:solidFill>
          </p:spPr>
          <p:txBody>
            <a:bodyPr vert="horz" wrap="square" lIns="0" tIns="0" rIns="0" bIns="0" rtlCol="0" anchor="ctr" anchorCtr="0">
              <a:noAutofit/>
            </a:bodyPr>
            <a:lstStyle/>
            <a:p>
              <a:pPr lvl="0" algn="ctr" defTabSz="1219170">
                <a:defRPr/>
              </a:pPr>
              <a:r>
                <a:rPr lang="en-US" sz="1150" b="1" dirty="0">
                  <a:solidFill>
                    <a:prstClr val="black"/>
                  </a:solidFill>
                  <a:latin typeface="Open Sans" panose="020B0606030504020204" pitchFamily="34" charset="0"/>
                  <a:ea typeface="Open Sans" panose="020B0606030504020204" pitchFamily="34" charset="0"/>
                  <a:cs typeface="Open Sans" panose="020B0606030504020204" pitchFamily="34" charset="0"/>
                </a:rPr>
                <a:t>DB Code Converter</a:t>
              </a:r>
              <a:endParaRPr kumimoji="0" lang="en-US" sz="1150" b="1" i="0" u="none" strike="noStrike" kern="1200" cap="none" spc="0" normalizeH="0" baseline="0" noProof="0" dirty="0">
                <a:ln>
                  <a:noFill/>
                </a:ln>
                <a:solidFill>
                  <a:srgbClr val="00A3E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3" name="object 16">
              <a:extLst>
                <a:ext uri="{FF2B5EF4-FFF2-40B4-BE49-F238E27FC236}">
                  <a16:creationId xmlns:a16="http://schemas.microsoft.com/office/drawing/2014/main" id="{21D73ADC-F58F-E089-4791-02E3B954B934}"/>
                </a:ext>
              </a:extLst>
            </p:cNvPr>
            <p:cNvSpPr txBox="1"/>
            <p:nvPr/>
          </p:nvSpPr>
          <p:spPr>
            <a:xfrm>
              <a:off x="477011" y="2443780"/>
              <a:ext cx="3058305" cy="469979"/>
            </a:xfrm>
            <a:prstGeom prst="rect">
              <a:avLst/>
            </a:prstGeom>
            <a:solidFill>
              <a:srgbClr val="F1F1F1"/>
            </a:solidFill>
          </p:spPr>
          <p:txBody>
            <a:bodyPr vert="horz" wrap="square" lIns="0" tIns="0" rIns="0" bIns="0" rtlCol="0" anchor="ctr" anchorCtr="0">
              <a:noAutofit/>
            </a:bodyPr>
            <a:lstStyle>
              <a:defPPr>
                <a:defRPr lang="en-US"/>
              </a:defPPr>
              <a:lvl1pPr marL="272415">
                <a:lnSpc>
                  <a:spcPct val="100000"/>
                </a:lnSpc>
                <a:spcBef>
                  <a:spcPts val="870"/>
                </a:spcBef>
                <a:defRPr sz="1100" spc="-10">
                  <a:latin typeface="Open Sans"/>
                  <a:cs typeface="Open Sans"/>
                </a:defRPr>
              </a:lvl1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DDL, View and SQL Code Conversion</a:t>
              </a:r>
            </a:p>
          </p:txBody>
        </p:sp>
        <p:sp>
          <p:nvSpPr>
            <p:cNvPr id="34" name="Google Shape;310;p53">
              <a:extLst>
                <a:ext uri="{FF2B5EF4-FFF2-40B4-BE49-F238E27FC236}">
                  <a16:creationId xmlns:a16="http://schemas.microsoft.com/office/drawing/2014/main" id="{C2AB101A-9406-2C74-BE5A-FAB730ECA319}"/>
                </a:ext>
              </a:extLst>
            </p:cNvPr>
            <p:cNvSpPr/>
            <p:nvPr/>
          </p:nvSpPr>
          <p:spPr>
            <a:xfrm>
              <a:off x="3843116" y="2501762"/>
              <a:ext cx="4589683" cy="354848"/>
            </a:xfrm>
            <a:prstGeom prst="rect">
              <a:avLst/>
            </a:prstGeom>
            <a:solidFill>
              <a:srgbClr val="00A3E0"/>
            </a:solidFill>
            <a:ln>
              <a:noFill/>
            </a:ln>
          </p:spPr>
          <p:txBody>
            <a:bodyPr spcFirstLastPara="1" wrap="square" lIns="66675" tIns="66675" rIns="66675"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Up to 60%</a:t>
              </a:r>
              <a:endPar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Google Shape;311;p53">
              <a:extLst>
                <a:ext uri="{FF2B5EF4-FFF2-40B4-BE49-F238E27FC236}">
                  <a16:creationId xmlns:a16="http://schemas.microsoft.com/office/drawing/2014/main" id="{CA2D0056-B655-9268-8836-5A9C0B3C75EB}"/>
                </a:ext>
              </a:extLst>
            </p:cNvPr>
            <p:cNvSpPr/>
            <p:nvPr/>
          </p:nvSpPr>
          <p:spPr>
            <a:xfrm>
              <a:off x="3843117" y="2536411"/>
              <a:ext cx="1816703" cy="285550"/>
            </a:xfrm>
            <a:prstGeom prst="rect">
              <a:avLst/>
            </a:prstGeom>
            <a:solidFill>
              <a:srgbClr val="000000">
                <a:lumMod val="65000"/>
                <a:lumOff val="35000"/>
              </a:srgbClr>
            </a:solidFill>
            <a:ln>
              <a:noFill/>
            </a:ln>
          </p:spPr>
          <p:txBody>
            <a:bodyPr spcFirstLastPara="1" wrap="square" lIns="66675" tIns="66675" rIns="45720"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40</a:t>
              </a:r>
              <a:endParaRPr lang="en-US" sz="1150"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object 11">
              <a:extLst>
                <a:ext uri="{FF2B5EF4-FFF2-40B4-BE49-F238E27FC236}">
                  <a16:creationId xmlns:a16="http://schemas.microsoft.com/office/drawing/2014/main" id="{0BC52E03-3682-06E3-B4B8-6126EACEB540}"/>
                </a:ext>
              </a:extLst>
            </p:cNvPr>
            <p:cNvSpPr txBox="1"/>
            <p:nvPr/>
          </p:nvSpPr>
          <p:spPr>
            <a:xfrm>
              <a:off x="8663795" y="1879162"/>
              <a:ext cx="3058305" cy="469979"/>
            </a:xfrm>
            <a:prstGeom prst="rect">
              <a:avLst/>
            </a:prstGeom>
            <a:solidFill>
              <a:srgbClr val="F1F1F1"/>
            </a:solidFill>
          </p:spPr>
          <p:txBody>
            <a:bodyPr vert="horz" wrap="square" lIns="0" tIns="0" rIns="0" bIns="0" rtlCol="0" anchor="ctr" anchorCtr="0">
              <a:noAutofit/>
            </a:bodyPr>
            <a:lstStyle/>
            <a:p>
              <a:pPr algn="ctr" defTabSz="1219170">
                <a:defRPr/>
              </a:pPr>
              <a:r>
                <a:rPr kumimoji="0" lang="en-US" sz="115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ETL code Reverse Engineering</a:t>
              </a:r>
            </a:p>
          </p:txBody>
        </p:sp>
        <p:sp>
          <p:nvSpPr>
            <p:cNvPr id="37" name="object 17">
              <a:extLst>
                <a:ext uri="{FF2B5EF4-FFF2-40B4-BE49-F238E27FC236}">
                  <a16:creationId xmlns:a16="http://schemas.microsoft.com/office/drawing/2014/main" id="{539E8620-9740-317B-B110-F577570DF8C4}"/>
                </a:ext>
              </a:extLst>
            </p:cNvPr>
            <p:cNvSpPr txBox="1"/>
            <p:nvPr/>
          </p:nvSpPr>
          <p:spPr>
            <a:xfrm>
              <a:off x="477011" y="1879162"/>
              <a:ext cx="3058305" cy="469979"/>
            </a:xfrm>
            <a:prstGeom prst="rect">
              <a:avLst/>
            </a:prstGeom>
            <a:solidFill>
              <a:srgbClr val="F1F1F1"/>
            </a:solidFill>
          </p:spPr>
          <p:txBody>
            <a:bodyPr vert="horz" wrap="square" lIns="0" tIns="0" rIns="0" bIns="0" rtlCol="0" anchor="ctr" anchorCtr="0">
              <a:noAutofit/>
            </a:bodyPr>
            <a:lstStyle>
              <a:defPPr>
                <a:defRPr lang="en-US"/>
              </a:defPPr>
              <a:lvl1pPr marL="744855">
                <a:lnSpc>
                  <a:spcPct val="100000"/>
                </a:lnSpc>
                <a:spcBef>
                  <a:spcPts val="860"/>
                </a:spcBef>
                <a:defRPr sz="1100">
                  <a:latin typeface="Open Sans"/>
                  <a:cs typeface="Open Sans"/>
                </a:defRPr>
              </a:lvl1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Code Migration Analysis</a:t>
              </a:r>
            </a:p>
          </p:txBody>
        </p:sp>
        <p:sp>
          <p:nvSpPr>
            <p:cNvPr id="38" name="Google Shape;308;p53">
              <a:extLst>
                <a:ext uri="{FF2B5EF4-FFF2-40B4-BE49-F238E27FC236}">
                  <a16:creationId xmlns:a16="http://schemas.microsoft.com/office/drawing/2014/main" id="{827DF1E5-0304-5D07-2462-31E612F4A60F}"/>
                </a:ext>
              </a:extLst>
            </p:cNvPr>
            <p:cNvSpPr/>
            <p:nvPr/>
          </p:nvSpPr>
          <p:spPr>
            <a:xfrm>
              <a:off x="3843116" y="1937144"/>
              <a:ext cx="4589683" cy="354848"/>
            </a:xfrm>
            <a:prstGeom prst="rect">
              <a:avLst/>
            </a:prstGeom>
            <a:solidFill>
              <a:srgbClr val="00A3E0"/>
            </a:solidFill>
            <a:ln>
              <a:noFill/>
            </a:ln>
          </p:spPr>
          <p:txBody>
            <a:bodyPr spcFirstLastPara="1" wrap="square" lIns="66675" tIns="66675" rIns="66675"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Up to 90%</a:t>
              </a:r>
              <a:endPar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Google Shape;309;p53">
              <a:extLst>
                <a:ext uri="{FF2B5EF4-FFF2-40B4-BE49-F238E27FC236}">
                  <a16:creationId xmlns:a16="http://schemas.microsoft.com/office/drawing/2014/main" id="{737A6463-F551-8525-17FB-B3F894C975AF}"/>
                </a:ext>
              </a:extLst>
            </p:cNvPr>
            <p:cNvSpPr/>
            <p:nvPr/>
          </p:nvSpPr>
          <p:spPr>
            <a:xfrm>
              <a:off x="3843117" y="1971793"/>
              <a:ext cx="363341" cy="285550"/>
            </a:xfrm>
            <a:prstGeom prst="rect">
              <a:avLst/>
            </a:prstGeom>
            <a:solidFill>
              <a:srgbClr val="000000">
                <a:lumMod val="65000"/>
                <a:lumOff val="35000"/>
              </a:srgbClr>
            </a:solidFill>
            <a:ln>
              <a:noFill/>
            </a:ln>
          </p:spPr>
          <p:txBody>
            <a:bodyPr spcFirstLastPara="1" wrap="square" lIns="66675" tIns="66675" rIns="45720"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10</a:t>
              </a:r>
              <a:endParaRPr lang="en-US" sz="1150"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object 11">
              <a:extLst>
                <a:ext uri="{FF2B5EF4-FFF2-40B4-BE49-F238E27FC236}">
                  <a16:creationId xmlns:a16="http://schemas.microsoft.com/office/drawing/2014/main" id="{C4B13CE2-D3CC-BD05-3469-F1A9523E205F}"/>
                </a:ext>
              </a:extLst>
            </p:cNvPr>
            <p:cNvSpPr txBox="1"/>
            <p:nvPr/>
          </p:nvSpPr>
          <p:spPr>
            <a:xfrm>
              <a:off x="8663795" y="3008398"/>
              <a:ext cx="3058305" cy="469979"/>
            </a:xfrm>
            <a:prstGeom prst="rect">
              <a:avLst/>
            </a:prstGeom>
            <a:solidFill>
              <a:srgbClr val="F1F1F1"/>
            </a:solidFill>
          </p:spPr>
          <p:txBody>
            <a:bodyPr vert="horz" wrap="square" lIns="0" tIns="0" rIns="0" bIns="0" rtlCol="0" anchor="ctr" anchorCtr="0">
              <a:noAutofit/>
            </a:bodyPr>
            <a:lstStyle/>
            <a:p>
              <a:pPr algn="ctr" defTabSz="1219170">
                <a:defRPr/>
              </a:pPr>
              <a:r>
                <a:rPr lang="en-US" sz="1150" b="1" dirty="0">
                  <a:solidFill>
                    <a:prstClr val="black"/>
                  </a:solidFill>
                  <a:latin typeface="Open Sans" panose="020B0606030504020204" pitchFamily="34" charset="0"/>
                  <a:ea typeface="Open Sans" panose="020B0606030504020204" pitchFamily="34" charset="0"/>
                  <a:cs typeface="Open Sans" panose="020B0606030504020204" pitchFamily="34" charset="0"/>
                </a:rPr>
                <a:t>ETL Code Converter</a:t>
              </a:r>
              <a:endParaRPr kumimoji="0" lang="en-US" sz="1150" b="1" i="0" u="none" strike="noStrike" kern="1200" cap="none" spc="0" normalizeH="0" baseline="0" noProof="0" dirty="0">
                <a:ln>
                  <a:noFill/>
                </a:ln>
                <a:solidFill>
                  <a:srgbClr val="00A3E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1" name="object 17">
              <a:extLst>
                <a:ext uri="{FF2B5EF4-FFF2-40B4-BE49-F238E27FC236}">
                  <a16:creationId xmlns:a16="http://schemas.microsoft.com/office/drawing/2014/main" id="{DBA7317E-11F2-5582-243F-0F52505E59B9}"/>
                </a:ext>
              </a:extLst>
            </p:cNvPr>
            <p:cNvSpPr txBox="1"/>
            <p:nvPr/>
          </p:nvSpPr>
          <p:spPr>
            <a:xfrm>
              <a:off x="477011" y="3008398"/>
              <a:ext cx="3058305" cy="469979"/>
            </a:xfrm>
            <a:prstGeom prst="rect">
              <a:avLst/>
            </a:prstGeom>
            <a:solidFill>
              <a:srgbClr val="F1F1F1"/>
            </a:solidFill>
          </p:spPr>
          <p:txBody>
            <a:bodyPr vert="horz" wrap="square" lIns="0" tIns="0" rIns="0" bIns="0" rtlCol="0" anchor="ctr" anchorCtr="0">
              <a:noAutofit/>
            </a:bodyPr>
            <a:lstStyle>
              <a:defPPr>
                <a:defRPr lang="en-US"/>
              </a:defPPr>
              <a:lvl1pPr marL="744855">
                <a:lnSpc>
                  <a:spcPct val="100000"/>
                </a:lnSpc>
                <a:spcBef>
                  <a:spcPts val="860"/>
                </a:spcBef>
                <a:defRPr sz="1100">
                  <a:latin typeface="Open Sans"/>
                  <a:cs typeface="Open Sans"/>
                </a:defRPr>
              </a:lvl1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ETL Code Conversion</a:t>
              </a:r>
            </a:p>
          </p:txBody>
        </p:sp>
        <p:sp>
          <p:nvSpPr>
            <p:cNvPr id="42" name="Google Shape;312;p53">
              <a:extLst>
                <a:ext uri="{FF2B5EF4-FFF2-40B4-BE49-F238E27FC236}">
                  <a16:creationId xmlns:a16="http://schemas.microsoft.com/office/drawing/2014/main" id="{CFE01BEC-F3FF-87CC-FCCA-3285A9B7BEE0}"/>
                </a:ext>
              </a:extLst>
            </p:cNvPr>
            <p:cNvSpPr/>
            <p:nvPr/>
          </p:nvSpPr>
          <p:spPr>
            <a:xfrm>
              <a:off x="3843116" y="3066380"/>
              <a:ext cx="4589683" cy="354848"/>
            </a:xfrm>
            <a:prstGeom prst="rect">
              <a:avLst/>
            </a:prstGeom>
            <a:solidFill>
              <a:srgbClr val="00A3E0"/>
            </a:solidFill>
            <a:ln>
              <a:noFill/>
            </a:ln>
          </p:spPr>
          <p:txBody>
            <a:bodyPr spcFirstLastPara="1" wrap="square" lIns="66675" tIns="66675" rIns="66675"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Up to 50%</a:t>
              </a:r>
              <a:endPar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Google Shape;313;p53">
              <a:extLst>
                <a:ext uri="{FF2B5EF4-FFF2-40B4-BE49-F238E27FC236}">
                  <a16:creationId xmlns:a16="http://schemas.microsoft.com/office/drawing/2014/main" id="{0B865594-C911-75D4-7274-7E096174575D}"/>
                </a:ext>
              </a:extLst>
            </p:cNvPr>
            <p:cNvSpPr/>
            <p:nvPr/>
          </p:nvSpPr>
          <p:spPr>
            <a:xfrm>
              <a:off x="3843117" y="3101029"/>
              <a:ext cx="2270879" cy="285550"/>
            </a:xfrm>
            <a:prstGeom prst="rect">
              <a:avLst/>
            </a:prstGeom>
            <a:solidFill>
              <a:srgbClr val="000000">
                <a:lumMod val="65000"/>
                <a:lumOff val="35000"/>
              </a:srgbClr>
            </a:solidFill>
            <a:ln>
              <a:noFill/>
            </a:ln>
          </p:spPr>
          <p:txBody>
            <a:bodyPr spcFirstLastPara="1" wrap="square" lIns="66675" tIns="66675" rIns="45720"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50</a:t>
              </a:r>
              <a:endParaRPr lang="en-US" sz="1150"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4" name="object 20">
              <a:extLst>
                <a:ext uri="{FF2B5EF4-FFF2-40B4-BE49-F238E27FC236}">
                  <a16:creationId xmlns:a16="http://schemas.microsoft.com/office/drawing/2014/main" id="{91C188AC-D84C-9373-E432-66A50F5A6FF1}"/>
                </a:ext>
              </a:extLst>
            </p:cNvPr>
            <p:cNvSpPr txBox="1"/>
            <p:nvPr/>
          </p:nvSpPr>
          <p:spPr>
            <a:xfrm>
              <a:off x="8663795" y="4137634"/>
              <a:ext cx="3058305" cy="469979"/>
            </a:xfrm>
            <a:prstGeom prst="rect">
              <a:avLst/>
            </a:prstGeom>
            <a:solidFill>
              <a:srgbClr val="F1F1F1"/>
            </a:solidFill>
          </p:spPr>
          <p:txBody>
            <a:bodyPr vert="horz" wrap="square" lIns="0" tIns="0" rIns="0" bIns="0" rtlCol="0" anchor="ctr" anchorCtr="0">
              <a:noAutofit/>
            </a:bodyPr>
            <a:lstStyle>
              <a:defPPr>
                <a:defRPr lang="en-US"/>
              </a:defPPr>
              <a:lvl1pPr marL="272415">
                <a:lnSpc>
                  <a:spcPct val="100000"/>
                </a:lnSpc>
                <a:spcBef>
                  <a:spcPts val="870"/>
                </a:spcBef>
                <a:defRPr sz="1100" spc="-10">
                  <a:latin typeface="Open Sans"/>
                  <a:cs typeface="Open Sans"/>
                </a:defRPr>
              </a:lvl1p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50" b="1" spc="0" dirty="0">
                  <a:solidFill>
                    <a:prstClr val="black"/>
                  </a:solidFill>
                  <a:latin typeface="Open Sans" panose="020B0606030504020204" pitchFamily="34" charset="0"/>
                  <a:ea typeface="Open Sans" panose="020B0606030504020204" pitchFamily="34" charset="0"/>
                  <a:cs typeface="Open Sans" panose="020B0606030504020204" pitchFamily="34" charset="0"/>
                </a:rPr>
                <a:t>FDE Practice Historical Data Migrator</a:t>
              </a:r>
            </a:p>
          </p:txBody>
        </p:sp>
        <p:sp>
          <p:nvSpPr>
            <p:cNvPr id="45" name="object 21">
              <a:extLst>
                <a:ext uri="{FF2B5EF4-FFF2-40B4-BE49-F238E27FC236}">
                  <a16:creationId xmlns:a16="http://schemas.microsoft.com/office/drawing/2014/main" id="{9DB64F03-3E9F-7C5C-CEEE-C64A9483E93C}"/>
                </a:ext>
              </a:extLst>
            </p:cNvPr>
            <p:cNvSpPr txBox="1"/>
            <p:nvPr/>
          </p:nvSpPr>
          <p:spPr>
            <a:xfrm>
              <a:off x="477011" y="4137634"/>
              <a:ext cx="3058305" cy="469979"/>
            </a:xfrm>
            <a:prstGeom prst="rect">
              <a:avLst/>
            </a:prstGeom>
            <a:solidFill>
              <a:srgbClr val="F1F1F1"/>
            </a:solidFill>
          </p:spPr>
          <p:txBody>
            <a:bodyPr vert="horz" wrap="square" lIns="0" tIns="0" rIns="0" bIns="0" rtlCol="0" anchor="ctr" anchorCtr="0">
              <a:noAutofit/>
            </a:bodyPr>
            <a:lstStyle>
              <a:defPPr>
                <a:defRPr lang="en-US"/>
              </a:defPPr>
              <a:lvl1pPr marL="272415">
                <a:lnSpc>
                  <a:spcPct val="100000"/>
                </a:lnSpc>
                <a:spcBef>
                  <a:spcPts val="870"/>
                </a:spcBef>
                <a:defRPr sz="1100" spc="-10">
                  <a:latin typeface="Open Sans"/>
                  <a:cs typeface="Open Sans"/>
                </a:defRPr>
              </a:lvl1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History Data Migration</a:t>
              </a:r>
            </a:p>
          </p:txBody>
        </p:sp>
        <p:sp>
          <p:nvSpPr>
            <p:cNvPr id="46" name="Google Shape;314;p53">
              <a:extLst>
                <a:ext uri="{FF2B5EF4-FFF2-40B4-BE49-F238E27FC236}">
                  <a16:creationId xmlns:a16="http://schemas.microsoft.com/office/drawing/2014/main" id="{B51EF20C-F33D-B919-7D3A-95784428B389}"/>
                </a:ext>
              </a:extLst>
            </p:cNvPr>
            <p:cNvSpPr/>
            <p:nvPr/>
          </p:nvSpPr>
          <p:spPr>
            <a:xfrm>
              <a:off x="3843116" y="4195616"/>
              <a:ext cx="4589683" cy="354848"/>
            </a:xfrm>
            <a:prstGeom prst="rect">
              <a:avLst/>
            </a:prstGeom>
            <a:solidFill>
              <a:srgbClr val="00A3E0"/>
            </a:solidFill>
            <a:ln>
              <a:noFill/>
            </a:ln>
          </p:spPr>
          <p:txBody>
            <a:bodyPr spcFirstLastPara="1" wrap="square" lIns="66675" tIns="66675" rIns="66675"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Up to 50%</a:t>
              </a:r>
              <a:endPar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7" name="Google Shape;315;p53">
              <a:extLst>
                <a:ext uri="{FF2B5EF4-FFF2-40B4-BE49-F238E27FC236}">
                  <a16:creationId xmlns:a16="http://schemas.microsoft.com/office/drawing/2014/main" id="{FE7EEFEA-1116-E25F-BB44-668549021ACF}"/>
                </a:ext>
              </a:extLst>
            </p:cNvPr>
            <p:cNvSpPr/>
            <p:nvPr/>
          </p:nvSpPr>
          <p:spPr>
            <a:xfrm>
              <a:off x="3843117" y="4230265"/>
              <a:ext cx="2270219" cy="285550"/>
            </a:xfrm>
            <a:prstGeom prst="rect">
              <a:avLst/>
            </a:prstGeom>
            <a:solidFill>
              <a:srgbClr val="000000">
                <a:lumMod val="65000"/>
                <a:lumOff val="35000"/>
              </a:srgbClr>
            </a:solidFill>
            <a:ln>
              <a:noFill/>
            </a:ln>
          </p:spPr>
          <p:txBody>
            <a:bodyPr spcFirstLastPara="1" wrap="square" lIns="66675" tIns="66675" rIns="45720"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50</a:t>
              </a:r>
              <a:endParaRPr lang="en-US" sz="1150"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8" name="object 9">
              <a:extLst>
                <a:ext uri="{FF2B5EF4-FFF2-40B4-BE49-F238E27FC236}">
                  <a16:creationId xmlns:a16="http://schemas.microsoft.com/office/drawing/2014/main" id="{0BCEA0FE-686D-C035-CD52-775701820F23}"/>
                </a:ext>
              </a:extLst>
            </p:cNvPr>
            <p:cNvSpPr txBox="1"/>
            <p:nvPr/>
          </p:nvSpPr>
          <p:spPr>
            <a:xfrm>
              <a:off x="477011" y="4702252"/>
              <a:ext cx="3058305" cy="469979"/>
            </a:xfrm>
            <a:prstGeom prst="rect">
              <a:avLst/>
            </a:prstGeom>
            <a:solidFill>
              <a:srgbClr val="F1F1F1"/>
            </a:solidFill>
          </p:spPr>
          <p:txBody>
            <a:bodyPr vert="horz" wrap="square" lIns="0" tIns="0" rIns="0" bIns="0" rtlCol="0" anchor="ctr" anchorCtr="0">
              <a:noAutofit/>
            </a:bodyPr>
            <a:lstStyle>
              <a:defPPr>
                <a:defRPr lang="en-US"/>
              </a:defPPr>
              <a:lvl1pPr marL="272415">
                <a:lnSpc>
                  <a:spcPct val="100000"/>
                </a:lnSpc>
                <a:spcBef>
                  <a:spcPts val="870"/>
                </a:spcBef>
                <a:defRPr sz="1100" spc="-10">
                  <a:latin typeface="Open Sans"/>
                  <a:cs typeface="Open Sans"/>
                </a:defRPr>
              </a:lvl1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Reconciliation, Validation &amp; Testing</a:t>
              </a:r>
            </a:p>
          </p:txBody>
        </p:sp>
        <p:sp>
          <p:nvSpPr>
            <p:cNvPr id="49" name="object 12">
              <a:extLst>
                <a:ext uri="{FF2B5EF4-FFF2-40B4-BE49-F238E27FC236}">
                  <a16:creationId xmlns:a16="http://schemas.microsoft.com/office/drawing/2014/main" id="{58CF1857-20F3-5F90-2F8B-615AE7052AB7}"/>
                </a:ext>
              </a:extLst>
            </p:cNvPr>
            <p:cNvSpPr txBox="1"/>
            <p:nvPr/>
          </p:nvSpPr>
          <p:spPr>
            <a:xfrm>
              <a:off x="8663795" y="4702252"/>
              <a:ext cx="3058305" cy="469979"/>
            </a:xfrm>
            <a:prstGeom prst="rect">
              <a:avLst/>
            </a:prstGeom>
            <a:solidFill>
              <a:srgbClr val="F1F1F1"/>
            </a:solidFill>
          </p:spPr>
          <p:txBody>
            <a:bodyPr vert="horz" wrap="square" lIns="0" tIns="0" rIns="0" bIns="0" rtlCol="0" anchor="ctr" anchorCtr="0">
              <a:noAutofit/>
            </a:bodyPr>
            <a:lstStyle>
              <a:defPPr>
                <a:defRPr lang="en-US"/>
              </a:defPPr>
              <a:lvl1pPr marL="272415">
                <a:lnSpc>
                  <a:spcPct val="100000"/>
                </a:lnSpc>
                <a:spcBef>
                  <a:spcPts val="870"/>
                </a:spcBef>
                <a:defRPr sz="1100" spc="-10">
                  <a:latin typeface="Open Sans"/>
                  <a:cs typeface="Open Sans"/>
                </a:defRPr>
              </a:lvl1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ETL Code Tester (CATE)</a:t>
              </a:r>
              <a:endParaRPr kumimoji="0" lang="en-US" sz="1150" b="1" i="0" u="none" strike="noStrike" kern="1200" cap="none" spc="-10" normalizeH="0" baseline="0" noProof="0">
                <a:ln>
                  <a:noFill/>
                </a:ln>
                <a:solidFill>
                  <a:srgbClr val="FF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0" name="Google Shape;320;p53">
              <a:extLst>
                <a:ext uri="{FF2B5EF4-FFF2-40B4-BE49-F238E27FC236}">
                  <a16:creationId xmlns:a16="http://schemas.microsoft.com/office/drawing/2014/main" id="{EEFE1793-ABF1-C632-B99D-17D121635EAC}"/>
                </a:ext>
              </a:extLst>
            </p:cNvPr>
            <p:cNvSpPr/>
            <p:nvPr/>
          </p:nvSpPr>
          <p:spPr>
            <a:xfrm>
              <a:off x="3843116" y="4760234"/>
              <a:ext cx="4589683" cy="354848"/>
            </a:xfrm>
            <a:prstGeom prst="rect">
              <a:avLst/>
            </a:prstGeom>
            <a:solidFill>
              <a:srgbClr val="00A3E0"/>
            </a:solidFill>
            <a:ln>
              <a:noFill/>
            </a:ln>
          </p:spPr>
          <p:txBody>
            <a:bodyPr spcFirstLastPara="1" wrap="square" lIns="66675" tIns="66675" rIns="66675"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Up to 40%</a:t>
              </a:r>
              <a:endPar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1" name="Google Shape;321;p53">
              <a:extLst>
                <a:ext uri="{FF2B5EF4-FFF2-40B4-BE49-F238E27FC236}">
                  <a16:creationId xmlns:a16="http://schemas.microsoft.com/office/drawing/2014/main" id="{59FF7630-E98D-E143-519E-E905948A7C50}"/>
                </a:ext>
              </a:extLst>
            </p:cNvPr>
            <p:cNvSpPr/>
            <p:nvPr/>
          </p:nvSpPr>
          <p:spPr>
            <a:xfrm>
              <a:off x="3843117" y="4794883"/>
              <a:ext cx="2725055" cy="285550"/>
            </a:xfrm>
            <a:prstGeom prst="rect">
              <a:avLst/>
            </a:prstGeom>
            <a:solidFill>
              <a:srgbClr val="000000">
                <a:lumMod val="65000"/>
                <a:lumOff val="35000"/>
              </a:srgbClr>
            </a:solidFill>
            <a:ln>
              <a:noFill/>
            </a:ln>
          </p:spPr>
          <p:txBody>
            <a:bodyPr spcFirstLastPara="1" wrap="square" lIns="66675" tIns="66675" rIns="45720"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60</a:t>
              </a:r>
              <a:endParaRPr lang="en-US" sz="1150"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2" name="object 13">
              <a:extLst>
                <a:ext uri="{FF2B5EF4-FFF2-40B4-BE49-F238E27FC236}">
                  <a16:creationId xmlns:a16="http://schemas.microsoft.com/office/drawing/2014/main" id="{27E2CE06-8D27-3AB9-0176-C472B3A6CA46}"/>
                </a:ext>
              </a:extLst>
            </p:cNvPr>
            <p:cNvSpPr txBox="1"/>
            <p:nvPr/>
          </p:nvSpPr>
          <p:spPr>
            <a:xfrm>
              <a:off x="8663795" y="5266872"/>
              <a:ext cx="3058305" cy="469979"/>
            </a:xfrm>
            <a:prstGeom prst="rect">
              <a:avLst/>
            </a:prstGeom>
            <a:solidFill>
              <a:srgbClr val="F1F1F1"/>
            </a:solidFill>
          </p:spPr>
          <p:txBody>
            <a:bodyPr vert="horz" wrap="square" lIns="0" tIns="0" rIns="0" bIns="0" rtlCol="0" anchor="ctr" anchorCtr="0">
              <a:noAutofit/>
            </a:bodyPr>
            <a:lstStyle>
              <a:defPPr>
                <a:defRPr lang="en-US"/>
              </a:defPPr>
              <a:lvl1pPr marL="272415">
                <a:lnSpc>
                  <a:spcPct val="100000"/>
                </a:lnSpc>
                <a:spcBef>
                  <a:spcPts val="870"/>
                </a:spcBef>
                <a:defRPr sz="1100" spc="-10">
                  <a:latin typeface="Open Sans"/>
                  <a:cs typeface="Open Sans"/>
                </a:defRPr>
              </a:lvl1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1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Automated Report Texter (X-Ray)</a:t>
              </a:r>
            </a:p>
          </p:txBody>
        </p:sp>
        <p:sp>
          <p:nvSpPr>
            <p:cNvPr id="53" name="object 14">
              <a:extLst>
                <a:ext uri="{FF2B5EF4-FFF2-40B4-BE49-F238E27FC236}">
                  <a16:creationId xmlns:a16="http://schemas.microsoft.com/office/drawing/2014/main" id="{66C9F349-6438-88BF-436A-8EF26BE072E5}"/>
                </a:ext>
              </a:extLst>
            </p:cNvPr>
            <p:cNvSpPr txBox="1"/>
            <p:nvPr/>
          </p:nvSpPr>
          <p:spPr>
            <a:xfrm>
              <a:off x="477011" y="5266872"/>
              <a:ext cx="3058305" cy="469979"/>
            </a:xfrm>
            <a:prstGeom prst="rect">
              <a:avLst/>
            </a:prstGeom>
            <a:solidFill>
              <a:srgbClr val="F1F1F1"/>
            </a:solidFill>
          </p:spPr>
          <p:txBody>
            <a:bodyPr vert="horz" wrap="square" lIns="0" tIns="0" rIns="0" bIns="0" rtlCol="0" anchor="ctr" anchorCtr="0">
              <a:noAutofit/>
            </a:bodyPr>
            <a:lstStyle>
              <a:defPPr>
                <a:defRPr lang="en-US"/>
              </a:defPPr>
              <a:lvl1pPr marL="272415">
                <a:lnSpc>
                  <a:spcPct val="100000"/>
                </a:lnSpc>
                <a:spcBef>
                  <a:spcPts val="870"/>
                </a:spcBef>
                <a:defRPr sz="1100" spc="-10">
                  <a:latin typeface="Open Sans"/>
                  <a:cs typeface="Open Sans"/>
                </a:defRPr>
              </a:lvl1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1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Report Reconciliation, Validation &amp; Testing</a:t>
              </a:r>
            </a:p>
          </p:txBody>
        </p:sp>
        <p:sp>
          <p:nvSpPr>
            <p:cNvPr id="54" name="Google Shape;316;p53">
              <a:extLst>
                <a:ext uri="{FF2B5EF4-FFF2-40B4-BE49-F238E27FC236}">
                  <a16:creationId xmlns:a16="http://schemas.microsoft.com/office/drawing/2014/main" id="{EF10F9FD-425F-3822-C05F-E835203BB607}"/>
                </a:ext>
              </a:extLst>
            </p:cNvPr>
            <p:cNvSpPr/>
            <p:nvPr/>
          </p:nvSpPr>
          <p:spPr>
            <a:xfrm>
              <a:off x="3843116" y="5324854"/>
              <a:ext cx="4589683" cy="354848"/>
            </a:xfrm>
            <a:prstGeom prst="rect">
              <a:avLst/>
            </a:prstGeom>
            <a:solidFill>
              <a:srgbClr val="00A3E0"/>
            </a:solidFill>
            <a:ln>
              <a:noFill/>
            </a:ln>
          </p:spPr>
          <p:txBody>
            <a:bodyPr spcFirstLastPara="1" wrap="square" lIns="66675" tIns="66675" rIns="66675"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Up to 40%</a:t>
              </a:r>
              <a:endPar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Google Shape;317;p53">
              <a:extLst>
                <a:ext uri="{FF2B5EF4-FFF2-40B4-BE49-F238E27FC236}">
                  <a16:creationId xmlns:a16="http://schemas.microsoft.com/office/drawing/2014/main" id="{3BDE6BB7-DE9F-885E-AD3C-D5C1368F0AE0}"/>
                </a:ext>
              </a:extLst>
            </p:cNvPr>
            <p:cNvSpPr/>
            <p:nvPr/>
          </p:nvSpPr>
          <p:spPr>
            <a:xfrm>
              <a:off x="3843117" y="5359503"/>
              <a:ext cx="2725055" cy="285550"/>
            </a:xfrm>
            <a:prstGeom prst="rect">
              <a:avLst/>
            </a:prstGeom>
            <a:solidFill>
              <a:srgbClr val="000000">
                <a:lumMod val="65000"/>
                <a:lumOff val="35000"/>
              </a:srgbClr>
            </a:solidFill>
            <a:ln>
              <a:noFill/>
            </a:ln>
          </p:spPr>
          <p:txBody>
            <a:bodyPr spcFirstLastPara="1" wrap="square" lIns="66675" tIns="66675" rIns="45720"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60</a:t>
              </a:r>
              <a:endParaRPr lang="en-US" sz="1150"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6" name="object 11">
              <a:extLst>
                <a:ext uri="{FF2B5EF4-FFF2-40B4-BE49-F238E27FC236}">
                  <a16:creationId xmlns:a16="http://schemas.microsoft.com/office/drawing/2014/main" id="{4D244E50-E457-FAA8-4A44-2E50E79CF268}"/>
                </a:ext>
              </a:extLst>
            </p:cNvPr>
            <p:cNvSpPr txBox="1"/>
            <p:nvPr/>
          </p:nvSpPr>
          <p:spPr>
            <a:xfrm>
              <a:off x="8663795" y="3573016"/>
              <a:ext cx="3058305" cy="469979"/>
            </a:xfrm>
            <a:prstGeom prst="rect">
              <a:avLst/>
            </a:prstGeom>
            <a:solidFill>
              <a:srgbClr val="F1F1F1"/>
            </a:solidFill>
          </p:spPr>
          <p:txBody>
            <a:bodyPr vert="horz" wrap="square" lIns="0" tIns="0" rIns="0" bIns="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Assist Orchestration Agent</a:t>
              </a:r>
            </a:p>
          </p:txBody>
        </p:sp>
        <p:sp>
          <p:nvSpPr>
            <p:cNvPr id="57" name="object 17">
              <a:extLst>
                <a:ext uri="{FF2B5EF4-FFF2-40B4-BE49-F238E27FC236}">
                  <a16:creationId xmlns:a16="http://schemas.microsoft.com/office/drawing/2014/main" id="{BA23346E-3224-6330-E84B-FC62895DAE27}"/>
                </a:ext>
              </a:extLst>
            </p:cNvPr>
            <p:cNvSpPr txBox="1"/>
            <p:nvPr/>
          </p:nvSpPr>
          <p:spPr>
            <a:xfrm>
              <a:off x="477011" y="3573016"/>
              <a:ext cx="3058305" cy="469979"/>
            </a:xfrm>
            <a:prstGeom prst="rect">
              <a:avLst/>
            </a:prstGeom>
            <a:solidFill>
              <a:srgbClr val="F1F1F1"/>
            </a:solidFill>
          </p:spPr>
          <p:txBody>
            <a:bodyPr vert="horz" wrap="square" lIns="0" tIns="0" rIns="0" bIns="0" rtlCol="0" anchor="ctr" anchorCtr="0">
              <a:noAutofit/>
            </a:bodyPr>
            <a:lstStyle>
              <a:defPPr>
                <a:defRPr lang="en-US"/>
              </a:defPPr>
              <a:lvl1pPr marL="744855">
                <a:lnSpc>
                  <a:spcPct val="100000"/>
                </a:lnSpc>
                <a:spcBef>
                  <a:spcPts val="860"/>
                </a:spcBef>
                <a:defRPr sz="1100">
                  <a:latin typeface="Open Sans"/>
                  <a:cs typeface="Open Sans"/>
                </a:defRPr>
              </a:lvl1pPr>
            </a:lstStyle>
            <a:p>
              <a:pPr marL="0" lvl="0" algn="ctr" defTabSz="1219170">
                <a:spcBef>
                  <a:spcPts val="0"/>
                </a:spcBef>
                <a:defRPr/>
              </a:pPr>
              <a:r>
                <a:rPr lang="en-US" sz="1150" b="1" dirty="0">
                  <a:solidFill>
                    <a:prstClr val="black"/>
                  </a:solidFill>
                  <a:latin typeface="Open Sans" panose="020B0606030504020204" pitchFamily="34" charset="0"/>
                  <a:ea typeface="Open Sans" panose="020B0606030504020204" pitchFamily="34" charset="0"/>
                  <a:cs typeface="Open Sans" panose="020B0606030504020204" pitchFamily="34" charset="0"/>
                </a:rPr>
                <a:t>Accelerators Orchestration</a:t>
              </a:r>
              <a:endParaRPr kumimoji="0" lang="en-US" sz="115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8" name="Google Shape;312;p53">
              <a:extLst>
                <a:ext uri="{FF2B5EF4-FFF2-40B4-BE49-F238E27FC236}">
                  <a16:creationId xmlns:a16="http://schemas.microsoft.com/office/drawing/2014/main" id="{1F32A780-644D-F916-77F9-44F1D9F01F05}"/>
                </a:ext>
              </a:extLst>
            </p:cNvPr>
            <p:cNvSpPr/>
            <p:nvPr/>
          </p:nvSpPr>
          <p:spPr>
            <a:xfrm>
              <a:off x="3843116" y="3630998"/>
              <a:ext cx="4589683" cy="354848"/>
            </a:xfrm>
            <a:prstGeom prst="rect">
              <a:avLst/>
            </a:prstGeom>
            <a:solidFill>
              <a:srgbClr val="00A3E0"/>
            </a:solidFill>
            <a:ln>
              <a:noFill/>
            </a:ln>
          </p:spPr>
          <p:txBody>
            <a:bodyPr spcFirstLastPara="1" wrap="square" lIns="66675" tIns="66675" rIns="66675"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Up to 50%</a:t>
              </a:r>
              <a:endPar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Rectangle: Single Corner Rounded 26">
              <a:extLst>
                <a:ext uri="{FF2B5EF4-FFF2-40B4-BE49-F238E27FC236}">
                  <a16:creationId xmlns:a16="http://schemas.microsoft.com/office/drawing/2014/main" id="{033C17C8-B317-54B8-E162-8845307AC66D}"/>
                </a:ext>
              </a:extLst>
            </p:cNvPr>
            <p:cNvSpPr/>
            <p:nvPr/>
          </p:nvSpPr>
          <p:spPr bwMode="gray">
            <a:xfrm>
              <a:off x="469899" y="1362274"/>
              <a:ext cx="3058305" cy="413426"/>
            </a:xfrm>
            <a:prstGeom prst="round1Rect">
              <a:avLst>
                <a:gd name="adj" fmla="val 0"/>
              </a:avLst>
            </a:prstGeom>
            <a:solidFill>
              <a:srgbClr val="012169"/>
            </a:solidFill>
            <a:ln w="19050" algn="ctr">
              <a:noFill/>
              <a:miter lim="800000"/>
              <a:headEnd/>
              <a:tailEnd/>
            </a:ln>
          </p:spPr>
          <p:txBody>
            <a:bodyPr wrap="square" lIns="88900" tIns="88900" rIns="88900" bIns="88900" rtlCol="0" anchor="ctr"/>
            <a:lstStyle/>
            <a:p>
              <a:pPr marL="12700" lvl="0" algn="ctr" defTabSz="1219170">
                <a:spcBef>
                  <a:spcPts val="100"/>
                </a:spcBef>
                <a:tabLst>
                  <a:tab pos="8761095" algn="l"/>
                </a:tabLst>
                <a:defRPr/>
              </a:pPr>
              <a:r>
                <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rPr>
                <a:t>CAPABILITY</a:t>
              </a:r>
              <a:endParaRPr lang="en-US" sz="12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0" name="Rectangle: Single Corner Rounded 26">
              <a:extLst>
                <a:ext uri="{FF2B5EF4-FFF2-40B4-BE49-F238E27FC236}">
                  <a16:creationId xmlns:a16="http://schemas.microsoft.com/office/drawing/2014/main" id="{3B518FE6-A695-7282-D010-DD424479B8DF}"/>
                </a:ext>
              </a:extLst>
            </p:cNvPr>
            <p:cNvSpPr/>
            <p:nvPr/>
          </p:nvSpPr>
          <p:spPr bwMode="gray">
            <a:xfrm>
              <a:off x="8663795" y="1362274"/>
              <a:ext cx="3058305" cy="413426"/>
            </a:xfrm>
            <a:prstGeom prst="round1Rect">
              <a:avLst>
                <a:gd name="adj" fmla="val 0"/>
              </a:avLst>
            </a:prstGeom>
            <a:solidFill>
              <a:srgbClr val="012169"/>
            </a:solidFill>
            <a:ln w="19050" algn="ctr">
              <a:noFill/>
              <a:miter lim="800000"/>
              <a:headEnd/>
              <a:tailEnd/>
            </a:ln>
          </p:spPr>
          <p:txBody>
            <a:bodyPr wrap="square" lIns="88900" tIns="88900" rIns="88900" bIns="88900" rtlCol="0" anchor="ctr"/>
            <a:lstStyle/>
            <a:p>
              <a:pPr marL="12700" lvl="0" algn="ctr" defTabSz="1219170">
                <a:spcBef>
                  <a:spcPts val="100"/>
                </a:spcBef>
                <a:tabLst>
                  <a:tab pos="8761095" algn="l"/>
                </a:tabLst>
                <a:defRPr/>
              </a:pPr>
              <a:r>
                <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rPr>
                <a:t>AI AGENT/AUTOMATION</a:t>
              </a:r>
            </a:p>
          </p:txBody>
        </p:sp>
        <p:sp>
          <p:nvSpPr>
            <p:cNvPr id="61" name="object 26">
              <a:extLst>
                <a:ext uri="{FF2B5EF4-FFF2-40B4-BE49-F238E27FC236}">
                  <a16:creationId xmlns:a16="http://schemas.microsoft.com/office/drawing/2014/main" id="{30D472E2-E8F0-7340-E06B-E3601361338E}"/>
                </a:ext>
              </a:extLst>
            </p:cNvPr>
            <p:cNvSpPr txBox="1"/>
            <p:nvPr/>
          </p:nvSpPr>
          <p:spPr>
            <a:xfrm>
              <a:off x="4197670" y="1362863"/>
              <a:ext cx="170088" cy="182101"/>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tab pos="3983354" algn="l"/>
                  <a:tab pos="4931410" algn="l"/>
                  <a:tab pos="5419725" algn="l"/>
                </a:tabLst>
                <a:defRPr/>
              </a:pPr>
              <a:r>
                <a:rPr kumimoji="0" lang="en-US" sz="1100" b="0" i="0" u="none" strike="noStrike" kern="0" cap="none" spc="-25"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0</a:t>
              </a:r>
              <a:endParaRPr kumimoji="0" lang="en-US" sz="1100" b="0" i="0" u="none" strike="noStrike" kern="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2" name="object 88">
              <a:extLst>
                <a:ext uri="{FF2B5EF4-FFF2-40B4-BE49-F238E27FC236}">
                  <a16:creationId xmlns:a16="http://schemas.microsoft.com/office/drawing/2014/main" id="{04AF2044-A3CD-4C7A-A3DB-CE5CA0DC5E94}"/>
                </a:ext>
              </a:extLst>
            </p:cNvPr>
            <p:cNvSpPr/>
            <p:nvPr/>
          </p:nvSpPr>
          <p:spPr>
            <a:xfrm>
              <a:off x="3843117" y="1532541"/>
              <a:ext cx="4543200" cy="242570"/>
            </a:xfrm>
            <a:custGeom>
              <a:avLst/>
              <a:gdLst/>
              <a:ahLst/>
              <a:cxnLst/>
              <a:rect l="l" t="t" r="r" b="b"/>
              <a:pathLst>
                <a:path w="4846320" h="242569">
                  <a:moveTo>
                    <a:pt x="4725162" y="0"/>
                  </a:moveTo>
                  <a:lnTo>
                    <a:pt x="4725162" y="60579"/>
                  </a:lnTo>
                  <a:lnTo>
                    <a:pt x="121157" y="60579"/>
                  </a:lnTo>
                  <a:lnTo>
                    <a:pt x="121157" y="0"/>
                  </a:lnTo>
                  <a:lnTo>
                    <a:pt x="0" y="121158"/>
                  </a:lnTo>
                  <a:lnTo>
                    <a:pt x="121157" y="242316"/>
                  </a:lnTo>
                  <a:lnTo>
                    <a:pt x="121157" y="181737"/>
                  </a:lnTo>
                  <a:lnTo>
                    <a:pt x="4725162" y="181737"/>
                  </a:lnTo>
                  <a:lnTo>
                    <a:pt x="4725162" y="242316"/>
                  </a:lnTo>
                  <a:lnTo>
                    <a:pt x="4846320" y="121158"/>
                  </a:lnTo>
                  <a:lnTo>
                    <a:pt x="4725162" y="0"/>
                  </a:lnTo>
                  <a:close/>
                </a:path>
              </a:pathLst>
            </a:custGeom>
            <a:gradFill flip="none" rotWithShape="1">
              <a:gsLst>
                <a:gs pos="0">
                  <a:schemeClr val="bg1">
                    <a:lumMod val="85000"/>
                  </a:schemeClr>
                </a:gs>
                <a:gs pos="100000">
                  <a:schemeClr val="bg1">
                    <a:lumMod val="50000"/>
                  </a:schemeClr>
                </a:gs>
              </a:gsLst>
              <a:lin ang="0" scaled="1"/>
              <a:tileRect/>
            </a:gra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3" name="Triangle 41">
              <a:extLst>
                <a:ext uri="{FF2B5EF4-FFF2-40B4-BE49-F238E27FC236}">
                  <a16:creationId xmlns:a16="http://schemas.microsoft.com/office/drawing/2014/main" id="{E579F899-E5EA-A765-A471-D32BCB4C8E3F}"/>
                </a:ext>
              </a:extLst>
            </p:cNvPr>
            <p:cNvSpPr/>
            <p:nvPr/>
          </p:nvSpPr>
          <p:spPr bwMode="gray">
            <a:xfrm>
              <a:off x="4006703" y="1372206"/>
              <a:ext cx="189562" cy="163415"/>
            </a:xfrm>
            <a:prstGeom prst="triangle">
              <a:avLst/>
            </a:prstGeom>
            <a:solidFill>
              <a:schemeClr val="bg1">
                <a:lumMod val="8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US" sz="1600" b="1">
                <a:solidFill>
                  <a:schemeClr val="bg1"/>
                </a:solidFill>
              </a:endParaRPr>
            </a:p>
          </p:txBody>
        </p:sp>
        <p:sp>
          <p:nvSpPr>
            <p:cNvPr id="64" name="object 26">
              <a:extLst>
                <a:ext uri="{FF2B5EF4-FFF2-40B4-BE49-F238E27FC236}">
                  <a16:creationId xmlns:a16="http://schemas.microsoft.com/office/drawing/2014/main" id="{2A56ECCF-1B1D-5132-27CB-CE0E55EE858D}"/>
                </a:ext>
              </a:extLst>
            </p:cNvPr>
            <p:cNvSpPr txBox="1"/>
            <p:nvPr/>
          </p:nvSpPr>
          <p:spPr>
            <a:xfrm>
              <a:off x="7789723" y="1362863"/>
              <a:ext cx="270775" cy="182101"/>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tab pos="3983354" algn="l"/>
                  <a:tab pos="4931410" algn="l"/>
                  <a:tab pos="5419725" algn="l"/>
                </a:tabLst>
                <a:defRPr/>
              </a:pPr>
              <a:r>
                <a:rPr kumimoji="0" lang="en-US" sz="1100" b="0" i="0" u="none" strike="noStrike" kern="0" cap="none" spc="-25"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100</a:t>
              </a:r>
              <a:endParaRPr kumimoji="0" lang="en-US" sz="1100" b="0" i="0" u="none" strike="noStrike" kern="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5" name="Triangle 43">
              <a:extLst>
                <a:ext uri="{FF2B5EF4-FFF2-40B4-BE49-F238E27FC236}">
                  <a16:creationId xmlns:a16="http://schemas.microsoft.com/office/drawing/2014/main" id="{FC9E8CE7-68CC-F30F-11B5-A135D7345059}"/>
                </a:ext>
              </a:extLst>
            </p:cNvPr>
            <p:cNvSpPr/>
            <p:nvPr/>
          </p:nvSpPr>
          <p:spPr bwMode="gray">
            <a:xfrm>
              <a:off x="8062220" y="1372206"/>
              <a:ext cx="189562" cy="163415"/>
            </a:xfrm>
            <a:prstGeom prst="triangle">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US" sz="1600" b="1">
                <a:solidFill>
                  <a:schemeClr val="bg1"/>
                </a:solidFill>
              </a:endParaRPr>
            </a:p>
          </p:txBody>
        </p:sp>
        <p:grpSp>
          <p:nvGrpSpPr>
            <p:cNvPr id="66" name="Group 578">
              <a:extLst>
                <a:ext uri="{FF2B5EF4-FFF2-40B4-BE49-F238E27FC236}">
                  <a16:creationId xmlns:a16="http://schemas.microsoft.com/office/drawing/2014/main" id="{3F7B83F4-710A-A029-BCAF-B17EECA6BAEF}"/>
                </a:ext>
              </a:extLst>
            </p:cNvPr>
            <p:cNvGrpSpPr>
              <a:grpSpLocks noChangeAspect="1"/>
            </p:cNvGrpSpPr>
            <p:nvPr/>
          </p:nvGrpSpPr>
          <p:grpSpPr bwMode="auto">
            <a:xfrm>
              <a:off x="521210" y="1405493"/>
              <a:ext cx="326987" cy="326988"/>
              <a:chOff x="1932" y="2478"/>
              <a:chExt cx="340" cy="340"/>
            </a:xfrm>
            <a:solidFill>
              <a:schemeClr val="bg1"/>
            </a:solidFill>
          </p:grpSpPr>
          <p:sp>
            <p:nvSpPr>
              <p:cNvPr id="77" name="Freeform 579">
                <a:extLst>
                  <a:ext uri="{FF2B5EF4-FFF2-40B4-BE49-F238E27FC236}">
                    <a16:creationId xmlns:a16="http://schemas.microsoft.com/office/drawing/2014/main" id="{D67E7A8E-7C27-A1CE-3BA6-90EB2F3A5353}"/>
                  </a:ext>
                </a:extLst>
              </p:cNvPr>
              <p:cNvSpPr>
                <a:spLocks noEditPoints="1"/>
              </p:cNvSpPr>
              <p:nvPr/>
            </p:nvSpPr>
            <p:spPr bwMode="auto">
              <a:xfrm>
                <a:off x="1996" y="2548"/>
                <a:ext cx="202" cy="185"/>
              </a:xfrm>
              <a:custGeom>
                <a:avLst/>
                <a:gdLst>
                  <a:gd name="T0" fmla="*/ 298 w 304"/>
                  <a:gd name="T1" fmla="*/ 160 h 278"/>
                  <a:gd name="T2" fmla="*/ 234 w 304"/>
                  <a:gd name="T3" fmla="*/ 96 h 278"/>
                  <a:gd name="T4" fmla="*/ 196 w 304"/>
                  <a:gd name="T5" fmla="*/ 96 h 278"/>
                  <a:gd name="T6" fmla="*/ 213 w 304"/>
                  <a:gd name="T7" fmla="*/ 46 h 278"/>
                  <a:gd name="T8" fmla="*/ 199 w 304"/>
                  <a:gd name="T9" fmla="*/ 3 h 278"/>
                  <a:gd name="T10" fmla="*/ 191 w 304"/>
                  <a:gd name="T11" fmla="*/ 0 h 278"/>
                  <a:gd name="T12" fmla="*/ 184 w 304"/>
                  <a:gd name="T13" fmla="*/ 4 h 278"/>
                  <a:gd name="T14" fmla="*/ 89 w 304"/>
                  <a:gd name="T15" fmla="*/ 112 h 278"/>
                  <a:gd name="T16" fmla="*/ 88 w 304"/>
                  <a:gd name="T17" fmla="*/ 114 h 278"/>
                  <a:gd name="T18" fmla="*/ 79 w 304"/>
                  <a:gd name="T19" fmla="*/ 128 h 278"/>
                  <a:gd name="T20" fmla="*/ 10 w 304"/>
                  <a:gd name="T21" fmla="*/ 128 h 278"/>
                  <a:gd name="T22" fmla="*/ 0 w 304"/>
                  <a:gd name="T23" fmla="*/ 139 h 278"/>
                  <a:gd name="T24" fmla="*/ 0 w 304"/>
                  <a:gd name="T25" fmla="*/ 256 h 278"/>
                  <a:gd name="T26" fmla="*/ 10 w 304"/>
                  <a:gd name="T27" fmla="*/ 267 h 278"/>
                  <a:gd name="T28" fmla="*/ 95 w 304"/>
                  <a:gd name="T29" fmla="*/ 267 h 278"/>
                  <a:gd name="T30" fmla="*/ 128 w 304"/>
                  <a:gd name="T31" fmla="*/ 278 h 278"/>
                  <a:gd name="T32" fmla="*/ 224 w 304"/>
                  <a:gd name="T33" fmla="*/ 278 h 278"/>
                  <a:gd name="T34" fmla="*/ 274 w 304"/>
                  <a:gd name="T35" fmla="*/ 256 h 278"/>
                  <a:gd name="T36" fmla="*/ 298 w 304"/>
                  <a:gd name="T37" fmla="*/ 160 h 278"/>
                  <a:gd name="T38" fmla="*/ 21 w 304"/>
                  <a:gd name="T39" fmla="*/ 150 h 278"/>
                  <a:gd name="T40" fmla="*/ 74 w 304"/>
                  <a:gd name="T41" fmla="*/ 150 h 278"/>
                  <a:gd name="T42" fmla="*/ 74 w 304"/>
                  <a:gd name="T43" fmla="*/ 150 h 278"/>
                  <a:gd name="T44" fmla="*/ 74 w 304"/>
                  <a:gd name="T45" fmla="*/ 224 h 278"/>
                  <a:gd name="T46" fmla="*/ 78 w 304"/>
                  <a:gd name="T47" fmla="*/ 246 h 278"/>
                  <a:gd name="T48" fmla="*/ 21 w 304"/>
                  <a:gd name="T49" fmla="*/ 246 h 278"/>
                  <a:gd name="T50" fmla="*/ 21 w 304"/>
                  <a:gd name="T51" fmla="*/ 150 h 278"/>
                  <a:gd name="T52" fmla="*/ 258 w 304"/>
                  <a:gd name="T53" fmla="*/ 242 h 278"/>
                  <a:gd name="T54" fmla="*/ 224 w 304"/>
                  <a:gd name="T55" fmla="*/ 256 h 278"/>
                  <a:gd name="T56" fmla="*/ 128 w 304"/>
                  <a:gd name="T57" fmla="*/ 256 h 278"/>
                  <a:gd name="T58" fmla="*/ 96 w 304"/>
                  <a:gd name="T59" fmla="*/ 224 h 278"/>
                  <a:gd name="T60" fmla="*/ 96 w 304"/>
                  <a:gd name="T61" fmla="*/ 150 h 278"/>
                  <a:gd name="T62" fmla="*/ 104 w 304"/>
                  <a:gd name="T63" fmla="*/ 127 h 278"/>
                  <a:gd name="T64" fmla="*/ 105 w 304"/>
                  <a:gd name="T65" fmla="*/ 127 h 278"/>
                  <a:gd name="T66" fmla="*/ 191 w 304"/>
                  <a:gd name="T67" fmla="*/ 28 h 278"/>
                  <a:gd name="T68" fmla="*/ 192 w 304"/>
                  <a:gd name="T69" fmla="*/ 40 h 278"/>
                  <a:gd name="T70" fmla="*/ 171 w 304"/>
                  <a:gd name="T71" fmla="*/ 104 h 278"/>
                  <a:gd name="T72" fmla="*/ 171 w 304"/>
                  <a:gd name="T73" fmla="*/ 104 h 278"/>
                  <a:gd name="T74" fmla="*/ 170 w 304"/>
                  <a:gd name="T75" fmla="*/ 107 h 278"/>
                  <a:gd name="T76" fmla="*/ 181 w 304"/>
                  <a:gd name="T77" fmla="*/ 118 h 278"/>
                  <a:gd name="T78" fmla="*/ 234 w 304"/>
                  <a:gd name="T79" fmla="*/ 118 h 278"/>
                  <a:gd name="T80" fmla="*/ 277 w 304"/>
                  <a:gd name="T81" fmla="*/ 161 h 278"/>
                  <a:gd name="T82" fmla="*/ 258 w 304"/>
                  <a:gd name="T83" fmla="*/ 242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04" h="278">
                    <a:moveTo>
                      <a:pt x="298" y="160"/>
                    </a:moveTo>
                    <a:cubicBezTo>
                      <a:pt x="298" y="129"/>
                      <a:pt x="265" y="96"/>
                      <a:pt x="234" y="96"/>
                    </a:cubicBezTo>
                    <a:cubicBezTo>
                      <a:pt x="196" y="96"/>
                      <a:pt x="196" y="96"/>
                      <a:pt x="196" y="96"/>
                    </a:cubicBezTo>
                    <a:cubicBezTo>
                      <a:pt x="213" y="46"/>
                      <a:pt x="213" y="46"/>
                      <a:pt x="213" y="46"/>
                    </a:cubicBezTo>
                    <a:cubicBezTo>
                      <a:pt x="219" y="23"/>
                      <a:pt x="200" y="4"/>
                      <a:pt x="199" y="3"/>
                    </a:cubicBezTo>
                    <a:cubicBezTo>
                      <a:pt x="197" y="1"/>
                      <a:pt x="194" y="0"/>
                      <a:pt x="191" y="0"/>
                    </a:cubicBezTo>
                    <a:cubicBezTo>
                      <a:pt x="188" y="0"/>
                      <a:pt x="186" y="2"/>
                      <a:pt x="184" y="4"/>
                    </a:cubicBezTo>
                    <a:cubicBezTo>
                      <a:pt x="89" y="112"/>
                      <a:pt x="89" y="112"/>
                      <a:pt x="89" y="112"/>
                    </a:cubicBezTo>
                    <a:cubicBezTo>
                      <a:pt x="89" y="112"/>
                      <a:pt x="89" y="112"/>
                      <a:pt x="88" y="114"/>
                    </a:cubicBezTo>
                    <a:cubicBezTo>
                      <a:pt x="84" y="118"/>
                      <a:pt x="81" y="123"/>
                      <a:pt x="79" y="128"/>
                    </a:cubicBezTo>
                    <a:cubicBezTo>
                      <a:pt x="10" y="128"/>
                      <a:pt x="10" y="128"/>
                      <a:pt x="10" y="128"/>
                    </a:cubicBezTo>
                    <a:cubicBezTo>
                      <a:pt x="4" y="128"/>
                      <a:pt x="0" y="133"/>
                      <a:pt x="0" y="139"/>
                    </a:cubicBezTo>
                    <a:cubicBezTo>
                      <a:pt x="0" y="256"/>
                      <a:pt x="0" y="256"/>
                      <a:pt x="0" y="256"/>
                    </a:cubicBezTo>
                    <a:cubicBezTo>
                      <a:pt x="0" y="262"/>
                      <a:pt x="4" y="267"/>
                      <a:pt x="10" y="267"/>
                    </a:cubicBezTo>
                    <a:cubicBezTo>
                      <a:pt x="95" y="267"/>
                      <a:pt x="95" y="267"/>
                      <a:pt x="95" y="267"/>
                    </a:cubicBezTo>
                    <a:cubicBezTo>
                      <a:pt x="104" y="274"/>
                      <a:pt x="115" y="278"/>
                      <a:pt x="128" y="278"/>
                    </a:cubicBezTo>
                    <a:cubicBezTo>
                      <a:pt x="224" y="278"/>
                      <a:pt x="224" y="278"/>
                      <a:pt x="224" y="278"/>
                    </a:cubicBezTo>
                    <a:cubicBezTo>
                      <a:pt x="244" y="278"/>
                      <a:pt x="261" y="271"/>
                      <a:pt x="274" y="256"/>
                    </a:cubicBezTo>
                    <a:cubicBezTo>
                      <a:pt x="304" y="223"/>
                      <a:pt x="299" y="162"/>
                      <a:pt x="298" y="160"/>
                    </a:cubicBezTo>
                    <a:close/>
                    <a:moveTo>
                      <a:pt x="21" y="150"/>
                    </a:moveTo>
                    <a:cubicBezTo>
                      <a:pt x="74" y="150"/>
                      <a:pt x="74" y="150"/>
                      <a:pt x="74" y="150"/>
                    </a:cubicBezTo>
                    <a:cubicBezTo>
                      <a:pt x="74" y="150"/>
                      <a:pt x="74" y="150"/>
                      <a:pt x="74" y="150"/>
                    </a:cubicBezTo>
                    <a:cubicBezTo>
                      <a:pt x="74" y="224"/>
                      <a:pt x="74" y="224"/>
                      <a:pt x="74" y="224"/>
                    </a:cubicBezTo>
                    <a:cubicBezTo>
                      <a:pt x="74" y="232"/>
                      <a:pt x="76" y="239"/>
                      <a:pt x="78" y="246"/>
                    </a:cubicBezTo>
                    <a:cubicBezTo>
                      <a:pt x="21" y="246"/>
                      <a:pt x="21" y="246"/>
                      <a:pt x="21" y="246"/>
                    </a:cubicBezTo>
                    <a:lnTo>
                      <a:pt x="21" y="150"/>
                    </a:lnTo>
                    <a:close/>
                    <a:moveTo>
                      <a:pt x="258" y="242"/>
                    </a:moveTo>
                    <a:cubicBezTo>
                      <a:pt x="250" y="252"/>
                      <a:pt x="238" y="256"/>
                      <a:pt x="224" y="256"/>
                    </a:cubicBezTo>
                    <a:cubicBezTo>
                      <a:pt x="128" y="256"/>
                      <a:pt x="128" y="256"/>
                      <a:pt x="128" y="256"/>
                    </a:cubicBezTo>
                    <a:cubicBezTo>
                      <a:pt x="109" y="256"/>
                      <a:pt x="96" y="243"/>
                      <a:pt x="96" y="224"/>
                    </a:cubicBezTo>
                    <a:cubicBezTo>
                      <a:pt x="96" y="150"/>
                      <a:pt x="96" y="150"/>
                      <a:pt x="96" y="150"/>
                    </a:cubicBezTo>
                    <a:cubicBezTo>
                      <a:pt x="96" y="142"/>
                      <a:pt x="99" y="134"/>
                      <a:pt x="104" y="127"/>
                    </a:cubicBezTo>
                    <a:cubicBezTo>
                      <a:pt x="105" y="127"/>
                      <a:pt x="105" y="127"/>
                      <a:pt x="105" y="127"/>
                    </a:cubicBezTo>
                    <a:cubicBezTo>
                      <a:pt x="191" y="28"/>
                      <a:pt x="191" y="28"/>
                      <a:pt x="191" y="28"/>
                    </a:cubicBezTo>
                    <a:cubicBezTo>
                      <a:pt x="192" y="32"/>
                      <a:pt x="193" y="36"/>
                      <a:pt x="192" y="40"/>
                    </a:cubicBezTo>
                    <a:cubicBezTo>
                      <a:pt x="171" y="104"/>
                      <a:pt x="171" y="104"/>
                      <a:pt x="171" y="104"/>
                    </a:cubicBezTo>
                    <a:cubicBezTo>
                      <a:pt x="171" y="104"/>
                      <a:pt x="171" y="104"/>
                      <a:pt x="171" y="104"/>
                    </a:cubicBezTo>
                    <a:cubicBezTo>
                      <a:pt x="171" y="105"/>
                      <a:pt x="170" y="106"/>
                      <a:pt x="170" y="107"/>
                    </a:cubicBezTo>
                    <a:cubicBezTo>
                      <a:pt x="170" y="113"/>
                      <a:pt x="175" y="118"/>
                      <a:pt x="181" y="118"/>
                    </a:cubicBezTo>
                    <a:cubicBezTo>
                      <a:pt x="234" y="118"/>
                      <a:pt x="234" y="118"/>
                      <a:pt x="234" y="118"/>
                    </a:cubicBezTo>
                    <a:cubicBezTo>
                      <a:pt x="253" y="118"/>
                      <a:pt x="277" y="141"/>
                      <a:pt x="277" y="161"/>
                    </a:cubicBezTo>
                    <a:cubicBezTo>
                      <a:pt x="277" y="162"/>
                      <a:pt x="282" y="216"/>
                      <a:pt x="258" y="2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8" name="Freeform 580">
                <a:extLst>
                  <a:ext uri="{FF2B5EF4-FFF2-40B4-BE49-F238E27FC236}">
                    <a16:creationId xmlns:a16="http://schemas.microsoft.com/office/drawing/2014/main" id="{7781A46B-5EC0-E780-FB4C-818F6D301927}"/>
                  </a:ext>
                </a:extLst>
              </p:cNvPr>
              <p:cNvSpPr>
                <a:spLocks noEditPoints="1"/>
              </p:cNvSpPr>
              <p:nvPr/>
            </p:nvSpPr>
            <p:spPr bwMode="auto">
              <a:xfrm>
                <a:off x="1932" y="2478"/>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70" name="Group 499">
              <a:extLst>
                <a:ext uri="{FF2B5EF4-FFF2-40B4-BE49-F238E27FC236}">
                  <a16:creationId xmlns:a16="http://schemas.microsoft.com/office/drawing/2014/main" id="{4E77FA1E-84EB-63E6-0DF0-76AFAB235A5C}"/>
                </a:ext>
              </a:extLst>
            </p:cNvPr>
            <p:cNvGrpSpPr>
              <a:grpSpLocks noChangeAspect="1"/>
            </p:cNvGrpSpPr>
            <p:nvPr/>
          </p:nvGrpSpPr>
          <p:grpSpPr bwMode="auto">
            <a:xfrm>
              <a:off x="8715091" y="1404611"/>
              <a:ext cx="329718" cy="328753"/>
              <a:chOff x="5800" y="1938"/>
              <a:chExt cx="341" cy="340"/>
            </a:xfrm>
            <a:solidFill>
              <a:schemeClr val="bg1"/>
            </a:solidFill>
          </p:grpSpPr>
          <p:sp>
            <p:nvSpPr>
              <p:cNvPr id="75" name="Freeform 500">
                <a:extLst>
                  <a:ext uri="{FF2B5EF4-FFF2-40B4-BE49-F238E27FC236}">
                    <a16:creationId xmlns:a16="http://schemas.microsoft.com/office/drawing/2014/main" id="{B170AFFD-8B67-5999-C59E-359385BB8C64}"/>
                  </a:ext>
                </a:extLst>
              </p:cNvPr>
              <p:cNvSpPr>
                <a:spLocks noEditPoints="1"/>
              </p:cNvSpPr>
              <p:nvPr/>
            </p:nvSpPr>
            <p:spPr bwMode="auto">
              <a:xfrm>
                <a:off x="5800" y="193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6" name="Freeform 501">
                <a:extLst>
                  <a:ext uri="{FF2B5EF4-FFF2-40B4-BE49-F238E27FC236}">
                    <a16:creationId xmlns:a16="http://schemas.microsoft.com/office/drawing/2014/main" id="{4BA7AD30-5743-3EFB-3C03-D7CB21ACD8E3}"/>
                  </a:ext>
                </a:extLst>
              </p:cNvPr>
              <p:cNvSpPr>
                <a:spLocks noEditPoints="1"/>
              </p:cNvSpPr>
              <p:nvPr/>
            </p:nvSpPr>
            <p:spPr bwMode="auto">
              <a:xfrm>
                <a:off x="5879" y="2016"/>
                <a:ext cx="183" cy="184"/>
              </a:xfrm>
              <a:custGeom>
                <a:avLst/>
                <a:gdLst>
                  <a:gd name="T0" fmla="*/ 10 w 275"/>
                  <a:gd name="T1" fmla="*/ 0 h 278"/>
                  <a:gd name="T2" fmla="*/ 0 w 275"/>
                  <a:gd name="T3" fmla="*/ 267 h 278"/>
                  <a:gd name="T4" fmla="*/ 264 w 275"/>
                  <a:gd name="T5" fmla="*/ 278 h 278"/>
                  <a:gd name="T6" fmla="*/ 275 w 275"/>
                  <a:gd name="T7" fmla="*/ 11 h 278"/>
                  <a:gd name="T8" fmla="*/ 254 w 275"/>
                  <a:gd name="T9" fmla="*/ 256 h 278"/>
                  <a:gd name="T10" fmla="*/ 21 w 275"/>
                  <a:gd name="T11" fmla="*/ 21 h 278"/>
                  <a:gd name="T12" fmla="*/ 254 w 275"/>
                  <a:gd name="T13" fmla="*/ 256 h 278"/>
                  <a:gd name="T14" fmla="*/ 116 w 275"/>
                  <a:gd name="T15" fmla="*/ 128 h 278"/>
                  <a:gd name="T16" fmla="*/ 127 w 275"/>
                  <a:gd name="T17" fmla="*/ 53 h 278"/>
                  <a:gd name="T18" fmla="*/ 52 w 275"/>
                  <a:gd name="T19" fmla="*/ 43 h 278"/>
                  <a:gd name="T20" fmla="*/ 42 w 275"/>
                  <a:gd name="T21" fmla="*/ 117 h 278"/>
                  <a:gd name="T22" fmla="*/ 63 w 275"/>
                  <a:gd name="T23" fmla="*/ 64 h 278"/>
                  <a:gd name="T24" fmla="*/ 106 w 275"/>
                  <a:gd name="T25" fmla="*/ 107 h 278"/>
                  <a:gd name="T26" fmla="*/ 63 w 275"/>
                  <a:gd name="T27" fmla="*/ 64 h 278"/>
                  <a:gd name="T28" fmla="*/ 116 w 275"/>
                  <a:gd name="T29" fmla="*/ 235 h 278"/>
                  <a:gd name="T30" fmla="*/ 127 w 275"/>
                  <a:gd name="T31" fmla="*/ 160 h 278"/>
                  <a:gd name="T32" fmla="*/ 52 w 275"/>
                  <a:gd name="T33" fmla="*/ 149 h 278"/>
                  <a:gd name="T34" fmla="*/ 42 w 275"/>
                  <a:gd name="T35" fmla="*/ 224 h 278"/>
                  <a:gd name="T36" fmla="*/ 63 w 275"/>
                  <a:gd name="T37" fmla="*/ 171 h 278"/>
                  <a:gd name="T38" fmla="*/ 106 w 275"/>
                  <a:gd name="T39" fmla="*/ 213 h 278"/>
                  <a:gd name="T40" fmla="*/ 63 w 275"/>
                  <a:gd name="T41" fmla="*/ 171 h 278"/>
                  <a:gd name="T42" fmla="*/ 223 w 275"/>
                  <a:gd name="T43" fmla="*/ 128 h 278"/>
                  <a:gd name="T44" fmla="*/ 234 w 275"/>
                  <a:gd name="T45" fmla="*/ 53 h 278"/>
                  <a:gd name="T46" fmla="*/ 159 w 275"/>
                  <a:gd name="T47" fmla="*/ 43 h 278"/>
                  <a:gd name="T48" fmla="*/ 148 w 275"/>
                  <a:gd name="T49" fmla="*/ 117 h 278"/>
                  <a:gd name="T50" fmla="*/ 170 w 275"/>
                  <a:gd name="T51" fmla="*/ 64 h 278"/>
                  <a:gd name="T52" fmla="*/ 212 w 275"/>
                  <a:gd name="T53" fmla="*/ 107 h 278"/>
                  <a:gd name="T54" fmla="*/ 170 w 275"/>
                  <a:gd name="T55" fmla="*/ 64 h 278"/>
                  <a:gd name="T56" fmla="*/ 148 w 275"/>
                  <a:gd name="T57" fmla="*/ 160 h 278"/>
                  <a:gd name="T58" fmla="*/ 223 w 275"/>
                  <a:gd name="T59" fmla="*/ 149 h 278"/>
                  <a:gd name="T60" fmla="*/ 223 w 275"/>
                  <a:gd name="T61" fmla="*/ 171 h 278"/>
                  <a:gd name="T62" fmla="*/ 170 w 275"/>
                  <a:gd name="T63" fmla="*/ 224 h 278"/>
                  <a:gd name="T64" fmla="*/ 148 w 275"/>
                  <a:gd name="T65" fmla="*/ 224 h 278"/>
                  <a:gd name="T66" fmla="*/ 234 w 275"/>
                  <a:gd name="T67" fmla="*/ 224 h 278"/>
                  <a:gd name="T68" fmla="*/ 191 w 275"/>
                  <a:gd name="T69" fmla="*/ 235 h 278"/>
                  <a:gd name="T70" fmla="*/ 191 w 275"/>
                  <a:gd name="T71" fmla="*/ 213 h 278"/>
                  <a:gd name="T72" fmla="*/ 212 w 275"/>
                  <a:gd name="T73" fmla="*/ 192 h 278"/>
                  <a:gd name="T74" fmla="*/ 234 w 275"/>
                  <a:gd name="T75" fmla="*/ 192 h 278"/>
                  <a:gd name="T76" fmla="*/ 84 w 275"/>
                  <a:gd name="T77" fmla="*/ 96 h 278"/>
                  <a:gd name="T78" fmla="*/ 84 w 275"/>
                  <a:gd name="T79" fmla="*/ 75 h 278"/>
                  <a:gd name="T80" fmla="*/ 95 w 275"/>
                  <a:gd name="T81" fmla="*/ 192 h 278"/>
                  <a:gd name="T82" fmla="*/ 74 w 275"/>
                  <a:gd name="T83" fmla="*/ 192 h 278"/>
                  <a:gd name="T84" fmla="*/ 95 w 275"/>
                  <a:gd name="T85" fmla="*/ 192 h 278"/>
                  <a:gd name="T86" fmla="*/ 191 w 275"/>
                  <a:gd name="T87" fmla="*/ 96 h 278"/>
                  <a:gd name="T88" fmla="*/ 191 w 275"/>
                  <a:gd name="T89" fmla="*/ 75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75" h="278">
                    <a:moveTo>
                      <a:pt x="264" y="0"/>
                    </a:moveTo>
                    <a:cubicBezTo>
                      <a:pt x="10" y="0"/>
                      <a:pt x="10" y="0"/>
                      <a:pt x="10" y="0"/>
                    </a:cubicBezTo>
                    <a:cubicBezTo>
                      <a:pt x="4" y="0"/>
                      <a:pt x="0" y="5"/>
                      <a:pt x="0" y="11"/>
                    </a:cubicBezTo>
                    <a:cubicBezTo>
                      <a:pt x="0" y="267"/>
                      <a:pt x="0" y="267"/>
                      <a:pt x="0" y="267"/>
                    </a:cubicBezTo>
                    <a:cubicBezTo>
                      <a:pt x="0" y="273"/>
                      <a:pt x="4" y="278"/>
                      <a:pt x="10" y="278"/>
                    </a:cubicBezTo>
                    <a:cubicBezTo>
                      <a:pt x="264" y="278"/>
                      <a:pt x="264" y="278"/>
                      <a:pt x="264" y="278"/>
                    </a:cubicBezTo>
                    <a:cubicBezTo>
                      <a:pt x="270" y="278"/>
                      <a:pt x="275" y="273"/>
                      <a:pt x="275" y="267"/>
                    </a:cubicBezTo>
                    <a:cubicBezTo>
                      <a:pt x="275" y="11"/>
                      <a:pt x="275" y="11"/>
                      <a:pt x="275" y="11"/>
                    </a:cubicBezTo>
                    <a:cubicBezTo>
                      <a:pt x="275" y="5"/>
                      <a:pt x="270" y="0"/>
                      <a:pt x="264" y="0"/>
                    </a:cubicBezTo>
                    <a:close/>
                    <a:moveTo>
                      <a:pt x="254" y="256"/>
                    </a:moveTo>
                    <a:cubicBezTo>
                      <a:pt x="21" y="256"/>
                      <a:pt x="21" y="256"/>
                      <a:pt x="21" y="256"/>
                    </a:cubicBezTo>
                    <a:cubicBezTo>
                      <a:pt x="21" y="21"/>
                      <a:pt x="21" y="21"/>
                      <a:pt x="21" y="21"/>
                    </a:cubicBezTo>
                    <a:cubicBezTo>
                      <a:pt x="254" y="21"/>
                      <a:pt x="254" y="21"/>
                      <a:pt x="254" y="21"/>
                    </a:cubicBezTo>
                    <a:lnTo>
                      <a:pt x="254" y="256"/>
                    </a:lnTo>
                    <a:close/>
                    <a:moveTo>
                      <a:pt x="52" y="128"/>
                    </a:moveTo>
                    <a:cubicBezTo>
                      <a:pt x="116" y="128"/>
                      <a:pt x="116" y="128"/>
                      <a:pt x="116" y="128"/>
                    </a:cubicBezTo>
                    <a:cubicBezTo>
                      <a:pt x="122" y="128"/>
                      <a:pt x="127" y="123"/>
                      <a:pt x="127" y="117"/>
                    </a:cubicBezTo>
                    <a:cubicBezTo>
                      <a:pt x="127" y="53"/>
                      <a:pt x="127" y="53"/>
                      <a:pt x="127" y="53"/>
                    </a:cubicBezTo>
                    <a:cubicBezTo>
                      <a:pt x="127" y="47"/>
                      <a:pt x="122" y="43"/>
                      <a:pt x="116" y="43"/>
                    </a:cubicBezTo>
                    <a:cubicBezTo>
                      <a:pt x="52" y="43"/>
                      <a:pt x="52" y="43"/>
                      <a:pt x="52" y="43"/>
                    </a:cubicBezTo>
                    <a:cubicBezTo>
                      <a:pt x="46" y="43"/>
                      <a:pt x="42" y="47"/>
                      <a:pt x="42" y="53"/>
                    </a:cubicBezTo>
                    <a:cubicBezTo>
                      <a:pt x="42" y="117"/>
                      <a:pt x="42" y="117"/>
                      <a:pt x="42" y="117"/>
                    </a:cubicBezTo>
                    <a:cubicBezTo>
                      <a:pt x="42" y="123"/>
                      <a:pt x="46" y="128"/>
                      <a:pt x="52" y="128"/>
                    </a:cubicBezTo>
                    <a:close/>
                    <a:moveTo>
                      <a:pt x="63" y="64"/>
                    </a:moveTo>
                    <a:cubicBezTo>
                      <a:pt x="106" y="64"/>
                      <a:pt x="106" y="64"/>
                      <a:pt x="106" y="64"/>
                    </a:cubicBezTo>
                    <a:cubicBezTo>
                      <a:pt x="106" y="107"/>
                      <a:pt x="106" y="107"/>
                      <a:pt x="106" y="107"/>
                    </a:cubicBezTo>
                    <a:cubicBezTo>
                      <a:pt x="63" y="107"/>
                      <a:pt x="63" y="107"/>
                      <a:pt x="63" y="107"/>
                    </a:cubicBezTo>
                    <a:lnTo>
                      <a:pt x="63" y="64"/>
                    </a:lnTo>
                    <a:close/>
                    <a:moveTo>
                      <a:pt x="52" y="235"/>
                    </a:moveTo>
                    <a:cubicBezTo>
                      <a:pt x="116" y="235"/>
                      <a:pt x="116" y="235"/>
                      <a:pt x="116" y="235"/>
                    </a:cubicBezTo>
                    <a:cubicBezTo>
                      <a:pt x="122" y="235"/>
                      <a:pt x="127" y="230"/>
                      <a:pt x="127" y="224"/>
                    </a:cubicBezTo>
                    <a:cubicBezTo>
                      <a:pt x="127" y="160"/>
                      <a:pt x="127" y="160"/>
                      <a:pt x="127" y="160"/>
                    </a:cubicBezTo>
                    <a:cubicBezTo>
                      <a:pt x="127" y="154"/>
                      <a:pt x="122" y="149"/>
                      <a:pt x="116" y="149"/>
                    </a:cubicBezTo>
                    <a:cubicBezTo>
                      <a:pt x="52" y="149"/>
                      <a:pt x="52" y="149"/>
                      <a:pt x="52" y="149"/>
                    </a:cubicBezTo>
                    <a:cubicBezTo>
                      <a:pt x="46" y="149"/>
                      <a:pt x="42" y="154"/>
                      <a:pt x="42" y="160"/>
                    </a:cubicBezTo>
                    <a:cubicBezTo>
                      <a:pt x="42" y="224"/>
                      <a:pt x="42" y="224"/>
                      <a:pt x="42" y="224"/>
                    </a:cubicBezTo>
                    <a:cubicBezTo>
                      <a:pt x="42" y="230"/>
                      <a:pt x="46" y="235"/>
                      <a:pt x="52" y="235"/>
                    </a:cubicBezTo>
                    <a:close/>
                    <a:moveTo>
                      <a:pt x="63" y="171"/>
                    </a:moveTo>
                    <a:cubicBezTo>
                      <a:pt x="106" y="171"/>
                      <a:pt x="106" y="171"/>
                      <a:pt x="106" y="171"/>
                    </a:cubicBezTo>
                    <a:cubicBezTo>
                      <a:pt x="106" y="213"/>
                      <a:pt x="106" y="213"/>
                      <a:pt x="106" y="213"/>
                    </a:cubicBezTo>
                    <a:cubicBezTo>
                      <a:pt x="63" y="213"/>
                      <a:pt x="63" y="213"/>
                      <a:pt x="63" y="213"/>
                    </a:cubicBezTo>
                    <a:lnTo>
                      <a:pt x="63" y="171"/>
                    </a:lnTo>
                    <a:close/>
                    <a:moveTo>
                      <a:pt x="159" y="128"/>
                    </a:moveTo>
                    <a:cubicBezTo>
                      <a:pt x="223" y="128"/>
                      <a:pt x="223" y="128"/>
                      <a:pt x="223" y="128"/>
                    </a:cubicBezTo>
                    <a:cubicBezTo>
                      <a:pt x="229" y="128"/>
                      <a:pt x="234" y="123"/>
                      <a:pt x="234" y="117"/>
                    </a:cubicBezTo>
                    <a:cubicBezTo>
                      <a:pt x="234" y="53"/>
                      <a:pt x="234" y="53"/>
                      <a:pt x="234" y="53"/>
                    </a:cubicBezTo>
                    <a:cubicBezTo>
                      <a:pt x="234" y="47"/>
                      <a:pt x="229" y="43"/>
                      <a:pt x="223" y="43"/>
                    </a:cubicBezTo>
                    <a:cubicBezTo>
                      <a:pt x="159" y="43"/>
                      <a:pt x="159" y="43"/>
                      <a:pt x="159" y="43"/>
                    </a:cubicBezTo>
                    <a:cubicBezTo>
                      <a:pt x="153" y="43"/>
                      <a:pt x="148" y="47"/>
                      <a:pt x="148" y="53"/>
                    </a:cubicBezTo>
                    <a:cubicBezTo>
                      <a:pt x="148" y="117"/>
                      <a:pt x="148" y="117"/>
                      <a:pt x="148" y="117"/>
                    </a:cubicBezTo>
                    <a:cubicBezTo>
                      <a:pt x="148" y="123"/>
                      <a:pt x="153" y="128"/>
                      <a:pt x="159" y="128"/>
                    </a:cubicBezTo>
                    <a:close/>
                    <a:moveTo>
                      <a:pt x="170" y="64"/>
                    </a:moveTo>
                    <a:cubicBezTo>
                      <a:pt x="212" y="64"/>
                      <a:pt x="212" y="64"/>
                      <a:pt x="212" y="64"/>
                    </a:cubicBezTo>
                    <a:cubicBezTo>
                      <a:pt x="212" y="107"/>
                      <a:pt x="212" y="107"/>
                      <a:pt x="212" y="107"/>
                    </a:cubicBezTo>
                    <a:cubicBezTo>
                      <a:pt x="170" y="107"/>
                      <a:pt x="170" y="107"/>
                      <a:pt x="170" y="107"/>
                    </a:cubicBezTo>
                    <a:lnTo>
                      <a:pt x="170" y="64"/>
                    </a:lnTo>
                    <a:close/>
                    <a:moveTo>
                      <a:pt x="148" y="224"/>
                    </a:moveTo>
                    <a:cubicBezTo>
                      <a:pt x="148" y="160"/>
                      <a:pt x="148" y="160"/>
                      <a:pt x="148" y="160"/>
                    </a:cubicBezTo>
                    <a:cubicBezTo>
                      <a:pt x="148" y="154"/>
                      <a:pt x="153" y="149"/>
                      <a:pt x="159" y="149"/>
                    </a:cubicBezTo>
                    <a:cubicBezTo>
                      <a:pt x="223" y="149"/>
                      <a:pt x="223" y="149"/>
                      <a:pt x="223" y="149"/>
                    </a:cubicBezTo>
                    <a:cubicBezTo>
                      <a:pt x="229" y="149"/>
                      <a:pt x="234" y="154"/>
                      <a:pt x="234" y="160"/>
                    </a:cubicBezTo>
                    <a:cubicBezTo>
                      <a:pt x="234" y="166"/>
                      <a:pt x="229" y="171"/>
                      <a:pt x="223" y="171"/>
                    </a:cubicBezTo>
                    <a:cubicBezTo>
                      <a:pt x="170" y="171"/>
                      <a:pt x="170" y="171"/>
                      <a:pt x="170" y="171"/>
                    </a:cubicBezTo>
                    <a:cubicBezTo>
                      <a:pt x="170" y="224"/>
                      <a:pt x="170" y="224"/>
                      <a:pt x="170" y="224"/>
                    </a:cubicBezTo>
                    <a:cubicBezTo>
                      <a:pt x="170" y="230"/>
                      <a:pt x="165" y="235"/>
                      <a:pt x="159" y="235"/>
                    </a:cubicBezTo>
                    <a:cubicBezTo>
                      <a:pt x="153" y="235"/>
                      <a:pt x="148" y="230"/>
                      <a:pt x="148" y="224"/>
                    </a:cubicBezTo>
                    <a:close/>
                    <a:moveTo>
                      <a:pt x="234" y="192"/>
                    </a:moveTo>
                    <a:cubicBezTo>
                      <a:pt x="234" y="224"/>
                      <a:pt x="234" y="224"/>
                      <a:pt x="234" y="224"/>
                    </a:cubicBezTo>
                    <a:cubicBezTo>
                      <a:pt x="234" y="230"/>
                      <a:pt x="229" y="235"/>
                      <a:pt x="223" y="235"/>
                    </a:cubicBezTo>
                    <a:cubicBezTo>
                      <a:pt x="191" y="235"/>
                      <a:pt x="191" y="235"/>
                      <a:pt x="191" y="235"/>
                    </a:cubicBezTo>
                    <a:cubicBezTo>
                      <a:pt x="185" y="235"/>
                      <a:pt x="180" y="230"/>
                      <a:pt x="180" y="224"/>
                    </a:cubicBezTo>
                    <a:cubicBezTo>
                      <a:pt x="180" y="218"/>
                      <a:pt x="185" y="213"/>
                      <a:pt x="191" y="213"/>
                    </a:cubicBezTo>
                    <a:cubicBezTo>
                      <a:pt x="212" y="213"/>
                      <a:pt x="212" y="213"/>
                      <a:pt x="212" y="213"/>
                    </a:cubicBezTo>
                    <a:cubicBezTo>
                      <a:pt x="212" y="192"/>
                      <a:pt x="212" y="192"/>
                      <a:pt x="212" y="192"/>
                    </a:cubicBezTo>
                    <a:cubicBezTo>
                      <a:pt x="212" y="186"/>
                      <a:pt x="217" y="181"/>
                      <a:pt x="223" y="181"/>
                    </a:cubicBezTo>
                    <a:cubicBezTo>
                      <a:pt x="229" y="181"/>
                      <a:pt x="234" y="186"/>
                      <a:pt x="234" y="192"/>
                    </a:cubicBezTo>
                    <a:close/>
                    <a:moveTo>
                      <a:pt x="95" y="85"/>
                    </a:moveTo>
                    <a:cubicBezTo>
                      <a:pt x="95" y="91"/>
                      <a:pt x="90" y="96"/>
                      <a:pt x="84" y="96"/>
                    </a:cubicBezTo>
                    <a:cubicBezTo>
                      <a:pt x="78" y="96"/>
                      <a:pt x="74" y="91"/>
                      <a:pt x="74" y="85"/>
                    </a:cubicBezTo>
                    <a:cubicBezTo>
                      <a:pt x="74" y="79"/>
                      <a:pt x="78" y="75"/>
                      <a:pt x="84" y="75"/>
                    </a:cubicBezTo>
                    <a:cubicBezTo>
                      <a:pt x="90" y="75"/>
                      <a:pt x="95" y="79"/>
                      <a:pt x="95" y="85"/>
                    </a:cubicBezTo>
                    <a:close/>
                    <a:moveTo>
                      <a:pt x="95" y="192"/>
                    </a:moveTo>
                    <a:cubicBezTo>
                      <a:pt x="95" y="198"/>
                      <a:pt x="90" y="203"/>
                      <a:pt x="84" y="203"/>
                    </a:cubicBezTo>
                    <a:cubicBezTo>
                      <a:pt x="78" y="203"/>
                      <a:pt x="74" y="198"/>
                      <a:pt x="74" y="192"/>
                    </a:cubicBezTo>
                    <a:cubicBezTo>
                      <a:pt x="74" y="186"/>
                      <a:pt x="78" y="181"/>
                      <a:pt x="84" y="181"/>
                    </a:cubicBezTo>
                    <a:cubicBezTo>
                      <a:pt x="90" y="181"/>
                      <a:pt x="95" y="186"/>
                      <a:pt x="95" y="192"/>
                    </a:cubicBezTo>
                    <a:close/>
                    <a:moveTo>
                      <a:pt x="202" y="85"/>
                    </a:moveTo>
                    <a:cubicBezTo>
                      <a:pt x="202" y="91"/>
                      <a:pt x="197" y="96"/>
                      <a:pt x="191" y="96"/>
                    </a:cubicBezTo>
                    <a:cubicBezTo>
                      <a:pt x="185" y="96"/>
                      <a:pt x="180" y="91"/>
                      <a:pt x="180" y="85"/>
                    </a:cubicBezTo>
                    <a:cubicBezTo>
                      <a:pt x="180" y="79"/>
                      <a:pt x="185" y="75"/>
                      <a:pt x="191" y="75"/>
                    </a:cubicBezTo>
                    <a:cubicBezTo>
                      <a:pt x="197" y="75"/>
                      <a:pt x="202" y="79"/>
                      <a:pt x="202" y="8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73" name="Google Shape;313;p53">
              <a:extLst>
                <a:ext uri="{FF2B5EF4-FFF2-40B4-BE49-F238E27FC236}">
                  <a16:creationId xmlns:a16="http://schemas.microsoft.com/office/drawing/2014/main" id="{9AB76408-AF68-15E6-BCCF-F56044166D34}"/>
                </a:ext>
              </a:extLst>
            </p:cNvPr>
            <p:cNvSpPr/>
            <p:nvPr/>
          </p:nvSpPr>
          <p:spPr>
            <a:xfrm>
              <a:off x="3843117" y="3665647"/>
              <a:ext cx="2270879" cy="285550"/>
            </a:xfrm>
            <a:prstGeom prst="rect">
              <a:avLst/>
            </a:prstGeom>
            <a:solidFill>
              <a:srgbClr val="000000">
                <a:lumMod val="65000"/>
                <a:lumOff val="35000"/>
              </a:srgbClr>
            </a:solidFill>
            <a:ln>
              <a:noFill/>
            </a:ln>
          </p:spPr>
          <p:txBody>
            <a:bodyPr spcFirstLastPara="1" wrap="square" lIns="66675" tIns="66675" rIns="45720" bIns="66675" anchor="ctr" anchorCtr="0">
              <a:noAutofit/>
            </a:bodyPr>
            <a:lstStyle/>
            <a:p>
              <a:pPr lvl="0" algn="r" defTabSz="1219170">
                <a:defRPr/>
              </a:pPr>
              <a:r>
                <a:rPr lang="en-US" sz="1150" b="1"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Arial"/>
                </a:rPr>
                <a:t>50</a:t>
              </a:r>
              <a:endParaRPr lang="en-US" sz="1150" kern="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4" name="TextBox 73">
              <a:extLst>
                <a:ext uri="{FF2B5EF4-FFF2-40B4-BE49-F238E27FC236}">
                  <a16:creationId xmlns:a16="http://schemas.microsoft.com/office/drawing/2014/main" id="{DF88751D-0702-B030-E362-4DA5DCEC7048}"/>
                </a:ext>
              </a:extLst>
            </p:cNvPr>
            <p:cNvSpPr txBox="1"/>
            <p:nvPr/>
          </p:nvSpPr>
          <p:spPr>
            <a:xfrm>
              <a:off x="5245267" y="1341730"/>
              <a:ext cx="1896906" cy="215444"/>
            </a:xfrm>
            <a:prstGeom prst="rect">
              <a:avLst/>
            </a:prstGeom>
            <a:noFill/>
          </p:spPr>
          <p:txBody>
            <a:bodyPr wrap="square" lIns="0" tIns="0" rIns="0" bIns="0" rtlCol="0" anchor="b">
              <a:spAutoFit/>
            </a:bodyPr>
            <a:lstStyle/>
            <a:p>
              <a:pPr algn="ctr">
                <a:spcBef>
                  <a:spcPts val="600"/>
                </a:spcBef>
                <a:buSzPct val="100000"/>
              </a:pPr>
              <a:r>
                <a:rPr lang="en-US" sz="1400" b="1">
                  <a:solidFill>
                    <a:srgbClr val="313131"/>
                  </a:solidFill>
                </a:rPr>
                <a:t>REDUCTION</a:t>
              </a:r>
            </a:p>
          </p:txBody>
        </p:sp>
      </p:grpSp>
    </p:spTree>
    <p:extLst>
      <p:ext uri="{BB962C8B-B14F-4D97-AF65-F5344CB8AC3E}">
        <p14:creationId xmlns:p14="http://schemas.microsoft.com/office/powerpoint/2010/main" val="15150122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321952A-DD70-4E80-B4BB-977C267C459D}"/>
              </a:ext>
            </a:extLst>
          </p:cNvPr>
          <p:cNvSpPr/>
          <p:nvPr/>
        </p:nvSpPr>
        <p:spPr bwMode="gray">
          <a:xfrm>
            <a:off x="148856" y="893135"/>
            <a:ext cx="11929730" cy="255181"/>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81" name="Rectangle 80">
            <a:extLst>
              <a:ext uri="{FF2B5EF4-FFF2-40B4-BE49-F238E27FC236}">
                <a16:creationId xmlns:a16="http://schemas.microsoft.com/office/drawing/2014/main" id="{78C4BE66-2F21-4745-95E2-2DC56DBDB720}"/>
              </a:ext>
            </a:extLst>
          </p:cNvPr>
          <p:cNvSpPr/>
          <p:nvPr/>
        </p:nvSpPr>
        <p:spPr bwMode="gray">
          <a:xfrm>
            <a:off x="469900" y="1270158"/>
            <a:ext cx="11252200" cy="1530533"/>
          </a:xfrm>
          <a:prstGeom prst="rect">
            <a:avLst/>
          </a:prstGeom>
          <a:solidFill>
            <a:sysClr val="window" lastClr="FFFFFF">
              <a:lumMod val="95000"/>
            </a:sysClr>
          </a:solidFill>
          <a:ln w="19050" algn="ctr">
            <a:noFill/>
            <a:miter lim="800000"/>
            <a:headEnd/>
            <a:tailEnd/>
          </a:ln>
        </p:spPr>
        <p:txBody>
          <a:bodyPr wrap="square" lIns="88900" tIns="88900" rIns="88900" bIns="9144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Open Sans" panose="020B0606030504020204" pitchFamily="34" charset="0"/>
              <a:ea typeface="+mn-ea"/>
              <a:cs typeface="Open Sans" panose="020B0606030504020204" pitchFamily="34" charset="0"/>
            </a:endParaRPr>
          </a:p>
        </p:txBody>
      </p:sp>
      <p:sp>
        <p:nvSpPr>
          <p:cNvPr id="82" name="Text Placeholder 1">
            <a:extLst>
              <a:ext uri="{FF2B5EF4-FFF2-40B4-BE49-F238E27FC236}">
                <a16:creationId xmlns:a16="http://schemas.microsoft.com/office/drawing/2014/main" id="{77262025-3CFB-4E0E-8711-FCB21481C2A5}"/>
              </a:ext>
            </a:extLst>
          </p:cNvPr>
          <p:cNvSpPr txBox="1">
            <a:spLocks/>
          </p:cNvSpPr>
          <p:nvPr/>
        </p:nvSpPr>
        <p:spPr>
          <a:xfrm>
            <a:off x="469900" y="835067"/>
            <a:ext cx="9991446" cy="392111"/>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lang="en-US" sz="1200" b="0" kern="1200">
                <a:solidFill>
                  <a:schemeClr val="tx1"/>
                </a:solidFill>
                <a:latin typeface="Open Sans" panose="020B0606030504020204" pitchFamily="34" charset="0"/>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Open Sans" panose="020B0606030504020204" pitchFamily="34" charset="0"/>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Open Sans" panose="020B0606030504020204" pitchFamily="34" charset="0"/>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Open Sans" panose="020B0606030504020204" pitchFamily="34" charset="0"/>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Open Sans" panose="020B0606030504020204" pitchFamily="34" charset="0"/>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200" b="0" i="0" u="none" strike="noStrike" kern="1200" cap="none" spc="0" normalizeH="0" baseline="0" noProof="0" dirty="0">
                <a:ln>
                  <a:noFill/>
                </a:ln>
                <a:solidFill>
                  <a:sysClr val="windowText" lastClr="000000"/>
                </a:solidFill>
                <a:effectLst/>
                <a:uLnTx/>
                <a:uFillTx/>
                <a:latin typeface="Open Sans" panose="020B0606030504020204" pitchFamily="34" charset="0"/>
                <a:ea typeface="+mn-ea"/>
                <a:cs typeface="+mn-cs"/>
              </a:rPr>
              <a:t>Finance Data Hub 1.0 Migration to Snowflake</a:t>
            </a:r>
          </a:p>
        </p:txBody>
      </p:sp>
      <p:sp>
        <p:nvSpPr>
          <p:cNvPr id="83" name="Title 4">
            <a:extLst>
              <a:ext uri="{FF2B5EF4-FFF2-40B4-BE49-F238E27FC236}">
                <a16:creationId xmlns:a16="http://schemas.microsoft.com/office/drawing/2014/main" id="{38FEED90-647E-448B-8364-DC75E33A18E5}"/>
              </a:ext>
            </a:extLst>
          </p:cNvPr>
          <p:cNvSpPr txBox="1">
            <a:spLocks/>
          </p:cNvSpPr>
          <p:nvPr/>
        </p:nvSpPr>
        <p:spPr bwMode="gray">
          <a:xfrm>
            <a:off x="459739" y="456863"/>
            <a:ext cx="11252200" cy="451866"/>
          </a:xfrm>
          <a:prstGeom prst="rect">
            <a:avLst/>
          </a:prstGeom>
        </p:spPr>
        <p:txBody>
          <a:bodyPr vert="horz" lIns="0" tIns="0" rIns="0" bIns="0" rtlCol="0" anchor="t" anchorCtr="0">
            <a:noAutofit/>
          </a:bodyPr>
          <a:lstStyle>
            <a:lvl1pPr defTabSz="1219170">
              <a:spcBef>
                <a:spcPct val="0"/>
              </a:spcBef>
              <a:buNone/>
              <a:defRPr sz="2000" b="1">
                <a:latin typeface="Open Sans" panose="020B0606030504020204" pitchFamily="34" charset="0"/>
                <a:ea typeface="Open Sans" panose="020B0606030504020204" pitchFamily="34" charset="0"/>
                <a:cs typeface="Open Sans" panose="020B060603050402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Global Industrial Products Company</a:t>
            </a:r>
          </a:p>
        </p:txBody>
      </p:sp>
      <p:sp>
        <p:nvSpPr>
          <p:cNvPr id="84" name="Rectangle 83">
            <a:extLst>
              <a:ext uri="{FF2B5EF4-FFF2-40B4-BE49-F238E27FC236}">
                <a16:creationId xmlns:a16="http://schemas.microsoft.com/office/drawing/2014/main" id="{10FB0787-A418-47C6-B8AC-C9E756867162}"/>
              </a:ext>
            </a:extLst>
          </p:cNvPr>
          <p:cNvSpPr/>
          <p:nvPr/>
        </p:nvSpPr>
        <p:spPr>
          <a:xfrm>
            <a:off x="577931" y="1327759"/>
            <a:ext cx="9261234" cy="1015663"/>
          </a:xfrm>
          <a:prstGeom prst="rect">
            <a:avLst/>
          </a:prstGeom>
        </p:spPr>
        <p:txBody>
          <a:bodyPr wrap="square" lIns="0" tIns="0" rIns="0" bIns="0">
            <a:spAutoFit/>
          </a:bodyPr>
          <a:lstStyle/>
          <a:p>
            <a:pPr marL="107950" marR="0" lvl="1" indent="-107950" algn="l" defTabSz="914400" rtl="0" eaLnBrk="1" fontAlgn="base" latinLnBrk="0" hangingPunct="1">
              <a:lnSpc>
                <a:spcPct val="100000"/>
              </a:lnSpc>
              <a:spcBef>
                <a:spcPts val="0"/>
              </a:spcBef>
              <a:spcAft>
                <a:spcPts val="300"/>
              </a:spcAft>
              <a:buClr>
                <a:srgbClr val="000000"/>
              </a:buClr>
              <a:buSzPct val="80000"/>
              <a:buFontTx/>
              <a:buNone/>
              <a:tabLst>
                <a:tab pos="2014765" algn="l"/>
              </a:tabLst>
              <a:defRPr/>
            </a:pPr>
            <a:r>
              <a:rPr kumimoji="0" lang="en-US" sz="1400" b="1" i="0" u="none" strike="noStrike" kern="1200" cap="none" spc="-40" normalizeH="0" baseline="0" noProof="0" dirty="0">
                <a:ln>
                  <a:noFill/>
                </a:ln>
                <a:solidFill>
                  <a:srgbClr val="0076A8"/>
                </a:solidFill>
                <a:effectLst/>
                <a:uLnTx/>
                <a:uFillTx/>
                <a:latin typeface="Open Sans" panose="020B0606030504020204" pitchFamily="34" charset="0"/>
                <a:ea typeface="+mn-ea"/>
                <a:cs typeface="+mn-cs"/>
              </a:rPr>
              <a:t>Engagement Summary</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Setup the foundation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on Snowflake and hardened the platform architecture </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Ingested data from 4 ERPs </a:t>
            </a:r>
            <a:r>
              <a:rPr kumimoji="0" lang="en-US" sz="105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(SAP ECC, SAP S/4, Oracle ERPs)</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Migrated Synapse </a:t>
            </a:r>
            <a:r>
              <a:rPr kumimoji="0" lang="en-US" sz="105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based Finance Data Hub 1.0 to Snowflake</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Repointed Power BI </a:t>
            </a:r>
            <a:r>
              <a:rPr kumimoji="0" lang="en-US" sz="105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reports to Snowflake</a:t>
            </a:r>
          </a:p>
        </p:txBody>
      </p:sp>
      <p:sp>
        <p:nvSpPr>
          <p:cNvPr id="85" name="Rectangle 84">
            <a:extLst>
              <a:ext uri="{FF2B5EF4-FFF2-40B4-BE49-F238E27FC236}">
                <a16:creationId xmlns:a16="http://schemas.microsoft.com/office/drawing/2014/main" id="{F90178AE-4745-410B-A5F1-5F6B02B188FE}"/>
              </a:ext>
            </a:extLst>
          </p:cNvPr>
          <p:cNvSpPr/>
          <p:nvPr/>
        </p:nvSpPr>
        <p:spPr>
          <a:xfrm>
            <a:off x="577931" y="2823689"/>
            <a:ext cx="5466908" cy="1700466"/>
          </a:xfrm>
          <a:prstGeom prst="rect">
            <a:avLst/>
          </a:prstGeom>
        </p:spPr>
        <p:txBody>
          <a:bodyPr wrap="square" lIns="0" tIns="0" rIns="0" bIns="0">
            <a:spAutoFit/>
          </a:bodyPr>
          <a:lstStyle/>
          <a:p>
            <a:pPr marL="107950" marR="0" lvl="1" indent="-107950" algn="l" defTabSz="914400" rtl="0" eaLnBrk="1" fontAlgn="base" latinLnBrk="0" hangingPunct="1">
              <a:lnSpc>
                <a:spcPct val="100000"/>
              </a:lnSpc>
              <a:spcBef>
                <a:spcPts val="0"/>
              </a:spcBef>
              <a:spcAft>
                <a:spcPts val="300"/>
              </a:spcAft>
              <a:buClr>
                <a:srgbClr val="000000"/>
              </a:buClr>
              <a:buSzPct val="80000"/>
              <a:buFontTx/>
              <a:buNone/>
              <a:tabLst>
                <a:tab pos="2014765" algn="l"/>
              </a:tabLst>
              <a:defRPr/>
            </a:pPr>
            <a:r>
              <a:rPr kumimoji="0" lang="en-US" sz="1400" b="1" i="0" u="none" strike="noStrike" kern="1200" cap="none" spc="-40" normalizeH="0" baseline="0" noProof="0" dirty="0">
                <a:ln>
                  <a:noFill/>
                </a:ln>
                <a:solidFill>
                  <a:srgbClr val="0076A8"/>
                </a:solidFill>
                <a:effectLst/>
                <a:uLnTx/>
                <a:uFillTx/>
                <a:latin typeface="Open Sans" panose="020B0606030504020204" pitchFamily="34" charset="0"/>
                <a:ea typeface="+mn-ea"/>
                <a:cs typeface="+mn-cs"/>
              </a:rPr>
              <a:t>Approach and Solution</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Migrated </a:t>
            </a: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3 environments, 1,000+ tables and 600+ data pipelines from Synapse to Snowflake</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Converted all ETL scripts &amp; stored procedures to Snowflake compatible formats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and execute load on Snowflake using </a:t>
            </a:r>
            <a:r>
              <a:rPr kumimoji="0" lang="en-US" sz="1050" b="1" i="0" u="none" strike="noStrike" kern="1200" cap="none" spc="0" normalizeH="0" baseline="0" noProof="0" dirty="0" err="1">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SnowConvert</a:t>
            </a:r>
            <a:endPar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endParaRP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Migrated all historical data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from Synapse to Snowflake</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Updated existing Synapse-sourced reports and dashboards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in Power BI to read directly from Snowflake</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Updated outbound feeds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and applications based on </a:t>
            </a:r>
            <a:r>
              <a:rPr kumimoji="0" lang="en-US" sz="1050" b="0" i="0" u="none" strike="noStrike" kern="1200" cap="none" spc="0" normalizeH="0" baseline="0" noProof="0" dirty="0" err="1">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Sypanse</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 to Snowflake </a:t>
            </a:r>
            <a:endPar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endParaRPr>
          </a:p>
        </p:txBody>
      </p:sp>
      <p:sp>
        <p:nvSpPr>
          <p:cNvPr id="86" name="Rectangle 85">
            <a:extLst>
              <a:ext uri="{FF2B5EF4-FFF2-40B4-BE49-F238E27FC236}">
                <a16:creationId xmlns:a16="http://schemas.microsoft.com/office/drawing/2014/main" id="{C9DFE313-3B27-459D-8624-DB901D878423}"/>
              </a:ext>
            </a:extLst>
          </p:cNvPr>
          <p:cNvSpPr/>
          <p:nvPr/>
        </p:nvSpPr>
        <p:spPr>
          <a:xfrm>
            <a:off x="6256782" y="2823689"/>
            <a:ext cx="5466907" cy="1415772"/>
          </a:xfrm>
          <a:prstGeom prst="rect">
            <a:avLst/>
          </a:prstGeom>
        </p:spPr>
        <p:txBody>
          <a:bodyPr wrap="square" lIns="0" tIns="0" rIns="0" bIns="0">
            <a:spAutoFit/>
          </a:bodyPr>
          <a:lstStyle/>
          <a:p>
            <a:pPr marL="107950" marR="0" lvl="1" indent="-107950" algn="l" defTabSz="914400" rtl="0" eaLnBrk="1" fontAlgn="base" latinLnBrk="0" hangingPunct="1">
              <a:lnSpc>
                <a:spcPct val="100000"/>
              </a:lnSpc>
              <a:spcBef>
                <a:spcPts val="0"/>
              </a:spcBef>
              <a:spcAft>
                <a:spcPts val="300"/>
              </a:spcAft>
              <a:buClr>
                <a:srgbClr val="000000"/>
              </a:buClr>
              <a:buSzPct val="80000"/>
              <a:buFontTx/>
              <a:buNone/>
              <a:tabLst>
                <a:tab pos="2014765" algn="l"/>
              </a:tabLst>
              <a:defRPr/>
            </a:pPr>
            <a:r>
              <a:rPr kumimoji="0" lang="en-US" sz="1400" b="1" i="0" u="none" strike="noStrike" kern="1200" cap="none" spc="-40" normalizeH="0" baseline="0" noProof="0" dirty="0">
                <a:ln>
                  <a:noFill/>
                </a:ln>
                <a:solidFill>
                  <a:srgbClr val="0076A8"/>
                </a:solidFill>
                <a:effectLst/>
                <a:uLnTx/>
                <a:uFillTx/>
                <a:latin typeface="Open Sans" panose="020B0606030504020204" pitchFamily="34" charset="0"/>
                <a:ea typeface="+mn-ea"/>
                <a:cs typeface="+mn-cs"/>
              </a:rPr>
              <a:t>Value Delivered</a:t>
            </a:r>
          </a:p>
          <a:p>
            <a:pPr marL="107950" lvl="1" indent="-107950" defTabSz="1219170">
              <a:spcAft>
                <a:spcPts val="300"/>
              </a:spcAft>
              <a:buSzPct val="100000"/>
              <a:buFont typeface="Arial" panose="020B0604020202020204" pitchFamily="34" charset="0"/>
              <a:buChar char="•"/>
              <a:defRPr/>
            </a:pPr>
            <a:r>
              <a:rPr lang="en-US" sz="1050"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Setup the foundation for </a:t>
            </a:r>
            <a:r>
              <a:rPr lang="en-US" sz="1050" b="1"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Finance Transformation </a:t>
            </a:r>
            <a:r>
              <a:rPr lang="en-US" sz="1050"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(FDH 2.0)</a:t>
            </a:r>
          </a:p>
          <a:p>
            <a:pPr marL="107950" lvl="1" indent="-107950" defTabSz="1219170">
              <a:spcAft>
                <a:spcPts val="300"/>
              </a:spcAft>
              <a:buSzPct val="100000"/>
              <a:buFont typeface="Arial" panose="020B0604020202020204" pitchFamily="34" charset="0"/>
              <a:buChar char="•"/>
              <a:defRPr/>
            </a:pPr>
            <a:r>
              <a:rPr lang="en-US" sz="1050" b="1"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Reduced TCO </a:t>
            </a:r>
            <a:r>
              <a:rPr lang="en-US" sz="1050"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on Snowflake platform</a:t>
            </a:r>
          </a:p>
          <a:p>
            <a:pPr marL="107950" lvl="1" indent="-107950" defTabSz="1219170">
              <a:spcAft>
                <a:spcPts val="300"/>
              </a:spcAft>
              <a:buSzPct val="100000"/>
              <a:buFont typeface="Arial" panose="020B0604020202020204" pitchFamily="34" charset="0"/>
              <a:buChar char="•"/>
              <a:defRPr/>
            </a:pPr>
            <a:r>
              <a:rPr lang="en-US" sz="1050"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Improved data availability and </a:t>
            </a:r>
            <a:r>
              <a:rPr lang="en-US" sz="1050" b="1"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SLAs </a:t>
            </a:r>
          </a:p>
          <a:p>
            <a:pPr marL="107950" lvl="1" indent="-107950" defTabSz="1219170">
              <a:spcAft>
                <a:spcPts val="300"/>
              </a:spcAft>
              <a:buSzPct val="100000"/>
              <a:buFont typeface="Arial" panose="020B0604020202020204" pitchFamily="34" charset="0"/>
              <a:buChar char="•"/>
              <a:defRPr/>
            </a:pPr>
            <a:r>
              <a:rPr lang="en-US" sz="1050"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Optimized </a:t>
            </a:r>
            <a:r>
              <a:rPr lang="en-US" sz="1050" b="1"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performance and user experience</a:t>
            </a:r>
          </a:p>
          <a:p>
            <a:pPr marL="107950" lvl="1" indent="-107950" defTabSz="1219170">
              <a:spcAft>
                <a:spcPts val="300"/>
              </a:spcAft>
              <a:buSzPct val="100000"/>
              <a:buFont typeface="Arial" panose="020B0604020202020204" pitchFamily="34" charset="0"/>
              <a:buChar char="•"/>
              <a:defRPr/>
            </a:pPr>
            <a:r>
              <a:rPr lang="en-US" sz="1050"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Simplified code implementation </a:t>
            </a:r>
            <a:r>
              <a:rPr lang="en-US" sz="1050" b="1"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improving supportability </a:t>
            </a:r>
          </a:p>
          <a:p>
            <a:pPr marL="107950" lvl="1" indent="-107950" defTabSz="1219170">
              <a:spcAft>
                <a:spcPts val="300"/>
              </a:spcAft>
              <a:buSzPct val="100000"/>
              <a:buFont typeface="Arial" panose="020B0604020202020204" pitchFamily="34" charset="0"/>
              <a:buChar char="•"/>
              <a:defRPr/>
            </a:pPr>
            <a:r>
              <a:rPr lang="en-US" sz="1050" dirty="0">
                <a:solidFill>
                  <a:prstClr val="black"/>
                </a:solidFill>
                <a:latin typeface="Open Sans" panose="020B0606030504020204" pitchFamily="34" charset="0"/>
                <a:ea typeface="Open Sans Light" panose="020B0306030504020204" pitchFamily="34" charset="0"/>
                <a:cs typeface="Open Sans Light" panose="020B0306030504020204" pitchFamily="34" charset="0"/>
              </a:rPr>
              <a:t>Migration to Snowflake without any impact to business users</a:t>
            </a:r>
          </a:p>
        </p:txBody>
      </p:sp>
      <p:sp>
        <p:nvSpPr>
          <p:cNvPr id="87" name="Rectangle 86">
            <a:extLst>
              <a:ext uri="{FF2B5EF4-FFF2-40B4-BE49-F238E27FC236}">
                <a16:creationId xmlns:a16="http://schemas.microsoft.com/office/drawing/2014/main" id="{5488948D-4029-4AFF-8565-1B5138719312}"/>
              </a:ext>
            </a:extLst>
          </p:cNvPr>
          <p:cNvSpPr/>
          <p:nvPr/>
        </p:nvSpPr>
        <p:spPr>
          <a:xfrm>
            <a:off x="577931" y="4748266"/>
            <a:ext cx="5466908" cy="1738938"/>
          </a:xfrm>
          <a:prstGeom prst="rect">
            <a:avLst/>
          </a:prstGeom>
        </p:spPr>
        <p:txBody>
          <a:bodyPr wrap="square" lIns="0" tIns="0" rIns="0" bIns="0">
            <a:spAutoFit/>
          </a:bodyPr>
          <a:lstStyle/>
          <a:p>
            <a:pPr marL="107950" marR="0" lvl="1" indent="-107950" algn="l" defTabSz="914400" rtl="0" eaLnBrk="1" fontAlgn="base" latinLnBrk="0" hangingPunct="1">
              <a:lnSpc>
                <a:spcPct val="100000"/>
              </a:lnSpc>
              <a:spcBef>
                <a:spcPts val="0"/>
              </a:spcBef>
              <a:spcAft>
                <a:spcPts val="300"/>
              </a:spcAft>
              <a:buClr>
                <a:srgbClr val="000000"/>
              </a:buClr>
              <a:buSzPct val="80000"/>
              <a:buFontTx/>
              <a:buNone/>
              <a:tabLst>
                <a:tab pos="2014765" algn="l"/>
              </a:tabLst>
              <a:defRPr/>
            </a:pPr>
            <a:r>
              <a:rPr kumimoji="0" lang="en-US" sz="1400" b="1" i="0" u="none" strike="noStrike" kern="1200" cap="none" spc="-40" normalizeH="0" baseline="0" noProof="0" dirty="0">
                <a:ln>
                  <a:noFill/>
                </a:ln>
                <a:solidFill>
                  <a:srgbClr val="0076A8"/>
                </a:solidFill>
                <a:effectLst/>
                <a:uLnTx/>
                <a:uFillTx/>
                <a:latin typeface="Open Sans" panose="020B0606030504020204" pitchFamily="34" charset="0"/>
                <a:ea typeface="+mn-ea"/>
                <a:cs typeface="+mn-cs"/>
              </a:rPr>
              <a:t>Core Capabilities</a:t>
            </a:r>
          </a:p>
          <a:p>
            <a:pPr marL="107950" marR="0" lvl="1" indent="-107950" algn="l" defTabSz="914071" rtl="0" eaLnBrk="1" fontAlgn="base" latinLnBrk="0" hangingPunct="1">
              <a:lnSpc>
                <a:spcPct val="100000"/>
              </a:lnSpc>
              <a:spcBef>
                <a:spcPts val="0"/>
              </a:spcBef>
              <a:spcAft>
                <a:spcPts val="300"/>
              </a:spcAft>
              <a:buClrTx/>
              <a:buSzPct val="100000"/>
              <a:buFont typeface="Arial" panose="020B0604020202020204" pitchFamily="34" charset="0"/>
              <a:buChar char="•"/>
              <a:tabLst>
                <a:tab pos="5712943"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Enabled Data Mesh base </a:t>
            </a:r>
            <a:r>
              <a:rPr kumimoji="0" lang="en-US" sz="105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architecture </a:t>
            </a:r>
          </a:p>
          <a:p>
            <a:pPr marL="107950" marR="0" lvl="1" indent="-107950" algn="l" defTabSz="914071" rtl="0" eaLnBrk="1" fontAlgn="base" latinLnBrk="0" hangingPunct="1">
              <a:lnSpc>
                <a:spcPct val="100000"/>
              </a:lnSpc>
              <a:spcBef>
                <a:spcPts val="0"/>
              </a:spcBef>
              <a:spcAft>
                <a:spcPts val="300"/>
              </a:spcAft>
              <a:buClrTx/>
              <a:buSzPct val="100000"/>
              <a:buFont typeface="Arial" panose="020B0604020202020204" pitchFamily="34" charset="0"/>
              <a:buChar char="•"/>
              <a:tabLst>
                <a:tab pos="5712943"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Centralized reporting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from cloud-based solution</a:t>
            </a:r>
          </a:p>
          <a:p>
            <a:pPr marL="107950" marR="0" lvl="1" indent="-107950" algn="l" defTabSz="914071" rtl="0" eaLnBrk="1" fontAlgn="base" latinLnBrk="0" hangingPunct="1">
              <a:lnSpc>
                <a:spcPct val="100000"/>
              </a:lnSpc>
              <a:spcBef>
                <a:spcPts val="0"/>
              </a:spcBef>
              <a:spcAft>
                <a:spcPts val="300"/>
              </a:spcAft>
              <a:buClrTx/>
              <a:buSzPct val="100000"/>
              <a:buFont typeface="Arial" panose="020B0604020202020204" pitchFamily="34" charset="0"/>
              <a:buChar char="•"/>
              <a:tabLst>
                <a:tab pos="5712943"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Automation where possible</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 to minimize conversion risk and limit manual coding and validation activities</a:t>
            </a:r>
          </a:p>
          <a:p>
            <a:pPr marL="107950" marR="0" lvl="1" indent="-107950" algn="l" defTabSz="914071" rtl="0" eaLnBrk="1" fontAlgn="base" latinLnBrk="0" hangingPunct="1">
              <a:lnSpc>
                <a:spcPct val="100000"/>
              </a:lnSpc>
              <a:spcBef>
                <a:spcPts val="0"/>
              </a:spcBef>
              <a:spcAft>
                <a:spcPts val="300"/>
              </a:spcAft>
              <a:buClrTx/>
              <a:buSzPct val="100000"/>
              <a:buFont typeface="Arial" panose="020B0604020202020204" pitchFamily="34" charset="0"/>
              <a:buChar char="•"/>
              <a:tabLst>
                <a:tab pos="5712943"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Increase data versatility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by creating a scalable, reusable Cloud based infrastructure</a:t>
            </a:r>
          </a:p>
          <a:p>
            <a:pPr marL="107950" marR="0" lvl="1" indent="-107950" algn="l" defTabSz="914071" rtl="0" eaLnBrk="1" fontAlgn="base" latinLnBrk="0" hangingPunct="1">
              <a:lnSpc>
                <a:spcPct val="100000"/>
              </a:lnSpc>
              <a:spcBef>
                <a:spcPts val="0"/>
              </a:spcBef>
              <a:spcAft>
                <a:spcPts val="300"/>
              </a:spcAft>
              <a:buClrTx/>
              <a:buSzPct val="100000"/>
              <a:buFont typeface="Arial" panose="020B0604020202020204" pitchFamily="34" charset="0"/>
              <a:buChar char="•"/>
              <a:tabLst>
                <a:tab pos="5712943"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Facilitate data access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by updating ingestion and storage processes</a:t>
            </a:r>
          </a:p>
          <a:p>
            <a:pPr marL="107950" marR="0" lvl="1" indent="-107950" algn="l" defTabSz="914071" rtl="0" eaLnBrk="1" fontAlgn="base" latinLnBrk="0" hangingPunct="1">
              <a:lnSpc>
                <a:spcPct val="100000"/>
              </a:lnSpc>
              <a:spcBef>
                <a:spcPts val="0"/>
              </a:spcBef>
              <a:spcAft>
                <a:spcPts val="300"/>
              </a:spcAft>
              <a:buClrTx/>
              <a:buSzPct val="100000"/>
              <a:buFont typeface="Arial" panose="020B0604020202020204" pitchFamily="34" charset="0"/>
              <a:buChar char="•"/>
              <a:tabLst>
                <a:tab pos="5712943"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Improve time to market and reduce development effort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by enhancing existing frameworks and creating new framework</a:t>
            </a:r>
          </a:p>
        </p:txBody>
      </p:sp>
      <p:cxnSp>
        <p:nvCxnSpPr>
          <p:cNvPr id="91" name="Straight Connector 90">
            <a:extLst>
              <a:ext uri="{FF2B5EF4-FFF2-40B4-BE49-F238E27FC236}">
                <a16:creationId xmlns:a16="http://schemas.microsoft.com/office/drawing/2014/main" id="{42B6D644-46D7-4965-8DBC-B7956938D820}"/>
              </a:ext>
            </a:extLst>
          </p:cNvPr>
          <p:cNvCxnSpPr>
            <a:cxnSpLocks/>
          </p:cNvCxnSpPr>
          <p:nvPr/>
        </p:nvCxnSpPr>
        <p:spPr>
          <a:xfrm>
            <a:off x="6096000" y="2954321"/>
            <a:ext cx="0" cy="3484579"/>
          </a:xfrm>
          <a:prstGeom prst="line">
            <a:avLst/>
          </a:prstGeom>
          <a:noFill/>
          <a:ln w="9525" cap="flat" cmpd="sng" algn="ctr">
            <a:solidFill>
              <a:sysClr val="window" lastClr="FFFFFF">
                <a:lumMod val="75000"/>
              </a:sysClr>
            </a:solidFill>
            <a:prstDash val="dash"/>
          </a:ln>
          <a:effectLst/>
        </p:spPr>
      </p:cxnSp>
      <p:grpSp>
        <p:nvGrpSpPr>
          <p:cNvPr id="5" name="Group 4">
            <a:extLst>
              <a:ext uri="{FF2B5EF4-FFF2-40B4-BE49-F238E27FC236}">
                <a16:creationId xmlns:a16="http://schemas.microsoft.com/office/drawing/2014/main" id="{65901B55-4A41-A8A8-382E-7F678342E7B9}"/>
              </a:ext>
            </a:extLst>
          </p:cNvPr>
          <p:cNvGrpSpPr/>
          <p:nvPr/>
        </p:nvGrpSpPr>
        <p:grpSpPr>
          <a:xfrm>
            <a:off x="6336644" y="4587158"/>
            <a:ext cx="5234499" cy="892552"/>
            <a:chOff x="6336644" y="4170696"/>
            <a:chExt cx="5234499" cy="892552"/>
          </a:xfrm>
        </p:grpSpPr>
        <p:sp>
          <p:nvSpPr>
            <p:cNvPr id="2" name="Text Placeholder 3">
              <a:extLst>
                <a:ext uri="{FF2B5EF4-FFF2-40B4-BE49-F238E27FC236}">
                  <a16:creationId xmlns:a16="http://schemas.microsoft.com/office/drawing/2014/main" id="{25417A11-F3CC-7FE1-E217-61CE65D5DE48}"/>
                </a:ext>
              </a:extLst>
            </p:cNvPr>
            <p:cNvSpPr txBox="1">
              <a:spLocks/>
            </p:cNvSpPr>
            <p:nvPr/>
          </p:nvSpPr>
          <p:spPr>
            <a:xfrm>
              <a:off x="6336644" y="4170696"/>
              <a:ext cx="2617684" cy="738664"/>
            </a:xfrm>
            <a:prstGeom prst="rect">
              <a:avLst/>
            </a:prstGeom>
          </p:spPr>
          <p:txBody>
            <a:bodyPr vert="horz" wrap="square" lIns="0" tIns="0" rIns="0" bIns="0" rtlCol="0">
              <a:spAutoFit/>
            </a:bodyPr>
            <a:lstStyle>
              <a:lvl1pPr marL="0" indent="0" algn="l" defTabSz="914400" rtl="0" eaLnBrk="1" latinLnBrk="0" hangingPunct="1">
                <a:lnSpc>
                  <a:spcPct val="130000"/>
                </a:lnSpc>
                <a:spcBef>
                  <a:spcPts val="10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1pPr>
              <a:lvl2pPr marL="4572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2pPr>
              <a:lvl3pPr marL="9144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3pPr>
              <a:lvl4pPr marL="13716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4pPr>
              <a:lvl5pPr marL="18288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3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Environments</a:t>
              </a:r>
            </a:p>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1,000+</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Tables</a:t>
              </a:r>
            </a:p>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600+</a:t>
              </a: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ETL mappings</a:t>
              </a:r>
              <a:endPar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Text Placeholder 3">
              <a:extLst>
                <a:ext uri="{FF2B5EF4-FFF2-40B4-BE49-F238E27FC236}">
                  <a16:creationId xmlns:a16="http://schemas.microsoft.com/office/drawing/2014/main" id="{B747FCA3-B65A-6F10-D94B-046B3223E5B6}"/>
                </a:ext>
              </a:extLst>
            </p:cNvPr>
            <p:cNvSpPr txBox="1">
              <a:spLocks/>
            </p:cNvSpPr>
            <p:nvPr/>
          </p:nvSpPr>
          <p:spPr>
            <a:xfrm>
              <a:off x="9123231" y="4170696"/>
              <a:ext cx="2447912" cy="892552"/>
            </a:xfrm>
            <a:prstGeom prst="rect">
              <a:avLst/>
            </a:prstGeom>
          </p:spPr>
          <p:txBody>
            <a:bodyPr vert="horz" wrap="square" lIns="0" tIns="0" rIns="0" bIns="0" rtlCol="0">
              <a:spAutoFit/>
            </a:bodyPr>
            <a:lstStyle>
              <a:lvl1pPr marL="0" indent="0" algn="l" defTabSz="914400" rtl="0" eaLnBrk="1" latinLnBrk="0" hangingPunct="1">
                <a:lnSpc>
                  <a:spcPct val="130000"/>
                </a:lnSpc>
                <a:spcBef>
                  <a:spcPts val="10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1pPr>
              <a:lvl2pPr marL="4572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2pPr>
              <a:lvl3pPr marL="9144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3pPr>
              <a:lvl4pPr marL="13716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4pPr>
              <a:lvl5pPr marL="18288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400+</a:t>
              </a: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ADF Pipelines</a:t>
              </a:r>
            </a:p>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125+</a:t>
              </a: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Power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BI reports</a:t>
              </a:r>
              <a:endPar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150</a:t>
              </a: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TB</a:t>
              </a:r>
              <a:endParaRPr lang="en-US" sz="1050" spc="0" dirty="0">
                <a:solidFill>
                  <a:prstClr val="black"/>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endPar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6" name="Group 5">
            <a:extLst>
              <a:ext uri="{FF2B5EF4-FFF2-40B4-BE49-F238E27FC236}">
                <a16:creationId xmlns:a16="http://schemas.microsoft.com/office/drawing/2014/main" id="{C6FA8A7E-9B5E-8B60-90E6-405C069C450E}"/>
              </a:ext>
            </a:extLst>
          </p:cNvPr>
          <p:cNvGrpSpPr/>
          <p:nvPr/>
        </p:nvGrpSpPr>
        <p:grpSpPr>
          <a:xfrm>
            <a:off x="6184900" y="5638473"/>
            <a:ext cx="5537201" cy="693833"/>
            <a:chOff x="6184900" y="5638473"/>
            <a:chExt cx="5537201" cy="693833"/>
          </a:xfrm>
        </p:grpSpPr>
        <p:pic>
          <p:nvPicPr>
            <p:cNvPr id="8" name="Picture 2" descr="Snowflake - Teem Recruitment | Software Sales Specialists | Teem ...">
              <a:extLst>
                <a:ext uri="{FF2B5EF4-FFF2-40B4-BE49-F238E27FC236}">
                  <a16:creationId xmlns:a16="http://schemas.microsoft.com/office/drawing/2014/main" id="{92043BB5-2394-83E4-6B87-0676B34EAD82}"/>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6201446" y="5764900"/>
              <a:ext cx="1110834" cy="55541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85FF56C6-6986-CEAC-D254-514A862AF4F3}"/>
                </a:ext>
              </a:extLst>
            </p:cNvPr>
            <p:cNvSpPr/>
            <p:nvPr/>
          </p:nvSpPr>
          <p:spPr bwMode="gray">
            <a:xfrm>
              <a:off x="6184900" y="5752910"/>
              <a:ext cx="5537201" cy="579396"/>
            </a:xfrm>
            <a:prstGeom prst="rect">
              <a:avLst/>
            </a:prstGeom>
            <a:noFill/>
            <a:ln w="19050">
              <a:solidFill>
                <a:srgbClr val="00A3E0"/>
              </a:solidFill>
            </a:ln>
          </p:spPr>
          <p:txBody>
            <a:bodyPr wrap="square" lIns="0" tIns="0" rIns="0" bIns="0" rtlCol="0"/>
            <a:lstStyle/>
            <a:p>
              <a:pPr marL="0" marR="0" lvl="0" indent="0" algn="ctr" defTabSz="761585" rtl="0"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prstClr val="black"/>
                </a:solidFill>
                <a:effectLst/>
                <a:uLnTx/>
                <a:uFillTx/>
                <a:latin typeface="Open Sans" panose="020B0606030504020204" pitchFamily="34" charset="0"/>
                <a:ea typeface="+mn-ea"/>
                <a:cs typeface="+mn-cs"/>
              </a:endParaRPr>
            </a:p>
          </p:txBody>
        </p:sp>
        <p:sp>
          <p:nvSpPr>
            <p:cNvPr id="13" name="Rectangle 15">
              <a:extLst>
                <a:ext uri="{FF2B5EF4-FFF2-40B4-BE49-F238E27FC236}">
                  <a16:creationId xmlns:a16="http://schemas.microsoft.com/office/drawing/2014/main" id="{FF151599-2A73-9170-DBF4-3D4A85D0F7CF}"/>
                </a:ext>
              </a:extLst>
            </p:cNvPr>
            <p:cNvSpPr>
              <a:spLocks noChangeArrowheads="1"/>
            </p:cNvSpPr>
            <p:nvPr/>
          </p:nvSpPr>
          <p:spPr bwMode="gray">
            <a:xfrm>
              <a:off x="8078829" y="5638473"/>
              <a:ext cx="1749342" cy="184666"/>
            </a:xfrm>
            <a:prstGeom prst="rect">
              <a:avLst/>
            </a:prstGeom>
            <a:solidFill>
              <a:srgbClr val="FFFFFF"/>
            </a:solidFill>
            <a:ln w="12700" cap="rnd" algn="ctr">
              <a:noFill/>
              <a:miter lim="800000"/>
              <a:headEnd/>
              <a:tailEnd/>
            </a:ln>
          </p:spPr>
          <p:txBody>
            <a:bodyPr wrap="none" lIns="86400" tIns="0" rIns="86400" bIns="0" anchor="b" anchorCtr="1">
              <a:spAutoFit/>
            </a:bodyPr>
            <a:lstStyle/>
            <a:p>
              <a:pPr marL="16001" marR="0" lvl="0" indent="0" algn="ctr" defTabSz="913938" rtl="0" eaLnBrk="1" fontAlgn="auto" latinLnBrk="0" hangingPunct="1">
                <a:lnSpc>
                  <a:spcPct val="100000"/>
                </a:lnSpc>
                <a:spcBef>
                  <a:spcPts val="120"/>
                </a:spcBef>
                <a:spcAft>
                  <a:spcPts val="0"/>
                </a:spcAft>
                <a:buClrTx/>
                <a:buSzTx/>
                <a:buFontTx/>
                <a:buNone/>
                <a:tabLst/>
                <a:defRPr/>
              </a:pPr>
              <a:r>
                <a:rPr kumimoji="0" lang="en-US" sz="1200" b="1" i="0" u="none" strike="noStrike" kern="1200" cap="none" spc="0" normalizeH="0" baseline="0" noProof="0" dirty="0">
                  <a:ln>
                    <a:noFill/>
                  </a:ln>
                  <a:solidFill>
                    <a:srgbClr val="231F20"/>
                  </a:solidFill>
                  <a:effectLst/>
                  <a:uLnTx/>
                  <a:uFillTx/>
                  <a:latin typeface="Open Sans" panose="020B0606030504020204" pitchFamily="34" charset="0"/>
                  <a:ea typeface="Open Sans" panose="020B0606030504020204" pitchFamily="34" charset="0"/>
                  <a:cs typeface="Open Sans" panose="020B0606030504020204" pitchFamily="34" charset="0"/>
                </a:rPr>
                <a:t>TECHNOLOGY STACK</a:t>
              </a:r>
            </a:p>
          </p:txBody>
        </p:sp>
        <p:pic>
          <p:nvPicPr>
            <p:cNvPr id="1026" name="Picture 2" descr="Power Bi Logo, Visualization, Icon ...">
              <a:extLst>
                <a:ext uri="{FF2B5EF4-FFF2-40B4-BE49-F238E27FC236}">
                  <a16:creationId xmlns:a16="http://schemas.microsoft.com/office/drawing/2014/main" id="{81F3C431-93B0-62BF-BF84-0C4DB1EFE0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0624" y="5890945"/>
              <a:ext cx="1150005" cy="3033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02D9195-0288-8461-BD90-88DB5AD21E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38973" y="5920964"/>
              <a:ext cx="847456" cy="2432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ntrol-m » supervize.co.il">
              <a:extLst>
                <a:ext uri="{FF2B5EF4-FFF2-40B4-BE49-F238E27FC236}">
                  <a16:creationId xmlns:a16="http://schemas.microsoft.com/office/drawing/2014/main" id="{40E424E9-B6DC-BA32-50F4-65BCDCC555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74773" y="5803521"/>
              <a:ext cx="1098509" cy="478175"/>
            </a:xfrm>
            <a:prstGeom prst="rect">
              <a:avLst/>
            </a:prstGeom>
            <a:noFill/>
            <a:extLst>
              <a:ext uri="{909E8E84-426E-40DD-AFC4-6F175D3DCCD1}">
                <a14:hiddenFill xmlns:a14="http://schemas.microsoft.com/office/drawing/2010/main">
                  <a:solidFill>
                    <a:srgbClr val="FFFFFF"/>
                  </a:solidFill>
                </a14:hiddenFill>
              </a:ext>
            </a:extLst>
          </p:spPr>
        </p:pic>
      </p:grpSp>
      <p:pic>
        <p:nvPicPr>
          <p:cNvPr id="15" name="Picture 2" descr="Data centers | Digitalization ...">
            <a:extLst>
              <a:ext uri="{FF2B5EF4-FFF2-40B4-BE49-F238E27FC236}">
                <a16:creationId xmlns:a16="http://schemas.microsoft.com/office/drawing/2014/main" id="{00444672-47CE-CCF7-3DBF-CBF5618E72FE}"/>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13792" y="-14353"/>
            <a:ext cx="2377440" cy="2756977"/>
          </a:xfrm>
          <a:prstGeom prst="rect">
            <a:avLst/>
          </a:prstGeom>
          <a:noFill/>
          <a:ln w="28575">
            <a:solidFill>
              <a:schemeClr val="bg2"/>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6146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6FF75-68BB-7C71-5E7A-E9DA46C543B4}"/>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8B5EA5E7-0FFD-AAAB-531A-103B15784106}"/>
              </a:ext>
            </a:extLst>
          </p:cNvPr>
          <p:cNvSpPr/>
          <p:nvPr/>
        </p:nvSpPr>
        <p:spPr bwMode="gray">
          <a:xfrm>
            <a:off x="148856" y="893135"/>
            <a:ext cx="11929730" cy="255181"/>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81" name="Rectangle 80">
            <a:extLst>
              <a:ext uri="{FF2B5EF4-FFF2-40B4-BE49-F238E27FC236}">
                <a16:creationId xmlns:a16="http://schemas.microsoft.com/office/drawing/2014/main" id="{B395CA61-0E45-DB91-9E31-9AD3BA49B539}"/>
              </a:ext>
            </a:extLst>
          </p:cNvPr>
          <p:cNvSpPr/>
          <p:nvPr/>
        </p:nvSpPr>
        <p:spPr bwMode="gray">
          <a:xfrm>
            <a:off x="469900" y="1270159"/>
            <a:ext cx="11252200" cy="1463040"/>
          </a:xfrm>
          <a:prstGeom prst="rect">
            <a:avLst/>
          </a:prstGeom>
          <a:solidFill>
            <a:sysClr val="window" lastClr="FFFFFF">
              <a:lumMod val="95000"/>
            </a:sysClr>
          </a:solidFill>
          <a:ln w="19050" algn="ctr">
            <a:noFill/>
            <a:miter lim="800000"/>
            <a:headEnd/>
            <a:tailEnd/>
          </a:ln>
        </p:spPr>
        <p:txBody>
          <a:bodyPr wrap="square" lIns="88900" tIns="88900" rIns="88900" bIns="9144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Open Sans" panose="020B0606030504020204" pitchFamily="34" charset="0"/>
              <a:ea typeface="+mn-ea"/>
              <a:cs typeface="Open Sans" panose="020B0606030504020204" pitchFamily="34" charset="0"/>
            </a:endParaRPr>
          </a:p>
        </p:txBody>
      </p:sp>
      <p:sp>
        <p:nvSpPr>
          <p:cNvPr id="82" name="Text Placeholder 1">
            <a:extLst>
              <a:ext uri="{FF2B5EF4-FFF2-40B4-BE49-F238E27FC236}">
                <a16:creationId xmlns:a16="http://schemas.microsoft.com/office/drawing/2014/main" id="{09AC809D-6140-EBB6-BE9A-0AE91D852179}"/>
              </a:ext>
            </a:extLst>
          </p:cNvPr>
          <p:cNvSpPr txBox="1">
            <a:spLocks/>
          </p:cNvSpPr>
          <p:nvPr/>
        </p:nvSpPr>
        <p:spPr>
          <a:xfrm>
            <a:off x="469900" y="835067"/>
            <a:ext cx="9991446" cy="392111"/>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lang="en-US" sz="1200" b="0" kern="1200">
                <a:solidFill>
                  <a:schemeClr val="tx1"/>
                </a:solidFill>
                <a:latin typeface="Open Sans" panose="020B0606030504020204" pitchFamily="34" charset="0"/>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Open Sans" panose="020B0606030504020204" pitchFamily="34" charset="0"/>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Open Sans" panose="020B0606030504020204" pitchFamily="34" charset="0"/>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Open Sans" panose="020B0606030504020204" pitchFamily="34" charset="0"/>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Open Sans" panose="020B0606030504020204" pitchFamily="34" charset="0"/>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200" b="0" i="0" u="none" strike="noStrike" kern="1200" cap="none" spc="0" normalizeH="0" baseline="0" noProof="0" dirty="0">
                <a:ln>
                  <a:noFill/>
                </a:ln>
                <a:solidFill>
                  <a:sysClr val="windowText" lastClr="000000"/>
                </a:solidFill>
                <a:effectLst/>
                <a:uLnTx/>
                <a:uFillTx/>
                <a:latin typeface="Open Sans" panose="020B0606030504020204" pitchFamily="34" charset="0"/>
                <a:ea typeface="+mn-ea"/>
                <a:cs typeface="+mn-cs"/>
              </a:rPr>
              <a:t>Enterprise Data Warehouse Modernization</a:t>
            </a:r>
          </a:p>
        </p:txBody>
      </p:sp>
      <p:sp>
        <p:nvSpPr>
          <p:cNvPr id="83" name="Title 4">
            <a:extLst>
              <a:ext uri="{FF2B5EF4-FFF2-40B4-BE49-F238E27FC236}">
                <a16:creationId xmlns:a16="http://schemas.microsoft.com/office/drawing/2014/main" id="{C1B08774-4CF2-E147-04A6-E7D106020245}"/>
              </a:ext>
            </a:extLst>
          </p:cNvPr>
          <p:cNvSpPr txBox="1">
            <a:spLocks/>
          </p:cNvSpPr>
          <p:nvPr/>
        </p:nvSpPr>
        <p:spPr bwMode="gray">
          <a:xfrm>
            <a:off x="459739" y="456863"/>
            <a:ext cx="11252200" cy="451866"/>
          </a:xfrm>
          <a:prstGeom prst="rect">
            <a:avLst/>
          </a:prstGeom>
        </p:spPr>
        <p:txBody>
          <a:bodyPr vert="horz" lIns="0" tIns="0" rIns="0" bIns="0" rtlCol="0" anchor="t" anchorCtr="0">
            <a:noAutofit/>
          </a:bodyPr>
          <a:lstStyle>
            <a:lvl1pPr defTabSz="1219170">
              <a:spcBef>
                <a:spcPct val="0"/>
              </a:spcBef>
              <a:buNone/>
              <a:defRPr sz="2000" b="1">
                <a:latin typeface="Open Sans" panose="020B0606030504020204" pitchFamily="34" charset="0"/>
                <a:ea typeface="Open Sans" panose="020B0606030504020204" pitchFamily="34" charset="0"/>
                <a:cs typeface="Open Sans" panose="020B060603050402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Large Insurance Company</a:t>
            </a:r>
          </a:p>
        </p:txBody>
      </p:sp>
      <p:sp>
        <p:nvSpPr>
          <p:cNvPr id="84" name="Rectangle 83">
            <a:extLst>
              <a:ext uri="{FF2B5EF4-FFF2-40B4-BE49-F238E27FC236}">
                <a16:creationId xmlns:a16="http://schemas.microsoft.com/office/drawing/2014/main" id="{DA616510-9E4F-9A7A-4448-262B0CE921A6}"/>
              </a:ext>
            </a:extLst>
          </p:cNvPr>
          <p:cNvSpPr/>
          <p:nvPr/>
        </p:nvSpPr>
        <p:spPr>
          <a:xfrm>
            <a:off x="577931" y="1327759"/>
            <a:ext cx="9261234" cy="1015663"/>
          </a:xfrm>
          <a:prstGeom prst="rect">
            <a:avLst/>
          </a:prstGeom>
        </p:spPr>
        <p:txBody>
          <a:bodyPr wrap="square" lIns="0" tIns="0" rIns="0" bIns="0">
            <a:spAutoFit/>
          </a:bodyPr>
          <a:lstStyle/>
          <a:p>
            <a:pPr marL="107950" marR="0" lvl="1" indent="-107950" algn="l" defTabSz="914400" rtl="0" eaLnBrk="1" fontAlgn="base" latinLnBrk="0" hangingPunct="1">
              <a:lnSpc>
                <a:spcPct val="100000"/>
              </a:lnSpc>
              <a:spcBef>
                <a:spcPts val="0"/>
              </a:spcBef>
              <a:spcAft>
                <a:spcPts val="300"/>
              </a:spcAft>
              <a:buClr>
                <a:srgbClr val="000000"/>
              </a:buClr>
              <a:buSzPct val="80000"/>
              <a:buFontTx/>
              <a:buNone/>
              <a:tabLst>
                <a:tab pos="2014765" algn="l"/>
              </a:tabLst>
              <a:defRPr/>
            </a:pPr>
            <a:r>
              <a:rPr kumimoji="0" lang="en-US" sz="1400" b="1" i="0" u="none" strike="noStrike" kern="1200" cap="none" spc="-40" normalizeH="0" baseline="0" noProof="0" dirty="0">
                <a:ln>
                  <a:noFill/>
                </a:ln>
                <a:solidFill>
                  <a:srgbClr val="0076A8"/>
                </a:solidFill>
                <a:effectLst/>
                <a:uLnTx/>
                <a:uFillTx/>
                <a:latin typeface="Open Sans" panose="020B0606030504020204" pitchFamily="34" charset="0"/>
                <a:ea typeface="+mn-ea"/>
                <a:cs typeface="+mn-cs"/>
              </a:rPr>
              <a:t>Engagement Summary</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Client identified need to </a:t>
            </a: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migrate from Teradata to Snowflake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due to a number of key challenges</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Reduce Total Cost of Ownership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by discarding annual Teradata costs</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Approaching maximum storage capacity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and did not wish to upgrade Teradata storage due to cost</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Limited deep-knowledge on legacy codebase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requiring in-depth assessment &amp; documentation of current-state ecosystem at large</a:t>
            </a:r>
          </a:p>
        </p:txBody>
      </p:sp>
      <p:sp>
        <p:nvSpPr>
          <p:cNvPr id="85" name="Rectangle 84">
            <a:extLst>
              <a:ext uri="{FF2B5EF4-FFF2-40B4-BE49-F238E27FC236}">
                <a16:creationId xmlns:a16="http://schemas.microsoft.com/office/drawing/2014/main" id="{5B581831-6598-6032-2191-71B8D127F0B2}"/>
              </a:ext>
            </a:extLst>
          </p:cNvPr>
          <p:cNvSpPr/>
          <p:nvPr/>
        </p:nvSpPr>
        <p:spPr>
          <a:xfrm>
            <a:off x="577931" y="2823689"/>
            <a:ext cx="5466908" cy="1700466"/>
          </a:xfrm>
          <a:prstGeom prst="rect">
            <a:avLst/>
          </a:prstGeom>
        </p:spPr>
        <p:txBody>
          <a:bodyPr wrap="square" lIns="0" tIns="0" rIns="0" bIns="0">
            <a:spAutoFit/>
          </a:bodyPr>
          <a:lstStyle/>
          <a:p>
            <a:pPr marL="107950" marR="0" lvl="1" indent="-107950" algn="l" defTabSz="914400" rtl="0" eaLnBrk="1" fontAlgn="base" latinLnBrk="0" hangingPunct="1">
              <a:lnSpc>
                <a:spcPct val="100000"/>
              </a:lnSpc>
              <a:spcBef>
                <a:spcPts val="0"/>
              </a:spcBef>
              <a:spcAft>
                <a:spcPts val="300"/>
              </a:spcAft>
              <a:buClr>
                <a:srgbClr val="000000"/>
              </a:buClr>
              <a:buSzPct val="80000"/>
              <a:buFontTx/>
              <a:buNone/>
              <a:tabLst>
                <a:tab pos="2014765" algn="l"/>
              </a:tabLst>
              <a:defRPr/>
            </a:pPr>
            <a:r>
              <a:rPr kumimoji="0" lang="en-US" sz="1400" b="1" i="0" u="none" strike="noStrike" kern="1200" cap="none" spc="-40" normalizeH="0" baseline="0" noProof="0" dirty="0">
                <a:ln>
                  <a:noFill/>
                </a:ln>
                <a:solidFill>
                  <a:srgbClr val="0076A8"/>
                </a:solidFill>
                <a:effectLst/>
                <a:uLnTx/>
                <a:uFillTx/>
                <a:latin typeface="Open Sans" panose="020B0606030504020204" pitchFamily="34" charset="0"/>
                <a:ea typeface="+mn-ea"/>
                <a:cs typeface="+mn-cs"/>
              </a:rPr>
              <a:t>Approach and Solution</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Migrated </a:t>
            </a: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8 environments, 800+ databases, &amp; 17,000+ tables from Teradata to Snowflake</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Converted all ETL scripts &amp; mappings to Snowflake compatible formats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and execute load on Snowflake</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Migrated all historical data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from Teradata to Snowflake</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Updated existing Teradata-sourced reports and dashboards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in MicroStrategy, Power BI, SAS, &amp; Tableau to read directly from Snowflake</a:t>
            </a:r>
          </a:p>
          <a:p>
            <a:pPr marL="107950" marR="0" lvl="1" indent="-107950" algn="l" defTabSz="913890" rtl="0" eaLnBrk="1" fontAlgn="auto" latinLnBrk="0" hangingPunct="1">
              <a:lnSpc>
                <a:spcPct val="100000"/>
              </a:lnSpc>
              <a:spcBef>
                <a:spcPts val="0"/>
              </a:spcBef>
              <a:spcAft>
                <a:spcPts val="300"/>
              </a:spcAft>
              <a:buClrTx/>
              <a:buSzPct val="100000"/>
              <a:buFont typeface="Arial" panose="020B0604020202020204" pitchFamily="34" charset="0"/>
              <a:buChar char="•"/>
              <a:tabLst>
                <a:tab pos="2014765"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Updated outbound feeds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and applications based on Teradata to Snowflake </a:t>
            </a:r>
            <a:endPar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endParaRPr>
          </a:p>
        </p:txBody>
      </p:sp>
      <p:sp>
        <p:nvSpPr>
          <p:cNvPr id="86" name="Rectangle 85">
            <a:extLst>
              <a:ext uri="{FF2B5EF4-FFF2-40B4-BE49-F238E27FC236}">
                <a16:creationId xmlns:a16="http://schemas.microsoft.com/office/drawing/2014/main" id="{CA85ED1E-9D47-FF83-CE56-01899DF7DC1F}"/>
              </a:ext>
            </a:extLst>
          </p:cNvPr>
          <p:cNvSpPr/>
          <p:nvPr/>
        </p:nvSpPr>
        <p:spPr>
          <a:xfrm>
            <a:off x="6256782" y="2823689"/>
            <a:ext cx="5466907" cy="1661993"/>
          </a:xfrm>
          <a:prstGeom prst="rect">
            <a:avLst/>
          </a:prstGeom>
        </p:spPr>
        <p:txBody>
          <a:bodyPr wrap="square" lIns="0" tIns="0" rIns="0" bIns="0">
            <a:spAutoFit/>
          </a:bodyPr>
          <a:lstStyle/>
          <a:p>
            <a:pPr marL="107950" marR="0" lvl="1" indent="-107950" algn="l" defTabSz="914400" rtl="0" eaLnBrk="1" fontAlgn="base" latinLnBrk="0" hangingPunct="1">
              <a:lnSpc>
                <a:spcPct val="100000"/>
              </a:lnSpc>
              <a:spcBef>
                <a:spcPts val="0"/>
              </a:spcBef>
              <a:spcAft>
                <a:spcPts val="300"/>
              </a:spcAft>
              <a:buClr>
                <a:srgbClr val="000000"/>
              </a:buClr>
              <a:buSzPct val="80000"/>
              <a:buFontTx/>
              <a:buNone/>
              <a:tabLst>
                <a:tab pos="2014765" algn="l"/>
              </a:tabLst>
              <a:defRPr/>
            </a:pPr>
            <a:r>
              <a:rPr kumimoji="0" lang="en-US" sz="1400" b="1" i="0" u="none" strike="noStrike" kern="1200" cap="none" spc="-40" normalizeH="0" baseline="0" noProof="0" dirty="0">
                <a:ln>
                  <a:noFill/>
                </a:ln>
                <a:solidFill>
                  <a:srgbClr val="0076A8"/>
                </a:solidFill>
                <a:effectLst/>
                <a:uLnTx/>
                <a:uFillTx/>
                <a:latin typeface="Open Sans" panose="020B0606030504020204" pitchFamily="34" charset="0"/>
                <a:ea typeface="+mn-ea"/>
                <a:cs typeface="+mn-cs"/>
              </a:rPr>
              <a:t>Value Delivered</a:t>
            </a:r>
          </a:p>
          <a:p>
            <a:pPr marL="107950" marR="0" lvl="1" indent="-107950" algn="l" defTabSz="121917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Heavy use of </a:t>
            </a: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proven, thoroughly tested automation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to reduce risk of manual error and </a:t>
            </a: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accelerate pace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and </a:t>
            </a: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reduce cost and complexity</a:t>
            </a:r>
          </a:p>
          <a:p>
            <a:pPr marL="107950" marR="0" lvl="1" indent="-107950" algn="l" defTabSz="121917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Rapid Modernization of data to target environment through a single “lift and shift” </a:t>
            </a: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reduces user dislocation / confusion</a:t>
            </a:r>
          </a:p>
          <a:p>
            <a:pPr marL="107950" marR="0" lvl="1" indent="-107950" algn="l" defTabSz="121917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Commitment of proven partners</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 to deliver at leading pace </a:t>
            </a: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reduces commercial and delivery uncertainty</a:t>
            </a:r>
          </a:p>
          <a:p>
            <a:pPr marL="107950" marR="0" lvl="1" indent="-107950" algn="l" defTabSz="121917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Program design positions GRM to realize </a:t>
            </a: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$25M+ in savings</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 over current environment sooner and with more certainty</a:t>
            </a:r>
          </a:p>
        </p:txBody>
      </p:sp>
      <p:sp>
        <p:nvSpPr>
          <p:cNvPr id="87" name="Rectangle 86">
            <a:extLst>
              <a:ext uri="{FF2B5EF4-FFF2-40B4-BE49-F238E27FC236}">
                <a16:creationId xmlns:a16="http://schemas.microsoft.com/office/drawing/2014/main" id="{C9A18720-F485-32A6-8163-063F9EA5288F}"/>
              </a:ext>
            </a:extLst>
          </p:cNvPr>
          <p:cNvSpPr/>
          <p:nvPr/>
        </p:nvSpPr>
        <p:spPr>
          <a:xfrm>
            <a:off x="577931" y="4748266"/>
            <a:ext cx="5466908" cy="1538883"/>
          </a:xfrm>
          <a:prstGeom prst="rect">
            <a:avLst/>
          </a:prstGeom>
        </p:spPr>
        <p:txBody>
          <a:bodyPr wrap="square" lIns="0" tIns="0" rIns="0" bIns="0">
            <a:spAutoFit/>
          </a:bodyPr>
          <a:lstStyle/>
          <a:p>
            <a:pPr marL="107950" marR="0" lvl="1" indent="-107950" algn="l" defTabSz="914400" rtl="0" eaLnBrk="1" fontAlgn="base" latinLnBrk="0" hangingPunct="1">
              <a:lnSpc>
                <a:spcPct val="100000"/>
              </a:lnSpc>
              <a:spcBef>
                <a:spcPts val="0"/>
              </a:spcBef>
              <a:spcAft>
                <a:spcPts val="300"/>
              </a:spcAft>
              <a:buClr>
                <a:srgbClr val="000000"/>
              </a:buClr>
              <a:buSzPct val="80000"/>
              <a:buFontTx/>
              <a:buNone/>
              <a:tabLst>
                <a:tab pos="2014765" algn="l"/>
              </a:tabLst>
              <a:defRPr/>
            </a:pPr>
            <a:r>
              <a:rPr kumimoji="0" lang="en-US" sz="1400" b="1" i="0" u="none" strike="noStrike" kern="1200" cap="none" spc="-40" normalizeH="0" baseline="0" noProof="0" dirty="0">
                <a:ln>
                  <a:noFill/>
                </a:ln>
                <a:solidFill>
                  <a:srgbClr val="0076A8"/>
                </a:solidFill>
                <a:effectLst/>
                <a:uLnTx/>
                <a:uFillTx/>
                <a:latin typeface="Open Sans" panose="020B0606030504020204" pitchFamily="34" charset="0"/>
                <a:ea typeface="+mn-ea"/>
                <a:cs typeface="+mn-cs"/>
              </a:rPr>
              <a:t>Core Capabilities</a:t>
            </a:r>
          </a:p>
          <a:p>
            <a:pPr marL="107950" marR="0" lvl="1" indent="-107950" algn="l" defTabSz="914071" rtl="0" eaLnBrk="1" fontAlgn="base" latinLnBrk="0" hangingPunct="1">
              <a:lnSpc>
                <a:spcPct val="100000"/>
              </a:lnSpc>
              <a:spcBef>
                <a:spcPts val="0"/>
              </a:spcBef>
              <a:spcAft>
                <a:spcPts val="300"/>
              </a:spcAft>
              <a:buClrTx/>
              <a:buSzPct val="100000"/>
              <a:buFont typeface="Arial" panose="020B0604020202020204" pitchFamily="34" charset="0"/>
              <a:buChar char="•"/>
              <a:tabLst>
                <a:tab pos="5712943"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Centralized reporting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from cloud-based solution</a:t>
            </a:r>
          </a:p>
          <a:p>
            <a:pPr marL="107950" marR="0" lvl="1" indent="-107950" algn="l" defTabSz="914071" rtl="0" eaLnBrk="1" fontAlgn="base" latinLnBrk="0" hangingPunct="1">
              <a:lnSpc>
                <a:spcPct val="100000"/>
              </a:lnSpc>
              <a:spcBef>
                <a:spcPts val="0"/>
              </a:spcBef>
              <a:spcAft>
                <a:spcPts val="300"/>
              </a:spcAft>
              <a:buClrTx/>
              <a:buSzPct val="100000"/>
              <a:buFont typeface="Arial" panose="020B0604020202020204" pitchFamily="34" charset="0"/>
              <a:buChar char="•"/>
              <a:tabLst>
                <a:tab pos="5712943"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Automation where possible</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 to minimize conversion risk and limit manual coding and validation activities</a:t>
            </a:r>
          </a:p>
          <a:p>
            <a:pPr marL="107950" marR="0" lvl="1" indent="-107950" algn="l" defTabSz="914071" rtl="0" eaLnBrk="1" fontAlgn="base" latinLnBrk="0" hangingPunct="1">
              <a:lnSpc>
                <a:spcPct val="100000"/>
              </a:lnSpc>
              <a:spcBef>
                <a:spcPts val="0"/>
              </a:spcBef>
              <a:spcAft>
                <a:spcPts val="300"/>
              </a:spcAft>
              <a:buClrTx/>
              <a:buSzPct val="100000"/>
              <a:buFont typeface="Arial" panose="020B0604020202020204" pitchFamily="34" charset="0"/>
              <a:buChar char="•"/>
              <a:tabLst>
                <a:tab pos="5712943"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Increase data versatility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by creating a scalable, reusable Cloud based infrastructure</a:t>
            </a:r>
          </a:p>
          <a:p>
            <a:pPr marL="107950" marR="0" lvl="1" indent="-107950" algn="l" defTabSz="914071" rtl="0" eaLnBrk="1" fontAlgn="base" latinLnBrk="0" hangingPunct="1">
              <a:lnSpc>
                <a:spcPct val="100000"/>
              </a:lnSpc>
              <a:spcBef>
                <a:spcPts val="0"/>
              </a:spcBef>
              <a:spcAft>
                <a:spcPts val="300"/>
              </a:spcAft>
              <a:buClrTx/>
              <a:buSzPct val="100000"/>
              <a:buFont typeface="Arial" panose="020B0604020202020204" pitchFamily="34" charset="0"/>
              <a:buChar char="•"/>
              <a:tabLst>
                <a:tab pos="5712943"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Facilitate data access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by updating ingestion and storage processes</a:t>
            </a:r>
          </a:p>
          <a:p>
            <a:pPr marL="107950" marR="0" lvl="1" indent="-107950" algn="l" defTabSz="914071" rtl="0" eaLnBrk="1" fontAlgn="base" latinLnBrk="0" hangingPunct="1">
              <a:lnSpc>
                <a:spcPct val="100000"/>
              </a:lnSpc>
              <a:spcBef>
                <a:spcPts val="0"/>
              </a:spcBef>
              <a:spcAft>
                <a:spcPts val="300"/>
              </a:spcAft>
              <a:buClrTx/>
              <a:buSzPct val="100000"/>
              <a:buFont typeface="Arial" panose="020B0604020202020204" pitchFamily="34" charset="0"/>
              <a:buChar char="•"/>
              <a:tabLst>
                <a:tab pos="5712943" algn="l"/>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Improve time to market and reduce development effort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Light" panose="020B0306030504020204" pitchFamily="34" charset="0"/>
                <a:cs typeface="Open Sans Light" panose="020B0306030504020204" pitchFamily="34" charset="0"/>
              </a:rPr>
              <a:t>by enhancing existing frameworks and creating new framework</a:t>
            </a:r>
          </a:p>
        </p:txBody>
      </p:sp>
      <p:cxnSp>
        <p:nvCxnSpPr>
          <p:cNvPr id="91" name="Straight Connector 90">
            <a:extLst>
              <a:ext uri="{FF2B5EF4-FFF2-40B4-BE49-F238E27FC236}">
                <a16:creationId xmlns:a16="http://schemas.microsoft.com/office/drawing/2014/main" id="{E6EC0923-3A91-ED2A-CE41-F292C37B3FB1}"/>
              </a:ext>
            </a:extLst>
          </p:cNvPr>
          <p:cNvCxnSpPr>
            <a:cxnSpLocks/>
          </p:cNvCxnSpPr>
          <p:nvPr/>
        </p:nvCxnSpPr>
        <p:spPr>
          <a:xfrm>
            <a:off x="6096000" y="2954321"/>
            <a:ext cx="0" cy="3484579"/>
          </a:xfrm>
          <a:prstGeom prst="line">
            <a:avLst/>
          </a:prstGeom>
          <a:noFill/>
          <a:ln w="9525" cap="flat" cmpd="sng" algn="ctr">
            <a:solidFill>
              <a:sysClr val="window" lastClr="FFFFFF">
                <a:lumMod val="75000"/>
              </a:sysClr>
            </a:solidFill>
            <a:prstDash val="dash"/>
          </a:ln>
          <a:effectLst/>
        </p:spPr>
      </p:cxnSp>
      <p:grpSp>
        <p:nvGrpSpPr>
          <p:cNvPr id="5" name="Group 4">
            <a:extLst>
              <a:ext uri="{FF2B5EF4-FFF2-40B4-BE49-F238E27FC236}">
                <a16:creationId xmlns:a16="http://schemas.microsoft.com/office/drawing/2014/main" id="{CA3EA701-B024-8F96-7B05-5F56A3DC0FE6}"/>
              </a:ext>
            </a:extLst>
          </p:cNvPr>
          <p:cNvGrpSpPr/>
          <p:nvPr/>
        </p:nvGrpSpPr>
        <p:grpSpPr>
          <a:xfrm>
            <a:off x="6336644" y="4587158"/>
            <a:ext cx="5234499" cy="984885"/>
            <a:chOff x="6336644" y="4170696"/>
            <a:chExt cx="5234499" cy="984885"/>
          </a:xfrm>
        </p:grpSpPr>
        <p:sp>
          <p:nvSpPr>
            <p:cNvPr id="2" name="Text Placeholder 3">
              <a:extLst>
                <a:ext uri="{FF2B5EF4-FFF2-40B4-BE49-F238E27FC236}">
                  <a16:creationId xmlns:a16="http://schemas.microsoft.com/office/drawing/2014/main" id="{6A827889-A32A-01D1-12FA-42D472D70DAA}"/>
                </a:ext>
              </a:extLst>
            </p:cNvPr>
            <p:cNvSpPr txBox="1">
              <a:spLocks/>
            </p:cNvSpPr>
            <p:nvPr/>
          </p:nvSpPr>
          <p:spPr>
            <a:xfrm>
              <a:off x="6336644" y="4170696"/>
              <a:ext cx="2617684" cy="984885"/>
            </a:xfrm>
            <a:prstGeom prst="rect">
              <a:avLst/>
            </a:prstGeom>
          </p:spPr>
          <p:txBody>
            <a:bodyPr vert="horz" wrap="square" lIns="0" tIns="0" rIns="0" bIns="0" rtlCol="0">
              <a:spAutoFit/>
            </a:bodyPr>
            <a:lstStyle>
              <a:lvl1pPr marL="0" indent="0" algn="l" defTabSz="914400" rtl="0" eaLnBrk="1" latinLnBrk="0" hangingPunct="1">
                <a:lnSpc>
                  <a:spcPct val="130000"/>
                </a:lnSpc>
                <a:spcBef>
                  <a:spcPts val="10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1pPr>
              <a:lvl2pPr marL="4572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2pPr>
              <a:lvl3pPr marL="9144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3pPr>
              <a:lvl4pPr marL="13716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4pPr>
              <a:lvl5pPr marL="18288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8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Environments</a:t>
              </a:r>
            </a:p>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800+</a:t>
              </a: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Databases</a:t>
              </a:r>
            </a:p>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17,000+</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Tables</a:t>
              </a:r>
            </a:p>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10,000+</a:t>
              </a: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ETL mappings</a:t>
              </a:r>
              <a:endPar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Text Placeholder 3">
              <a:extLst>
                <a:ext uri="{FF2B5EF4-FFF2-40B4-BE49-F238E27FC236}">
                  <a16:creationId xmlns:a16="http://schemas.microsoft.com/office/drawing/2014/main" id="{9AC6AD70-8796-C83D-1487-1CB3F128F1B0}"/>
                </a:ext>
              </a:extLst>
            </p:cNvPr>
            <p:cNvSpPr txBox="1">
              <a:spLocks/>
            </p:cNvSpPr>
            <p:nvPr/>
          </p:nvSpPr>
          <p:spPr>
            <a:xfrm>
              <a:off x="9123231" y="4170696"/>
              <a:ext cx="2447912" cy="892552"/>
            </a:xfrm>
            <a:prstGeom prst="rect">
              <a:avLst/>
            </a:prstGeom>
          </p:spPr>
          <p:txBody>
            <a:bodyPr vert="horz" wrap="square" lIns="0" tIns="0" rIns="0" bIns="0" rtlCol="0">
              <a:spAutoFit/>
            </a:bodyPr>
            <a:lstStyle>
              <a:lvl1pPr marL="0" indent="0" algn="l" defTabSz="914400" rtl="0" eaLnBrk="1" latinLnBrk="0" hangingPunct="1">
                <a:lnSpc>
                  <a:spcPct val="130000"/>
                </a:lnSpc>
                <a:spcBef>
                  <a:spcPts val="10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1pPr>
              <a:lvl2pPr marL="4572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2pPr>
              <a:lvl3pPr marL="9144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3pPr>
              <a:lvl4pPr marL="13716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4pPr>
              <a:lvl5pPr marL="1828800" indent="0" algn="l" defTabSz="914400" rtl="0" eaLnBrk="1" latinLnBrk="0" hangingPunct="1">
                <a:lnSpc>
                  <a:spcPct val="130000"/>
                </a:lnSpc>
                <a:spcBef>
                  <a:spcPts val="500"/>
                </a:spcBef>
                <a:buClr>
                  <a:schemeClr val="accent5"/>
                </a:buClr>
                <a:buSzPct val="75000"/>
                <a:buFont typeface="Arial" panose="020B0604020202020204" pitchFamily="34" charset="0"/>
                <a:buNone/>
                <a:defRPr sz="8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2,000+</a:t>
              </a: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SAS scripts</a:t>
              </a:r>
            </a:p>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150,000+</a:t>
              </a: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BI reports</a:t>
              </a:r>
              <a:endPar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r>
                <a:rPr kumimoji="0" lang="en-US" sz="1600" b="1" i="0" u="none" strike="noStrike" kern="1200" cap="none" spc="0" normalizeH="0" baseline="0" noProof="0" dirty="0">
                  <a:ln>
                    <a:noFill/>
                  </a:ln>
                  <a:solidFill>
                    <a:srgbClr val="86BC25"/>
                  </a:solidFill>
                  <a:effectLst/>
                  <a:uLnTx/>
                  <a:uFillTx/>
                  <a:latin typeface="Open Sans" panose="020B0606030504020204" pitchFamily="34" charset="0"/>
                  <a:ea typeface="Open Sans" panose="020B0606030504020204" pitchFamily="34" charset="0"/>
                  <a:cs typeface="Open Sans" panose="020B0606030504020204" pitchFamily="34" charset="0"/>
                </a:rPr>
                <a:t>150</a:t>
              </a: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5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TB</a:t>
              </a:r>
              <a:endParaRPr lang="en-US" sz="1050" spc="0" dirty="0">
                <a:solidFill>
                  <a:prstClr val="black"/>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just" defTabSz="914400" rtl="0" eaLnBrk="1" fontAlgn="auto" latinLnBrk="0" hangingPunct="1">
                <a:lnSpc>
                  <a:spcPct val="100000"/>
                </a:lnSpc>
                <a:spcBef>
                  <a:spcPts val="0"/>
                </a:spcBef>
                <a:spcAft>
                  <a:spcPts val="0"/>
                </a:spcAft>
                <a:buClr>
                  <a:srgbClr val="0097A9"/>
                </a:buClr>
                <a:buSzPct val="75000"/>
                <a:buFont typeface="Arial" panose="020B0604020202020204" pitchFamily="34" charset="0"/>
                <a:buNone/>
                <a:tabLst/>
                <a:defRPr/>
              </a:pPr>
              <a:endPar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pic>
        <p:nvPicPr>
          <p:cNvPr id="4" name="Picture 2" descr="What Is A Bank And How Does It Work? – Forbes Advisor">
            <a:extLst>
              <a:ext uri="{FF2B5EF4-FFF2-40B4-BE49-F238E27FC236}">
                <a16:creationId xmlns:a16="http://schemas.microsoft.com/office/drawing/2014/main" id="{D6635682-D844-98A2-CC55-1EE9866462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3792" y="-14354"/>
            <a:ext cx="2377440" cy="275697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30C7870D-446B-0F49-F088-03DA6745FC1B}"/>
              </a:ext>
            </a:extLst>
          </p:cNvPr>
          <p:cNvGrpSpPr/>
          <p:nvPr/>
        </p:nvGrpSpPr>
        <p:grpSpPr>
          <a:xfrm>
            <a:off x="6184900" y="5638473"/>
            <a:ext cx="5537201" cy="713509"/>
            <a:chOff x="6184900" y="5638473"/>
            <a:chExt cx="5537201" cy="713509"/>
          </a:xfrm>
        </p:grpSpPr>
        <p:pic>
          <p:nvPicPr>
            <p:cNvPr id="8" name="Picture 2" descr="Snowflake - Teem Recruitment | Software Sales Specialists | Teem ...">
              <a:extLst>
                <a:ext uri="{FF2B5EF4-FFF2-40B4-BE49-F238E27FC236}">
                  <a16:creationId xmlns:a16="http://schemas.microsoft.com/office/drawing/2014/main" id="{A1C0999D-A341-B872-6788-EE4CAD5B31B9}"/>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6201446" y="5796565"/>
              <a:ext cx="1110834" cy="55541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informatica logo - Level at Northeastern University | Blog">
              <a:extLst>
                <a:ext uri="{FF2B5EF4-FFF2-40B4-BE49-F238E27FC236}">
                  <a16:creationId xmlns:a16="http://schemas.microsoft.com/office/drawing/2014/main" id="{5E3C53EC-3F8B-2E84-8976-02C0E840D484}"/>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7300198" y="5856142"/>
              <a:ext cx="1266245" cy="43626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4C565687-ECC1-9A02-2432-2247042E3E6C}"/>
                </a:ext>
              </a:extLst>
            </p:cNvPr>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t="39899" b="37955"/>
            <a:stretch/>
          </p:blipFill>
          <p:spPr bwMode="auto">
            <a:xfrm>
              <a:off x="9517650" y="5974362"/>
              <a:ext cx="962969" cy="21325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Tableau Logo - How to Optimize it, Pick the right one, and skip ...">
              <a:extLst>
                <a:ext uri="{FF2B5EF4-FFF2-40B4-BE49-F238E27FC236}">
                  <a16:creationId xmlns:a16="http://schemas.microsoft.com/office/drawing/2014/main" id="{58E14794-0DD0-A4D0-3DAE-670CF5275700}"/>
                </a:ext>
              </a:extLst>
            </p:cNvPr>
            <p:cNvPicPr>
              <a:picLocks noChangeAspect="1" noChangeArrowheads="1"/>
            </p:cNvPicPr>
            <p:nvPr/>
          </p:nvPicPr>
          <p:blipFill rotWithShape="1">
            <a:blip r:embed="rId6" cstate="hqprint">
              <a:extLst>
                <a:ext uri="{28A0092B-C50C-407E-A947-70E740481C1C}">
                  <a14:useLocalDpi xmlns:a14="http://schemas.microsoft.com/office/drawing/2010/main"/>
                </a:ext>
              </a:extLst>
            </a:blip>
            <a:srcRect/>
            <a:stretch/>
          </p:blipFill>
          <p:spPr bwMode="auto">
            <a:xfrm>
              <a:off x="10499356" y="5936322"/>
              <a:ext cx="1222744" cy="27590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C17429BE-5A4F-FE24-A196-8471D52E068D}"/>
                </a:ext>
              </a:extLst>
            </p:cNvPr>
            <p:cNvSpPr/>
            <p:nvPr/>
          </p:nvSpPr>
          <p:spPr bwMode="gray">
            <a:xfrm>
              <a:off x="6184900" y="5733235"/>
              <a:ext cx="5537201" cy="579396"/>
            </a:xfrm>
            <a:prstGeom prst="rect">
              <a:avLst/>
            </a:prstGeom>
            <a:noFill/>
            <a:ln w="19050">
              <a:solidFill>
                <a:srgbClr val="00A3E0"/>
              </a:solidFill>
            </a:ln>
          </p:spPr>
          <p:txBody>
            <a:bodyPr wrap="square" lIns="0" tIns="0" rIns="0" bIns="0" rtlCol="0"/>
            <a:lstStyle/>
            <a:p>
              <a:pPr marL="0" marR="0" lvl="0" indent="0" algn="ctr" defTabSz="761585" rtl="0"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prstClr val="black"/>
                </a:solidFill>
                <a:effectLst/>
                <a:uLnTx/>
                <a:uFillTx/>
                <a:latin typeface="Open Sans" panose="020B0606030504020204" pitchFamily="34" charset="0"/>
                <a:ea typeface="+mn-ea"/>
                <a:cs typeface="+mn-cs"/>
              </a:endParaRPr>
            </a:p>
          </p:txBody>
        </p:sp>
        <p:sp>
          <p:nvSpPr>
            <p:cNvPr id="13" name="Rectangle 15">
              <a:extLst>
                <a:ext uri="{FF2B5EF4-FFF2-40B4-BE49-F238E27FC236}">
                  <a16:creationId xmlns:a16="http://schemas.microsoft.com/office/drawing/2014/main" id="{EF4E2181-CFF7-34A7-D99C-BD75C8E07361}"/>
                </a:ext>
              </a:extLst>
            </p:cNvPr>
            <p:cNvSpPr>
              <a:spLocks noChangeArrowheads="1"/>
            </p:cNvSpPr>
            <p:nvPr/>
          </p:nvSpPr>
          <p:spPr bwMode="gray">
            <a:xfrm>
              <a:off x="8078829" y="5638473"/>
              <a:ext cx="1749342" cy="184666"/>
            </a:xfrm>
            <a:prstGeom prst="rect">
              <a:avLst/>
            </a:prstGeom>
            <a:solidFill>
              <a:srgbClr val="FFFFFF"/>
            </a:solidFill>
            <a:ln w="12700" cap="rnd" algn="ctr">
              <a:noFill/>
              <a:miter lim="800000"/>
              <a:headEnd/>
              <a:tailEnd/>
            </a:ln>
          </p:spPr>
          <p:txBody>
            <a:bodyPr wrap="none" lIns="86400" tIns="0" rIns="86400" bIns="0" anchor="b" anchorCtr="1">
              <a:spAutoFit/>
            </a:bodyPr>
            <a:lstStyle/>
            <a:p>
              <a:pPr marL="16001" marR="0" lvl="0" indent="0" algn="ctr" defTabSz="913938" rtl="0" eaLnBrk="1" fontAlgn="auto" latinLnBrk="0" hangingPunct="1">
                <a:lnSpc>
                  <a:spcPct val="100000"/>
                </a:lnSpc>
                <a:spcBef>
                  <a:spcPts val="120"/>
                </a:spcBef>
                <a:spcAft>
                  <a:spcPts val="0"/>
                </a:spcAft>
                <a:buClrTx/>
                <a:buSzTx/>
                <a:buFontTx/>
                <a:buNone/>
                <a:tabLst/>
                <a:defRPr/>
              </a:pPr>
              <a:r>
                <a:rPr kumimoji="0" lang="en-US" sz="1200" b="1" i="0" u="none" strike="noStrike" kern="1200" cap="none" spc="0" normalizeH="0" baseline="0" noProof="0" dirty="0">
                  <a:ln>
                    <a:noFill/>
                  </a:ln>
                  <a:solidFill>
                    <a:srgbClr val="231F20"/>
                  </a:solidFill>
                  <a:effectLst/>
                  <a:uLnTx/>
                  <a:uFillTx/>
                  <a:latin typeface="Open Sans" panose="020B0606030504020204" pitchFamily="34" charset="0"/>
                  <a:ea typeface="Open Sans" panose="020B0606030504020204" pitchFamily="34" charset="0"/>
                  <a:cs typeface="Open Sans" panose="020B0606030504020204" pitchFamily="34" charset="0"/>
                </a:rPr>
                <a:t>TECHNOLOGY STACK</a:t>
              </a:r>
            </a:p>
          </p:txBody>
        </p:sp>
        <p:pic>
          <p:nvPicPr>
            <p:cNvPr id="14" name="Picture 6" descr="Amazon Web Services - Wikipedia">
              <a:extLst>
                <a:ext uri="{FF2B5EF4-FFF2-40B4-BE49-F238E27FC236}">
                  <a16:creationId xmlns:a16="http://schemas.microsoft.com/office/drawing/2014/main" id="{2098E565-5CFF-BF85-E3C9-AC29174D1E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61828" y="5917901"/>
              <a:ext cx="456811" cy="27408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88303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30E04E4B-53E9-A490-F033-85853B4585A4}"/>
              </a:ext>
            </a:extLst>
          </p:cNvPr>
          <p:cNvGrpSpPr/>
          <p:nvPr/>
        </p:nvGrpSpPr>
        <p:grpSpPr>
          <a:xfrm>
            <a:off x="4166807" y="3664400"/>
            <a:ext cx="2870242" cy="2987512"/>
            <a:chOff x="4211197" y="3664400"/>
            <a:chExt cx="2870242" cy="2987512"/>
          </a:xfrm>
        </p:grpSpPr>
        <p:grpSp>
          <p:nvGrpSpPr>
            <p:cNvPr id="203" name="Group 202">
              <a:extLst>
                <a:ext uri="{FF2B5EF4-FFF2-40B4-BE49-F238E27FC236}">
                  <a16:creationId xmlns:a16="http://schemas.microsoft.com/office/drawing/2014/main" id="{23A3E76A-EE9F-9A34-192E-F8299F6CEC1E}"/>
                </a:ext>
              </a:extLst>
            </p:cNvPr>
            <p:cNvGrpSpPr/>
            <p:nvPr/>
          </p:nvGrpSpPr>
          <p:grpSpPr>
            <a:xfrm>
              <a:off x="4265186" y="3752716"/>
              <a:ext cx="289804" cy="2847574"/>
              <a:chOff x="510493" y="2129565"/>
              <a:chExt cx="360412" cy="3871268"/>
            </a:xfrm>
            <a:solidFill>
              <a:srgbClr val="00A3E0"/>
            </a:solidFill>
          </p:grpSpPr>
          <p:sp>
            <p:nvSpPr>
              <p:cNvPr id="313" name="Freeform 127">
                <a:extLst>
                  <a:ext uri="{FF2B5EF4-FFF2-40B4-BE49-F238E27FC236}">
                    <a16:creationId xmlns:a16="http://schemas.microsoft.com/office/drawing/2014/main" id="{41E37A7A-20BE-CB95-1A14-198B3B77A02A}"/>
                  </a:ext>
                </a:extLst>
              </p:cNvPr>
              <p:cNvSpPr>
                <a:spLocks noEditPoints="1"/>
              </p:cNvSpPr>
              <p:nvPr/>
            </p:nvSpPr>
            <p:spPr bwMode="auto">
              <a:xfrm>
                <a:off x="510493" y="2129565"/>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14" name="Freeform 128">
                <a:extLst>
                  <a:ext uri="{FF2B5EF4-FFF2-40B4-BE49-F238E27FC236}">
                    <a16:creationId xmlns:a16="http://schemas.microsoft.com/office/drawing/2014/main" id="{69782E8F-A4A9-E961-B62D-9625CE4F0A7F}"/>
                  </a:ext>
                </a:extLst>
              </p:cNvPr>
              <p:cNvSpPr>
                <a:spLocks noEditPoints="1"/>
              </p:cNvSpPr>
              <p:nvPr/>
            </p:nvSpPr>
            <p:spPr bwMode="auto">
              <a:xfrm>
                <a:off x="510493" y="2526178"/>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15" name="Freeform 129">
                <a:extLst>
                  <a:ext uri="{FF2B5EF4-FFF2-40B4-BE49-F238E27FC236}">
                    <a16:creationId xmlns:a16="http://schemas.microsoft.com/office/drawing/2014/main" id="{E4C736C8-541E-5E93-9320-4E93665240F6}"/>
                  </a:ext>
                </a:extLst>
              </p:cNvPr>
              <p:cNvSpPr>
                <a:spLocks noEditPoints="1"/>
              </p:cNvSpPr>
              <p:nvPr/>
            </p:nvSpPr>
            <p:spPr bwMode="auto">
              <a:xfrm>
                <a:off x="510493" y="292279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16" name="Freeform 130">
                <a:extLst>
                  <a:ext uri="{FF2B5EF4-FFF2-40B4-BE49-F238E27FC236}">
                    <a16:creationId xmlns:a16="http://schemas.microsoft.com/office/drawing/2014/main" id="{0C653841-CE12-50F7-0B4D-132F0C6DB9A1}"/>
                  </a:ext>
                </a:extLst>
              </p:cNvPr>
              <p:cNvSpPr>
                <a:spLocks noEditPoints="1"/>
              </p:cNvSpPr>
              <p:nvPr/>
            </p:nvSpPr>
            <p:spPr bwMode="auto">
              <a:xfrm>
                <a:off x="510493" y="3319404"/>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17" name="Freeform 131">
                <a:extLst>
                  <a:ext uri="{FF2B5EF4-FFF2-40B4-BE49-F238E27FC236}">
                    <a16:creationId xmlns:a16="http://schemas.microsoft.com/office/drawing/2014/main" id="{901AC3FB-9059-DCD9-A8DD-32ED2280FC8D}"/>
                  </a:ext>
                </a:extLst>
              </p:cNvPr>
              <p:cNvSpPr>
                <a:spLocks noEditPoints="1"/>
              </p:cNvSpPr>
              <p:nvPr/>
            </p:nvSpPr>
            <p:spPr bwMode="auto">
              <a:xfrm>
                <a:off x="510493" y="3716017"/>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18" name="Freeform 132">
                <a:extLst>
                  <a:ext uri="{FF2B5EF4-FFF2-40B4-BE49-F238E27FC236}">
                    <a16:creationId xmlns:a16="http://schemas.microsoft.com/office/drawing/2014/main" id="{A6152314-EBCD-3B2E-48FC-77776FD218FD}"/>
                  </a:ext>
                </a:extLst>
              </p:cNvPr>
              <p:cNvSpPr>
                <a:spLocks noEditPoints="1"/>
              </p:cNvSpPr>
              <p:nvPr/>
            </p:nvSpPr>
            <p:spPr bwMode="auto">
              <a:xfrm>
                <a:off x="510493" y="4112630"/>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19" name="Freeform 133">
                <a:extLst>
                  <a:ext uri="{FF2B5EF4-FFF2-40B4-BE49-F238E27FC236}">
                    <a16:creationId xmlns:a16="http://schemas.microsoft.com/office/drawing/2014/main" id="{2346106A-4857-6133-FC6D-EE3FCCCA29C4}"/>
                  </a:ext>
                </a:extLst>
              </p:cNvPr>
              <p:cNvSpPr>
                <a:spLocks noEditPoints="1"/>
              </p:cNvSpPr>
              <p:nvPr/>
            </p:nvSpPr>
            <p:spPr bwMode="auto">
              <a:xfrm>
                <a:off x="510493" y="4509243"/>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20" name="Freeform 134">
                <a:extLst>
                  <a:ext uri="{FF2B5EF4-FFF2-40B4-BE49-F238E27FC236}">
                    <a16:creationId xmlns:a16="http://schemas.microsoft.com/office/drawing/2014/main" id="{47020BF2-2AFC-85A6-2DBA-B01252B50C04}"/>
                  </a:ext>
                </a:extLst>
              </p:cNvPr>
              <p:cNvSpPr>
                <a:spLocks noEditPoints="1"/>
              </p:cNvSpPr>
              <p:nvPr/>
            </p:nvSpPr>
            <p:spPr bwMode="auto">
              <a:xfrm>
                <a:off x="510493" y="4905856"/>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21" name="Freeform 135">
                <a:extLst>
                  <a:ext uri="{FF2B5EF4-FFF2-40B4-BE49-F238E27FC236}">
                    <a16:creationId xmlns:a16="http://schemas.microsoft.com/office/drawing/2014/main" id="{9244B942-79AC-851D-916B-CB9BD74548A4}"/>
                  </a:ext>
                </a:extLst>
              </p:cNvPr>
              <p:cNvSpPr>
                <a:spLocks noEditPoints="1"/>
              </p:cNvSpPr>
              <p:nvPr/>
            </p:nvSpPr>
            <p:spPr bwMode="auto">
              <a:xfrm>
                <a:off x="510493" y="5302469"/>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22" name="Freeform 136">
                <a:extLst>
                  <a:ext uri="{FF2B5EF4-FFF2-40B4-BE49-F238E27FC236}">
                    <a16:creationId xmlns:a16="http://schemas.microsoft.com/office/drawing/2014/main" id="{46CB33F7-02C8-62AE-C59B-20B6AFB57DED}"/>
                  </a:ext>
                </a:extLst>
              </p:cNvPr>
              <p:cNvSpPr>
                <a:spLocks noEditPoints="1"/>
              </p:cNvSpPr>
              <p:nvPr/>
            </p:nvSpPr>
            <p:spPr bwMode="auto">
              <a:xfrm>
                <a:off x="510493" y="569908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4" name="Group 203">
              <a:extLst>
                <a:ext uri="{FF2B5EF4-FFF2-40B4-BE49-F238E27FC236}">
                  <a16:creationId xmlns:a16="http://schemas.microsoft.com/office/drawing/2014/main" id="{CCB3A7A0-B545-E0CB-0091-825A2F997D35}"/>
                </a:ext>
              </a:extLst>
            </p:cNvPr>
            <p:cNvGrpSpPr/>
            <p:nvPr/>
          </p:nvGrpSpPr>
          <p:grpSpPr>
            <a:xfrm>
              <a:off x="4578103" y="3752716"/>
              <a:ext cx="289804" cy="2847574"/>
              <a:chOff x="510493" y="2129565"/>
              <a:chExt cx="360412" cy="3871268"/>
            </a:xfrm>
            <a:solidFill>
              <a:srgbClr val="00A3E0"/>
            </a:solidFill>
          </p:grpSpPr>
          <p:sp>
            <p:nvSpPr>
              <p:cNvPr id="303" name="Freeform 117">
                <a:extLst>
                  <a:ext uri="{FF2B5EF4-FFF2-40B4-BE49-F238E27FC236}">
                    <a16:creationId xmlns:a16="http://schemas.microsoft.com/office/drawing/2014/main" id="{9679D294-EA07-FB64-270C-62A20D55A384}"/>
                  </a:ext>
                </a:extLst>
              </p:cNvPr>
              <p:cNvSpPr>
                <a:spLocks noEditPoints="1"/>
              </p:cNvSpPr>
              <p:nvPr/>
            </p:nvSpPr>
            <p:spPr bwMode="auto">
              <a:xfrm>
                <a:off x="510493" y="2129565"/>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4" name="Freeform 118">
                <a:extLst>
                  <a:ext uri="{FF2B5EF4-FFF2-40B4-BE49-F238E27FC236}">
                    <a16:creationId xmlns:a16="http://schemas.microsoft.com/office/drawing/2014/main" id="{6C87CCF2-A4C6-89A5-82F4-B968B0DEDDE2}"/>
                  </a:ext>
                </a:extLst>
              </p:cNvPr>
              <p:cNvSpPr>
                <a:spLocks noEditPoints="1"/>
              </p:cNvSpPr>
              <p:nvPr/>
            </p:nvSpPr>
            <p:spPr bwMode="auto">
              <a:xfrm>
                <a:off x="510493" y="2526178"/>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5" name="Freeform 119">
                <a:extLst>
                  <a:ext uri="{FF2B5EF4-FFF2-40B4-BE49-F238E27FC236}">
                    <a16:creationId xmlns:a16="http://schemas.microsoft.com/office/drawing/2014/main" id="{C856CBB9-DF79-8600-5F96-F07A2541B139}"/>
                  </a:ext>
                </a:extLst>
              </p:cNvPr>
              <p:cNvSpPr>
                <a:spLocks noEditPoints="1"/>
              </p:cNvSpPr>
              <p:nvPr/>
            </p:nvSpPr>
            <p:spPr bwMode="auto">
              <a:xfrm>
                <a:off x="510493" y="292279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6" name="Freeform 120">
                <a:extLst>
                  <a:ext uri="{FF2B5EF4-FFF2-40B4-BE49-F238E27FC236}">
                    <a16:creationId xmlns:a16="http://schemas.microsoft.com/office/drawing/2014/main" id="{4A69EB51-904A-15FA-3CE4-78BB412E1B72}"/>
                  </a:ext>
                </a:extLst>
              </p:cNvPr>
              <p:cNvSpPr>
                <a:spLocks noEditPoints="1"/>
              </p:cNvSpPr>
              <p:nvPr/>
            </p:nvSpPr>
            <p:spPr bwMode="auto">
              <a:xfrm>
                <a:off x="510493" y="3319404"/>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7" name="Freeform 121">
                <a:extLst>
                  <a:ext uri="{FF2B5EF4-FFF2-40B4-BE49-F238E27FC236}">
                    <a16:creationId xmlns:a16="http://schemas.microsoft.com/office/drawing/2014/main" id="{63B0C71A-149D-9D11-35FB-B45CB4D65146}"/>
                  </a:ext>
                </a:extLst>
              </p:cNvPr>
              <p:cNvSpPr>
                <a:spLocks noEditPoints="1"/>
              </p:cNvSpPr>
              <p:nvPr/>
            </p:nvSpPr>
            <p:spPr bwMode="auto">
              <a:xfrm>
                <a:off x="510493" y="3716017"/>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8" name="Freeform 122">
                <a:extLst>
                  <a:ext uri="{FF2B5EF4-FFF2-40B4-BE49-F238E27FC236}">
                    <a16:creationId xmlns:a16="http://schemas.microsoft.com/office/drawing/2014/main" id="{EE30B4AC-BCD6-E081-59DC-C410998FD433}"/>
                  </a:ext>
                </a:extLst>
              </p:cNvPr>
              <p:cNvSpPr>
                <a:spLocks noEditPoints="1"/>
              </p:cNvSpPr>
              <p:nvPr/>
            </p:nvSpPr>
            <p:spPr bwMode="auto">
              <a:xfrm>
                <a:off x="510493" y="4112630"/>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9" name="Freeform 123">
                <a:extLst>
                  <a:ext uri="{FF2B5EF4-FFF2-40B4-BE49-F238E27FC236}">
                    <a16:creationId xmlns:a16="http://schemas.microsoft.com/office/drawing/2014/main" id="{882C30EC-CE90-49B2-C637-2702904CC061}"/>
                  </a:ext>
                </a:extLst>
              </p:cNvPr>
              <p:cNvSpPr>
                <a:spLocks noEditPoints="1"/>
              </p:cNvSpPr>
              <p:nvPr/>
            </p:nvSpPr>
            <p:spPr bwMode="auto">
              <a:xfrm>
                <a:off x="510493" y="4509243"/>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10" name="Freeform 124">
                <a:extLst>
                  <a:ext uri="{FF2B5EF4-FFF2-40B4-BE49-F238E27FC236}">
                    <a16:creationId xmlns:a16="http://schemas.microsoft.com/office/drawing/2014/main" id="{F1E12D36-4F5F-3392-19A9-72F5BE9FCD9D}"/>
                  </a:ext>
                </a:extLst>
              </p:cNvPr>
              <p:cNvSpPr>
                <a:spLocks noEditPoints="1"/>
              </p:cNvSpPr>
              <p:nvPr/>
            </p:nvSpPr>
            <p:spPr bwMode="auto">
              <a:xfrm>
                <a:off x="510493" y="4905856"/>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11" name="Freeform 125">
                <a:extLst>
                  <a:ext uri="{FF2B5EF4-FFF2-40B4-BE49-F238E27FC236}">
                    <a16:creationId xmlns:a16="http://schemas.microsoft.com/office/drawing/2014/main" id="{90080926-3DFF-AFAF-19A1-C2FA1FE29C7E}"/>
                  </a:ext>
                </a:extLst>
              </p:cNvPr>
              <p:cNvSpPr>
                <a:spLocks noEditPoints="1"/>
              </p:cNvSpPr>
              <p:nvPr/>
            </p:nvSpPr>
            <p:spPr bwMode="auto">
              <a:xfrm>
                <a:off x="510493" y="5302469"/>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12" name="Freeform 126">
                <a:extLst>
                  <a:ext uri="{FF2B5EF4-FFF2-40B4-BE49-F238E27FC236}">
                    <a16:creationId xmlns:a16="http://schemas.microsoft.com/office/drawing/2014/main" id="{2FF4EC69-2F0C-1A92-8744-E6EEDE35F055}"/>
                  </a:ext>
                </a:extLst>
              </p:cNvPr>
              <p:cNvSpPr>
                <a:spLocks noEditPoints="1"/>
              </p:cNvSpPr>
              <p:nvPr/>
            </p:nvSpPr>
            <p:spPr bwMode="auto">
              <a:xfrm>
                <a:off x="510493" y="569908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5" name="Group 204">
              <a:extLst>
                <a:ext uri="{FF2B5EF4-FFF2-40B4-BE49-F238E27FC236}">
                  <a16:creationId xmlns:a16="http://schemas.microsoft.com/office/drawing/2014/main" id="{92869722-A406-DD8F-A3B8-35606CE23C4F}"/>
                </a:ext>
              </a:extLst>
            </p:cNvPr>
            <p:cNvGrpSpPr/>
            <p:nvPr/>
          </p:nvGrpSpPr>
          <p:grpSpPr>
            <a:xfrm>
              <a:off x="4891020" y="3752716"/>
              <a:ext cx="289804" cy="2847574"/>
              <a:chOff x="510493" y="2129565"/>
              <a:chExt cx="360412" cy="3871268"/>
            </a:xfrm>
            <a:solidFill>
              <a:srgbClr val="00A3E0"/>
            </a:solidFill>
          </p:grpSpPr>
          <p:sp>
            <p:nvSpPr>
              <p:cNvPr id="293" name="Freeform 107">
                <a:extLst>
                  <a:ext uri="{FF2B5EF4-FFF2-40B4-BE49-F238E27FC236}">
                    <a16:creationId xmlns:a16="http://schemas.microsoft.com/office/drawing/2014/main" id="{90020270-B66A-2970-434F-2F59E19F227A}"/>
                  </a:ext>
                </a:extLst>
              </p:cNvPr>
              <p:cNvSpPr>
                <a:spLocks noEditPoints="1"/>
              </p:cNvSpPr>
              <p:nvPr/>
            </p:nvSpPr>
            <p:spPr bwMode="auto">
              <a:xfrm>
                <a:off x="510493" y="2129565"/>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4" name="Freeform 108">
                <a:extLst>
                  <a:ext uri="{FF2B5EF4-FFF2-40B4-BE49-F238E27FC236}">
                    <a16:creationId xmlns:a16="http://schemas.microsoft.com/office/drawing/2014/main" id="{F8321E9A-68A1-E410-7EB7-3C146227FC4D}"/>
                  </a:ext>
                </a:extLst>
              </p:cNvPr>
              <p:cNvSpPr>
                <a:spLocks noEditPoints="1"/>
              </p:cNvSpPr>
              <p:nvPr/>
            </p:nvSpPr>
            <p:spPr bwMode="auto">
              <a:xfrm>
                <a:off x="510493" y="2526178"/>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5" name="Freeform 109">
                <a:extLst>
                  <a:ext uri="{FF2B5EF4-FFF2-40B4-BE49-F238E27FC236}">
                    <a16:creationId xmlns:a16="http://schemas.microsoft.com/office/drawing/2014/main" id="{F1F632C3-1DCC-1B5E-3AD8-8FAA549C57A5}"/>
                  </a:ext>
                </a:extLst>
              </p:cNvPr>
              <p:cNvSpPr>
                <a:spLocks noEditPoints="1"/>
              </p:cNvSpPr>
              <p:nvPr/>
            </p:nvSpPr>
            <p:spPr bwMode="auto">
              <a:xfrm>
                <a:off x="510493" y="292279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6" name="Freeform 110">
                <a:extLst>
                  <a:ext uri="{FF2B5EF4-FFF2-40B4-BE49-F238E27FC236}">
                    <a16:creationId xmlns:a16="http://schemas.microsoft.com/office/drawing/2014/main" id="{04209B6A-601A-71C5-8E3C-D0281CD8D959}"/>
                  </a:ext>
                </a:extLst>
              </p:cNvPr>
              <p:cNvSpPr>
                <a:spLocks noEditPoints="1"/>
              </p:cNvSpPr>
              <p:nvPr/>
            </p:nvSpPr>
            <p:spPr bwMode="auto">
              <a:xfrm>
                <a:off x="510493" y="3319404"/>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7" name="Freeform 111">
                <a:extLst>
                  <a:ext uri="{FF2B5EF4-FFF2-40B4-BE49-F238E27FC236}">
                    <a16:creationId xmlns:a16="http://schemas.microsoft.com/office/drawing/2014/main" id="{E7D8EEC4-1575-038B-C21E-9189B74C3C52}"/>
                  </a:ext>
                </a:extLst>
              </p:cNvPr>
              <p:cNvSpPr>
                <a:spLocks noEditPoints="1"/>
              </p:cNvSpPr>
              <p:nvPr/>
            </p:nvSpPr>
            <p:spPr bwMode="auto">
              <a:xfrm>
                <a:off x="510493" y="3716017"/>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8" name="Freeform 112">
                <a:extLst>
                  <a:ext uri="{FF2B5EF4-FFF2-40B4-BE49-F238E27FC236}">
                    <a16:creationId xmlns:a16="http://schemas.microsoft.com/office/drawing/2014/main" id="{DA9DB707-691F-40BB-6079-1343DE337AD7}"/>
                  </a:ext>
                </a:extLst>
              </p:cNvPr>
              <p:cNvSpPr>
                <a:spLocks noEditPoints="1"/>
              </p:cNvSpPr>
              <p:nvPr/>
            </p:nvSpPr>
            <p:spPr bwMode="auto">
              <a:xfrm>
                <a:off x="510493" y="4112630"/>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9" name="Freeform 113">
                <a:extLst>
                  <a:ext uri="{FF2B5EF4-FFF2-40B4-BE49-F238E27FC236}">
                    <a16:creationId xmlns:a16="http://schemas.microsoft.com/office/drawing/2014/main" id="{987BCDDB-3BA7-7745-A639-6FC61E784C9E}"/>
                  </a:ext>
                </a:extLst>
              </p:cNvPr>
              <p:cNvSpPr>
                <a:spLocks noEditPoints="1"/>
              </p:cNvSpPr>
              <p:nvPr/>
            </p:nvSpPr>
            <p:spPr bwMode="auto">
              <a:xfrm>
                <a:off x="510493" y="4509243"/>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0" name="Freeform 114">
                <a:extLst>
                  <a:ext uri="{FF2B5EF4-FFF2-40B4-BE49-F238E27FC236}">
                    <a16:creationId xmlns:a16="http://schemas.microsoft.com/office/drawing/2014/main" id="{2CC83A22-5CE3-468C-6FFC-CB32FBB3FAC2}"/>
                  </a:ext>
                </a:extLst>
              </p:cNvPr>
              <p:cNvSpPr>
                <a:spLocks noEditPoints="1"/>
              </p:cNvSpPr>
              <p:nvPr/>
            </p:nvSpPr>
            <p:spPr bwMode="auto">
              <a:xfrm>
                <a:off x="510493" y="4905856"/>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1" name="Freeform 115">
                <a:extLst>
                  <a:ext uri="{FF2B5EF4-FFF2-40B4-BE49-F238E27FC236}">
                    <a16:creationId xmlns:a16="http://schemas.microsoft.com/office/drawing/2014/main" id="{209B4D45-1DC9-759D-E4E2-19595CFE695B}"/>
                  </a:ext>
                </a:extLst>
              </p:cNvPr>
              <p:cNvSpPr>
                <a:spLocks noEditPoints="1"/>
              </p:cNvSpPr>
              <p:nvPr/>
            </p:nvSpPr>
            <p:spPr bwMode="auto">
              <a:xfrm>
                <a:off x="510493" y="5302469"/>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02" name="Freeform 116">
                <a:extLst>
                  <a:ext uri="{FF2B5EF4-FFF2-40B4-BE49-F238E27FC236}">
                    <a16:creationId xmlns:a16="http://schemas.microsoft.com/office/drawing/2014/main" id="{D9AE09F8-8657-B06B-7492-A6F356A16B9B}"/>
                  </a:ext>
                </a:extLst>
              </p:cNvPr>
              <p:cNvSpPr>
                <a:spLocks noEditPoints="1"/>
              </p:cNvSpPr>
              <p:nvPr/>
            </p:nvSpPr>
            <p:spPr bwMode="auto">
              <a:xfrm>
                <a:off x="510493" y="569908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6" name="Group 205">
              <a:extLst>
                <a:ext uri="{FF2B5EF4-FFF2-40B4-BE49-F238E27FC236}">
                  <a16:creationId xmlns:a16="http://schemas.microsoft.com/office/drawing/2014/main" id="{97D46738-2833-4E13-B6D6-B9C55F1AA23A}"/>
                </a:ext>
              </a:extLst>
            </p:cNvPr>
            <p:cNvGrpSpPr/>
            <p:nvPr/>
          </p:nvGrpSpPr>
          <p:grpSpPr>
            <a:xfrm>
              <a:off x="5203937" y="3752716"/>
              <a:ext cx="289804" cy="2847574"/>
              <a:chOff x="510493" y="2129565"/>
              <a:chExt cx="360412" cy="3871268"/>
            </a:xfrm>
            <a:solidFill>
              <a:srgbClr val="00A3E0"/>
            </a:solidFill>
          </p:grpSpPr>
          <p:sp>
            <p:nvSpPr>
              <p:cNvPr id="283" name="Freeform 97">
                <a:extLst>
                  <a:ext uri="{FF2B5EF4-FFF2-40B4-BE49-F238E27FC236}">
                    <a16:creationId xmlns:a16="http://schemas.microsoft.com/office/drawing/2014/main" id="{6674123C-3769-C88F-F9ED-593F70808856}"/>
                  </a:ext>
                </a:extLst>
              </p:cNvPr>
              <p:cNvSpPr>
                <a:spLocks noEditPoints="1"/>
              </p:cNvSpPr>
              <p:nvPr/>
            </p:nvSpPr>
            <p:spPr bwMode="auto">
              <a:xfrm>
                <a:off x="510493" y="2129565"/>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4" name="Freeform 98">
                <a:extLst>
                  <a:ext uri="{FF2B5EF4-FFF2-40B4-BE49-F238E27FC236}">
                    <a16:creationId xmlns:a16="http://schemas.microsoft.com/office/drawing/2014/main" id="{7D6739D2-6A58-173A-B209-268573F60803}"/>
                  </a:ext>
                </a:extLst>
              </p:cNvPr>
              <p:cNvSpPr>
                <a:spLocks noEditPoints="1"/>
              </p:cNvSpPr>
              <p:nvPr/>
            </p:nvSpPr>
            <p:spPr bwMode="auto">
              <a:xfrm>
                <a:off x="510493" y="2526178"/>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5" name="Freeform 99">
                <a:extLst>
                  <a:ext uri="{FF2B5EF4-FFF2-40B4-BE49-F238E27FC236}">
                    <a16:creationId xmlns:a16="http://schemas.microsoft.com/office/drawing/2014/main" id="{202A9A16-5195-45F6-6B19-3BD97B73A2FE}"/>
                  </a:ext>
                </a:extLst>
              </p:cNvPr>
              <p:cNvSpPr>
                <a:spLocks noEditPoints="1"/>
              </p:cNvSpPr>
              <p:nvPr/>
            </p:nvSpPr>
            <p:spPr bwMode="auto">
              <a:xfrm>
                <a:off x="510493" y="292279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6" name="Freeform 100">
                <a:extLst>
                  <a:ext uri="{FF2B5EF4-FFF2-40B4-BE49-F238E27FC236}">
                    <a16:creationId xmlns:a16="http://schemas.microsoft.com/office/drawing/2014/main" id="{81B7D06F-8D3A-CAD1-8353-EEFC5F58B2E7}"/>
                  </a:ext>
                </a:extLst>
              </p:cNvPr>
              <p:cNvSpPr>
                <a:spLocks noEditPoints="1"/>
              </p:cNvSpPr>
              <p:nvPr/>
            </p:nvSpPr>
            <p:spPr bwMode="auto">
              <a:xfrm>
                <a:off x="510493" y="3319404"/>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7" name="Freeform 101">
                <a:extLst>
                  <a:ext uri="{FF2B5EF4-FFF2-40B4-BE49-F238E27FC236}">
                    <a16:creationId xmlns:a16="http://schemas.microsoft.com/office/drawing/2014/main" id="{A20D34F6-6D73-CFB3-AB57-FE3FEFFC03D1}"/>
                  </a:ext>
                </a:extLst>
              </p:cNvPr>
              <p:cNvSpPr>
                <a:spLocks noEditPoints="1"/>
              </p:cNvSpPr>
              <p:nvPr/>
            </p:nvSpPr>
            <p:spPr bwMode="auto">
              <a:xfrm>
                <a:off x="510493" y="3716017"/>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8" name="Freeform 102">
                <a:extLst>
                  <a:ext uri="{FF2B5EF4-FFF2-40B4-BE49-F238E27FC236}">
                    <a16:creationId xmlns:a16="http://schemas.microsoft.com/office/drawing/2014/main" id="{16FBC683-23A8-45E3-F61F-37FEAD85AD6D}"/>
                  </a:ext>
                </a:extLst>
              </p:cNvPr>
              <p:cNvSpPr>
                <a:spLocks noEditPoints="1"/>
              </p:cNvSpPr>
              <p:nvPr/>
            </p:nvSpPr>
            <p:spPr bwMode="auto">
              <a:xfrm>
                <a:off x="510493" y="4112630"/>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9" name="Freeform 103">
                <a:extLst>
                  <a:ext uri="{FF2B5EF4-FFF2-40B4-BE49-F238E27FC236}">
                    <a16:creationId xmlns:a16="http://schemas.microsoft.com/office/drawing/2014/main" id="{160F43E2-96CF-7309-0C0F-FFC6335FB849}"/>
                  </a:ext>
                </a:extLst>
              </p:cNvPr>
              <p:cNvSpPr>
                <a:spLocks noEditPoints="1"/>
              </p:cNvSpPr>
              <p:nvPr/>
            </p:nvSpPr>
            <p:spPr bwMode="auto">
              <a:xfrm>
                <a:off x="510493" y="4509243"/>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0" name="Freeform 104">
                <a:extLst>
                  <a:ext uri="{FF2B5EF4-FFF2-40B4-BE49-F238E27FC236}">
                    <a16:creationId xmlns:a16="http://schemas.microsoft.com/office/drawing/2014/main" id="{5C948F3F-AA1A-EC1D-E720-5FFD7A483CCE}"/>
                  </a:ext>
                </a:extLst>
              </p:cNvPr>
              <p:cNvSpPr>
                <a:spLocks noEditPoints="1"/>
              </p:cNvSpPr>
              <p:nvPr/>
            </p:nvSpPr>
            <p:spPr bwMode="auto">
              <a:xfrm>
                <a:off x="510493" y="4905856"/>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1" name="Freeform 105">
                <a:extLst>
                  <a:ext uri="{FF2B5EF4-FFF2-40B4-BE49-F238E27FC236}">
                    <a16:creationId xmlns:a16="http://schemas.microsoft.com/office/drawing/2014/main" id="{58B2F4F9-632F-8ACA-A159-97A84CC04901}"/>
                  </a:ext>
                </a:extLst>
              </p:cNvPr>
              <p:cNvSpPr>
                <a:spLocks noEditPoints="1"/>
              </p:cNvSpPr>
              <p:nvPr/>
            </p:nvSpPr>
            <p:spPr bwMode="auto">
              <a:xfrm>
                <a:off x="510493" y="5302469"/>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92" name="Freeform 106">
                <a:extLst>
                  <a:ext uri="{FF2B5EF4-FFF2-40B4-BE49-F238E27FC236}">
                    <a16:creationId xmlns:a16="http://schemas.microsoft.com/office/drawing/2014/main" id="{8ECE73D5-30A6-7219-A1BE-719FE231EB3E}"/>
                  </a:ext>
                </a:extLst>
              </p:cNvPr>
              <p:cNvSpPr>
                <a:spLocks noEditPoints="1"/>
              </p:cNvSpPr>
              <p:nvPr/>
            </p:nvSpPr>
            <p:spPr bwMode="auto">
              <a:xfrm>
                <a:off x="510493" y="569908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7" name="Group 206">
              <a:extLst>
                <a:ext uri="{FF2B5EF4-FFF2-40B4-BE49-F238E27FC236}">
                  <a16:creationId xmlns:a16="http://schemas.microsoft.com/office/drawing/2014/main" id="{612E7443-F6E0-3303-EA1A-3D76F8A5CE30}"/>
                </a:ext>
              </a:extLst>
            </p:cNvPr>
            <p:cNvGrpSpPr/>
            <p:nvPr/>
          </p:nvGrpSpPr>
          <p:grpSpPr>
            <a:xfrm>
              <a:off x="5516854" y="3752716"/>
              <a:ext cx="289804" cy="2847574"/>
              <a:chOff x="510493" y="2129565"/>
              <a:chExt cx="360412" cy="3871268"/>
            </a:xfrm>
            <a:solidFill>
              <a:srgbClr val="00A3E0"/>
            </a:solidFill>
          </p:grpSpPr>
          <p:sp>
            <p:nvSpPr>
              <p:cNvPr id="273" name="Freeform 87">
                <a:extLst>
                  <a:ext uri="{FF2B5EF4-FFF2-40B4-BE49-F238E27FC236}">
                    <a16:creationId xmlns:a16="http://schemas.microsoft.com/office/drawing/2014/main" id="{466EC62A-B98D-B093-59DA-5BF32B49BC9A}"/>
                  </a:ext>
                </a:extLst>
              </p:cNvPr>
              <p:cNvSpPr>
                <a:spLocks noEditPoints="1"/>
              </p:cNvSpPr>
              <p:nvPr/>
            </p:nvSpPr>
            <p:spPr bwMode="auto">
              <a:xfrm>
                <a:off x="510493" y="2129565"/>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4" name="Freeform 88">
                <a:extLst>
                  <a:ext uri="{FF2B5EF4-FFF2-40B4-BE49-F238E27FC236}">
                    <a16:creationId xmlns:a16="http://schemas.microsoft.com/office/drawing/2014/main" id="{B2B1C9C8-269D-5CD2-B50F-1E915D50D701}"/>
                  </a:ext>
                </a:extLst>
              </p:cNvPr>
              <p:cNvSpPr>
                <a:spLocks noEditPoints="1"/>
              </p:cNvSpPr>
              <p:nvPr/>
            </p:nvSpPr>
            <p:spPr bwMode="auto">
              <a:xfrm>
                <a:off x="510493" y="2526178"/>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5" name="Freeform 89">
                <a:extLst>
                  <a:ext uri="{FF2B5EF4-FFF2-40B4-BE49-F238E27FC236}">
                    <a16:creationId xmlns:a16="http://schemas.microsoft.com/office/drawing/2014/main" id="{DCD87DEB-F353-BFED-44AB-9BB70FF04A0A}"/>
                  </a:ext>
                </a:extLst>
              </p:cNvPr>
              <p:cNvSpPr>
                <a:spLocks noEditPoints="1"/>
              </p:cNvSpPr>
              <p:nvPr/>
            </p:nvSpPr>
            <p:spPr bwMode="auto">
              <a:xfrm>
                <a:off x="510493" y="292279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6" name="Freeform 90">
                <a:extLst>
                  <a:ext uri="{FF2B5EF4-FFF2-40B4-BE49-F238E27FC236}">
                    <a16:creationId xmlns:a16="http://schemas.microsoft.com/office/drawing/2014/main" id="{1E93632F-8A3D-025C-B3EA-936CEFDAE111}"/>
                  </a:ext>
                </a:extLst>
              </p:cNvPr>
              <p:cNvSpPr>
                <a:spLocks noEditPoints="1"/>
              </p:cNvSpPr>
              <p:nvPr/>
            </p:nvSpPr>
            <p:spPr bwMode="auto">
              <a:xfrm>
                <a:off x="510493" y="3319404"/>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7" name="Freeform 91">
                <a:extLst>
                  <a:ext uri="{FF2B5EF4-FFF2-40B4-BE49-F238E27FC236}">
                    <a16:creationId xmlns:a16="http://schemas.microsoft.com/office/drawing/2014/main" id="{64CE39CA-318C-D8CF-E990-0C6AA6459BEB}"/>
                  </a:ext>
                </a:extLst>
              </p:cNvPr>
              <p:cNvSpPr>
                <a:spLocks noEditPoints="1"/>
              </p:cNvSpPr>
              <p:nvPr/>
            </p:nvSpPr>
            <p:spPr bwMode="auto">
              <a:xfrm>
                <a:off x="510493" y="3716017"/>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8" name="Freeform 92">
                <a:extLst>
                  <a:ext uri="{FF2B5EF4-FFF2-40B4-BE49-F238E27FC236}">
                    <a16:creationId xmlns:a16="http://schemas.microsoft.com/office/drawing/2014/main" id="{3E4D9AA5-CB25-751E-C853-04F0A40016EB}"/>
                  </a:ext>
                </a:extLst>
              </p:cNvPr>
              <p:cNvSpPr>
                <a:spLocks noEditPoints="1"/>
              </p:cNvSpPr>
              <p:nvPr/>
            </p:nvSpPr>
            <p:spPr bwMode="auto">
              <a:xfrm>
                <a:off x="510493" y="4112630"/>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9" name="Freeform 93">
                <a:extLst>
                  <a:ext uri="{FF2B5EF4-FFF2-40B4-BE49-F238E27FC236}">
                    <a16:creationId xmlns:a16="http://schemas.microsoft.com/office/drawing/2014/main" id="{6B2DA964-AFFE-0762-E9F5-AA4F74BFC9B5}"/>
                  </a:ext>
                </a:extLst>
              </p:cNvPr>
              <p:cNvSpPr>
                <a:spLocks noEditPoints="1"/>
              </p:cNvSpPr>
              <p:nvPr/>
            </p:nvSpPr>
            <p:spPr bwMode="auto">
              <a:xfrm>
                <a:off x="510493" y="4509243"/>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0" name="Freeform 94">
                <a:extLst>
                  <a:ext uri="{FF2B5EF4-FFF2-40B4-BE49-F238E27FC236}">
                    <a16:creationId xmlns:a16="http://schemas.microsoft.com/office/drawing/2014/main" id="{AAF76707-8C23-B491-B499-C3010538E31E}"/>
                  </a:ext>
                </a:extLst>
              </p:cNvPr>
              <p:cNvSpPr>
                <a:spLocks noEditPoints="1"/>
              </p:cNvSpPr>
              <p:nvPr/>
            </p:nvSpPr>
            <p:spPr bwMode="auto">
              <a:xfrm>
                <a:off x="510493" y="4905856"/>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1" name="Freeform 95">
                <a:extLst>
                  <a:ext uri="{FF2B5EF4-FFF2-40B4-BE49-F238E27FC236}">
                    <a16:creationId xmlns:a16="http://schemas.microsoft.com/office/drawing/2014/main" id="{53439C5A-A1CB-BC52-C2E3-3EE1EF4BB2F7}"/>
                  </a:ext>
                </a:extLst>
              </p:cNvPr>
              <p:cNvSpPr>
                <a:spLocks noEditPoints="1"/>
              </p:cNvSpPr>
              <p:nvPr/>
            </p:nvSpPr>
            <p:spPr bwMode="auto">
              <a:xfrm>
                <a:off x="510493" y="5302469"/>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82" name="Freeform 96">
                <a:extLst>
                  <a:ext uri="{FF2B5EF4-FFF2-40B4-BE49-F238E27FC236}">
                    <a16:creationId xmlns:a16="http://schemas.microsoft.com/office/drawing/2014/main" id="{F92B3872-C452-97D9-B545-490324F478FD}"/>
                  </a:ext>
                </a:extLst>
              </p:cNvPr>
              <p:cNvSpPr>
                <a:spLocks noEditPoints="1"/>
              </p:cNvSpPr>
              <p:nvPr/>
            </p:nvSpPr>
            <p:spPr bwMode="auto">
              <a:xfrm>
                <a:off x="510493" y="569908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8" name="Group 207">
              <a:extLst>
                <a:ext uri="{FF2B5EF4-FFF2-40B4-BE49-F238E27FC236}">
                  <a16:creationId xmlns:a16="http://schemas.microsoft.com/office/drawing/2014/main" id="{589B2B24-73F7-5A23-6BBD-BD25E84B2F4C}"/>
                </a:ext>
              </a:extLst>
            </p:cNvPr>
            <p:cNvGrpSpPr/>
            <p:nvPr/>
          </p:nvGrpSpPr>
          <p:grpSpPr>
            <a:xfrm>
              <a:off x="5829772" y="3752716"/>
              <a:ext cx="289804" cy="2847574"/>
              <a:chOff x="510493" y="2129565"/>
              <a:chExt cx="360412" cy="3871268"/>
            </a:xfrm>
            <a:solidFill>
              <a:srgbClr val="00A3E0"/>
            </a:solidFill>
          </p:grpSpPr>
          <p:sp>
            <p:nvSpPr>
              <p:cNvPr id="263" name="Freeform 77">
                <a:extLst>
                  <a:ext uri="{FF2B5EF4-FFF2-40B4-BE49-F238E27FC236}">
                    <a16:creationId xmlns:a16="http://schemas.microsoft.com/office/drawing/2014/main" id="{79717255-34FD-EB56-C78D-6B18A21BCD22}"/>
                  </a:ext>
                </a:extLst>
              </p:cNvPr>
              <p:cNvSpPr>
                <a:spLocks noEditPoints="1"/>
              </p:cNvSpPr>
              <p:nvPr/>
            </p:nvSpPr>
            <p:spPr bwMode="auto">
              <a:xfrm>
                <a:off x="510493" y="2129565"/>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4" name="Freeform 78">
                <a:extLst>
                  <a:ext uri="{FF2B5EF4-FFF2-40B4-BE49-F238E27FC236}">
                    <a16:creationId xmlns:a16="http://schemas.microsoft.com/office/drawing/2014/main" id="{F0543DBD-BC7A-0D54-9753-3EC886C4AB20}"/>
                  </a:ext>
                </a:extLst>
              </p:cNvPr>
              <p:cNvSpPr>
                <a:spLocks noEditPoints="1"/>
              </p:cNvSpPr>
              <p:nvPr/>
            </p:nvSpPr>
            <p:spPr bwMode="auto">
              <a:xfrm>
                <a:off x="510493" y="2526178"/>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5" name="Freeform 79">
                <a:extLst>
                  <a:ext uri="{FF2B5EF4-FFF2-40B4-BE49-F238E27FC236}">
                    <a16:creationId xmlns:a16="http://schemas.microsoft.com/office/drawing/2014/main" id="{D8765544-0C12-6031-8AD7-3F12FEA89E9E}"/>
                  </a:ext>
                </a:extLst>
              </p:cNvPr>
              <p:cNvSpPr>
                <a:spLocks noEditPoints="1"/>
              </p:cNvSpPr>
              <p:nvPr/>
            </p:nvSpPr>
            <p:spPr bwMode="auto">
              <a:xfrm>
                <a:off x="510493" y="292279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6" name="Freeform 80">
                <a:extLst>
                  <a:ext uri="{FF2B5EF4-FFF2-40B4-BE49-F238E27FC236}">
                    <a16:creationId xmlns:a16="http://schemas.microsoft.com/office/drawing/2014/main" id="{08DEEA03-8A33-770C-8284-2149ACA212F3}"/>
                  </a:ext>
                </a:extLst>
              </p:cNvPr>
              <p:cNvSpPr>
                <a:spLocks noEditPoints="1"/>
              </p:cNvSpPr>
              <p:nvPr/>
            </p:nvSpPr>
            <p:spPr bwMode="auto">
              <a:xfrm>
                <a:off x="510493" y="3319404"/>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7" name="Freeform 81">
                <a:extLst>
                  <a:ext uri="{FF2B5EF4-FFF2-40B4-BE49-F238E27FC236}">
                    <a16:creationId xmlns:a16="http://schemas.microsoft.com/office/drawing/2014/main" id="{7BDEA3A6-71C2-965B-87D9-B81A430A6D61}"/>
                  </a:ext>
                </a:extLst>
              </p:cNvPr>
              <p:cNvSpPr>
                <a:spLocks noEditPoints="1"/>
              </p:cNvSpPr>
              <p:nvPr/>
            </p:nvSpPr>
            <p:spPr bwMode="auto">
              <a:xfrm>
                <a:off x="510493" y="3716017"/>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8" name="Freeform 82">
                <a:extLst>
                  <a:ext uri="{FF2B5EF4-FFF2-40B4-BE49-F238E27FC236}">
                    <a16:creationId xmlns:a16="http://schemas.microsoft.com/office/drawing/2014/main" id="{4A53D5DB-1733-B4D9-4123-EDB462F980DE}"/>
                  </a:ext>
                </a:extLst>
              </p:cNvPr>
              <p:cNvSpPr>
                <a:spLocks noEditPoints="1"/>
              </p:cNvSpPr>
              <p:nvPr/>
            </p:nvSpPr>
            <p:spPr bwMode="auto">
              <a:xfrm>
                <a:off x="510493" y="4112630"/>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9" name="Freeform 83">
                <a:extLst>
                  <a:ext uri="{FF2B5EF4-FFF2-40B4-BE49-F238E27FC236}">
                    <a16:creationId xmlns:a16="http://schemas.microsoft.com/office/drawing/2014/main" id="{ADD93489-5C83-3C4B-4234-A0B61A5C7E54}"/>
                  </a:ext>
                </a:extLst>
              </p:cNvPr>
              <p:cNvSpPr>
                <a:spLocks noEditPoints="1"/>
              </p:cNvSpPr>
              <p:nvPr/>
            </p:nvSpPr>
            <p:spPr bwMode="auto">
              <a:xfrm>
                <a:off x="510493" y="4509243"/>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0" name="Freeform 84">
                <a:extLst>
                  <a:ext uri="{FF2B5EF4-FFF2-40B4-BE49-F238E27FC236}">
                    <a16:creationId xmlns:a16="http://schemas.microsoft.com/office/drawing/2014/main" id="{73022603-DB2C-BA04-53C8-7571E6EB5894}"/>
                  </a:ext>
                </a:extLst>
              </p:cNvPr>
              <p:cNvSpPr>
                <a:spLocks noEditPoints="1"/>
              </p:cNvSpPr>
              <p:nvPr/>
            </p:nvSpPr>
            <p:spPr bwMode="auto">
              <a:xfrm>
                <a:off x="510493" y="4905856"/>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1" name="Freeform 85">
                <a:extLst>
                  <a:ext uri="{FF2B5EF4-FFF2-40B4-BE49-F238E27FC236}">
                    <a16:creationId xmlns:a16="http://schemas.microsoft.com/office/drawing/2014/main" id="{7FC42BFB-2B99-497F-D4EE-8A51B8F350D3}"/>
                  </a:ext>
                </a:extLst>
              </p:cNvPr>
              <p:cNvSpPr>
                <a:spLocks noEditPoints="1"/>
              </p:cNvSpPr>
              <p:nvPr/>
            </p:nvSpPr>
            <p:spPr bwMode="auto">
              <a:xfrm>
                <a:off x="510493" y="5302469"/>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72" name="Freeform 86">
                <a:extLst>
                  <a:ext uri="{FF2B5EF4-FFF2-40B4-BE49-F238E27FC236}">
                    <a16:creationId xmlns:a16="http://schemas.microsoft.com/office/drawing/2014/main" id="{F1CE18C0-2049-B4BC-6C44-715CE7F62940}"/>
                  </a:ext>
                </a:extLst>
              </p:cNvPr>
              <p:cNvSpPr>
                <a:spLocks noEditPoints="1"/>
              </p:cNvSpPr>
              <p:nvPr/>
            </p:nvSpPr>
            <p:spPr bwMode="auto">
              <a:xfrm>
                <a:off x="510493" y="569908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209" name="Freeform 23">
              <a:extLst>
                <a:ext uri="{FF2B5EF4-FFF2-40B4-BE49-F238E27FC236}">
                  <a16:creationId xmlns:a16="http://schemas.microsoft.com/office/drawing/2014/main" id="{145AA34E-E619-4FFF-AE7C-A03800CD5F4C}"/>
                </a:ext>
              </a:extLst>
            </p:cNvPr>
            <p:cNvSpPr>
              <a:spLocks noEditPoints="1"/>
            </p:cNvSpPr>
            <p:nvPr/>
          </p:nvSpPr>
          <p:spPr bwMode="auto">
            <a:xfrm>
              <a:off x="6142689" y="3752716"/>
              <a:ext cx="289804" cy="221958"/>
            </a:xfrm>
            <a:prstGeom prst="hexagon">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0" name="Freeform 24">
              <a:extLst>
                <a:ext uri="{FF2B5EF4-FFF2-40B4-BE49-F238E27FC236}">
                  <a16:creationId xmlns:a16="http://schemas.microsoft.com/office/drawing/2014/main" id="{9E1C9B8B-4C0A-7A94-6C91-3B71D1AEFBAB}"/>
                </a:ext>
              </a:extLst>
            </p:cNvPr>
            <p:cNvSpPr>
              <a:spLocks noEditPoints="1"/>
            </p:cNvSpPr>
            <p:nvPr/>
          </p:nvSpPr>
          <p:spPr bwMode="auto">
            <a:xfrm>
              <a:off x="6142689" y="4044451"/>
              <a:ext cx="289804" cy="221958"/>
            </a:xfrm>
            <a:prstGeom prst="hexagon">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1" name="Freeform 25">
              <a:extLst>
                <a:ext uri="{FF2B5EF4-FFF2-40B4-BE49-F238E27FC236}">
                  <a16:creationId xmlns:a16="http://schemas.microsoft.com/office/drawing/2014/main" id="{4293DB90-D59D-7C31-940B-8CD632A76614}"/>
                </a:ext>
              </a:extLst>
            </p:cNvPr>
            <p:cNvSpPr>
              <a:spLocks noEditPoints="1"/>
            </p:cNvSpPr>
            <p:nvPr/>
          </p:nvSpPr>
          <p:spPr bwMode="auto">
            <a:xfrm>
              <a:off x="6142689" y="4336186"/>
              <a:ext cx="289804" cy="221958"/>
            </a:xfrm>
            <a:prstGeom prst="hexagon">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2" name="Freeform 26">
              <a:extLst>
                <a:ext uri="{FF2B5EF4-FFF2-40B4-BE49-F238E27FC236}">
                  <a16:creationId xmlns:a16="http://schemas.microsoft.com/office/drawing/2014/main" id="{4D141B4C-1B99-796F-D2E4-5D10E036C5C6}"/>
                </a:ext>
              </a:extLst>
            </p:cNvPr>
            <p:cNvSpPr>
              <a:spLocks noEditPoints="1"/>
            </p:cNvSpPr>
            <p:nvPr/>
          </p:nvSpPr>
          <p:spPr bwMode="auto">
            <a:xfrm>
              <a:off x="6142689" y="4627922"/>
              <a:ext cx="289804" cy="221958"/>
            </a:xfrm>
            <a:prstGeom prst="hexagon">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3" name="Freeform 27">
              <a:extLst>
                <a:ext uri="{FF2B5EF4-FFF2-40B4-BE49-F238E27FC236}">
                  <a16:creationId xmlns:a16="http://schemas.microsoft.com/office/drawing/2014/main" id="{41FC734F-CA4D-CE28-7E05-780AEECBFE81}"/>
                </a:ext>
              </a:extLst>
            </p:cNvPr>
            <p:cNvSpPr>
              <a:spLocks noEditPoints="1"/>
            </p:cNvSpPr>
            <p:nvPr/>
          </p:nvSpPr>
          <p:spPr bwMode="auto">
            <a:xfrm>
              <a:off x="6142689" y="4919656"/>
              <a:ext cx="289804" cy="221958"/>
            </a:xfrm>
            <a:prstGeom prst="hexagon">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4" name="Freeform 28">
              <a:extLst>
                <a:ext uri="{FF2B5EF4-FFF2-40B4-BE49-F238E27FC236}">
                  <a16:creationId xmlns:a16="http://schemas.microsoft.com/office/drawing/2014/main" id="{9B6A7713-B812-6EC3-4030-001929F1457A}"/>
                </a:ext>
              </a:extLst>
            </p:cNvPr>
            <p:cNvSpPr>
              <a:spLocks noEditPoints="1"/>
            </p:cNvSpPr>
            <p:nvPr/>
          </p:nvSpPr>
          <p:spPr bwMode="auto">
            <a:xfrm>
              <a:off x="6142689" y="5211392"/>
              <a:ext cx="289804" cy="221958"/>
            </a:xfrm>
            <a:prstGeom prst="hexagon">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5" name="Freeform 29">
              <a:extLst>
                <a:ext uri="{FF2B5EF4-FFF2-40B4-BE49-F238E27FC236}">
                  <a16:creationId xmlns:a16="http://schemas.microsoft.com/office/drawing/2014/main" id="{48D3908D-56A9-3B3A-740D-C75EA3A00681}"/>
                </a:ext>
              </a:extLst>
            </p:cNvPr>
            <p:cNvSpPr>
              <a:spLocks noEditPoints="1"/>
            </p:cNvSpPr>
            <p:nvPr/>
          </p:nvSpPr>
          <p:spPr bwMode="auto">
            <a:xfrm>
              <a:off x="6142689" y="5503127"/>
              <a:ext cx="289804" cy="221958"/>
            </a:xfrm>
            <a:prstGeom prst="hexagon">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6" name="Freeform 30">
              <a:extLst>
                <a:ext uri="{FF2B5EF4-FFF2-40B4-BE49-F238E27FC236}">
                  <a16:creationId xmlns:a16="http://schemas.microsoft.com/office/drawing/2014/main" id="{BAAF4896-FEB3-527D-E697-FB363EC98912}"/>
                </a:ext>
              </a:extLst>
            </p:cNvPr>
            <p:cNvSpPr>
              <a:spLocks noEditPoints="1"/>
            </p:cNvSpPr>
            <p:nvPr/>
          </p:nvSpPr>
          <p:spPr bwMode="auto">
            <a:xfrm>
              <a:off x="6142689" y="5794862"/>
              <a:ext cx="289804" cy="221958"/>
            </a:xfrm>
            <a:prstGeom prst="hexagon">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7" name="Freeform 31">
              <a:extLst>
                <a:ext uri="{FF2B5EF4-FFF2-40B4-BE49-F238E27FC236}">
                  <a16:creationId xmlns:a16="http://schemas.microsoft.com/office/drawing/2014/main" id="{1AD1FB01-B1D9-7922-84E9-80529300BE96}"/>
                </a:ext>
              </a:extLst>
            </p:cNvPr>
            <p:cNvSpPr>
              <a:spLocks noEditPoints="1"/>
            </p:cNvSpPr>
            <p:nvPr/>
          </p:nvSpPr>
          <p:spPr bwMode="auto">
            <a:xfrm>
              <a:off x="6142689" y="6086597"/>
              <a:ext cx="289804" cy="221958"/>
            </a:xfrm>
            <a:prstGeom prst="hexagon">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18" name="Freeform 32">
              <a:extLst>
                <a:ext uri="{FF2B5EF4-FFF2-40B4-BE49-F238E27FC236}">
                  <a16:creationId xmlns:a16="http://schemas.microsoft.com/office/drawing/2014/main" id="{D2A121EB-2285-F517-B255-A8698FCCD959}"/>
                </a:ext>
              </a:extLst>
            </p:cNvPr>
            <p:cNvSpPr>
              <a:spLocks noEditPoints="1"/>
            </p:cNvSpPr>
            <p:nvPr/>
          </p:nvSpPr>
          <p:spPr bwMode="auto">
            <a:xfrm>
              <a:off x="6142689" y="6378332"/>
              <a:ext cx="289804" cy="221958"/>
            </a:xfrm>
            <a:prstGeom prst="hexagon">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219" name="Group 218">
              <a:extLst>
                <a:ext uri="{FF2B5EF4-FFF2-40B4-BE49-F238E27FC236}">
                  <a16:creationId xmlns:a16="http://schemas.microsoft.com/office/drawing/2014/main" id="{494C994B-7CEF-64E8-458E-34FD88B6AFA5}"/>
                </a:ext>
              </a:extLst>
            </p:cNvPr>
            <p:cNvGrpSpPr/>
            <p:nvPr/>
          </p:nvGrpSpPr>
          <p:grpSpPr>
            <a:xfrm>
              <a:off x="6455606" y="3752716"/>
              <a:ext cx="289804" cy="2847574"/>
              <a:chOff x="510493" y="2129565"/>
              <a:chExt cx="360412" cy="3871268"/>
            </a:xfrm>
            <a:solidFill>
              <a:srgbClr val="00A3E0"/>
            </a:solidFill>
          </p:grpSpPr>
          <p:sp>
            <p:nvSpPr>
              <p:cNvPr id="253" name="Freeform 67">
                <a:extLst>
                  <a:ext uri="{FF2B5EF4-FFF2-40B4-BE49-F238E27FC236}">
                    <a16:creationId xmlns:a16="http://schemas.microsoft.com/office/drawing/2014/main" id="{3EFC4136-A400-A372-A062-3A8047D3E4DD}"/>
                  </a:ext>
                </a:extLst>
              </p:cNvPr>
              <p:cNvSpPr>
                <a:spLocks noEditPoints="1"/>
              </p:cNvSpPr>
              <p:nvPr/>
            </p:nvSpPr>
            <p:spPr bwMode="auto">
              <a:xfrm>
                <a:off x="510493" y="2129565"/>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4" name="Freeform 68">
                <a:extLst>
                  <a:ext uri="{FF2B5EF4-FFF2-40B4-BE49-F238E27FC236}">
                    <a16:creationId xmlns:a16="http://schemas.microsoft.com/office/drawing/2014/main" id="{D9453CE6-651C-C107-E206-6BC2E622269D}"/>
                  </a:ext>
                </a:extLst>
              </p:cNvPr>
              <p:cNvSpPr>
                <a:spLocks noEditPoints="1"/>
              </p:cNvSpPr>
              <p:nvPr/>
            </p:nvSpPr>
            <p:spPr bwMode="auto">
              <a:xfrm>
                <a:off x="510493" y="2526178"/>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5" name="Freeform 69">
                <a:extLst>
                  <a:ext uri="{FF2B5EF4-FFF2-40B4-BE49-F238E27FC236}">
                    <a16:creationId xmlns:a16="http://schemas.microsoft.com/office/drawing/2014/main" id="{AC584E48-B8A2-59A1-4CE3-6BCA7F5417FE}"/>
                  </a:ext>
                </a:extLst>
              </p:cNvPr>
              <p:cNvSpPr>
                <a:spLocks noEditPoints="1"/>
              </p:cNvSpPr>
              <p:nvPr/>
            </p:nvSpPr>
            <p:spPr bwMode="auto">
              <a:xfrm>
                <a:off x="510493" y="292279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6" name="Freeform 70">
                <a:extLst>
                  <a:ext uri="{FF2B5EF4-FFF2-40B4-BE49-F238E27FC236}">
                    <a16:creationId xmlns:a16="http://schemas.microsoft.com/office/drawing/2014/main" id="{6337D56C-DD55-D7A6-6FE8-B4EE31968BA2}"/>
                  </a:ext>
                </a:extLst>
              </p:cNvPr>
              <p:cNvSpPr>
                <a:spLocks noEditPoints="1"/>
              </p:cNvSpPr>
              <p:nvPr/>
            </p:nvSpPr>
            <p:spPr bwMode="auto">
              <a:xfrm>
                <a:off x="510493" y="3319404"/>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7" name="Freeform 71">
                <a:extLst>
                  <a:ext uri="{FF2B5EF4-FFF2-40B4-BE49-F238E27FC236}">
                    <a16:creationId xmlns:a16="http://schemas.microsoft.com/office/drawing/2014/main" id="{F665A4B3-7861-6E49-64ED-B0AE54C29199}"/>
                  </a:ext>
                </a:extLst>
              </p:cNvPr>
              <p:cNvSpPr>
                <a:spLocks noEditPoints="1"/>
              </p:cNvSpPr>
              <p:nvPr/>
            </p:nvSpPr>
            <p:spPr bwMode="auto">
              <a:xfrm>
                <a:off x="510493" y="3716017"/>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8" name="Freeform 72">
                <a:extLst>
                  <a:ext uri="{FF2B5EF4-FFF2-40B4-BE49-F238E27FC236}">
                    <a16:creationId xmlns:a16="http://schemas.microsoft.com/office/drawing/2014/main" id="{C0B23830-D45A-BD32-A9D8-A000A21DC361}"/>
                  </a:ext>
                </a:extLst>
              </p:cNvPr>
              <p:cNvSpPr>
                <a:spLocks noEditPoints="1"/>
              </p:cNvSpPr>
              <p:nvPr/>
            </p:nvSpPr>
            <p:spPr bwMode="auto">
              <a:xfrm>
                <a:off x="510493" y="4112630"/>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9" name="Freeform 73">
                <a:extLst>
                  <a:ext uri="{FF2B5EF4-FFF2-40B4-BE49-F238E27FC236}">
                    <a16:creationId xmlns:a16="http://schemas.microsoft.com/office/drawing/2014/main" id="{7EF95867-C957-5A91-6749-2F8F78189C65}"/>
                  </a:ext>
                </a:extLst>
              </p:cNvPr>
              <p:cNvSpPr>
                <a:spLocks noEditPoints="1"/>
              </p:cNvSpPr>
              <p:nvPr/>
            </p:nvSpPr>
            <p:spPr bwMode="auto">
              <a:xfrm>
                <a:off x="510493" y="4509243"/>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0" name="Freeform 74">
                <a:extLst>
                  <a:ext uri="{FF2B5EF4-FFF2-40B4-BE49-F238E27FC236}">
                    <a16:creationId xmlns:a16="http://schemas.microsoft.com/office/drawing/2014/main" id="{70DC598D-5F53-9117-1770-D82264808765}"/>
                  </a:ext>
                </a:extLst>
              </p:cNvPr>
              <p:cNvSpPr>
                <a:spLocks noEditPoints="1"/>
              </p:cNvSpPr>
              <p:nvPr/>
            </p:nvSpPr>
            <p:spPr bwMode="auto">
              <a:xfrm>
                <a:off x="510493" y="4905856"/>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1" name="Freeform 75">
                <a:extLst>
                  <a:ext uri="{FF2B5EF4-FFF2-40B4-BE49-F238E27FC236}">
                    <a16:creationId xmlns:a16="http://schemas.microsoft.com/office/drawing/2014/main" id="{92E69D60-8431-6B04-068F-652CE05B8728}"/>
                  </a:ext>
                </a:extLst>
              </p:cNvPr>
              <p:cNvSpPr>
                <a:spLocks noEditPoints="1"/>
              </p:cNvSpPr>
              <p:nvPr/>
            </p:nvSpPr>
            <p:spPr bwMode="auto">
              <a:xfrm>
                <a:off x="510493" y="5302469"/>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2" name="Freeform 76">
                <a:extLst>
                  <a:ext uri="{FF2B5EF4-FFF2-40B4-BE49-F238E27FC236}">
                    <a16:creationId xmlns:a16="http://schemas.microsoft.com/office/drawing/2014/main" id="{92C500B5-F7FF-EB0A-586D-078CAC61F5F7}"/>
                  </a:ext>
                </a:extLst>
              </p:cNvPr>
              <p:cNvSpPr>
                <a:spLocks noEditPoints="1"/>
              </p:cNvSpPr>
              <p:nvPr/>
            </p:nvSpPr>
            <p:spPr bwMode="auto">
              <a:xfrm>
                <a:off x="510493" y="569908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20" name="Group 219">
              <a:extLst>
                <a:ext uri="{FF2B5EF4-FFF2-40B4-BE49-F238E27FC236}">
                  <a16:creationId xmlns:a16="http://schemas.microsoft.com/office/drawing/2014/main" id="{884E0A53-C8BF-957B-0305-63E0019B3A6B}"/>
                </a:ext>
              </a:extLst>
            </p:cNvPr>
            <p:cNvGrpSpPr/>
            <p:nvPr/>
          </p:nvGrpSpPr>
          <p:grpSpPr>
            <a:xfrm>
              <a:off x="6768523" y="3752716"/>
              <a:ext cx="289804" cy="2847574"/>
              <a:chOff x="510493" y="2129565"/>
              <a:chExt cx="360412" cy="3871268"/>
            </a:xfrm>
            <a:solidFill>
              <a:srgbClr val="00A3E0"/>
            </a:solidFill>
          </p:grpSpPr>
          <p:sp>
            <p:nvSpPr>
              <p:cNvPr id="243" name="Freeform 57">
                <a:extLst>
                  <a:ext uri="{FF2B5EF4-FFF2-40B4-BE49-F238E27FC236}">
                    <a16:creationId xmlns:a16="http://schemas.microsoft.com/office/drawing/2014/main" id="{4620ED8A-468A-9D48-A0F9-B813E61B9491}"/>
                  </a:ext>
                </a:extLst>
              </p:cNvPr>
              <p:cNvSpPr>
                <a:spLocks noEditPoints="1"/>
              </p:cNvSpPr>
              <p:nvPr/>
            </p:nvSpPr>
            <p:spPr bwMode="auto">
              <a:xfrm>
                <a:off x="510493" y="2129565"/>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44" name="Freeform 58">
                <a:extLst>
                  <a:ext uri="{FF2B5EF4-FFF2-40B4-BE49-F238E27FC236}">
                    <a16:creationId xmlns:a16="http://schemas.microsoft.com/office/drawing/2014/main" id="{B938F34A-6F10-335F-59E2-1DC37D74D0C8}"/>
                  </a:ext>
                </a:extLst>
              </p:cNvPr>
              <p:cNvSpPr>
                <a:spLocks noEditPoints="1"/>
              </p:cNvSpPr>
              <p:nvPr/>
            </p:nvSpPr>
            <p:spPr bwMode="auto">
              <a:xfrm>
                <a:off x="510493" y="2526178"/>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45" name="Freeform 59">
                <a:extLst>
                  <a:ext uri="{FF2B5EF4-FFF2-40B4-BE49-F238E27FC236}">
                    <a16:creationId xmlns:a16="http://schemas.microsoft.com/office/drawing/2014/main" id="{13B9A7B4-8BCA-0144-DB0D-1252EEBC720B}"/>
                  </a:ext>
                </a:extLst>
              </p:cNvPr>
              <p:cNvSpPr>
                <a:spLocks noEditPoints="1"/>
              </p:cNvSpPr>
              <p:nvPr/>
            </p:nvSpPr>
            <p:spPr bwMode="auto">
              <a:xfrm>
                <a:off x="510493" y="292279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46" name="Freeform 60">
                <a:extLst>
                  <a:ext uri="{FF2B5EF4-FFF2-40B4-BE49-F238E27FC236}">
                    <a16:creationId xmlns:a16="http://schemas.microsoft.com/office/drawing/2014/main" id="{99B18E22-F9D8-FD3D-7AB1-F7A6CFA50BEB}"/>
                  </a:ext>
                </a:extLst>
              </p:cNvPr>
              <p:cNvSpPr>
                <a:spLocks noEditPoints="1"/>
              </p:cNvSpPr>
              <p:nvPr/>
            </p:nvSpPr>
            <p:spPr bwMode="auto">
              <a:xfrm>
                <a:off x="510493" y="3319404"/>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47" name="Freeform 61">
                <a:extLst>
                  <a:ext uri="{FF2B5EF4-FFF2-40B4-BE49-F238E27FC236}">
                    <a16:creationId xmlns:a16="http://schemas.microsoft.com/office/drawing/2014/main" id="{DAE4A7C6-2276-4589-E5A8-B53AD52C5B80}"/>
                  </a:ext>
                </a:extLst>
              </p:cNvPr>
              <p:cNvSpPr>
                <a:spLocks noEditPoints="1"/>
              </p:cNvSpPr>
              <p:nvPr/>
            </p:nvSpPr>
            <p:spPr bwMode="auto">
              <a:xfrm>
                <a:off x="510493" y="3716017"/>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48" name="Freeform 62">
                <a:extLst>
                  <a:ext uri="{FF2B5EF4-FFF2-40B4-BE49-F238E27FC236}">
                    <a16:creationId xmlns:a16="http://schemas.microsoft.com/office/drawing/2014/main" id="{AD38D70C-1818-0647-EB1F-C6586F40C29D}"/>
                  </a:ext>
                </a:extLst>
              </p:cNvPr>
              <p:cNvSpPr>
                <a:spLocks noEditPoints="1"/>
              </p:cNvSpPr>
              <p:nvPr/>
            </p:nvSpPr>
            <p:spPr bwMode="auto">
              <a:xfrm>
                <a:off x="510493" y="4112630"/>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49" name="Freeform 63">
                <a:extLst>
                  <a:ext uri="{FF2B5EF4-FFF2-40B4-BE49-F238E27FC236}">
                    <a16:creationId xmlns:a16="http://schemas.microsoft.com/office/drawing/2014/main" id="{6F449E28-DA23-D04B-95A2-5D40FE71D813}"/>
                  </a:ext>
                </a:extLst>
              </p:cNvPr>
              <p:cNvSpPr>
                <a:spLocks noEditPoints="1"/>
              </p:cNvSpPr>
              <p:nvPr/>
            </p:nvSpPr>
            <p:spPr bwMode="auto">
              <a:xfrm>
                <a:off x="510493" y="4509243"/>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0" name="Freeform 64">
                <a:extLst>
                  <a:ext uri="{FF2B5EF4-FFF2-40B4-BE49-F238E27FC236}">
                    <a16:creationId xmlns:a16="http://schemas.microsoft.com/office/drawing/2014/main" id="{616F00F5-9D34-765C-C89B-40CBD454245E}"/>
                  </a:ext>
                </a:extLst>
              </p:cNvPr>
              <p:cNvSpPr>
                <a:spLocks noEditPoints="1"/>
              </p:cNvSpPr>
              <p:nvPr/>
            </p:nvSpPr>
            <p:spPr bwMode="auto">
              <a:xfrm>
                <a:off x="510493" y="4905856"/>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1" name="Freeform 65">
                <a:extLst>
                  <a:ext uri="{FF2B5EF4-FFF2-40B4-BE49-F238E27FC236}">
                    <a16:creationId xmlns:a16="http://schemas.microsoft.com/office/drawing/2014/main" id="{B23DF15A-7B93-4E73-FF97-107EF85F4346}"/>
                  </a:ext>
                </a:extLst>
              </p:cNvPr>
              <p:cNvSpPr>
                <a:spLocks noEditPoints="1"/>
              </p:cNvSpPr>
              <p:nvPr/>
            </p:nvSpPr>
            <p:spPr bwMode="auto">
              <a:xfrm>
                <a:off x="510493" y="5302469"/>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52" name="Freeform 66">
                <a:extLst>
                  <a:ext uri="{FF2B5EF4-FFF2-40B4-BE49-F238E27FC236}">
                    <a16:creationId xmlns:a16="http://schemas.microsoft.com/office/drawing/2014/main" id="{66A6F797-2B0C-12FA-353F-3986E2FB24F5}"/>
                  </a:ext>
                </a:extLst>
              </p:cNvPr>
              <p:cNvSpPr>
                <a:spLocks noEditPoints="1"/>
              </p:cNvSpPr>
              <p:nvPr/>
            </p:nvSpPr>
            <p:spPr bwMode="auto">
              <a:xfrm>
                <a:off x="510493" y="5699081"/>
                <a:ext cx="360412" cy="301752"/>
              </a:xfrm>
              <a:prstGeom prst="hexagon">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202" name="Rectangle 201">
              <a:extLst>
                <a:ext uri="{FF2B5EF4-FFF2-40B4-BE49-F238E27FC236}">
                  <a16:creationId xmlns:a16="http://schemas.microsoft.com/office/drawing/2014/main" id="{3BAE0D2F-192D-483D-30F7-E795E9FDB7F7}"/>
                </a:ext>
              </a:extLst>
            </p:cNvPr>
            <p:cNvSpPr/>
            <p:nvPr/>
          </p:nvSpPr>
          <p:spPr>
            <a:xfrm>
              <a:off x="4211197" y="3664400"/>
              <a:ext cx="2870242" cy="2987512"/>
            </a:xfrm>
            <a:prstGeom prst="rect">
              <a:avLst/>
            </a:prstGeom>
            <a:solidFill>
              <a:srgbClr val="FFFFF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2" name="Text Placeholder 1">
            <a:extLst>
              <a:ext uri="{FF2B5EF4-FFF2-40B4-BE49-F238E27FC236}">
                <a16:creationId xmlns:a16="http://schemas.microsoft.com/office/drawing/2014/main" id="{6C1DB4D5-C79F-B3CF-DDC6-1A81D1A22B59}"/>
              </a:ext>
            </a:extLst>
          </p:cNvPr>
          <p:cNvSpPr>
            <a:spLocks noGrp="1"/>
          </p:cNvSpPr>
          <p:nvPr>
            <p:ph type="body" sz="quarter" idx="13"/>
          </p:nvPr>
        </p:nvSpPr>
        <p:spPr/>
        <p:txBody>
          <a:bodyPr vert="horz" lIns="0" tIns="0" rIns="0" bIns="0" rtlCol="0" anchor="t" anchorCtr="0">
            <a:noAutofit/>
          </a:bodyPr>
          <a:lstStyle/>
          <a:p>
            <a:pPr>
              <a:spcBef>
                <a:spcPct val="0"/>
              </a:spcBef>
            </a:pPr>
            <a:r>
              <a:rPr lang="en-US" sz="1600" dirty="0">
                <a:solidFill>
                  <a:prstClr val="black"/>
                </a:solidFill>
                <a:latin typeface="Open Sans" panose="020B0606030504020204" pitchFamily="34" charset="0"/>
                <a:ea typeface="Open Sans" panose="020B0606030504020204" pitchFamily="34" charset="0"/>
                <a:cs typeface="Open Sans" panose="020B0606030504020204" pitchFamily="34" charset="0"/>
              </a:rPr>
              <a:t>Our clear approach, depth, and close partnership make us well-positioned to win together</a:t>
            </a:r>
          </a:p>
        </p:txBody>
      </p:sp>
      <p:sp>
        <p:nvSpPr>
          <p:cNvPr id="3" name="Title 2">
            <a:extLst>
              <a:ext uri="{FF2B5EF4-FFF2-40B4-BE49-F238E27FC236}">
                <a16:creationId xmlns:a16="http://schemas.microsoft.com/office/drawing/2014/main" id="{B1F16E37-EE82-2052-3E11-0FBD0F242E32}"/>
              </a:ext>
            </a:extLst>
          </p:cNvPr>
          <p:cNvSpPr>
            <a:spLocks noGrp="1"/>
          </p:cNvSpPr>
          <p:nvPr>
            <p:ph type="title"/>
          </p:nvPr>
        </p:nvSpPr>
        <p:spPr/>
        <p:txBody>
          <a:bodyPr vert="horz" lIns="0" tIns="0" rIns="0" bIns="0" rtlCol="0" anchor="t" anchorCtr="0">
            <a:noAutofit/>
          </a:bodyPr>
          <a:lstStyle/>
          <a:p>
            <a:r>
              <a:rPr lang="en-US" b="1" dirty="0">
                <a:solidFill>
                  <a:prstClr val="black"/>
                </a:solidFill>
                <a:latin typeface="Open Sans" panose="020B0606030504020204" pitchFamily="34" charset="0"/>
                <a:ea typeface="Open Sans" panose="020B0606030504020204" pitchFamily="34" charset="0"/>
                <a:cs typeface="Open Sans" panose="020B0606030504020204" pitchFamily="34" charset="0"/>
              </a:rPr>
              <a:t>FDE Practice is positioned to lead AI and Data engagements with Snowflake</a:t>
            </a:r>
          </a:p>
        </p:txBody>
      </p:sp>
      <p:sp>
        <p:nvSpPr>
          <p:cNvPr id="198" name="Rectangle 197">
            <a:extLst>
              <a:ext uri="{FF2B5EF4-FFF2-40B4-BE49-F238E27FC236}">
                <a16:creationId xmlns:a16="http://schemas.microsoft.com/office/drawing/2014/main" id="{9E0CAED4-AAC8-F0EC-E820-BC5D27D79D57}"/>
              </a:ext>
            </a:extLst>
          </p:cNvPr>
          <p:cNvSpPr/>
          <p:nvPr/>
        </p:nvSpPr>
        <p:spPr>
          <a:xfrm>
            <a:off x="9206588" y="1550417"/>
            <a:ext cx="2492592" cy="1611039"/>
          </a:xfrm>
          <a:prstGeom prst="rect">
            <a:avLst/>
          </a:prstGeom>
          <a:solidFill>
            <a:srgbClr val="E6F6FC"/>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cxnSp>
        <p:nvCxnSpPr>
          <p:cNvPr id="199" name="Straight Connector 198">
            <a:extLst>
              <a:ext uri="{FF2B5EF4-FFF2-40B4-BE49-F238E27FC236}">
                <a16:creationId xmlns:a16="http://schemas.microsoft.com/office/drawing/2014/main" id="{9F7402CA-427F-2977-DE7D-5B24CD1E9BCC}"/>
              </a:ext>
            </a:extLst>
          </p:cNvPr>
          <p:cNvCxnSpPr/>
          <p:nvPr/>
        </p:nvCxnSpPr>
        <p:spPr>
          <a:xfrm>
            <a:off x="589713" y="3331588"/>
            <a:ext cx="11109960" cy="0"/>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3" name="TextBox 322">
            <a:extLst>
              <a:ext uri="{FF2B5EF4-FFF2-40B4-BE49-F238E27FC236}">
                <a16:creationId xmlns:a16="http://schemas.microsoft.com/office/drawing/2014/main" id="{71261ACA-E1D7-C8EA-810C-3827EFD6B095}"/>
              </a:ext>
            </a:extLst>
          </p:cNvPr>
          <p:cNvSpPr txBox="1">
            <a:spLocks noChangeAspect="1"/>
          </p:cNvSpPr>
          <p:nvPr/>
        </p:nvSpPr>
        <p:spPr>
          <a:xfrm>
            <a:off x="4075640" y="3397015"/>
            <a:ext cx="3345732" cy="3328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7618C"/>
                </a:solidFill>
                <a:effectLst/>
                <a:uLnTx/>
                <a:uFillTx/>
                <a:latin typeface="Open Sans" panose="020B0606030504020204" pitchFamily="34" charset="0"/>
                <a:ea typeface="Open Sans" panose="020B0606030504020204" pitchFamily="34" charset="0"/>
                <a:cs typeface="Open Sans" panose="020B0606030504020204" pitchFamily="34" charset="0"/>
              </a:rPr>
              <a:t>Our Talent</a:t>
            </a:r>
          </a:p>
        </p:txBody>
      </p:sp>
      <p:grpSp>
        <p:nvGrpSpPr>
          <p:cNvPr id="324" name="Group 323">
            <a:extLst>
              <a:ext uri="{FF2B5EF4-FFF2-40B4-BE49-F238E27FC236}">
                <a16:creationId xmlns:a16="http://schemas.microsoft.com/office/drawing/2014/main" id="{9455A9C8-9198-2EAC-1C0B-B0618974ECC4}"/>
              </a:ext>
            </a:extLst>
          </p:cNvPr>
          <p:cNvGrpSpPr>
            <a:grpSpLocks noChangeAspect="1"/>
          </p:cNvGrpSpPr>
          <p:nvPr/>
        </p:nvGrpSpPr>
        <p:grpSpPr>
          <a:xfrm>
            <a:off x="4183623" y="3729878"/>
            <a:ext cx="2857276" cy="716054"/>
            <a:chOff x="592138" y="2802597"/>
            <a:chExt cx="3981477" cy="860741"/>
          </a:xfrm>
        </p:grpSpPr>
        <p:sp>
          <p:nvSpPr>
            <p:cNvPr id="325" name="TextBox 324">
              <a:extLst>
                <a:ext uri="{FF2B5EF4-FFF2-40B4-BE49-F238E27FC236}">
                  <a16:creationId xmlns:a16="http://schemas.microsoft.com/office/drawing/2014/main" id="{C0E51AF5-F517-B7FD-F343-5507BBF60959}"/>
                </a:ext>
              </a:extLst>
            </p:cNvPr>
            <p:cNvSpPr txBox="1"/>
            <p:nvPr/>
          </p:nvSpPr>
          <p:spPr>
            <a:xfrm>
              <a:off x="592138" y="3311869"/>
              <a:ext cx="3981477" cy="35146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Certified Practitioners</a:t>
              </a:r>
            </a:p>
          </p:txBody>
        </p:sp>
        <p:sp>
          <p:nvSpPr>
            <p:cNvPr id="326" name="TextBox 325">
              <a:extLst>
                <a:ext uri="{FF2B5EF4-FFF2-40B4-BE49-F238E27FC236}">
                  <a16:creationId xmlns:a16="http://schemas.microsoft.com/office/drawing/2014/main" id="{6785A434-A8B9-327D-730B-8CB6F67EF926}"/>
                </a:ext>
              </a:extLst>
            </p:cNvPr>
            <p:cNvSpPr txBox="1"/>
            <p:nvPr/>
          </p:nvSpPr>
          <p:spPr>
            <a:xfrm>
              <a:off x="1184180" y="2802597"/>
              <a:ext cx="2797390" cy="6659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000" b="1" dirty="0">
                  <a:solidFill>
                    <a:srgbClr val="00A3E0"/>
                  </a:solidFill>
                  <a:latin typeface="Open Sans" panose="020B0606030504020204" pitchFamily="34" charset="0"/>
                  <a:ea typeface="Open Sans" panose="020B0606030504020204" pitchFamily="34" charset="0"/>
                  <a:cs typeface="Open Sans" panose="020B0606030504020204" pitchFamily="34" charset="0"/>
                </a:rPr>
                <a:t>1,</a:t>
              </a:r>
              <a:r>
                <a:rPr kumimoji="0" lang="en-US" sz="3000" b="1" i="0" u="none" strike="noStrike" kern="1200" cap="none" spc="0" normalizeH="0" baseline="0" noProof="0" dirty="0">
                  <a:ln>
                    <a:noFill/>
                  </a:ln>
                  <a:solidFill>
                    <a:srgbClr val="00A3E0"/>
                  </a:solidFill>
                  <a:effectLst/>
                  <a:uLnTx/>
                  <a:uFillTx/>
                  <a:latin typeface="Open Sans" panose="020B0606030504020204" pitchFamily="34" charset="0"/>
                  <a:ea typeface="Open Sans" panose="020B0606030504020204" pitchFamily="34" charset="0"/>
                  <a:cs typeface="Open Sans" panose="020B0606030504020204" pitchFamily="34" charset="0"/>
                </a:rPr>
                <a:t>1</a:t>
              </a:r>
              <a:r>
                <a:rPr lang="en-US" sz="3000" b="1" dirty="0">
                  <a:solidFill>
                    <a:srgbClr val="00A3E0"/>
                  </a:solidFill>
                  <a:latin typeface="Open Sans" panose="020B0606030504020204" pitchFamily="34" charset="0"/>
                  <a:ea typeface="Open Sans" panose="020B0606030504020204" pitchFamily="34" charset="0"/>
                  <a:cs typeface="Open Sans" panose="020B0606030504020204" pitchFamily="34" charset="0"/>
                </a:rPr>
                <a:t>0</a:t>
              </a:r>
              <a:r>
                <a:rPr kumimoji="0" lang="en-US" sz="3000" b="1" i="0" u="none" strike="noStrike" kern="1200" cap="none" spc="0" normalizeH="0" baseline="0" noProof="0" dirty="0">
                  <a:ln>
                    <a:noFill/>
                  </a:ln>
                  <a:solidFill>
                    <a:srgbClr val="00A3E0"/>
                  </a:solidFill>
                  <a:effectLst/>
                  <a:uLnTx/>
                  <a:uFillTx/>
                  <a:latin typeface="Open Sans" panose="020B0606030504020204" pitchFamily="34" charset="0"/>
                  <a:ea typeface="Open Sans" panose="020B0606030504020204" pitchFamily="34" charset="0"/>
                  <a:cs typeface="Open Sans" panose="020B0606030504020204" pitchFamily="34" charset="0"/>
                </a:rPr>
                <a:t>0+</a:t>
              </a:r>
            </a:p>
          </p:txBody>
        </p:sp>
      </p:grpSp>
      <p:grpSp>
        <p:nvGrpSpPr>
          <p:cNvPr id="327" name="Group 326">
            <a:extLst>
              <a:ext uri="{FF2B5EF4-FFF2-40B4-BE49-F238E27FC236}">
                <a16:creationId xmlns:a16="http://schemas.microsoft.com/office/drawing/2014/main" id="{9E880A9E-9E9C-D88F-FF4D-5D30FD4D8177}"/>
              </a:ext>
            </a:extLst>
          </p:cNvPr>
          <p:cNvGrpSpPr>
            <a:grpSpLocks noChangeAspect="1"/>
          </p:cNvGrpSpPr>
          <p:nvPr/>
        </p:nvGrpSpPr>
        <p:grpSpPr>
          <a:xfrm>
            <a:off x="4183623" y="4601445"/>
            <a:ext cx="2857276" cy="716054"/>
            <a:chOff x="592137" y="3921042"/>
            <a:chExt cx="3981477" cy="860741"/>
          </a:xfrm>
        </p:grpSpPr>
        <p:sp>
          <p:nvSpPr>
            <p:cNvPr id="328" name="TextBox 327">
              <a:extLst>
                <a:ext uri="{FF2B5EF4-FFF2-40B4-BE49-F238E27FC236}">
                  <a16:creationId xmlns:a16="http://schemas.microsoft.com/office/drawing/2014/main" id="{F1B5A83F-A574-18A1-DC60-C130D589F2D8}"/>
                </a:ext>
              </a:extLst>
            </p:cNvPr>
            <p:cNvSpPr txBox="1"/>
            <p:nvPr/>
          </p:nvSpPr>
          <p:spPr>
            <a:xfrm>
              <a:off x="592137" y="4430314"/>
              <a:ext cx="3981477" cy="35146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Trained Practitioners</a:t>
              </a:r>
            </a:p>
          </p:txBody>
        </p:sp>
        <p:sp>
          <p:nvSpPr>
            <p:cNvPr id="329" name="TextBox 328">
              <a:extLst>
                <a:ext uri="{FF2B5EF4-FFF2-40B4-BE49-F238E27FC236}">
                  <a16:creationId xmlns:a16="http://schemas.microsoft.com/office/drawing/2014/main" id="{713E905F-E4AD-23AD-438E-B1D0CA8D6C67}"/>
                </a:ext>
              </a:extLst>
            </p:cNvPr>
            <p:cNvSpPr txBox="1"/>
            <p:nvPr/>
          </p:nvSpPr>
          <p:spPr>
            <a:xfrm>
              <a:off x="1184179" y="3921042"/>
              <a:ext cx="2797390" cy="6659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000" b="1" dirty="0">
                  <a:solidFill>
                    <a:srgbClr val="00A3E0"/>
                  </a:solidFill>
                  <a:latin typeface="Open Sans" panose="020B0606030504020204" pitchFamily="34" charset="0"/>
                  <a:ea typeface="Open Sans" panose="020B0606030504020204" pitchFamily="34" charset="0"/>
                  <a:cs typeface="Open Sans" panose="020B0606030504020204" pitchFamily="34" charset="0"/>
                </a:rPr>
                <a:t>1,8</a:t>
              </a:r>
              <a:r>
                <a:rPr kumimoji="0" lang="en-US" sz="3000" b="1" i="0" u="none" strike="noStrike" kern="1200" cap="none" spc="0" normalizeH="0" baseline="0" noProof="0" dirty="0">
                  <a:ln>
                    <a:noFill/>
                  </a:ln>
                  <a:solidFill>
                    <a:srgbClr val="00A3E0"/>
                  </a:solidFill>
                  <a:effectLst/>
                  <a:uLnTx/>
                  <a:uFillTx/>
                  <a:latin typeface="Open Sans" panose="020B0606030504020204" pitchFamily="34" charset="0"/>
                  <a:ea typeface="Open Sans" panose="020B0606030504020204" pitchFamily="34" charset="0"/>
                  <a:cs typeface="Open Sans" panose="020B0606030504020204" pitchFamily="34" charset="0"/>
                </a:rPr>
                <a:t>00+</a:t>
              </a:r>
            </a:p>
          </p:txBody>
        </p:sp>
      </p:grpSp>
      <p:grpSp>
        <p:nvGrpSpPr>
          <p:cNvPr id="330" name="Group 329">
            <a:extLst>
              <a:ext uri="{FF2B5EF4-FFF2-40B4-BE49-F238E27FC236}">
                <a16:creationId xmlns:a16="http://schemas.microsoft.com/office/drawing/2014/main" id="{FAD31F21-C19E-7265-A706-A8B5DECDD82D}"/>
              </a:ext>
            </a:extLst>
          </p:cNvPr>
          <p:cNvGrpSpPr>
            <a:grpSpLocks noChangeAspect="1"/>
          </p:cNvGrpSpPr>
          <p:nvPr/>
        </p:nvGrpSpPr>
        <p:grpSpPr>
          <a:xfrm>
            <a:off x="4183623" y="5473012"/>
            <a:ext cx="2857276" cy="1116167"/>
            <a:chOff x="570897" y="5039486"/>
            <a:chExt cx="3981477" cy="1341701"/>
          </a:xfrm>
        </p:grpSpPr>
        <p:sp>
          <p:nvSpPr>
            <p:cNvPr id="331" name="TextBox 330">
              <a:extLst>
                <a:ext uri="{FF2B5EF4-FFF2-40B4-BE49-F238E27FC236}">
                  <a16:creationId xmlns:a16="http://schemas.microsoft.com/office/drawing/2014/main" id="{FE736EF9-3E39-2594-CA4D-D5B44699F249}"/>
                </a:ext>
              </a:extLst>
            </p:cNvPr>
            <p:cNvSpPr txBox="1"/>
            <p:nvPr/>
          </p:nvSpPr>
          <p:spPr>
            <a:xfrm>
              <a:off x="570897" y="5548763"/>
              <a:ext cx="3981477" cy="83242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Consulting professionals aligned to Cloud </a:t>
              </a:r>
              <a:r>
                <a:rPr kumimoji="0" lang="en-US" sz="1300" b="1" i="0" u="none" strike="noStrike" kern="1200" cap="none" spc="0" normalizeH="0" baseline="0" noProof="0" dirty="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Hyperscalers</a:t>
              </a:r>
              <a:r>
                <a:rPr kumimoji="0" lang="en-US" sz="1300" b="1"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in the U.S. marketplace</a:t>
              </a:r>
            </a:p>
          </p:txBody>
        </p:sp>
        <p:sp>
          <p:nvSpPr>
            <p:cNvPr id="332" name="TextBox 331">
              <a:extLst>
                <a:ext uri="{FF2B5EF4-FFF2-40B4-BE49-F238E27FC236}">
                  <a16:creationId xmlns:a16="http://schemas.microsoft.com/office/drawing/2014/main" id="{862B83FF-6F41-F2D1-005C-61D178FF3540}"/>
                </a:ext>
              </a:extLst>
            </p:cNvPr>
            <p:cNvSpPr txBox="1"/>
            <p:nvPr/>
          </p:nvSpPr>
          <p:spPr>
            <a:xfrm>
              <a:off x="1162939" y="5039486"/>
              <a:ext cx="2797390" cy="6659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0A3E0"/>
                  </a:solidFill>
                  <a:effectLst/>
                  <a:uLnTx/>
                  <a:uFillTx/>
                  <a:latin typeface="Open Sans" panose="020B0606030504020204" pitchFamily="34" charset="0"/>
                  <a:ea typeface="Open Sans" panose="020B0606030504020204" pitchFamily="34" charset="0"/>
                  <a:cs typeface="Open Sans" panose="020B0606030504020204" pitchFamily="34" charset="0"/>
                </a:rPr>
                <a:t>16,000+</a:t>
              </a:r>
            </a:p>
          </p:txBody>
        </p:sp>
      </p:grpSp>
      <p:sp>
        <p:nvSpPr>
          <p:cNvPr id="333" name="TextBox 332">
            <a:extLst>
              <a:ext uri="{FF2B5EF4-FFF2-40B4-BE49-F238E27FC236}">
                <a16:creationId xmlns:a16="http://schemas.microsoft.com/office/drawing/2014/main" id="{A26CE201-581A-AA45-DF93-70B653170109}"/>
              </a:ext>
            </a:extLst>
          </p:cNvPr>
          <p:cNvSpPr txBox="1">
            <a:spLocks noChangeAspect="1"/>
          </p:cNvSpPr>
          <p:nvPr/>
        </p:nvSpPr>
        <p:spPr>
          <a:xfrm>
            <a:off x="492369" y="1150307"/>
            <a:ext cx="334573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7618C"/>
                </a:solidFill>
                <a:effectLst/>
                <a:uLnTx/>
                <a:uFillTx/>
                <a:latin typeface="Open Sans" panose="020B0606030504020204" pitchFamily="34" charset="0"/>
                <a:ea typeface="Open Sans" panose="020B0606030504020204" pitchFamily="34" charset="0"/>
                <a:cs typeface="Open Sans" panose="020B0606030504020204" pitchFamily="34" charset="0"/>
              </a:rPr>
              <a:t>Why FDE Practice</a:t>
            </a:r>
          </a:p>
        </p:txBody>
      </p:sp>
      <p:grpSp>
        <p:nvGrpSpPr>
          <p:cNvPr id="334" name="Group 333">
            <a:extLst>
              <a:ext uri="{FF2B5EF4-FFF2-40B4-BE49-F238E27FC236}">
                <a16:creationId xmlns:a16="http://schemas.microsoft.com/office/drawing/2014/main" id="{BB06404C-0973-A3D9-F5EC-8BE11BC4A1FC}"/>
              </a:ext>
            </a:extLst>
          </p:cNvPr>
          <p:cNvGrpSpPr>
            <a:grpSpLocks noChangeAspect="1"/>
          </p:cNvGrpSpPr>
          <p:nvPr/>
        </p:nvGrpSpPr>
        <p:grpSpPr>
          <a:xfrm>
            <a:off x="615705" y="1574303"/>
            <a:ext cx="3823252" cy="484632"/>
            <a:chOff x="5504249" y="548296"/>
            <a:chExt cx="6682581" cy="904796"/>
          </a:xfrm>
        </p:grpSpPr>
        <p:sp>
          <p:nvSpPr>
            <p:cNvPr id="335" name="Rectangle 334">
              <a:extLst>
                <a:ext uri="{FF2B5EF4-FFF2-40B4-BE49-F238E27FC236}">
                  <a16:creationId xmlns:a16="http://schemas.microsoft.com/office/drawing/2014/main" id="{90DFCA62-93D9-69E5-5B1E-1152CAB2AE6C}"/>
                </a:ext>
              </a:extLst>
            </p:cNvPr>
            <p:cNvSpPr/>
            <p:nvPr/>
          </p:nvSpPr>
          <p:spPr bwMode="gray">
            <a:xfrm>
              <a:off x="6273267" y="592809"/>
              <a:ext cx="5913563" cy="792949"/>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lumMod val="95000"/>
                  </a:prstClr>
                </a:solidFill>
                <a:effectLst/>
                <a:uLnTx/>
                <a:uFillTx/>
                <a:latin typeface="Open Sans"/>
                <a:ea typeface="+mn-ea"/>
                <a:cs typeface="+mn-cs"/>
              </a:endParaRPr>
            </a:p>
          </p:txBody>
        </p:sp>
        <p:sp>
          <p:nvSpPr>
            <p:cNvPr id="336" name="Hexagon 335">
              <a:extLst>
                <a:ext uri="{FF2B5EF4-FFF2-40B4-BE49-F238E27FC236}">
                  <a16:creationId xmlns:a16="http://schemas.microsoft.com/office/drawing/2014/main" id="{475452E9-28C9-E1D8-A9FA-92C888CEC1C8}"/>
                </a:ext>
              </a:extLst>
            </p:cNvPr>
            <p:cNvSpPr>
              <a:spLocks/>
            </p:cNvSpPr>
            <p:nvPr/>
          </p:nvSpPr>
          <p:spPr bwMode="gray">
            <a:xfrm>
              <a:off x="5504249" y="548296"/>
              <a:ext cx="974939" cy="904796"/>
            </a:xfrm>
            <a:prstGeom prst="hexagon">
              <a:avLst/>
            </a:prstGeom>
            <a:solidFill>
              <a:srgbClr val="17618C"/>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Open Sans"/>
                <a:ea typeface="+mn-ea"/>
                <a:cs typeface="Arial" pitchFamily="34" charset="0"/>
              </a:endParaRPr>
            </a:p>
          </p:txBody>
        </p:sp>
      </p:grpSp>
      <p:grpSp>
        <p:nvGrpSpPr>
          <p:cNvPr id="337" name="Group 336">
            <a:extLst>
              <a:ext uri="{FF2B5EF4-FFF2-40B4-BE49-F238E27FC236}">
                <a16:creationId xmlns:a16="http://schemas.microsoft.com/office/drawing/2014/main" id="{2AEFF259-4477-E712-7C0B-329F42CD4C85}"/>
              </a:ext>
            </a:extLst>
          </p:cNvPr>
          <p:cNvGrpSpPr>
            <a:grpSpLocks noChangeAspect="1"/>
          </p:cNvGrpSpPr>
          <p:nvPr/>
        </p:nvGrpSpPr>
        <p:grpSpPr>
          <a:xfrm>
            <a:off x="615705" y="2102938"/>
            <a:ext cx="3823252" cy="483803"/>
            <a:chOff x="5504249" y="548298"/>
            <a:chExt cx="7137922" cy="903250"/>
          </a:xfrm>
        </p:grpSpPr>
        <p:sp>
          <p:nvSpPr>
            <p:cNvPr id="338" name="Rectangle 337">
              <a:extLst>
                <a:ext uri="{FF2B5EF4-FFF2-40B4-BE49-F238E27FC236}">
                  <a16:creationId xmlns:a16="http://schemas.microsoft.com/office/drawing/2014/main" id="{4487FE62-A53B-5DFB-C4AB-60127D837922}"/>
                </a:ext>
              </a:extLst>
            </p:cNvPr>
            <p:cNvSpPr/>
            <p:nvPr/>
          </p:nvSpPr>
          <p:spPr bwMode="gray">
            <a:xfrm>
              <a:off x="6325666" y="592807"/>
              <a:ext cx="6316505" cy="792949"/>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lumMod val="95000"/>
                  </a:prstClr>
                </a:solidFill>
                <a:effectLst/>
                <a:uLnTx/>
                <a:uFillTx/>
                <a:latin typeface="Open Sans"/>
                <a:ea typeface="+mn-ea"/>
                <a:cs typeface="+mn-cs"/>
              </a:endParaRPr>
            </a:p>
          </p:txBody>
        </p:sp>
        <p:sp>
          <p:nvSpPr>
            <p:cNvPr id="339" name="Hexagon 338">
              <a:extLst>
                <a:ext uri="{FF2B5EF4-FFF2-40B4-BE49-F238E27FC236}">
                  <a16:creationId xmlns:a16="http://schemas.microsoft.com/office/drawing/2014/main" id="{197DBB5D-C69F-5ACF-AE34-1C1472C02390}"/>
                </a:ext>
              </a:extLst>
            </p:cNvPr>
            <p:cNvSpPr>
              <a:spLocks noChangeAspect="1"/>
            </p:cNvSpPr>
            <p:nvPr/>
          </p:nvSpPr>
          <p:spPr bwMode="gray">
            <a:xfrm>
              <a:off x="5504249" y="548298"/>
              <a:ext cx="1047771" cy="903250"/>
            </a:xfrm>
            <a:prstGeom prst="hexagon">
              <a:avLst/>
            </a:prstGeom>
            <a:solidFill>
              <a:srgbClr val="17618C"/>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Open Sans"/>
                <a:ea typeface="+mn-ea"/>
                <a:cs typeface="Arial" pitchFamily="34" charset="0"/>
              </a:endParaRPr>
            </a:p>
          </p:txBody>
        </p:sp>
      </p:grpSp>
      <p:grpSp>
        <p:nvGrpSpPr>
          <p:cNvPr id="340" name="Group 339">
            <a:extLst>
              <a:ext uri="{FF2B5EF4-FFF2-40B4-BE49-F238E27FC236}">
                <a16:creationId xmlns:a16="http://schemas.microsoft.com/office/drawing/2014/main" id="{D563A479-F4D4-E8FB-2207-1A630CD81679}"/>
              </a:ext>
            </a:extLst>
          </p:cNvPr>
          <p:cNvGrpSpPr>
            <a:grpSpLocks noChangeAspect="1"/>
          </p:cNvGrpSpPr>
          <p:nvPr/>
        </p:nvGrpSpPr>
        <p:grpSpPr>
          <a:xfrm>
            <a:off x="615705" y="2631572"/>
            <a:ext cx="3823252" cy="483803"/>
            <a:chOff x="5504249" y="548298"/>
            <a:chExt cx="7137922" cy="903250"/>
          </a:xfrm>
        </p:grpSpPr>
        <p:sp>
          <p:nvSpPr>
            <p:cNvPr id="341" name="Rectangle 340">
              <a:extLst>
                <a:ext uri="{FF2B5EF4-FFF2-40B4-BE49-F238E27FC236}">
                  <a16:creationId xmlns:a16="http://schemas.microsoft.com/office/drawing/2014/main" id="{E4C2C45B-C786-61A3-EFB9-CE0AF2AF2940}"/>
                </a:ext>
              </a:extLst>
            </p:cNvPr>
            <p:cNvSpPr/>
            <p:nvPr/>
          </p:nvSpPr>
          <p:spPr bwMode="gray">
            <a:xfrm>
              <a:off x="6325666" y="586467"/>
              <a:ext cx="6316505" cy="792949"/>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lumMod val="95000"/>
                  </a:prstClr>
                </a:solidFill>
                <a:effectLst/>
                <a:uLnTx/>
                <a:uFillTx/>
                <a:latin typeface="Open Sans"/>
                <a:ea typeface="+mn-ea"/>
                <a:cs typeface="+mn-cs"/>
              </a:endParaRPr>
            </a:p>
          </p:txBody>
        </p:sp>
        <p:sp>
          <p:nvSpPr>
            <p:cNvPr id="342" name="Hexagon 341">
              <a:extLst>
                <a:ext uri="{FF2B5EF4-FFF2-40B4-BE49-F238E27FC236}">
                  <a16:creationId xmlns:a16="http://schemas.microsoft.com/office/drawing/2014/main" id="{5ADF60B1-E246-6250-818C-F967892C8E0C}"/>
                </a:ext>
              </a:extLst>
            </p:cNvPr>
            <p:cNvSpPr>
              <a:spLocks noChangeAspect="1"/>
            </p:cNvSpPr>
            <p:nvPr/>
          </p:nvSpPr>
          <p:spPr bwMode="gray">
            <a:xfrm>
              <a:off x="5504249" y="548298"/>
              <a:ext cx="1047771" cy="903250"/>
            </a:xfrm>
            <a:prstGeom prst="hexagon">
              <a:avLst/>
            </a:prstGeom>
            <a:solidFill>
              <a:srgbClr val="17618C"/>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Open Sans"/>
                <a:ea typeface="+mn-ea"/>
                <a:cs typeface="Arial" pitchFamily="34" charset="0"/>
              </a:endParaRPr>
            </a:p>
          </p:txBody>
        </p:sp>
      </p:grpSp>
      <p:sp>
        <p:nvSpPr>
          <p:cNvPr id="343" name="Freeform 189">
            <a:extLst>
              <a:ext uri="{FF2B5EF4-FFF2-40B4-BE49-F238E27FC236}">
                <a16:creationId xmlns:a16="http://schemas.microsoft.com/office/drawing/2014/main" id="{A57C4526-0A92-7EF0-90C6-BF4B548B9E4A}"/>
              </a:ext>
            </a:extLst>
          </p:cNvPr>
          <p:cNvSpPr>
            <a:spLocks noChangeAspect="1" noEditPoints="1"/>
          </p:cNvSpPr>
          <p:nvPr/>
        </p:nvSpPr>
        <p:spPr bwMode="auto">
          <a:xfrm>
            <a:off x="715575" y="1631729"/>
            <a:ext cx="361911" cy="361911"/>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44" name="Freeform 547">
            <a:extLst>
              <a:ext uri="{FF2B5EF4-FFF2-40B4-BE49-F238E27FC236}">
                <a16:creationId xmlns:a16="http://schemas.microsoft.com/office/drawing/2014/main" id="{B19068A7-BF9D-BF44-28A3-C902D6B69C9B}"/>
              </a:ext>
            </a:extLst>
          </p:cNvPr>
          <p:cNvSpPr>
            <a:spLocks noChangeAspect="1" noEditPoints="1"/>
          </p:cNvSpPr>
          <p:nvPr/>
        </p:nvSpPr>
        <p:spPr bwMode="auto">
          <a:xfrm>
            <a:off x="716991" y="2167891"/>
            <a:ext cx="361911" cy="361911"/>
          </a:xfrm>
          <a:custGeom>
            <a:avLst/>
            <a:gdLst>
              <a:gd name="T0" fmla="*/ 288 w 512"/>
              <a:gd name="T1" fmla="*/ 256 h 512"/>
              <a:gd name="T2" fmla="*/ 256 w 512"/>
              <a:gd name="T3" fmla="*/ 288 h 512"/>
              <a:gd name="T4" fmla="*/ 224 w 512"/>
              <a:gd name="T5" fmla="*/ 256 h 512"/>
              <a:gd name="T6" fmla="*/ 256 w 512"/>
              <a:gd name="T7" fmla="*/ 224 h 512"/>
              <a:gd name="T8" fmla="*/ 288 w 512"/>
              <a:gd name="T9" fmla="*/ 256 h 512"/>
              <a:gd name="T10" fmla="*/ 392 w 512"/>
              <a:gd name="T11" fmla="*/ 256 h 512"/>
              <a:gd name="T12" fmla="*/ 257 w 512"/>
              <a:gd name="T13" fmla="*/ 330 h 512"/>
              <a:gd name="T14" fmla="*/ 121 w 512"/>
              <a:gd name="T15" fmla="*/ 256 h 512"/>
              <a:gd name="T16" fmla="*/ 257 w 512"/>
              <a:gd name="T17" fmla="*/ 181 h 512"/>
              <a:gd name="T18" fmla="*/ 392 w 512"/>
              <a:gd name="T19" fmla="*/ 256 h 512"/>
              <a:gd name="T20" fmla="*/ 309 w 512"/>
              <a:gd name="T21" fmla="*/ 256 h 512"/>
              <a:gd name="T22" fmla="*/ 256 w 512"/>
              <a:gd name="T23" fmla="*/ 202 h 512"/>
              <a:gd name="T24" fmla="*/ 202 w 512"/>
              <a:gd name="T25" fmla="*/ 256 h 512"/>
              <a:gd name="T26" fmla="*/ 256 w 512"/>
              <a:gd name="T27" fmla="*/ 309 h 512"/>
              <a:gd name="T28" fmla="*/ 309 w 512"/>
              <a:gd name="T29" fmla="*/ 256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5 w 512"/>
              <a:gd name="T41" fmla="*/ 255 h 512"/>
              <a:gd name="T42" fmla="*/ 414 w 512"/>
              <a:gd name="T43" fmla="*/ 250 h 512"/>
              <a:gd name="T44" fmla="*/ 257 w 512"/>
              <a:gd name="T45" fmla="*/ 160 h 512"/>
              <a:gd name="T46" fmla="*/ 99 w 512"/>
              <a:gd name="T47" fmla="*/ 249 h 512"/>
              <a:gd name="T48" fmla="*/ 98 w 512"/>
              <a:gd name="T49" fmla="*/ 256 h 512"/>
              <a:gd name="T50" fmla="*/ 99 w 512"/>
              <a:gd name="T51" fmla="*/ 261 h 512"/>
              <a:gd name="T52" fmla="*/ 257 w 512"/>
              <a:gd name="T53" fmla="*/ 352 h 512"/>
              <a:gd name="T54" fmla="*/ 414 w 512"/>
              <a:gd name="T55" fmla="*/ 262 h 512"/>
              <a:gd name="T56" fmla="*/ 415 w 512"/>
              <a:gd name="T57" fmla="*/ 25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2" h="512">
                <a:moveTo>
                  <a:pt x="288" y="256"/>
                </a:moveTo>
                <a:cubicBezTo>
                  <a:pt x="288" y="273"/>
                  <a:pt x="273" y="288"/>
                  <a:pt x="256" y="288"/>
                </a:cubicBezTo>
                <a:cubicBezTo>
                  <a:pt x="238" y="288"/>
                  <a:pt x="224" y="273"/>
                  <a:pt x="224" y="256"/>
                </a:cubicBezTo>
                <a:cubicBezTo>
                  <a:pt x="224" y="238"/>
                  <a:pt x="238" y="224"/>
                  <a:pt x="256" y="224"/>
                </a:cubicBezTo>
                <a:cubicBezTo>
                  <a:pt x="273" y="224"/>
                  <a:pt x="288" y="238"/>
                  <a:pt x="288" y="256"/>
                </a:cubicBezTo>
                <a:close/>
                <a:moveTo>
                  <a:pt x="392" y="256"/>
                </a:moveTo>
                <a:cubicBezTo>
                  <a:pt x="365" y="293"/>
                  <a:pt x="316" y="330"/>
                  <a:pt x="257" y="330"/>
                </a:cubicBezTo>
                <a:cubicBezTo>
                  <a:pt x="192" y="330"/>
                  <a:pt x="143" y="286"/>
                  <a:pt x="121" y="256"/>
                </a:cubicBezTo>
                <a:cubicBezTo>
                  <a:pt x="148" y="218"/>
                  <a:pt x="197" y="181"/>
                  <a:pt x="257" y="181"/>
                </a:cubicBezTo>
                <a:cubicBezTo>
                  <a:pt x="321" y="181"/>
                  <a:pt x="370" y="226"/>
                  <a:pt x="392" y="256"/>
                </a:cubicBezTo>
                <a:close/>
                <a:moveTo>
                  <a:pt x="309" y="256"/>
                </a:moveTo>
                <a:cubicBezTo>
                  <a:pt x="309" y="226"/>
                  <a:pt x="285" y="202"/>
                  <a:pt x="256" y="202"/>
                </a:cubicBezTo>
                <a:cubicBezTo>
                  <a:pt x="226" y="202"/>
                  <a:pt x="202" y="226"/>
                  <a:pt x="202" y="256"/>
                </a:cubicBezTo>
                <a:cubicBezTo>
                  <a:pt x="202" y="285"/>
                  <a:pt x="226" y="309"/>
                  <a:pt x="256" y="309"/>
                </a:cubicBezTo>
                <a:cubicBezTo>
                  <a:pt x="285" y="309"/>
                  <a:pt x="309" y="285"/>
                  <a:pt x="309" y="256"/>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55"/>
                </a:moveTo>
                <a:cubicBezTo>
                  <a:pt x="415" y="254"/>
                  <a:pt x="415" y="252"/>
                  <a:pt x="414" y="250"/>
                </a:cubicBezTo>
                <a:cubicBezTo>
                  <a:pt x="392" y="216"/>
                  <a:pt x="334" y="160"/>
                  <a:pt x="257" y="160"/>
                </a:cubicBezTo>
                <a:cubicBezTo>
                  <a:pt x="186" y="160"/>
                  <a:pt x="129" y="206"/>
                  <a:pt x="99" y="249"/>
                </a:cubicBezTo>
                <a:cubicBezTo>
                  <a:pt x="98" y="251"/>
                  <a:pt x="98" y="254"/>
                  <a:pt x="98" y="256"/>
                </a:cubicBezTo>
                <a:cubicBezTo>
                  <a:pt x="98" y="258"/>
                  <a:pt x="98" y="260"/>
                  <a:pt x="99" y="261"/>
                </a:cubicBezTo>
                <a:cubicBezTo>
                  <a:pt x="121" y="295"/>
                  <a:pt x="179" y="352"/>
                  <a:pt x="257" y="352"/>
                </a:cubicBezTo>
                <a:cubicBezTo>
                  <a:pt x="327" y="352"/>
                  <a:pt x="384" y="305"/>
                  <a:pt x="414" y="262"/>
                </a:cubicBezTo>
                <a:cubicBezTo>
                  <a:pt x="415" y="260"/>
                  <a:pt x="416" y="258"/>
                  <a:pt x="415" y="25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45" name="Freeform 393">
            <a:extLst>
              <a:ext uri="{FF2B5EF4-FFF2-40B4-BE49-F238E27FC236}">
                <a16:creationId xmlns:a16="http://schemas.microsoft.com/office/drawing/2014/main" id="{8A488D1B-7664-3169-9355-05E90C2DD467}"/>
              </a:ext>
            </a:extLst>
          </p:cNvPr>
          <p:cNvSpPr>
            <a:spLocks noChangeAspect="1" noEditPoints="1"/>
          </p:cNvSpPr>
          <p:nvPr/>
        </p:nvSpPr>
        <p:spPr bwMode="auto">
          <a:xfrm>
            <a:off x="715355" y="2702953"/>
            <a:ext cx="360851" cy="361911"/>
          </a:xfrm>
          <a:custGeom>
            <a:avLst/>
            <a:gdLst>
              <a:gd name="T0" fmla="*/ 0 w 512"/>
              <a:gd name="T1" fmla="*/ 256 h 512"/>
              <a:gd name="T2" fmla="*/ 512 w 512"/>
              <a:gd name="T3" fmla="*/ 256 h 512"/>
              <a:gd name="T4" fmla="*/ 231 w 512"/>
              <a:gd name="T5" fmla="*/ 381 h 512"/>
              <a:gd name="T6" fmla="*/ 216 w 512"/>
              <a:gd name="T7" fmla="*/ 382 h 512"/>
              <a:gd name="T8" fmla="*/ 177 w 512"/>
              <a:gd name="T9" fmla="*/ 372 h 512"/>
              <a:gd name="T10" fmla="*/ 161 w 512"/>
              <a:gd name="T11" fmla="*/ 324 h 512"/>
              <a:gd name="T12" fmla="*/ 172 w 512"/>
              <a:gd name="T13" fmla="*/ 250 h 512"/>
              <a:gd name="T14" fmla="*/ 149 w 512"/>
              <a:gd name="T15" fmla="*/ 240 h 512"/>
              <a:gd name="T16" fmla="*/ 125 w 512"/>
              <a:gd name="T17" fmla="*/ 250 h 512"/>
              <a:gd name="T18" fmla="*/ 136 w 512"/>
              <a:gd name="T19" fmla="*/ 324 h 512"/>
              <a:gd name="T20" fmla="*/ 121 w 512"/>
              <a:gd name="T21" fmla="*/ 372 h 512"/>
              <a:gd name="T22" fmla="*/ 107 w 512"/>
              <a:gd name="T23" fmla="*/ 366 h 512"/>
              <a:gd name="T24" fmla="*/ 118 w 512"/>
              <a:gd name="T25" fmla="*/ 336 h 512"/>
              <a:gd name="T26" fmla="*/ 109 w 512"/>
              <a:gd name="T27" fmla="*/ 237 h 512"/>
              <a:gd name="T28" fmla="*/ 149 w 512"/>
              <a:gd name="T29" fmla="*/ 218 h 512"/>
              <a:gd name="T30" fmla="*/ 149 w 512"/>
              <a:gd name="T31" fmla="*/ 218 h 512"/>
              <a:gd name="T32" fmla="*/ 189 w 512"/>
              <a:gd name="T33" fmla="*/ 237 h 512"/>
              <a:gd name="T34" fmla="*/ 180 w 512"/>
              <a:gd name="T35" fmla="*/ 336 h 512"/>
              <a:gd name="T36" fmla="*/ 198 w 512"/>
              <a:gd name="T37" fmla="*/ 355 h 512"/>
              <a:gd name="T38" fmla="*/ 231 w 512"/>
              <a:gd name="T39" fmla="*/ 381 h 512"/>
              <a:gd name="T40" fmla="*/ 405 w 512"/>
              <a:gd name="T41" fmla="*/ 330 h 512"/>
              <a:gd name="T42" fmla="*/ 213 w 512"/>
              <a:gd name="T43" fmla="*/ 320 h 512"/>
              <a:gd name="T44" fmla="*/ 394 w 512"/>
              <a:gd name="T45" fmla="*/ 309 h 512"/>
              <a:gd name="T46" fmla="*/ 170 w 512"/>
              <a:gd name="T47" fmla="*/ 181 h 512"/>
              <a:gd name="T48" fmla="*/ 160 w 512"/>
              <a:gd name="T49" fmla="*/ 202 h 512"/>
              <a:gd name="T50" fmla="*/ 149 w 512"/>
              <a:gd name="T51" fmla="*/ 170 h 512"/>
              <a:gd name="T52" fmla="*/ 405 w 512"/>
              <a:gd name="T53" fmla="*/ 160 h 512"/>
              <a:gd name="T54" fmla="*/ 416 w 512"/>
              <a:gd name="T55" fmla="*/ 320 h 512"/>
              <a:gd name="T56" fmla="*/ 362 w 512"/>
              <a:gd name="T57" fmla="*/ 256 h 512"/>
              <a:gd name="T58" fmla="*/ 362 w 512"/>
              <a:gd name="T59" fmla="*/ 277 h 512"/>
              <a:gd name="T60" fmla="*/ 224 w 512"/>
              <a:gd name="T61" fmla="*/ 266 h 512"/>
              <a:gd name="T62" fmla="*/ 224 w 512"/>
              <a:gd name="T63" fmla="*/ 224 h 512"/>
              <a:gd name="T64" fmla="*/ 362 w 512"/>
              <a:gd name="T65" fmla="*/ 213 h 512"/>
              <a:gd name="T66" fmla="*/ 362 w 512"/>
              <a:gd name="T67" fmla="*/ 234 h 512"/>
              <a:gd name="T68" fmla="*/ 224 w 512"/>
              <a:gd name="T69" fmla="*/ 22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31" y="381"/>
                </a:moveTo>
                <a:cubicBezTo>
                  <a:pt x="229" y="383"/>
                  <a:pt x="226" y="384"/>
                  <a:pt x="223" y="384"/>
                </a:cubicBezTo>
                <a:cubicBezTo>
                  <a:pt x="221" y="384"/>
                  <a:pt x="218" y="383"/>
                  <a:pt x="216" y="382"/>
                </a:cubicBezTo>
                <a:cubicBezTo>
                  <a:pt x="213" y="379"/>
                  <a:pt x="200" y="377"/>
                  <a:pt x="194" y="376"/>
                </a:cubicBezTo>
                <a:cubicBezTo>
                  <a:pt x="187" y="375"/>
                  <a:pt x="181" y="374"/>
                  <a:pt x="177" y="372"/>
                </a:cubicBezTo>
                <a:cubicBezTo>
                  <a:pt x="167" y="369"/>
                  <a:pt x="162" y="357"/>
                  <a:pt x="160" y="350"/>
                </a:cubicBezTo>
                <a:cubicBezTo>
                  <a:pt x="159" y="343"/>
                  <a:pt x="156" y="332"/>
                  <a:pt x="161" y="324"/>
                </a:cubicBezTo>
                <a:cubicBezTo>
                  <a:pt x="167" y="317"/>
                  <a:pt x="173" y="302"/>
                  <a:pt x="176" y="291"/>
                </a:cubicBezTo>
                <a:cubicBezTo>
                  <a:pt x="180" y="272"/>
                  <a:pt x="179" y="258"/>
                  <a:pt x="172" y="250"/>
                </a:cubicBezTo>
                <a:cubicBezTo>
                  <a:pt x="164" y="240"/>
                  <a:pt x="149" y="240"/>
                  <a:pt x="149" y="240"/>
                </a:cubicBezTo>
                <a:cubicBezTo>
                  <a:pt x="149" y="240"/>
                  <a:pt x="149" y="240"/>
                  <a:pt x="149" y="240"/>
                </a:cubicBezTo>
                <a:cubicBezTo>
                  <a:pt x="149" y="240"/>
                  <a:pt x="149" y="240"/>
                  <a:pt x="149" y="240"/>
                </a:cubicBezTo>
                <a:cubicBezTo>
                  <a:pt x="148" y="240"/>
                  <a:pt x="134" y="240"/>
                  <a:pt x="125" y="250"/>
                </a:cubicBezTo>
                <a:cubicBezTo>
                  <a:pt x="119" y="259"/>
                  <a:pt x="118" y="272"/>
                  <a:pt x="122" y="291"/>
                </a:cubicBezTo>
                <a:cubicBezTo>
                  <a:pt x="125" y="302"/>
                  <a:pt x="131" y="317"/>
                  <a:pt x="136" y="324"/>
                </a:cubicBezTo>
                <a:cubicBezTo>
                  <a:pt x="142" y="332"/>
                  <a:pt x="139" y="344"/>
                  <a:pt x="137" y="350"/>
                </a:cubicBezTo>
                <a:cubicBezTo>
                  <a:pt x="135" y="357"/>
                  <a:pt x="131" y="369"/>
                  <a:pt x="121" y="372"/>
                </a:cubicBezTo>
                <a:cubicBezTo>
                  <a:pt x="120" y="373"/>
                  <a:pt x="118" y="373"/>
                  <a:pt x="117" y="373"/>
                </a:cubicBezTo>
                <a:cubicBezTo>
                  <a:pt x="113" y="373"/>
                  <a:pt x="109" y="370"/>
                  <a:pt x="107" y="366"/>
                </a:cubicBezTo>
                <a:cubicBezTo>
                  <a:pt x="105" y="361"/>
                  <a:pt x="108" y="354"/>
                  <a:pt x="113" y="352"/>
                </a:cubicBezTo>
                <a:cubicBezTo>
                  <a:pt x="115" y="351"/>
                  <a:pt x="119" y="340"/>
                  <a:pt x="118" y="336"/>
                </a:cubicBezTo>
                <a:cubicBezTo>
                  <a:pt x="112" y="326"/>
                  <a:pt x="105" y="310"/>
                  <a:pt x="101" y="296"/>
                </a:cubicBezTo>
                <a:cubicBezTo>
                  <a:pt x="95" y="270"/>
                  <a:pt x="98" y="250"/>
                  <a:pt x="109" y="237"/>
                </a:cubicBezTo>
                <a:cubicBezTo>
                  <a:pt x="123" y="219"/>
                  <a:pt x="146" y="218"/>
                  <a:pt x="149" y="218"/>
                </a:cubicBezTo>
                <a:cubicBezTo>
                  <a:pt x="149" y="218"/>
                  <a:pt x="149" y="218"/>
                  <a:pt x="149" y="218"/>
                </a:cubicBezTo>
                <a:cubicBezTo>
                  <a:pt x="149" y="218"/>
                  <a:pt x="149" y="218"/>
                  <a:pt x="149" y="218"/>
                </a:cubicBezTo>
                <a:cubicBezTo>
                  <a:pt x="149" y="218"/>
                  <a:pt x="149" y="218"/>
                  <a:pt x="149" y="218"/>
                </a:cubicBezTo>
                <a:cubicBezTo>
                  <a:pt x="149" y="218"/>
                  <a:pt x="149" y="218"/>
                  <a:pt x="149" y="218"/>
                </a:cubicBezTo>
                <a:cubicBezTo>
                  <a:pt x="153" y="218"/>
                  <a:pt x="175" y="219"/>
                  <a:pt x="189" y="237"/>
                </a:cubicBezTo>
                <a:cubicBezTo>
                  <a:pt x="200" y="250"/>
                  <a:pt x="203" y="270"/>
                  <a:pt x="196" y="296"/>
                </a:cubicBezTo>
                <a:cubicBezTo>
                  <a:pt x="193" y="310"/>
                  <a:pt x="186" y="326"/>
                  <a:pt x="180" y="336"/>
                </a:cubicBezTo>
                <a:cubicBezTo>
                  <a:pt x="179" y="340"/>
                  <a:pt x="183" y="351"/>
                  <a:pt x="185" y="353"/>
                </a:cubicBezTo>
                <a:cubicBezTo>
                  <a:pt x="187" y="353"/>
                  <a:pt x="193" y="354"/>
                  <a:pt x="198" y="355"/>
                </a:cubicBezTo>
                <a:cubicBezTo>
                  <a:pt x="210" y="357"/>
                  <a:pt x="223" y="359"/>
                  <a:pt x="230" y="366"/>
                </a:cubicBezTo>
                <a:cubicBezTo>
                  <a:pt x="235" y="370"/>
                  <a:pt x="235" y="376"/>
                  <a:pt x="231" y="381"/>
                </a:cubicBezTo>
                <a:close/>
                <a:moveTo>
                  <a:pt x="416" y="320"/>
                </a:moveTo>
                <a:cubicBezTo>
                  <a:pt x="416" y="326"/>
                  <a:pt x="411" y="330"/>
                  <a:pt x="405" y="330"/>
                </a:cubicBezTo>
                <a:cubicBezTo>
                  <a:pt x="224" y="330"/>
                  <a:pt x="224" y="330"/>
                  <a:pt x="224" y="330"/>
                </a:cubicBezTo>
                <a:cubicBezTo>
                  <a:pt x="218" y="330"/>
                  <a:pt x="213" y="326"/>
                  <a:pt x="213" y="320"/>
                </a:cubicBezTo>
                <a:cubicBezTo>
                  <a:pt x="213" y="314"/>
                  <a:pt x="218" y="309"/>
                  <a:pt x="224" y="309"/>
                </a:cubicBezTo>
                <a:cubicBezTo>
                  <a:pt x="394" y="309"/>
                  <a:pt x="394" y="309"/>
                  <a:pt x="394" y="309"/>
                </a:cubicBezTo>
                <a:cubicBezTo>
                  <a:pt x="394" y="181"/>
                  <a:pt x="394" y="181"/>
                  <a:pt x="394" y="181"/>
                </a:cubicBezTo>
                <a:cubicBezTo>
                  <a:pt x="170" y="181"/>
                  <a:pt x="170" y="181"/>
                  <a:pt x="170" y="181"/>
                </a:cubicBezTo>
                <a:cubicBezTo>
                  <a:pt x="170" y="192"/>
                  <a:pt x="170" y="192"/>
                  <a:pt x="170" y="192"/>
                </a:cubicBezTo>
                <a:cubicBezTo>
                  <a:pt x="170" y="198"/>
                  <a:pt x="166" y="202"/>
                  <a:pt x="160" y="202"/>
                </a:cubicBezTo>
                <a:cubicBezTo>
                  <a:pt x="154" y="202"/>
                  <a:pt x="149" y="198"/>
                  <a:pt x="149" y="192"/>
                </a:cubicBezTo>
                <a:cubicBezTo>
                  <a:pt x="149" y="170"/>
                  <a:pt x="149" y="170"/>
                  <a:pt x="149" y="170"/>
                </a:cubicBezTo>
                <a:cubicBezTo>
                  <a:pt x="149" y="164"/>
                  <a:pt x="154" y="160"/>
                  <a:pt x="160" y="160"/>
                </a:cubicBezTo>
                <a:cubicBezTo>
                  <a:pt x="405" y="160"/>
                  <a:pt x="405" y="160"/>
                  <a:pt x="405" y="160"/>
                </a:cubicBezTo>
                <a:cubicBezTo>
                  <a:pt x="411" y="160"/>
                  <a:pt x="416" y="164"/>
                  <a:pt x="416" y="170"/>
                </a:cubicBezTo>
                <a:lnTo>
                  <a:pt x="416" y="320"/>
                </a:lnTo>
                <a:close/>
                <a:moveTo>
                  <a:pt x="234" y="256"/>
                </a:moveTo>
                <a:cubicBezTo>
                  <a:pt x="362" y="256"/>
                  <a:pt x="362" y="256"/>
                  <a:pt x="362" y="256"/>
                </a:cubicBezTo>
                <a:cubicBezTo>
                  <a:pt x="368" y="256"/>
                  <a:pt x="373" y="260"/>
                  <a:pt x="373" y="266"/>
                </a:cubicBezTo>
                <a:cubicBezTo>
                  <a:pt x="373" y="272"/>
                  <a:pt x="368" y="277"/>
                  <a:pt x="362" y="277"/>
                </a:cubicBezTo>
                <a:cubicBezTo>
                  <a:pt x="234" y="277"/>
                  <a:pt x="234" y="277"/>
                  <a:pt x="234" y="277"/>
                </a:cubicBezTo>
                <a:cubicBezTo>
                  <a:pt x="228" y="277"/>
                  <a:pt x="224" y="272"/>
                  <a:pt x="224" y="266"/>
                </a:cubicBezTo>
                <a:cubicBezTo>
                  <a:pt x="224" y="260"/>
                  <a:pt x="228" y="256"/>
                  <a:pt x="234" y="256"/>
                </a:cubicBezTo>
                <a:close/>
                <a:moveTo>
                  <a:pt x="224" y="224"/>
                </a:moveTo>
                <a:cubicBezTo>
                  <a:pt x="224" y="218"/>
                  <a:pt x="228" y="213"/>
                  <a:pt x="234" y="213"/>
                </a:cubicBezTo>
                <a:cubicBezTo>
                  <a:pt x="362" y="213"/>
                  <a:pt x="362" y="213"/>
                  <a:pt x="362" y="213"/>
                </a:cubicBezTo>
                <a:cubicBezTo>
                  <a:pt x="368" y="213"/>
                  <a:pt x="373" y="218"/>
                  <a:pt x="373" y="224"/>
                </a:cubicBezTo>
                <a:cubicBezTo>
                  <a:pt x="373" y="230"/>
                  <a:pt x="368" y="234"/>
                  <a:pt x="362" y="234"/>
                </a:cubicBezTo>
                <a:cubicBezTo>
                  <a:pt x="234" y="234"/>
                  <a:pt x="234" y="234"/>
                  <a:pt x="234" y="234"/>
                </a:cubicBezTo>
                <a:cubicBezTo>
                  <a:pt x="228" y="234"/>
                  <a:pt x="224" y="230"/>
                  <a:pt x="224" y="22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46" name="TextBox 345">
            <a:extLst>
              <a:ext uri="{FF2B5EF4-FFF2-40B4-BE49-F238E27FC236}">
                <a16:creationId xmlns:a16="http://schemas.microsoft.com/office/drawing/2014/main" id="{487D9F4F-167A-F44D-5D35-09AB286F014B}"/>
              </a:ext>
            </a:extLst>
          </p:cNvPr>
          <p:cNvSpPr txBox="1"/>
          <p:nvPr/>
        </p:nvSpPr>
        <p:spPr>
          <a:xfrm>
            <a:off x="1163743" y="1632317"/>
            <a:ext cx="309073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Unmatched depth </a:t>
            </a:r>
            <a:r>
              <a:rPr kumimoji="0" lang="en-US" sz="9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in delivery services and personnel with </a:t>
            </a:r>
            <a:r>
              <a:rPr kumimoji="0" lang="en-US" sz="900" b="1"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domain expertise in data &amp; AI technologies</a:t>
            </a:r>
            <a:endParaRPr kumimoji="0" lang="en-US" sz="9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47" name="TextBox 346">
            <a:extLst>
              <a:ext uri="{FF2B5EF4-FFF2-40B4-BE49-F238E27FC236}">
                <a16:creationId xmlns:a16="http://schemas.microsoft.com/office/drawing/2014/main" id="{DB1D51B6-871D-9B15-578C-8AD5FAAA2A6C}"/>
              </a:ext>
            </a:extLst>
          </p:cNvPr>
          <p:cNvSpPr txBox="1"/>
          <p:nvPr/>
        </p:nvSpPr>
        <p:spPr>
          <a:xfrm>
            <a:off x="1163743" y="2154474"/>
            <a:ext cx="348164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Leading in SAP, Oracle, SFDC, and Workday </a:t>
            </a:r>
            <a:r>
              <a:rPr kumimoji="0" lang="en-US" sz="9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services,</a:t>
            </a:r>
            <a:r>
              <a:rPr kumimoji="0" lang="en-US" sz="9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9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giving us </a:t>
            </a:r>
            <a:r>
              <a:rPr kumimoji="0" lang="en-US" sz="9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end-to-end access </a:t>
            </a:r>
            <a:r>
              <a:rPr kumimoji="0" lang="en-US" sz="9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to systems driving new data</a:t>
            </a:r>
            <a:endParaRPr kumimoji="0" lang="en-US" sz="9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48" name="TextBox 347">
            <a:extLst>
              <a:ext uri="{FF2B5EF4-FFF2-40B4-BE49-F238E27FC236}">
                <a16:creationId xmlns:a16="http://schemas.microsoft.com/office/drawing/2014/main" id="{226C0E54-7DBE-D6E7-2746-6B174D286BEF}"/>
              </a:ext>
            </a:extLst>
          </p:cNvPr>
          <p:cNvSpPr txBox="1"/>
          <p:nvPr/>
        </p:nvSpPr>
        <p:spPr>
          <a:xfrm>
            <a:off x="1163742" y="2676632"/>
            <a:ext cx="348164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Works with </a:t>
            </a:r>
            <a:r>
              <a:rPr kumimoji="0" lang="en-US" sz="9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90% of the Fortune 500 </a:t>
            </a:r>
            <a:r>
              <a:rPr kumimoji="0" lang="en-US" sz="9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and been a C-suite </a:t>
            </a:r>
            <a:r>
              <a:rPr kumimoji="0" lang="en-US" sz="9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business transformation leader </a:t>
            </a:r>
            <a:r>
              <a:rPr kumimoji="0" lang="en-US" sz="9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for the past 175 years</a:t>
            </a:r>
            <a:endParaRPr kumimoji="0" lang="en-US" sz="9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cxnSp>
        <p:nvCxnSpPr>
          <p:cNvPr id="349" name="Straight Connector 348">
            <a:extLst>
              <a:ext uri="{FF2B5EF4-FFF2-40B4-BE49-F238E27FC236}">
                <a16:creationId xmlns:a16="http://schemas.microsoft.com/office/drawing/2014/main" id="{F50C1606-CEDF-9789-03EB-48A6752438D3}"/>
              </a:ext>
            </a:extLst>
          </p:cNvPr>
          <p:cNvCxnSpPr>
            <a:cxnSpLocks/>
          </p:cNvCxnSpPr>
          <p:nvPr/>
        </p:nvCxnSpPr>
        <p:spPr>
          <a:xfrm>
            <a:off x="4586666" y="1252669"/>
            <a:ext cx="0" cy="2000758"/>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350" name="TextBox 349">
            <a:extLst>
              <a:ext uri="{FF2B5EF4-FFF2-40B4-BE49-F238E27FC236}">
                <a16:creationId xmlns:a16="http://schemas.microsoft.com/office/drawing/2014/main" id="{60810550-0A23-44F3-4B31-7361BC3B9002}"/>
              </a:ext>
            </a:extLst>
          </p:cNvPr>
          <p:cNvSpPr txBox="1">
            <a:spLocks noChangeAspect="1"/>
          </p:cNvSpPr>
          <p:nvPr/>
        </p:nvSpPr>
        <p:spPr>
          <a:xfrm>
            <a:off x="4668524" y="1150307"/>
            <a:ext cx="226184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7618C"/>
                </a:solidFill>
                <a:effectLst/>
                <a:uLnTx/>
                <a:uFillTx/>
                <a:latin typeface="Open Sans" panose="020B0606030504020204" pitchFamily="34" charset="0"/>
                <a:ea typeface="Open Sans" panose="020B0606030504020204" pitchFamily="34" charset="0"/>
                <a:cs typeface="Open Sans" panose="020B0606030504020204" pitchFamily="34" charset="0"/>
              </a:rPr>
              <a:t>Our Experience</a:t>
            </a:r>
          </a:p>
        </p:txBody>
      </p:sp>
      <p:grpSp>
        <p:nvGrpSpPr>
          <p:cNvPr id="351" name="Group 350">
            <a:extLst>
              <a:ext uri="{FF2B5EF4-FFF2-40B4-BE49-F238E27FC236}">
                <a16:creationId xmlns:a16="http://schemas.microsoft.com/office/drawing/2014/main" id="{87B53C6C-BC4B-4B3B-DD14-78A8E1882ACD}"/>
              </a:ext>
            </a:extLst>
          </p:cNvPr>
          <p:cNvGrpSpPr/>
          <p:nvPr/>
        </p:nvGrpSpPr>
        <p:grpSpPr>
          <a:xfrm>
            <a:off x="4760041" y="1514062"/>
            <a:ext cx="4199570" cy="553998"/>
            <a:chOff x="4760041" y="1561687"/>
            <a:chExt cx="4199570" cy="553998"/>
          </a:xfrm>
        </p:grpSpPr>
        <p:sp>
          <p:nvSpPr>
            <p:cNvPr id="352" name="Rectangle 351">
              <a:extLst>
                <a:ext uri="{FF2B5EF4-FFF2-40B4-BE49-F238E27FC236}">
                  <a16:creationId xmlns:a16="http://schemas.microsoft.com/office/drawing/2014/main" id="{BE452354-841F-AB00-45D9-D4B03E8B07C2}"/>
                </a:ext>
              </a:extLst>
            </p:cNvPr>
            <p:cNvSpPr/>
            <p:nvPr/>
          </p:nvSpPr>
          <p:spPr>
            <a:xfrm>
              <a:off x="4764433" y="1561687"/>
              <a:ext cx="1192755" cy="55399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0A3E0"/>
                  </a:solidFill>
                  <a:effectLst/>
                  <a:uLnTx/>
                  <a:uFillTx/>
                  <a:latin typeface="Open Sans" panose="020B0606030504020204" pitchFamily="34" charset="0"/>
                  <a:ea typeface="Open Sans" panose="020B0606030504020204" pitchFamily="34" charset="0"/>
                  <a:cs typeface="Open Sans" panose="020B0606030504020204" pitchFamily="34" charset="0"/>
                </a:rPr>
                <a:t>ELITE</a:t>
              </a:r>
            </a:p>
          </p:txBody>
        </p:sp>
        <p:sp>
          <p:nvSpPr>
            <p:cNvPr id="353" name="TextBox 352">
              <a:extLst>
                <a:ext uri="{FF2B5EF4-FFF2-40B4-BE49-F238E27FC236}">
                  <a16:creationId xmlns:a16="http://schemas.microsoft.com/office/drawing/2014/main" id="{DAB76AB2-74AE-07D5-D54D-D20CED00E937}"/>
                </a:ext>
              </a:extLst>
            </p:cNvPr>
            <p:cNvSpPr txBox="1"/>
            <p:nvPr/>
          </p:nvSpPr>
          <p:spPr>
            <a:xfrm>
              <a:off x="5917533" y="1638631"/>
              <a:ext cx="304207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Services Partner, </a:t>
              </a:r>
              <a:r>
                <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fastest to achieve top recognition</a:t>
              </a: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by Snowflake Partner Network</a:t>
              </a:r>
              <a:endPar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54" name="Rectangle 353">
              <a:extLst>
                <a:ext uri="{FF2B5EF4-FFF2-40B4-BE49-F238E27FC236}">
                  <a16:creationId xmlns:a16="http://schemas.microsoft.com/office/drawing/2014/main" id="{53334CB1-CBDC-E7E0-B458-E2D72C8DBB23}"/>
                </a:ext>
              </a:extLst>
            </p:cNvPr>
            <p:cNvSpPr/>
            <p:nvPr/>
          </p:nvSpPr>
          <p:spPr>
            <a:xfrm>
              <a:off x="4760041" y="1603926"/>
              <a:ext cx="4132288" cy="476543"/>
            </a:xfrm>
            <a:prstGeom prst="rect">
              <a:avLst/>
            </a:prstGeom>
            <a:no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grpSp>
      <p:sp>
        <p:nvSpPr>
          <p:cNvPr id="355" name="Rectangle 354">
            <a:extLst>
              <a:ext uri="{FF2B5EF4-FFF2-40B4-BE49-F238E27FC236}">
                <a16:creationId xmlns:a16="http://schemas.microsoft.com/office/drawing/2014/main" id="{03A7BC71-B2F4-204A-016F-ECA63BCBC0AB}"/>
              </a:ext>
            </a:extLst>
          </p:cNvPr>
          <p:cNvSpPr/>
          <p:nvPr/>
        </p:nvSpPr>
        <p:spPr>
          <a:xfrm>
            <a:off x="4784042" y="2084343"/>
            <a:ext cx="1154242" cy="55399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0A3E0"/>
                </a:solidFill>
                <a:effectLst/>
                <a:uLnTx/>
                <a:uFillTx/>
                <a:latin typeface="Open Sans" panose="020B0606030504020204" pitchFamily="34" charset="0"/>
                <a:ea typeface="Open Sans" panose="020B0606030504020204" pitchFamily="34" charset="0"/>
                <a:cs typeface="Open Sans" panose="020B0606030504020204" pitchFamily="34" charset="0"/>
              </a:rPr>
              <a:t>550+</a:t>
            </a:r>
          </a:p>
        </p:txBody>
      </p:sp>
      <p:sp>
        <p:nvSpPr>
          <p:cNvPr id="356" name="TextBox 355">
            <a:extLst>
              <a:ext uri="{FF2B5EF4-FFF2-40B4-BE49-F238E27FC236}">
                <a16:creationId xmlns:a16="http://schemas.microsoft.com/office/drawing/2014/main" id="{9B507CB9-A089-08AD-23B8-FDDD8155290A}"/>
              </a:ext>
            </a:extLst>
          </p:cNvPr>
          <p:cNvSpPr txBox="1"/>
          <p:nvPr/>
        </p:nvSpPr>
        <p:spPr>
          <a:xfrm>
            <a:off x="5917533" y="2724360"/>
            <a:ext cx="304207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Hours of </a:t>
            </a:r>
            <a:r>
              <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direct consulting services </a:t>
            </a:r>
            <a:r>
              <a:rPr kumimoji="0" lang="en-US" sz="10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related to Snowflake</a:t>
            </a:r>
            <a:endPar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357" name="Group 356">
            <a:extLst>
              <a:ext uri="{FF2B5EF4-FFF2-40B4-BE49-F238E27FC236}">
                <a16:creationId xmlns:a16="http://schemas.microsoft.com/office/drawing/2014/main" id="{EB2BD4DB-9D87-70BF-9070-E662946BB91A}"/>
              </a:ext>
            </a:extLst>
          </p:cNvPr>
          <p:cNvGrpSpPr/>
          <p:nvPr/>
        </p:nvGrpSpPr>
        <p:grpSpPr>
          <a:xfrm>
            <a:off x="4760041" y="2120659"/>
            <a:ext cx="4199570" cy="476543"/>
            <a:chOff x="4760041" y="2210715"/>
            <a:chExt cx="4199570" cy="476543"/>
          </a:xfrm>
        </p:grpSpPr>
        <p:sp>
          <p:nvSpPr>
            <p:cNvPr id="358" name="TextBox 357">
              <a:extLst>
                <a:ext uri="{FF2B5EF4-FFF2-40B4-BE49-F238E27FC236}">
                  <a16:creationId xmlns:a16="http://schemas.microsoft.com/office/drawing/2014/main" id="{C8539AD1-AB24-AF3D-7F1F-4C332B8B0130}"/>
                </a:ext>
              </a:extLst>
            </p:cNvPr>
            <p:cNvSpPr txBox="1"/>
            <p:nvPr/>
          </p:nvSpPr>
          <p:spPr>
            <a:xfrm>
              <a:off x="5917533" y="2251343"/>
              <a:ext cx="304207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Global engagements </a:t>
              </a:r>
              <a:r>
                <a:rPr kumimoji="0" lang="en-US" sz="10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to-date leading data modernization work leveraging Snowflake</a:t>
              </a:r>
            </a:p>
          </p:txBody>
        </p:sp>
        <p:sp>
          <p:nvSpPr>
            <p:cNvPr id="359" name="Rectangle 358">
              <a:extLst>
                <a:ext uri="{FF2B5EF4-FFF2-40B4-BE49-F238E27FC236}">
                  <a16:creationId xmlns:a16="http://schemas.microsoft.com/office/drawing/2014/main" id="{7BEBE202-724E-AFB8-8CA7-28D1C7930DD0}"/>
                </a:ext>
              </a:extLst>
            </p:cNvPr>
            <p:cNvSpPr/>
            <p:nvPr/>
          </p:nvSpPr>
          <p:spPr>
            <a:xfrm>
              <a:off x="4760041" y="2210715"/>
              <a:ext cx="4132288" cy="476543"/>
            </a:xfrm>
            <a:prstGeom prst="rect">
              <a:avLst/>
            </a:prstGeom>
            <a:no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grpSp>
      <p:grpSp>
        <p:nvGrpSpPr>
          <p:cNvPr id="360" name="Group 359">
            <a:extLst>
              <a:ext uri="{FF2B5EF4-FFF2-40B4-BE49-F238E27FC236}">
                <a16:creationId xmlns:a16="http://schemas.microsoft.com/office/drawing/2014/main" id="{5F2ACE7B-1BF2-BB24-E2A6-2A52788A33DB}"/>
              </a:ext>
            </a:extLst>
          </p:cNvPr>
          <p:cNvGrpSpPr/>
          <p:nvPr/>
        </p:nvGrpSpPr>
        <p:grpSpPr>
          <a:xfrm>
            <a:off x="4753454" y="2640545"/>
            <a:ext cx="4132288" cy="1015663"/>
            <a:chOff x="4741174" y="2695041"/>
            <a:chExt cx="4132288" cy="1015663"/>
          </a:xfrm>
        </p:grpSpPr>
        <p:sp>
          <p:nvSpPr>
            <p:cNvPr id="361" name="Rectangle 360">
              <a:extLst>
                <a:ext uri="{FF2B5EF4-FFF2-40B4-BE49-F238E27FC236}">
                  <a16:creationId xmlns:a16="http://schemas.microsoft.com/office/drawing/2014/main" id="{7F338DE7-5FEB-8819-9983-70462250A2FA}"/>
                </a:ext>
              </a:extLst>
            </p:cNvPr>
            <p:cNvSpPr/>
            <p:nvPr/>
          </p:nvSpPr>
          <p:spPr>
            <a:xfrm>
              <a:off x="4784042" y="2695041"/>
              <a:ext cx="1141963" cy="101566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000" b="1" dirty="0">
                  <a:solidFill>
                    <a:srgbClr val="00A3E0"/>
                  </a:solidFill>
                  <a:latin typeface="Open Sans" panose="020B0606030504020204" pitchFamily="34" charset="0"/>
                  <a:ea typeface="Open Sans" panose="020B0606030504020204" pitchFamily="34" charset="0"/>
                  <a:cs typeface="Open Sans" panose="020B0606030504020204" pitchFamily="34" charset="0"/>
                </a:rPr>
                <a:t>10</a:t>
              </a:r>
              <a:r>
                <a:rPr kumimoji="0" lang="en-US" sz="3000" b="1" i="0" u="none" strike="noStrike" kern="1200" cap="none" spc="0" normalizeH="0" baseline="0" noProof="0" dirty="0">
                  <a:ln>
                    <a:noFill/>
                  </a:ln>
                  <a:solidFill>
                    <a:srgbClr val="00A3E0"/>
                  </a:solidFill>
                  <a:effectLst/>
                  <a:uLnTx/>
                  <a:uFillTx/>
                  <a:latin typeface="Open Sans" panose="020B0606030504020204" pitchFamily="34" charset="0"/>
                  <a:ea typeface="Open Sans" panose="020B0606030504020204" pitchFamily="34" charset="0"/>
                  <a:cs typeface="Open Sans" panose="020B0606030504020204" pitchFamily="34" charset="0"/>
                </a:rPr>
                <a:t>M+</a:t>
              </a:r>
            </a:p>
          </p:txBody>
        </p:sp>
        <p:sp>
          <p:nvSpPr>
            <p:cNvPr id="362" name="Rectangle 361">
              <a:extLst>
                <a:ext uri="{FF2B5EF4-FFF2-40B4-BE49-F238E27FC236}">
                  <a16:creationId xmlns:a16="http://schemas.microsoft.com/office/drawing/2014/main" id="{E57C62E6-D624-7329-BFBA-2A3800D52010}"/>
                </a:ext>
              </a:extLst>
            </p:cNvPr>
            <p:cNvSpPr/>
            <p:nvPr/>
          </p:nvSpPr>
          <p:spPr>
            <a:xfrm>
              <a:off x="4741174" y="2740992"/>
              <a:ext cx="4132288" cy="475488"/>
            </a:xfrm>
            <a:prstGeom prst="rect">
              <a:avLst/>
            </a:prstGeom>
            <a:noFill/>
            <a:ln>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grpSp>
      <p:cxnSp>
        <p:nvCxnSpPr>
          <p:cNvPr id="363" name="Straight Connector 362">
            <a:extLst>
              <a:ext uri="{FF2B5EF4-FFF2-40B4-BE49-F238E27FC236}">
                <a16:creationId xmlns:a16="http://schemas.microsoft.com/office/drawing/2014/main" id="{32679B8D-5165-4F58-28DB-5FC8338618F9}"/>
              </a:ext>
            </a:extLst>
          </p:cNvPr>
          <p:cNvCxnSpPr>
            <a:cxnSpLocks/>
          </p:cNvCxnSpPr>
          <p:nvPr/>
        </p:nvCxnSpPr>
        <p:spPr>
          <a:xfrm>
            <a:off x="9049458" y="1252669"/>
            <a:ext cx="0" cy="2000758"/>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364" name="TextBox 363">
            <a:extLst>
              <a:ext uri="{FF2B5EF4-FFF2-40B4-BE49-F238E27FC236}">
                <a16:creationId xmlns:a16="http://schemas.microsoft.com/office/drawing/2014/main" id="{5F812375-086A-847F-70F6-0193879254C2}"/>
              </a:ext>
            </a:extLst>
          </p:cNvPr>
          <p:cNvSpPr txBox="1">
            <a:spLocks noChangeAspect="1"/>
          </p:cNvSpPr>
          <p:nvPr/>
        </p:nvSpPr>
        <p:spPr>
          <a:xfrm>
            <a:off x="9131315" y="1150307"/>
            <a:ext cx="226184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7618C"/>
                </a:solidFill>
                <a:effectLst/>
                <a:uLnTx/>
                <a:uFillTx/>
                <a:latin typeface="Open Sans" panose="020B0606030504020204" pitchFamily="34" charset="0"/>
                <a:ea typeface="Open Sans" panose="020B0606030504020204" pitchFamily="34" charset="0"/>
                <a:cs typeface="Open Sans" panose="020B0606030504020204" pitchFamily="34" charset="0"/>
              </a:rPr>
              <a:t>Our Partnership</a:t>
            </a:r>
          </a:p>
        </p:txBody>
      </p:sp>
      <p:sp>
        <p:nvSpPr>
          <p:cNvPr id="365" name="TextBox 364">
            <a:extLst>
              <a:ext uri="{FF2B5EF4-FFF2-40B4-BE49-F238E27FC236}">
                <a16:creationId xmlns:a16="http://schemas.microsoft.com/office/drawing/2014/main" id="{88D5D31E-A5FA-43D0-6465-59F289720F8D}"/>
              </a:ext>
            </a:extLst>
          </p:cNvPr>
          <p:cNvSpPr txBox="1"/>
          <p:nvPr/>
        </p:nvSpPr>
        <p:spPr>
          <a:xfrm>
            <a:off x="10357622" y="1659077"/>
            <a:ext cx="1438345" cy="1389611"/>
          </a:xfrm>
          <a:prstGeom prst="rect">
            <a:avLst/>
          </a:prstGeom>
          <a:noFill/>
        </p:spPr>
        <p:txBody>
          <a:bodyPr wrap="square" lIns="91440" tIns="45720" rIns="91440" bIns="45720" anchor="b">
            <a:spAutoFit/>
          </a:bodyPr>
          <a:lstStyle/>
          <a:p>
            <a:pPr lvl="0" defTabSz="914377">
              <a:lnSpc>
                <a:spcPct val="106000"/>
              </a:lnSpc>
              <a:defRPr/>
            </a:pPr>
            <a:r>
              <a:rPr lang="en-US" sz="1000" dirty="0">
                <a:solidFill>
                  <a:prstClr val="black"/>
                </a:solidFill>
                <a:latin typeface="Open Sans" panose="020B0606030504020204" pitchFamily="34" charset="0"/>
                <a:ea typeface="Open Sans" panose="020B0606030504020204" pitchFamily="34" charset="0"/>
                <a:cs typeface="Open Sans" panose="020B0606030504020204" pitchFamily="34" charset="0"/>
                <a:sym typeface="Arial"/>
              </a:rPr>
              <a:t>FDE Practice named Snowflake’s</a:t>
            </a:r>
            <a:r>
              <a:rPr lang="en-US" sz="1000" b="1" dirty="0">
                <a:solidFill>
                  <a:prstClr val="black"/>
                </a:solidFill>
                <a:latin typeface="Open Sans" panose="020B0606030504020204" pitchFamily="34" charset="0"/>
                <a:ea typeface="Open Sans" panose="020B0606030504020204" pitchFamily="34" charset="0"/>
                <a:cs typeface="Open Sans" panose="020B0606030504020204" pitchFamily="34" charset="0"/>
                <a:sym typeface="Arial"/>
              </a:rPr>
              <a:t> Global Services Integrator Partner of the Year </a:t>
            </a:r>
            <a:r>
              <a:rPr lang="en-US" sz="1000" dirty="0">
                <a:solidFill>
                  <a:prstClr val="black"/>
                </a:solidFill>
                <a:latin typeface="Open Sans" panose="020B0606030504020204" pitchFamily="34" charset="0"/>
                <a:ea typeface="Open Sans" panose="020B0606030504020204" pitchFamily="34" charset="0"/>
                <a:cs typeface="Open Sans" panose="020B0606030504020204" pitchFamily="34" charset="0"/>
                <a:sym typeface="Arial"/>
              </a:rPr>
              <a:t>in 2021, 2022, and 2023</a:t>
            </a:r>
            <a:r>
              <a:rPr lang="en-US" sz="1000" b="1" dirty="0">
                <a:solidFill>
                  <a:prstClr val="black"/>
                </a:solidFill>
                <a:latin typeface="Open Sans" panose="020B0606030504020204" pitchFamily="34" charset="0"/>
                <a:ea typeface="Open Sans" panose="020B0606030504020204" pitchFamily="34" charset="0"/>
                <a:cs typeface="Open Sans" panose="020B0606030504020204" pitchFamily="34" charset="0"/>
                <a:sym typeface="Arial"/>
              </a:rPr>
              <a:t> </a:t>
            </a:r>
            <a:r>
              <a:rPr lang="en-US" sz="1000" dirty="0">
                <a:solidFill>
                  <a:prstClr val="black"/>
                </a:solidFill>
                <a:latin typeface="Open Sans" panose="020B0606030504020204" pitchFamily="34" charset="0"/>
                <a:ea typeface="Open Sans" panose="020B0606030504020204" pitchFamily="34" charset="0"/>
                <a:cs typeface="Open Sans" panose="020B0606030504020204" pitchFamily="34" charset="0"/>
                <a:sym typeface="Arial"/>
              </a:rPr>
              <a:t>and</a:t>
            </a:r>
            <a:r>
              <a:rPr lang="en-US" sz="1000" b="1" dirty="0">
                <a:solidFill>
                  <a:prstClr val="black"/>
                </a:solidFill>
                <a:latin typeface="Open Sans" panose="020B0606030504020204" pitchFamily="34" charset="0"/>
                <a:ea typeface="Open Sans" panose="020B0606030504020204" pitchFamily="34" charset="0"/>
                <a:cs typeface="Open Sans" panose="020B0606030504020204" pitchFamily="34" charset="0"/>
                <a:sym typeface="Arial"/>
              </a:rPr>
              <a:t> Public Sector Partner of the Year </a:t>
            </a:r>
            <a:r>
              <a:rPr lang="en-US" sz="1000" dirty="0">
                <a:solidFill>
                  <a:prstClr val="black"/>
                </a:solidFill>
                <a:latin typeface="Open Sans" panose="020B0606030504020204" pitchFamily="34" charset="0"/>
                <a:ea typeface="Open Sans" panose="020B0606030504020204" pitchFamily="34" charset="0"/>
                <a:cs typeface="Open Sans" panose="020B0606030504020204" pitchFamily="34" charset="0"/>
                <a:sym typeface="Arial"/>
              </a:rPr>
              <a:t>in 2026</a:t>
            </a:r>
            <a:endParaRPr lang="en-US" sz="1000" b="1" i="1" dirty="0">
              <a:solidFill>
                <a:prstClr val="black"/>
              </a:solidFill>
              <a:latin typeface="Open Sans" panose="020B0606030504020204" pitchFamily="34" charset="0"/>
              <a:ea typeface="Open Sans" panose="020B0606030504020204" pitchFamily="34" charset="0"/>
              <a:cs typeface="Open Sans" panose="020B0606030504020204" pitchFamily="34" charset="0"/>
              <a:sym typeface="Arial"/>
            </a:endParaRPr>
          </a:p>
        </p:txBody>
      </p:sp>
      <p:pic>
        <p:nvPicPr>
          <p:cNvPr id="366" name="Graphic 365" descr="Trophy outline">
            <a:extLst>
              <a:ext uri="{FF2B5EF4-FFF2-40B4-BE49-F238E27FC236}">
                <a16:creationId xmlns:a16="http://schemas.microsoft.com/office/drawing/2014/main" id="{07406239-2236-5EFB-4987-0A84EE3097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13175" y="1800184"/>
            <a:ext cx="1105442" cy="1105442"/>
          </a:xfrm>
          <a:prstGeom prst="rect">
            <a:avLst/>
          </a:prstGeom>
        </p:spPr>
      </p:pic>
      <p:sp>
        <p:nvSpPr>
          <p:cNvPr id="367" name="TextBox 366">
            <a:extLst>
              <a:ext uri="{FF2B5EF4-FFF2-40B4-BE49-F238E27FC236}">
                <a16:creationId xmlns:a16="http://schemas.microsoft.com/office/drawing/2014/main" id="{4AA63486-7B7F-E995-5D83-4F450BA17940}"/>
              </a:ext>
            </a:extLst>
          </p:cNvPr>
          <p:cNvSpPr txBox="1">
            <a:spLocks noChangeAspect="1"/>
          </p:cNvSpPr>
          <p:nvPr/>
        </p:nvSpPr>
        <p:spPr>
          <a:xfrm>
            <a:off x="492369" y="3397015"/>
            <a:ext cx="334573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7618C"/>
                </a:solidFill>
                <a:effectLst/>
                <a:uLnTx/>
                <a:uFillTx/>
                <a:latin typeface="Open Sans" panose="020B0606030504020204" pitchFamily="34" charset="0"/>
                <a:ea typeface="Open Sans" panose="020B0606030504020204" pitchFamily="34" charset="0"/>
                <a:cs typeface="Open Sans" panose="020B0606030504020204" pitchFamily="34" charset="0"/>
              </a:rPr>
              <a:t>Our Approach </a:t>
            </a:r>
          </a:p>
        </p:txBody>
      </p:sp>
      <p:cxnSp>
        <p:nvCxnSpPr>
          <p:cNvPr id="368" name="Straight Connector 367">
            <a:extLst>
              <a:ext uri="{FF2B5EF4-FFF2-40B4-BE49-F238E27FC236}">
                <a16:creationId xmlns:a16="http://schemas.microsoft.com/office/drawing/2014/main" id="{163B7875-04AE-F147-A028-1FDF85C6B260}"/>
              </a:ext>
            </a:extLst>
          </p:cNvPr>
          <p:cNvCxnSpPr>
            <a:cxnSpLocks/>
          </p:cNvCxnSpPr>
          <p:nvPr/>
        </p:nvCxnSpPr>
        <p:spPr>
          <a:xfrm>
            <a:off x="4009614" y="3471635"/>
            <a:ext cx="0" cy="3167698"/>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B0BF6A3C-51B8-FA31-4441-39F3DAD6092B}"/>
              </a:ext>
            </a:extLst>
          </p:cNvPr>
          <p:cNvCxnSpPr/>
          <p:nvPr/>
        </p:nvCxnSpPr>
        <p:spPr>
          <a:xfrm>
            <a:off x="10298837" y="1800184"/>
            <a:ext cx="0" cy="1105442"/>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FDFC2316-D29E-3616-1D07-89ED88116A6D}"/>
              </a:ext>
            </a:extLst>
          </p:cNvPr>
          <p:cNvCxnSpPr>
            <a:cxnSpLocks/>
          </p:cNvCxnSpPr>
          <p:nvPr/>
        </p:nvCxnSpPr>
        <p:spPr>
          <a:xfrm>
            <a:off x="7160102" y="3471635"/>
            <a:ext cx="0" cy="3167698"/>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386" name="object 24">
            <a:extLst>
              <a:ext uri="{FF2B5EF4-FFF2-40B4-BE49-F238E27FC236}">
                <a16:creationId xmlns:a16="http://schemas.microsoft.com/office/drawing/2014/main" id="{4B9FB5B5-1865-EED7-BC33-4E5052C87379}"/>
              </a:ext>
            </a:extLst>
          </p:cNvPr>
          <p:cNvSpPr txBox="1"/>
          <p:nvPr/>
        </p:nvSpPr>
        <p:spPr>
          <a:xfrm>
            <a:off x="7263708" y="3736481"/>
            <a:ext cx="4667878" cy="1218667"/>
          </a:xfrm>
          <a:prstGeom prst="rect">
            <a:avLst/>
          </a:prstGeom>
          <a:solidFill>
            <a:srgbClr val="FFFFFF"/>
          </a:solidFill>
          <a:ln w="12700">
            <a:solidFill>
              <a:srgbClr val="17618C"/>
            </a:solidFill>
            <a:prstDash val="dash"/>
          </a:ln>
        </p:spPr>
        <p:txBody>
          <a:bodyPr vert="horz" wrap="square" lIns="91440" tIns="365760" rIns="91440" bIns="182880" rtlCol="0" anchor="ctr" anchorCtr="0">
            <a:noAutofit/>
          </a:bodyPr>
          <a:lstStyle/>
          <a:p>
            <a:pPr marL="0" marR="0" lvl="0" indent="0" algn="just" defTabSz="914400" rtl="0" eaLnBrk="1" fontAlgn="auto" latinLnBrk="0" hangingPunct="1">
              <a:lnSpc>
                <a:spcPct val="100000"/>
              </a:lnSpc>
              <a:spcBef>
                <a:spcPts val="600"/>
              </a:spcBef>
              <a:buClrTx/>
              <a:buSzTx/>
              <a:buFontTx/>
              <a:buNone/>
              <a:tabLst/>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My Rate Finder</a:t>
            </a:r>
            <a:r>
              <a:rPr lang="en-US" sz="1050" b="1" dirty="0">
                <a:solidFill>
                  <a:prstClr val="black"/>
                </a:solidFill>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1200" cap="none" spc="-10" normalizeH="0" baseline="0" noProof="0" dirty="0">
                <a:ln>
                  <a:noFill/>
                </a:ln>
                <a:solidFill>
                  <a:prstClr val="black"/>
                </a:solidFill>
                <a:effectLst/>
                <a:uLnTx/>
                <a:uFillTx/>
                <a:latin typeface="Open Sans Light"/>
                <a:ea typeface="+mn-ea"/>
                <a:cs typeface="Calibri"/>
              </a:rPr>
              <a:t>aggregating publicly available data from machine-readable files and enabling benchmarking analyses via interactive dashboards.</a:t>
            </a:r>
          </a:p>
          <a:p>
            <a:pPr algn="just">
              <a:spcBef>
                <a:spcPts val="600"/>
              </a:spcBef>
              <a:defRPr/>
            </a:pPr>
            <a:r>
              <a:rPr kumimoji="0" lang="en-US" sz="1050" b="1" i="0" u="none" strike="noStrike" kern="1200" cap="none" spc="0" normalizeH="0" baseline="0" noProof="0" dirty="0" err="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ConvergeConsumer</a:t>
            </a:r>
            <a:r>
              <a:rPr lang="en-US" sz="1050" b="1" dirty="0">
                <a:solidFill>
                  <a:prstClr val="black"/>
                </a:solidFill>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1200" cap="none" spc="-10" normalizeH="0" baseline="0" noProof="0" dirty="0">
                <a:ln>
                  <a:noFill/>
                </a:ln>
                <a:solidFill>
                  <a:prstClr val="black"/>
                </a:solidFill>
                <a:effectLst/>
                <a:uLnTx/>
                <a:uFillTx/>
                <a:latin typeface="Open Sans Light"/>
                <a:ea typeface="+mn-ea"/>
                <a:cs typeface="Calibri"/>
              </a:rPr>
              <a:t>helps businesses make data-driven decisions with a suite of curated data sets, industry software solutions, &amp; behavior insights tools.</a:t>
            </a:r>
          </a:p>
          <a:p>
            <a:pPr algn="just">
              <a:spcBef>
                <a:spcPts val="600"/>
              </a:spcBef>
              <a:defRPr/>
            </a:pPr>
            <a:r>
              <a:rPr kumimoji="0" lang="en-US" sz="105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Banking Data-as-a-Service</a:t>
            </a:r>
            <a:r>
              <a:rPr lang="en-US" sz="1050" b="1" dirty="0">
                <a:solidFill>
                  <a:prstClr val="black"/>
                </a:solidFill>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1200" cap="none" spc="-10" normalizeH="0" baseline="0" noProof="0" dirty="0">
                <a:ln>
                  <a:noFill/>
                </a:ln>
                <a:solidFill>
                  <a:prstClr val="black"/>
                </a:solidFill>
                <a:effectLst/>
                <a:uLnTx/>
                <a:uFillTx/>
                <a:latin typeface="Open Sans Light"/>
                <a:ea typeface="+mn-ea"/>
                <a:cs typeface="Calibri"/>
              </a:rPr>
              <a:t>reconfiguring the banking value chain, opening the door to disintermediation and enabling new sources of growth</a:t>
            </a:r>
          </a:p>
          <a:p>
            <a:pPr marL="0" marR="0" lvl="0" indent="0" algn="just" defTabSz="914400" rtl="0" eaLnBrk="1" fontAlgn="auto" latinLnBrk="0" hangingPunct="1">
              <a:lnSpc>
                <a:spcPct val="100000"/>
              </a:lnSpc>
              <a:spcBef>
                <a:spcPts val="600"/>
              </a:spcBef>
              <a:buClrTx/>
              <a:buSzTx/>
              <a:buFontTx/>
              <a:buNone/>
              <a:tabLst/>
              <a:defRPr/>
            </a:pPr>
            <a:endParaRPr kumimoji="0" sz="1000" b="0" i="0" u="none" strike="noStrike" kern="1200" cap="none" spc="0" normalizeH="0" baseline="0" noProof="0" dirty="0">
              <a:ln>
                <a:noFill/>
              </a:ln>
              <a:solidFill>
                <a:prstClr val="black"/>
              </a:solidFill>
              <a:effectLst/>
              <a:uLnTx/>
              <a:uFillTx/>
              <a:latin typeface="Open Sans Light"/>
              <a:ea typeface="+mn-ea"/>
              <a:cs typeface="Calibri"/>
            </a:endParaRPr>
          </a:p>
        </p:txBody>
      </p:sp>
      <p:sp>
        <p:nvSpPr>
          <p:cNvPr id="389" name="TextBox 388">
            <a:extLst>
              <a:ext uri="{FF2B5EF4-FFF2-40B4-BE49-F238E27FC236}">
                <a16:creationId xmlns:a16="http://schemas.microsoft.com/office/drawing/2014/main" id="{2A2CA677-C9A3-1606-A957-CC51B67FE883}"/>
              </a:ext>
            </a:extLst>
          </p:cNvPr>
          <p:cNvSpPr txBox="1">
            <a:spLocks noChangeAspect="1"/>
          </p:cNvSpPr>
          <p:nvPr/>
        </p:nvSpPr>
        <p:spPr>
          <a:xfrm>
            <a:off x="7284800" y="3397015"/>
            <a:ext cx="3345732"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7618C"/>
                </a:solidFill>
                <a:effectLst/>
                <a:uLnTx/>
                <a:uFillTx/>
                <a:latin typeface="Open Sans" panose="020B0606030504020204" pitchFamily="34" charset="0"/>
                <a:ea typeface="Open Sans" panose="020B0606030504020204" pitchFamily="34" charset="0"/>
                <a:cs typeface="Open Sans" panose="020B0606030504020204" pitchFamily="34" charset="0"/>
              </a:rPr>
              <a:t>Snowflake at FDE Practice</a:t>
            </a:r>
          </a:p>
        </p:txBody>
      </p:sp>
      <p:sp>
        <p:nvSpPr>
          <p:cNvPr id="391" name="object 25">
            <a:extLst>
              <a:ext uri="{FF2B5EF4-FFF2-40B4-BE49-F238E27FC236}">
                <a16:creationId xmlns:a16="http://schemas.microsoft.com/office/drawing/2014/main" id="{7E618E9F-656D-3F80-832C-B574D11DC120}"/>
              </a:ext>
            </a:extLst>
          </p:cNvPr>
          <p:cNvSpPr txBox="1"/>
          <p:nvPr/>
        </p:nvSpPr>
        <p:spPr>
          <a:xfrm>
            <a:off x="799442" y="5841002"/>
            <a:ext cx="3038656" cy="525214"/>
          </a:xfrm>
          <a:prstGeom prst="rect">
            <a:avLst/>
          </a:prstGeom>
          <a:solidFill>
            <a:srgbClr val="FFFFFF"/>
          </a:solidFill>
          <a:ln w="12700">
            <a:solidFill>
              <a:srgbClr val="17618C"/>
            </a:solidFill>
            <a:prstDash val="dash"/>
          </a:ln>
        </p:spPr>
        <p:txBody>
          <a:bodyPr vert="horz" wrap="square" lIns="91440" tIns="91440" rIns="91440" bIns="91440" rtlCol="0" anchor="ctr" anchorCtr="0">
            <a:noAutofit/>
          </a:bodyPr>
          <a:lstStyle/>
          <a:p>
            <a:pPr marL="0" marR="0" lvl="0" indent="0" algn="ctr" defTabSz="914400" rtl="0" eaLnBrk="1" fontAlgn="auto" latinLnBrk="0" hangingPunct="1">
              <a:lnSpc>
                <a:spcPct val="100000"/>
              </a:lnSpc>
              <a:spcBef>
                <a:spcPts val="150"/>
              </a:spcBef>
              <a:spcAft>
                <a:spcPts val="0"/>
              </a:spcAft>
              <a:buClrTx/>
              <a:buSzTx/>
              <a:buFontTx/>
              <a:buNone/>
              <a:tabLst/>
              <a:defRPr/>
            </a:pPr>
            <a:r>
              <a:rPr kumimoji="0" lang="en-US" sz="1050" b="1" i="0" u="none" strike="noStrike" kern="1200" cap="none" spc="0" normalizeH="0" baseline="0" noProof="0" dirty="0">
                <a:ln>
                  <a:noFill/>
                </a:ln>
                <a:solidFill>
                  <a:srgbClr val="00A3E0"/>
                </a:solidFill>
                <a:effectLst/>
                <a:uLnTx/>
                <a:uFillTx/>
                <a:latin typeface="Open Sans" panose="020B0606030504020204" pitchFamily="34" charset="0"/>
                <a:ea typeface="Open Sans" panose="020B0606030504020204" pitchFamily="34" charset="0"/>
                <a:cs typeface="Open Sans" panose="020B0606030504020204" pitchFamily="34" charset="0"/>
              </a:rPr>
              <a:t>Proven end-to-end migration at the desired scale and speed</a:t>
            </a:r>
            <a:endParaRPr kumimoji="0" sz="1000" b="0" i="0" u="none" strike="noStrike" kern="1200" cap="none" spc="0" normalizeH="0" baseline="0" noProof="0" dirty="0">
              <a:ln>
                <a:noFill/>
              </a:ln>
              <a:solidFill>
                <a:srgbClr val="00A3E0"/>
              </a:solidFill>
              <a:effectLst/>
              <a:uLnTx/>
              <a:uFillTx/>
              <a:latin typeface="Open Sans Light"/>
              <a:ea typeface="+mn-ea"/>
              <a:cs typeface="Calibri"/>
            </a:endParaRPr>
          </a:p>
        </p:txBody>
      </p:sp>
      <p:grpSp>
        <p:nvGrpSpPr>
          <p:cNvPr id="410" name="Group 409">
            <a:extLst>
              <a:ext uri="{FF2B5EF4-FFF2-40B4-BE49-F238E27FC236}">
                <a16:creationId xmlns:a16="http://schemas.microsoft.com/office/drawing/2014/main" id="{0E122EC5-D0BD-D024-3FFA-6D2D5E1DAF6F}"/>
              </a:ext>
            </a:extLst>
          </p:cNvPr>
          <p:cNvGrpSpPr/>
          <p:nvPr/>
        </p:nvGrpSpPr>
        <p:grpSpPr>
          <a:xfrm>
            <a:off x="736376" y="3862083"/>
            <a:ext cx="3408796" cy="590931"/>
            <a:chOff x="615706" y="3845290"/>
            <a:chExt cx="4236765" cy="590931"/>
          </a:xfrm>
        </p:grpSpPr>
        <p:sp>
          <p:nvSpPr>
            <p:cNvPr id="411" name="TextBox 410">
              <a:extLst>
                <a:ext uri="{FF2B5EF4-FFF2-40B4-BE49-F238E27FC236}">
                  <a16:creationId xmlns:a16="http://schemas.microsoft.com/office/drawing/2014/main" id="{D52B5253-AA60-97CF-4D2A-50D2676C5267}"/>
                </a:ext>
              </a:extLst>
            </p:cNvPr>
            <p:cNvSpPr txBox="1"/>
            <p:nvPr/>
          </p:nvSpPr>
          <p:spPr>
            <a:xfrm>
              <a:off x="952586" y="3845290"/>
              <a:ext cx="3899885" cy="590931"/>
            </a:xfrm>
            <a:prstGeom prst="rect">
              <a:avLst/>
            </a:prstGeom>
            <a:noFill/>
          </p:spPr>
          <p:txBody>
            <a:bodyPr wrap="square">
              <a:spAutoFit/>
            </a:bodyPr>
            <a:lstStyle/>
            <a:p>
              <a:pPr marL="0" marR="0" lvl="0" indent="0" algn="l" defTabSz="121917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01F1F"/>
                  </a:solidFill>
                  <a:effectLst/>
                  <a:uLnTx/>
                  <a:uFillTx/>
                  <a:latin typeface="Open Sans" panose="020B0606030504020204" pitchFamily="34" charset="0"/>
                  <a:ea typeface="Open Sans" panose="020B0606030504020204" pitchFamily="34" charset="0"/>
                  <a:cs typeface="Open Sans" panose="020B0606030504020204" pitchFamily="34" charset="0"/>
                </a:rPr>
                <a:t>Migration Factory 2.0: </a:t>
              </a:r>
              <a:r>
                <a:rPr kumimoji="0" lang="en-US" sz="10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Proven automation, at every phase, that reduces migration costs while minimizing risks and disruption to the operations. </a:t>
              </a:r>
            </a:p>
          </p:txBody>
        </p:sp>
        <p:grpSp>
          <p:nvGrpSpPr>
            <p:cNvPr id="412" name="Group 411">
              <a:extLst>
                <a:ext uri="{FF2B5EF4-FFF2-40B4-BE49-F238E27FC236}">
                  <a16:creationId xmlns:a16="http://schemas.microsoft.com/office/drawing/2014/main" id="{693507D5-77C3-7149-5469-EC8566674FD0}"/>
                </a:ext>
              </a:extLst>
            </p:cNvPr>
            <p:cNvGrpSpPr/>
            <p:nvPr/>
          </p:nvGrpSpPr>
          <p:grpSpPr>
            <a:xfrm>
              <a:off x="615706" y="3856065"/>
              <a:ext cx="363820" cy="400114"/>
              <a:chOff x="1287647" y="5688209"/>
              <a:chExt cx="363820" cy="492448"/>
            </a:xfrm>
          </p:grpSpPr>
          <p:sp>
            <p:nvSpPr>
              <p:cNvPr id="413" name="Arrow: Chevron 412">
                <a:extLst>
                  <a:ext uri="{FF2B5EF4-FFF2-40B4-BE49-F238E27FC236}">
                    <a16:creationId xmlns:a16="http://schemas.microsoft.com/office/drawing/2014/main" id="{0C9A5618-CC41-B916-3504-4CE5EB296180}"/>
                  </a:ext>
                </a:extLst>
              </p:cNvPr>
              <p:cNvSpPr/>
              <p:nvPr/>
            </p:nvSpPr>
            <p:spPr bwMode="gray">
              <a:xfrm>
                <a:off x="1287647" y="5688213"/>
                <a:ext cx="286169" cy="492444"/>
              </a:xfrm>
              <a:prstGeom prst="chevron">
                <a:avLst>
                  <a:gd name="adj" fmla="val 47598"/>
                </a:avLst>
              </a:prstGeom>
              <a:solidFill>
                <a:srgbClr val="17618C"/>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sp>
            <p:nvSpPr>
              <p:cNvPr id="414" name="Arrow: Chevron 413">
                <a:extLst>
                  <a:ext uri="{FF2B5EF4-FFF2-40B4-BE49-F238E27FC236}">
                    <a16:creationId xmlns:a16="http://schemas.microsoft.com/office/drawing/2014/main" id="{3CE19C62-5CAA-EC1B-58F0-CB3981F49FB3}"/>
                  </a:ext>
                </a:extLst>
              </p:cNvPr>
              <p:cNvSpPr/>
              <p:nvPr/>
            </p:nvSpPr>
            <p:spPr bwMode="gray">
              <a:xfrm>
                <a:off x="1483047" y="5688209"/>
                <a:ext cx="168420" cy="492443"/>
              </a:xfrm>
              <a:prstGeom prst="chevron">
                <a:avLst>
                  <a:gd name="adj" fmla="val 85699"/>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grpSp>
      </p:grpSp>
      <p:grpSp>
        <p:nvGrpSpPr>
          <p:cNvPr id="415" name="Group 414">
            <a:extLst>
              <a:ext uri="{FF2B5EF4-FFF2-40B4-BE49-F238E27FC236}">
                <a16:creationId xmlns:a16="http://schemas.microsoft.com/office/drawing/2014/main" id="{21CDF3F4-8522-C5E0-120A-B9F946DBB2EE}"/>
              </a:ext>
            </a:extLst>
          </p:cNvPr>
          <p:cNvGrpSpPr/>
          <p:nvPr/>
        </p:nvGrpSpPr>
        <p:grpSpPr>
          <a:xfrm>
            <a:off x="707285" y="4518132"/>
            <a:ext cx="3354647" cy="590931"/>
            <a:chOff x="583677" y="4484050"/>
            <a:chExt cx="4169464" cy="590931"/>
          </a:xfrm>
        </p:grpSpPr>
        <p:sp>
          <p:nvSpPr>
            <p:cNvPr id="416" name="TextBox 415">
              <a:extLst>
                <a:ext uri="{FF2B5EF4-FFF2-40B4-BE49-F238E27FC236}">
                  <a16:creationId xmlns:a16="http://schemas.microsoft.com/office/drawing/2014/main" id="{33DC5A02-F00B-E17C-50B6-7D3DDDAB4822}"/>
                </a:ext>
              </a:extLst>
            </p:cNvPr>
            <p:cNvSpPr txBox="1"/>
            <p:nvPr/>
          </p:nvSpPr>
          <p:spPr>
            <a:xfrm>
              <a:off x="920557" y="4484050"/>
              <a:ext cx="3832584" cy="590931"/>
            </a:xfrm>
            <a:prstGeom prst="rect">
              <a:avLst/>
            </a:prstGeom>
            <a:noFill/>
          </p:spPr>
          <p:txBody>
            <a:bodyPr wrap="square">
              <a:spAutoFit/>
            </a:bodyPr>
            <a:lstStyle/>
            <a:p>
              <a:pPr marL="0" marR="0" lvl="0" indent="0" algn="l" defTabSz="121917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01F1F"/>
                  </a:solidFill>
                  <a:effectLst/>
                  <a:uLnTx/>
                  <a:uFillTx/>
                  <a:latin typeface="Open Sans" panose="020B0606030504020204" pitchFamily="34" charset="0"/>
                  <a:ea typeface="Open Sans" panose="020B0606030504020204" pitchFamily="34" charset="0"/>
                  <a:cs typeface="Open Sans" panose="020B0606030504020204" pitchFamily="34" charset="0"/>
                </a:rPr>
                <a:t>POC Factory: </a:t>
              </a:r>
              <a:r>
                <a:rPr kumimoji="0" lang="en-US" sz="10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provide unique deal constructs to find and deploy specific POCs and use cases to drive consumption</a:t>
              </a:r>
            </a:p>
          </p:txBody>
        </p:sp>
        <p:grpSp>
          <p:nvGrpSpPr>
            <p:cNvPr id="417" name="Group 416">
              <a:extLst>
                <a:ext uri="{FF2B5EF4-FFF2-40B4-BE49-F238E27FC236}">
                  <a16:creationId xmlns:a16="http://schemas.microsoft.com/office/drawing/2014/main" id="{1DC983DE-18C9-EDAC-2601-00C0BD9C7699}"/>
                </a:ext>
              </a:extLst>
            </p:cNvPr>
            <p:cNvGrpSpPr/>
            <p:nvPr/>
          </p:nvGrpSpPr>
          <p:grpSpPr>
            <a:xfrm>
              <a:off x="583677" y="4494822"/>
              <a:ext cx="363820" cy="400110"/>
              <a:chOff x="1287647" y="5688215"/>
              <a:chExt cx="363820" cy="492444"/>
            </a:xfrm>
          </p:grpSpPr>
          <p:sp>
            <p:nvSpPr>
              <p:cNvPr id="418" name="Arrow: Chevron 417">
                <a:extLst>
                  <a:ext uri="{FF2B5EF4-FFF2-40B4-BE49-F238E27FC236}">
                    <a16:creationId xmlns:a16="http://schemas.microsoft.com/office/drawing/2014/main" id="{D585144D-E5AB-DA66-6CFE-5C5E6EFCE760}"/>
                  </a:ext>
                </a:extLst>
              </p:cNvPr>
              <p:cNvSpPr/>
              <p:nvPr/>
            </p:nvSpPr>
            <p:spPr bwMode="gray">
              <a:xfrm>
                <a:off x="1287647" y="5688215"/>
                <a:ext cx="286169" cy="492444"/>
              </a:xfrm>
              <a:prstGeom prst="chevron">
                <a:avLst>
                  <a:gd name="adj" fmla="val 47598"/>
                </a:avLst>
              </a:prstGeom>
              <a:solidFill>
                <a:srgbClr val="17618C"/>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sp>
            <p:nvSpPr>
              <p:cNvPr id="419" name="Arrow: Chevron 418">
                <a:extLst>
                  <a:ext uri="{FF2B5EF4-FFF2-40B4-BE49-F238E27FC236}">
                    <a16:creationId xmlns:a16="http://schemas.microsoft.com/office/drawing/2014/main" id="{C25BD80D-7BA5-A74E-CAF5-834AB0F32758}"/>
                  </a:ext>
                </a:extLst>
              </p:cNvPr>
              <p:cNvSpPr/>
              <p:nvPr/>
            </p:nvSpPr>
            <p:spPr bwMode="gray">
              <a:xfrm>
                <a:off x="1483047" y="5688215"/>
                <a:ext cx="168420" cy="492444"/>
              </a:xfrm>
              <a:prstGeom prst="chevron">
                <a:avLst>
                  <a:gd name="adj" fmla="val 85699"/>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grpSp>
      </p:grpSp>
      <p:grpSp>
        <p:nvGrpSpPr>
          <p:cNvPr id="420" name="Group 419">
            <a:extLst>
              <a:ext uri="{FF2B5EF4-FFF2-40B4-BE49-F238E27FC236}">
                <a16:creationId xmlns:a16="http://schemas.microsoft.com/office/drawing/2014/main" id="{77862996-72FF-5024-D96F-6E3EB59F1D64}"/>
              </a:ext>
            </a:extLst>
          </p:cNvPr>
          <p:cNvGrpSpPr/>
          <p:nvPr/>
        </p:nvGrpSpPr>
        <p:grpSpPr>
          <a:xfrm>
            <a:off x="707285" y="5174181"/>
            <a:ext cx="3230434" cy="590931"/>
            <a:chOff x="583677" y="5113511"/>
            <a:chExt cx="4015080" cy="590931"/>
          </a:xfrm>
        </p:grpSpPr>
        <p:sp>
          <p:nvSpPr>
            <p:cNvPr id="421" name="TextBox 420">
              <a:extLst>
                <a:ext uri="{FF2B5EF4-FFF2-40B4-BE49-F238E27FC236}">
                  <a16:creationId xmlns:a16="http://schemas.microsoft.com/office/drawing/2014/main" id="{A8D934D9-E08A-53B3-25D0-DA856E46CC8E}"/>
                </a:ext>
              </a:extLst>
            </p:cNvPr>
            <p:cNvSpPr txBox="1"/>
            <p:nvPr/>
          </p:nvSpPr>
          <p:spPr>
            <a:xfrm>
              <a:off x="920558" y="5113511"/>
              <a:ext cx="3678199" cy="590931"/>
            </a:xfrm>
            <a:prstGeom prst="rect">
              <a:avLst/>
            </a:prstGeom>
            <a:noFill/>
          </p:spPr>
          <p:txBody>
            <a:bodyPr wrap="square">
              <a:spAutoFit/>
            </a:bodyPr>
            <a:lstStyle/>
            <a:p>
              <a:pPr marL="0" marR="0" lvl="0" indent="0" algn="l" defTabSz="121917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rgbClr val="201F1F"/>
                  </a:solidFill>
                  <a:effectLst/>
                  <a:uLnTx/>
                  <a:uFillTx/>
                  <a:latin typeface="Open Sans" panose="020B0606030504020204" pitchFamily="34" charset="0"/>
                  <a:ea typeface="Open Sans" panose="020B0606030504020204" pitchFamily="34" charset="0"/>
                  <a:cs typeface="Open Sans" panose="020B0606030504020204" pitchFamily="34" charset="0"/>
                </a:rPr>
                <a:t>GenAI</a:t>
              </a:r>
              <a:r>
                <a:rPr kumimoji="0" lang="en-US" sz="1000" b="1" i="0" u="none" strike="noStrike" kern="1200" cap="none" spc="0" normalizeH="0" baseline="0" noProof="0" dirty="0">
                  <a:ln>
                    <a:noFill/>
                  </a:ln>
                  <a:solidFill>
                    <a:srgbClr val="201F1F"/>
                  </a:solidFill>
                  <a:effectLst/>
                  <a:uLnTx/>
                  <a:uFillTx/>
                  <a:latin typeface="Open Sans" panose="020B0606030504020204" pitchFamily="34" charset="0"/>
                  <a:ea typeface="Open Sans" panose="020B0606030504020204" pitchFamily="34" charset="0"/>
                  <a:cs typeface="Open Sans" panose="020B0606030504020204" pitchFamily="34" charset="0"/>
                </a:rPr>
                <a:t> Labs: </a:t>
              </a:r>
              <a:r>
                <a:rPr kumimoji="0" lang="en-US" sz="10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immersive program will help businesses conceptualize and demystify Generative AI</a:t>
              </a:r>
            </a:p>
          </p:txBody>
        </p:sp>
        <p:grpSp>
          <p:nvGrpSpPr>
            <p:cNvPr id="422" name="Group 421">
              <a:extLst>
                <a:ext uri="{FF2B5EF4-FFF2-40B4-BE49-F238E27FC236}">
                  <a16:creationId xmlns:a16="http://schemas.microsoft.com/office/drawing/2014/main" id="{533D038E-4106-DDA1-013D-377398B6333B}"/>
                </a:ext>
              </a:extLst>
            </p:cNvPr>
            <p:cNvGrpSpPr/>
            <p:nvPr/>
          </p:nvGrpSpPr>
          <p:grpSpPr>
            <a:xfrm>
              <a:off x="583677" y="5124283"/>
              <a:ext cx="363820" cy="400110"/>
              <a:chOff x="1287647" y="5688215"/>
              <a:chExt cx="363820" cy="492444"/>
            </a:xfrm>
          </p:grpSpPr>
          <p:sp>
            <p:nvSpPr>
              <p:cNvPr id="423" name="Arrow: Chevron 422">
                <a:extLst>
                  <a:ext uri="{FF2B5EF4-FFF2-40B4-BE49-F238E27FC236}">
                    <a16:creationId xmlns:a16="http://schemas.microsoft.com/office/drawing/2014/main" id="{EAA71D7F-60D4-F68A-2450-FDB134B6E9B8}"/>
                  </a:ext>
                </a:extLst>
              </p:cNvPr>
              <p:cNvSpPr/>
              <p:nvPr/>
            </p:nvSpPr>
            <p:spPr bwMode="gray">
              <a:xfrm>
                <a:off x="1287647" y="5688215"/>
                <a:ext cx="286169" cy="492444"/>
              </a:xfrm>
              <a:prstGeom prst="chevron">
                <a:avLst>
                  <a:gd name="adj" fmla="val 47598"/>
                </a:avLst>
              </a:prstGeom>
              <a:solidFill>
                <a:srgbClr val="17618C"/>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sp>
            <p:nvSpPr>
              <p:cNvPr id="424" name="Arrow: Chevron 423">
                <a:extLst>
                  <a:ext uri="{FF2B5EF4-FFF2-40B4-BE49-F238E27FC236}">
                    <a16:creationId xmlns:a16="http://schemas.microsoft.com/office/drawing/2014/main" id="{0349B756-FF20-240D-BA75-B4F3804BA3C9}"/>
                  </a:ext>
                </a:extLst>
              </p:cNvPr>
              <p:cNvSpPr/>
              <p:nvPr/>
            </p:nvSpPr>
            <p:spPr bwMode="gray">
              <a:xfrm>
                <a:off x="1483047" y="5688215"/>
                <a:ext cx="168420" cy="492444"/>
              </a:xfrm>
              <a:prstGeom prst="chevron">
                <a:avLst>
                  <a:gd name="adj" fmla="val 85699"/>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grpSp>
      </p:grpSp>
      <p:sp>
        <p:nvSpPr>
          <p:cNvPr id="4" name="Rectangle: Rounded Corners 3">
            <a:extLst>
              <a:ext uri="{FF2B5EF4-FFF2-40B4-BE49-F238E27FC236}">
                <a16:creationId xmlns:a16="http://schemas.microsoft.com/office/drawing/2014/main" id="{62112966-520A-BBC8-BE5E-05C2EDDC5EE7}"/>
              </a:ext>
            </a:extLst>
          </p:cNvPr>
          <p:cNvSpPr/>
          <p:nvPr/>
        </p:nvSpPr>
        <p:spPr bwMode="gray">
          <a:xfrm>
            <a:off x="7263708" y="5440072"/>
            <a:ext cx="1112432" cy="1134614"/>
          </a:xfrm>
          <a:prstGeom prst="roundRect">
            <a:avLst/>
          </a:prstGeom>
          <a:solidFill>
            <a:srgbClr val="E6F6F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latin typeface="Open Sans" panose="020B0606030504020204" pitchFamily="34" charset="0"/>
                <a:ea typeface="Open Sans" panose="020B0606030504020204" pitchFamily="34" charset="0"/>
                <a:cs typeface="Open Sans" panose="020B0606030504020204" pitchFamily="34" charset="0"/>
              </a:rPr>
              <a:t>Frontend with Chatbot </a:t>
            </a:r>
            <a:r>
              <a:rPr lang="en-US" sz="1000" dirty="0">
                <a:latin typeface="Open Sans" panose="020B0606030504020204" pitchFamily="34" charset="0"/>
                <a:ea typeface="Open Sans" panose="020B0606030504020204" pitchFamily="34" charset="0"/>
                <a:cs typeface="Open Sans" panose="020B0606030504020204" pitchFamily="34" charset="0"/>
              </a:rPr>
              <a:t>integration with </a:t>
            </a:r>
            <a:r>
              <a:rPr lang="en-US" sz="1000" dirty="0" err="1">
                <a:latin typeface="Open Sans" panose="020B0606030504020204" pitchFamily="34" charset="0"/>
                <a:ea typeface="Open Sans" panose="020B0606030504020204" pitchFamily="34" charset="0"/>
                <a:cs typeface="Open Sans" panose="020B0606030504020204" pitchFamily="34" charset="0"/>
              </a:rPr>
              <a:t>Streamlit</a:t>
            </a:r>
            <a:endParaRPr lang="en-US" sz="10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Rounded Corners 5">
            <a:extLst>
              <a:ext uri="{FF2B5EF4-FFF2-40B4-BE49-F238E27FC236}">
                <a16:creationId xmlns:a16="http://schemas.microsoft.com/office/drawing/2014/main" id="{67938A40-0BB6-58B2-A712-8DA2AE0411B1}"/>
              </a:ext>
            </a:extLst>
          </p:cNvPr>
          <p:cNvSpPr/>
          <p:nvPr/>
        </p:nvSpPr>
        <p:spPr bwMode="gray">
          <a:xfrm>
            <a:off x="8424618" y="5440072"/>
            <a:ext cx="1112432" cy="1134614"/>
          </a:xfrm>
          <a:prstGeom prst="roundRect">
            <a:avLst/>
          </a:prstGeom>
          <a:solidFill>
            <a:srgbClr val="E6F6FC"/>
          </a:solidFill>
          <a:ln w="19050" algn="ctr">
            <a:noFill/>
            <a:miter lim="800000"/>
            <a:headEnd/>
            <a:tailEnd/>
          </a:ln>
        </p:spPr>
        <p:txBody>
          <a:bodyPr wrap="square" lIns="88900" tIns="88900" rIns="88900" bIns="88900" rtlCol="0" anchor="ctr"/>
          <a:lstStyle/>
          <a:p>
            <a:pPr algn="ctr">
              <a:lnSpc>
                <a:spcPct val="106000"/>
              </a:lnSpc>
            </a:pPr>
            <a:r>
              <a:rPr lang="en-US" sz="1000" b="1" dirty="0">
                <a:latin typeface="Open Sans" panose="020B0606030504020204" pitchFamily="34" charset="0"/>
                <a:ea typeface="Open Sans" panose="020B0606030504020204" pitchFamily="34" charset="0"/>
                <a:cs typeface="Open Sans" panose="020B0606030504020204" pitchFamily="34" charset="0"/>
              </a:rPr>
              <a:t>LLM Interfacing </a:t>
            </a:r>
            <a:r>
              <a:rPr lang="en-US" sz="1000" dirty="0">
                <a:latin typeface="Open Sans" panose="020B0606030504020204" pitchFamily="34" charset="0"/>
                <a:ea typeface="Open Sans" panose="020B0606030504020204" pitchFamily="34" charset="0"/>
                <a:cs typeface="Open Sans" panose="020B0606030504020204" pitchFamily="34" charset="0"/>
              </a:rPr>
              <a:t>with Snowflake Cortex</a:t>
            </a:r>
          </a:p>
        </p:txBody>
      </p:sp>
      <p:sp>
        <p:nvSpPr>
          <p:cNvPr id="7" name="Rectangle: Rounded Corners 6">
            <a:extLst>
              <a:ext uri="{FF2B5EF4-FFF2-40B4-BE49-F238E27FC236}">
                <a16:creationId xmlns:a16="http://schemas.microsoft.com/office/drawing/2014/main" id="{266A2CEA-E291-A445-FC68-60D37B15EE23}"/>
              </a:ext>
            </a:extLst>
          </p:cNvPr>
          <p:cNvSpPr/>
          <p:nvPr/>
        </p:nvSpPr>
        <p:spPr bwMode="gray">
          <a:xfrm>
            <a:off x="9585528" y="5440072"/>
            <a:ext cx="1185148" cy="1134614"/>
          </a:xfrm>
          <a:prstGeom prst="roundRect">
            <a:avLst/>
          </a:prstGeom>
          <a:solidFill>
            <a:srgbClr val="E6F6FC"/>
          </a:solidFill>
          <a:ln w="19050" algn="ctr">
            <a:noFill/>
            <a:miter lim="800000"/>
            <a:headEnd/>
            <a:tailEnd/>
          </a:ln>
        </p:spPr>
        <p:txBody>
          <a:bodyPr wrap="square" lIns="88900" tIns="88900" rIns="88900" bIns="88900" rtlCol="0" anchor="ctr"/>
          <a:lstStyle/>
          <a:p>
            <a:pPr algn="ctr">
              <a:lnSpc>
                <a:spcPct val="106000"/>
              </a:lnSpc>
            </a:pPr>
            <a:r>
              <a:rPr lang="en-US" sz="1000" b="1" dirty="0">
                <a:latin typeface="Open Sans" panose="020B0606030504020204" pitchFamily="34" charset="0"/>
                <a:ea typeface="Open Sans" panose="020B0606030504020204" pitchFamily="34" charset="0"/>
                <a:cs typeface="Open Sans" panose="020B0606030504020204" pitchFamily="34" charset="0"/>
              </a:rPr>
              <a:t>Containerized Application </a:t>
            </a:r>
            <a:r>
              <a:rPr lang="en-US" sz="1000" dirty="0">
                <a:latin typeface="Open Sans" panose="020B0606030504020204" pitchFamily="34" charset="0"/>
                <a:ea typeface="Open Sans" panose="020B0606030504020204" pitchFamily="34" charset="0"/>
                <a:cs typeface="Open Sans" panose="020B0606030504020204" pitchFamily="34" charset="0"/>
              </a:rPr>
              <a:t>through Snowpark Container Services</a:t>
            </a:r>
          </a:p>
        </p:txBody>
      </p:sp>
      <p:sp>
        <p:nvSpPr>
          <p:cNvPr id="8" name="Rectangle: Rounded Corners 7">
            <a:extLst>
              <a:ext uri="{FF2B5EF4-FFF2-40B4-BE49-F238E27FC236}">
                <a16:creationId xmlns:a16="http://schemas.microsoft.com/office/drawing/2014/main" id="{D955FB84-7116-B4E0-7333-401E835CAAFD}"/>
              </a:ext>
            </a:extLst>
          </p:cNvPr>
          <p:cNvSpPr/>
          <p:nvPr/>
        </p:nvSpPr>
        <p:spPr bwMode="gray">
          <a:xfrm>
            <a:off x="10819154" y="5440072"/>
            <a:ext cx="1112432" cy="1134614"/>
          </a:xfrm>
          <a:prstGeom prst="roundRect">
            <a:avLst/>
          </a:prstGeom>
          <a:solidFill>
            <a:srgbClr val="E6F6FC"/>
          </a:solidFill>
          <a:ln w="19050" algn="ctr">
            <a:noFill/>
            <a:miter lim="800000"/>
            <a:headEnd/>
            <a:tailEnd/>
          </a:ln>
        </p:spPr>
        <p:txBody>
          <a:bodyPr wrap="square" lIns="88900" tIns="88900" rIns="88900" bIns="88900" rtlCol="0" anchor="ctr"/>
          <a:lstStyle/>
          <a:p>
            <a:pPr algn="ctr">
              <a:lnSpc>
                <a:spcPct val="106000"/>
              </a:lnSpc>
            </a:pPr>
            <a:r>
              <a:rPr lang="en-US" sz="1000" b="1" dirty="0">
                <a:latin typeface="Open Sans" panose="020B0606030504020204" pitchFamily="34" charset="0"/>
                <a:ea typeface="Open Sans" panose="020B0606030504020204" pitchFamily="34" charset="0"/>
                <a:cs typeface="Open Sans" panose="020B0606030504020204" pitchFamily="34" charset="0"/>
              </a:rPr>
              <a:t>Vector DB Store </a:t>
            </a:r>
          </a:p>
          <a:p>
            <a:pPr algn="ctr">
              <a:lnSpc>
                <a:spcPct val="106000"/>
              </a:lnSpc>
            </a:pPr>
            <a:r>
              <a:rPr lang="en-US" sz="1000" dirty="0">
                <a:latin typeface="Open Sans" panose="020B0606030504020204" pitchFamily="34" charset="0"/>
                <a:ea typeface="Open Sans" panose="020B0606030504020204" pitchFamily="34" charset="0"/>
                <a:cs typeface="Open Sans" panose="020B0606030504020204" pitchFamily="34" charset="0"/>
              </a:rPr>
              <a:t>critical for RAG-based solutions</a:t>
            </a:r>
          </a:p>
        </p:txBody>
      </p:sp>
      <p:sp>
        <p:nvSpPr>
          <p:cNvPr id="9" name="TextBox 8">
            <a:extLst>
              <a:ext uri="{FF2B5EF4-FFF2-40B4-BE49-F238E27FC236}">
                <a16:creationId xmlns:a16="http://schemas.microsoft.com/office/drawing/2014/main" id="{62780C88-273F-569A-E580-95027229AE79}"/>
              </a:ext>
            </a:extLst>
          </p:cNvPr>
          <p:cNvSpPr txBox="1">
            <a:spLocks noChangeAspect="1"/>
          </p:cNvSpPr>
          <p:nvPr/>
        </p:nvSpPr>
        <p:spPr>
          <a:xfrm>
            <a:off x="7284799" y="4997557"/>
            <a:ext cx="466787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7618C"/>
                </a:solidFill>
                <a:effectLst/>
                <a:uLnTx/>
                <a:uFillTx/>
                <a:latin typeface="Open Sans" panose="020B0606030504020204" pitchFamily="34" charset="0"/>
                <a:ea typeface="Open Sans" panose="020B0606030504020204" pitchFamily="34" charset="0"/>
                <a:cs typeface="Open Sans" panose="020B0606030504020204" pitchFamily="34" charset="0"/>
              </a:rPr>
              <a:t>Snowflake </a:t>
            </a:r>
            <a:r>
              <a:rPr kumimoji="0" lang="en-US" sz="2000" b="1" i="0" u="none" strike="noStrike" kern="1200" cap="none" spc="0" normalizeH="0" baseline="0" noProof="0" dirty="0" err="1">
                <a:ln>
                  <a:noFill/>
                </a:ln>
                <a:solidFill>
                  <a:srgbClr val="17618C"/>
                </a:solidFill>
                <a:effectLst/>
                <a:uLnTx/>
                <a:uFillTx/>
                <a:latin typeface="Open Sans" panose="020B0606030504020204" pitchFamily="34" charset="0"/>
                <a:ea typeface="Open Sans" panose="020B0606030504020204" pitchFamily="34" charset="0"/>
                <a:cs typeface="Open Sans" panose="020B0606030504020204" pitchFamily="34" charset="0"/>
              </a:rPr>
              <a:t>GenAI</a:t>
            </a:r>
            <a:r>
              <a:rPr kumimoji="0" lang="en-US" sz="2000" b="1" i="0" u="none" strike="noStrike" kern="1200" cap="none" spc="0" normalizeH="0" baseline="0" noProof="0" dirty="0">
                <a:ln>
                  <a:noFill/>
                </a:ln>
                <a:solidFill>
                  <a:srgbClr val="17618C"/>
                </a:solidFill>
                <a:effectLst/>
                <a:uLnTx/>
                <a:uFillTx/>
                <a:latin typeface="Open Sans" panose="020B0606030504020204" pitchFamily="34" charset="0"/>
                <a:ea typeface="Open Sans" panose="020B0606030504020204" pitchFamily="34" charset="0"/>
                <a:cs typeface="Open Sans" panose="020B0606030504020204" pitchFamily="34" charset="0"/>
              </a:rPr>
              <a:t> POC Framework</a:t>
            </a:r>
          </a:p>
        </p:txBody>
      </p:sp>
    </p:spTree>
    <p:extLst>
      <p:ext uri="{BB962C8B-B14F-4D97-AF65-F5344CB8AC3E}">
        <p14:creationId xmlns:p14="http://schemas.microsoft.com/office/powerpoint/2010/main" val="183635327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D5D6B7-4075-41C0-861A-C16B62791804}"/>
              </a:ext>
            </a:extLst>
          </p:cNvPr>
          <p:cNvSpPr>
            <a:spLocks noGrp="1"/>
          </p:cNvSpPr>
          <p:nvPr>
            <p:ph type="body" sz="quarter" idx="13"/>
          </p:nvPr>
        </p:nvSpPr>
        <p:spPr>
          <a:xfrm>
            <a:off x="469900" y="835067"/>
            <a:ext cx="11237976" cy="392111"/>
          </a:xfrm>
        </p:spPr>
        <p:txBody>
          <a:bodyPr/>
          <a:lstStyle/>
          <a:p>
            <a:r>
              <a:rPr lang="en-US" sz="1200" dirty="0">
                <a:latin typeface="Open Sans" panose="020B0606030504020204" pitchFamily="34" charset="0"/>
                <a:ea typeface="Open Sans" panose="020B0606030504020204" pitchFamily="34" charset="0"/>
                <a:cs typeface="Open Sans" panose="020B0606030504020204" pitchFamily="34" charset="0"/>
              </a:rPr>
              <a:t>We conduct a modernization assessment to confirm the scope, prioritization, modernization approach, architecture, roadmap and business case. This can be customized to meet your needs.</a:t>
            </a:r>
          </a:p>
        </p:txBody>
      </p:sp>
      <p:sp>
        <p:nvSpPr>
          <p:cNvPr id="2" name="Title 1">
            <a:extLst>
              <a:ext uri="{FF2B5EF4-FFF2-40B4-BE49-F238E27FC236}">
                <a16:creationId xmlns:a16="http://schemas.microsoft.com/office/drawing/2014/main" id="{506934EF-6372-491D-85F5-E3C0ECCB0833}"/>
              </a:ext>
            </a:extLst>
          </p:cNvPr>
          <p:cNvSpPr>
            <a:spLocks noGrp="1"/>
          </p:cNvSpPr>
          <p:nvPr>
            <p:ph type="title"/>
          </p:nvPr>
        </p:nvSpPr>
        <p:spPr>
          <a:xfrm>
            <a:off x="459739" y="456863"/>
            <a:ext cx="11252200" cy="451866"/>
          </a:xfrm>
        </p:spPr>
        <p: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Data &amp; Analytics Modernization Assessment </a:t>
            </a:r>
          </a:p>
        </p:txBody>
      </p:sp>
      <p:graphicFrame>
        <p:nvGraphicFramePr>
          <p:cNvPr id="4" name="Table 3">
            <a:extLst>
              <a:ext uri="{FF2B5EF4-FFF2-40B4-BE49-F238E27FC236}">
                <a16:creationId xmlns:a16="http://schemas.microsoft.com/office/drawing/2014/main" id="{31B53E34-3DCC-5EFC-3502-EFF14E8B2CF7}"/>
              </a:ext>
            </a:extLst>
          </p:cNvPr>
          <p:cNvGraphicFramePr>
            <a:graphicFrameLocks noGrp="1"/>
          </p:cNvGraphicFramePr>
          <p:nvPr>
            <p:extLst>
              <p:ext uri="{D42A27DB-BD31-4B8C-83A1-F6EECF244321}">
                <p14:modId xmlns:p14="http://schemas.microsoft.com/office/powerpoint/2010/main" val="1565565024"/>
              </p:ext>
            </p:extLst>
          </p:nvPr>
        </p:nvGraphicFramePr>
        <p:xfrm>
          <a:off x="539568" y="1386129"/>
          <a:ext cx="10616112" cy="4727296"/>
        </p:xfrm>
        <a:graphic>
          <a:graphicData uri="http://schemas.openxmlformats.org/drawingml/2006/table">
            <a:tbl>
              <a:tblPr firstRow="1" bandRow="1"/>
              <a:tblGrid>
                <a:gridCol w="1212409">
                  <a:extLst>
                    <a:ext uri="{9D8B030D-6E8A-4147-A177-3AD203B41FA5}">
                      <a16:colId xmlns:a16="http://schemas.microsoft.com/office/drawing/2014/main" val="1990669685"/>
                    </a:ext>
                  </a:extLst>
                </a:gridCol>
                <a:gridCol w="6550895">
                  <a:extLst>
                    <a:ext uri="{9D8B030D-6E8A-4147-A177-3AD203B41FA5}">
                      <a16:colId xmlns:a16="http://schemas.microsoft.com/office/drawing/2014/main" val="20000"/>
                    </a:ext>
                  </a:extLst>
                </a:gridCol>
                <a:gridCol w="950936">
                  <a:extLst>
                    <a:ext uri="{9D8B030D-6E8A-4147-A177-3AD203B41FA5}">
                      <a16:colId xmlns:a16="http://schemas.microsoft.com/office/drawing/2014/main" val="1174936755"/>
                    </a:ext>
                  </a:extLst>
                </a:gridCol>
                <a:gridCol w="950936">
                  <a:extLst>
                    <a:ext uri="{9D8B030D-6E8A-4147-A177-3AD203B41FA5}">
                      <a16:colId xmlns:a16="http://schemas.microsoft.com/office/drawing/2014/main" val="1612744122"/>
                    </a:ext>
                  </a:extLst>
                </a:gridCol>
                <a:gridCol w="950936">
                  <a:extLst>
                    <a:ext uri="{9D8B030D-6E8A-4147-A177-3AD203B41FA5}">
                      <a16:colId xmlns:a16="http://schemas.microsoft.com/office/drawing/2014/main" val="20001"/>
                    </a:ext>
                  </a:extLst>
                </a:gridCol>
              </a:tblGrid>
              <a:tr h="256736">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50" b="1" i="0" u="none" strike="noStrike" dirty="0">
                          <a:solidFill>
                            <a:srgbClr val="00A3E0"/>
                          </a:solidFill>
                          <a:effectLst/>
                          <a:latin typeface="Open Sans" panose="020B0606030504020204" pitchFamily="34" charset="0"/>
                          <a:ea typeface="Open Sans" panose="020B0606030504020204" pitchFamily="34" charset="0"/>
                          <a:cs typeface="Open Sans" panose="020B0606030504020204" pitchFamily="34" charset="0"/>
                        </a:rPr>
                        <a:t>Thread</a:t>
                      </a:r>
                    </a:p>
                  </a:txBody>
                  <a:tcPr marL="45720" marR="45720" marT="27432" marB="27432" anchor="ctr">
                    <a:lnL w="12700" cmpd="sng">
                      <a:noFill/>
                      <a:prstDash val="solid"/>
                    </a:lnL>
                    <a:lnR w="12700" cmpd="sng">
                      <a:noFill/>
                      <a:prstDash val="solid"/>
                    </a:lnR>
                    <a:lnT w="38100" cap="flat" cmpd="sng" algn="ctr">
                      <a:solidFill>
                        <a:srgbClr val="00A3E0"/>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rtl="0" eaLnBrk="1" fontAlgn="ctr" latinLnBrk="0" hangingPunct="1">
                        <a:lnSpc>
                          <a:spcPct val="100000"/>
                        </a:lnSpc>
                        <a:spcBef>
                          <a:spcPts val="0"/>
                        </a:spcBef>
                        <a:spcAft>
                          <a:spcPts val="0"/>
                        </a:spcAft>
                        <a:buFontTx/>
                        <a:buNone/>
                      </a:pPr>
                      <a:r>
                        <a:rPr lang="en-US" sz="1050" b="1" i="0" u="none" strike="noStrike" dirty="0">
                          <a:solidFill>
                            <a:srgbClr val="00A3E0"/>
                          </a:solidFill>
                          <a:effectLst/>
                          <a:latin typeface="Open Sans" panose="020B0606030504020204" pitchFamily="34" charset="0"/>
                          <a:ea typeface="Open Sans" panose="020B0606030504020204" pitchFamily="34" charset="0"/>
                          <a:cs typeface="Open Sans" panose="020B0606030504020204" pitchFamily="34" charset="0"/>
                        </a:rPr>
                        <a:t>Activity</a:t>
                      </a:r>
                    </a:p>
                  </a:txBody>
                  <a:tcPr marL="45720" marR="45720" marT="27432" marB="27432" anchor="ctr">
                    <a:lnL w="12700" cmpd="sng">
                      <a:noFill/>
                      <a:prstDash val="solid"/>
                    </a:lnL>
                    <a:lnR w="12700" cap="flat" cmpd="sng" algn="ctr">
                      <a:noFill/>
                      <a:prstDash val="solid"/>
                      <a:round/>
                      <a:headEnd type="none" w="med" len="med"/>
                      <a:tailEnd type="none" w="med" len="med"/>
                    </a:lnR>
                    <a:lnT w="38100" cap="flat" cmpd="sng" algn="ctr">
                      <a:solidFill>
                        <a:srgbClr val="00A3E0"/>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marL="0" marR="0" indent="0" algn="ctr" rtl="0" eaLnBrk="1" fontAlgn="ctr" latinLnBrk="0" hangingPunct="1">
                        <a:lnSpc>
                          <a:spcPct val="100000"/>
                        </a:lnSpc>
                        <a:spcBef>
                          <a:spcPts val="0"/>
                        </a:spcBef>
                        <a:spcAft>
                          <a:spcPts val="0"/>
                        </a:spcAft>
                        <a:buClrTx/>
                        <a:buSzTx/>
                        <a:buFontTx/>
                        <a:buNone/>
                      </a:pPr>
                      <a:r>
                        <a:rPr lang="en-US" sz="1050" b="1" u="none" strike="noStrike" dirty="0">
                          <a:solidFill>
                            <a:srgbClr val="00A3E0"/>
                          </a:solidFill>
                          <a:effectLst/>
                          <a:latin typeface="Open Sans" panose="020B0606030504020204" pitchFamily="34" charset="0"/>
                          <a:ea typeface="Open Sans" panose="020B0606030504020204" pitchFamily="34" charset="0"/>
                          <a:cs typeface="Open Sans" panose="020B0606030504020204" pitchFamily="34" charset="0"/>
                        </a:rPr>
                        <a:t>Small</a:t>
                      </a:r>
                    </a:p>
                  </a:txBody>
                  <a:tcPr marL="45720" marR="45720" marT="27432" marB="27432" anchor="ctr">
                    <a:lnL w="12700" cap="flat" cmpd="sng" algn="ctr">
                      <a:noFill/>
                      <a:prstDash val="solid"/>
                      <a:round/>
                      <a:headEnd type="none" w="med" len="med"/>
                      <a:tailEnd type="none" w="med" len="med"/>
                    </a:lnL>
                    <a:lnR w="12700" cmpd="sng">
                      <a:noFill/>
                      <a:prstDash val="solid"/>
                    </a:lnR>
                    <a:lnT w="38100" cap="flat" cmpd="sng" algn="ctr">
                      <a:solidFill>
                        <a:srgbClr val="00A3E0"/>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marL="0" marR="0" lvl="0" indent="0" algn="ctr">
                        <a:lnSpc>
                          <a:spcPct val="100000"/>
                        </a:lnSpc>
                        <a:spcBef>
                          <a:spcPts val="0"/>
                        </a:spcBef>
                        <a:spcAft>
                          <a:spcPts val="0"/>
                        </a:spcAft>
                        <a:buNone/>
                      </a:pPr>
                      <a:r>
                        <a:rPr lang="en-US" sz="1050" b="1" u="none" strike="noStrike" dirty="0">
                          <a:solidFill>
                            <a:srgbClr val="00A3E0"/>
                          </a:solidFill>
                          <a:effectLst/>
                          <a:latin typeface="Open Sans" panose="020B0606030504020204" pitchFamily="34" charset="0"/>
                          <a:ea typeface="Open Sans" panose="020B0606030504020204" pitchFamily="34" charset="0"/>
                          <a:cs typeface="Open Sans" panose="020B0606030504020204" pitchFamily="34" charset="0"/>
                        </a:rPr>
                        <a:t>Medium</a:t>
                      </a:r>
                      <a:endParaRPr lang="en-US" sz="1050" b="1"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27432" marB="27432" anchor="ctr">
                    <a:lnL w="12700" cmpd="sng">
                      <a:noFill/>
                      <a:prstDash val="solid"/>
                    </a:lnL>
                    <a:lnR w="12700" cmpd="sng">
                      <a:noFill/>
                      <a:prstDash val="solid"/>
                    </a:lnR>
                    <a:lnT w="38100" cap="flat" cmpd="sng" algn="ctr">
                      <a:solidFill>
                        <a:srgbClr val="00A3E0"/>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914400" rtl="0" eaLnBrk="1" latinLnBrk="0" hangingPunct="1">
                        <a:defRPr sz="1800" b="1" kern="1200">
                          <a:solidFill>
                            <a:schemeClr val="bg1"/>
                          </a:solidFill>
                          <a:latin typeface="Open Sans"/>
                        </a:defRPr>
                      </a:lvl1pPr>
                      <a:lvl2pPr marL="457200" algn="l" defTabSz="914400" rtl="0" eaLnBrk="1" latinLnBrk="0" hangingPunct="1">
                        <a:defRPr sz="1800" b="1" kern="1200">
                          <a:solidFill>
                            <a:schemeClr val="bg1"/>
                          </a:solidFill>
                          <a:latin typeface="Open Sans"/>
                        </a:defRPr>
                      </a:lvl2pPr>
                      <a:lvl3pPr marL="914400" algn="l" defTabSz="914400" rtl="0" eaLnBrk="1" latinLnBrk="0" hangingPunct="1">
                        <a:defRPr sz="1800" b="1" kern="1200">
                          <a:solidFill>
                            <a:schemeClr val="bg1"/>
                          </a:solidFill>
                          <a:latin typeface="Open Sans"/>
                        </a:defRPr>
                      </a:lvl3pPr>
                      <a:lvl4pPr marL="1371600" algn="l" defTabSz="914400" rtl="0" eaLnBrk="1" latinLnBrk="0" hangingPunct="1">
                        <a:defRPr sz="1800" b="1" kern="1200">
                          <a:solidFill>
                            <a:schemeClr val="bg1"/>
                          </a:solidFill>
                          <a:latin typeface="Open Sans"/>
                        </a:defRPr>
                      </a:lvl4pPr>
                      <a:lvl5pPr marL="1828800" algn="l" defTabSz="914400" rtl="0" eaLnBrk="1" latinLnBrk="0" hangingPunct="1">
                        <a:defRPr sz="1800" b="1" kern="1200">
                          <a:solidFill>
                            <a:schemeClr val="bg1"/>
                          </a:solidFill>
                          <a:latin typeface="Open Sans"/>
                        </a:defRPr>
                      </a:lvl5pPr>
                      <a:lvl6pPr marL="2286000" algn="l" defTabSz="914400" rtl="0" eaLnBrk="1" latinLnBrk="0" hangingPunct="1">
                        <a:defRPr sz="1800" b="1" kern="1200">
                          <a:solidFill>
                            <a:schemeClr val="bg1"/>
                          </a:solidFill>
                          <a:latin typeface="Open Sans"/>
                        </a:defRPr>
                      </a:lvl6pPr>
                      <a:lvl7pPr marL="2743200" algn="l" defTabSz="914400" rtl="0" eaLnBrk="1" latinLnBrk="0" hangingPunct="1">
                        <a:defRPr sz="1800" b="1" kern="1200">
                          <a:solidFill>
                            <a:schemeClr val="bg1"/>
                          </a:solidFill>
                          <a:latin typeface="Open Sans"/>
                        </a:defRPr>
                      </a:lvl7pPr>
                      <a:lvl8pPr marL="3200400" algn="l" defTabSz="914400" rtl="0" eaLnBrk="1" latinLnBrk="0" hangingPunct="1">
                        <a:defRPr sz="1800" b="1" kern="1200">
                          <a:solidFill>
                            <a:schemeClr val="bg1"/>
                          </a:solidFill>
                          <a:latin typeface="Open Sans"/>
                        </a:defRPr>
                      </a:lvl8pPr>
                      <a:lvl9pPr marL="3657600" algn="l" defTabSz="914400" rtl="0" eaLnBrk="1" latinLnBrk="0" hangingPunct="1">
                        <a:defRPr sz="1800" b="1" kern="1200">
                          <a:solidFill>
                            <a:schemeClr val="bg1"/>
                          </a:solidFill>
                          <a:latin typeface="Open Sans"/>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solidFill>
                            <a:srgbClr val="00A3E0"/>
                          </a:solidFill>
                          <a:effectLst/>
                          <a:latin typeface="Open Sans" panose="020B0606030504020204" pitchFamily="34" charset="0"/>
                          <a:ea typeface="Open Sans" panose="020B0606030504020204" pitchFamily="34" charset="0"/>
                          <a:cs typeface="Open Sans" panose="020B0606030504020204" pitchFamily="34" charset="0"/>
                        </a:rPr>
                        <a:t>Large</a:t>
                      </a:r>
                    </a:p>
                  </a:txBody>
                  <a:tcPr marL="45720" marR="45720" marT="27432" marB="27432" anchor="ctr">
                    <a:lnL w="12700" cmpd="sng">
                      <a:noFill/>
                      <a:prstDash val="solid"/>
                    </a:lnL>
                    <a:lnR w="12700" cmpd="sng">
                      <a:noFill/>
                      <a:prstDash val="solid"/>
                    </a:lnR>
                    <a:lnT w="38100" cap="flat" cmpd="sng" algn="ctr">
                      <a:solidFill>
                        <a:srgbClr val="00A3E0"/>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8368553"/>
                  </a:ext>
                </a:extLst>
              </a:tr>
              <a:tr h="223528">
                <a:tc rowSpan="5">
                  <a:txBody>
                    <a:bodyPr/>
                    <a:lstStyle/>
                    <a:p>
                      <a:pPr marL="0" algn="l" fontAlgn="ctr">
                        <a:lnSpc>
                          <a:spcPct val="100000"/>
                        </a:lnSpc>
                        <a:spcBef>
                          <a:spcPts val="0"/>
                        </a:spcBef>
                        <a:spcAft>
                          <a:spcPts val="0"/>
                        </a:spcAft>
                      </a:pPr>
                      <a:r>
                        <a:rPr lang="en-US" sz="1050" b="1" i="0" u="none" strike="noStrike"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Assessment</a:t>
                      </a: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mpd="sng">
                      <a:solidFill>
                        <a:schemeClr val="accent6"/>
                      </a:solidFill>
                      <a:prstDash val="soli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sz="1050" u="none" strike="noStrike" dirty="0">
                          <a:effectLst/>
                          <a:latin typeface="Open Sans" panose="020B0606030504020204" pitchFamily="34" charset="0"/>
                          <a:ea typeface="Open Sans" panose="020B0606030504020204" pitchFamily="34" charset="0"/>
                          <a:cs typeface="Open Sans" panose="020B0606030504020204" pitchFamily="34" charset="0"/>
                        </a:rPr>
                        <a:t>Conduct Migration Assessment to understand scope, dependencies and complexity</a:t>
                      </a:r>
                      <a:endParaRPr lang="en-US" sz="105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ap="flat" cmpd="sng" algn="ctr">
                      <a:no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a:lnSpc>
                          <a:spcPct val="100000"/>
                        </a:lnSpc>
                        <a:spcBef>
                          <a:spcPts val="0"/>
                        </a:spcBef>
                        <a:spcAft>
                          <a:spcPts val="0"/>
                        </a:spcAft>
                        <a:buNone/>
                        <a:tabLst/>
                        <a:defRPr/>
                      </a:pPr>
                      <a:r>
                        <a:rPr lang="en-US" sz="1050" b="0" i="0" u="none" strike="noStrike" kern="1200"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a:lnSpc>
                          <a:spcPct val="100000"/>
                        </a:lnSpc>
                        <a:spcBef>
                          <a:spcPts val="0"/>
                        </a:spcBef>
                        <a:spcAft>
                          <a:spcPts val="0"/>
                        </a:spcAft>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6261279"/>
                  </a:ext>
                </a:extLst>
              </a:tr>
              <a:tr h="223528">
                <a:tc vMerge="1">
                  <a:txBody>
                    <a:bodyPr/>
                    <a:lstStyle/>
                    <a:p>
                      <a:endParaRPr lang="en-US"/>
                    </a:p>
                  </a:txBody>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sz="1050" u="none" strike="noStrike" kern="1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Database/Data Platform Migration Assessment</a:t>
                      </a:r>
                    </a:p>
                  </a:txBody>
                  <a:tcPr marL="45720" marR="45720" marT="18288" marB="18288" anchor="ctr">
                    <a:lnL w="12700" cmpd="sng">
                      <a:noFill/>
                      <a:prstDash val="solid"/>
                    </a:lnL>
                    <a:lnR w="12700" cap="flat" cmpd="sng" algn="ctr">
                      <a:no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spcBef>
                          <a:spcPts val="0"/>
                        </a:spcBef>
                        <a:spcAft>
                          <a:spcPts val="0"/>
                        </a:spcAft>
                        <a:buNone/>
                        <a:tabLst>
                          <a:tab pos="221615" algn="l"/>
                          <a:tab pos="222250" algn="l"/>
                        </a:tabLst>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kumimoji="0" lang="en-US" sz="105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kumimoji="0" lang="en-US" sz="105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4246144"/>
                  </a:ext>
                </a:extLst>
              </a:tr>
              <a:tr h="223528">
                <a:tc vMerge="1">
                  <a:txBody>
                    <a:bodyPr/>
                    <a:lstStyle/>
                    <a:p>
                      <a:endParaRPr lang="en-US"/>
                    </a:p>
                  </a:txBody>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sz="1050" u="none" strike="noStrike" kern="1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Data Management Capabilities (ETL, BI, orchestration, 3GL, etc.) Migration Assessment</a:t>
                      </a:r>
                    </a:p>
                  </a:txBody>
                  <a:tcPr marL="45720" marR="45720" marT="18288" marB="18288" anchor="ctr">
                    <a:lnL w="12700" cmpd="sng">
                      <a:noFill/>
                      <a:prstDash val="solid"/>
                    </a:lnL>
                    <a:lnR w="12700" cap="flat" cmpd="sng" algn="ctr">
                      <a:no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spcBef>
                          <a:spcPts val="0"/>
                        </a:spcBef>
                        <a:spcAft>
                          <a:spcPts val="0"/>
                        </a:spcAft>
                        <a:buNone/>
                        <a:tabLst>
                          <a:tab pos="221615" algn="l"/>
                          <a:tab pos="222250" algn="l"/>
                        </a:tabLst>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kumimoji="0" lang="en-US" sz="105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kumimoji="0" lang="en-US" sz="105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4888331"/>
                  </a:ext>
                </a:extLst>
              </a:tr>
              <a:tr h="223528">
                <a:tc vMerge="1">
                  <a:txBody>
                    <a:bodyPr/>
                    <a:lstStyle>
                      <a:lvl1pPr marL="0" algn="l" defTabSz="914400" rtl="0" eaLnBrk="1" latinLnBrk="0" hangingPunct="1">
                        <a:defRPr sz="1800" kern="1200">
                          <a:solidFill>
                            <a:schemeClr val="tx1"/>
                          </a:solidFill>
                          <a:latin typeface="Open Sans"/>
                        </a:defRPr>
                      </a:lvl1pPr>
                      <a:lvl2pPr marL="457200" algn="l" defTabSz="914400" rtl="0" eaLnBrk="1" latinLnBrk="0" hangingPunct="1">
                        <a:defRPr sz="1800" kern="1200">
                          <a:solidFill>
                            <a:schemeClr val="tx1"/>
                          </a:solidFill>
                          <a:latin typeface="Open Sans"/>
                        </a:defRPr>
                      </a:lvl2pPr>
                      <a:lvl3pPr marL="914400" algn="l" defTabSz="914400" rtl="0" eaLnBrk="1" latinLnBrk="0" hangingPunct="1">
                        <a:defRPr sz="1800" kern="1200">
                          <a:solidFill>
                            <a:schemeClr val="tx1"/>
                          </a:solidFill>
                          <a:latin typeface="Open Sans"/>
                        </a:defRPr>
                      </a:lvl3pPr>
                      <a:lvl4pPr marL="1371600" algn="l" defTabSz="914400" rtl="0" eaLnBrk="1" latinLnBrk="0" hangingPunct="1">
                        <a:defRPr sz="1800" kern="1200">
                          <a:solidFill>
                            <a:schemeClr val="tx1"/>
                          </a:solidFill>
                          <a:latin typeface="Open Sans"/>
                        </a:defRPr>
                      </a:lvl4pPr>
                      <a:lvl5pPr marL="1828800" algn="l" defTabSz="914400" rtl="0" eaLnBrk="1" latinLnBrk="0" hangingPunct="1">
                        <a:defRPr sz="1800" kern="1200">
                          <a:solidFill>
                            <a:schemeClr val="tx1"/>
                          </a:solidFill>
                          <a:latin typeface="Open Sans"/>
                        </a:defRPr>
                      </a:lvl5pPr>
                      <a:lvl6pPr marL="2286000" algn="l" defTabSz="914400" rtl="0" eaLnBrk="1" latinLnBrk="0" hangingPunct="1">
                        <a:defRPr sz="1800" kern="1200">
                          <a:solidFill>
                            <a:schemeClr val="tx1"/>
                          </a:solidFill>
                          <a:latin typeface="Open Sans"/>
                        </a:defRPr>
                      </a:lvl6pPr>
                      <a:lvl7pPr marL="2743200" algn="l" defTabSz="914400" rtl="0" eaLnBrk="1" latinLnBrk="0" hangingPunct="1">
                        <a:defRPr sz="1800" kern="1200">
                          <a:solidFill>
                            <a:schemeClr val="tx1"/>
                          </a:solidFill>
                          <a:latin typeface="Open Sans"/>
                        </a:defRPr>
                      </a:lvl7pPr>
                      <a:lvl8pPr marL="3200400" algn="l" defTabSz="914400" rtl="0" eaLnBrk="1" latinLnBrk="0" hangingPunct="1">
                        <a:defRPr sz="1800" kern="1200">
                          <a:solidFill>
                            <a:schemeClr val="tx1"/>
                          </a:solidFill>
                          <a:latin typeface="Open Sans"/>
                        </a:defRPr>
                      </a:lvl8pPr>
                      <a:lvl9pPr marL="3657600" algn="l" defTabSz="914400" rtl="0" eaLnBrk="1" latinLnBrk="0" hangingPunct="1">
                        <a:defRPr sz="1800" kern="1200">
                          <a:solidFill>
                            <a:schemeClr val="tx1"/>
                          </a:solidFill>
                          <a:latin typeface="Open Sans"/>
                        </a:defRPr>
                      </a:lvl9pPr>
                    </a:lstStyle>
                    <a:p>
                      <a:pPr marL="0" indent="0" algn="l" fontAlgn="ctr">
                        <a:spcBef>
                          <a:spcPts val="0"/>
                        </a:spcBef>
                        <a:spcAft>
                          <a:spcPts val="0"/>
                        </a:spcAft>
                      </a:pPr>
                      <a:endParaRPr lang="en-US" sz="800" b="1" u="none" strike="noStrike">
                        <a:solidFill>
                          <a:schemeClr val="dk1"/>
                        </a:solidFill>
                        <a:effectLst/>
                        <a:latin typeface="+mn-lt"/>
                      </a:endParaRPr>
                    </a:p>
                  </a:txBody>
                  <a:tcPr marL="45720" marR="45720" marT="18288" marB="18288">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sz="1050" u="none" strike="noStrike" kern="1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Align on migration scope and priorities</a:t>
                      </a:r>
                    </a:p>
                  </a:txBody>
                  <a:tcPr marL="45720" marR="45720" marT="18288" marB="18288" anchor="ctr">
                    <a:lnL w="12700" cmpd="sng">
                      <a:noFill/>
                      <a:prstDash val="solid"/>
                    </a:lnL>
                    <a:lnR w="12700" cap="flat" cmpd="sng" algn="ctr">
                      <a:no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spcBef>
                          <a:spcPts val="0"/>
                        </a:spcBef>
                        <a:spcAft>
                          <a:spcPts val="0"/>
                        </a:spcAft>
                        <a:buNone/>
                        <a:tabLst>
                          <a:tab pos="221615" algn="l"/>
                          <a:tab pos="222250" algn="l"/>
                        </a:tabLst>
                      </a:pPr>
                      <a:r>
                        <a:rPr lang="en-US" sz="1050" b="0" i="0" u="none" strike="noStrike"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lang="en-US" sz="1050" b="0" i="0" u="none" strike="noStrike" spc="-5"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lang="en-US" sz="1050" b="0" i="0" u="none" strike="noStrike" spc="-5"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0144862"/>
                  </a:ext>
                </a:extLst>
              </a:tr>
              <a:tr h="223528">
                <a:tc vMerge="1">
                  <a:txBody>
                    <a:bodyPr/>
                    <a:lstStyle>
                      <a:lvl1pPr marL="0" algn="l" defTabSz="914400" rtl="0" eaLnBrk="1" latinLnBrk="0" hangingPunct="1">
                        <a:defRPr sz="1800" kern="1200">
                          <a:solidFill>
                            <a:schemeClr val="tx1"/>
                          </a:solidFill>
                          <a:latin typeface="Open Sans"/>
                        </a:defRPr>
                      </a:lvl1pPr>
                      <a:lvl2pPr marL="457200" algn="l" defTabSz="914400" rtl="0" eaLnBrk="1" latinLnBrk="0" hangingPunct="1">
                        <a:defRPr sz="1800" kern="1200">
                          <a:solidFill>
                            <a:schemeClr val="tx1"/>
                          </a:solidFill>
                          <a:latin typeface="Open Sans"/>
                        </a:defRPr>
                      </a:lvl2pPr>
                      <a:lvl3pPr marL="914400" algn="l" defTabSz="914400" rtl="0" eaLnBrk="1" latinLnBrk="0" hangingPunct="1">
                        <a:defRPr sz="1800" kern="1200">
                          <a:solidFill>
                            <a:schemeClr val="tx1"/>
                          </a:solidFill>
                          <a:latin typeface="Open Sans"/>
                        </a:defRPr>
                      </a:lvl3pPr>
                      <a:lvl4pPr marL="1371600" algn="l" defTabSz="914400" rtl="0" eaLnBrk="1" latinLnBrk="0" hangingPunct="1">
                        <a:defRPr sz="1800" kern="1200">
                          <a:solidFill>
                            <a:schemeClr val="tx1"/>
                          </a:solidFill>
                          <a:latin typeface="Open Sans"/>
                        </a:defRPr>
                      </a:lvl4pPr>
                      <a:lvl5pPr marL="1828800" algn="l" defTabSz="914400" rtl="0" eaLnBrk="1" latinLnBrk="0" hangingPunct="1">
                        <a:defRPr sz="1800" kern="1200">
                          <a:solidFill>
                            <a:schemeClr val="tx1"/>
                          </a:solidFill>
                          <a:latin typeface="Open Sans"/>
                        </a:defRPr>
                      </a:lvl5pPr>
                      <a:lvl6pPr marL="2286000" algn="l" defTabSz="914400" rtl="0" eaLnBrk="1" latinLnBrk="0" hangingPunct="1">
                        <a:defRPr sz="1800" kern="1200">
                          <a:solidFill>
                            <a:schemeClr val="tx1"/>
                          </a:solidFill>
                          <a:latin typeface="Open Sans"/>
                        </a:defRPr>
                      </a:lvl6pPr>
                      <a:lvl7pPr marL="2743200" algn="l" defTabSz="914400" rtl="0" eaLnBrk="1" latinLnBrk="0" hangingPunct="1">
                        <a:defRPr sz="1800" kern="1200">
                          <a:solidFill>
                            <a:schemeClr val="tx1"/>
                          </a:solidFill>
                          <a:latin typeface="Open Sans"/>
                        </a:defRPr>
                      </a:lvl7pPr>
                      <a:lvl8pPr marL="3200400" algn="l" defTabSz="914400" rtl="0" eaLnBrk="1" latinLnBrk="0" hangingPunct="1">
                        <a:defRPr sz="1800" kern="1200">
                          <a:solidFill>
                            <a:schemeClr val="tx1"/>
                          </a:solidFill>
                          <a:latin typeface="Open Sans"/>
                        </a:defRPr>
                      </a:lvl8pPr>
                      <a:lvl9pPr marL="3657600" algn="l" defTabSz="914400" rtl="0" eaLnBrk="1" latinLnBrk="0" hangingPunct="1">
                        <a:defRPr sz="1800" kern="1200">
                          <a:solidFill>
                            <a:schemeClr val="tx1"/>
                          </a:solidFill>
                          <a:latin typeface="Open Sans"/>
                        </a:defRPr>
                      </a:lvl9pPr>
                    </a:lstStyle>
                    <a:p>
                      <a:pPr marL="0" indent="0" algn="l" fontAlgn="ctr">
                        <a:spcBef>
                          <a:spcPts val="0"/>
                        </a:spcBef>
                        <a:spcAft>
                          <a:spcPts val="0"/>
                        </a:spcAft>
                      </a:pPr>
                      <a:endParaRPr lang="en-US" sz="800" b="1" i="0" u="none" strike="noStrike" kern="1200">
                        <a:solidFill>
                          <a:schemeClr val="dk1"/>
                        </a:solidFill>
                        <a:effectLst/>
                        <a:latin typeface="+mn-lt"/>
                        <a:ea typeface="+mn-ea"/>
                        <a:cs typeface="+mn-cs"/>
                      </a:endParaRPr>
                    </a:p>
                  </a:txBody>
                  <a:tcPr marL="45720" marR="45720" marT="18288" marB="18288">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mpd="sng">
                      <a:solidFill>
                        <a:schemeClr val="accent6"/>
                      </a:solidFill>
                      <a:prstDash val="soli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sz="1050" u="none" strike="noStrike" kern="1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Conduct workshop(s) to identify up to two new use cases</a:t>
                      </a:r>
                    </a:p>
                  </a:txBody>
                  <a:tcPr marL="45720" marR="45720" marT="18288" marB="18288" anchor="ctr">
                    <a:lnL w="12700" cmpd="sng">
                      <a:noFill/>
                      <a:prstDash val="solid"/>
                    </a:lnL>
                    <a:lnR w="12700" cap="flat" cmpd="sng" algn="ctr">
                      <a:no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spcBef>
                          <a:spcPts val="0"/>
                        </a:spcBef>
                        <a:spcAft>
                          <a:spcPts val="0"/>
                        </a:spcAft>
                        <a:buNone/>
                        <a:tabLst>
                          <a:tab pos="221615" algn="l"/>
                          <a:tab pos="222250" algn="l"/>
                        </a:tabLst>
                      </a:pPr>
                      <a:endParaRPr lang="en-US" sz="1050" spc="-5"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lang="en-US" sz="1050" b="0" i="0" u="none" strike="noStrike" spc="-5"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mpd="sng">
                      <a:solidFill>
                        <a:schemeClr val="accent6"/>
                      </a:solidFill>
                      <a:prstDash val="soli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lang="en-US" sz="1050" b="0" i="0" u="none" strike="noStrike" spc="-5"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mpd="sng">
                      <a:solidFill>
                        <a:schemeClr val="accent6"/>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513434450"/>
                  </a:ext>
                </a:extLst>
              </a:tr>
              <a:tr h="223528">
                <a:tc rowSpan="5">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marL="0" indent="0" algn="l" defTabSz="914400" rtl="0" eaLnBrk="1" fontAlgn="ctr" latinLnBrk="0" hangingPunct="1">
                        <a:lnSpc>
                          <a:spcPct val="100000"/>
                        </a:lnSpc>
                        <a:spcBef>
                          <a:spcPts val="0"/>
                        </a:spcBef>
                        <a:spcAft>
                          <a:spcPts val="0"/>
                        </a:spcAft>
                      </a:pPr>
                      <a:endParaRPr lang="en-US" sz="1050" b="1" i="0" u="none" strike="noStrike"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endParaRPr>
                    </a:p>
                    <a:p>
                      <a:pPr marL="0" indent="0" algn="l" defTabSz="914400" rtl="0" eaLnBrk="1" fontAlgn="ctr" latinLnBrk="0" hangingPunct="1">
                        <a:lnSpc>
                          <a:spcPct val="100000"/>
                        </a:lnSpc>
                        <a:spcBef>
                          <a:spcPts val="0"/>
                        </a:spcBef>
                        <a:spcAft>
                          <a:spcPts val="0"/>
                        </a:spcAft>
                      </a:pPr>
                      <a:r>
                        <a:rPr lang="en-US" sz="1050" b="1" i="0" u="none" strike="noStrike"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Architecture</a:t>
                      </a: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en-US" sz="1050" u="none" strike="noStrike" dirty="0">
                          <a:effectLst/>
                          <a:latin typeface="Open Sans" panose="020B0606030504020204" pitchFamily="34" charset="0"/>
                          <a:ea typeface="Open Sans" panose="020B0606030504020204" pitchFamily="34" charset="0"/>
                          <a:cs typeface="Open Sans" panose="020B0606030504020204" pitchFamily="34" charset="0"/>
                        </a:rPr>
                        <a:t>Conduct current state architecture assessment</a:t>
                      </a:r>
                      <a:endParaRPr lang="en-US" sz="105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36576" marR="6350" marT="6350" marB="0" anchor="ctr">
                    <a:lnL w="12700" cmpd="sng">
                      <a:noFill/>
                      <a:prstDash val="solid"/>
                    </a:lnL>
                    <a:lnR w="12700" cap="flat" cmpd="sng" algn="ctr">
                      <a:noFill/>
                      <a:prstDash val="solid"/>
                      <a:round/>
                      <a:headEnd type="none" w="med" len="med"/>
                      <a:tailEnd type="none" w="med" len="me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spcBef>
                          <a:spcPts val="0"/>
                        </a:spcBef>
                        <a:spcAft>
                          <a:spcPts val="0"/>
                        </a:spcAft>
                        <a:buNone/>
                        <a:tabLst>
                          <a:tab pos="221615" algn="l"/>
                          <a:tab pos="222250" algn="l"/>
                        </a:tabLst>
                      </a:pPr>
                      <a:endParaRPr lang="en-US" sz="1050" spc="-5"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i="0" u="none" strike="noStrike" spc="-5"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9542322"/>
                  </a:ext>
                </a:extLst>
              </a:tr>
              <a:tr h="223528">
                <a:tc vMerge="1">
                  <a:txBody>
                    <a:bodyPr/>
                    <a:lstStyle/>
                    <a:p>
                      <a:pPr marL="0" marR="405130" indent="0" algn="l">
                        <a:lnSpc>
                          <a:spcPct val="100000"/>
                        </a:lnSpc>
                        <a:spcBef>
                          <a:spcPts val="0"/>
                        </a:spcBef>
                        <a:spcAft>
                          <a:spcPts val="0"/>
                        </a:spcAft>
                      </a:pPr>
                      <a:endParaRPr lang="en-US" sz="800" b="1">
                        <a:solidFill>
                          <a:schemeClr val="tx1"/>
                        </a:solidFill>
                        <a:latin typeface="+mn-lt"/>
                        <a:cs typeface="Calibri"/>
                      </a:endParaRPr>
                    </a:p>
                  </a:txBody>
                  <a:tcPr marL="45720" marR="45720" marT="18288" marB="18288">
                    <a:lnL w="12700" cmpd="sng">
                      <a:noFill/>
                      <a:prstDash val="solid"/>
                    </a:lnL>
                    <a:lnR w="12700" cmpd="sng">
                      <a:noFill/>
                      <a:prstDash val="solid"/>
                    </a:lnR>
                    <a:lnT w="6350" cmpd="sng">
                      <a:solidFill>
                        <a:schemeClr val="accent6"/>
                      </a:solidFill>
                      <a:prstDash val="solid"/>
                    </a:lnT>
                    <a:lnB w="6350" cmpd="sng">
                      <a:solidFill>
                        <a:schemeClr val="accent6"/>
                      </a:solidFill>
                      <a:prstDash val="solid"/>
                    </a:lnB>
                    <a:lnTlToBr w="12700" cmpd="sng">
                      <a:noFill/>
                      <a:prstDash val="solid"/>
                    </a:lnTlToBr>
                    <a:lnBlToTr w="12700" cmpd="sng">
                      <a:noFill/>
                      <a:prstDash val="solid"/>
                    </a:lnBlToTr>
                    <a:solidFill>
                      <a:schemeClr val="bg1">
                        <a:lumMod val="95000"/>
                      </a:schemeClr>
                    </a:solidFill>
                  </a:tcPr>
                </a:tc>
                <a:tc>
                  <a:txBody>
                    <a:bodyPr/>
                    <a:lstStyle/>
                    <a:p>
                      <a:pPr algn="l" fontAlgn="b"/>
                      <a:r>
                        <a:rPr lang="en-US" sz="1050" u="none" strike="noStrike" dirty="0">
                          <a:effectLst/>
                          <a:latin typeface="Open Sans" panose="020B0606030504020204" pitchFamily="34" charset="0"/>
                          <a:ea typeface="Open Sans" panose="020B0606030504020204" pitchFamily="34" charset="0"/>
                          <a:cs typeface="Open Sans" panose="020B0606030504020204" pitchFamily="34" charset="0"/>
                        </a:rPr>
                        <a:t>Develop future state architecture blueprint</a:t>
                      </a:r>
                      <a:endParaRPr lang="en-US" sz="105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36576" marR="6350" marT="6350" marB="0" anchor="ctr">
                    <a:lnL w="12700" cmpd="sng">
                      <a:noFill/>
                      <a:prstDash val="solid"/>
                    </a:lnL>
                    <a:lnR w="12700" cap="flat" cmpd="sng" algn="ctr">
                      <a:noFill/>
                      <a:prstDash val="solid"/>
                      <a:round/>
                      <a:headEnd type="none" w="med" len="med"/>
                      <a:tailEnd type="none" w="med" len="med"/>
                    </a:lnR>
                    <a:lnT w="6350" cmpd="sng">
                      <a:solidFill>
                        <a:schemeClr val="accent6"/>
                      </a:solidFill>
                      <a:prstDash val="solid"/>
                    </a:lnT>
                    <a:lnB w="6350" cmpd="sng">
                      <a:solidFill>
                        <a:schemeClr val="accent6"/>
                      </a:solidFill>
                      <a:prstDash val="solid"/>
                    </a:lnB>
                    <a:lnTlToBr w="12700" cmpd="sng">
                      <a:noFill/>
                      <a:prstDash val="solid"/>
                    </a:lnTlToBr>
                    <a:lnBlToTr w="12700" cmpd="sng">
                      <a:noFill/>
                      <a:prstDash val="solid"/>
                    </a:lnBlToTr>
                  </a:tcPr>
                </a:tc>
                <a:tc>
                  <a:txBody>
                    <a:bodyPr/>
                    <a:lstStyle/>
                    <a:p>
                      <a:pPr marL="137160" lvl="0" indent="-137160" algn="ctr" defTabSz="1219170" rtl="0" eaLnBrk="1" latinLnBrk="0" hangingPunct="1">
                        <a:lnSpc>
                          <a:spcPct val="100000"/>
                        </a:lnSpc>
                        <a:spcBef>
                          <a:spcPts val="0"/>
                        </a:spcBef>
                        <a:spcAft>
                          <a:spcPts val="0"/>
                        </a:spcAft>
                        <a:buFont typeface="Arial"/>
                        <a:buChar char="•"/>
                        <a:tabLst>
                          <a:tab pos="221615" algn="l"/>
                          <a:tab pos="222250" algn="l"/>
                        </a:tabLst>
                      </a:pPr>
                      <a:endParaRPr lang="en-US" sz="105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mpd="sng">
                      <a:solidFill>
                        <a:schemeClr val="accent6"/>
                      </a:solidFill>
                      <a:prstDash val="soli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i="0" u="none" strike="noStrike" spc="-5"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mpd="sng">
                      <a:solidFill>
                        <a:schemeClr val="accent6"/>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343837527"/>
                  </a:ext>
                </a:extLst>
              </a:tr>
              <a:tr h="223528">
                <a:tc vMerge="1">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marL="0" indent="0" algn="l" fontAlgn="ctr">
                        <a:spcBef>
                          <a:spcPts val="0"/>
                        </a:spcBef>
                        <a:spcAft>
                          <a:spcPts val="0"/>
                        </a:spcAft>
                      </a:pPr>
                      <a:endParaRPr lang="en-US" sz="800" b="1" i="0" u="none" strike="noStrike">
                        <a:solidFill>
                          <a:schemeClr val="dk1"/>
                        </a:solidFill>
                        <a:effectLst/>
                        <a:latin typeface="+mn-lt"/>
                      </a:endParaRPr>
                    </a:p>
                  </a:txBody>
                  <a:tcPr marL="45720" marR="45720" marT="18288" marB="18288">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en-US" sz="1050" u="none" strike="noStrike">
                          <a:effectLst/>
                          <a:latin typeface="Open Sans" panose="020B0606030504020204" pitchFamily="34" charset="0"/>
                          <a:ea typeface="Open Sans" panose="020B0606030504020204" pitchFamily="34" charset="0"/>
                          <a:cs typeface="Open Sans" panose="020B0606030504020204" pitchFamily="34" charset="0"/>
                        </a:rPr>
                        <a:t>Confirm technology platform preferences and decisions</a:t>
                      </a:r>
                      <a:endParaRPr lang="en-US" sz="105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36576" marR="6350" marT="6350" marB="0" anchor="ctr">
                    <a:lnL w="12700" cmpd="sng">
                      <a:noFill/>
                      <a:prstDash val="solid"/>
                    </a:lnL>
                    <a:lnR w="12700" cap="flat" cmpd="sng" algn="ctr">
                      <a:no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spcBef>
                          <a:spcPts val="0"/>
                        </a:spcBef>
                        <a:spcAft>
                          <a:spcPts val="0"/>
                        </a:spcAft>
                        <a:buNone/>
                        <a:tabLst>
                          <a:tab pos="221615" algn="l"/>
                          <a:tab pos="222250" algn="l"/>
                        </a:tabLst>
                      </a:pPr>
                      <a:r>
                        <a:rPr lang="en-US" sz="1050" b="0" i="0" u="none" strike="noStrike" spc="-5"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spc="-5"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lang="en-US" sz="1050" b="0" i="0" u="none" strike="noStrike" spc="-5"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lang="en-US" sz="1050" b="0" i="0" u="none" strike="noStrike" spc="-5"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4388753"/>
                  </a:ext>
                </a:extLst>
              </a:tr>
              <a:tr h="223528">
                <a:tc vMerge="1">
                  <a:txBody>
                    <a:bodyPr/>
                    <a:lstStyle/>
                    <a:p>
                      <a:pPr marL="0" indent="0" algn="l" fontAlgn="ctr">
                        <a:spcBef>
                          <a:spcPts val="0"/>
                        </a:spcBef>
                        <a:spcAft>
                          <a:spcPts val="0"/>
                        </a:spcAft>
                      </a:pPr>
                      <a:endParaRPr lang="en-US" sz="800" b="1" i="0" u="none" strike="noStrike">
                        <a:solidFill>
                          <a:schemeClr val="dk1"/>
                        </a:solidFill>
                        <a:effectLst/>
                        <a:latin typeface="+mn-lt"/>
                      </a:endParaRPr>
                    </a:p>
                  </a:txBody>
                  <a:tcPr marL="45720" marR="45720" marT="18288" marB="18288">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en-US" sz="1050" u="none" strike="noStrike" dirty="0">
                          <a:effectLst/>
                          <a:latin typeface="Open Sans" panose="020B0606030504020204" pitchFamily="34" charset="0"/>
                          <a:ea typeface="Open Sans" panose="020B0606030504020204" pitchFamily="34" charset="0"/>
                          <a:cs typeface="Open Sans" panose="020B0606030504020204" pitchFamily="34" charset="0"/>
                        </a:rPr>
                        <a:t>Finalize technology bill of materials</a:t>
                      </a:r>
                      <a:endParaRPr lang="en-US" sz="105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36576" marR="6350" marT="6350" marB="0" anchor="ctr">
                    <a:lnL w="12700" cmpd="sng">
                      <a:noFill/>
                      <a:prstDash val="solid"/>
                    </a:lnL>
                    <a:lnR w="12700" cap="flat" cmpd="sng" algn="ctr">
                      <a:noFill/>
                      <a:prstDash val="solid"/>
                      <a:round/>
                      <a:headEnd type="none" w="med" len="med"/>
                      <a:tailEnd type="none" w="med" len="me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21615" algn="l"/>
                          <a:tab pos="222250" algn="l"/>
                        </a:tabLst>
                        <a:defRPr/>
                      </a:pPr>
                      <a:r>
                        <a:rPr lang="en-US" sz="1050" b="0" i="0" u="none" strike="noStrike" spc="-5"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spc="-5">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lang="en-US" sz="1050" b="0" i="0" u="none" strike="noStrike"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a:lnSpc>
                          <a:spcPct val="100000"/>
                        </a:lnSpc>
                        <a:spcBef>
                          <a:spcPts val="0"/>
                        </a:spcBef>
                        <a:spcAft>
                          <a:spcPts val="0"/>
                        </a:spcAft>
                        <a:buNone/>
                      </a:pPr>
                      <a:r>
                        <a:rPr lang="en-US" sz="1050" b="0" i="0" u="none" strike="noStrike"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20782197"/>
                  </a:ext>
                </a:extLst>
              </a:tr>
              <a:tr h="223528">
                <a:tc vMerge="1">
                  <a:txBody>
                    <a:bodyPr/>
                    <a:lstStyle/>
                    <a:p>
                      <a:pPr marL="0" indent="0" algn="l" fontAlgn="ctr">
                        <a:spcBef>
                          <a:spcPts val="0"/>
                        </a:spcBef>
                        <a:spcAft>
                          <a:spcPts val="0"/>
                        </a:spcAft>
                      </a:pPr>
                      <a:endParaRPr lang="en-US" sz="800" b="1" i="0" u="none" strike="noStrike">
                        <a:solidFill>
                          <a:schemeClr val="dk1"/>
                        </a:solidFill>
                        <a:effectLst/>
                        <a:latin typeface="+mn-lt"/>
                      </a:endParaRPr>
                    </a:p>
                  </a:txBody>
                  <a:tcPr marL="45720" marR="45720" marT="18288" marB="18288">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en-US" sz="1050" u="none" strike="noStrike">
                          <a:effectLst/>
                          <a:latin typeface="Open Sans" panose="020B0606030504020204" pitchFamily="34" charset="0"/>
                          <a:ea typeface="Open Sans" panose="020B0606030504020204" pitchFamily="34" charset="0"/>
                          <a:cs typeface="Open Sans" panose="020B0606030504020204" pitchFamily="34" charset="0"/>
                        </a:rPr>
                        <a:t>Develop target state architecture</a:t>
                      </a:r>
                      <a:endParaRPr lang="en-US" sz="105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36576" marR="6350" marT="6350" marB="0" anchor="ctr">
                    <a:lnL w="12700" cmpd="sng">
                      <a:noFill/>
                      <a:prstDash val="solid"/>
                    </a:lnL>
                    <a:lnR w="12700" cap="flat" cmpd="sng" algn="ctr">
                      <a:noFill/>
                      <a:prstDash val="solid"/>
                      <a:round/>
                      <a:headEnd type="none" w="med" len="med"/>
                      <a:tailEnd type="none" w="med" len="me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None/>
                        <a:tabLst/>
                        <a:defRPr/>
                      </a:pPr>
                      <a:endParaRPr lang="en-US" sz="1050" kern="1200">
                        <a:solidFill>
                          <a:schemeClr val="dk1"/>
                        </a:solidFill>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a:lnSpc>
                          <a:spcPct val="100000"/>
                        </a:lnSpc>
                        <a:spcBef>
                          <a:spcPts val="0"/>
                        </a:spcBef>
                        <a:spcAft>
                          <a:spcPts val="0"/>
                        </a:spcAft>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a:lnSpc>
                          <a:spcPct val="100000"/>
                        </a:lnSpc>
                        <a:spcBef>
                          <a:spcPts val="0"/>
                        </a:spcBef>
                        <a:spcAft>
                          <a:spcPts val="0"/>
                        </a:spcAft>
                        <a:buNone/>
                        <a:tabLst/>
                        <a:defRPr/>
                      </a:pPr>
                      <a:r>
                        <a:rPr lang="en-US" sz="1050" b="0" i="0" u="none" strike="noStrike" kern="1200"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84066989"/>
                  </a:ext>
                </a:extLst>
              </a:tr>
              <a:tr h="223528">
                <a:tc rowSpan="5">
                  <a:txBody>
                    <a:bodyPr/>
                    <a:lstStyle/>
                    <a:p>
                      <a:pPr marL="0" indent="0" algn="l" defTabSz="914400" rtl="0" eaLnBrk="1" fontAlgn="ctr" latinLnBrk="0" hangingPunct="1">
                        <a:lnSpc>
                          <a:spcPct val="100000"/>
                        </a:lnSpc>
                        <a:spcBef>
                          <a:spcPts val="0"/>
                        </a:spcBef>
                        <a:spcAft>
                          <a:spcPts val="0"/>
                        </a:spcAft>
                      </a:pPr>
                      <a:r>
                        <a:rPr lang="en-US" sz="1050" b="1" i="0" u="none" strike="noStrike"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Roadmap</a:t>
                      </a: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en-US" sz="1050" u="none" strike="noStrike">
                          <a:effectLst/>
                          <a:latin typeface="Open Sans" panose="020B0606030504020204" pitchFamily="34" charset="0"/>
                          <a:ea typeface="Open Sans" panose="020B0606030504020204" pitchFamily="34" charset="0"/>
                          <a:cs typeface="Open Sans" panose="020B0606030504020204" pitchFamily="34" charset="0"/>
                        </a:rPr>
                        <a:t>Identify migration options</a:t>
                      </a:r>
                      <a:endParaRPr lang="en-US" sz="105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36576" marR="6350" marT="6350" marB="0" anchor="ctr">
                    <a:lnL w="12700" cmpd="sng">
                      <a:noFill/>
                      <a:prstDash val="solid"/>
                    </a:lnL>
                    <a:lnR w="12700" cap="flat" cmpd="sng" algn="ctr">
                      <a:no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050" kern="1200">
                        <a:solidFill>
                          <a:schemeClr val="dk1"/>
                        </a:solidFill>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90275529"/>
                  </a:ext>
                </a:extLst>
              </a:tr>
              <a:tr h="223528">
                <a:tc vMerge="1">
                  <a:txBody>
                    <a:bodyPr/>
                    <a:lstStyle/>
                    <a:p>
                      <a:pPr marL="0" indent="0" algn="l" fontAlgn="ctr">
                        <a:spcBef>
                          <a:spcPts val="0"/>
                        </a:spcBef>
                        <a:spcAft>
                          <a:spcPts val="0"/>
                        </a:spcAft>
                      </a:pPr>
                      <a:endParaRPr lang="en-US" sz="800" b="1" i="0" u="none" strike="noStrike">
                        <a:solidFill>
                          <a:schemeClr val="dk1"/>
                        </a:solidFill>
                        <a:effectLst/>
                        <a:latin typeface="+mn-lt"/>
                      </a:endParaRPr>
                    </a:p>
                  </a:txBody>
                  <a:tcPr marL="45720" marR="45720" marT="18288" marB="18288">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en-US" sz="1050" u="none" strike="noStrike">
                          <a:effectLst/>
                          <a:latin typeface="Open Sans" panose="020B0606030504020204" pitchFamily="34" charset="0"/>
                          <a:ea typeface="Open Sans" panose="020B0606030504020204" pitchFamily="34" charset="0"/>
                          <a:cs typeface="Open Sans" panose="020B0606030504020204" pitchFamily="34" charset="0"/>
                        </a:rPr>
                        <a:t>High-level cost analysis for migration</a:t>
                      </a:r>
                      <a:endParaRPr lang="en-US" sz="105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36576" marR="6350" marT="6350" marB="0" anchor="ctr">
                    <a:lnL w="12700" cmpd="sng">
                      <a:noFill/>
                      <a:prstDash val="solid"/>
                    </a:lnL>
                    <a:lnR w="12700" cap="flat" cmpd="sng" algn="ctr">
                      <a:no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spc="-5"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spc="-5"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7669088"/>
                  </a:ext>
                </a:extLst>
              </a:tr>
              <a:tr h="223528">
                <a:tc vMerge="1">
                  <a:txBody>
                    <a:bodyPr/>
                    <a:lstStyle/>
                    <a:p>
                      <a:pPr marL="0" indent="0" algn="l" fontAlgn="ctr">
                        <a:spcBef>
                          <a:spcPts val="0"/>
                        </a:spcBef>
                        <a:spcAft>
                          <a:spcPts val="0"/>
                        </a:spcAft>
                      </a:pPr>
                      <a:endParaRPr lang="en-US" sz="800" b="1" i="0" u="none" strike="noStrike">
                        <a:solidFill>
                          <a:schemeClr val="dk1"/>
                        </a:solidFill>
                        <a:effectLst/>
                        <a:latin typeface="+mn-lt"/>
                      </a:endParaRPr>
                    </a:p>
                  </a:txBody>
                  <a:tcPr marL="45720" marR="45720" marT="18288" marB="18288">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en-US" sz="1050" u="none" strike="noStrike" dirty="0">
                          <a:effectLst/>
                          <a:latin typeface="Open Sans" panose="020B0606030504020204" pitchFamily="34" charset="0"/>
                          <a:ea typeface="Open Sans" panose="020B0606030504020204" pitchFamily="34" charset="0"/>
                          <a:cs typeface="Open Sans" panose="020B0606030504020204" pitchFamily="34" charset="0"/>
                        </a:rPr>
                        <a:t>Confirm migration approach</a:t>
                      </a:r>
                      <a:endParaRPr lang="en-US" sz="105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36576" marR="6350" marT="6350" marB="0" anchor="ctr">
                    <a:lnL w="12700" cmpd="sng">
                      <a:noFill/>
                      <a:prstDash val="solid"/>
                    </a:lnL>
                    <a:lnR w="12700" cap="flat" cmpd="sng" algn="ctr">
                      <a:no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050" kern="1200">
                        <a:solidFill>
                          <a:schemeClr val="dk1"/>
                        </a:solidFill>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72153924"/>
                  </a:ext>
                </a:extLst>
              </a:tr>
              <a:tr h="223528">
                <a:tc vMerge="1">
                  <a:txBody>
                    <a:bodyPr/>
                    <a:lstStyle/>
                    <a:p>
                      <a:pPr marL="0" indent="0" algn="l" fontAlgn="ctr">
                        <a:spcBef>
                          <a:spcPts val="0"/>
                        </a:spcBef>
                        <a:spcAft>
                          <a:spcPts val="0"/>
                        </a:spcAft>
                      </a:pPr>
                      <a:endParaRPr lang="en-US" sz="800" b="1" i="0" u="none" strike="noStrike">
                        <a:solidFill>
                          <a:schemeClr val="dk1"/>
                        </a:solidFill>
                        <a:effectLst/>
                        <a:latin typeface="+mn-lt"/>
                      </a:endParaRPr>
                    </a:p>
                  </a:txBody>
                  <a:tcPr marL="45720" marR="45720" marT="18288" marB="18288">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en-US" sz="1050" u="none" strike="noStrike" dirty="0">
                          <a:effectLst/>
                          <a:latin typeface="Open Sans" panose="020B0606030504020204" pitchFamily="34" charset="0"/>
                          <a:ea typeface="Open Sans" panose="020B0606030504020204" pitchFamily="34" charset="0"/>
                          <a:cs typeface="Open Sans" panose="020B0606030504020204" pitchFamily="34" charset="0"/>
                        </a:rPr>
                        <a:t>Develop migration roadmap and timeline</a:t>
                      </a:r>
                      <a:endParaRPr lang="en-US" sz="105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36576" marR="6350" marT="6350" marB="0" anchor="ctr">
                    <a:lnL w="12700" cmpd="sng">
                      <a:noFill/>
                      <a:prstDash val="solid"/>
                    </a:lnL>
                    <a:lnR w="12700" cap="flat" cmpd="sng" algn="ctr">
                      <a:no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kern="1200" dirty="0">
                        <a:solidFill>
                          <a:schemeClr val="dk1"/>
                        </a:solidFill>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8534493"/>
                  </a:ext>
                </a:extLst>
              </a:tr>
              <a:tr h="223528">
                <a:tc vMerge="1">
                  <a:txBody>
                    <a:bodyPr/>
                    <a:lstStyle/>
                    <a:p>
                      <a:pPr marL="0" indent="0" algn="l" fontAlgn="ctr">
                        <a:spcBef>
                          <a:spcPts val="0"/>
                        </a:spcBef>
                        <a:spcAft>
                          <a:spcPts val="0"/>
                        </a:spcAft>
                      </a:pPr>
                      <a:endParaRPr lang="en-US" sz="800" b="1" i="0" u="none" strike="noStrike">
                        <a:solidFill>
                          <a:schemeClr val="dk1"/>
                        </a:solidFill>
                        <a:effectLst/>
                        <a:latin typeface="+mn-lt"/>
                      </a:endParaRPr>
                    </a:p>
                  </a:txBody>
                  <a:tcPr marL="45720" marR="45720" marT="18288" marB="18288">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en-US" sz="1050" u="none" strike="noStrike">
                          <a:effectLst/>
                          <a:latin typeface="Open Sans" panose="020B0606030504020204" pitchFamily="34" charset="0"/>
                          <a:ea typeface="Open Sans" panose="020B0606030504020204" pitchFamily="34" charset="0"/>
                          <a:cs typeface="Open Sans" panose="020B0606030504020204" pitchFamily="34" charset="0"/>
                        </a:rPr>
                        <a:t>Develop staffing plan</a:t>
                      </a:r>
                      <a:endParaRPr lang="en-US" sz="105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36576" marR="6350" marT="6350" marB="0" anchor="ctr">
                    <a:lnL w="12700" cmpd="sng">
                      <a:noFill/>
                      <a:prstDash val="solid"/>
                    </a:lnL>
                    <a:lnR w="12700" cap="flat" cmpd="sng" algn="ctr">
                      <a:noFill/>
                      <a:prstDash val="solid"/>
                      <a:round/>
                      <a:headEnd type="none" w="med" len="med"/>
                      <a:tailEnd type="none" w="med" len="me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kern="1200">
                        <a:solidFill>
                          <a:schemeClr val="dk1"/>
                        </a:solidFill>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2183373"/>
                  </a:ext>
                </a:extLst>
              </a:tr>
              <a:tr h="223528">
                <a:tc rowSpan="2">
                  <a:txBody>
                    <a:bodyPr/>
                    <a:lstStyle/>
                    <a:p>
                      <a:pPr marL="0" indent="0" algn="l" defTabSz="914400" rtl="0" eaLnBrk="1" fontAlgn="ctr" latinLnBrk="0" hangingPunct="1">
                        <a:lnSpc>
                          <a:spcPct val="100000"/>
                        </a:lnSpc>
                        <a:spcBef>
                          <a:spcPts val="0"/>
                        </a:spcBef>
                        <a:spcAft>
                          <a:spcPts val="0"/>
                        </a:spcAft>
                      </a:pPr>
                      <a:r>
                        <a:rPr lang="en-US" sz="1050" b="1" i="0" u="none" strike="noStrike"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Business case</a:t>
                      </a: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sz="1050" u="none" strike="noStrike"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Co-ordinate with Apple BU teams to connect inputs required for business case</a:t>
                      </a:r>
                    </a:p>
                  </a:txBody>
                  <a:tcPr marL="36576" marR="6350" marT="6350" marB="0" anchor="ctr">
                    <a:lnL w="12700" cmpd="sng">
                      <a:noFill/>
                      <a:prstDash val="solid"/>
                    </a:lnL>
                    <a:lnR w="12700" cap="flat" cmpd="sng" algn="ctr">
                      <a:noFill/>
                      <a:prstDash val="solid"/>
                      <a:round/>
                      <a:headEnd type="none" w="med" len="med"/>
                      <a:tailEnd type="none" w="med" len="me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050" kern="1200">
                        <a:solidFill>
                          <a:schemeClr val="dk1"/>
                        </a:solidFill>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8530424"/>
                  </a:ext>
                </a:extLst>
              </a:tr>
              <a:tr h="223528">
                <a:tc vMerge="1">
                  <a:txBody>
                    <a:bodyPr/>
                    <a:lstStyle/>
                    <a:p>
                      <a:pPr marL="0" indent="0" algn="ctr" defTabSz="914400" rtl="0" eaLnBrk="1" fontAlgn="ctr" latinLnBrk="0" hangingPunct="1">
                        <a:lnSpc>
                          <a:spcPct val="100000"/>
                        </a:lnSpc>
                        <a:spcBef>
                          <a:spcPts val="0"/>
                        </a:spcBef>
                        <a:spcAft>
                          <a:spcPts val="0"/>
                        </a:spcAft>
                      </a:pPr>
                      <a:endParaRPr lang="en-US" sz="1000" b="1" i="0" u="none" strike="noStrike" kern="1200">
                        <a:solidFill>
                          <a:schemeClr val="dk1"/>
                        </a:solidFill>
                        <a:effectLst/>
                        <a:latin typeface="+mn-lt"/>
                        <a:ea typeface="+mn-ea"/>
                        <a:cs typeface="+mn-cs"/>
                      </a:endParaRPr>
                    </a:p>
                  </a:txBody>
                  <a:tcPr marL="45720" marR="45720" marT="18288" marB="18288">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sz="1050" u="none" strike="noStrike"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Develop Snowflake migration business case</a:t>
                      </a:r>
                    </a:p>
                  </a:txBody>
                  <a:tcPr marL="36576" marR="6350" marT="6350" marB="0" anchor="ctr">
                    <a:lnL w="12700" cmpd="sng">
                      <a:noFill/>
                      <a:prstDash val="solid"/>
                    </a:lnL>
                    <a:lnR w="12700" cap="flat" cmpd="sng" algn="ctr">
                      <a:noFill/>
                      <a:prstDash val="solid"/>
                      <a:round/>
                      <a:headEnd type="none" w="med" len="med"/>
                      <a:tailEnd type="none" w="med" len="me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050" kern="1200">
                        <a:solidFill>
                          <a:schemeClr val="dk1"/>
                        </a:solidFill>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3065885"/>
                  </a:ext>
                </a:extLst>
              </a:tr>
              <a:tr h="223528">
                <a:tc rowSpan="2">
                  <a:txBody>
                    <a:bodyPr/>
                    <a:lstStyle/>
                    <a:p>
                      <a:pPr marL="0" indent="0" algn="l" defTabSz="914400" rtl="0" eaLnBrk="1" fontAlgn="ctr" latinLnBrk="0" hangingPunct="1">
                        <a:lnSpc>
                          <a:spcPct val="100000"/>
                        </a:lnSpc>
                        <a:spcBef>
                          <a:spcPts val="0"/>
                        </a:spcBef>
                        <a:spcAft>
                          <a:spcPts val="0"/>
                        </a:spcAft>
                      </a:pPr>
                      <a:r>
                        <a:rPr lang="en-US" sz="1050" b="1" i="0" u="none" strike="noStrike"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MVP</a:t>
                      </a: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sz="1050" u="none" strike="noStrike"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Define scope for MVP</a:t>
                      </a:r>
                    </a:p>
                  </a:txBody>
                  <a:tcPr marL="36576" marR="6350" marT="6350" marB="0" anchor="ctr">
                    <a:lnL w="12700" cmpd="sng">
                      <a:noFill/>
                      <a:prstDash val="solid"/>
                    </a:lnL>
                    <a:lnR w="12700" cap="flat" cmpd="sng" algn="ctr">
                      <a:noFill/>
                      <a:prstDash val="solid"/>
                      <a:round/>
                      <a:headEnd type="none" w="med" len="med"/>
                      <a:tailEnd type="none" w="med" len="me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050" kern="1200">
                        <a:solidFill>
                          <a:schemeClr val="dk1"/>
                        </a:solidFill>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68896641"/>
                  </a:ext>
                </a:extLst>
              </a:tr>
              <a:tr h="223528">
                <a:tc vMerge="1">
                  <a:txBody>
                    <a:bodyPr/>
                    <a:lstStyle/>
                    <a:p>
                      <a:pPr marL="0" indent="0" algn="ctr" defTabSz="914400" rtl="0" eaLnBrk="1" fontAlgn="ctr" latinLnBrk="0" hangingPunct="1">
                        <a:lnSpc>
                          <a:spcPct val="100000"/>
                        </a:lnSpc>
                        <a:spcBef>
                          <a:spcPts val="0"/>
                        </a:spcBef>
                        <a:spcAft>
                          <a:spcPts val="0"/>
                        </a:spcAft>
                      </a:pPr>
                      <a:endParaRPr lang="en-US" sz="1000" b="1" i="0" u="none" strike="noStrike" kern="1200">
                        <a:solidFill>
                          <a:schemeClr val="dk1"/>
                        </a:solidFill>
                        <a:effectLst/>
                        <a:latin typeface="+mn-lt"/>
                        <a:ea typeface="+mn-ea"/>
                        <a:cs typeface="+mn-cs"/>
                      </a:endParaRPr>
                    </a:p>
                  </a:txBody>
                  <a:tcPr marL="45720" marR="45720" marT="18288" marB="18288">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sz="1050" u="none" strike="noStrike"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Execute MVP</a:t>
                      </a:r>
                    </a:p>
                  </a:txBody>
                  <a:tcPr marL="36576" marR="6350" marT="6350" marB="0" anchor="ctr">
                    <a:lnL w="12700" cmpd="sng">
                      <a:noFill/>
                      <a:prstDash val="solid"/>
                    </a:lnL>
                    <a:lnR w="12700" cap="flat" cmpd="sng" algn="ctr">
                      <a:noFill/>
                      <a:prstDash val="solid"/>
                      <a:round/>
                      <a:headEnd type="none" w="med" len="med"/>
                      <a:tailEnd type="none" w="med" len="me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endParaRPr lang="en-US" sz="1050" kern="1200" dirty="0">
                        <a:solidFill>
                          <a:schemeClr val="dk1"/>
                        </a:solidFill>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kern="1200" noProof="0" dirty="0">
                          <a:latin typeface="Open Sans" panose="020B0606030504020204" pitchFamily="34" charset="0"/>
                          <a:ea typeface="Open Sans" panose="020B0606030504020204" pitchFamily="34" charset="0"/>
                          <a:cs typeface="Open Sans" panose="020B0606030504020204" pitchFamily="34" charset="0"/>
                          <a:sym typeface="Wingdings"/>
                        </a:rPr>
                        <a:t></a:t>
                      </a:r>
                      <a:endParaRPr lang="en-US" sz="1050" dirty="0">
                        <a:latin typeface="Open Sans" panose="020B0606030504020204" pitchFamily="34" charset="0"/>
                        <a:ea typeface="Open Sans" panose="020B0606030504020204" pitchFamily="34" charset="0"/>
                        <a:cs typeface="Open Sans" panose="020B0606030504020204" pitchFamily="34" charset="0"/>
                      </a:endParaRP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8007940"/>
                  </a:ext>
                </a:extLst>
              </a:tr>
              <a:tr h="223528">
                <a:tc>
                  <a:txBody>
                    <a:bodyPr/>
                    <a:lstStyle/>
                    <a:p>
                      <a:pPr marL="0" indent="0" algn="l" defTabSz="914400" rtl="0" eaLnBrk="1" fontAlgn="ctr" latinLnBrk="0" hangingPunct="1">
                        <a:lnSpc>
                          <a:spcPct val="100000"/>
                        </a:lnSpc>
                        <a:spcBef>
                          <a:spcPts val="0"/>
                        </a:spcBef>
                        <a:spcAft>
                          <a:spcPts val="0"/>
                        </a:spcAft>
                      </a:pPr>
                      <a:r>
                        <a:rPr lang="en-US" sz="1050" b="1" i="0" u="none" strike="noStrike" kern="1200" dirty="0">
                          <a:solidFill>
                            <a:schemeClr val="dk1"/>
                          </a:solidFill>
                          <a:effectLst/>
                          <a:latin typeface="Open Sans" panose="020B0606030504020204" pitchFamily="34" charset="0"/>
                          <a:ea typeface="Open Sans" panose="020B0606030504020204" pitchFamily="34" charset="0"/>
                          <a:cs typeface="Open Sans" panose="020B0606030504020204" pitchFamily="34" charset="0"/>
                        </a:rPr>
                        <a:t>Duration</a:t>
                      </a: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endParaRPr lang="en-US" sz="1050" u="none" strike="noStrike" kern="1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36576" marR="6350" marT="6350" marB="0" anchor="ctr">
                    <a:lnL w="12700" cmpd="sng">
                      <a:noFill/>
                      <a:prstDash val="solid"/>
                    </a:lnL>
                    <a:lnR w="12700" cap="flat" cmpd="sng" algn="ctr">
                      <a:noFill/>
                      <a:prstDash val="solid"/>
                      <a:round/>
                      <a:headEnd type="none" w="med" len="med"/>
                      <a:tailEnd type="none" w="med" len="me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kern="1200" dirty="0">
                          <a:solidFill>
                            <a:schemeClr val="dk1"/>
                          </a:solidFill>
                          <a:latin typeface="Open Sans" panose="020B0606030504020204" pitchFamily="34" charset="0"/>
                          <a:ea typeface="Open Sans" panose="020B0606030504020204" pitchFamily="34" charset="0"/>
                          <a:cs typeface="Open Sans" panose="020B0606030504020204" pitchFamily="34" charset="0"/>
                        </a:rPr>
                        <a:t>4 weeks</a:t>
                      </a:r>
                    </a:p>
                  </a:txBody>
                  <a:tcPr marL="45720" marR="45720" marT="18288" marB="18288" anchor="ctr">
                    <a:lnL w="12700" cap="flat" cmpd="sng" algn="ctr">
                      <a:noFill/>
                      <a:prstDash val="solid"/>
                      <a:round/>
                      <a:headEnd type="none" w="med" len="med"/>
                      <a:tailEnd type="none" w="med" len="me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dirty="0">
                          <a:latin typeface="Open Sans" panose="020B0606030504020204" pitchFamily="34" charset="0"/>
                          <a:ea typeface="Open Sans" panose="020B0606030504020204" pitchFamily="34" charset="0"/>
                          <a:cs typeface="Open Sans" panose="020B0606030504020204" pitchFamily="34" charset="0"/>
                        </a:rPr>
                        <a:t>10 Weeks</a:t>
                      </a: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050" dirty="0">
                          <a:latin typeface="Open Sans" panose="020B0606030504020204" pitchFamily="34" charset="0"/>
                          <a:ea typeface="Open Sans" panose="020B0606030504020204" pitchFamily="34" charset="0"/>
                          <a:cs typeface="Open Sans" panose="020B0606030504020204" pitchFamily="34" charset="0"/>
                        </a:rPr>
                        <a:t>13 Weeks</a:t>
                      </a:r>
                    </a:p>
                  </a:txBody>
                  <a:tcPr marL="45720" marR="45720" marT="18288" marB="18288" anchor="ctr">
                    <a:lnL w="12700" cmpd="sng">
                      <a:noFill/>
                      <a:prstDash val="solid"/>
                    </a:lnL>
                    <a:lnR w="12700" cmpd="sng">
                      <a:noFill/>
                      <a:prstDash val="solid"/>
                    </a:lnR>
                    <a:lnT w="6350" cmpd="sng">
                      <a:solidFill>
                        <a:schemeClr val="accent6"/>
                      </a:solid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38871"/>
                  </a:ext>
                </a:extLst>
              </a:tr>
            </a:tbl>
          </a:graphicData>
        </a:graphic>
      </p:graphicFrame>
    </p:spTree>
    <p:extLst>
      <p:ext uri="{BB962C8B-B14F-4D97-AF65-F5344CB8AC3E}">
        <p14:creationId xmlns:p14="http://schemas.microsoft.com/office/powerpoint/2010/main" val="33367032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BDA6988-39F5-4D82-BFD4-88103B9F76A0}"/>
              </a:ext>
            </a:extLst>
          </p:cNvPr>
          <p:cNvSpPr>
            <a:spLocks noGrp="1"/>
          </p:cNvSpPr>
          <p:nvPr>
            <p:ph type="body" sz="quarter" idx="13"/>
          </p:nvPr>
        </p:nvSpPr>
        <p:spPr>
          <a:xfrm>
            <a:off x="469900" y="835067"/>
            <a:ext cx="9991446" cy="184666"/>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Our Modernization factory approach has been designed to accelerate and de-risk the delivery of client outcomes </a:t>
            </a:r>
          </a:p>
        </p:txBody>
      </p:sp>
      <p:sp>
        <p:nvSpPr>
          <p:cNvPr id="2" name="Title 1">
            <a:extLst>
              <a:ext uri="{FF2B5EF4-FFF2-40B4-BE49-F238E27FC236}">
                <a16:creationId xmlns:a16="http://schemas.microsoft.com/office/drawing/2014/main" id="{5DCAC19C-95D8-4B42-B7F6-8CBB21490FD4}"/>
              </a:ext>
            </a:extLst>
          </p:cNvPr>
          <p:cNvSpPr>
            <a:spLocks noGrp="1"/>
          </p:cNvSpPr>
          <p:nvPr>
            <p:ph type="title"/>
          </p:nvPr>
        </p:nvSpPr>
        <p:spPr>
          <a:xfrm>
            <a:off x="459739" y="456863"/>
            <a:ext cx="11252200" cy="369332"/>
          </a:xfrm>
        </p:spPr>
        <p:txBody>
          <a:bodyPr vert="horz" lIns="0" tIns="0" rIns="0" bIns="0" rtlCol="0" anchor="t" anchorCtr="0">
            <a:noAutofit/>
          </a:bodyPr>
          <a:lstStyle/>
          <a:p>
            <a:r>
              <a:rPr lang="en-US" sz="2000" b="1" dirty="0">
                <a:latin typeface="Open Sans" panose="020B0606030504020204" pitchFamily="34" charset="0"/>
                <a:ea typeface="Open Sans" panose="020B0606030504020204" pitchFamily="34" charset="0"/>
                <a:cs typeface="Open Sans" panose="020B0606030504020204" pitchFamily="34" charset="0"/>
              </a:rPr>
              <a:t>Our Value Proposition</a:t>
            </a:r>
          </a:p>
        </p:txBody>
      </p:sp>
      <p:sp>
        <p:nvSpPr>
          <p:cNvPr id="7" name="Rectangle 6">
            <a:extLst>
              <a:ext uri="{FF2B5EF4-FFF2-40B4-BE49-F238E27FC236}">
                <a16:creationId xmlns:a16="http://schemas.microsoft.com/office/drawing/2014/main" id="{4F3A6C50-0088-1074-2A99-5517E52106E5}"/>
              </a:ext>
            </a:extLst>
          </p:cNvPr>
          <p:cNvSpPr/>
          <p:nvPr/>
        </p:nvSpPr>
        <p:spPr>
          <a:xfrm>
            <a:off x="469900" y="5266393"/>
            <a:ext cx="11185503" cy="868680"/>
          </a:xfrm>
          <a:prstGeom prst="rect">
            <a:avLst/>
          </a:prstGeom>
          <a:solidFill>
            <a:srgbClr val="37C4FF"/>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24" name="Group 23">
            <a:extLst>
              <a:ext uri="{FF2B5EF4-FFF2-40B4-BE49-F238E27FC236}">
                <a16:creationId xmlns:a16="http://schemas.microsoft.com/office/drawing/2014/main" id="{28496F0D-F6DF-7C8E-04E2-8EEE80D4F71B}"/>
              </a:ext>
            </a:extLst>
          </p:cNvPr>
          <p:cNvGrpSpPr/>
          <p:nvPr/>
        </p:nvGrpSpPr>
        <p:grpSpPr>
          <a:xfrm>
            <a:off x="3445708" y="5412783"/>
            <a:ext cx="2545217" cy="575900"/>
            <a:chOff x="3630305" y="5412783"/>
            <a:chExt cx="2545217" cy="575900"/>
          </a:xfrm>
        </p:grpSpPr>
        <p:sp>
          <p:nvSpPr>
            <p:cNvPr id="8" name="TextBox 7">
              <a:extLst>
                <a:ext uri="{FF2B5EF4-FFF2-40B4-BE49-F238E27FC236}">
                  <a16:creationId xmlns:a16="http://schemas.microsoft.com/office/drawing/2014/main" id="{493A8743-0130-BC84-85BA-581C14C33E37}"/>
                </a:ext>
              </a:extLst>
            </p:cNvPr>
            <p:cNvSpPr txBox="1"/>
            <p:nvPr/>
          </p:nvSpPr>
          <p:spPr>
            <a:xfrm>
              <a:off x="4072402" y="5412783"/>
              <a:ext cx="2103120" cy="575900"/>
            </a:xfrm>
            <a:prstGeom prst="rect">
              <a:avLst/>
            </a:prstGeom>
            <a:noFill/>
          </p:spPr>
          <p:txBody>
            <a:bodyPr wrap="square" lIns="0" rtlCol="0" anchor="ctr">
              <a:no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Delivered Multiple Projects Using our Approach</a:t>
              </a:r>
            </a:p>
          </p:txBody>
        </p:sp>
        <p:sp>
          <p:nvSpPr>
            <p:cNvPr id="9" name="Freeform 672">
              <a:extLst>
                <a:ext uri="{FF2B5EF4-FFF2-40B4-BE49-F238E27FC236}">
                  <a16:creationId xmlns:a16="http://schemas.microsoft.com/office/drawing/2014/main" id="{F5930F6C-2A65-9F92-1756-5BC2C0D0444B}"/>
                </a:ext>
              </a:extLst>
            </p:cNvPr>
            <p:cNvSpPr>
              <a:spLocks noChangeAspect="1" noEditPoints="1"/>
            </p:cNvSpPr>
            <p:nvPr/>
          </p:nvSpPr>
          <p:spPr bwMode="auto">
            <a:xfrm>
              <a:off x="3630305" y="5516223"/>
              <a:ext cx="369021" cy="36902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384 h 512"/>
                <a:gd name="T12" fmla="*/ 128 w 512"/>
                <a:gd name="T13" fmla="*/ 256 h 512"/>
                <a:gd name="T14" fmla="*/ 152 w 512"/>
                <a:gd name="T15" fmla="*/ 181 h 512"/>
                <a:gd name="T16" fmla="*/ 128 w 512"/>
                <a:gd name="T17" fmla="*/ 181 h 512"/>
                <a:gd name="T18" fmla="*/ 117 w 512"/>
                <a:gd name="T19" fmla="*/ 170 h 512"/>
                <a:gd name="T20" fmla="*/ 128 w 512"/>
                <a:gd name="T21" fmla="*/ 160 h 512"/>
                <a:gd name="T22" fmla="*/ 181 w 512"/>
                <a:gd name="T23" fmla="*/ 160 h 512"/>
                <a:gd name="T24" fmla="*/ 192 w 512"/>
                <a:gd name="T25" fmla="*/ 170 h 512"/>
                <a:gd name="T26" fmla="*/ 192 w 512"/>
                <a:gd name="T27" fmla="*/ 224 h 512"/>
                <a:gd name="T28" fmla="*/ 181 w 512"/>
                <a:gd name="T29" fmla="*/ 234 h 512"/>
                <a:gd name="T30" fmla="*/ 170 w 512"/>
                <a:gd name="T31" fmla="*/ 224 h 512"/>
                <a:gd name="T32" fmla="*/ 170 w 512"/>
                <a:gd name="T33" fmla="*/ 192 h 512"/>
                <a:gd name="T34" fmla="*/ 149 w 512"/>
                <a:gd name="T35" fmla="*/ 256 h 512"/>
                <a:gd name="T36" fmla="*/ 256 w 512"/>
                <a:gd name="T37" fmla="*/ 362 h 512"/>
                <a:gd name="T38" fmla="*/ 362 w 512"/>
                <a:gd name="T39" fmla="*/ 256 h 512"/>
                <a:gd name="T40" fmla="*/ 256 w 512"/>
                <a:gd name="T41" fmla="*/ 149 h 512"/>
                <a:gd name="T42" fmla="*/ 245 w 512"/>
                <a:gd name="T43" fmla="*/ 138 h 512"/>
                <a:gd name="T44" fmla="*/ 256 w 512"/>
                <a:gd name="T45" fmla="*/ 128 h 512"/>
                <a:gd name="T46" fmla="*/ 384 w 512"/>
                <a:gd name="T47" fmla="*/ 256 h 512"/>
                <a:gd name="T48" fmla="*/ 256 w 512"/>
                <a:gd name="T49" fmla="*/ 38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384"/>
                  </a:moveTo>
                  <a:cubicBezTo>
                    <a:pt x="185" y="384"/>
                    <a:pt x="128" y="326"/>
                    <a:pt x="128" y="256"/>
                  </a:cubicBezTo>
                  <a:cubicBezTo>
                    <a:pt x="128" y="229"/>
                    <a:pt x="136" y="203"/>
                    <a:pt x="152" y="181"/>
                  </a:cubicBezTo>
                  <a:cubicBezTo>
                    <a:pt x="128" y="181"/>
                    <a:pt x="128" y="181"/>
                    <a:pt x="128" y="181"/>
                  </a:cubicBezTo>
                  <a:cubicBezTo>
                    <a:pt x="122" y="181"/>
                    <a:pt x="117" y="176"/>
                    <a:pt x="117" y="170"/>
                  </a:cubicBezTo>
                  <a:cubicBezTo>
                    <a:pt x="117" y="164"/>
                    <a:pt x="122" y="160"/>
                    <a:pt x="128" y="160"/>
                  </a:cubicBezTo>
                  <a:cubicBezTo>
                    <a:pt x="181" y="160"/>
                    <a:pt x="181" y="160"/>
                    <a:pt x="181" y="160"/>
                  </a:cubicBezTo>
                  <a:cubicBezTo>
                    <a:pt x="187" y="160"/>
                    <a:pt x="192" y="164"/>
                    <a:pt x="192" y="170"/>
                  </a:cubicBezTo>
                  <a:cubicBezTo>
                    <a:pt x="192" y="224"/>
                    <a:pt x="192" y="224"/>
                    <a:pt x="192" y="224"/>
                  </a:cubicBezTo>
                  <a:cubicBezTo>
                    <a:pt x="192" y="230"/>
                    <a:pt x="187" y="234"/>
                    <a:pt x="181" y="234"/>
                  </a:cubicBezTo>
                  <a:cubicBezTo>
                    <a:pt x="175" y="234"/>
                    <a:pt x="170" y="230"/>
                    <a:pt x="170" y="224"/>
                  </a:cubicBezTo>
                  <a:cubicBezTo>
                    <a:pt x="170" y="192"/>
                    <a:pt x="170" y="192"/>
                    <a:pt x="170" y="192"/>
                  </a:cubicBezTo>
                  <a:cubicBezTo>
                    <a:pt x="157" y="210"/>
                    <a:pt x="149" y="232"/>
                    <a:pt x="149" y="256"/>
                  </a:cubicBezTo>
                  <a:cubicBezTo>
                    <a:pt x="149" y="314"/>
                    <a:pt x="197" y="362"/>
                    <a:pt x="256" y="362"/>
                  </a:cubicBezTo>
                  <a:cubicBezTo>
                    <a:pt x="314" y="362"/>
                    <a:pt x="362" y="314"/>
                    <a:pt x="362" y="256"/>
                  </a:cubicBezTo>
                  <a:cubicBezTo>
                    <a:pt x="362" y="197"/>
                    <a:pt x="314" y="149"/>
                    <a:pt x="256" y="149"/>
                  </a:cubicBezTo>
                  <a:cubicBezTo>
                    <a:pt x="250" y="149"/>
                    <a:pt x="245" y="144"/>
                    <a:pt x="245" y="138"/>
                  </a:cubicBezTo>
                  <a:cubicBezTo>
                    <a:pt x="245" y="132"/>
                    <a:pt x="250" y="128"/>
                    <a:pt x="256" y="128"/>
                  </a:cubicBezTo>
                  <a:cubicBezTo>
                    <a:pt x="326" y="128"/>
                    <a:pt x="384" y="185"/>
                    <a:pt x="384" y="256"/>
                  </a:cubicBezTo>
                  <a:cubicBezTo>
                    <a:pt x="384" y="326"/>
                    <a:pt x="326" y="384"/>
                    <a:pt x="256" y="384"/>
                  </a:cubicBezTo>
                  <a:close/>
                </a:path>
              </a:pathLst>
            </a:cu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5" name="Group 24">
            <a:extLst>
              <a:ext uri="{FF2B5EF4-FFF2-40B4-BE49-F238E27FC236}">
                <a16:creationId xmlns:a16="http://schemas.microsoft.com/office/drawing/2014/main" id="{694E466F-06E5-13F2-17F1-F6377F64A62B}"/>
              </a:ext>
            </a:extLst>
          </p:cNvPr>
          <p:cNvGrpSpPr/>
          <p:nvPr/>
        </p:nvGrpSpPr>
        <p:grpSpPr>
          <a:xfrm>
            <a:off x="6257427" y="5412783"/>
            <a:ext cx="2544545" cy="575900"/>
            <a:chOff x="6349389" y="5412783"/>
            <a:chExt cx="2544545" cy="575900"/>
          </a:xfrm>
        </p:grpSpPr>
        <p:sp>
          <p:nvSpPr>
            <p:cNvPr id="10" name="TextBox 9">
              <a:extLst>
                <a:ext uri="{FF2B5EF4-FFF2-40B4-BE49-F238E27FC236}">
                  <a16:creationId xmlns:a16="http://schemas.microsoft.com/office/drawing/2014/main" id="{36531355-C63A-BEDB-10C7-CC0CA364A6D9}"/>
                </a:ext>
              </a:extLst>
            </p:cNvPr>
            <p:cNvSpPr txBox="1"/>
            <p:nvPr/>
          </p:nvSpPr>
          <p:spPr>
            <a:xfrm>
              <a:off x="6790814" y="5412783"/>
              <a:ext cx="2103120" cy="575900"/>
            </a:xfrm>
            <a:prstGeom prst="rect">
              <a:avLst/>
            </a:prstGeom>
            <a:noFill/>
          </p:spPr>
          <p:txBody>
            <a:bodyPr wrap="square" lIns="0" rtlCol="0" anchor="ctr">
              <a:no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We Bring the Most Comprehensive Expertise</a:t>
              </a:r>
              <a:br>
                <a:rPr kumimoji="0" lang="en-US" sz="12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12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&amp; Assets </a:t>
              </a:r>
            </a:p>
          </p:txBody>
        </p:sp>
        <p:sp>
          <p:nvSpPr>
            <p:cNvPr id="11" name="Freeform 813">
              <a:extLst>
                <a:ext uri="{FF2B5EF4-FFF2-40B4-BE49-F238E27FC236}">
                  <a16:creationId xmlns:a16="http://schemas.microsoft.com/office/drawing/2014/main" id="{C725FF2F-8DE3-BDBF-1F6B-A92C1BB54A7F}"/>
                </a:ext>
              </a:extLst>
            </p:cNvPr>
            <p:cNvSpPr>
              <a:spLocks noChangeAspect="1" noEditPoints="1"/>
            </p:cNvSpPr>
            <p:nvPr/>
          </p:nvSpPr>
          <p:spPr bwMode="auto">
            <a:xfrm>
              <a:off x="6349389" y="5517213"/>
              <a:ext cx="367041" cy="367041"/>
            </a:xfrm>
            <a:custGeom>
              <a:avLst/>
              <a:gdLst>
                <a:gd name="T0" fmla="*/ 352 w 512"/>
                <a:gd name="T1" fmla="*/ 245 h 512"/>
                <a:gd name="T2" fmla="*/ 288 w 512"/>
                <a:gd name="T3" fmla="*/ 245 h 512"/>
                <a:gd name="T4" fmla="*/ 288 w 512"/>
                <a:gd name="T5" fmla="*/ 202 h 512"/>
                <a:gd name="T6" fmla="*/ 352 w 512"/>
                <a:gd name="T7" fmla="*/ 202 h 512"/>
                <a:gd name="T8" fmla="*/ 352 w 512"/>
                <a:gd name="T9" fmla="*/ 245 h 512"/>
                <a:gd name="T10" fmla="*/ 224 w 512"/>
                <a:gd name="T11" fmla="*/ 202 h 512"/>
                <a:gd name="T12" fmla="*/ 160 w 512"/>
                <a:gd name="T13" fmla="*/ 202 h 512"/>
                <a:gd name="T14" fmla="*/ 160 w 512"/>
                <a:gd name="T15" fmla="*/ 245 h 512"/>
                <a:gd name="T16" fmla="*/ 224 w 512"/>
                <a:gd name="T17" fmla="*/ 245 h 512"/>
                <a:gd name="T18" fmla="*/ 224 w 512"/>
                <a:gd name="T19" fmla="*/ 202 h 512"/>
                <a:gd name="T20" fmla="*/ 320 w 512"/>
                <a:gd name="T21" fmla="*/ 138 h 512"/>
                <a:gd name="T22" fmla="*/ 330 w 512"/>
                <a:gd name="T23" fmla="*/ 128 h 512"/>
                <a:gd name="T24" fmla="*/ 320 w 512"/>
                <a:gd name="T25" fmla="*/ 117 h 512"/>
                <a:gd name="T26" fmla="*/ 309 w 512"/>
                <a:gd name="T27" fmla="*/ 128 h 512"/>
                <a:gd name="T28" fmla="*/ 320 w 512"/>
                <a:gd name="T29" fmla="*/ 138 h 512"/>
                <a:gd name="T30" fmla="*/ 192 w 512"/>
                <a:gd name="T31" fmla="*/ 138 h 512"/>
                <a:gd name="T32" fmla="*/ 202 w 512"/>
                <a:gd name="T33" fmla="*/ 128 h 512"/>
                <a:gd name="T34" fmla="*/ 192 w 512"/>
                <a:gd name="T35" fmla="*/ 117 h 512"/>
                <a:gd name="T36" fmla="*/ 181 w 512"/>
                <a:gd name="T37" fmla="*/ 128 h 512"/>
                <a:gd name="T38" fmla="*/ 192 w 512"/>
                <a:gd name="T39" fmla="*/ 138 h 512"/>
                <a:gd name="T40" fmla="*/ 512 w 512"/>
                <a:gd name="T41" fmla="*/ 256 h 512"/>
                <a:gd name="T42" fmla="*/ 256 w 512"/>
                <a:gd name="T43" fmla="*/ 512 h 512"/>
                <a:gd name="T44" fmla="*/ 0 w 512"/>
                <a:gd name="T45" fmla="*/ 256 h 512"/>
                <a:gd name="T46" fmla="*/ 256 w 512"/>
                <a:gd name="T47" fmla="*/ 0 h 512"/>
                <a:gd name="T48" fmla="*/ 512 w 512"/>
                <a:gd name="T49" fmla="*/ 256 h 512"/>
                <a:gd name="T50" fmla="*/ 288 w 512"/>
                <a:gd name="T51" fmla="*/ 128 h 512"/>
                <a:gd name="T52" fmla="*/ 320 w 512"/>
                <a:gd name="T53" fmla="*/ 160 h 512"/>
                <a:gd name="T54" fmla="*/ 352 w 512"/>
                <a:gd name="T55" fmla="*/ 128 h 512"/>
                <a:gd name="T56" fmla="*/ 320 w 512"/>
                <a:gd name="T57" fmla="*/ 96 h 512"/>
                <a:gd name="T58" fmla="*/ 288 w 512"/>
                <a:gd name="T59" fmla="*/ 128 h 512"/>
                <a:gd name="T60" fmla="*/ 160 w 512"/>
                <a:gd name="T61" fmla="*/ 128 h 512"/>
                <a:gd name="T62" fmla="*/ 192 w 512"/>
                <a:gd name="T63" fmla="*/ 160 h 512"/>
                <a:gd name="T64" fmla="*/ 224 w 512"/>
                <a:gd name="T65" fmla="*/ 128 h 512"/>
                <a:gd name="T66" fmla="*/ 192 w 512"/>
                <a:gd name="T67" fmla="*/ 96 h 512"/>
                <a:gd name="T68" fmla="*/ 160 w 512"/>
                <a:gd name="T69" fmla="*/ 128 h 512"/>
                <a:gd name="T70" fmla="*/ 405 w 512"/>
                <a:gd name="T71" fmla="*/ 256 h 512"/>
                <a:gd name="T72" fmla="*/ 394 w 512"/>
                <a:gd name="T73" fmla="*/ 245 h 512"/>
                <a:gd name="T74" fmla="*/ 373 w 512"/>
                <a:gd name="T75" fmla="*/ 245 h 512"/>
                <a:gd name="T76" fmla="*/ 373 w 512"/>
                <a:gd name="T77" fmla="*/ 192 h 512"/>
                <a:gd name="T78" fmla="*/ 362 w 512"/>
                <a:gd name="T79" fmla="*/ 181 h 512"/>
                <a:gd name="T80" fmla="*/ 277 w 512"/>
                <a:gd name="T81" fmla="*/ 181 h 512"/>
                <a:gd name="T82" fmla="*/ 266 w 512"/>
                <a:gd name="T83" fmla="*/ 192 h 512"/>
                <a:gd name="T84" fmla="*/ 266 w 512"/>
                <a:gd name="T85" fmla="*/ 245 h 512"/>
                <a:gd name="T86" fmla="*/ 245 w 512"/>
                <a:gd name="T87" fmla="*/ 245 h 512"/>
                <a:gd name="T88" fmla="*/ 245 w 512"/>
                <a:gd name="T89" fmla="*/ 192 h 512"/>
                <a:gd name="T90" fmla="*/ 234 w 512"/>
                <a:gd name="T91" fmla="*/ 181 h 512"/>
                <a:gd name="T92" fmla="*/ 149 w 512"/>
                <a:gd name="T93" fmla="*/ 181 h 512"/>
                <a:gd name="T94" fmla="*/ 138 w 512"/>
                <a:gd name="T95" fmla="*/ 192 h 512"/>
                <a:gd name="T96" fmla="*/ 138 w 512"/>
                <a:gd name="T97" fmla="*/ 245 h 512"/>
                <a:gd name="T98" fmla="*/ 117 w 512"/>
                <a:gd name="T99" fmla="*/ 245 h 512"/>
                <a:gd name="T100" fmla="*/ 106 w 512"/>
                <a:gd name="T101" fmla="*/ 256 h 512"/>
                <a:gd name="T102" fmla="*/ 117 w 512"/>
                <a:gd name="T103" fmla="*/ 266 h 512"/>
                <a:gd name="T104" fmla="*/ 117 w 512"/>
                <a:gd name="T105" fmla="*/ 384 h 512"/>
                <a:gd name="T106" fmla="*/ 128 w 512"/>
                <a:gd name="T107" fmla="*/ 394 h 512"/>
                <a:gd name="T108" fmla="*/ 384 w 512"/>
                <a:gd name="T109" fmla="*/ 394 h 512"/>
                <a:gd name="T110" fmla="*/ 394 w 512"/>
                <a:gd name="T111" fmla="*/ 384 h 512"/>
                <a:gd name="T112" fmla="*/ 394 w 512"/>
                <a:gd name="T113" fmla="*/ 266 h 512"/>
                <a:gd name="T114" fmla="*/ 405 w 512"/>
                <a:gd name="T115" fmla="*/ 256 h 512"/>
                <a:gd name="T116" fmla="*/ 138 w 512"/>
                <a:gd name="T117" fmla="*/ 373 h 512"/>
                <a:gd name="T118" fmla="*/ 373 w 512"/>
                <a:gd name="T119" fmla="*/ 373 h 512"/>
                <a:gd name="T120" fmla="*/ 373 w 512"/>
                <a:gd name="T121" fmla="*/ 266 h 512"/>
                <a:gd name="T122" fmla="*/ 138 w 512"/>
                <a:gd name="T123" fmla="*/ 266 h 512"/>
                <a:gd name="T124" fmla="*/ 138 w 512"/>
                <a:gd name="T125" fmla="*/ 37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12" h="512">
                  <a:moveTo>
                    <a:pt x="352" y="245"/>
                  </a:moveTo>
                  <a:cubicBezTo>
                    <a:pt x="288" y="245"/>
                    <a:pt x="288" y="245"/>
                    <a:pt x="288" y="245"/>
                  </a:cubicBezTo>
                  <a:cubicBezTo>
                    <a:pt x="288" y="202"/>
                    <a:pt x="288" y="202"/>
                    <a:pt x="288" y="202"/>
                  </a:cubicBezTo>
                  <a:cubicBezTo>
                    <a:pt x="352" y="202"/>
                    <a:pt x="352" y="202"/>
                    <a:pt x="352" y="202"/>
                  </a:cubicBezTo>
                  <a:lnTo>
                    <a:pt x="352" y="245"/>
                  </a:lnTo>
                  <a:close/>
                  <a:moveTo>
                    <a:pt x="224" y="202"/>
                  </a:moveTo>
                  <a:cubicBezTo>
                    <a:pt x="160" y="202"/>
                    <a:pt x="160" y="202"/>
                    <a:pt x="160" y="202"/>
                  </a:cubicBezTo>
                  <a:cubicBezTo>
                    <a:pt x="160" y="245"/>
                    <a:pt x="160" y="245"/>
                    <a:pt x="160" y="245"/>
                  </a:cubicBezTo>
                  <a:cubicBezTo>
                    <a:pt x="224" y="245"/>
                    <a:pt x="224" y="245"/>
                    <a:pt x="224" y="245"/>
                  </a:cubicBezTo>
                  <a:lnTo>
                    <a:pt x="224" y="202"/>
                  </a:lnTo>
                  <a:close/>
                  <a:moveTo>
                    <a:pt x="320" y="138"/>
                  </a:moveTo>
                  <a:cubicBezTo>
                    <a:pt x="326" y="138"/>
                    <a:pt x="330" y="134"/>
                    <a:pt x="330" y="128"/>
                  </a:cubicBezTo>
                  <a:cubicBezTo>
                    <a:pt x="330" y="122"/>
                    <a:pt x="326" y="117"/>
                    <a:pt x="320" y="117"/>
                  </a:cubicBezTo>
                  <a:cubicBezTo>
                    <a:pt x="314" y="117"/>
                    <a:pt x="309" y="122"/>
                    <a:pt x="309" y="128"/>
                  </a:cubicBezTo>
                  <a:cubicBezTo>
                    <a:pt x="309" y="134"/>
                    <a:pt x="314" y="138"/>
                    <a:pt x="320" y="138"/>
                  </a:cubicBezTo>
                  <a:close/>
                  <a:moveTo>
                    <a:pt x="192" y="138"/>
                  </a:moveTo>
                  <a:cubicBezTo>
                    <a:pt x="198" y="138"/>
                    <a:pt x="202" y="134"/>
                    <a:pt x="202" y="128"/>
                  </a:cubicBezTo>
                  <a:cubicBezTo>
                    <a:pt x="202" y="122"/>
                    <a:pt x="198" y="117"/>
                    <a:pt x="192" y="117"/>
                  </a:cubicBezTo>
                  <a:cubicBezTo>
                    <a:pt x="186" y="117"/>
                    <a:pt x="181" y="122"/>
                    <a:pt x="181" y="128"/>
                  </a:cubicBezTo>
                  <a:cubicBezTo>
                    <a:pt x="181" y="134"/>
                    <a:pt x="186" y="138"/>
                    <a:pt x="192" y="13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88" y="128"/>
                  </a:moveTo>
                  <a:cubicBezTo>
                    <a:pt x="288" y="145"/>
                    <a:pt x="302" y="160"/>
                    <a:pt x="320" y="160"/>
                  </a:cubicBezTo>
                  <a:cubicBezTo>
                    <a:pt x="337" y="160"/>
                    <a:pt x="352" y="145"/>
                    <a:pt x="352" y="128"/>
                  </a:cubicBezTo>
                  <a:cubicBezTo>
                    <a:pt x="352" y="110"/>
                    <a:pt x="337" y="96"/>
                    <a:pt x="320" y="96"/>
                  </a:cubicBezTo>
                  <a:cubicBezTo>
                    <a:pt x="302" y="96"/>
                    <a:pt x="288" y="110"/>
                    <a:pt x="288" y="128"/>
                  </a:cubicBezTo>
                  <a:close/>
                  <a:moveTo>
                    <a:pt x="160" y="128"/>
                  </a:moveTo>
                  <a:cubicBezTo>
                    <a:pt x="160" y="145"/>
                    <a:pt x="174" y="160"/>
                    <a:pt x="192" y="160"/>
                  </a:cubicBezTo>
                  <a:cubicBezTo>
                    <a:pt x="209" y="160"/>
                    <a:pt x="224" y="145"/>
                    <a:pt x="224" y="128"/>
                  </a:cubicBezTo>
                  <a:cubicBezTo>
                    <a:pt x="224" y="110"/>
                    <a:pt x="209" y="96"/>
                    <a:pt x="192" y="96"/>
                  </a:cubicBezTo>
                  <a:cubicBezTo>
                    <a:pt x="174" y="96"/>
                    <a:pt x="160" y="110"/>
                    <a:pt x="160" y="128"/>
                  </a:cubicBezTo>
                  <a:close/>
                  <a:moveTo>
                    <a:pt x="405" y="256"/>
                  </a:moveTo>
                  <a:cubicBezTo>
                    <a:pt x="405" y="250"/>
                    <a:pt x="400" y="245"/>
                    <a:pt x="394" y="245"/>
                  </a:cubicBezTo>
                  <a:cubicBezTo>
                    <a:pt x="373" y="245"/>
                    <a:pt x="373" y="245"/>
                    <a:pt x="373" y="245"/>
                  </a:cubicBezTo>
                  <a:cubicBezTo>
                    <a:pt x="373" y="192"/>
                    <a:pt x="373" y="192"/>
                    <a:pt x="373" y="192"/>
                  </a:cubicBezTo>
                  <a:cubicBezTo>
                    <a:pt x="373" y="186"/>
                    <a:pt x="368" y="181"/>
                    <a:pt x="362" y="181"/>
                  </a:cubicBezTo>
                  <a:cubicBezTo>
                    <a:pt x="277" y="181"/>
                    <a:pt x="277" y="181"/>
                    <a:pt x="277" y="181"/>
                  </a:cubicBezTo>
                  <a:cubicBezTo>
                    <a:pt x="271" y="181"/>
                    <a:pt x="266" y="186"/>
                    <a:pt x="266" y="192"/>
                  </a:cubicBezTo>
                  <a:cubicBezTo>
                    <a:pt x="266" y="245"/>
                    <a:pt x="266" y="245"/>
                    <a:pt x="266" y="245"/>
                  </a:cubicBezTo>
                  <a:cubicBezTo>
                    <a:pt x="245" y="245"/>
                    <a:pt x="245" y="245"/>
                    <a:pt x="245" y="245"/>
                  </a:cubicBezTo>
                  <a:cubicBezTo>
                    <a:pt x="245" y="192"/>
                    <a:pt x="245" y="192"/>
                    <a:pt x="245" y="192"/>
                  </a:cubicBezTo>
                  <a:cubicBezTo>
                    <a:pt x="245" y="186"/>
                    <a:pt x="240" y="181"/>
                    <a:pt x="234" y="181"/>
                  </a:cubicBezTo>
                  <a:cubicBezTo>
                    <a:pt x="149" y="181"/>
                    <a:pt x="149" y="181"/>
                    <a:pt x="149" y="181"/>
                  </a:cubicBezTo>
                  <a:cubicBezTo>
                    <a:pt x="143" y="181"/>
                    <a:pt x="138" y="186"/>
                    <a:pt x="138" y="192"/>
                  </a:cubicBezTo>
                  <a:cubicBezTo>
                    <a:pt x="138" y="245"/>
                    <a:pt x="138" y="245"/>
                    <a:pt x="138" y="245"/>
                  </a:cubicBezTo>
                  <a:cubicBezTo>
                    <a:pt x="117" y="245"/>
                    <a:pt x="117" y="245"/>
                    <a:pt x="117" y="245"/>
                  </a:cubicBezTo>
                  <a:cubicBezTo>
                    <a:pt x="111" y="245"/>
                    <a:pt x="106" y="250"/>
                    <a:pt x="106" y="256"/>
                  </a:cubicBezTo>
                  <a:cubicBezTo>
                    <a:pt x="106" y="262"/>
                    <a:pt x="112" y="266"/>
                    <a:pt x="117" y="266"/>
                  </a:cubicBezTo>
                  <a:cubicBezTo>
                    <a:pt x="117" y="384"/>
                    <a:pt x="117" y="384"/>
                    <a:pt x="117" y="384"/>
                  </a:cubicBezTo>
                  <a:cubicBezTo>
                    <a:pt x="117" y="390"/>
                    <a:pt x="122" y="394"/>
                    <a:pt x="128" y="394"/>
                  </a:cubicBezTo>
                  <a:cubicBezTo>
                    <a:pt x="384" y="394"/>
                    <a:pt x="384" y="394"/>
                    <a:pt x="384" y="394"/>
                  </a:cubicBezTo>
                  <a:cubicBezTo>
                    <a:pt x="390" y="394"/>
                    <a:pt x="394" y="390"/>
                    <a:pt x="394" y="384"/>
                  </a:cubicBezTo>
                  <a:cubicBezTo>
                    <a:pt x="394" y="266"/>
                    <a:pt x="394" y="266"/>
                    <a:pt x="394" y="266"/>
                  </a:cubicBezTo>
                  <a:cubicBezTo>
                    <a:pt x="400" y="266"/>
                    <a:pt x="405" y="262"/>
                    <a:pt x="405" y="256"/>
                  </a:cubicBezTo>
                  <a:close/>
                  <a:moveTo>
                    <a:pt x="138" y="373"/>
                  </a:moveTo>
                  <a:cubicBezTo>
                    <a:pt x="373" y="373"/>
                    <a:pt x="373" y="373"/>
                    <a:pt x="373" y="373"/>
                  </a:cubicBezTo>
                  <a:cubicBezTo>
                    <a:pt x="373" y="266"/>
                    <a:pt x="373" y="266"/>
                    <a:pt x="373" y="266"/>
                  </a:cubicBezTo>
                  <a:cubicBezTo>
                    <a:pt x="138" y="266"/>
                    <a:pt x="138" y="266"/>
                    <a:pt x="138" y="266"/>
                  </a:cubicBezTo>
                  <a:lnTo>
                    <a:pt x="138" y="373"/>
                  </a:lnTo>
                  <a:close/>
                </a:path>
              </a:pathLst>
            </a:cu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6" name="Group 25">
            <a:extLst>
              <a:ext uri="{FF2B5EF4-FFF2-40B4-BE49-F238E27FC236}">
                <a16:creationId xmlns:a16="http://schemas.microsoft.com/office/drawing/2014/main" id="{34529D04-D26F-1F56-9515-B3BABBCB5C70}"/>
              </a:ext>
            </a:extLst>
          </p:cNvPr>
          <p:cNvGrpSpPr/>
          <p:nvPr/>
        </p:nvGrpSpPr>
        <p:grpSpPr>
          <a:xfrm>
            <a:off x="9068473" y="5412783"/>
            <a:ext cx="2559852" cy="575900"/>
            <a:chOff x="9068473" y="5412783"/>
            <a:chExt cx="2559852" cy="575900"/>
          </a:xfrm>
        </p:grpSpPr>
        <p:sp>
          <p:nvSpPr>
            <p:cNvPr id="12" name="TextBox 11">
              <a:extLst>
                <a:ext uri="{FF2B5EF4-FFF2-40B4-BE49-F238E27FC236}">
                  <a16:creationId xmlns:a16="http://schemas.microsoft.com/office/drawing/2014/main" id="{FE8DA312-D4F8-B598-B6A8-5FA1251CF35D}"/>
                </a:ext>
              </a:extLst>
            </p:cNvPr>
            <p:cNvSpPr txBox="1"/>
            <p:nvPr/>
          </p:nvSpPr>
          <p:spPr>
            <a:xfrm>
              <a:off x="9525205" y="5412783"/>
              <a:ext cx="2103120" cy="575900"/>
            </a:xfrm>
            <a:prstGeom prst="rect">
              <a:avLst/>
            </a:prstGeom>
            <a:noFill/>
          </p:spPr>
          <p:txBody>
            <a:bodyPr wrap="square" lIns="0" rtlCol="0" anchor="ctr">
              <a:no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Collaborative Style Proven Effective at many Clients</a:t>
              </a:r>
            </a:p>
          </p:txBody>
        </p:sp>
        <p:sp>
          <p:nvSpPr>
            <p:cNvPr id="13" name="Freeform 189">
              <a:extLst>
                <a:ext uri="{FF2B5EF4-FFF2-40B4-BE49-F238E27FC236}">
                  <a16:creationId xmlns:a16="http://schemas.microsoft.com/office/drawing/2014/main" id="{E934E777-A681-7E6F-AD58-2BAB0007C7C9}"/>
                </a:ext>
              </a:extLst>
            </p:cNvPr>
            <p:cNvSpPr>
              <a:spLocks noChangeAspect="1" noEditPoints="1"/>
            </p:cNvSpPr>
            <p:nvPr/>
          </p:nvSpPr>
          <p:spPr bwMode="auto">
            <a:xfrm>
              <a:off x="9068473" y="5517213"/>
              <a:ext cx="367042" cy="367041"/>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3" name="Group 22">
            <a:extLst>
              <a:ext uri="{FF2B5EF4-FFF2-40B4-BE49-F238E27FC236}">
                <a16:creationId xmlns:a16="http://schemas.microsoft.com/office/drawing/2014/main" id="{1C30B923-9D98-376E-F36B-76B5901292D5}"/>
              </a:ext>
            </a:extLst>
          </p:cNvPr>
          <p:cNvGrpSpPr/>
          <p:nvPr/>
        </p:nvGrpSpPr>
        <p:grpSpPr>
          <a:xfrm>
            <a:off x="630566" y="5412783"/>
            <a:ext cx="2548640" cy="575900"/>
            <a:chOff x="911221" y="5412783"/>
            <a:chExt cx="2548640" cy="575900"/>
          </a:xfrm>
        </p:grpSpPr>
        <p:sp>
          <p:nvSpPr>
            <p:cNvPr id="14" name="TextBox 13">
              <a:extLst>
                <a:ext uri="{FF2B5EF4-FFF2-40B4-BE49-F238E27FC236}">
                  <a16:creationId xmlns:a16="http://schemas.microsoft.com/office/drawing/2014/main" id="{1616496D-F95E-87A3-C0A0-DFC2B1D53095}"/>
                </a:ext>
              </a:extLst>
            </p:cNvPr>
            <p:cNvSpPr txBox="1"/>
            <p:nvPr/>
          </p:nvSpPr>
          <p:spPr>
            <a:xfrm>
              <a:off x="1356741" y="5412783"/>
              <a:ext cx="2103120" cy="575900"/>
            </a:xfrm>
            <a:prstGeom prst="rect">
              <a:avLst/>
            </a:prstGeom>
            <a:noFill/>
          </p:spPr>
          <p:txBody>
            <a:bodyPr wrap="square" lIns="0" rtlCol="0" anchor="ctr">
              <a:no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We Are Leaders in Data &amp; Analytics </a:t>
              </a:r>
            </a:p>
          </p:txBody>
        </p:sp>
        <p:sp>
          <p:nvSpPr>
            <p:cNvPr id="15" name="Freeform 375">
              <a:extLst>
                <a:ext uri="{FF2B5EF4-FFF2-40B4-BE49-F238E27FC236}">
                  <a16:creationId xmlns:a16="http://schemas.microsoft.com/office/drawing/2014/main" id="{05793492-A31D-A303-DB3F-DC9924D6C582}"/>
                </a:ext>
              </a:extLst>
            </p:cNvPr>
            <p:cNvSpPr>
              <a:spLocks noChangeAspect="1" noEditPoints="1"/>
            </p:cNvSpPr>
            <p:nvPr/>
          </p:nvSpPr>
          <p:spPr bwMode="auto">
            <a:xfrm>
              <a:off x="911221" y="5515895"/>
              <a:ext cx="369676" cy="369676"/>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6" name="Rectangle 15">
            <a:extLst>
              <a:ext uri="{FF2B5EF4-FFF2-40B4-BE49-F238E27FC236}">
                <a16:creationId xmlns:a16="http://schemas.microsoft.com/office/drawing/2014/main" id="{06150FD3-3E7A-F7E0-9CC3-67F27CF5A06E}"/>
              </a:ext>
            </a:extLst>
          </p:cNvPr>
          <p:cNvSpPr/>
          <p:nvPr/>
        </p:nvSpPr>
        <p:spPr bwMode="gray">
          <a:xfrm>
            <a:off x="469900" y="1209798"/>
            <a:ext cx="3321300" cy="787698"/>
          </a:xfrm>
          <a:prstGeom prst="rect">
            <a:avLst/>
          </a:prstGeom>
          <a:solidFill>
            <a:srgbClr val="86BC25"/>
          </a:solidFill>
          <a:ln w="19050" cap="rnd" algn="ctr">
            <a:noFill/>
            <a:miter lim="800000"/>
            <a:headEnd/>
            <a:tailEnd/>
          </a:ln>
        </p:spPr>
        <p:txBody>
          <a:bodyPr lIns="0" tIns="0" rIns="0" bIns="0" rtlCol="0" anchor="ctr" anchorCtr="0"/>
          <a:lstStyle/>
          <a:p>
            <a:pPr marL="0" marR="0" lvl="0" indent="0" algn="ctr" defTabSz="914400" rtl="0" eaLnBrk="1" fontAlgn="auto" latinLnBrk="0" hangingPunct="1">
              <a:lnSpc>
                <a:spcPct val="106000"/>
              </a:lnSpc>
              <a:spcBef>
                <a:spcPct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Delivery Certainty &amp; Quality</a:t>
            </a:r>
          </a:p>
        </p:txBody>
      </p:sp>
      <p:sp>
        <p:nvSpPr>
          <p:cNvPr id="17" name="TextBox 16">
            <a:extLst>
              <a:ext uri="{FF2B5EF4-FFF2-40B4-BE49-F238E27FC236}">
                <a16:creationId xmlns:a16="http://schemas.microsoft.com/office/drawing/2014/main" id="{A258907A-942A-39BA-871F-B35E8B477861}"/>
              </a:ext>
            </a:extLst>
          </p:cNvPr>
          <p:cNvSpPr txBox="1"/>
          <p:nvPr/>
        </p:nvSpPr>
        <p:spPr>
          <a:xfrm>
            <a:off x="469900" y="2121051"/>
            <a:ext cx="3321300" cy="20928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Our approach reinforces confidence in the delivery of outcomes: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Extensive understanding of our client’s business needs, data &amp; technology landscape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Proven automations successfully implemented at many prior cloud Modernization projects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Comprehensive testing strategy to ensure quality and error-free deployment</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FC039C43-96B7-9904-FB52-30DBAE67DA1D}"/>
              </a:ext>
            </a:extLst>
          </p:cNvPr>
          <p:cNvSpPr txBox="1"/>
          <p:nvPr/>
        </p:nvSpPr>
        <p:spPr>
          <a:xfrm>
            <a:off x="4372207" y="2146047"/>
            <a:ext cx="3321300" cy="1677382"/>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Robust planning allows us to reduce commercial uncertainty: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‘Conversion-as-a-Service’ using a ‘Modernization automation factory’ to deliver high velocity and quality results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Fixed fee program ensuring “no surprise“ philosophy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Accelerated timeline with committed dates</a:t>
            </a:r>
          </a:p>
        </p:txBody>
      </p:sp>
      <p:sp>
        <p:nvSpPr>
          <p:cNvPr id="19" name="TextBox 18">
            <a:extLst>
              <a:ext uri="{FF2B5EF4-FFF2-40B4-BE49-F238E27FC236}">
                <a16:creationId xmlns:a16="http://schemas.microsoft.com/office/drawing/2014/main" id="{7043D555-577B-1CBB-1816-BEA0539CEA39}"/>
              </a:ext>
            </a:extLst>
          </p:cNvPr>
          <p:cNvSpPr txBox="1"/>
          <p:nvPr/>
        </p:nvSpPr>
        <p:spPr>
          <a:xfrm>
            <a:off x="8274513" y="2139523"/>
            <a:ext cx="3321300" cy="2286000"/>
          </a:xfrm>
          <a:prstGeom prst="rect">
            <a:avLst/>
          </a:prstGeom>
          <a:noFill/>
        </p:spPr>
        <p:txBody>
          <a:bodyPr wrap="square" rtlCol="0" anchor="t">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We bring proven partnerships with major cloud hyperscalers  and commit to deliver on time, quality outcomes: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Joint implementation philosophy – unified methodology &amp; approach with Cloud hyperscalers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Commercial constructs to incentivize on time, at quality delivery</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0" name="TextBox 19">
            <a:extLst>
              <a:ext uri="{FF2B5EF4-FFF2-40B4-BE49-F238E27FC236}">
                <a16:creationId xmlns:a16="http://schemas.microsoft.com/office/drawing/2014/main" id="{FB4143D8-2891-3A89-FB1B-D7858F6BB84F}"/>
              </a:ext>
            </a:extLst>
          </p:cNvPr>
          <p:cNvSpPr txBox="1"/>
          <p:nvPr/>
        </p:nvSpPr>
        <p:spPr>
          <a:xfrm>
            <a:off x="4617030" y="4917713"/>
            <a:ext cx="299887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2B5E5"/>
                </a:solidFill>
                <a:effectLst/>
                <a:uLnTx/>
                <a:uFillTx/>
                <a:latin typeface="Open Sans" panose="020B0606030504020204" pitchFamily="34" charset="0"/>
                <a:ea typeface="Open Sans" panose="020B0606030504020204" pitchFamily="34" charset="0"/>
                <a:cs typeface="Open Sans" panose="020B0606030504020204" pitchFamily="34" charset="0"/>
              </a:rPr>
              <a:t>Industry Leading Qualifications</a:t>
            </a:r>
          </a:p>
        </p:txBody>
      </p:sp>
      <p:sp>
        <p:nvSpPr>
          <p:cNvPr id="21" name="Rectangle 20">
            <a:extLst>
              <a:ext uri="{FF2B5EF4-FFF2-40B4-BE49-F238E27FC236}">
                <a16:creationId xmlns:a16="http://schemas.microsoft.com/office/drawing/2014/main" id="{EE411100-CD33-B0F2-41EF-981E1A5C483B}"/>
              </a:ext>
            </a:extLst>
          </p:cNvPr>
          <p:cNvSpPr/>
          <p:nvPr/>
        </p:nvSpPr>
        <p:spPr bwMode="gray">
          <a:xfrm>
            <a:off x="4372207" y="1209798"/>
            <a:ext cx="3321300" cy="787698"/>
          </a:xfrm>
          <a:prstGeom prst="rect">
            <a:avLst/>
          </a:prstGeom>
          <a:solidFill>
            <a:srgbClr val="86BC25"/>
          </a:solidFill>
          <a:ln w="19050" cap="rnd" algn="ctr">
            <a:noFill/>
            <a:miter lim="800000"/>
            <a:headEnd/>
            <a:tailEnd/>
          </a:ln>
        </p:spPr>
        <p:txBody>
          <a:bodyPr lIns="0" tIns="0" rIns="0" bIns="0" rtlCol="0" anchor="ctr" anchorCtr="0"/>
          <a:lstStyle/>
          <a:p>
            <a:pPr marL="0" marR="0" lvl="0" indent="0" algn="ctr" defTabSz="914400" rtl="0" eaLnBrk="1" fontAlgn="auto" latinLnBrk="0" hangingPunct="1">
              <a:lnSpc>
                <a:spcPct val="106000"/>
              </a:lnSpc>
              <a:spcBef>
                <a:spcPct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Pricing Assurance </a:t>
            </a:r>
          </a:p>
        </p:txBody>
      </p:sp>
      <p:sp>
        <p:nvSpPr>
          <p:cNvPr id="22" name="Rectangle 21">
            <a:extLst>
              <a:ext uri="{FF2B5EF4-FFF2-40B4-BE49-F238E27FC236}">
                <a16:creationId xmlns:a16="http://schemas.microsoft.com/office/drawing/2014/main" id="{07C8B7D5-1525-FA2B-282A-B2E16E9006E9}"/>
              </a:ext>
            </a:extLst>
          </p:cNvPr>
          <p:cNvSpPr/>
          <p:nvPr/>
        </p:nvSpPr>
        <p:spPr bwMode="gray">
          <a:xfrm>
            <a:off x="8274513" y="1209798"/>
            <a:ext cx="3321300" cy="787698"/>
          </a:xfrm>
          <a:prstGeom prst="rect">
            <a:avLst/>
          </a:prstGeom>
          <a:solidFill>
            <a:srgbClr val="86BC25"/>
          </a:solidFill>
          <a:ln w="19050" cap="rnd" algn="ctr">
            <a:noFill/>
            <a:miter lim="800000"/>
            <a:headEnd/>
            <a:tailEnd/>
          </a:ln>
        </p:spPr>
        <p:txBody>
          <a:bodyPr lIns="0" tIns="0" rIns="0" bIns="0" rtlCol="0" anchor="ctr" anchorCtr="0"/>
          <a:lstStyle/>
          <a:p>
            <a:pPr marL="0" marR="0" lvl="0" indent="0" algn="ctr" defTabSz="914400" rtl="0" eaLnBrk="1" fontAlgn="auto" latinLnBrk="0" hangingPunct="1">
              <a:lnSpc>
                <a:spcPct val="106000"/>
              </a:lnSpc>
              <a:spcBef>
                <a:spcPct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Proven, ‘Skin in The Game’ Partnership</a:t>
            </a:r>
          </a:p>
        </p:txBody>
      </p:sp>
    </p:spTree>
    <p:extLst>
      <p:ext uri="{BB962C8B-B14F-4D97-AF65-F5344CB8AC3E}">
        <p14:creationId xmlns:p14="http://schemas.microsoft.com/office/powerpoint/2010/main" val="74156238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D0CB91-5FD3-4903-ADEC-0B08D4683794}"/>
              </a:ext>
            </a:extLst>
          </p:cNvPr>
          <p:cNvSpPr/>
          <p:nvPr/>
        </p:nvSpPr>
        <p:spPr>
          <a:xfrm>
            <a:off x="493025" y="3710906"/>
            <a:ext cx="6394090" cy="738664"/>
          </a:xfrm>
          <a:prstGeom prst="rect">
            <a:avLst/>
          </a:prstGeom>
        </p:spPr>
        <p:txBody>
          <a:bodyPr wrap="square" lIns="0" tIns="0" rIns="0" bIns="0">
            <a:spAutoFit/>
          </a:bodyPr>
          <a:lstStyle/>
          <a:p>
            <a:pPr marL="0" marR="0" lvl="0" indent="0" algn="l" defTabSz="1219170" rtl="0" eaLnBrk="1" fontAlgn="auto" latinLnBrk="0" hangingPunct="1">
              <a:lnSpc>
                <a:spcPct val="100000"/>
              </a:lnSpc>
              <a:spcBef>
                <a:spcPts val="400"/>
              </a:spcBef>
              <a:spcAft>
                <a:spcPts val="0"/>
              </a:spcAft>
              <a:buClrTx/>
              <a:buSzTx/>
              <a:buFontTx/>
              <a:buNone/>
              <a:tabLst/>
              <a:defRPr/>
            </a:pPr>
            <a:r>
              <a:rPr kumimoji="0" lang="en-US" sz="4800" b="1" i="0" u="none" strike="noStrike" kern="1200" cap="none" spc="-10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Thank you!</a:t>
            </a:r>
          </a:p>
        </p:txBody>
      </p:sp>
      <p:sp>
        <p:nvSpPr>
          <p:cNvPr id="4" name="Text Placeholder 3">
            <a:extLst>
              <a:ext uri="{FF2B5EF4-FFF2-40B4-BE49-F238E27FC236}">
                <a16:creationId xmlns:a16="http://schemas.microsoft.com/office/drawing/2014/main" id="{B3F9767E-5084-BF42-F04D-D811875201B3}"/>
              </a:ext>
            </a:extLst>
          </p:cNvPr>
          <p:cNvSpPr>
            <a:spLocks noGrp="1"/>
          </p:cNvSpPr>
          <p:nvPr>
            <p:ph type="body" sz="quarter" idx="13"/>
          </p:nvPr>
        </p:nvSpPr>
        <p:spPr>
          <a:xfrm>
            <a:off x="501652" y="4211955"/>
            <a:ext cx="7654796" cy="2169796"/>
          </a:xfrm>
        </p:spPr>
        <p:txBody>
          <a:bodyPr/>
          <a:lstStyle/>
          <a:p>
            <a:r>
              <a:rPr lang="en-US" sz="800" spc="0" dirty="0">
                <a:solidFill>
                  <a:schemeClr val="bg1">
                    <a:lumMod val="50000"/>
                  </a:schemeClr>
                </a:solidFill>
              </a:rPr>
              <a:t>This publication contains general information only, and none of the member firms of FDE Practice Touche Tohmatsu Limited, its member firms, or their related entities (collective, the “FDE Practice Network”) is, by means of this publication, rendering professional advice or services. Before making any decision or taking any action that may affect your business, you should consult a qualified professional adviser. No entity in the FDE Practice Network shall be responsible for any loss whatsoever sustained by any person who relies on this publication.</a:t>
            </a:r>
          </a:p>
          <a:p>
            <a:r>
              <a:rPr lang="en-US" sz="800" spc="0" dirty="0">
                <a:solidFill>
                  <a:schemeClr val="bg1">
                    <a:lumMod val="50000"/>
                  </a:schemeClr>
                </a:solidFill>
              </a:rPr>
              <a:t>As used in this document, “FDE Practice” means FDE Practice Consulting LLP, a subsidiary of FDE Practice LLP. Please see www.FDE Practice.com/us/about for a detailed </a:t>
            </a:r>
            <a:br>
              <a:rPr lang="en-US" sz="800" spc="0" dirty="0">
                <a:solidFill>
                  <a:schemeClr val="bg1">
                    <a:lumMod val="50000"/>
                  </a:schemeClr>
                </a:solidFill>
              </a:rPr>
            </a:br>
            <a:r>
              <a:rPr lang="en-US" sz="800" spc="0" dirty="0">
                <a:solidFill>
                  <a:schemeClr val="bg1">
                    <a:lumMod val="50000"/>
                  </a:schemeClr>
                </a:solidFill>
              </a:rPr>
              <a:t>description of the legal structure of FDE Practice USA LLP, FDE Practice LLP and their respective subsidiaries. Certain services may not be available to attest clients </a:t>
            </a:r>
            <a:br>
              <a:rPr lang="en-US" sz="800" spc="0" dirty="0">
                <a:solidFill>
                  <a:schemeClr val="bg1">
                    <a:lumMod val="50000"/>
                  </a:schemeClr>
                </a:solidFill>
              </a:rPr>
            </a:br>
            <a:r>
              <a:rPr lang="en-US" sz="800" spc="0" dirty="0">
                <a:solidFill>
                  <a:schemeClr val="bg1">
                    <a:lumMod val="50000"/>
                  </a:schemeClr>
                </a:solidFill>
              </a:rPr>
              <a:t>under the rules and regulations of public accounting.</a:t>
            </a:r>
          </a:p>
          <a:p>
            <a:r>
              <a:rPr lang="en-US" sz="800" spc="0" dirty="0">
                <a:solidFill>
                  <a:schemeClr val="bg1">
                    <a:lumMod val="50000"/>
                  </a:schemeClr>
                </a:solidFill>
              </a:rPr>
              <a:t>Copyright © 2026 FDE Practice Development LLC. </a:t>
            </a:r>
            <a:br>
              <a:rPr lang="en-US" sz="800" spc="0" dirty="0">
                <a:solidFill>
                  <a:schemeClr val="bg1">
                    <a:lumMod val="50000"/>
                  </a:schemeClr>
                </a:solidFill>
              </a:rPr>
            </a:br>
            <a:r>
              <a:rPr lang="en-US" sz="800" spc="0" dirty="0">
                <a:solidFill>
                  <a:schemeClr val="bg1">
                    <a:lumMod val="50000"/>
                  </a:schemeClr>
                </a:solidFill>
              </a:rPr>
              <a:t>All rights reserved. Member of FDE Practice Touche Tohmatsu Limited</a:t>
            </a:r>
          </a:p>
        </p:txBody>
      </p:sp>
      <p:cxnSp>
        <p:nvCxnSpPr>
          <p:cNvPr id="8" name="Straight Connector 7">
            <a:extLst>
              <a:ext uri="{FF2B5EF4-FFF2-40B4-BE49-F238E27FC236}">
                <a16:creationId xmlns:a16="http://schemas.microsoft.com/office/drawing/2014/main" id="{54D979AF-96C8-A222-D10B-EDF09679893B}"/>
              </a:ext>
            </a:extLst>
          </p:cNvPr>
          <p:cNvCxnSpPr>
            <a:cxnSpLocks/>
          </p:cNvCxnSpPr>
          <p:nvPr/>
        </p:nvCxnSpPr>
        <p:spPr>
          <a:xfrm>
            <a:off x="504406" y="4712421"/>
            <a:ext cx="3308642" cy="0"/>
          </a:xfrm>
          <a:prstGeom prst="line">
            <a:avLst/>
          </a:prstGeom>
          <a:ln w="57150" cap="flat">
            <a:gradFill>
              <a:gsLst>
                <a:gs pos="0">
                  <a:srgbClr val="86BC25"/>
                </a:gs>
                <a:gs pos="100000">
                  <a:srgbClr val="62B5E5"/>
                </a:gs>
              </a:gsLst>
              <a:lin ang="0" scaled="0"/>
            </a:gradFill>
            <a:miter lim="800000"/>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15D04718-ACD6-2294-D6A7-EC1745238E4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rot="10800000">
            <a:off x="6276245" y="-1"/>
            <a:ext cx="5915755" cy="5814996"/>
          </a:xfrm>
          <a:prstGeom prst="rect">
            <a:avLst/>
          </a:prstGeom>
        </p:spPr>
      </p:pic>
    </p:spTree>
    <p:extLst>
      <p:ext uri="{BB962C8B-B14F-4D97-AF65-F5344CB8AC3E}">
        <p14:creationId xmlns:p14="http://schemas.microsoft.com/office/powerpoint/2010/main" val="4822071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a:spcBef>
            <a:spcPts val="200"/>
          </a:spcBef>
          <a:buSzPct val="100000"/>
          <a:defRPr sz="1200" dirty="0" smtClean="0"/>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16_9_Onscreen_US.potx [Read-Only]" id="{747678D8-1E3A-4E91-B049-69D7C2820B25}" vid="{DC5301C9-FEEC-481D-B604-AC964BC0CB3B}"/>
    </a:ext>
  </a:extLst>
</a:theme>
</file>

<file path=ppt/theme/theme2.xml><?xml version="1.0" encoding="utf-8"?>
<a:theme xmlns:a="http://schemas.openxmlformats.org/drawingml/2006/main" name="DeloitteTheme2021_OpenSans">
  <a:themeElements>
    <a:clrScheme name="Deloitte2021">
      <a:dk1>
        <a:srgbClr val="000000"/>
      </a:dk1>
      <a:lt1>
        <a:srgbClr val="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loud Market Offering">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Theme2021_OpenSans" id="{954FED3A-F4D9-A640-B136-AE29D353F62A}" vid="{259AB7B3-3F54-D948-88A1-B5F57CA5AA9E}"/>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F54C77A1458144082AE147E7F09B8FA" ma:contentTypeVersion="11" ma:contentTypeDescription="Create a new document." ma:contentTypeScope="" ma:versionID="ed0eebb835ebb4a0d5e85b9fb37b7c31">
  <xsd:schema xmlns:xsd="http://www.w3.org/2001/XMLSchema" xmlns:xs="http://www.w3.org/2001/XMLSchema" xmlns:p="http://schemas.microsoft.com/office/2006/metadata/properties" xmlns:ns2="747df5d4-2ee9-4481-82f2-5f8ae4a7651b" xmlns:ns3="48eb6c90-d7c5-4f82-a4bd-74382039df2f" targetNamespace="http://schemas.microsoft.com/office/2006/metadata/properties" ma:root="true" ma:fieldsID="7fca93861e68833fd404b5582843642b" ns2:_="" ns3:_="">
    <xsd:import namespace="747df5d4-2ee9-4481-82f2-5f8ae4a7651b"/>
    <xsd:import namespace="48eb6c90-d7c5-4f82-a4bd-74382039df2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7df5d4-2ee9-4481-82f2-5f8ae4a765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eb6c90-d7c5-4f82-a4bd-74382039df2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CC06B1D-753A-420D-BFC4-615EB68D6D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47df5d4-2ee9-4481-82f2-5f8ae4a7651b"/>
    <ds:schemaRef ds:uri="48eb6c90-d7c5-4f82-a4bd-74382039df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1F8B83-5A25-43D0-8F94-6C972363D299}">
  <ds:schemaRefs>
    <ds:schemaRef ds:uri="http://schemas.microsoft.com/sharepoint/v3/contenttype/forms"/>
  </ds:schemaRefs>
</ds:datastoreItem>
</file>

<file path=customXml/itemProps3.xml><?xml version="1.0" encoding="utf-8"?>
<ds:datastoreItem xmlns:ds="http://schemas.openxmlformats.org/officeDocument/2006/customXml" ds:itemID="{D89D717C-6647-4B9C-AB63-BC4A4A0EFB9D}">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343</TotalTime>
  <Words>2319</Words>
  <Application>Microsoft Office PowerPoint</Application>
  <PresentationFormat>Widescreen</PresentationFormat>
  <Paragraphs>343</Paragraphs>
  <Slides>10</Slides>
  <Notes>4</Notes>
  <HiddenSlides>0</HiddenSlides>
  <MMClips>0</MMClips>
  <ScaleCrop>false</ScaleCrop>
  <HeadingPairs>
    <vt:vector size="8" baseType="variant">
      <vt:variant>
        <vt:lpstr>Fonts Used</vt:lpstr>
      </vt:variant>
      <vt:variant>
        <vt:i4>10</vt:i4>
      </vt:variant>
      <vt:variant>
        <vt:lpstr>Theme</vt:lpstr>
      </vt:variant>
      <vt:variant>
        <vt:i4>4</vt:i4>
      </vt:variant>
      <vt:variant>
        <vt:lpstr>Embedded OLE Servers</vt:lpstr>
      </vt:variant>
      <vt:variant>
        <vt:i4>1</vt:i4>
      </vt:variant>
      <vt:variant>
        <vt:lpstr>Slide Titles</vt:lpstr>
      </vt:variant>
      <vt:variant>
        <vt:i4>10</vt:i4>
      </vt:variant>
    </vt:vector>
  </HeadingPairs>
  <TitlesOfParts>
    <vt:vector size="25" baseType="lpstr">
      <vt:lpstr>Arial</vt:lpstr>
      <vt:lpstr>Calibri</vt:lpstr>
      <vt:lpstr>Calibri Light</vt:lpstr>
      <vt:lpstr>Chronicle Display Black</vt:lpstr>
      <vt:lpstr>Nexa Black</vt:lpstr>
      <vt:lpstr>Open Sans</vt:lpstr>
      <vt:lpstr>Open Sans Light</vt:lpstr>
      <vt:lpstr>Verdana</vt:lpstr>
      <vt:lpstr>Wingdings</vt:lpstr>
      <vt:lpstr>Wingdings 2</vt:lpstr>
      <vt:lpstr>1_Deloitte_US_Onscreen</vt:lpstr>
      <vt:lpstr>DeloitteTheme2021_OpenSans</vt:lpstr>
      <vt:lpstr>1_Office Theme</vt:lpstr>
      <vt:lpstr>Office Theme</vt:lpstr>
      <vt:lpstr>think-cell Slide</vt:lpstr>
      <vt:lpstr>PowerPoint Presentation</vt:lpstr>
      <vt:lpstr>Cloud Modernization Patterns</vt:lpstr>
      <vt:lpstr>FDE Practice Modernization Factory – Our Differentiated Approach</vt:lpstr>
      <vt:lpstr>FDE Practice and Snowflake – Our Automation Suite</vt:lpstr>
      <vt:lpstr>PowerPoint Presentation</vt:lpstr>
      <vt:lpstr>PowerPoint Presentation</vt:lpstr>
      <vt:lpstr>FDE Practice is positioned to lead AI and Data engagements with Snowflake</vt:lpstr>
      <vt:lpstr>Data &amp; Analytics Modernization Assessment </vt:lpstr>
      <vt:lpstr>Our Value Proposition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Dandekar, Rupesh</dc:creator>
  <cp:lastModifiedBy>Dandekar, Rupesh</cp:lastModifiedBy>
  <cp:revision>7</cp:revision>
  <dcterms:created xsi:type="dcterms:W3CDTF">2023-08-07T20:09:55Z</dcterms:created>
  <dcterms:modified xsi:type="dcterms:W3CDTF">2026-05-05T22:13:26Z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2023-08-07T20:09:55Z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1543aacd-ed90-4f4c-86b1-1108b93cc73a</vt:lpwstr>
  </property>
  <property fmtid="{D5CDD505-2E9C-101B-9397-08002B2CF9AE}" pid="8" name="MSIP_Label_ea60d57e-af5b-4752-ac57-3e4f28ca11dc_ContentBits">
    <vt:lpwstr>0</vt:lpwstr>
  </property>
  <property fmtid="{D5CDD505-2E9C-101B-9397-08002B2CF9AE}" pid="9" name="ContentTypeId">
    <vt:lpwstr>0x010100BF54C77A1458144082AE147E7F09B8FA</vt:lpwstr>
  </property>
</Properties>
</file>