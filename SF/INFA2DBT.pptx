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4.xml" ContentType="application/vnd.openxmlformats-officedocument.presentationml.tags+xml"/>
  <Override PartName="/docMetadata/LabelInfo.xml" ContentType="application/vnd.ms-office.classificationlabels+xml"/>
  <Override PartName="/ppt/tags/tag3.xml" ContentType="application/vnd.openxmlformats-officedocument.presentationml.tags+xml"/>
  <Override PartName="/ppt/tags/tag2.xml" ContentType="application/vnd.openxmlformats-officedocument.presentationml.tags+xml"/>
  <Override PartName="/ppt/tags/tag5.xml" ContentType="application/vnd.openxmlformats-officedocument.presentationml.tags+xml"/>
  <Override PartName="/ppt/tags/tag1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41" r:id="rId2"/>
    <p:sldId id="214748362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CED4E-6069-4078-B9AA-CB794651210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E7E8C-2733-447C-95EC-84538E17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53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E068A-B5A8-BCDD-018F-F826C82C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84B6F-4934-BB4B-C6F2-02B1A6FE9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2C9D4-E15B-36B9-627B-3E6A610CF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4EAC5-7CB0-1A20-B144-5B4DAAF03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E26B3C-CE69-46C2-99F8-F25271F2C7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 Light" panose="020B0306030504020204" pitchFamily="34" charset="0"/>
                <a:ea typeface="+mn-ea"/>
                <a:cs typeface="+mn-cs"/>
              </a:rPr>
              <a:pPr marL="0" marR="0" lvl="0" indent="0" algn="r" defTabSz="6095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 Light" panose="020B0306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262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DCE3-16EC-F948-A238-322D22BBB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56CE7-9C42-6FFA-5C24-94CF7D815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8E23B-38FC-F091-1698-097E087D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4295-2695-59B1-87B6-74266773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AB3A3-AEB8-2EB9-6D21-641A0C2C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7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76FF0-3D4E-F671-F26E-F6793334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59F38-E023-8910-AB08-29BB20EC2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4BDAC-D1D4-AAC4-408F-4065C6AE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DCFA-F41B-CFBB-0CC9-521446DE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E7D19-261A-86F5-3F13-E5B41BF6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8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3D71-C38F-D8E3-DCF8-2B2F146B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7F514-8190-0C2B-CCA5-EE12B6DAD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88E03-5983-FDF4-7887-AC5D0397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AEF74-58F4-4577-9B36-8CDECC3C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AC3FD-5D3E-F2F1-9C18-A17CEC03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8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8AFB-87F3-B1AB-A00B-4AE6AC44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82FAE-7893-E647-D5FD-618DE0032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AA1E5-3E5B-7B18-D38C-FFE21C02A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D1B6D-0834-E7C5-DBA6-B346C4C8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C4C10-27DC-3E26-0BC3-AA4499F4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AB37E-17DA-C754-74A1-2420F7AB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2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D2B0-8374-C2A1-D670-9183AFDC5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E995F-C2CA-F974-7AAF-6B6E73674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3B6C2-8BC2-12CD-B122-C52EA28D9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80BED-B9A2-693E-4E6A-0F57AA623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BEAB1-2F9C-80EE-7259-D8FA46407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7FF48-4954-E1E7-2DF8-7BC67A87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7A124-B250-722E-0C99-20D2E189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3A81F-7E23-18C4-C411-B26FA891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8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5740-506C-CD8F-6A76-CB99F91D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D716F-06BB-32A7-4B29-467A5788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31E44-415E-BB50-A95C-9EA43803E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F0F0F-F751-02F0-71FA-4EE43729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0D786-877A-05A9-6431-35915A100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CF586-EE41-C1D8-435D-6F08D1DE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B2116-71D3-5C8A-28E0-FD7A0548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7816-2E92-F68A-3B5D-72FDD1DFC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0F0EC-2F02-46AB-B9A4-6CA31BADC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BCA47-53D0-3396-17D2-2BD54FB41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A9646-D272-88F3-1F49-9B278639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34672-741F-E0CC-5319-3B0D36AB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AEE81-DA4F-17AE-03B7-7114FBB0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1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E49E-9B35-D37C-09B1-EACC4A59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1F5B8-595E-200A-076A-36AD8A675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02A82-2A09-674B-CA71-B410CF1C4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84DF7-99D1-D34A-C4D3-912FDA1A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1EDC4-E0EC-D261-4202-55989805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FB91B-23F0-155F-4A3F-019DEBB3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7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C2DC-CA4F-C59B-45BA-5CB5AB8C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E8257-8403-D6E6-B4F9-1B7954502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41112-F581-05C8-80D8-680996F3D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64260-3DA2-70E1-A4BD-5061E8B70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FE584-405B-E786-4DA2-37D2C0AB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9A88C-DB50-2C31-8BC9-DF5DEA08D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FFCD5-DA5B-6155-3FE4-1FC42764F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1529-A732-54DD-EEFA-24347CA9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9FCE-BB65-B90D-AD2E-5C38C0B09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61F83-A7A2-579A-58E6-B20DAA10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42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5">
            <a:extLst>
              <a:ext uri="{FF2B5EF4-FFF2-40B4-BE49-F238E27FC236}">
                <a16:creationId xmlns:a16="http://schemas.microsoft.com/office/drawing/2014/main" id="{7E221309-295E-C559-4D79-9A82C84A913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34240"/>
            <a:ext cx="10977393" cy="536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2800">
                <a:solidFill>
                  <a:srgbClr val="012169"/>
                </a:solidFill>
                <a:latin typeface="CiscoSansTT ExtraLight" panose="020B0303020201020303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49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4B3CE5-F917-9E08-34B1-532DA6F7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E0ECD-BD8F-4743-62E3-08410AC2F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6DF4-F852-70FB-37FB-54B12D1C3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7E352-0A76-4FCA-9E12-08B9CB1C596F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54B65-95BC-8217-27B7-19D6929E5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FECAC-F5A4-AB4F-3DF1-96D387510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C54B4-EB85-4C8E-9415-97E4AAE4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0A56-357A-2330-2322-CCD417CC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0C4495-BB90-00C7-82AC-4D5330D2A004}"/>
              </a:ext>
            </a:extLst>
          </p:cNvPr>
          <p:cNvSpPr txBox="1">
            <a:spLocks/>
          </p:cNvSpPr>
          <p:nvPr/>
        </p:nvSpPr>
        <p:spPr bwMode="auto">
          <a:xfrm>
            <a:off x="404836" y="401015"/>
            <a:ext cx="11375570" cy="536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defTabSz="3250955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2800" b="0" i="0" u="none" strike="noStrike" cap="none" spc="-72" normalizeH="0" baseline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cs typeface="CiscoSansTT Thin" charset="0"/>
              </a:defRPr>
            </a:lvl1pPr>
            <a:lvl2pPr defTabSz="91226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2pPr>
            <a:lvl3pPr defTabSz="91226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3pPr>
            <a:lvl4pPr defTabSz="91226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4pPr>
            <a:lvl5pPr defTabSz="91226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5pPr>
            <a:lvl6pPr marL="609585" defTabSz="91226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1219170" defTabSz="91226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828754" defTabSz="91226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2438339" defTabSz="91226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pPr lvl="0">
              <a:defRPr/>
            </a:pPr>
            <a:r>
              <a:rPr lang="en-US" dirty="0"/>
              <a:t>Accelerator – Design Overview</a:t>
            </a:r>
            <a:endParaRPr lang="en-US" sz="4000" dirty="0">
              <a:ea typeface="Open Sans Light" panose="020B0306030504020204" pitchFamily="34" charset="0"/>
              <a:cs typeface="Open Sans Light" panose="020B0306030504020204" pitchFamily="34" charset="0"/>
              <a:sym typeface="CiscoSansTT Thin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AF16852A-62DB-8FE7-AAFE-8AEC49AA0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6535" y="22303"/>
            <a:ext cx="506012" cy="40054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A113AA7-B3A5-E140-31B3-CB6BB06918D7}"/>
              </a:ext>
            </a:extLst>
          </p:cNvPr>
          <p:cNvSpPr txBox="1"/>
          <p:nvPr/>
        </p:nvSpPr>
        <p:spPr>
          <a:xfrm>
            <a:off x="586212" y="1072253"/>
            <a:ext cx="10439393" cy="338554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INFA2DBT Accelerator will convert Informatica XMLs to DBT Code for accelerating the Migration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C90B4-E733-125B-AF2F-2ECC825D6E1F}"/>
              </a:ext>
            </a:extLst>
          </p:cNvPr>
          <p:cNvSpPr txBox="1"/>
          <p:nvPr/>
        </p:nvSpPr>
        <p:spPr>
          <a:xfrm>
            <a:off x="586212" y="1472334"/>
            <a:ext cx="10439393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 Agent solution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 ExtraLight"/>
                <a:ea typeface="+mn-ea"/>
                <a:cs typeface="Calibri" panose="020F0502020204030204" pitchFamily="34" charset="0"/>
              </a:rPr>
              <a:t>Build Multiple Agents to convert, review, refine and validate the conversion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 ExtraLight"/>
                <a:ea typeface="+mn-ea"/>
                <a:cs typeface="Calibri" panose="020F0502020204030204" pitchFamily="34" charset="0"/>
              </a:rPr>
              <a:t>Scalable Agents to retry and refine the process.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8430D-65DF-E034-2B1A-A10BEEA28D5C}"/>
              </a:ext>
            </a:extLst>
          </p:cNvPr>
          <p:cNvSpPr txBox="1"/>
          <p:nvPr/>
        </p:nvSpPr>
        <p:spPr>
          <a:xfrm>
            <a:off x="586212" y="2847943"/>
            <a:ext cx="10439393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Labelled Data for Conversion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 ExtraLight"/>
                <a:ea typeface="+mn-ea"/>
                <a:cs typeface="Calibri" panose="020F0502020204030204" pitchFamily="34" charset="0"/>
              </a:rPr>
              <a:t>54 Labelled XMLs and DBT files for converting the tools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 ExtraLight"/>
                <a:ea typeface="+mn-ea"/>
                <a:cs typeface="Calibri" panose="020F0502020204030204" pitchFamily="34" charset="0"/>
              </a:rPr>
              <a:t>Data Switch tool will provide the converted</a:t>
            </a:r>
            <a:r>
              <a:rPr lang="en-US" sz="1600" kern="0">
                <a:solidFill>
                  <a:prstClr val="black"/>
                </a:solidFill>
                <a:latin typeface="CiscoSansTT ExtraLight"/>
                <a:cs typeface="Calibri" panose="020F0502020204030204" pitchFamily="34" charset="0"/>
              </a:rPr>
              <a:t>d code with ~ 40% Accuracy</a:t>
            </a:r>
            <a:endParaRPr kumimoji="0" lang="en-US" sz="1600" b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scoSansTT ExtraLight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5F697-F5B7-DC26-B663-07DF2D8784D8}"/>
              </a:ext>
            </a:extLst>
          </p:cNvPr>
          <p:cNvSpPr txBox="1"/>
          <p:nvPr/>
        </p:nvSpPr>
        <p:spPr>
          <a:xfrm>
            <a:off x="586212" y="4109053"/>
            <a:ext cx="10439393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Validation &amp; Refinement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 ExtraLight"/>
                <a:ea typeface="+mn-ea"/>
                <a:cs typeface="Calibri" panose="020F0502020204030204" pitchFamily="34" charset="0"/>
              </a:rPr>
              <a:t>DBT Validation framework to access the converted DBT files and establish accuracy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scoSansTT ExtraLight"/>
                <a:ea typeface="+mn-ea"/>
                <a:cs typeface="Calibri" panose="020F0502020204030204" pitchFamily="34" charset="0"/>
              </a:rPr>
              <a:t>Leverage DBT files to identify the patterns and refine the output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kern="0">
                <a:solidFill>
                  <a:prstClr val="black"/>
                </a:solidFill>
                <a:latin typeface="CiscoSansTT ExtraLight"/>
                <a:cs typeface="Calibri" panose="020F0502020204030204" pitchFamily="34" charset="0"/>
              </a:rPr>
              <a:t>Use new set of labelled data to validate and leverage the </a:t>
            </a:r>
            <a:endParaRPr kumimoji="0" lang="en-US" sz="1600" b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scoSansTT ExtraLight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2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3D7A-7BB2-6D77-302B-69633881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Accelerator Solution Design</a:t>
            </a:r>
          </a:p>
        </p:txBody>
      </p:sp>
      <p:pic>
        <p:nvPicPr>
          <p:cNvPr id="49" name="Graphic 48" descr="User outline">
            <a:extLst>
              <a:ext uri="{FF2B5EF4-FFF2-40B4-BE49-F238E27FC236}">
                <a16:creationId xmlns:a16="http://schemas.microsoft.com/office/drawing/2014/main" id="{A47746B2-86F4-5DFF-0C9C-03756955DE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327" y="2189115"/>
            <a:ext cx="653127" cy="52575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37EC45E-08DE-DDF4-31AC-3DAE0D3E3208}"/>
              </a:ext>
            </a:extLst>
          </p:cNvPr>
          <p:cNvSpPr txBox="1"/>
          <p:nvPr/>
        </p:nvSpPr>
        <p:spPr>
          <a:xfrm>
            <a:off x="391225" y="2714865"/>
            <a:ext cx="653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User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16FBC80-A705-66DD-7E0D-F1CD79E733FD}"/>
              </a:ext>
            </a:extLst>
          </p:cNvPr>
          <p:cNvSpPr/>
          <p:nvPr/>
        </p:nvSpPr>
        <p:spPr>
          <a:xfrm>
            <a:off x="1890336" y="1972763"/>
            <a:ext cx="1371600" cy="947009"/>
          </a:xfrm>
          <a:prstGeom prst="round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INFA2DBT Accelerator Trigger</a:t>
            </a:r>
          </a:p>
        </p:txBody>
      </p:sp>
      <p:grpSp>
        <p:nvGrpSpPr>
          <p:cNvPr id="52" name="btfpIcon185158">
            <a:extLst>
              <a:ext uri="{FF2B5EF4-FFF2-40B4-BE49-F238E27FC236}">
                <a16:creationId xmlns:a16="http://schemas.microsoft.com/office/drawing/2014/main" id="{81CB3EE3-C433-0281-48DE-8752F00B71F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033949" y="2056357"/>
            <a:ext cx="809379" cy="822960"/>
            <a:chOff x="3456048" y="3693815"/>
            <a:chExt cx="837237" cy="851285"/>
          </a:xfrm>
          <a:noFill/>
        </p:grpSpPr>
        <p:sp>
          <p:nvSpPr>
            <p:cNvPr id="53" name="btfpIconCircle185158">
              <a:extLst>
                <a:ext uri="{FF2B5EF4-FFF2-40B4-BE49-F238E27FC236}">
                  <a16:creationId xmlns:a16="http://schemas.microsoft.com/office/drawing/2014/main" id="{828032A8-33F7-562B-1894-7C283BDE7E3E}"/>
                </a:ext>
              </a:extLst>
            </p:cNvPr>
            <p:cNvSpPr>
              <a:spLocks/>
            </p:cNvSpPr>
            <p:nvPr/>
          </p:nvSpPr>
          <p:spPr bwMode="gray">
            <a:xfrm>
              <a:off x="3484145" y="3735960"/>
              <a:ext cx="809140" cy="809140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800" kern="0" err="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54" name="btfpIconLines185158">
              <a:extLst>
                <a:ext uri="{FF2B5EF4-FFF2-40B4-BE49-F238E27FC236}">
                  <a16:creationId xmlns:a16="http://schemas.microsoft.com/office/drawing/2014/main" id="{F1F419D8-DA66-B1B4-6B3A-3B7931714C10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56048" y="3693815"/>
              <a:ext cx="809142" cy="809142"/>
            </a:xfrm>
            <a:prstGeom prst="rect">
              <a:avLst/>
            </a:prstGeom>
            <a:grpFill/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7588989-A1A5-48C9-FC78-7ACEB079EDDA}"/>
              </a:ext>
            </a:extLst>
          </p:cNvPr>
          <p:cNvSpPr txBox="1"/>
          <p:nvPr/>
        </p:nvSpPr>
        <p:spPr>
          <a:xfrm>
            <a:off x="3741945" y="2807031"/>
            <a:ext cx="1403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Data Extraction Agent</a:t>
            </a:r>
          </a:p>
        </p:txBody>
      </p:sp>
      <p:sp>
        <p:nvSpPr>
          <p:cNvPr id="56" name="Flowchart: Magnetic Disk 55">
            <a:extLst>
              <a:ext uri="{FF2B5EF4-FFF2-40B4-BE49-F238E27FC236}">
                <a16:creationId xmlns:a16="http://schemas.microsoft.com/office/drawing/2014/main" id="{A13A2FB7-31E8-0166-2D9F-F06FBFE71942}"/>
              </a:ext>
            </a:extLst>
          </p:cNvPr>
          <p:cNvSpPr/>
          <p:nvPr/>
        </p:nvSpPr>
        <p:spPr>
          <a:xfrm>
            <a:off x="3635966" y="4746431"/>
            <a:ext cx="1607878" cy="680612"/>
          </a:xfrm>
          <a:prstGeom prst="flowChartMagneticDisk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200" kern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Informatica XMLs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DAB578EE-5A4B-7CFD-236A-FC1FF71B061D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1127454" y="2446268"/>
            <a:ext cx="762882" cy="572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F28359C-7945-9D8C-53DF-30C203F1F112}"/>
              </a:ext>
            </a:extLst>
          </p:cNvPr>
          <p:cNvCxnSpPr>
            <a:cxnSpLocks/>
            <a:stCxn id="51" idx="3"/>
            <a:endCxn id="54" idx="1"/>
          </p:cNvCxnSpPr>
          <p:nvPr/>
        </p:nvCxnSpPr>
        <p:spPr>
          <a:xfrm>
            <a:off x="3261936" y="2446268"/>
            <a:ext cx="772013" cy="1199"/>
          </a:xfrm>
          <a:prstGeom prst="bentConnector3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EE7F3D0-E5DB-AA4A-A7F1-8F50226A6971}"/>
              </a:ext>
            </a:extLst>
          </p:cNvPr>
          <p:cNvCxnSpPr>
            <a:cxnSpLocks/>
            <a:stCxn id="55" idx="2"/>
            <a:endCxn id="56" idx="1"/>
          </p:cNvCxnSpPr>
          <p:nvPr/>
        </p:nvCxnSpPr>
        <p:spPr>
          <a:xfrm rot="5400000">
            <a:off x="3733696" y="4036461"/>
            <a:ext cx="1416180" cy="376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headEnd type="triangle"/>
            <a:tailEnd type="triangle"/>
          </a:ln>
          <a:effectLst/>
        </p:spPr>
      </p:cxnSp>
      <p:grpSp>
        <p:nvGrpSpPr>
          <p:cNvPr id="60" name="btfpIcon185158">
            <a:extLst>
              <a:ext uri="{FF2B5EF4-FFF2-40B4-BE49-F238E27FC236}">
                <a16:creationId xmlns:a16="http://schemas.microsoft.com/office/drawing/2014/main" id="{6EC85CCC-FE7F-2321-3B71-37707D8DA363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993334" y="2056368"/>
            <a:ext cx="809379" cy="822960"/>
            <a:chOff x="3456048" y="3693815"/>
            <a:chExt cx="837237" cy="851285"/>
          </a:xfrm>
          <a:noFill/>
        </p:grpSpPr>
        <p:sp>
          <p:nvSpPr>
            <p:cNvPr id="61" name="btfpIconCircle185158">
              <a:extLst>
                <a:ext uri="{FF2B5EF4-FFF2-40B4-BE49-F238E27FC236}">
                  <a16:creationId xmlns:a16="http://schemas.microsoft.com/office/drawing/2014/main" id="{33C3663B-F966-6CA5-CE46-729B33CFFC6D}"/>
                </a:ext>
              </a:extLst>
            </p:cNvPr>
            <p:cNvSpPr>
              <a:spLocks/>
            </p:cNvSpPr>
            <p:nvPr/>
          </p:nvSpPr>
          <p:spPr bwMode="gray">
            <a:xfrm>
              <a:off x="3484145" y="3735960"/>
              <a:ext cx="809140" cy="809140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800" kern="0" err="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62" name="btfpIconLines185158">
              <a:extLst>
                <a:ext uri="{FF2B5EF4-FFF2-40B4-BE49-F238E27FC236}">
                  <a16:creationId xmlns:a16="http://schemas.microsoft.com/office/drawing/2014/main" id="{2022FE3D-396F-638C-F614-F2F8513A45FA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56048" y="3693815"/>
              <a:ext cx="809142" cy="809142"/>
            </a:xfrm>
            <a:prstGeom prst="rect">
              <a:avLst/>
            </a:prstGeom>
            <a:grpFill/>
          </p:spPr>
        </p:pic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26F017F5-6062-9A8B-BBBB-4F6A7033B01A}"/>
              </a:ext>
            </a:extLst>
          </p:cNvPr>
          <p:cNvSpPr txBox="1"/>
          <p:nvPr/>
        </p:nvSpPr>
        <p:spPr>
          <a:xfrm>
            <a:off x="3711655" y="3428194"/>
            <a:ext cx="1683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MAP Code Entities and Code Patterns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37595BB-9F50-B48D-41C6-A0B901CFC47E}"/>
              </a:ext>
            </a:extLst>
          </p:cNvPr>
          <p:cNvCxnSpPr>
            <a:cxnSpLocks/>
            <a:stCxn id="54" idx="3"/>
            <a:endCxn id="62" idx="1"/>
          </p:cNvCxnSpPr>
          <p:nvPr/>
        </p:nvCxnSpPr>
        <p:spPr>
          <a:xfrm>
            <a:off x="4816168" y="2447467"/>
            <a:ext cx="1177166" cy="1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65" name="btfpIcon185158">
            <a:extLst>
              <a:ext uri="{FF2B5EF4-FFF2-40B4-BE49-F238E27FC236}">
                <a16:creationId xmlns:a16="http://schemas.microsoft.com/office/drawing/2014/main" id="{E283C1E0-33A9-87D7-5766-B7985C0E65CE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8248854" y="2056108"/>
            <a:ext cx="809379" cy="822960"/>
            <a:chOff x="3456048" y="3693815"/>
            <a:chExt cx="837237" cy="851285"/>
          </a:xfrm>
          <a:noFill/>
        </p:grpSpPr>
        <p:sp>
          <p:nvSpPr>
            <p:cNvPr id="66" name="btfpIconCircle185158">
              <a:extLst>
                <a:ext uri="{FF2B5EF4-FFF2-40B4-BE49-F238E27FC236}">
                  <a16:creationId xmlns:a16="http://schemas.microsoft.com/office/drawing/2014/main" id="{1A79BDE3-8FBE-EF87-7AF1-BDC87C66DEBA}"/>
                </a:ext>
              </a:extLst>
            </p:cNvPr>
            <p:cNvSpPr>
              <a:spLocks/>
            </p:cNvSpPr>
            <p:nvPr/>
          </p:nvSpPr>
          <p:spPr bwMode="gray">
            <a:xfrm>
              <a:off x="3484145" y="3735960"/>
              <a:ext cx="809140" cy="809140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800" kern="0" err="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67" name="btfpIconLines185158">
              <a:extLst>
                <a:ext uri="{FF2B5EF4-FFF2-40B4-BE49-F238E27FC236}">
                  <a16:creationId xmlns:a16="http://schemas.microsoft.com/office/drawing/2014/main" id="{66A4379E-3CBE-0BEB-F682-D781501CC852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56048" y="3693815"/>
              <a:ext cx="809142" cy="809142"/>
            </a:xfrm>
            <a:prstGeom prst="rect">
              <a:avLst/>
            </a:prstGeom>
            <a:grpFill/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61D98DD-B672-F58D-01B7-2FBB8E6AEF05}"/>
              </a:ext>
            </a:extLst>
          </p:cNvPr>
          <p:cNvSpPr txBox="1"/>
          <p:nvPr/>
        </p:nvSpPr>
        <p:spPr>
          <a:xfrm>
            <a:off x="7956850" y="2817415"/>
            <a:ext cx="1403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Scoring Agent</a:t>
            </a:r>
          </a:p>
        </p:txBody>
      </p:sp>
      <p:grpSp>
        <p:nvGrpSpPr>
          <p:cNvPr id="70" name="btfpIcon185158">
            <a:extLst>
              <a:ext uri="{FF2B5EF4-FFF2-40B4-BE49-F238E27FC236}">
                <a16:creationId xmlns:a16="http://schemas.microsoft.com/office/drawing/2014/main" id="{23BDB9BC-D059-C6BF-6972-B4716D3C6FF3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8228056" y="3317719"/>
            <a:ext cx="809379" cy="822960"/>
            <a:chOff x="3456048" y="3693815"/>
            <a:chExt cx="837237" cy="851285"/>
          </a:xfrm>
          <a:noFill/>
        </p:grpSpPr>
        <p:sp>
          <p:nvSpPr>
            <p:cNvPr id="71" name="btfpIconCircle185158">
              <a:extLst>
                <a:ext uri="{FF2B5EF4-FFF2-40B4-BE49-F238E27FC236}">
                  <a16:creationId xmlns:a16="http://schemas.microsoft.com/office/drawing/2014/main" id="{65739901-8D43-B90D-B41D-440F7F00CA55}"/>
                </a:ext>
              </a:extLst>
            </p:cNvPr>
            <p:cNvSpPr>
              <a:spLocks/>
            </p:cNvSpPr>
            <p:nvPr/>
          </p:nvSpPr>
          <p:spPr bwMode="gray">
            <a:xfrm>
              <a:off x="3484145" y="3735960"/>
              <a:ext cx="809140" cy="809140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800" kern="0" err="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72" name="btfpIconLines185158">
              <a:extLst>
                <a:ext uri="{FF2B5EF4-FFF2-40B4-BE49-F238E27FC236}">
                  <a16:creationId xmlns:a16="http://schemas.microsoft.com/office/drawing/2014/main" id="{B118DA2E-4A9A-6A63-A404-09FA9DDD2B0F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56048" y="3693815"/>
              <a:ext cx="809142" cy="809142"/>
            </a:xfrm>
            <a:prstGeom prst="rect">
              <a:avLst/>
            </a:prstGeom>
            <a:grpFill/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A6A0A94-F1E7-A789-93AA-309E4CB8197F}"/>
              </a:ext>
            </a:extLst>
          </p:cNvPr>
          <p:cNvSpPr txBox="1"/>
          <p:nvPr/>
        </p:nvSpPr>
        <p:spPr>
          <a:xfrm>
            <a:off x="7936052" y="4068393"/>
            <a:ext cx="1403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Validation and Critique Agent</a:t>
            </a:r>
          </a:p>
        </p:txBody>
      </p:sp>
      <p:grpSp>
        <p:nvGrpSpPr>
          <p:cNvPr id="75" name="btfpIcon185158">
            <a:extLst>
              <a:ext uri="{FF2B5EF4-FFF2-40B4-BE49-F238E27FC236}">
                <a16:creationId xmlns:a16="http://schemas.microsoft.com/office/drawing/2014/main" id="{98638B6A-74AC-01C2-D782-0FDB5807D2FD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10043337" y="4809340"/>
            <a:ext cx="809379" cy="822960"/>
            <a:chOff x="3456048" y="3693815"/>
            <a:chExt cx="837237" cy="851285"/>
          </a:xfrm>
          <a:noFill/>
        </p:grpSpPr>
        <p:sp>
          <p:nvSpPr>
            <p:cNvPr id="76" name="btfpIconCircle185158">
              <a:extLst>
                <a:ext uri="{FF2B5EF4-FFF2-40B4-BE49-F238E27FC236}">
                  <a16:creationId xmlns:a16="http://schemas.microsoft.com/office/drawing/2014/main" id="{14B32FC9-BD97-A29F-C230-9EB1254BD63A}"/>
                </a:ext>
              </a:extLst>
            </p:cNvPr>
            <p:cNvSpPr>
              <a:spLocks/>
            </p:cNvSpPr>
            <p:nvPr/>
          </p:nvSpPr>
          <p:spPr bwMode="gray">
            <a:xfrm>
              <a:off x="3484145" y="3735960"/>
              <a:ext cx="809140" cy="809140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800" kern="0" err="1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77" name="btfpIconLines185158">
              <a:extLst>
                <a:ext uri="{FF2B5EF4-FFF2-40B4-BE49-F238E27FC236}">
                  <a16:creationId xmlns:a16="http://schemas.microsoft.com/office/drawing/2014/main" id="{E184E853-7380-C3F0-B698-6404F8A83323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56048" y="3693815"/>
              <a:ext cx="809142" cy="809142"/>
            </a:xfrm>
            <a:prstGeom prst="rect">
              <a:avLst/>
            </a:prstGeom>
            <a:grpFill/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53EC1290-5853-6916-5F6A-8E6CD9C49F26}"/>
              </a:ext>
            </a:extLst>
          </p:cNvPr>
          <p:cNvSpPr txBox="1"/>
          <p:nvPr/>
        </p:nvSpPr>
        <p:spPr>
          <a:xfrm>
            <a:off x="9445911" y="5560014"/>
            <a:ext cx="19612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INFA2DBT Coding Guidelines, Guardrails, Performance Optimization &amp; Test</a:t>
            </a:r>
          </a:p>
        </p:txBody>
      </p:sp>
      <p:sp>
        <p:nvSpPr>
          <p:cNvPr id="80" name="Flowchart: Magnetic Disk 79">
            <a:extLst>
              <a:ext uri="{FF2B5EF4-FFF2-40B4-BE49-F238E27FC236}">
                <a16:creationId xmlns:a16="http://schemas.microsoft.com/office/drawing/2014/main" id="{E444F370-0868-F8AF-D507-B63DEE3E80A1}"/>
              </a:ext>
            </a:extLst>
          </p:cNvPr>
          <p:cNvSpPr/>
          <p:nvPr/>
        </p:nvSpPr>
        <p:spPr>
          <a:xfrm>
            <a:off x="5544247" y="4738716"/>
            <a:ext cx="1607878" cy="680612"/>
          </a:xfrm>
          <a:prstGeom prst="flowChartMagneticDisk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200" kern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Labelled Data (54)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46792A0F-FDBD-A76B-3234-74D16D70ACD1}"/>
              </a:ext>
            </a:extLst>
          </p:cNvPr>
          <p:cNvCxnSpPr>
            <a:cxnSpLocks/>
            <a:stCxn id="78" idx="1"/>
            <a:endCxn id="80" idx="4"/>
          </p:cNvCxnSpPr>
          <p:nvPr/>
        </p:nvCxnSpPr>
        <p:spPr>
          <a:xfrm rot="10800000">
            <a:off x="7152125" y="5079022"/>
            <a:ext cx="2293786" cy="95804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15203D1-7DE5-FFA8-1AE6-45DABF57AA92}"/>
              </a:ext>
            </a:extLst>
          </p:cNvPr>
          <p:cNvSpPr txBox="1"/>
          <p:nvPr/>
        </p:nvSpPr>
        <p:spPr>
          <a:xfrm>
            <a:off x="5644518" y="2861022"/>
            <a:ext cx="1403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Code Conversion Agent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F5A2628-65C2-30BA-50A9-FC6B17F5D523}"/>
              </a:ext>
            </a:extLst>
          </p:cNvPr>
          <p:cNvCxnSpPr>
            <a:cxnSpLocks/>
            <a:stCxn id="80" idx="1"/>
            <a:endCxn id="3" idx="2"/>
          </p:cNvCxnSpPr>
          <p:nvPr/>
        </p:nvCxnSpPr>
        <p:spPr>
          <a:xfrm rot="16200000" flipV="1">
            <a:off x="5669976" y="4060505"/>
            <a:ext cx="1354474" cy="194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AB04F5B3-CEC5-48A5-EACA-BD8DDEAF58D8}"/>
              </a:ext>
            </a:extLst>
          </p:cNvPr>
          <p:cNvSpPr/>
          <p:nvPr/>
        </p:nvSpPr>
        <p:spPr>
          <a:xfrm>
            <a:off x="5537546" y="5538420"/>
            <a:ext cx="1607878" cy="680612"/>
          </a:xfrm>
          <a:prstGeom prst="flowChartMagneticDisk">
            <a:avLst/>
          </a:prstGeom>
          <a:solidFill>
            <a:schemeClr val="bg2">
              <a:lumMod val="85000"/>
            </a:schemeClr>
          </a:solidFill>
          <a:ln w="3175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200" kern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Labelled Data (Deloitte)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CE13057F-7DB7-368C-A4BC-31D202EBF20B}"/>
              </a:ext>
            </a:extLst>
          </p:cNvPr>
          <p:cNvSpPr/>
          <p:nvPr/>
        </p:nvSpPr>
        <p:spPr>
          <a:xfrm>
            <a:off x="9832502" y="2055136"/>
            <a:ext cx="1212112" cy="789014"/>
          </a:xfrm>
          <a:prstGeom prst="parallelogram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/>
              <a:t>Assessment Framework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EA7ACF3-B769-6FDA-7A66-8F244B7EB184}"/>
              </a:ext>
            </a:extLst>
          </p:cNvPr>
          <p:cNvCxnSpPr>
            <a:cxnSpLocks/>
            <a:stCxn id="67" idx="3"/>
            <a:endCxn id="12" idx="5"/>
          </p:cNvCxnSpPr>
          <p:nvPr/>
        </p:nvCxnSpPr>
        <p:spPr>
          <a:xfrm>
            <a:off x="9031073" y="2447218"/>
            <a:ext cx="900056" cy="242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38B52FBE-EE7F-414A-688B-C84A99746EC4}"/>
              </a:ext>
            </a:extLst>
          </p:cNvPr>
          <p:cNvSpPr/>
          <p:nvPr/>
        </p:nvSpPr>
        <p:spPr>
          <a:xfrm>
            <a:off x="10014016" y="1230581"/>
            <a:ext cx="978180" cy="680612"/>
          </a:xfrm>
          <a:prstGeom prst="flowChartMagneticDisk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200" kern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Validation Data (XX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FC644BD0-C9CE-0423-4953-EE3A37040796}"/>
              </a:ext>
            </a:extLst>
          </p:cNvPr>
          <p:cNvSpPr/>
          <p:nvPr/>
        </p:nvSpPr>
        <p:spPr>
          <a:xfrm>
            <a:off x="9676954" y="3237387"/>
            <a:ext cx="1520802" cy="947340"/>
          </a:xfrm>
          <a:prstGeom prst="diamond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/>
              <a:t>Is Score &gt; Threshold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9E4E104-55FC-9F51-E6DA-9EDE17869B90}"/>
              </a:ext>
            </a:extLst>
          </p:cNvPr>
          <p:cNvCxnSpPr>
            <a:cxnSpLocks/>
            <a:stCxn id="12" idx="4"/>
            <a:endCxn id="17" idx="0"/>
          </p:cNvCxnSpPr>
          <p:nvPr/>
        </p:nvCxnSpPr>
        <p:spPr>
          <a:xfrm rot="5400000">
            <a:off x="10241339" y="3040167"/>
            <a:ext cx="393237" cy="120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789DDE8-4E6C-93C6-5509-56E5C0BB6A3D}"/>
              </a:ext>
            </a:extLst>
          </p:cNvPr>
          <p:cNvCxnSpPr>
            <a:cxnSpLocks/>
            <a:stCxn id="17" idx="1"/>
            <a:endCxn id="72" idx="3"/>
          </p:cNvCxnSpPr>
          <p:nvPr/>
        </p:nvCxnSpPr>
        <p:spPr>
          <a:xfrm rot="10800000">
            <a:off x="9010276" y="3708829"/>
            <a:ext cx="666679" cy="222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C6DFABD-BDF5-3268-3E66-9C81053F2CD5}"/>
              </a:ext>
            </a:extLst>
          </p:cNvPr>
          <p:cNvCxnSpPr>
            <a:cxnSpLocks/>
            <a:stCxn id="72" idx="1"/>
            <a:endCxn id="3" idx="2"/>
          </p:cNvCxnSpPr>
          <p:nvPr/>
        </p:nvCxnSpPr>
        <p:spPr>
          <a:xfrm rot="10800000">
            <a:off x="6346240" y="3384243"/>
            <a:ext cx="1881817" cy="324587"/>
          </a:xfrm>
          <a:prstGeom prst="bentConnector2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28420F-75D4-3EFC-99F9-9E78FA35D468}"/>
              </a:ext>
            </a:extLst>
          </p:cNvPr>
          <p:cNvSpPr txBox="1"/>
          <p:nvPr/>
        </p:nvSpPr>
        <p:spPr>
          <a:xfrm>
            <a:off x="6474287" y="3739446"/>
            <a:ext cx="12131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Feedback on What went wrong?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E07D62C-B2FB-338C-9B55-A58020E9AB9B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 flipV="1">
            <a:off x="6775553" y="2447218"/>
            <a:ext cx="1473301" cy="26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D608C831-BEDB-4387-6C3C-56B2FDE84554}"/>
              </a:ext>
            </a:extLst>
          </p:cNvPr>
          <p:cNvSpPr/>
          <p:nvPr/>
        </p:nvSpPr>
        <p:spPr>
          <a:xfrm>
            <a:off x="6709298" y="979152"/>
            <a:ext cx="1148162" cy="680612"/>
          </a:xfrm>
          <a:prstGeom prst="flowChartMagneticDisk">
            <a:avLst/>
          </a:prstGeom>
          <a:solidFill>
            <a:sysClr val="window" lastClr="FFFFFF"/>
          </a:solidFill>
          <a:ln w="19050" cap="flat" cmpd="sng" algn="ctr">
            <a:solidFill>
              <a:srgbClr val="0F9E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200" kern="0">
                <a:solidFill>
                  <a:prstClr val="black"/>
                </a:solidFill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Data Switch Output (40%)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2FFC12A-CB20-F3C5-DBEA-2EFFDD758251}"/>
              </a:ext>
            </a:extLst>
          </p:cNvPr>
          <p:cNvCxnSpPr>
            <a:cxnSpLocks/>
            <a:stCxn id="31" idx="4"/>
            <a:endCxn id="67" idx="0"/>
          </p:cNvCxnSpPr>
          <p:nvPr/>
        </p:nvCxnSpPr>
        <p:spPr>
          <a:xfrm>
            <a:off x="7857460" y="1319458"/>
            <a:ext cx="782504" cy="736650"/>
          </a:xfrm>
          <a:prstGeom prst="bentConnector2">
            <a:avLst/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603E601-95F6-0A88-2F0D-609F3CF661B6}"/>
              </a:ext>
            </a:extLst>
          </p:cNvPr>
          <p:cNvCxnSpPr>
            <a:cxnSpLocks/>
            <a:stCxn id="17" idx="2"/>
            <a:endCxn id="77" idx="0"/>
          </p:cNvCxnSpPr>
          <p:nvPr/>
        </p:nvCxnSpPr>
        <p:spPr>
          <a:xfrm rot="5400000">
            <a:off x="10123595" y="4495579"/>
            <a:ext cx="624613" cy="29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4B723E-4065-CBFF-5635-C223F11D2A66}"/>
              </a:ext>
            </a:extLst>
          </p:cNvPr>
          <p:cNvSpPr/>
          <p:nvPr/>
        </p:nvSpPr>
        <p:spPr>
          <a:xfrm>
            <a:off x="5816858" y="1751313"/>
            <a:ext cx="1081499" cy="31253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/>
              <a:t>Claude Code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3431C3-B192-3B71-DFCC-ECE371166012}"/>
              </a:ext>
            </a:extLst>
          </p:cNvPr>
          <p:cNvSpPr/>
          <p:nvPr/>
        </p:nvSpPr>
        <p:spPr>
          <a:xfrm>
            <a:off x="8096962" y="1766357"/>
            <a:ext cx="1081499" cy="31253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Scoring Agent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BFAB2C-228A-9440-5861-8B77826367A7}"/>
              </a:ext>
            </a:extLst>
          </p:cNvPr>
          <p:cNvSpPr/>
          <p:nvPr/>
        </p:nvSpPr>
        <p:spPr>
          <a:xfrm>
            <a:off x="10775929" y="4972471"/>
            <a:ext cx="1081499" cy="31253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dirty="0"/>
              <a:t>Snowflake Cortex Code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02B4FED3-93C5-E4F1-FEDA-6D11E92C25E2}"/>
              </a:ext>
            </a:extLst>
          </p:cNvPr>
          <p:cNvSpPr/>
          <p:nvPr/>
        </p:nvSpPr>
        <p:spPr>
          <a:xfrm>
            <a:off x="3840480" y="1659764"/>
            <a:ext cx="3200292" cy="1178563"/>
          </a:xfrm>
          <a:prstGeom prst="flowChartAlternateProcess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DDF75954-6EAA-FD35-6BE3-D0883C20CB73}"/>
              </a:ext>
            </a:extLst>
          </p:cNvPr>
          <p:cNvSpPr/>
          <p:nvPr/>
        </p:nvSpPr>
        <p:spPr>
          <a:xfrm>
            <a:off x="7864254" y="1604779"/>
            <a:ext cx="1540294" cy="3104912"/>
          </a:xfrm>
          <a:prstGeom prst="flowChartAlternateProcess">
            <a:avLst/>
          </a:prstGeom>
          <a:noFill/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50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54C77A1458144082AE147E7F09B8FA" ma:contentTypeVersion="11" ma:contentTypeDescription="Create a new document." ma:contentTypeScope="" ma:versionID="ed0eebb835ebb4a0d5e85b9fb37b7c31">
  <xsd:schema xmlns:xsd="http://www.w3.org/2001/XMLSchema" xmlns:xs="http://www.w3.org/2001/XMLSchema" xmlns:p="http://schemas.microsoft.com/office/2006/metadata/properties" xmlns:ns2="747df5d4-2ee9-4481-82f2-5f8ae4a7651b" xmlns:ns3="48eb6c90-d7c5-4f82-a4bd-74382039df2f" targetNamespace="http://schemas.microsoft.com/office/2006/metadata/properties" ma:root="true" ma:fieldsID="7fca93861e68833fd404b5582843642b" ns2:_="" ns3:_="">
    <xsd:import namespace="747df5d4-2ee9-4481-82f2-5f8ae4a7651b"/>
    <xsd:import namespace="48eb6c90-d7c5-4f82-a4bd-74382039df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df5d4-2ee9-4481-82f2-5f8ae4a765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eb6c90-d7c5-4f82-a4bd-74382039df2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F69167-2564-471C-A1C9-DF42F7AE48AD}"/>
</file>

<file path=customXml/itemProps2.xml><?xml version="1.0" encoding="utf-8"?>
<ds:datastoreItem xmlns:ds="http://schemas.openxmlformats.org/officeDocument/2006/customXml" ds:itemID="{C16C75A3-9591-4A98-8982-D4EE7AD7A059}"/>
</file>

<file path=customXml/itemProps3.xml><?xml version="1.0" encoding="utf-8"?>
<ds:datastoreItem xmlns:ds="http://schemas.openxmlformats.org/officeDocument/2006/customXml" ds:itemID="{5D7BC265-6875-475B-B0BE-19DCAA214901}"/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Widescreen</PresentationFormat>
  <Paragraphs>33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CiscoSansTT ExtraLight</vt:lpstr>
      <vt:lpstr>Open Sans</vt:lpstr>
      <vt:lpstr>Open Sans Light</vt:lpstr>
      <vt:lpstr>Office Theme</vt:lpstr>
      <vt:lpstr>PowerPoint Presentation</vt:lpstr>
      <vt:lpstr>Accelerator Solution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Dandekar, Rupesh</dc:creator>
  <cp:lastModifiedBy>Dandekar, Rupesh</cp:lastModifiedBy>
  <cp:revision>1</cp:revision>
  <dcterms:created xsi:type="dcterms:W3CDTF">2026-03-14T21:25:30Z</dcterms:created>
  <dcterms:modified xsi:type="dcterms:W3CDTF">2026-03-14T21:26:29Z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0x010100BF54C77A1458144082AE147E7F09B8FA</vt:lpwstr>
  </property>
</Properties>
</file>