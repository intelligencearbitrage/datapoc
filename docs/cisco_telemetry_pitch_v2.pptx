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4"/>
    <p:sldMasterId id="2147483757" r:id="rId5"/>
    <p:sldMasterId id="2147483779" r:id="rId6"/>
  </p:sldMasterIdLst>
  <p:notesMasterIdLst>
    <p:notesMasterId r:id="rId17"/>
  </p:notesMasterIdLst>
  <p:sldIdLst>
    <p:sldId id="256" r:id="rId13"/>
    <p:sldId id="257" r:id="rId14"/>
    <p:sldId id="258" r:id="rId15"/>
    <p:sldId id="259" r:id="rId16"/>
    <p:sldId id="260" r:id="rId12"/>
    <p:sldId id="261" r:id="rId11"/>
    <p:sldId id="262" r:id="rId10"/>
    <p:sldId id="263" r:id="rId9"/>
    <p:sldId id="264" r:id="rId8"/>
    <p:sldId id="265" r:id="rId7"/>
    <p:sldId id="266" r:id="rId23"/>
    <p:sldId id="267" r:id="rId24"/>
    <p:sldId id="268" r:id="rId25"/>
    <p:sldId id="269" r:id="rId26"/>
    <p:sldId id="27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000E50-2D04-4721-A75C-A3FB129B5695}" v="7" dt="2026-02-27T12:49:58.6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9" d="100"/>
          <a:sy n="99" d="100"/>
        </p:scale>
        <p:origin x="89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70118-C17E-4832-8BE1-52E335A72ABA}"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64B4DB-DF8F-4433-82C1-1BD511F80210}" type="slidenum">
              <a:rPr lang="en-US" smtClean="0"/>
              <a:t>‹#›</a:t>
            </a:fld>
            <a:endParaRPr lang="en-US"/>
          </a:p>
        </p:txBody>
      </p:sp>
    </p:spTree>
    <p:extLst>
      <p:ext uri="{BB962C8B-B14F-4D97-AF65-F5344CB8AC3E}">
        <p14:creationId xmlns:p14="http://schemas.microsoft.com/office/powerpoint/2010/main" val="46156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0304224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42382320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589216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0949793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7557000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19866602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2772839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108277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9021715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99870767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2469563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92076337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645796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41095460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25823531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78539912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86167797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8721229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37355939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2551964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41997434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4127489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9428706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626837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4280002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38776698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dirty="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3385112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99724985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114361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9806669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dirty="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dirty="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dirty="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1029666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06291785"/>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51200725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18032033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6870217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4290318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
            </a:r>
            <a:br>
              <a:rPr lang="en-US" sz="650" noProof="0" dirty="0">
                <a:solidFill>
                  <a:schemeClr val="bg1"/>
                </a:solidFill>
              </a:rPr>
            </a:br>
            <a:r>
              <a:rPr lang="en-US" sz="650" noProof="0" dirty="0">
                <a:solidFill>
                  <a:schemeClr val="bg1"/>
                </a:solidFill>
              </a:rPr>
              <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9899589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51159308"/>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43352626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202959"/>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Subhea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08" imgH="508" progId="TCLayout.ActiveDocument.1">
                  <p:embed/>
                </p:oleObj>
              </mc:Choice>
              <mc:Fallback>
                <p:oleObj name="think-cell Slide" r:id="rId3" imgW="508" imgH="508"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421341" y="381179"/>
            <a:ext cx="11170024" cy="594360"/>
          </a:xfrm>
        </p:spPr>
        <p:txBody>
          <a:bodyPr vert="horz" lIns="0" tIns="45720" rIns="0" bIns="0" rtlCol="0" anchor="b" anchorCtr="0">
            <a:noAutofit/>
          </a:bodyPr>
          <a:lstStyle>
            <a:lvl1pPr>
              <a:defRPr lang="en-US" sz="3200" spc="-75" dirty="0">
                <a:latin typeface="Chronicle Display Black"/>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421341" y="1020004"/>
            <a:ext cx="11170024" cy="475488"/>
          </a:xfrm>
        </p:spPr>
        <p:txBody>
          <a:bodyPr vert="horz" lIns="0" tIns="0" rIns="0" bIns="0" rtlCol="0">
            <a:noAutofit/>
          </a:bodyPr>
          <a:lstStyle>
            <a:lvl1pPr marL="0" indent="0">
              <a:buNone/>
              <a:defRPr lang="en-US" sz="1200"/>
            </a:lvl1pPr>
          </a:lstStyle>
          <a:p>
            <a:pPr marL="228600" lvl="0" indent="-228600">
              <a:lnSpc>
                <a:spcPct val="130000"/>
              </a:lnSpc>
            </a:pPr>
            <a:r>
              <a:rPr lang="en-US" dirty="0"/>
              <a:t>Edit Master text styles</a:t>
            </a:r>
          </a:p>
        </p:txBody>
      </p:sp>
      <p:cxnSp>
        <p:nvCxnSpPr>
          <p:cNvPr id="5" name="Straight Connector 4"/>
          <p:cNvCxnSpPr/>
          <p:nvPr userDrawn="1"/>
        </p:nvCxnSpPr>
        <p:spPr>
          <a:xfrm>
            <a:off x="219856" y="993403"/>
            <a:ext cx="11774920" cy="0"/>
          </a:xfrm>
          <a:prstGeom prst="line">
            <a:avLst/>
          </a:prstGeom>
          <a:ln>
            <a:prstDash val="sysDot"/>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2567139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SF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815298"/>
            <a:ext cx="11252200" cy="184666"/>
          </a:xfrm>
          <a:prstGeom prst="rect">
            <a:avLst/>
          </a:prstGeom>
        </p:spPr>
        <p:txBody>
          <a:bodyPr vert="horz" lIns="0" tIns="0" rIns="0" bIns="0" anchor="t" anchorCtr="0">
            <a:spAutoFit/>
          </a:bodyPr>
          <a:lstStyle>
            <a:lvl1pPr marL="0" indent="0">
              <a:buNone/>
              <a:defRPr sz="12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69332"/>
          </a:xfrm>
          <a:prstGeom prst="rect">
            <a:avLst/>
          </a:prstGeom>
        </p:spPr>
        <p:txBody>
          <a:bodyPr vert="horz" lIns="0" tIns="0" rIns="0" bIns="0" rtlCol="0" anchor="t" anchorCtr="0">
            <a:spAutoFit/>
          </a:bodyPr>
          <a:lstStyle>
            <a:lvl1pPr>
              <a:defRPr sz="2400"/>
            </a:lvl1pPr>
          </a:lstStyle>
          <a:p>
            <a:r>
              <a:rPr lang="en-US" noProof="0"/>
              <a:t>Click to edit Master title style</a:t>
            </a:r>
          </a:p>
        </p:txBody>
      </p:sp>
    </p:spTree>
    <p:extLst>
      <p:ext uri="{BB962C8B-B14F-4D97-AF65-F5344CB8AC3E}">
        <p14:creationId xmlns:p14="http://schemas.microsoft.com/office/powerpoint/2010/main" val="399567238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Subhead, Breadcrumb">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CDA913-053B-41DE-91C7-CDD8D7B615FE}"/>
              </a:ext>
            </a:extLst>
          </p:cNvPr>
          <p:cNvSpPr>
            <a:spLocks noGrp="1"/>
          </p:cNvSpPr>
          <p:nvPr>
            <p:ph type="body" sz="quarter" idx="15" hasCustomPrompt="1"/>
          </p:nvPr>
        </p:nvSpPr>
        <p:spPr>
          <a:xfrm>
            <a:off x="469900" y="242268"/>
            <a:ext cx="11252200" cy="173038"/>
          </a:xfrm>
        </p:spPr>
        <p:txBody>
          <a:bodyPr anchor="b"/>
          <a:lstStyle>
            <a:lvl1pPr>
              <a:defRPr sz="1000" b="1" cap="all" spc="300" baseline="0">
                <a:solidFill>
                  <a:schemeClr val="bg1">
                    <a:lumMod val="65000"/>
                  </a:schemeClr>
                </a:solidFill>
                <a:latin typeface="Open Sans" panose="020B0606030504020204" pitchFamily="34" charset="0"/>
              </a:defRPr>
            </a:lvl1pPr>
          </a:lstStyle>
          <a:p>
            <a:pPr lvl="0"/>
            <a:r>
              <a:rPr lang="en-US" dirty="0"/>
              <a:t>CLICK TO EDIT BREADCRUMB</a:t>
            </a:r>
          </a:p>
        </p:txBody>
      </p:sp>
      <p:sp>
        <p:nvSpPr>
          <p:cNvPr id="6" name="Text Placeholder 8">
            <a:extLst>
              <a:ext uri="{FF2B5EF4-FFF2-40B4-BE49-F238E27FC236}">
                <a16:creationId xmlns:a16="http://schemas.microsoft.com/office/drawing/2014/main" id="{97460AE7-C41F-B742-A869-5900E2154F01}"/>
              </a:ext>
            </a:extLst>
          </p:cNvPr>
          <p:cNvSpPr>
            <a:spLocks noGrp="1"/>
          </p:cNvSpPr>
          <p:nvPr>
            <p:ph type="body" sz="quarter" idx="14"/>
          </p:nvPr>
        </p:nvSpPr>
        <p:spPr>
          <a:xfrm>
            <a:off x="469900" y="835067"/>
            <a:ext cx="11252200" cy="392111"/>
          </a:xfrm>
        </p:spPr>
        <p:txBody>
          <a:bodyPr vert="horz" lIns="0" tIns="0" rIns="0" bIns="0" rtlCol="0">
            <a:noAutofit/>
          </a:bodyPr>
          <a:lstStyle>
            <a:lvl1pPr marL="0" indent="0">
              <a:buNone/>
              <a:defRPr lang="en-US" sz="1200">
                <a:latin typeface="Open Sans" panose="020B0606030504020204" pitchFamily="34" charset="0"/>
              </a:defRPr>
            </a:lvl1pPr>
          </a:lstStyle>
          <a:p>
            <a:pPr marL="228600" lvl="0" indent="-228600">
              <a:lnSpc>
                <a:spcPct val="130000"/>
              </a:lnSpc>
            </a:pPr>
            <a:r>
              <a:rPr lang="en-US" dirty="0"/>
              <a:t>Click to edit Master text styles</a:t>
            </a:r>
          </a:p>
        </p:txBody>
      </p:sp>
      <p:sp>
        <p:nvSpPr>
          <p:cNvPr id="7" name="Title Placeholder 1">
            <a:extLst>
              <a:ext uri="{FF2B5EF4-FFF2-40B4-BE49-F238E27FC236}">
                <a16:creationId xmlns:a16="http://schemas.microsoft.com/office/drawing/2014/main" id="{F117C93D-60BC-C04D-874C-030B601BD595}"/>
              </a:ext>
            </a:extLst>
          </p:cNvPr>
          <p:cNvSpPr>
            <a:spLocks noGrp="1"/>
          </p:cNvSpPr>
          <p:nvPr>
            <p:ph type="title"/>
          </p:nvPr>
        </p:nvSpPr>
        <p:spPr bwMode="gray">
          <a:xfrm>
            <a:off x="459739" y="456863"/>
            <a:ext cx="11252200" cy="451866"/>
          </a:xfrm>
          <a:prstGeom prst="rect">
            <a:avLst/>
          </a:prstGeom>
        </p:spPr>
        <p:txBody>
          <a:bodyPr vert="horz" lIns="0" tIns="0" rIns="0" bIns="0" rtlCol="0" anchor="t" anchorCtr="0">
            <a:noAutofit/>
          </a:bodyPr>
          <a:lstStyle>
            <a:lvl1pPr>
              <a:defRPr>
                <a:latin typeface="+mn-lt"/>
              </a:defRPr>
            </a:lvl1pPr>
          </a:lstStyle>
          <a:p>
            <a:r>
              <a:rPr lang="en-US" noProof="0" dirty="0"/>
              <a:t>Click to edit Master title style</a:t>
            </a:r>
          </a:p>
        </p:txBody>
      </p:sp>
    </p:spTree>
    <p:extLst>
      <p:ext uri="{BB962C8B-B14F-4D97-AF65-F5344CB8AC3E}">
        <p14:creationId xmlns:p14="http://schemas.microsoft.com/office/powerpoint/2010/main" val="220289754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WHITE_Title, subtitle &amp; 1 column text">
    <p:bg>
      <p:bgPr>
        <a:solidFill>
          <a:schemeClr val="bg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95301" y="651600"/>
            <a:ext cx="11198304" cy="307777"/>
          </a:xfrm>
          <a:prstGeom prst="rect">
            <a:avLst/>
          </a:prstGeom>
        </p:spPr>
        <p:txBody>
          <a:bodyPr lIns="0" tIns="0" rIns="0" bIns="0">
            <a:spAutoFit/>
          </a:bodyPr>
          <a:lstStyle>
            <a:lvl1pPr marL="0" indent="0">
              <a:buNone/>
              <a:defRPr sz="2000" b="0">
                <a:solidFill>
                  <a:schemeClr val="bg2"/>
                </a:solidFill>
                <a:latin typeface="+mj-lt"/>
              </a:defRPr>
            </a:lvl1pPr>
          </a:lstStyle>
          <a:p>
            <a:pPr lvl="0"/>
            <a:r>
              <a:rPr lang="en-US"/>
              <a:t>Click to add subtitle</a:t>
            </a:r>
          </a:p>
        </p:txBody>
      </p:sp>
      <p:sp>
        <p:nvSpPr>
          <p:cNvPr id="14" name="Title Placeholder 1"/>
          <p:cNvSpPr>
            <a:spLocks noGrp="1"/>
          </p:cNvSpPr>
          <p:nvPr>
            <p:ph type="title"/>
          </p:nvPr>
        </p:nvSpPr>
        <p:spPr>
          <a:xfrm>
            <a:off x="495301" y="317500"/>
            <a:ext cx="11198304" cy="338554"/>
          </a:xfrm>
          <a:prstGeom prst="rect">
            <a:avLst/>
          </a:prstGeom>
        </p:spPr>
        <p:txBody>
          <a:bodyPr vert="horz" lIns="0" tIns="0" rIns="0" bIns="0" rtlCol="0" anchor="t" anchorCtr="0">
            <a:spAutoFit/>
          </a:bodyPr>
          <a:lstStyle>
            <a:lvl1pPr>
              <a:defRPr sz="2200">
                <a:solidFill>
                  <a:schemeClr val="tx1"/>
                </a:solidFill>
                <a:latin typeface="+mj-lt"/>
              </a:defRPr>
            </a:lvl1pPr>
          </a:lstStyle>
          <a:p>
            <a:r>
              <a:rPr lang="en-US" noProof="0"/>
              <a:t>Click to edit Master title style</a:t>
            </a:r>
          </a:p>
        </p:txBody>
      </p:sp>
      <p:sp>
        <p:nvSpPr>
          <p:cNvPr id="8" name="Text Placeholder 18"/>
          <p:cNvSpPr>
            <a:spLocks noGrp="1"/>
          </p:cNvSpPr>
          <p:nvPr>
            <p:ph idx="1"/>
          </p:nvPr>
        </p:nvSpPr>
        <p:spPr>
          <a:xfrm>
            <a:off x="495322" y="1665290"/>
            <a:ext cx="11201378" cy="4678986"/>
          </a:xfrm>
          <a:prstGeom prst="rect">
            <a:avLst/>
          </a:prstGeom>
        </p:spPr>
        <p:txBody>
          <a:bodyPr vert="horz" lIns="0" tIns="0" rIns="0" bIns="0" rtlCol="0">
            <a:normAutofit/>
          </a:bodyPr>
          <a:lstStyle>
            <a:lvl1pPr>
              <a:defRPr sz="1400">
                <a:solidFill>
                  <a:schemeClr val="tx1"/>
                </a:solidFill>
                <a:latin typeface="+mj-lt"/>
              </a:defRPr>
            </a:lvl1pPr>
            <a:lvl2pPr>
              <a:defRPr sz="1400">
                <a:solidFill>
                  <a:schemeClr val="tx1"/>
                </a:solidFill>
                <a:latin typeface="+mj-lt"/>
              </a:defRPr>
            </a:lvl2pPr>
            <a:lvl3pPr>
              <a:defRPr sz="1400">
                <a:solidFill>
                  <a:schemeClr val="tx1"/>
                </a:solidFill>
                <a:latin typeface="+mj-lt"/>
              </a:defRPr>
            </a:lvl3pPr>
            <a:lvl4pPr>
              <a:defRPr sz="1400">
                <a:solidFill>
                  <a:schemeClr val="tx1"/>
                </a:solidFill>
                <a:latin typeface="+mj-lt"/>
              </a:defRPr>
            </a:lvl4pPr>
            <a:lvl5pPr>
              <a:defRPr sz="1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Box 4">
            <a:extLst>
              <a:ext uri="{FF2B5EF4-FFF2-40B4-BE49-F238E27FC236}">
                <a16:creationId xmlns:a16="http://schemas.microsoft.com/office/drawing/2014/main" id="{35D88051-3B85-4A4B-800F-E003F2885B69}"/>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tx1"/>
                </a:solidFill>
                <a:latin typeface="Calibri" panose="020F0502020204030204" pitchFamily="34" charset="0"/>
                <a:cs typeface="Calibri" panose="020F0502020204030204" pitchFamily="34" charset="0"/>
              </a:rPr>
              <a:t>Customer ODS to Snowflake Migration</a:t>
            </a:r>
          </a:p>
        </p:txBody>
      </p:sp>
      <p:sp>
        <p:nvSpPr>
          <p:cNvPr id="6" name="TextBox 5">
            <a:extLst>
              <a:ext uri="{FF2B5EF4-FFF2-40B4-BE49-F238E27FC236}">
                <a16:creationId xmlns:a16="http://schemas.microsoft.com/office/drawing/2014/main" id="{BAE21057-A6FB-4434-B8B3-85F66C389301}"/>
              </a:ext>
            </a:extLst>
          </p:cNvPr>
          <p:cNvSpPr txBox="1"/>
          <p:nvPr userDrawn="1"/>
        </p:nvSpPr>
        <p:spPr>
          <a:xfrm>
            <a:off x="495300" y="6477000"/>
            <a:ext cx="5361517"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2026. For information, contact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Limited.</a:t>
            </a:r>
          </a:p>
        </p:txBody>
      </p:sp>
      <p:sp>
        <p:nvSpPr>
          <p:cNvPr id="7" name="TextBox 6">
            <a:extLst>
              <a:ext uri="{FF2B5EF4-FFF2-40B4-BE49-F238E27FC236}">
                <a16:creationId xmlns:a16="http://schemas.microsoft.com/office/drawing/2014/main" id="{4B36A146-5A4C-4245-9B39-F749CD53E3A3}"/>
              </a:ext>
            </a:extLst>
          </p:cNvPr>
          <p:cNvSpPr txBox="1"/>
          <p:nvPr userDrawn="1"/>
        </p:nvSpPr>
        <p:spPr>
          <a:xfrm>
            <a:off x="11382377" y="6477000"/>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9761590"/>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09D2F-E345-6040-9408-A642F236AC9B}"/>
              </a:ext>
            </a:extLst>
          </p:cNvPr>
          <p:cNvSpPr>
            <a:spLocks noGrp="1"/>
          </p:cNvSpPr>
          <p:nvPr>
            <p:ph type="title"/>
          </p:nvPr>
        </p:nvSpPr>
        <p:spPr bwMode="gray">
          <a:xfrm>
            <a:off x="571500" y="571500"/>
            <a:ext cx="11047409" cy="568792"/>
          </a:xfrm>
          <a:prstGeom prst="rect">
            <a:avLst/>
          </a:prstGeom>
        </p:spPr>
        <p:txBody>
          <a:bodyPr/>
          <a:lstStyle>
            <a:lvl1pPr>
              <a:lnSpc>
                <a:spcPct val="95000"/>
              </a:lnSpc>
              <a:defRPr sz="2400" baseline="0">
                <a:latin typeface="+mj-lt"/>
              </a:defRPr>
            </a:lvl1pPr>
          </a:lstStyle>
          <a:p>
            <a:r>
              <a:rPr lang="en-US" noProof="0"/>
              <a:t>Click to edit Master title style</a:t>
            </a:r>
          </a:p>
        </p:txBody>
      </p:sp>
    </p:spTree>
    <p:extLst>
      <p:ext uri="{BB962C8B-B14F-4D97-AF65-F5344CB8AC3E}">
        <p14:creationId xmlns:p14="http://schemas.microsoft.com/office/powerpoint/2010/main" val="205579398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4965303"/>
            <a:ext cx="4407673" cy="897983"/>
          </a:xfrm>
        </p:spPr>
        <p:txBody>
          <a:bodyPr anchor="b" anchorCtr="0"/>
          <a:lstStyle>
            <a:lvl1pPr>
              <a:lnSpc>
                <a:spcPct val="85000"/>
              </a:lnSpc>
              <a:defRPr sz="2800" b="1" baseline="0">
                <a:latin typeface="+mn-lt"/>
              </a:defRPr>
            </a:lvl1pPr>
          </a:lstStyle>
          <a:p>
            <a:r>
              <a:rPr lang="en-US" dirty="0"/>
              <a:t>Click to edit Title</a:t>
            </a:r>
          </a:p>
        </p:txBody>
      </p:sp>
      <p:sp>
        <p:nvSpPr>
          <p:cNvPr id="6" name="Text Placeholder 9"/>
          <p:cNvSpPr>
            <a:spLocks noGrp="1"/>
          </p:cNvSpPr>
          <p:nvPr>
            <p:ph type="body" sz="quarter" idx="16" hasCustomPrompt="1"/>
          </p:nvPr>
        </p:nvSpPr>
        <p:spPr>
          <a:xfrm>
            <a:off x="914402" y="5940663"/>
            <a:ext cx="4407673" cy="478209"/>
          </a:xfrm>
        </p:spPr>
        <p:txBody>
          <a:bodyPr vert="horz" lIns="0" tIns="0" rIns="0" bIns="0" rtlCol="0">
            <a:noAutofit/>
          </a:bodyPr>
          <a:lstStyle>
            <a:lvl1pPr marL="0" indent="0">
              <a:buNone/>
              <a:defRPr lang="en-US" sz="1200" dirty="0"/>
            </a:lvl1pPr>
          </a:lstStyle>
          <a:p>
            <a:pPr marL="228600" lvl="0" indent="-228600">
              <a:lnSpc>
                <a:spcPct val="130000"/>
              </a:lnSpc>
            </a:pPr>
            <a:r>
              <a:rPr lang="en-US" dirty="0"/>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accent6">
                    <a:lumMod val="60000"/>
                    <a:lumOff val="40000"/>
                  </a:schemeClr>
                </a:solidFill>
                <a:ea typeface="Nexa Black" charset="0"/>
                <a:cs typeface="Nexa Black" charset="0"/>
              </a:defRPr>
            </a:lvl1pPr>
          </a:lstStyle>
          <a:p>
            <a:pPr marL="228600" lvl="0" indent="-228600"/>
            <a:r>
              <a:rPr lang="en-US" dirty="0"/>
              <a:t>Date</a:t>
            </a:r>
          </a:p>
        </p:txBody>
      </p:sp>
      <p:sp>
        <p:nvSpPr>
          <p:cNvPr id="8" name="Picture Placeholder 7"/>
          <p:cNvSpPr>
            <a:spLocks noGrp="1"/>
          </p:cNvSpPr>
          <p:nvPr>
            <p:ph type="pic" sz="quarter" idx="19" hasCustomPrompt="1"/>
          </p:nvPr>
        </p:nvSpPr>
        <p:spPr>
          <a:xfrm>
            <a:off x="5322074" y="0"/>
            <a:ext cx="6869925" cy="6858000"/>
          </a:xfrm>
        </p:spPr>
        <p:txBody>
          <a:bodyPr anchor="ctr"/>
          <a:lstStyle>
            <a:lvl1pPr marL="0" indent="0" algn="ctr">
              <a:buNone/>
              <a:defRPr/>
            </a:lvl1pPr>
          </a:lstStyle>
          <a:p>
            <a:r>
              <a:rPr lang="en-US" dirty="0"/>
              <a:t>Click to insert picture</a:t>
            </a:r>
          </a:p>
        </p:txBody>
      </p:sp>
    </p:spTree>
    <p:extLst>
      <p:ext uri="{BB962C8B-B14F-4D97-AF65-F5344CB8AC3E}">
        <p14:creationId xmlns:p14="http://schemas.microsoft.com/office/powerpoint/2010/main" val="334563127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9C95D0-169E-461D-8A36-F36A2D650550}"/>
              </a:ext>
            </a:extLst>
          </p:cNvPr>
          <p:cNvSpPr>
            <a:spLocks noGrp="1"/>
          </p:cNvSpPr>
          <p:nvPr>
            <p:ph type="title"/>
          </p:nvPr>
        </p:nvSpPr>
        <p:spPr>
          <a:xfrm>
            <a:off x="501651" y="423832"/>
            <a:ext cx="11188700" cy="334099"/>
          </a:xfrm>
        </p:spPr>
        <p:txBody>
          <a:bodyPr/>
          <a:lstStyle>
            <a:lvl1pPr>
              <a:defRPr sz="24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dirty="0"/>
              <a:t>Click to edit Master title style</a:t>
            </a:r>
          </a:p>
        </p:txBody>
      </p:sp>
      <p:sp>
        <p:nvSpPr>
          <p:cNvPr id="5" name="Text Placeholder 8">
            <a:extLst>
              <a:ext uri="{FF2B5EF4-FFF2-40B4-BE49-F238E27FC236}">
                <a16:creationId xmlns:a16="http://schemas.microsoft.com/office/drawing/2014/main" id="{FE8A48AD-3964-4E2F-84E5-10B01376CE0A}"/>
              </a:ext>
            </a:extLst>
          </p:cNvPr>
          <p:cNvSpPr>
            <a:spLocks noGrp="1"/>
          </p:cNvSpPr>
          <p:nvPr>
            <p:ph type="body" sz="quarter" idx="13" hasCustomPrompt="1"/>
          </p:nvPr>
        </p:nvSpPr>
        <p:spPr>
          <a:xfrm>
            <a:off x="501650" y="757931"/>
            <a:ext cx="11188700" cy="334100"/>
          </a:xfrm>
          <a:prstGeom prst="rect">
            <a:avLst/>
          </a:prstGeom>
        </p:spPr>
        <p:txBody>
          <a:bodyPr lIns="0" tIns="0" rIns="0" bIns="0">
            <a:noAutofit/>
          </a:bodyPr>
          <a:lstStyle>
            <a:lvl1pPr marL="0" indent="0">
              <a:buNone/>
              <a:defRPr sz="1800" b="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Tree>
    <p:extLst>
      <p:ext uri="{BB962C8B-B14F-4D97-AF65-F5344CB8AC3E}">
        <p14:creationId xmlns:p14="http://schemas.microsoft.com/office/powerpoint/2010/main" val="412211891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EXEC SUM">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610365" y="816122"/>
            <a:ext cx="11256264" cy="256032"/>
          </a:xfrm>
          <a:prstGeom prst="rect">
            <a:avLst/>
          </a:prstGeom>
        </p:spPr>
        <p:txBody>
          <a:bodyPr lIns="0" tIns="0" rIns="0" bIns="0">
            <a:noAutofit/>
          </a:bodyPr>
          <a:lstStyle>
            <a:lvl1pPr marL="0" indent="0">
              <a:buNone/>
              <a:defRPr sz="1400" b="0" i="1">
                <a:solidFill>
                  <a:srgbClr val="575757"/>
                </a:solidFill>
                <a:latin typeface="Calibri" panose="020F0502020204030204" pitchFamily="34" charset="0"/>
                <a:cs typeface="Calibri" panose="020F0502020204030204" pitchFamily="34" charset="0"/>
              </a:defRPr>
            </a:lvl1pPr>
          </a:lstStyle>
          <a:p>
            <a:pPr lvl="0"/>
            <a:r>
              <a:rPr lang="en-US" noProof="0"/>
              <a:t>Click to add subtitle</a:t>
            </a:r>
          </a:p>
        </p:txBody>
      </p:sp>
      <p:sp>
        <p:nvSpPr>
          <p:cNvPr id="9" name="Title Placeholder 1"/>
          <p:cNvSpPr>
            <a:spLocks noGrp="1"/>
          </p:cNvSpPr>
          <p:nvPr>
            <p:ph type="title"/>
          </p:nvPr>
        </p:nvSpPr>
        <p:spPr>
          <a:xfrm>
            <a:off x="610365" y="402587"/>
            <a:ext cx="11256264" cy="360984"/>
          </a:xfrm>
          <a:prstGeom prst="rect">
            <a:avLst/>
          </a:prstGeom>
        </p:spPr>
        <p:txBody>
          <a:bodyPr vert="horz" lIns="0" tIns="0" rIns="0" bIns="0" rtlCol="0" anchor="t" anchorCtr="0">
            <a:noAutofit/>
          </a:bodyPr>
          <a:lstStyle>
            <a:lvl1pPr>
              <a:defRPr sz="2400">
                <a:latin typeface="Calibri" panose="020F0502020204030204" pitchFamily="34" charset="0"/>
                <a:cs typeface="Calibri" panose="020F0502020204030204" pitchFamily="34" charset="0"/>
              </a:defRPr>
            </a:lvl1pPr>
          </a:lstStyle>
          <a:p>
            <a:r>
              <a:rPr lang="en-US" noProof="0"/>
              <a:t>Click to edit Master title style</a:t>
            </a:r>
          </a:p>
        </p:txBody>
      </p:sp>
    </p:spTree>
    <p:extLst>
      <p:ext uri="{BB962C8B-B14F-4D97-AF65-F5344CB8AC3E}">
        <p14:creationId xmlns:p14="http://schemas.microsoft.com/office/powerpoint/2010/main" val="124048630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469CF-428F-5027-1D25-4B5736EFE0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22072" y="868841"/>
            <a:ext cx="5845886" cy="5481708"/>
          </a:xfrm>
          <a:prstGeom prst="rect">
            <a:avLst/>
          </a:prstGeom>
        </p:spPr>
      </p:pic>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93561" y="474218"/>
            <a:ext cx="1816364" cy="340364"/>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19" name="Text Placeholder 9">
            <a:extLst>
              <a:ext uri="{FF2B5EF4-FFF2-40B4-BE49-F238E27FC236}">
                <a16:creationId xmlns:a16="http://schemas.microsoft.com/office/drawing/2014/main" id="{DB0FFD41-6932-C542-BED0-7BFE546399ED}"/>
              </a:ext>
            </a:extLst>
          </p:cNvPr>
          <p:cNvSpPr>
            <a:spLocks noGrp="1"/>
          </p:cNvSpPr>
          <p:nvPr>
            <p:ph type="body" sz="quarter" idx="16" hasCustomPrompt="1"/>
          </p:nvPr>
        </p:nvSpPr>
        <p:spPr>
          <a:xfrm>
            <a:off x="490295" y="5940663"/>
            <a:ext cx="4407673" cy="478209"/>
          </a:xfrm>
        </p:spPr>
        <p:txBody>
          <a:bodyPr vert="horz" lIns="0" tIns="0" rIns="0" bIns="0" rtlCol="0">
            <a:noAutofit/>
          </a:bodyPr>
          <a:lstStyle>
            <a:lvl1pPr marL="0" indent="0">
              <a:buNone/>
              <a:defRPr lang="en-US" sz="1200" b="0" i="0" spc="-30" baseline="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Subtitle</a:t>
            </a:r>
          </a:p>
        </p:txBody>
      </p:sp>
      <p:sp>
        <p:nvSpPr>
          <p:cNvPr id="20" name="Text Placeholder 9">
            <a:extLst>
              <a:ext uri="{FF2B5EF4-FFF2-40B4-BE49-F238E27FC236}">
                <a16:creationId xmlns:a16="http://schemas.microsoft.com/office/drawing/2014/main" id="{AA5E058E-2788-6942-A870-D57592460284}"/>
              </a:ext>
            </a:extLst>
          </p:cNvPr>
          <p:cNvSpPr>
            <a:spLocks noGrp="1"/>
          </p:cNvSpPr>
          <p:nvPr>
            <p:ph type="body" sz="quarter" idx="17" hasCustomPrompt="1"/>
          </p:nvPr>
        </p:nvSpPr>
        <p:spPr>
          <a:xfrm>
            <a:off x="490295" y="4585210"/>
            <a:ext cx="4407673" cy="348286"/>
          </a:xfrm>
        </p:spPr>
        <p:txBody>
          <a:bodyPr vert="horz" lIns="0" tIns="0" rIns="0" bIns="0" rtlCol="0">
            <a:noAutofit/>
          </a:bodyPr>
          <a:lstStyle>
            <a:lvl1pPr marL="0" indent="0">
              <a:buNone/>
              <a:defRPr lang="en-US" sz="800" b="1" i="0" kern="0" cap="none" spc="250" baseline="0" noProof="0" dirty="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gn="l" defTabSz="1219170" rtl="0" eaLnBrk="1" latinLnBrk="0" hangingPunct="1">
              <a:spcBef>
                <a:spcPts val="0"/>
              </a:spcBef>
              <a:spcAft>
                <a:spcPts val="1333"/>
              </a:spcAft>
              <a:buSzPct val="100000"/>
              <a:buFont typeface="Arial" panose="020B0604020202020204" pitchFamily="34" charset="0"/>
              <a:buNone/>
            </a:pPr>
            <a:r>
              <a:rPr lang="en-US"/>
              <a:t>DATE</a:t>
            </a:r>
          </a:p>
        </p:txBody>
      </p:sp>
      <p:sp>
        <p:nvSpPr>
          <p:cNvPr id="22" name="Text Placeholder 9">
            <a:extLst>
              <a:ext uri="{FF2B5EF4-FFF2-40B4-BE49-F238E27FC236}">
                <a16:creationId xmlns:a16="http://schemas.microsoft.com/office/drawing/2014/main" id="{40A713AE-DEFF-DE43-AB83-D6B9ED2DAE85}"/>
              </a:ext>
            </a:extLst>
          </p:cNvPr>
          <p:cNvSpPr>
            <a:spLocks noGrp="1"/>
          </p:cNvSpPr>
          <p:nvPr>
            <p:ph type="body" sz="quarter" idx="18" hasCustomPrompt="1"/>
          </p:nvPr>
        </p:nvSpPr>
        <p:spPr>
          <a:xfrm>
            <a:off x="490295" y="4933497"/>
            <a:ext cx="4407673" cy="929790"/>
          </a:xfrm>
        </p:spPr>
        <p:txBody>
          <a:bodyPr vert="horz" lIns="0" tIns="0" rIns="0" bIns="0" rtlCol="0" anchor="b">
            <a:noAutofit/>
          </a:bodyPr>
          <a:lstStyle>
            <a:lvl1pPr marL="0" indent="0">
              <a:buNone/>
              <a:defRPr lang="en-US" sz="3200" b="1" i="0" spc="-10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Title</a:t>
            </a:r>
          </a:p>
        </p:txBody>
      </p:sp>
      <p:pic>
        <p:nvPicPr>
          <p:cNvPr id="8" name="Picture 4">
            <a:extLst>
              <a:ext uri="{FF2B5EF4-FFF2-40B4-BE49-F238E27FC236}">
                <a16:creationId xmlns:a16="http://schemas.microsoft.com/office/drawing/2014/main" id="{2FF48687-B96E-BC15-FCD0-99044EF91086}"/>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378125" y="387008"/>
            <a:ext cx="2320314" cy="552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53312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_Title Slide - White">
    <p:bg bwMode="gray">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469CF-428F-5027-1D25-4B5736EFE0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95570" y="766334"/>
            <a:ext cx="5845886" cy="5481708"/>
          </a:xfrm>
          <a:prstGeom prst="rect">
            <a:avLst/>
          </a:prstGeom>
        </p:spPr>
      </p:pic>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93561" y="474218"/>
            <a:ext cx="1816364" cy="340364"/>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19" name="Text Placeholder 9">
            <a:extLst>
              <a:ext uri="{FF2B5EF4-FFF2-40B4-BE49-F238E27FC236}">
                <a16:creationId xmlns:a16="http://schemas.microsoft.com/office/drawing/2014/main" id="{DB0FFD41-6932-C542-BED0-7BFE546399ED}"/>
              </a:ext>
            </a:extLst>
          </p:cNvPr>
          <p:cNvSpPr>
            <a:spLocks noGrp="1"/>
          </p:cNvSpPr>
          <p:nvPr>
            <p:ph type="body" sz="quarter" idx="16" hasCustomPrompt="1"/>
          </p:nvPr>
        </p:nvSpPr>
        <p:spPr>
          <a:xfrm>
            <a:off x="490295" y="5940663"/>
            <a:ext cx="4407673" cy="478209"/>
          </a:xfrm>
        </p:spPr>
        <p:txBody>
          <a:bodyPr vert="horz" lIns="0" tIns="0" rIns="0" bIns="0" rtlCol="0">
            <a:noAutofit/>
          </a:bodyPr>
          <a:lstStyle>
            <a:lvl1pPr marL="0" indent="0">
              <a:buNone/>
              <a:defRPr lang="en-US" sz="1200" b="0" i="0" spc="-30" baseline="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Subtitle</a:t>
            </a:r>
          </a:p>
        </p:txBody>
      </p:sp>
      <p:sp>
        <p:nvSpPr>
          <p:cNvPr id="20" name="Text Placeholder 9">
            <a:extLst>
              <a:ext uri="{FF2B5EF4-FFF2-40B4-BE49-F238E27FC236}">
                <a16:creationId xmlns:a16="http://schemas.microsoft.com/office/drawing/2014/main" id="{AA5E058E-2788-6942-A870-D57592460284}"/>
              </a:ext>
            </a:extLst>
          </p:cNvPr>
          <p:cNvSpPr>
            <a:spLocks noGrp="1"/>
          </p:cNvSpPr>
          <p:nvPr>
            <p:ph type="body" sz="quarter" idx="17" hasCustomPrompt="1"/>
          </p:nvPr>
        </p:nvSpPr>
        <p:spPr>
          <a:xfrm>
            <a:off x="490295" y="4585210"/>
            <a:ext cx="4407673" cy="348286"/>
          </a:xfrm>
        </p:spPr>
        <p:txBody>
          <a:bodyPr vert="horz" lIns="0" tIns="0" rIns="0" bIns="0" rtlCol="0">
            <a:noAutofit/>
          </a:bodyPr>
          <a:lstStyle>
            <a:lvl1pPr marL="0" indent="0">
              <a:buNone/>
              <a:defRPr lang="en-US" sz="800" b="1" i="0" kern="0" cap="none" spc="250" baseline="0" dirty="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DATE</a:t>
            </a:r>
          </a:p>
        </p:txBody>
      </p:sp>
      <p:sp>
        <p:nvSpPr>
          <p:cNvPr id="22" name="Text Placeholder 9">
            <a:extLst>
              <a:ext uri="{FF2B5EF4-FFF2-40B4-BE49-F238E27FC236}">
                <a16:creationId xmlns:a16="http://schemas.microsoft.com/office/drawing/2014/main" id="{40A713AE-DEFF-DE43-AB83-D6B9ED2DAE85}"/>
              </a:ext>
            </a:extLst>
          </p:cNvPr>
          <p:cNvSpPr>
            <a:spLocks noGrp="1"/>
          </p:cNvSpPr>
          <p:nvPr>
            <p:ph type="body" sz="quarter" idx="18" hasCustomPrompt="1"/>
          </p:nvPr>
        </p:nvSpPr>
        <p:spPr>
          <a:xfrm>
            <a:off x="490295" y="4933497"/>
            <a:ext cx="4407673" cy="929790"/>
          </a:xfrm>
        </p:spPr>
        <p:txBody>
          <a:bodyPr vert="horz" lIns="0" tIns="0" rIns="0" bIns="0" rtlCol="0" anchor="b">
            <a:noAutofit/>
          </a:bodyPr>
          <a:lstStyle>
            <a:lvl1pPr marL="0" indent="0">
              <a:buNone/>
              <a:defRPr lang="en-US" sz="3200" b="1" i="0" spc="-10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Title</a:t>
            </a:r>
          </a:p>
        </p:txBody>
      </p:sp>
    </p:spTree>
    <p:extLst>
      <p:ext uri="{BB962C8B-B14F-4D97-AF65-F5344CB8AC3E}">
        <p14:creationId xmlns:p14="http://schemas.microsoft.com/office/powerpoint/2010/main" val="173308504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509656" y="887296"/>
            <a:ext cx="11252200" cy="757255"/>
          </a:xfrm>
          <a:prstGeom prst="rect">
            <a:avLst/>
          </a:prstGeom>
        </p:spPr>
        <p:txBody>
          <a:bodyPr lIns="0" tIns="0" rIns="0" bIns="0">
            <a:noAutofit/>
          </a:bodyPr>
          <a:lstStyle>
            <a:lvl1pPr marL="0" indent="0">
              <a:buNone/>
              <a:defRPr sz="1200" b="0">
                <a:solidFill>
                  <a:schemeClr val="tx2"/>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3200"/>
            </a:lvl1pPr>
          </a:lstStyle>
          <a:p>
            <a:r>
              <a:rPr lang="en-US" noProof="0"/>
              <a:t>Click to edit Master title style</a:t>
            </a:r>
          </a:p>
        </p:txBody>
      </p:sp>
    </p:spTree>
    <p:extLst>
      <p:ext uri="{BB962C8B-B14F-4D97-AF65-F5344CB8AC3E}">
        <p14:creationId xmlns:p14="http://schemas.microsoft.com/office/powerpoint/2010/main" val="29609727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596279-5157-F418-72BD-2FDE51F379B2}"/>
              </a:ext>
            </a:extLst>
          </p:cNvPr>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3200"/>
            </a:lvl1pPr>
          </a:lstStyle>
          <a:p>
            <a:r>
              <a:rPr lang="en-US" noProof="0"/>
              <a:t>Click to edit Master title style</a:t>
            </a:r>
          </a:p>
        </p:txBody>
      </p:sp>
    </p:spTree>
    <p:extLst>
      <p:ext uri="{BB962C8B-B14F-4D97-AF65-F5344CB8AC3E}">
        <p14:creationId xmlns:p14="http://schemas.microsoft.com/office/powerpoint/2010/main" val="27738915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CBA49C-A73A-2BB1-0692-7FC6C631209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tretch/>
        </p:blipFill>
        <p:spPr>
          <a:xfrm>
            <a:off x="-1" y="0"/>
            <a:ext cx="12192000" cy="6858000"/>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5" name="Copyright">
            <a:extLst>
              <a:ext uri="{FF2B5EF4-FFF2-40B4-BE49-F238E27FC236}">
                <a16:creationId xmlns:a16="http://schemas.microsoft.com/office/drawing/2014/main" id="{F4E75C42-69D3-FC67-C77E-E5C62AA543EC}"/>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700" b="0" noProof="0" dirty="0">
                <a:solidFill>
                  <a:schemeClr val="bg1">
                    <a:alpha val="70000"/>
                  </a:schemeClr>
                </a:solidFill>
                <a:latin typeface="+mn-lt"/>
              </a:rPr>
              <a:t>Copyright © 2026 Deloitte Development LLC. All rights reserved.</a:t>
            </a: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469900" y="1254642"/>
            <a:ext cx="4761319" cy="1084521"/>
          </a:xfrm>
          <a:prstGeom prst="rect">
            <a:avLst/>
          </a:prstGeom>
        </p:spPr>
        <p:txBody>
          <a:bodyPr vert="horz" lIns="0" tIns="0" rIns="0" bIns="0" rtlCol="0" anchor="b" anchorCtr="0">
            <a:noAutofit/>
          </a:bodyPr>
          <a:lstStyle>
            <a:lvl1pPr>
              <a:defRPr sz="5400">
                <a:solidFill>
                  <a:schemeClr val="bg1"/>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469900" y="2413592"/>
            <a:ext cx="4761319"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Subtitle goes here</a:t>
            </a:r>
          </a:p>
        </p:txBody>
      </p:sp>
    </p:spTree>
    <p:extLst>
      <p:ext uri="{BB962C8B-B14F-4D97-AF65-F5344CB8AC3E}">
        <p14:creationId xmlns:p14="http://schemas.microsoft.com/office/powerpoint/2010/main" val="362046204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F1B777-3A27-B35F-D1A4-305BF54DF3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 y="0"/>
            <a:ext cx="12192001" cy="6858000"/>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5" name="Copyright">
            <a:extLst>
              <a:ext uri="{FF2B5EF4-FFF2-40B4-BE49-F238E27FC236}">
                <a16:creationId xmlns:a16="http://schemas.microsoft.com/office/drawing/2014/main" id="{F4E75C42-69D3-FC67-C77E-E5C62AA543EC}"/>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700" b="0" noProof="0" dirty="0">
                <a:solidFill>
                  <a:schemeClr val="bg1">
                    <a:alpha val="70000"/>
                  </a:schemeClr>
                </a:solidFill>
                <a:latin typeface="+mn-lt"/>
              </a:rPr>
              <a:t>Copyright © 2026 Deloitte Development LLC. All rights reserved.</a:t>
            </a: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469900" y="1254642"/>
            <a:ext cx="4761319" cy="1084521"/>
          </a:xfrm>
          <a:prstGeom prst="rect">
            <a:avLst/>
          </a:prstGeom>
        </p:spPr>
        <p:txBody>
          <a:bodyPr vert="horz" lIns="0" tIns="0" rIns="0" bIns="0" rtlCol="0" anchor="b" anchorCtr="0">
            <a:noAutofit/>
          </a:bodyPr>
          <a:lstStyle>
            <a:lvl1pPr>
              <a:defRPr sz="5400">
                <a:solidFill>
                  <a:schemeClr val="tx2"/>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469900" y="2413592"/>
            <a:ext cx="476131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a:t>Subtitle goes here</a:t>
            </a:r>
          </a:p>
        </p:txBody>
      </p:sp>
    </p:spTree>
    <p:extLst>
      <p:ext uri="{BB962C8B-B14F-4D97-AF65-F5344CB8AC3E}">
        <p14:creationId xmlns:p14="http://schemas.microsoft.com/office/powerpoint/2010/main" val="246074356"/>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CBA49C-A73A-2BB1-0692-7FC6C631209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6232747" y="1254642"/>
            <a:ext cx="4761319" cy="1084521"/>
          </a:xfrm>
          <a:prstGeom prst="rect">
            <a:avLst/>
          </a:prstGeom>
        </p:spPr>
        <p:txBody>
          <a:bodyPr vert="horz" lIns="0" tIns="0" rIns="0" bIns="0" rtlCol="0" anchor="b" anchorCtr="0">
            <a:noAutofit/>
          </a:bodyPr>
          <a:lstStyle>
            <a:lvl1pPr>
              <a:defRPr sz="5400">
                <a:solidFill>
                  <a:schemeClr val="bg1"/>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6232747" y="2413592"/>
            <a:ext cx="4761319"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Subtitle goes here</a:t>
            </a:r>
          </a:p>
        </p:txBody>
      </p:sp>
    </p:spTree>
    <p:extLst>
      <p:ext uri="{BB962C8B-B14F-4D97-AF65-F5344CB8AC3E}">
        <p14:creationId xmlns:p14="http://schemas.microsoft.com/office/powerpoint/2010/main" val="3291189709"/>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CBA49C-A73A-2BB1-0692-7FC6C631209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tretch/>
        </p:blipFill>
        <p:spPr>
          <a:xfrm>
            <a:off x="0" y="1"/>
            <a:ext cx="12192000" cy="6858000"/>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6232747" y="1254642"/>
            <a:ext cx="4761319" cy="1084521"/>
          </a:xfrm>
          <a:prstGeom prst="rect">
            <a:avLst/>
          </a:prstGeom>
        </p:spPr>
        <p:txBody>
          <a:bodyPr vert="horz" lIns="0" tIns="0" rIns="0" bIns="0" rtlCol="0" anchor="b" anchorCtr="0">
            <a:noAutofit/>
          </a:bodyPr>
          <a:lstStyle>
            <a:lvl1pPr>
              <a:defRPr sz="5400">
                <a:solidFill>
                  <a:schemeClr val="bg1"/>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6232747" y="2413592"/>
            <a:ext cx="4761319"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Subtitle goes here</a:t>
            </a:r>
          </a:p>
        </p:txBody>
      </p:sp>
    </p:spTree>
    <p:extLst>
      <p:ext uri="{BB962C8B-B14F-4D97-AF65-F5344CB8AC3E}">
        <p14:creationId xmlns:p14="http://schemas.microsoft.com/office/powerpoint/2010/main" val="58813398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6BC97F-710D-DB5C-20B8-EE376D2504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6232747" y="1254642"/>
            <a:ext cx="4761319" cy="1084521"/>
          </a:xfrm>
          <a:prstGeom prst="rect">
            <a:avLst/>
          </a:prstGeom>
        </p:spPr>
        <p:txBody>
          <a:bodyPr vert="horz" lIns="0" tIns="0" rIns="0" bIns="0" rtlCol="0" anchor="b" anchorCtr="0">
            <a:noAutofit/>
          </a:bodyPr>
          <a:lstStyle>
            <a:lvl1pPr>
              <a:defRPr sz="5400">
                <a:solidFill>
                  <a:schemeClr val="tx2"/>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6232747" y="2413592"/>
            <a:ext cx="476131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a:t>Subtitle goes here</a:t>
            </a:r>
          </a:p>
        </p:txBody>
      </p:sp>
    </p:spTree>
    <p:extLst>
      <p:ext uri="{BB962C8B-B14F-4D97-AF65-F5344CB8AC3E}">
        <p14:creationId xmlns:p14="http://schemas.microsoft.com/office/powerpoint/2010/main" val="306652058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readcrumb, 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Text Placeholder 5">
            <a:extLst>
              <a:ext uri="{FF2B5EF4-FFF2-40B4-BE49-F238E27FC236}">
                <a16:creationId xmlns:a16="http://schemas.microsoft.com/office/drawing/2014/main" id="{0724E812-201F-604E-A6F2-DD427D7A9E8D}"/>
              </a:ext>
            </a:extLst>
          </p:cNvPr>
          <p:cNvSpPr>
            <a:spLocks noGrp="1"/>
          </p:cNvSpPr>
          <p:nvPr>
            <p:ph type="body" sz="quarter" idx="15" hasCustomPrompt="1"/>
          </p:nvPr>
        </p:nvSpPr>
        <p:spPr>
          <a:xfrm>
            <a:off x="469900" y="139307"/>
            <a:ext cx="3355848" cy="203200"/>
          </a:xfrm>
        </p:spPr>
        <p:txBody>
          <a:bodyPr vert="horz" lIns="0" tIns="0" rIns="0" bIns="0" rtlCol="0" anchor="b">
            <a:noAutofit/>
          </a:bodyPr>
          <a:lstStyle>
            <a:lvl1pPr marL="0" indent="0">
              <a:buNone/>
              <a:defRPr lang="en-US" sz="800" b="1" kern="0" cap="all" spc="250" baseline="0" dirty="0">
                <a:solidFill>
                  <a:srgbClr val="A7A8AA"/>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BREADCRUMBS</a:t>
            </a:r>
          </a:p>
        </p:txBody>
      </p:sp>
    </p:spTree>
    <p:extLst>
      <p:ext uri="{BB962C8B-B14F-4D97-AF65-F5344CB8AC3E}">
        <p14:creationId xmlns:p14="http://schemas.microsoft.com/office/powerpoint/2010/main" val="3140796544"/>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Rectangle 6"/>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7" name="Rectangle 16">
            <a:extLst>
              <a:ext uri="{FF2B5EF4-FFF2-40B4-BE49-F238E27FC236}">
                <a16:creationId xmlns:a16="http://schemas.microsoft.com/office/drawing/2014/main" id="{E2555C56-D126-7D45-B56E-7E9F1F0D4471}"/>
              </a:ext>
            </a:extLst>
          </p:cNvPr>
          <p:cNvSpPr/>
          <p:nvPr userDrawn="1"/>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A5403690-88C5-7E4F-ABF4-E66B8FBD1668}"/>
              </a:ext>
            </a:extLst>
          </p:cNvPr>
          <p:cNvSpPr/>
          <p:nvPr userDrawn="1"/>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75B5A2A5-A6D5-9B4A-9A38-35DFDF399556}"/>
              </a:ext>
            </a:extLst>
          </p:cNvPr>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a:extLst>
              <a:ext uri="{FF2B5EF4-FFF2-40B4-BE49-F238E27FC236}">
                <a16:creationId xmlns:a16="http://schemas.microsoft.com/office/drawing/2014/main" id="{159D27C2-FE9E-9742-A8A1-C44798829F20}"/>
              </a:ext>
            </a:extLst>
          </p:cNvPr>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35270978"/>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8" name="Rectangle 17"/>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2" name="Rectangle 11">
            <a:extLst>
              <a:ext uri="{FF2B5EF4-FFF2-40B4-BE49-F238E27FC236}">
                <a16:creationId xmlns:a16="http://schemas.microsoft.com/office/drawing/2014/main" id="{103DEC92-448F-3449-9962-8BE033F883FC}"/>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C94AE224-4C55-1044-A302-F0C19FB12674}"/>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6" name="Group 15">
            <a:extLst>
              <a:ext uri="{FF2B5EF4-FFF2-40B4-BE49-F238E27FC236}">
                <a16:creationId xmlns:a16="http://schemas.microsoft.com/office/drawing/2014/main" id="{F66D4E9D-EBD5-2640-B4E5-DDE91188B93D}"/>
              </a:ext>
            </a:extLst>
          </p:cNvPr>
          <p:cNvGrpSpPr/>
          <p:nvPr userDrawn="1"/>
        </p:nvGrpSpPr>
        <p:grpSpPr>
          <a:xfrm>
            <a:off x="0" y="3429000"/>
            <a:ext cx="4267197" cy="3429000"/>
            <a:chOff x="0" y="3069927"/>
            <a:chExt cx="4267197" cy="3429000"/>
          </a:xfrm>
        </p:grpSpPr>
        <p:sp>
          <p:nvSpPr>
            <p:cNvPr id="21" name="Rectangle 20">
              <a:extLst>
                <a:ext uri="{FF2B5EF4-FFF2-40B4-BE49-F238E27FC236}">
                  <a16:creationId xmlns:a16="http://schemas.microsoft.com/office/drawing/2014/main" id="{03FF918D-D7E0-BE4D-A31B-E7AFED074494}"/>
                </a:ext>
              </a:extLst>
            </p:cNvPr>
            <p:cNvSpPr/>
            <p:nvPr/>
          </p:nvSpPr>
          <p:spPr>
            <a:xfrm>
              <a:off x="0" y="5873262"/>
              <a:ext cx="4267197" cy="6256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pic>
          <p:nvPicPr>
            <p:cNvPr id="22" name="Picture 21" descr="A picture containing electronics&#10;&#10;Description automatically generated">
              <a:extLst>
                <a:ext uri="{FF2B5EF4-FFF2-40B4-BE49-F238E27FC236}">
                  <a16:creationId xmlns:a16="http://schemas.microsoft.com/office/drawing/2014/main" id="{083B6929-0DC5-9841-9C93-5B685CCBCE7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flipV="1">
              <a:off x="0" y="3069927"/>
              <a:ext cx="3508510" cy="3429000"/>
            </a:xfrm>
            <a:prstGeom prst="rect">
              <a:avLst/>
            </a:prstGeom>
          </p:spPr>
        </p:pic>
      </p:grpSp>
    </p:spTree>
    <p:extLst>
      <p:ext uri="{BB962C8B-B14F-4D97-AF65-F5344CB8AC3E}">
        <p14:creationId xmlns:p14="http://schemas.microsoft.com/office/powerpoint/2010/main" val="312455849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693302576"/>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21244065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871442663"/>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grpSp>
        <p:nvGrpSpPr>
          <p:cNvPr id="2" name="Group 1">
            <a:extLst>
              <a:ext uri="{FF2B5EF4-FFF2-40B4-BE49-F238E27FC236}">
                <a16:creationId xmlns:a16="http://schemas.microsoft.com/office/drawing/2014/main" id="{F859C1B3-C19E-A47B-38E3-9B67C54A8D8C}"/>
              </a:ext>
            </a:extLst>
          </p:cNvPr>
          <p:cNvGrpSpPr>
            <a:grpSpLocks noChangeAspect="1"/>
          </p:cNvGrpSpPr>
          <p:nvPr userDrawn="1"/>
        </p:nvGrpSpPr>
        <p:grpSpPr>
          <a:xfrm>
            <a:off x="493561" y="474218"/>
            <a:ext cx="1816364" cy="340364"/>
            <a:chOff x="398463" y="404813"/>
            <a:chExt cx="1627187" cy="307976"/>
          </a:xfrm>
          <a:solidFill>
            <a:schemeClr val="tx1"/>
          </a:solidFill>
        </p:grpSpPr>
        <p:sp>
          <p:nvSpPr>
            <p:cNvPr id="4" name="Oval 5">
              <a:extLst>
                <a:ext uri="{FF2B5EF4-FFF2-40B4-BE49-F238E27FC236}">
                  <a16:creationId xmlns:a16="http://schemas.microsoft.com/office/drawing/2014/main" id="{08499228-DB19-C132-3216-407EBAFBA72A}"/>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208BD8DF-05DA-42D3-B3FF-47EFF6525311}"/>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7AE3CFAB-13B8-3B63-2DDC-BCB266D07AC2}"/>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192BB561-B393-A08E-4489-A8FD07C94FD4}"/>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FCCC4564-37F1-A0BD-AE39-2B3E099E9704}"/>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50D4B80F-DCE7-C0C1-80A7-4116FE5F7EB3}"/>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AAF71D6C-CEDC-24C6-ECCC-69ECB9AD6153}"/>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E49A664B-D0D4-2479-4617-00822B489498}"/>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8A3CF77D-6C84-F172-7F4F-5531941392AF}"/>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C532A7A7-9C56-A1C8-FD43-233674D6F39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688517386"/>
      </p:ext>
    </p:extLst>
  </p:cSld>
  <p:clrMapOvr>
    <a:masterClrMapping/>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rgbClr val="DA291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DABDBD-F268-6746-AD26-6BC680C16BE3}"/>
              </a:ext>
            </a:extLst>
          </p:cNvPr>
          <p:cNvSpPr txBox="1"/>
          <p:nvPr userDrawn="1"/>
        </p:nvSpPr>
        <p:spPr>
          <a:xfrm>
            <a:off x="495300" y="235818"/>
            <a:ext cx="11201400" cy="6386364"/>
          </a:xfrm>
          <a:prstGeom prst="rect">
            <a:avLst/>
          </a:prstGeom>
          <a:noFill/>
        </p:spPr>
        <p:txBody>
          <a:bodyPr wrap="square" rtlCol="0">
            <a:spAutoFit/>
          </a:bodyPr>
          <a:lstStyle/>
          <a:p>
            <a:pPr algn="ctr"/>
            <a:r>
              <a:rPr lang="en-US" sz="11500" b="1">
                <a:latin typeface="Open Sans" panose="020B0606030504020204" pitchFamily="34" charset="0"/>
                <a:ea typeface="Open Sans" panose="020B0606030504020204" pitchFamily="34" charset="0"/>
                <a:cs typeface="Open Sans" panose="020B0606030504020204" pitchFamily="34" charset="0"/>
              </a:rPr>
              <a:t>End of approved Master Slides</a:t>
            </a:r>
            <a:endParaRPr lang="en-US" sz="11500" b="1" baseline="0">
              <a:latin typeface="Open Sans" panose="020B0606030504020204" pitchFamily="34" charset="0"/>
              <a:ea typeface="Open Sans" panose="020B0606030504020204" pitchFamily="34" charset="0"/>
              <a:cs typeface="Open Sans" panose="020B0606030504020204" pitchFamily="34" charset="0"/>
            </a:endParaRPr>
          </a:p>
          <a:p>
            <a:pPr algn="ctr"/>
            <a:endParaRPr lang="en-US" sz="3200" b="1" baseline="0">
              <a:latin typeface="Open Sans" panose="020B0606030504020204" pitchFamily="34" charset="0"/>
              <a:ea typeface="Open Sans" panose="020B0606030504020204" pitchFamily="34" charset="0"/>
              <a:cs typeface="Open Sans" panose="020B0606030504020204" pitchFamily="34" charset="0"/>
            </a:endParaRPr>
          </a:p>
          <a:p>
            <a:pPr algn="ctr"/>
            <a:r>
              <a:rPr lang="en-US" sz="3200" b="0" baseline="0">
                <a:latin typeface="Open Sans" panose="020B0606030504020204" pitchFamily="34" charset="0"/>
                <a:ea typeface="Open Sans" panose="020B0606030504020204" pitchFamily="34" charset="0"/>
                <a:cs typeface="Open Sans" panose="020B0606030504020204" pitchFamily="34" charset="0"/>
              </a:rPr>
              <a:t>Do not use any master slides that occur after this layout</a:t>
            </a:r>
            <a:endParaRPr lang="en-US" sz="3200" b="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5236526"/>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26849B-9F82-BE43-B371-8FA3B1F65F4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34328864"/>
      </p:ext>
    </p:extLst>
  </p:cSld>
  <p:clrMapOvr>
    <a:masterClrMapping/>
  </p:clrMapOvr>
  <p:transition>
    <p:fade/>
  </p:transition>
  <p:extLst>
    <p:ext uri="{DCECCB84-F9BA-43D5-87BE-67443E8EF086}">
      <p15:sldGuideLst xmlns:p15="http://schemas.microsoft.com/office/powerpoint/2012/main">
        <p15:guide id="1" orient="horz" pos="412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Section divider slide_dark blue">
    <p:bg>
      <p:bgPr>
        <a:solidFill>
          <a:srgbClr val="012169"/>
        </a:solidFill>
        <a:effectLst/>
      </p:bgPr>
    </p:bg>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1905805C-2EFB-4B40-A3FD-BFD14E8E8A8B}"/>
              </a:ext>
            </a:extLst>
          </p:cNvPr>
          <p:cNvSpPr>
            <a:spLocks noGrp="1"/>
          </p:cNvSpPr>
          <p:nvPr>
            <p:ph type="body" sz="quarter" idx="13" hasCustomPrompt="1"/>
          </p:nvPr>
        </p:nvSpPr>
        <p:spPr>
          <a:xfrm>
            <a:off x="502920" y="1466470"/>
            <a:ext cx="2485950" cy="1979413"/>
          </a:xfrm>
          <a:prstGeom prst="rect">
            <a:avLst/>
          </a:prstGeom>
        </p:spPr>
        <p:txBody>
          <a:bodyPr lIns="0" tIns="0" rIns="0" bIns="0">
            <a:noAutofit/>
          </a:bodyPr>
          <a:lstStyle>
            <a:lvl1pPr marL="0" indent="0">
              <a:buNone/>
              <a:defRPr sz="1800" b="0">
                <a:solidFill>
                  <a:schemeClr val="bg1"/>
                </a:solidFill>
              </a:defRPr>
            </a:lvl1pPr>
          </a:lstStyle>
          <a:p>
            <a:pPr lvl="0"/>
            <a:r>
              <a:rPr lang="en-US" noProof="0"/>
              <a:t>Click to add subtitle</a:t>
            </a:r>
          </a:p>
        </p:txBody>
      </p:sp>
      <p:sp>
        <p:nvSpPr>
          <p:cNvPr id="7" name="Title Placeholder 1">
            <a:extLst>
              <a:ext uri="{FF2B5EF4-FFF2-40B4-BE49-F238E27FC236}">
                <a16:creationId xmlns:a16="http://schemas.microsoft.com/office/drawing/2014/main" id="{E749AA31-7B7D-4A2C-B169-844DD4E92D7F}"/>
              </a:ext>
            </a:extLst>
          </p:cNvPr>
          <p:cNvSpPr>
            <a:spLocks noGrp="1"/>
          </p:cNvSpPr>
          <p:nvPr>
            <p:ph type="title"/>
          </p:nvPr>
        </p:nvSpPr>
        <p:spPr>
          <a:xfrm>
            <a:off x="502920" y="320040"/>
            <a:ext cx="3355848" cy="941832"/>
          </a:xfrm>
          <a:prstGeom prst="rect">
            <a:avLst/>
          </a:prstGeom>
        </p:spPr>
        <p:txBody>
          <a:bodyPr vert="horz" lIns="0" tIns="0" rIns="0" bIns="0" rtlCol="0" anchor="t" anchorCtr="0">
            <a:noAutofit/>
          </a:bodyPr>
          <a:lstStyle>
            <a:lvl1pPr>
              <a:defRPr sz="2800">
                <a:solidFill>
                  <a:schemeClr val="bg1"/>
                </a:solidFill>
              </a:defRPr>
            </a:lvl1pPr>
          </a:lstStyle>
          <a:p>
            <a:r>
              <a:rPr lang="en-US" noProof="0"/>
              <a:t>Click to edit Master title style</a:t>
            </a:r>
          </a:p>
        </p:txBody>
      </p:sp>
      <p:pic>
        <p:nvPicPr>
          <p:cNvPr id="11" name="Picture Placeholder 9">
            <a:extLst>
              <a:ext uri="{FF2B5EF4-FFF2-40B4-BE49-F238E27FC236}">
                <a16:creationId xmlns:a16="http://schemas.microsoft.com/office/drawing/2014/main" id="{03C9BB26-379B-C64A-B725-32BCE967BDAB}"/>
              </a:ext>
            </a:extLst>
          </p:cNvPr>
          <p:cNvPicPr>
            <a:picLocks noChangeAspect="1"/>
          </p:cNvPicPr>
          <p:nvPr userDrawn="1"/>
        </p:nvPicPr>
        <p:blipFill>
          <a:blip r:embed="rId2" cstate="screen">
            <a:extLst>
              <a:ext uri="{28A0092B-C50C-407E-A947-70E740481C1C}">
                <a14:useLocalDpi xmlns:a14="http://schemas.microsoft.com/office/drawing/2010/main"/>
              </a:ext>
            </a:extLst>
          </a:blip>
          <a:srcRect l="4216" r="4216"/>
          <a:stretch>
            <a:fillRect/>
          </a:stretch>
        </p:blipFill>
        <p:spPr>
          <a:xfrm>
            <a:off x="3588500" y="1120239"/>
            <a:ext cx="5080012" cy="5080012"/>
          </a:xfrm>
          <a:prstGeom prst="rect">
            <a:avLst/>
          </a:prstGeom>
        </p:spPr>
      </p:pic>
      <p:pic>
        <p:nvPicPr>
          <p:cNvPr id="12" name="Picture 11">
            <a:extLst>
              <a:ext uri="{FF2B5EF4-FFF2-40B4-BE49-F238E27FC236}">
                <a16:creationId xmlns:a16="http://schemas.microsoft.com/office/drawing/2014/main" id="{70529BCF-E253-8D42-AB1D-F72A35E6348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723" r="21919"/>
          <a:stretch/>
        </p:blipFill>
        <p:spPr>
          <a:xfrm>
            <a:off x="0" y="3965189"/>
            <a:ext cx="4230350" cy="2357818"/>
          </a:xfrm>
          <a:prstGeom prst="rect">
            <a:avLst/>
          </a:prstGeom>
        </p:spPr>
      </p:pic>
      <p:pic>
        <p:nvPicPr>
          <p:cNvPr id="13" name="Picture Placeholder 9">
            <a:extLst>
              <a:ext uri="{FF2B5EF4-FFF2-40B4-BE49-F238E27FC236}">
                <a16:creationId xmlns:a16="http://schemas.microsoft.com/office/drawing/2014/main" id="{B2C78AAC-1E67-2844-BEE0-55EEFBAECC2B}"/>
              </a:ext>
            </a:extLst>
          </p:cNvPr>
          <p:cNvPicPr>
            <a:picLocks noChangeAspect="1"/>
          </p:cNvPicPr>
          <p:nvPr userDrawn="1"/>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l="4216" r="4216"/>
          <a:stretch>
            <a:fillRect/>
          </a:stretch>
        </p:blipFill>
        <p:spPr>
          <a:xfrm rot="5400000">
            <a:off x="3729756" y="1321719"/>
            <a:ext cx="4583122" cy="4583122"/>
          </a:xfrm>
          <a:prstGeom prst="rect">
            <a:avLst/>
          </a:prstGeom>
        </p:spPr>
      </p:pic>
      <p:pic>
        <p:nvPicPr>
          <p:cNvPr id="14" name="Picture 13">
            <a:extLst>
              <a:ext uri="{FF2B5EF4-FFF2-40B4-BE49-F238E27FC236}">
                <a16:creationId xmlns:a16="http://schemas.microsoft.com/office/drawing/2014/main" id="{66DF2B68-CA70-4D44-973C-89FD2A578CC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15672" t="24108" b="24108"/>
          <a:stretch/>
        </p:blipFill>
        <p:spPr>
          <a:xfrm>
            <a:off x="8255844" y="2598454"/>
            <a:ext cx="2759628" cy="1462766"/>
          </a:xfrm>
          <a:prstGeom prst="rect">
            <a:avLst/>
          </a:prstGeom>
        </p:spPr>
      </p:pic>
      <p:sp>
        <p:nvSpPr>
          <p:cNvPr id="10" name="Copyright">
            <a:extLst>
              <a:ext uri="{FF2B5EF4-FFF2-40B4-BE49-F238E27FC236}">
                <a16:creationId xmlns:a16="http://schemas.microsoft.com/office/drawing/2014/main" id="{FC981020-0E30-6448-8CBE-434E0F83656A}"/>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700" b="0" noProof="0">
                <a:solidFill>
                  <a:schemeClr val="bg1"/>
                </a:solidFill>
                <a:latin typeface="+mn-lt"/>
              </a:rPr>
              <a:t>Copyright © 2021 Deloitte Development LLC. All rights reserved.</a:t>
            </a:r>
          </a:p>
        </p:txBody>
      </p:sp>
    </p:spTree>
    <p:extLst>
      <p:ext uri="{BB962C8B-B14F-4D97-AF65-F5344CB8AC3E}">
        <p14:creationId xmlns:p14="http://schemas.microsoft.com/office/powerpoint/2010/main" val="1509517085"/>
      </p:ext>
    </p:extLst>
  </p:cSld>
  <p:clrMapOvr>
    <a:masterClrMapping/>
  </p:clrMapOvr>
  <p:transition>
    <p:fade/>
  </p:transition>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mp; Subtitle">
  <p:cSld name="1_Title &amp; Subtitle">
    <p:spTree>
      <p:nvGrpSpPr>
        <p:cNvPr id="1" name="Shape 39"/>
        <p:cNvGrpSpPr/>
        <p:nvPr/>
      </p:nvGrpSpPr>
      <p:grpSpPr>
        <a:xfrm>
          <a:off x="0" y="0"/>
          <a:ext cx="0" cy="0"/>
          <a:chOff x="0" y="0"/>
          <a:chExt cx="0" cy="0"/>
        </a:xfrm>
      </p:grpSpPr>
      <p:sp>
        <p:nvSpPr>
          <p:cNvPr id="40" name="Google Shape;40;p10"/>
          <p:cNvSpPr txBox="1">
            <a:spLocks noGrp="1"/>
          </p:cNvSpPr>
          <p:nvPr>
            <p:ph type="body" idx="1"/>
          </p:nvPr>
        </p:nvSpPr>
        <p:spPr>
          <a:xfrm>
            <a:off x="469900" y="736688"/>
            <a:ext cx="112522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rgbClr val="575757"/>
              </a:buClr>
              <a:buSzPts val="1600"/>
              <a:buNone/>
              <a:defRPr sz="1600" b="0">
                <a:solidFill>
                  <a:srgbClr val="575757"/>
                </a:solidFill>
              </a:defRPr>
            </a:lvl1pPr>
            <a:lvl2pPr marL="914400" lvl="1" indent="-228600" algn="l">
              <a:spcBef>
                <a:spcPts val="1333"/>
              </a:spcBef>
              <a:spcAft>
                <a:spcPts val="0"/>
              </a:spcAft>
              <a:buClr>
                <a:schemeClr val="dk1"/>
              </a:buClr>
              <a:buSzPts val="1800"/>
              <a:buNone/>
              <a:defRPr/>
            </a:lvl2pPr>
            <a:lvl3pPr marL="1371600" lvl="2" indent="-342900" algn="l">
              <a:spcBef>
                <a:spcPts val="1333"/>
              </a:spcBef>
              <a:spcAft>
                <a:spcPts val="0"/>
              </a:spcAft>
              <a:buClr>
                <a:schemeClr val="dk1"/>
              </a:buClr>
              <a:buSzPts val="1800"/>
              <a:buChar char="•"/>
              <a:defRPr/>
            </a:lvl3pPr>
            <a:lvl4pPr marL="1828800" lvl="3" indent="-342900" algn="l">
              <a:spcBef>
                <a:spcPts val="1333"/>
              </a:spcBef>
              <a:spcAft>
                <a:spcPts val="0"/>
              </a:spcAft>
              <a:buClr>
                <a:schemeClr val="dk1"/>
              </a:buClr>
              <a:buSzPts val="1800"/>
              <a:buChar char="−"/>
              <a:defRPr/>
            </a:lvl4pPr>
            <a:lvl5pPr marL="2286000" lvl="4" indent="-342900" algn="l">
              <a:spcBef>
                <a:spcPts val="1333"/>
              </a:spcBef>
              <a:spcAft>
                <a:spcPts val="0"/>
              </a:spcAft>
              <a:buClr>
                <a:schemeClr val="dk1"/>
              </a:buClr>
              <a:buSzPts val="1800"/>
              <a:buChar char="−"/>
              <a:defRPr/>
            </a:lvl5pPr>
            <a:lvl6pPr marL="2743200" lvl="5" indent="-342900" algn="l">
              <a:spcBef>
                <a:spcPts val="1333"/>
              </a:spcBef>
              <a:spcAft>
                <a:spcPts val="0"/>
              </a:spcAft>
              <a:buClr>
                <a:schemeClr val="dk1"/>
              </a:buClr>
              <a:buSzPts val="1800"/>
              <a:buChar char="−"/>
              <a:defRPr/>
            </a:lvl6pPr>
            <a:lvl7pPr marL="3200400" lvl="6" indent="-342900" algn="l">
              <a:spcBef>
                <a:spcPts val="1333"/>
              </a:spcBef>
              <a:spcAft>
                <a:spcPts val="0"/>
              </a:spcAft>
              <a:buClr>
                <a:schemeClr val="dk1"/>
              </a:buClr>
              <a:buSzPts val="1800"/>
              <a:buChar char="−"/>
              <a:defRPr/>
            </a:lvl7pPr>
            <a:lvl8pPr marL="3657600" lvl="7" indent="-342900" algn="l">
              <a:spcBef>
                <a:spcPts val="1333"/>
              </a:spcBef>
              <a:spcAft>
                <a:spcPts val="0"/>
              </a:spcAft>
              <a:buClr>
                <a:schemeClr val="dk1"/>
              </a:buClr>
              <a:buSzPts val="1800"/>
              <a:buChar char="−"/>
              <a:defRPr/>
            </a:lvl8pPr>
            <a:lvl9pPr marL="4114800" lvl="8" indent="-342900" algn="l">
              <a:spcBef>
                <a:spcPts val="1333"/>
              </a:spcBef>
              <a:spcAft>
                <a:spcPts val="1333"/>
              </a:spcAft>
              <a:buClr>
                <a:schemeClr val="dk1"/>
              </a:buClr>
              <a:buSzPts val="1800"/>
              <a:buChar char="−"/>
              <a:defRPr/>
            </a:lvl9pPr>
          </a:lstStyle>
          <a:p>
            <a:endParaRPr/>
          </a:p>
        </p:txBody>
      </p:sp>
      <p:sp>
        <p:nvSpPr>
          <p:cNvPr id="41" name="Google Shape;41;p10"/>
          <p:cNvSpPr txBox="1">
            <a:spLocks noGrp="1"/>
          </p:cNvSpPr>
          <p:nvPr>
            <p:ph type="title"/>
          </p:nvPr>
        </p:nvSpPr>
        <p:spPr>
          <a:xfrm>
            <a:off x="469900" y="402587"/>
            <a:ext cx="11252200" cy="334102"/>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dk1"/>
              </a:buClr>
              <a:buSzPts val="2000"/>
              <a:buFont typeface="Open Sans"/>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084967790"/>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Qualifications 2 x 1">
  <p:cSld name="1_Qualifications 2 x 1">
    <p:spTree>
      <p:nvGrpSpPr>
        <p:cNvPr id="1" name="Shape 71"/>
        <p:cNvGrpSpPr/>
        <p:nvPr/>
      </p:nvGrpSpPr>
      <p:grpSpPr>
        <a:xfrm>
          <a:off x="0" y="0"/>
          <a:ext cx="0" cy="0"/>
          <a:chOff x="0" y="0"/>
          <a:chExt cx="0" cy="0"/>
        </a:xfrm>
      </p:grpSpPr>
      <p:sp>
        <p:nvSpPr>
          <p:cNvPr id="72" name="Google Shape;72;p15"/>
          <p:cNvSpPr txBox="1">
            <a:spLocks noGrp="1"/>
          </p:cNvSpPr>
          <p:nvPr>
            <p:ph type="body" idx="1"/>
          </p:nvPr>
        </p:nvSpPr>
        <p:spPr>
          <a:xfrm>
            <a:off x="469900" y="736688"/>
            <a:ext cx="112522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rgbClr val="575757"/>
              </a:buClr>
              <a:buSzPts val="1600"/>
              <a:buNone/>
              <a:defRPr sz="1600" b="0">
                <a:solidFill>
                  <a:srgbClr val="575757"/>
                </a:solidFill>
              </a:defRPr>
            </a:lvl1pPr>
            <a:lvl2pPr marL="914400" lvl="1" indent="-228600" algn="l">
              <a:spcBef>
                <a:spcPts val="1333"/>
              </a:spcBef>
              <a:spcAft>
                <a:spcPts val="0"/>
              </a:spcAft>
              <a:buClr>
                <a:schemeClr val="dk1"/>
              </a:buClr>
              <a:buSzPts val="1800"/>
              <a:buNone/>
              <a:defRPr/>
            </a:lvl2pPr>
            <a:lvl3pPr marL="1371600" lvl="2" indent="-342900" algn="l">
              <a:spcBef>
                <a:spcPts val="1333"/>
              </a:spcBef>
              <a:spcAft>
                <a:spcPts val="0"/>
              </a:spcAft>
              <a:buClr>
                <a:schemeClr val="dk1"/>
              </a:buClr>
              <a:buSzPts val="1800"/>
              <a:buChar char="•"/>
              <a:defRPr/>
            </a:lvl3pPr>
            <a:lvl4pPr marL="1828800" lvl="3" indent="-342900" algn="l">
              <a:spcBef>
                <a:spcPts val="1333"/>
              </a:spcBef>
              <a:spcAft>
                <a:spcPts val="0"/>
              </a:spcAft>
              <a:buClr>
                <a:schemeClr val="dk1"/>
              </a:buClr>
              <a:buSzPts val="1800"/>
              <a:buChar char="−"/>
              <a:defRPr/>
            </a:lvl4pPr>
            <a:lvl5pPr marL="2286000" lvl="4" indent="-342900" algn="l">
              <a:spcBef>
                <a:spcPts val="1333"/>
              </a:spcBef>
              <a:spcAft>
                <a:spcPts val="0"/>
              </a:spcAft>
              <a:buClr>
                <a:schemeClr val="dk1"/>
              </a:buClr>
              <a:buSzPts val="1800"/>
              <a:buChar char="−"/>
              <a:defRPr/>
            </a:lvl5pPr>
            <a:lvl6pPr marL="2743200" lvl="5" indent="-342900" algn="l">
              <a:spcBef>
                <a:spcPts val="1333"/>
              </a:spcBef>
              <a:spcAft>
                <a:spcPts val="0"/>
              </a:spcAft>
              <a:buClr>
                <a:schemeClr val="dk1"/>
              </a:buClr>
              <a:buSzPts val="1800"/>
              <a:buChar char="−"/>
              <a:defRPr/>
            </a:lvl6pPr>
            <a:lvl7pPr marL="3200400" lvl="6" indent="-342900" algn="l">
              <a:spcBef>
                <a:spcPts val="1333"/>
              </a:spcBef>
              <a:spcAft>
                <a:spcPts val="0"/>
              </a:spcAft>
              <a:buClr>
                <a:schemeClr val="dk1"/>
              </a:buClr>
              <a:buSzPts val="1800"/>
              <a:buChar char="−"/>
              <a:defRPr/>
            </a:lvl7pPr>
            <a:lvl8pPr marL="3657600" lvl="7" indent="-342900" algn="l">
              <a:spcBef>
                <a:spcPts val="1333"/>
              </a:spcBef>
              <a:spcAft>
                <a:spcPts val="0"/>
              </a:spcAft>
              <a:buClr>
                <a:schemeClr val="dk1"/>
              </a:buClr>
              <a:buSzPts val="1800"/>
              <a:buChar char="−"/>
              <a:defRPr/>
            </a:lvl8pPr>
            <a:lvl9pPr marL="4114800" lvl="8" indent="-342900" algn="l">
              <a:spcBef>
                <a:spcPts val="1333"/>
              </a:spcBef>
              <a:spcAft>
                <a:spcPts val="1333"/>
              </a:spcAft>
              <a:buClr>
                <a:schemeClr val="dk1"/>
              </a:buClr>
              <a:buSzPts val="1800"/>
              <a:buChar char="−"/>
              <a:defRPr/>
            </a:lvl9pPr>
          </a:lstStyle>
          <a:p>
            <a:endParaRPr/>
          </a:p>
        </p:txBody>
      </p:sp>
      <p:sp>
        <p:nvSpPr>
          <p:cNvPr id="73" name="Google Shape;73;p15"/>
          <p:cNvSpPr txBox="1">
            <a:spLocks noGrp="1"/>
          </p:cNvSpPr>
          <p:nvPr>
            <p:ph type="title"/>
          </p:nvPr>
        </p:nvSpPr>
        <p:spPr>
          <a:xfrm>
            <a:off x="469900" y="402586"/>
            <a:ext cx="11252200" cy="334101"/>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dk1"/>
              </a:buClr>
              <a:buSzPts val="2000"/>
              <a:buFont typeface="Open Sans"/>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5"/>
          <p:cNvSpPr txBox="1">
            <a:spLocks noGrp="1"/>
          </p:cNvSpPr>
          <p:nvPr>
            <p:ph type="body" idx="2"/>
          </p:nvPr>
        </p:nvSpPr>
        <p:spPr>
          <a:xfrm>
            <a:off x="469899" y="1857892"/>
            <a:ext cx="5544000" cy="1695451"/>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None/>
              <a:defRPr b="1">
                <a:solidFill>
                  <a:schemeClr val="accent1"/>
                </a:solidFill>
              </a:defRPr>
            </a:lvl1pPr>
            <a:lvl2pPr marL="914400" lvl="1" indent="-228600" algn="l">
              <a:spcBef>
                <a:spcPts val="1333"/>
              </a:spcBef>
              <a:spcAft>
                <a:spcPts val="0"/>
              </a:spcAft>
              <a:buClr>
                <a:schemeClr val="dk1"/>
              </a:buClr>
              <a:buSzPts val="1200"/>
              <a:buNone/>
              <a:defRPr/>
            </a:lvl2pPr>
            <a:lvl3pPr marL="1371600" lvl="2" indent="-228600" algn="l">
              <a:spcBef>
                <a:spcPts val="1333"/>
              </a:spcBef>
              <a:spcAft>
                <a:spcPts val="0"/>
              </a:spcAft>
              <a:buClr>
                <a:schemeClr val="dk1"/>
              </a:buClr>
              <a:buSzPts val="1200"/>
              <a:buNone/>
              <a:defRPr/>
            </a:lvl3pPr>
            <a:lvl4pPr marL="1828800" lvl="3" indent="-304800" algn="l">
              <a:spcBef>
                <a:spcPts val="1333"/>
              </a:spcBef>
              <a:spcAft>
                <a:spcPts val="0"/>
              </a:spcAft>
              <a:buClr>
                <a:schemeClr val="dk1"/>
              </a:buClr>
              <a:buSzPts val="1200"/>
              <a:buFont typeface="Arial"/>
              <a:buChar char="•"/>
              <a:defRPr/>
            </a:lvl4pPr>
            <a:lvl5pPr marL="2286000" lvl="4" indent="-304800" algn="l">
              <a:spcBef>
                <a:spcPts val="1333"/>
              </a:spcBef>
              <a:spcAft>
                <a:spcPts val="0"/>
              </a:spcAft>
              <a:buClr>
                <a:schemeClr val="dk1"/>
              </a:buClr>
              <a:buSzPts val="1200"/>
              <a:buChar char="−"/>
              <a:defRPr/>
            </a:lvl5pPr>
            <a:lvl6pPr marL="2743200" lvl="5" indent="-330200" algn="l">
              <a:spcBef>
                <a:spcPts val="1333"/>
              </a:spcBef>
              <a:spcAft>
                <a:spcPts val="0"/>
              </a:spcAft>
              <a:buClr>
                <a:schemeClr val="dk1"/>
              </a:buClr>
              <a:buSzPts val="1600"/>
              <a:buFont typeface="Verdana"/>
              <a:buChar char="−"/>
              <a:defRPr/>
            </a:lvl6pPr>
            <a:lvl7pPr marL="3200400" lvl="6" indent="-330200" algn="l">
              <a:spcBef>
                <a:spcPts val="1333"/>
              </a:spcBef>
              <a:spcAft>
                <a:spcPts val="0"/>
              </a:spcAft>
              <a:buClr>
                <a:schemeClr val="dk1"/>
              </a:buClr>
              <a:buSzPts val="1600"/>
              <a:buChar char="−"/>
              <a:defRPr/>
            </a:lvl7pPr>
            <a:lvl8pPr marL="3657600" lvl="7" indent="-330200" algn="l">
              <a:spcBef>
                <a:spcPts val="1333"/>
              </a:spcBef>
              <a:spcAft>
                <a:spcPts val="0"/>
              </a:spcAft>
              <a:buClr>
                <a:schemeClr val="dk1"/>
              </a:buClr>
              <a:buSzPts val="1600"/>
              <a:buChar char="−"/>
              <a:defRPr/>
            </a:lvl8pPr>
            <a:lvl9pPr marL="4114800" lvl="8" indent="-330200" algn="l">
              <a:spcBef>
                <a:spcPts val="1333"/>
              </a:spcBef>
              <a:spcAft>
                <a:spcPts val="1333"/>
              </a:spcAft>
              <a:buClr>
                <a:schemeClr val="dk1"/>
              </a:buClr>
              <a:buSzPts val="1600"/>
              <a:buChar char="−"/>
              <a:defRPr/>
            </a:lvl9pPr>
          </a:lstStyle>
          <a:p>
            <a:endParaRPr/>
          </a:p>
        </p:txBody>
      </p:sp>
      <p:sp>
        <p:nvSpPr>
          <p:cNvPr id="75" name="Google Shape;75;p15"/>
          <p:cNvSpPr txBox="1">
            <a:spLocks noGrp="1"/>
          </p:cNvSpPr>
          <p:nvPr>
            <p:ph type="body" idx="3"/>
          </p:nvPr>
        </p:nvSpPr>
        <p:spPr>
          <a:xfrm>
            <a:off x="6177462" y="1857892"/>
            <a:ext cx="5544000" cy="1695451"/>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None/>
              <a:defRPr b="1">
                <a:solidFill>
                  <a:schemeClr val="accent1"/>
                </a:solidFill>
              </a:defRPr>
            </a:lvl1pPr>
            <a:lvl2pPr marL="914400" lvl="1" indent="-228600" algn="l">
              <a:spcBef>
                <a:spcPts val="1333"/>
              </a:spcBef>
              <a:spcAft>
                <a:spcPts val="0"/>
              </a:spcAft>
              <a:buClr>
                <a:schemeClr val="dk1"/>
              </a:buClr>
              <a:buSzPts val="1200"/>
              <a:buNone/>
              <a:defRPr/>
            </a:lvl2pPr>
            <a:lvl3pPr marL="1371600" lvl="2" indent="-228600" algn="l">
              <a:spcBef>
                <a:spcPts val="1333"/>
              </a:spcBef>
              <a:spcAft>
                <a:spcPts val="0"/>
              </a:spcAft>
              <a:buClr>
                <a:schemeClr val="dk1"/>
              </a:buClr>
              <a:buSzPts val="1200"/>
              <a:buNone/>
              <a:defRPr/>
            </a:lvl3pPr>
            <a:lvl4pPr marL="1828800" lvl="3" indent="-304800" algn="l">
              <a:spcBef>
                <a:spcPts val="1333"/>
              </a:spcBef>
              <a:spcAft>
                <a:spcPts val="0"/>
              </a:spcAft>
              <a:buClr>
                <a:schemeClr val="dk1"/>
              </a:buClr>
              <a:buSzPts val="1200"/>
              <a:buFont typeface="Arial"/>
              <a:buChar char="•"/>
              <a:defRPr/>
            </a:lvl4pPr>
            <a:lvl5pPr marL="2286000" lvl="4" indent="-304800" algn="l">
              <a:spcBef>
                <a:spcPts val="1333"/>
              </a:spcBef>
              <a:spcAft>
                <a:spcPts val="0"/>
              </a:spcAft>
              <a:buClr>
                <a:schemeClr val="dk1"/>
              </a:buClr>
              <a:buSzPts val="1200"/>
              <a:buChar char="−"/>
              <a:defRPr/>
            </a:lvl5pPr>
            <a:lvl6pPr marL="2743200" lvl="5" indent="-330200" algn="l">
              <a:spcBef>
                <a:spcPts val="1333"/>
              </a:spcBef>
              <a:spcAft>
                <a:spcPts val="0"/>
              </a:spcAft>
              <a:buClr>
                <a:schemeClr val="dk1"/>
              </a:buClr>
              <a:buSzPts val="1600"/>
              <a:buFont typeface="Verdana"/>
              <a:buChar char="−"/>
              <a:defRPr/>
            </a:lvl6pPr>
            <a:lvl7pPr marL="3200400" lvl="6" indent="-330200" algn="l">
              <a:spcBef>
                <a:spcPts val="1333"/>
              </a:spcBef>
              <a:spcAft>
                <a:spcPts val="0"/>
              </a:spcAft>
              <a:buClr>
                <a:schemeClr val="dk1"/>
              </a:buClr>
              <a:buSzPts val="1600"/>
              <a:buChar char="−"/>
              <a:defRPr/>
            </a:lvl7pPr>
            <a:lvl8pPr marL="3657600" lvl="7" indent="-330200" algn="l">
              <a:spcBef>
                <a:spcPts val="1333"/>
              </a:spcBef>
              <a:spcAft>
                <a:spcPts val="0"/>
              </a:spcAft>
              <a:buClr>
                <a:schemeClr val="dk1"/>
              </a:buClr>
              <a:buSzPts val="1600"/>
              <a:buChar char="−"/>
              <a:defRPr/>
            </a:lvl8pPr>
            <a:lvl9pPr marL="4114800" lvl="8" indent="-330200" algn="l">
              <a:spcBef>
                <a:spcPts val="1333"/>
              </a:spcBef>
              <a:spcAft>
                <a:spcPts val="1333"/>
              </a:spcAft>
              <a:buClr>
                <a:schemeClr val="dk1"/>
              </a:buClr>
              <a:buSzPts val="1600"/>
              <a:buChar char="−"/>
              <a:defRPr/>
            </a:lvl9pPr>
          </a:lstStyle>
          <a:p>
            <a:endParaRPr/>
          </a:p>
        </p:txBody>
      </p:sp>
      <p:sp>
        <p:nvSpPr>
          <p:cNvPr id="76" name="Google Shape;76;p15"/>
          <p:cNvSpPr/>
          <p:nvPr/>
        </p:nvSpPr>
        <p:spPr>
          <a:xfrm>
            <a:off x="469899" y="1705379"/>
            <a:ext cx="5544000" cy="5304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467">
              <a:solidFill>
                <a:schemeClr val="lt1"/>
              </a:solidFill>
              <a:latin typeface="Open Sans"/>
              <a:ea typeface="Open Sans"/>
              <a:cs typeface="Open Sans"/>
              <a:sym typeface="Open Sans"/>
            </a:endParaRPr>
          </a:p>
        </p:txBody>
      </p:sp>
      <p:sp>
        <p:nvSpPr>
          <p:cNvPr id="77" name="Google Shape;77;p15"/>
          <p:cNvSpPr/>
          <p:nvPr/>
        </p:nvSpPr>
        <p:spPr>
          <a:xfrm>
            <a:off x="6167796" y="1705379"/>
            <a:ext cx="5544000" cy="5304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467">
              <a:solidFill>
                <a:schemeClr val="lt1"/>
              </a:solidFill>
              <a:latin typeface="Open Sans"/>
              <a:ea typeface="Open Sans"/>
              <a:cs typeface="Open Sans"/>
              <a:sym typeface="Open Sans"/>
            </a:endParaRPr>
          </a:p>
        </p:txBody>
      </p:sp>
      <p:sp>
        <p:nvSpPr>
          <p:cNvPr id="78" name="Google Shape;78;p15"/>
          <p:cNvSpPr/>
          <p:nvPr/>
        </p:nvSpPr>
        <p:spPr>
          <a:xfrm>
            <a:off x="469899" y="1705379"/>
            <a:ext cx="5544000" cy="5304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467">
              <a:solidFill>
                <a:schemeClr val="lt1"/>
              </a:solidFill>
              <a:latin typeface="Open Sans"/>
              <a:ea typeface="Open Sans"/>
              <a:cs typeface="Open Sans"/>
              <a:sym typeface="Open Sans"/>
            </a:endParaRPr>
          </a:p>
        </p:txBody>
      </p:sp>
      <p:sp>
        <p:nvSpPr>
          <p:cNvPr id="79" name="Google Shape;79;p15"/>
          <p:cNvSpPr/>
          <p:nvPr/>
        </p:nvSpPr>
        <p:spPr>
          <a:xfrm>
            <a:off x="6167796" y="1705379"/>
            <a:ext cx="5544000" cy="5304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467">
              <a:solidFill>
                <a:schemeClr val="lt1"/>
              </a:solidFill>
              <a:latin typeface="Open Sans"/>
              <a:ea typeface="Open Sans"/>
              <a:cs typeface="Open Sans"/>
              <a:sym typeface="Open Sans"/>
            </a:endParaRPr>
          </a:p>
        </p:txBody>
      </p:sp>
      <p:grpSp>
        <p:nvGrpSpPr>
          <p:cNvPr id="80" name="Google Shape;80;p15"/>
          <p:cNvGrpSpPr/>
          <p:nvPr/>
        </p:nvGrpSpPr>
        <p:grpSpPr>
          <a:xfrm>
            <a:off x="0" y="3429000"/>
            <a:ext cx="4267197" cy="3429000"/>
            <a:chOff x="0" y="3069927"/>
            <a:chExt cx="4267197" cy="3429000"/>
          </a:xfrm>
        </p:grpSpPr>
        <p:sp>
          <p:nvSpPr>
            <p:cNvPr id="81" name="Google Shape;81;p15"/>
            <p:cNvSpPr/>
            <p:nvPr/>
          </p:nvSpPr>
          <p:spPr>
            <a:xfrm>
              <a:off x="0" y="5873262"/>
              <a:ext cx="4267197" cy="6256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Open Sans"/>
                <a:ea typeface="Open Sans"/>
                <a:cs typeface="Open Sans"/>
                <a:sym typeface="Open Sans"/>
              </a:endParaRPr>
            </a:p>
          </p:txBody>
        </p:sp>
        <p:pic>
          <p:nvPicPr>
            <p:cNvPr id="82" name="Google Shape;82;p15" descr="A picture containing electronics&#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rot="10800000">
              <a:off x="0" y="3069927"/>
              <a:ext cx="3508510" cy="3429000"/>
            </a:xfrm>
            <a:prstGeom prst="rect">
              <a:avLst/>
            </a:prstGeom>
            <a:noFill/>
            <a:ln>
              <a:noFill/>
            </a:ln>
          </p:spPr>
        </p:pic>
      </p:grpSp>
    </p:spTree>
    <p:extLst>
      <p:ext uri="{BB962C8B-B14F-4D97-AF65-F5344CB8AC3E}">
        <p14:creationId xmlns:p14="http://schemas.microsoft.com/office/powerpoint/2010/main" val="2911785639"/>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11AA1-6EAF-A87E-DEF9-AAB277532D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B283A5-10B1-4DFC-ACC3-D7D4AEA145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9DC4EF-0D97-5F7B-8B91-CA55166738E3}"/>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E040DBBB-B5A3-16D6-B899-0C72CF344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9788C1-076A-AD55-918A-E8FC37026060}"/>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108923938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244B-21D3-2BEA-8805-FBBAD5700C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362A3C-AFFB-4207-0897-996DA02BF6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B7DCE-46FB-3BCC-BFC7-106EF2636C00}"/>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5C461B56-4AF8-046D-942E-B221D22228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7C2040-9971-2E75-C01E-36566BDFA11B}"/>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32819914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8CE2-7C3D-9B13-05BD-F9BA92B7B7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717356-B5E0-A1DD-118C-A60904557C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A16A80-5049-6C3E-95E9-20B439F127B9}"/>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222B5F52-9F3B-116E-6678-75F5657A4B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5AD522-3202-B122-413B-121B47251071}"/>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33533246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EF127-7729-6364-329C-5E10F566DD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3EBD55-E62F-8A4A-089B-57075FBC8B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4CC8FD-7A13-A065-9E2D-B214B82867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CF3BAC-D06A-9F5F-0CFB-8B6EE0C5B918}"/>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6" name="Footer Placeholder 5">
            <a:extLst>
              <a:ext uri="{FF2B5EF4-FFF2-40B4-BE49-F238E27FC236}">
                <a16:creationId xmlns:a16="http://schemas.microsoft.com/office/drawing/2014/main" id="{0AF68583-B9A4-C726-F9DE-B03E051E56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546E12-B4EA-849B-B579-C41D7A54ACAD}"/>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334365659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9D939-A80D-F1F7-1F2C-3DA56BCA3D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8CAE65-8A5A-1ED3-EC82-7C91C2527A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7CFADA-F065-8517-3D00-2A5034FDE4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CA45E8-65B5-8E67-A49D-86AD20973A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CE2F2F-EE8C-8AD5-4434-5278503BA9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9D67AA-6A71-BA44-C53B-BB99BE1D8CDD}"/>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8" name="Footer Placeholder 7">
            <a:extLst>
              <a:ext uri="{FF2B5EF4-FFF2-40B4-BE49-F238E27FC236}">
                <a16:creationId xmlns:a16="http://schemas.microsoft.com/office/drawing/2014/main" id="{A517D78C-A5D2-1811-C21C-0A374AB35F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DFFEF8-0328-C1FA-E63D-928F5F1CDF50}"/>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14060614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8B5E-4C0B-94DA-9B3A-1CB0EDA41B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098005-74BF-86F0-9626-73945602BA69}"/>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4" name="Footer Placeholder 3">
            <a:extLst>
              <a:ext uri="{FF2B5EF4-FFF2-40B4-BE49-F238E27FC236}">
                <a16:creationId xmlns:a16="http://schemas.microsoft.com/office/drawing/2014/main" id="{892FB547-E233-1B2F-F3B4-64D941E7D5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F27C4A-79F6-23F6-EE3D-F9DE7EEDC768}"/>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18205292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1A1158-D517-F57C-E287-0407C72927F3}"/>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3" name="Footer Placeholder 2">
            <a:extLst>
              <a:ext uri="{FF2B5EF4-FFF2-40B4-BE49-F238E27FC236}">
                <a16:creationId xmlns:a16="http://schemas.microsoft.com/office/drawing/2014/main" id="{AABB52E1-CA87-FE08-8404-EFE7830945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EEC637-39B4-37E8-4E11-9304C2AC9F42}"/>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41729154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D2FCB-517D-4F46-33B5-30DA80039D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EBD33B-8A32-F6D2-F0FF-0186716AF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B55852-C7F5-F19D-3DC5-A8769E562A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E78193-0D73-75C5-9602-31176340C778}"/>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6" name="Footer Placeholder 5">
            <a:extLst>
              <a:ext uri="{FF2B5EF4-FFF2-40B4-BE49-F238E27FC236}">
                <a16:creationId xmlns:a16="http://schemas.microsoft.com/office/drawing/2014/main" id="{93C54E09-EDA2-8218-71FF-8FB58BD12F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F4FCB-32E7-2A3A-C7D1-381359311209}"/>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49401666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6CD07-81EA-DD99-457C-B443208E57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1081E7-7B72-30F1-01F3-EB10D8BDDB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FE988A-412F-389A-488B-A7CCF64C09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8C9F32-4246-0405-EB36-ED21BA988285}"/>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6" name="Footer Placeholder 5">
            <a:extLst>
              <a:ext uri="{FF2B5EF4-FFF2-40B4-BE49-F238E27FC236}">
                <a16:creationId xmlns:a16="http://schemas.microsoft.com/office/drawing/2014/main" id="{E16E5433-E7CB-89B5-E5CF-EC38D289A9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8C1FF-87BB-2F3F-5519-5145C1443FA4}"/>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215304705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AD415-A044-D5D8-327E-F51E9774AA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DFD165-5167-1FDE-F5A4-2D32BB8CD2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C463B-5528-95A3-392D-BFF61E49A8AF}"/>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C21B0F6B-9C9B-DF90-B934-795D37034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D5FEB-FBA6-104E-37FF-89A63B80FBB1}"/>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147766854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E08CE9-DA53-0403-45EA-4CCDA554B9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155E93-E34B-9E01-67D0-DBF7501F42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81830-E3AC-E304-B6E1-1686E020F0FD}"/>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5441EE70-2C4C-71DC-091E-9BF24A77F7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4E8259-230A-AF11-2C9D-A71FE956B5BC}"/>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7695906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3_Title Slide - White">
    <p:bg bwMode="gray">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469CF-428F-5027-1D25-4B5736EFE0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95570" y="766334"/>
            <a:ext cx="5845886" cy="5481708"/>
          </a:xfrm>
          <a:prstGeom prst="rect">
            <a:avLst/>
          </a:prstGeom>
        </p:spPr>
      </p:pic>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93561" y="474218"/>
            <a:ext cx="1816364" cy="340364"/>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19" name="Text Placeholder 9">
            <a:extLst>
              <a:ext uri="{FF2B5EF4-FFF2-40B4-BE49-F238E27FC236}">
                <a16:creationId xmlns:a16="http://schemas.microsoft.com/office/drawing/2014/main" id="{DB0FFD41-6932-C542-BED0-7BFE546399ED}"/>
              </a:ext>
            </a:extLst>
          </p:cNvPr>
          <p:cNvSpPr>
            <a:spLocks noGrp="1"/>
          </p:cNvSpPr>
          <p:nvPr>
            <p:ph type="body" sz="quarter" idx="16" hasCustomPrompt="1"/>
          </p:nvPr>
        </p:nvSpPr>
        <p:spPr>
          <a:xfrm>
            <a:off x="490295" y="5940663"/>
            <a:ext cx="4407673" cy="478209"/>
          </a:xfrm>
        </p:spPr>
        <p:txBody>
          <a:bodyPr vert="horz" lIns="0" tIns="0" rIns="0" bIns="0" rtlCol="0">
            <a:noAutofit/>
          </a:bodyPr>
          <a:lstStyle>
            <a:lvl1pPr marL="0" indent="0">
              <a:buNone/>
              <a:defRPr lang="en-US" sz="1200" b="0" i="0" spc="-30" baseline="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Subtitle</a:t>
            </a:r>
          </a:p>
        </p:txBody>
      </p:sp>
      <p:sp>
        <p:nvSpPr>
          <p:cNvPr id="20" name="Text Placeholder 9">
            <a:extLst>
              <a:ext uri="{FF2B5EF4-FFF2-40B4-BE49-F238E27FC236}">
                <a16:creationId xmlns:a16="http://schemas.microsoft.com/office/drawing/2014/main" id="{AA5E058E-2788-6942-A870-D57592460284}"/>
              </a:ext>
            </a:extLst>
          </p:cNvPr>
          <p:cNvSpPr>
            <a:spLocks noGrp="1"/>
          </p:cNvSpPr>
          <p:nvPr>
            <p:ph type="body" sz="quarter" idx="17" hasCustomPrompt="1"/>
          </p:nvPr>
        </p:nvSpPr>
        <p:spPr>
          <a:xfrm>
            <a:off x="490295" y="4585210"/>
            <a:ext cx="4407673" cy="348286"/>
          </a:xfrm>
        </p:spPr>
        <p:txBody>
          <a:bodyPr vert="horz" lIns="0" tIns="0" rIns="0" bIns="0" rtlCol="0">
            <a:noAutofit/>
          </a:bodyPr>
          <a:lstStyle>
            <a:lvl1pPr marL="0" indent="0">
              <a:buNone/>
              <a:defRPr lang="en-US" sz="800" b="1" i="0" kern="0" cap="none" spc="250" baseline="0" dirty="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DATE</a:t>
            </a:r>
          </a:p>
        </p:txBody>
      </p:sp>
      <p:sp>
        <p:nvSpPr>
          <p:cNvPr id="22" name="Text Placeholder 9">
            <a:extLst>
              <a:ext uri="{FF2B5EF4-FFF2-40B4-BE49-F238E27FC236}">
                <a16:creationId xmlns:a16="http://schemas.microsoft.com/office/drawing/2014/main" id="{40A713AE-DEFF-DE43-AB83-D6B9ED2DAE85}"/>
              </a:ext>
            </a:extLst>
          </p:cNvPr>
          <p:cNvSpPr>
            <a:spLocks noGrp="1"/>
          </p:cNvSpPr>
          <p:nvPr>
            <p:ph type="body" sz="quarter" idx="18" hasCustomPrompt="1"/>
          </p:nvPr>
        </p:nvSpPr>
        <p:spPr>
          <a:xfrm>
            <a:off x="490295" y="4933497"/>
            <a:ext cx="4407673" cy="929790"/>
          </a:xfrm>
        </p:spPr>
        <p:txBody>
          <a:bodyPr vert="horz" lIns="0" tIns="0" rIns="0" bIns="0" rtlCol="0" anchor="b">
            <a:noAutofit/>
          </a:bodyPr>
          <a:lstStyle>
            <a:lvl1pPr marL="0" indent="0">
              <a:buNone/>
              <a:defRPr lang="en-US" sz="3200" b="1" i="0" spc="-10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Title</a:t>
            </a:r>
          </a:p>
        </p:txBody>
      </p:sp>
    </p:spTree>
    <p:extLst>
      <p:ext uri="{BB962C8B-B14F-4D97-AF65-F5344CB8AC3E}">
        <p14:creationId xmlns:p14="http://schemas.microsoft.com/office/powerpoint/2010/main" val="195269817"/>
      </p:ext>
    </p:extLst>
  </p:cSld>
  <p:clrMapOvr>
    <a:masterClrMapping/>
  </p:clrMapOvr>
  <p:transition>
    <p:fade/>
  </p:transition>
  <p:hf hd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 Id="rId50" Type="http://schemas.openxmlformats.org/officeDocument/2006/relationships/tags" Target="../tags/tag1.xml"/><Relationship Id="rId51" Type="http://schemas.openxmlformats.org/officeDocument/2006/relationships/oleObject" Target="../embeddings/oleObject1.bin"/><Relationship Id="rId5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slideLayout" Target="../slideLayouts/slideLayout61.xml"/><Relationship Id="rId14" Type="http://schemas.openxmlformats.org/officeDocument/2006/relationships/slideLayout" Target="../slideLayouts/slideLayout62.xml"/><Relationship Id="rId15" Type="http://schemas.openxmlformats.org/officeDocument/2006/relationships/slideLayout" Target="../slideLayouts/slideLayout63.xml"/><Relationship Id="rId16" Type="http://schemas.openxmlformats.org/officeDocument/2006/relationships/slideLayout" Target="../slideLayouts/slideLayout64.xml"/><Relationship Id="rId17" Type="http://schemas.openxmlformats.org/officeDocument/2006/relationships/slideLayout" Target="../slideLayouts/slideLayout65.xml"/><Relationship Id="rId18" Type="http://schemas.openxmlformats.org/officeDocument/2006/relationships/slideLayout" Target="../slideLayouts/slideLayout66.xml"/><Relationship Id="rId19" Type="http://schemas.openxmlformats.org/officeDocument/2006/relationships/slideLayout" Target="../slideLayouts/slideLayout67.xml"/><Relationship Id="rId20" Type="http://schemas.openxmlformats.org/officeDocument/2006/relationships/slideLayout" Target="../slideLayouts/slideLayout68.xml"/><Relationship Id="rId21" Type="http://schemas.openxmlformats.org/officeDocument/2006/relationships/slideLayout" Target="../slideLayouts/slideLayout69.xml"/><Relationship Id="rId22" Type="http://schemas.openxmlformats.org/officeDocument/2006/relationships/theme" Target="../theme/theme2.xml"/><Relationship Id="rId23" Type="http://schemas.openxmlformats.org/officeDocument/2006/relationships/tags" Target="../tags/tag3.xml"/><Relationship Id="rId24" Type="http://schemas.openxmlformats.org/officeDocument/2006/relationships/oleObject" Target="../embeddings/oleObject3.bin"/><Relationship Id="rId25"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slideLayout" Target="../slideLayouts/slideLayout79.xml"/><Relationship Id="rId11" Type="http://schemas.openxmlformats.org/officeDocument/2006/relationships/slideLayout" Target="../slideLayouts/slideLayout80.xml"/><Relationship Id="rId12" Type="http://schemas.openxmlformats.org/officeDocument/2006/relationships/slideLayout" Target="../slideLayouts/slideLayout81.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0"/>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51" imgW="270" imgH="270" progId="TCLayout.ActiveDocument.1">
                  <p:embed/>
                </p:oleObj>
              </mc:Choice>
              <mc:Fallback>
                <p:oleObj name="think-cell Slide" r:id="rId51" imgW="270" imgH="270" progId="TCLayout.ActiveDocument.1">
                  <p:embed/>
                  <p:pic>
                    <p:nvPicPr>
                      <p:cNvPr id="4" name="Object 3" hidden="1"/>
                      <p:cNvPicPr/>
                      <p:nvPr/>
                    </p:nvPicPr>
                    <p:blipFill>
                      <a:blip r:embed="rId52"/>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Copyright"/>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dirty="0">
                <a:solidFill>
                  <a:schemeClr val="tx1"/>
                </a:solidFill>
                <a:latin typeface="+mn-lt"/>
              </a:rPr>
              <a:t>Copyright © 2026 Deloitte Development LLC. All rights reserved.</a:t>
            </a:r>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4173400067"/>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92" r:id="rId48"/>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3"/>
            </p:custDataLst>
            <p:extLst>
              <p:ext uri="{D42A27DB-BD31-4B8C-83A1-F6EECF244321}">
                <p14:modId xmlns:p14="http://schemas.microsoft.com/office/powerpoint/2010/main" val="2192424797"/>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4" name="Object 3" hidden="1"/>
                      <p:cNvPicPr/>
                      <p:nvPr/>
                    </p:nvPicPr>
                    <p:blipFill>
                      <a:blip r:embed="rId25"/>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marL="228600" lvl="0" indent="-228600" algn="l" defTabSz="1219170" rtl="0" eaLnBrk="1" latinLnBrk="0" hangingPunct="1">
              <a:lnSpc>
                <a:spcPct val="130000"/>
              </a:lnSpc>
              <a:spcBef>
                <a:spcPts val="0"/>
              </a:spcBef>
              <a:spcAft>
                <a:spcPts val="1333"/>
              </a:spcAft>
              <a:buSzPct val="100000"/>
              <a:buFont typeface="Arial" panose="020B0604020202020204" pitchFamily="34" charset="0"/>
              <a:buNone/>
            </a:pPr>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Box 11"/>
          <p:cNvSpPr txBox="1"/>
          <p:nvPr/>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2"/>
                </a:solidFill>
              </a:rPr>
              <a:pPr marL="0" indent="0" algn="r">
                <a:spcBef>
                  <a:spcPts val="800"/>
                </a:spcBef>
                <a:buSzPct val="100000"/>
                <a:buFont typeface="Arial"/>
                <a:buNone/>
              </a:pPr>
              <a:t>‹#›</a:t>
            </a:fld>
            <a:endParaRPr lang="en-US" sz="700" noProof="0">
              <a:solidFill>
                <a:schemeClr val="bg2"/>
              </a:solidFill>
            </a:endParaRPr>
          </a:p>
        </p:txBody>
      </p:sp>
      <p:sp>
        <p:nvSpPr>
          <p:cNvPr id="7" name="Copyright">
            <a:extLst>
              <a:ext uri="{FF2B5EF4-FFF2-40B4-BE49-F238E27FC236}">
                <a16:creationId xmlns:a16="http://schemas.microsoft.com/office/drawing/2014/main" id="{23B2E5F1-2456-3E45-B0FB-219E5DC3B919}"/>
              </a:ext>
            </a:extLst>
          </p:cNvPr>
          <p:cNvSpPr txBox="1"/>
          <p:nvPr/>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700" b="0" noProof="0" dirty="0">
                <a:solidFill>
                  <a:schemeClr val="bg2"/>
                </a:solidFill>
                <a:latin typeface="+mn-lt"/>
              </a:rPr>
              <a:t>Copyright © 2026 Deloitte Development LLC. All rights reserved.</a:t>
            </a:r>
          </a:p>
        </p:txBody>
      </p:sp>
    </p:spTree>
    <p:extLst>
      <p:ext uri="{BB962C8B-B14F-4D97-AF65-F5344CB8AC3E}">
        <p14:creationId xmlns:p14="http://schemas.microsoft.com/office/powerpoint/2010/main" val="155859510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Lst>
  <p:transition>
    <p:fade/>
  </p:transition>
  <p:hf hdr="0" dt="0"/>
  <p:txStyles>
    <p:titleStyle>
      <a:lvl1pPr algn="l" defTabSz="1219170" rtl="0" eaLnBrk="1" latinLnBrk="0" hangingPunct="1">
        <a:spcBef>
          <a:spcPct val="0"/>
        </a:spcBef>
        <a:buNone/>
        <a:defRPr sz="3200" b="1" i="0" kern="1200" spc="-1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lang="en-US" sz="1600" b="0" i="0" kern="1200" spc="-30" baseline="0" noProof="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b="0" i="0" kern="120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b="0" i="0" kern="1200" baseline="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b="0" i="0" kern="1200" baseline="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20" pos="6299">
          <p15:clr>
            <a:srgbClr val="F26B43"/>
          </p15:clr>
        </p15:guide>
        <p15:guide id="22" orient="horz" pos="486">
          <p15:clr>
            <a:srgbClr val="F26B43"/>
          </p15:clr>
        </p15:guide>
        <p15:guide id="23" orient="horz" pos="288">
          <p15:clr>
            <a:srgbClr val="F26B43"/>
          </p15:clr>
        </p15:guide>
        <p15:guide id="24" pos="3840">
          <p15:clr>
            <a:srgbClr val="F26B43"/>
          </p15:clr>
        </p15:guide>
        <p15:guide id="25" pos="312">
          <p15:clr>
            <a:srgbClr val="F26B43"/>
          </p15:clr>
        </p15:guide>
        <p15:guide id="26" pos="1392">
          <p15:clr>
            <a:srgbClr val="F26B43"/>
          </p15:clr>
        </p15:guide>
        <p15:guide id="27" pos="1512">
          <p15:clr>
            <a:srgbClr val="F26B43"/>
          </p15:clr>
        </p15:guide>
        <p15:guide id="28" pos="2592">
          <p15:clr>
            <a:srgbClr val="F26B43"/>
          </p15:clr>
        </p15:guide>
        <p15:guide id="29" pos="2712">
          <p15:clr>
            <a:srgbClr val="F26B43"/>
          </p15:clr>
        </p15:guide>
        <p15:guide id="30" pos="3768">
          <p15:clr>
            <a:srgbClr val="F26B43"/>
          </p15:clr>
        </p15:guide>
        <p15:guide id="31" pos="7368">
          <p15:clr>
            <a:srgbClr val="F26B43"/>
          </p15:clr>
        </p15:guide>
        <p15:guide id="32" pos="6288">
          <p15:clr>
            <a:srgbClr val="F26B43"/>
          </p15:clr>
        </p15:guide>
        <p15:guide id="33" pos="6168">
          <p15:clr>
            <a:srgbClr val="F26B43"/>
          </p15:clr>
        </p15:guide>
        <p15:guide id="34" pos="5088">
          <p15:clr>
            <a:srgbClr val="F26B43"/>
          </p15:clr>
        </p15:guide>
        <p15:guide id="35" pos="4968">
          <p15:clr>
            <a:srgbClr val="F26B43"/>
          </p15:clr>
        </p15:guide>
        <p15:guide id="36" pos="3912">
          <p15:clr>
            <a:srgbClr val="F26B43"/>
          </p15:clr>
        </p15:guide>
        <p15:guide id="37" orient="horz" pos="4084">
          <p15:clr>
            <a:srgbClr val="F26B43"/>
          </p15:clr>
        </p15:guide>
        <p15:guide id="38" orient="horz" pos="4032">
          <p15:clr>
            <a:srgbClr val="F26B43"/>
          </p15:clr>
        </p15:guide>
        <p15:guide id="39" orient="horz" pos="2232">
          <p15:clr>
            <a:srgbClr val="F26B43"/>
          </p15:clr>
        </p15:guide>
        <p15:guide id="40" orient="horz" pos="1062">
          <p15:clr>
            <a:srgbClr val="F26B43"/>
          </p15:clr>
        </p15:guide>
        <p15:guide id="41" orient="horz" pos="19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5C207F-FBB0-EA6E-92C7-FFDDCAD782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36EA8A-4496-2696-F5B8-8F14DC5439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774B3D-E60F-3CA4-B5A4-8661C18C00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D7F2F9FC-9948-760B-7A87-C0E98FCE18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955F78-2D6A-9EC5-7FA7-F6048E6804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46F934-08A2-4672-B1EF-506188B6D0A7}" type="slidenum">
              <a:rPr lang="en-US" smtClean="0"/>
              <a:t>‹#›</a:t>
            </a:fld>
            <a:endParaRPr lang="en-US"/>
          </a:p>
        </p:txBody>
      </p:sp>
    </p:spTree>
    <p:extLst>
      <p:ext uri="{BB962C8B-B14F-4D97-AF65-F5344CB8AC3E}">
        <p14:creationId xmlns:p14="http://schemas.microsoft.com/office/powerpoint/2010/main" val="1397519692"/>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rPr>
                <a:latin typeface="Open Sans"/>
              </a:rPr>
              <a:t>May 2026</a:t>
            </a:r>
          </a:p>
        </p:txBody>
      </p:sp>
      <p:sp>
        <p:nvSpPr>
          <p:cNvPr id="3" name="Text Placeholder 2"/>
          <p:cNvSpPr>
            <a:spLocks noGrp="1"/>
          </p:cNvSpPr>
          <p:nvPr>
            <p:ph type="body" idx="17" sz="quarter"/>
          </p:nvPr>
        </p:nvSpPr>
        <p:spPr/>
        <p:txBody>
          <a:bodyPr/>
          <a:lstStyle/>
          <a:p/>
        </p:txBody>
      </p:sp>
      <p:sp>
        <p:nvSpPr>
          <p:cNvPr id="4" name="Text Placeholder 3"/>
          <p:cNvSpPr>
            <a:spLocks noGrp="1"/>
          </p:cNvSpPr>
          <p:nvPr>
            <p:ph type="body" idx="18" sz="quarter"/>
          </p:nvPr>
        </p:nvSpPr>
        <p:spPr/>
        <p:txBody>
          <a:bodyPr/>
          <a:lstStyle/>
          <a:p>
            <a:r>
              <a:rPr>
                <a:latin typeface="Open Sans"/>
              </a:rPr>
              <a:t>From Telemetry to Commercial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822960"/>
            <a:ext cx="11274552" cy="320040"/>
          </a:xfrm>
          <a:prstGeom prst="rect">
            <a:avLst/>
          </a:prstGeom>
          <a:noFill/>
        </p:spPr>
        <p:txBody>
          <a:bodyPr wrap="square" lIns="45720" rIns="45720" tIns="18288" bIns="18288">
            <a:spAutoFit/>
          </a:bodyPr>
          <a:lstStyle/>
          <a:p>
            <a:pPr algn="l"/>
            <a:r>
              <a:rPr sz="1000" b="1" i="0">
                <a:solidFill>
                  <a:srgbClr val="86BC25"/>
                </a:solidFill>
                <a:latin typeface="Open Sans"/>
              </a:rPr>
              <a:t>OPENING FRAME</a:t>
            </a:r>
          </a:p>
        </p:txBody>
      </p:sp>
      <p:sp>
        <p:nvSpPr>
          <p:cNvPr id="3" name="TextBox 2"/>
          <p:cNvSpPr txBox="1"/>
          <p:nvPr/>
        </p:nvSpPr>
        <p:spPr>
          <a:xfrm>
            <a:off x="457200" y="1417320"/>
            <a:ext cx="11274552" cy="1005840"/>
          </a:xfrm>
          <a:prstGeom prst="rect">
            <a:avLst/>
          </a:prstGeom>
          <a:noFill/>
        </p:spPr>
        <p:txBody>
          <a:bodyPr wrap="square" lIns="45720" rIns="45720" tIns="18288" bIns="18288">
            <a:spAutoFit/>
          </a:bodyPr>
          <a:lstStyle/>
          <a:p>
            <a:pPr algn="l"/>
            <a:r>
              <a:rPr sz="3600" b="1" i="0">
                <a:solidFill>
                  <a:srgbClr val="313131"/>
                </a:solidFill>
                <a:latin typeface="Open Sans"/>
              </a:rPr>
              <a:t>Cisco does not have a tooling problem.</a:t>
            </a:r>
          </a:p>
        </p:txBody>
      </p:sp>
      <p:sp>
        <p:nvSpPr>
          <p:cNvPr id="4" name="TextBox 3"/>
          <p:cNvSpPr txBox="1"/>
          <p:nvPr/>
        </p:nvSpPr>
        <p:spPr>
          <a:xfrm>
            <a:off x="457200" y="2423160"/>
            <a:ext cx="11274552" cy="1005840"/>
          </a:xfrm>
          <a:prstGeom prst="rect">
            <a:avLst/>
          </a:prstGeom>
          <a:noFill/>
        </p:spPr>
        <p:txBody>
          <a:bodyPr wrap="square" lIns="45720" rIns="45720" tIns="18288" bIns="18288">
            <a:spAutoFit/>
          </a:bodyPr>
          <a:lstStyle/>
          <a:p>
            <a:pPr algn="l"/>
            <a:r>
              <a:rPr sz="3600" b="1" i="0">
                <a:solidFill>
                  <a:srgbClr val="0076A8"/>
                </a:solidFill>
                <a:latin typeface="Open Sans"/>
              </a:rPr>
              <a:t>Cisco has a translation problem.</a:t>
            </a:r>
          </a:p>
        </p:txBody>
      </p:sp>
      <p:sp>
        <p:nvSpPr>
          <p:cNvPr id="5" name="Rectangle 4"/>
          <p:cNvSpPr/>
          <p:nvPr/>
        </p:nvSpPr>
        <p:spPr>
          <a:xfrm>
            <a:off x="457200" y="3520440"/>
            <a:ext cx="1371600"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840480"/>
            <a:ext cx="11274552" cy="1097280"/>
          </a:xfrm>
          <a:prstGeom prst="rect">
            <a:avLst/>
          </a:prstGeom>
          <a:noFill/>
        </p:spPr>
        <p:txBody>
          <a:bodyPr wrap="square" lIns="45720" rIns="45720" tIns="18288" bIns="18288">
            <a:spAutoFit/>
          </a:bodyPr>
          <a:lstStyle/>
          <a:p>
            <a:pPr algn="l"/>
            <a:r>
              <a:rPr sz="1500" b="0" i="0">
                <a:solidFill>
                  <a:srgbClr val="313131"/>
                </a:solidFill>
                <a:latin typeface="Open Sans"/>
              </a:rPr>
              <a:t>Telemetry is abundant across BU Snowflake instances, the CX team's flat-file feeds, and Varun's S3 pipeline. The translation into commercial signal is what is missing.</a:t>
            </a:r>
          </a:p>
        </p:txBody>
      </p:sp>
      <p:sp>
        <p:nvSpPr>
          <p:cNvPr id="7" name="TextBox 6"/>
          <p:cNvSpPr txBox="1"/>
          <p:nvPr/>
        </p:nvSpPr>
        <p:spPr>
          <a:xfrm>
            <a:off x="457200" y="5303520"/>
            <a:ext cx="11274552" cy="365760"/>
          </a:xfrm>
          <a:prstGeom prst="rect">
            <a:avLst/>
          </a:prstGeom>
          <a:noFill/>
        </p:spPr>
        <p:txBody>
          <a:bodyPr wrap="square" lIns="45720" rIns="45720" tIns="18288" bIns="18288">
            <a:spAutoFit/>
          </a:bodyPr>
          <a:lstStyle/>
          <a:p>
            <a:pPr algn="l"/>
            <a:r>
              <a:rPr sz="1200" b="0" i="1">
                <a:solidFill>
                  <a:srgbClr val="17618C"/>
                </a:solidFill>
                <a:latin typeface="Open Sans"/>
              </a:rPr>
              <a:t>From descriptive telemetry (what is happening) to predictive commercial intelligence (what will happen to revenue).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Open Sans"/>
              </a:rPr>
              <a:t>01  |  The diagnosis</a:t>
            </a:r>
          </a:p>
        </p:txBody>
      </p:sp>
      <p:sp>
        <p:nvSpPr>
          <p:cNvPr id="3" name="Text Placeholder 2"/>
          <p:cNvSpPr>
            <a:spLocks noGrp="1"/>
          </p:cNvSpPr>
          <p:nvPr>
            <p:ph type="body"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Three audiences cannot answer the same install base question</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Sales, CX, and Product all need different views of the install base. None of them have a trusted one today.</a:t>
            </a:r>
          </a:p>
        </p:txBody>
      </p:sp>
      <p:sp>
        <p:nvSpPr>
          <p:cNvPr id="4" name="Rectangle 3"/>
          <p:cNvSpPr/>
          <p:nvPr/>
        </p:nvSpPr>
        <p:spPr>
          <a:xfrm>
            <a:off x="466344" y="1645920"/>
            <a:ext cx="3630168" cy="502920"/>
          </a:xfrm>
          <a:prstGeom prst="rect">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1691640"/>
            <a:ext cx="3355848" cy="411480"/>
          </a:xfrm>
          <a:prstGeom prst="rect">
            <a:avLst/>
          </a:prstGeom>
          <a:noFill/>
        </p:spPr>
        <p:txBody>
          <a:bodyPr wrap="square" lIns="45720" rIns="45720" tIns="18288" bIns="18288" anchor="ctr">
            <a:spAutoFit/>
          </a:bodyPr>
          <a:lstStyle/>
          <a:p>
            <a:pPr algn="l"/>
            <a:r>
              <a:rPr sz="1400" b="1" i="0">
                <a:solidFill>
                  <a:srgbClr val="FFFFFF"/>
                </a:solidFill>
                <a:latin typeface="Open Sans"/>
              </a:rPr>
              <a:t>Sales &amp; partners</a:t>
            </a:r>
          </a:p>
        </p:txBody>
      </p:sp>
      <p:sp>
        <p:nvSpPr>
          <p:cNvPr id="6" name="Rectangle 5"/>
          <p:cNvSpPr/>
          <p:nvPr/>
        </p:nvSpPr>
        <p:spPr>
          <a:xfrm>
            <a:off x="466344" y="2148840"/>
            <a:ext cx="3630168" cy="310896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2286000"/>
            <a:ext cx="3264408" cy="777240"/>
          </a:xfrm>
          <a:prstGeom prst="rect">
            <a:avLst/>
          </a:prstGeom>
          <a:noFill/>
        </p:spPr>
        <p:txBody>
          <a:bodyPr wrap="square" lIns="45720" rIns="45720" tIns="18288" bIns="18288">
            <a:spAutoFit/>
          </a:bodyPr>
          <a:lstStyle/>
          <a:p>
            <a:pPr algn="l"/>
            <a:r>
              <a:rPr sz="1200" b="1" i="0">
                <a:solidFill>
                  <a:srgbClr val="012169"/>
                </a:solidFill>
                <a:latin typeface="Open Sans"/>
              </a:rPr>
              <a:t>Refresh thesis cannot be sized customer by customer</a:t>
            </a:r>
          </a:p>
        </p:txBody>
      </p:sp>
      <p:sp>
        <p:nvSpPr>
          <p:cNvPr id="8" name="TextBox 7"/>
          <p:cNvSpPr txBox="1"/>
          <p:nvPr/>
        </p:nvSpPr>
        <p:spPr>
          <a:xfrm>
            <a:off x="649224" y="3108960"/>
            <a:ext cx="3264408" cy="2011680"/>
          </a:xfrm>
          <a:prstGeom prst="rect">
            <a:avLst/>
          </a:prstGeom>
          <a:noFill/>
        </p:spPr>
        <p:txBody>
          <a:bodyPr wrap="square" lIns="45720" rIns="45720" tIns="18288" bIns="18288">
            <a:spAutoFit/>
          </a:bodyPr>
          <a:lstStyle/>
          <a:p>
            <a:pPr algn="l"/>
            <a:r>
              <a:rPr sz="1000" b="0" i="0">
                <a:solidFill>
                  <a:srgbClr val="313131"/>
                </a:solidFill>
                <a:latin typeface="Open Sans"/>
              </a:rPr>
              <a:t>The $45bn AI Infrastructure refresh thesis is currently estimated from shipment data. Sellers cannot reliably distinguish live install base from shelfware, or refresh-ready from already migrated.</a:t>
            </a:r>
            <a:br/>
            <a:br/>
            <a:r>
              <a:rPr sz="1000" b="0" i="0">
                <a:solidFill>
                  <a:srgbClr val="313131"/>
                </a:solidFill>
                <a:latin typeface="Open Sans"/>
              </a:rPr>
              <a:t>87% of go-to-market runs through partners, who have even less visibility into adoption.</a:t>
            </a:r>
          </a:p>
        </p:txBody>
      </p:sp>
      <p:sp>
        <p:nvSpPr>
          <p:cNvPr id="9" name="Rectangle 8"/>
          <p:cNvSpPr/>
          <p:nvPr/>
        </p:nvSpPr>
        <p:spPr>
          <a:xfrm>
            <a:off x="4279392" y="1645920"/>
            <a:ext cx="3630168" cy="502920"/>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16552" y="1691640"/>
            <a:ext cx="3355848" cy="411480"/>
          </a:xfrm>
          <a:prstGeom prst="rect">
            <a:avLst/>
          </a:prstGeom>
          <a:noFill/>
        </p:spPr>
        <p:txBody>
          <a:bodyPr wrap="square" lIns="45720" rIns="45720" tIns="18288" bIns="18288" anchor="ctr">
            <a:spAutoFit/>
          </a:bodyPr>
          <a:lstStyle/>
          <a:p>
            <a:pPr algn="l"/>
            <a:r>
              <a:rPr sz="1400" b="1" i="0">
                <a:solidFill>
                  <a:srgbClr val="FFFFFF"/>
                </a:solidFill>
                <a:latin typeface="Open Sans"/>
              </a:rPr>
              <a:t>Customer Experience</a:t>
            </a:r>
          </a:p>
        </p:txBody>
      </p:sp>
      <p:sp>
        <p:nvSpPr>
          <p:cNvPr id="11" name="Rectangle 10"/>
          <p:cNvSpPr/>
          <p:nvPr/>
        </p:nvSpPr>
        <p:spPr>
          <a:xfrm>
            <a:off x="4279392" y="2148840"/>
            <a:ext cx="3630168" cy="310896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2286000"/>
            <a:ext cx="3264408" cy="777240"/>
          </a:xfrm>
          <a:prstGeom prst="rect">
            <a:avLst/>
          </a:prstGeom>
          <a:noFill/>
        </p:spPr>
        <p:txBody>
          <a:bodyPr wrap="square" lIns="45720" rIns="45720" tIns="18288" bIns="18288">
            <a:spAutoFit/>
          </a:bodyPr>
          <a:lstStyle/>
          <a:p>
            <a:pPr algn="l"/>
            <a:r>
              <a:rPr sz="1200" b="1" i="0">
                <a:solidFill>
                  <a:srgbClr val="012169"/>
                </a:solidFill>
                <a:latin typeface="Open Sans"/>
              </a:rPr>
              <a:t>Adoption decay surfaces at renewal, not at month three</a:t>
            </a:r>
          </a:p>
        </p:txBody>
      </p:sp>
      <p:sp>
        <p:nvSpPr>
          <p:cNvPr id="13" name="TextBox 12"/>
          <p:cNvSpPr txBox="1"/>
          <p:nvPr/>
        </p:nvSpPr>
        <p:spPr>
          <a:xfrm>
            <a:off x="4462272" y="3108960"/>
            <a:ext cx="3264408" cy="2011680"/>
          </a:xfrm>
          <a:prstGeom prst="rect">
            <a:avLst/>
          </a:prstGeom>
          <a:noFill/>
        </p:spPr>
        <p:txBody>
          <a:bodyPr wrap="square" lIns="45720" rIns="45720" tIns="18288" bIns="18288">
            <a:spAutoFit/>
          </a:bodyPr>
          <a:lstStyle/>
          <a:p>
            <a:pPr algn="l"/>
            <a:r>
              <a:rPr sz="1000" b="0" i="0">
                <a:solidFill>
                  <a:srgbClr val="313131"/>
                </a:solidFill>
                <a:latin typeface="Open Sans"/>
              </a:rPr>
              <a:t>Lavanya and Bhaskar's team discovers stalled deployments at month ten of a twelve-month contract. The adoption signal was visible in raw telemetry months earlier. No one was reading it through that lens.</a:t>
            </a:r>
            <a:br/>
            <a:br/>
            <a:r>
              <a:rPr sz="1000" b="0" i="0">
                <a:solidFill>
                  <a:srgbClr val="313131"/>
                </a:solidFill>
                <a:latin typeface="Open Sans"/>
              </a:rPr>
              <a:t>Renewal becomes salvage, not a planned motion.</a:t>
            </a:r>
          </a:p>
        </p:txBody>
      </p:sp>
      <p:sp>
        <p:nvSpPr>
          <p:cNvPr id="14" name="Rectangle 13"/>
          <p:cNvSpPr/>
          <p:nvPr/>
        </p:nvSpPr>
        <p:spPr>
          <a:xfrm>
            <a:off x="8092440" y="1645920"/>
            <a:ext cx="3630168" cy="5029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691640"/>
            <a:ext cx="3355848" cy="411480"/>
          </a:xfrm>
          <a:prstGeom prst="rect">
            <a:avLst/>
          </a:prstGeom>
          <a:noFill/>
        </p:spPr>
        <p:txBody>
          <a:bodyPr wrap="square" lIns="45720" rIns="45720" tIns="18288" bIns="18288" anchor="ctr">
            <a:spAutoFit/>
          </a:bodyPr>
          <a:lstStyle/>
          <a:p>
            <a:pPr algn="l"/>
            <a:r>
              <a:rPr sz="1400" b="1" i="0">
                <a:solidFill>
                  <a:srgbClr val="FFFFFF"/>
                </a:solidFill>
                <a:latin typeface="Open Sans"/>
              </a:rPr>
              <a:t>Product &amp; NPI</a:t>
            </a:r>
          </a:p>
        </p:txBody>
      </p:sp>
      <p:sp>
        <p:nvSpPr>
          <p:cNvPr id="16" name="Rectangle 15"/>
          <p:cNvSpPr/>
          <p:nvPr/>
        </p:nvSpPr>
        <p:spPr>
          <a:xfrm>
            <a:off x="8092440" y="2148840"/>
            <a:ext cx="3630168" cy="310896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9" y="2286000"/>
            <a:ext cx="3264408" cy="777240"/>
          </a:xfrm>
          <a:prstGeom prst="rect">
            <a:avLst/>
          </a:prstGeom>
          <a:noFill/>
        </p:spPr>
        <p:txBody>
          <a:bodyPr wrap="square" lIns="45720" rIns="45720" tIns="18288" bIns="18288">
            <a:spAutoFit/>
          </a:bodyPr>
          <a:lstStyle/>
          <a:p>
            <a:pPr algn="l"/>
            <a:r>
              <a:rPr sz="1200" b="1" i="0">
                <a:solidFill>
                  <a:srgbClr val="012169"/>
                </a:solidFill>
                <a:latin typeface="Open Sans"/>
              </a:rPr>
              <a:t>AI INFRA roadmap optimized on incomplete signal</a:t>
            </a:r>
          </a:p>
        </p:txBody>
      </p:sp>
      <p:sp>
        <p:nvSpPr>
          <p:cNvPr id="18" name="TextBox 17"/>
          <p:cNvSpPr txBox="1"/>
          <p:nvPr/>
        </p:nvSpPr>
        <p:spPr>
          <a:xfrm>
            <a:off x="8275319" y="3108960"/>
            <a:ext cx="3264408" cy="2011680"/>
          </a:xfrm>
          <a:prstGeom prst="rect">
            <a:avLst/>
          </a:prstGeom>
          <a:noFill/>
        </p:spPr>
        <p:txBody>
          <a:bodyPr wrap="square" lIns="45720" rIns="45720" tIns="18288" bIns="18288">
            <a:spAutoFit/>
          </a:bodyPr>
          <a:lstStyle/>
          <a:p>
            <a:pPr algn="l"/>
            <a:r>
              <a:rPr sz="1000" b="0" i="0">
                <a:solidFill>
                  <a:srgbClr val="313131"/>
                </a:solidFill>
                <a:latin typeface="Open Sans"/>
              </a:rPr>
              <a:t>The product team is making roadmap decisions on shipment data and customer anecdotes, at the most adoption-sensitive moment in the AI INFRA product life cycle.</a:t>
            </a:r>
            <a:br/>
            <a:br/>
            <a:r>
              <a:rPr sz="1000" b="0" i="0">
                <a:solidFill>
                  <a:srgbClr val="313131"/>
                </a:solidFill>
                <a:latin typeface="Open Sans"/>
              </a:rPr>
              <a:t>No standardized telemetry gate exists at NPI today, so each new product ships with different (or no) adoption signals.</a:t>
            </a:r>
          </a:p>
        </p:txBody>
      </p:sp>
      <p:sp>
        <p:nvSpPr>
          <p:cNvPr id="19" name="Rectangle 18"/>
          <p:cNvSpPr/>
          <p:nvPr/>
        </p:nvSpPr>
        <p:spPr>
          <a:xfrm>
            <a:off x="466344" y="5440680"/>
            <a:ext cx="11256264" cy="45720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458968"/>
            <a:ext cx="10908792" cy="420624"/>
          </a:xfrm>
          <a:prstGeom prst="rect">
            <a:avLst/>
          </a:prstGeom>
          <a:noFill/>
        </p:spPr>
        <p:txBody>
          <a:bodyPr wrap="square" lIns="45720" rIns="45720" tIns="18288" bIns="18288" anchor="ctr">
            <a:spAutoFit/>
          </a:bodyPr>
          <a:lstStyle/>
          <a:p>
            <a:pPr algn="l"/>
            <a:r>
              <a:rPr sz="1200" b="1" i="0">
                <a:solidFill>
                  <a:srgbClr val="FFFFFF"/>
                </a:solidFill>
                <a:latin typeface="Open Sans"/>
              </a:rPr>
              <a:t>The data exists. What is missing is the translation into a view each audience can act on.</a:t>
            </a:r>
          </a:p>
        </p:txBody>
      </p:sp>
      <p:sp>
        <p:nvSpPr>
          <p:cNvPr id="21" name="TextBox 20"/>
          <p:cNvSpPr txBox="1"/>
          <p:nvPr/>
        </p:nvSpPr>
        <p:spPr>
          <a:xfrm>
            <a:off x="466344" y="6035040"/>
            <a:ext cx="11256264" cy="274320"/>
          </a:xfrm>
          <a:prstGeom prst="rect">
            <a:avLst/>
          </a:prstGeom>
          <a:noFill/>
        </p:spPr>
        <p:txBody>
          <a:bodyPr wrap="square" lIns="45720" rIns="45720" tIns="18288" bIns="18288">
            <a:spAutoFit/>
          </a:bodyPr>
          <a:lstStyle/>
          <a:p>
            <a:pPr algn="l"/>
            <a:r>
              <a:rPr sz="800" b="0" i="1">
                <a:solidFill>
                  <a:srgbClr val="53565A"/>
                </a:solidFill>
                <a:latin typeface="Open Sans"/>
              </a:rPr>
              <a:t>Source: Engagement brief from lead engagement partner; Deloitte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Three commercial outcomes ride on one unanswered question</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Refresh, renewal, and roadmap. All depend on knowing whether the installed hardware is being used, by which customer, at what depth.</a:t>
            </a:r>
          </a:p>
        </p:txBody>
      </p:sp>
      <p:sp>
        <p:nvSpPr>
          <p:cNvPr id="4" name="Rectangle 3"/>
          <p:cNvSpPr/>
          <p:nvPr/>
        </p:nvSpPr>
        <p:spPr>
          <a:xfrm>
            <a:off x="466344" y="1645920"/>
            <a:ext cx="3630168" cy="91440"/>
          </a:xfrm>
          <a:prstGeom prst="rect">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66344" y="1737360"/>
            <a:ext cx="3630168" cy="352044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 y="1920240"/>
            <a:ext cx="3264408" cy="1188720"/>
          </a:xfrm>
          <a:prstGeom prst="rect">
            <a:avLst/>
          </a:prstGeom>
          <a:noFill/>
        </p:spPr>
        <p:txBody>
          <a:bodyPr wrap="square" lIns="45720" rIns="45720" tIns="18288" bIns="18288">
            <a:spAutoFit/>
          </a:bodyPr>
          <a:lstStyle/>
          <a:p>
            <a:pPr algn="l"/>
            <a:r>
              <a:rPr sz="3400" b="1" i="0">
                <a:solidFill>
                  <a:srgbClr val="012169"/>
                </a:solidFill>
                <a:latin typeface="Open Sans"/>
              </a:rPr>
              <a:t>$45B</a:t>
            </a:r>
          </a:p>
        </p:txBody>
      </p:sp>
      <p:sp>
        <p:nvSpPr>
          <p:cNvPr id="7" name="TextBox 6"/>
          <p:cNvSpPr txBox="1"/>
          <p:nvPr/>
        </p:nvSpPr>
        <p:spPr>
          <a:xfrm>
            <a:off x="649224" y="3154680"/>
            <a:ext cx="3264408" cy="365760"/>
          </a:xfrm>
          <a:prstGeom prst="rect">
            <a:avLst/>
          </a:prstGeom>
          <a:noFill/>
        </p:spPr>
        <p:txBody>
          <a:bodyPr wrap="square" lIns="45720" rIns="45720" tIns="18288" bIns="18288">
            <a:spAutoFit/>
          </a:bodyPr>
          <a:lstStyle/>
          <a:p>
            <a:pPr algn="l"/>
            <a:r>
              <a:rPr sz="1200" b="1" i="0">
                <a:solidFill>
                  <a:srgbClr val="313131"/>
                </a:solidFill>
                <a:latin typeface="Open Sans"/>
              </a:rPr>
              <a:t>AI Infrastructure refresh thesis</a:t>
            </a:r>
          </a:p>
        </p:txBody>
      </p:sp>
      <p:sp>
        <p:nvSpPr>
          <p:cNvPr id="8" name="TextBox 7"/>
          <p:cNvSpPr txBox="1"/>
          <p:nvPr/>
        </p:nvSpPr>
        <p:spPr>
          <a:xfrm>
            <a:off x="649224" y="3520439"/>
            <a:ext cx="3264408" cy="274320"/>
          </a:xfrm>
          <a:prstGeom prst="rect">
            <a:avLst/>
          </a:prstGeom>
          <a:noFill/>
        </p:spPr>
        <p:txBody>
          <a:bodyPr wrap="square" lIns="45720" rIns="45720" tIns="18288" bIns="18288">
            <a:spAutoFit/>
          </a:bodyPr>
          <a:lstStyle/>
          <a:p>
            <a:pPr algn="l"/>
            <a:r>
              <a:rPr sz="1000" b="0" i="1">
                <a:solidFill>
                  <a:srgbClr val="53565A"/>
                </a:solidFill>
                <a:latin typeface="Open Sans"/>
              </a:rPr>
              <a:t>3 to 5 years</a:t>
            </a:r>
          </a:p>
        </p:txBody>
      </p:sp>
      <p:cxnSp>
        <p:nvCxnSpPr>
          <p:cNvPr id="9" name="Connector 8"/>
          <p:cNvCxnSpPr/>
          <p:nvPr/>
        </p:nvCxnSpPr>
        <p:spPr>
          <a:xfrm>
            <a:off x="649224" y="3840480"/>
            <a:ext cx="3264408"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9224" y="3977639"/>
            <a:ext cx="3264408" cy="1188720"/>
          </a:xfrm>
          <a:prstGeom prst="rect">
            <a:avLst/>
          </a:prstGeom>
          <a:noFill/>
        </p:spPr>
        <p:txBody>
          <a:bodyPr wrap="square" lIns="45720" rIns="45720" tIns="18288" bIns="18288">
            <a:spAutoFit/>
          </a:bodyPr>
          <a:lstStyle/>
          <a:p>
            <a:pPr algn="l"/>
            <a:r>
              <a:rPr sz="1000" b="0" i="0">
                <a:solidFill>
                  <a:srgbClr val="313131"/>
                </a:solidFill>
                <a:latin typeface="Open Sans"/>
              </a:rPr>
              <a:t>Today the eligible base is sized from shipment data, not validated by active utilization. The thesis sits in a deck rather than a customer-by-customer pipeline.</a:t>
            </a:r>
          </a:p>
        </p:txBody>
      </p:sp>
      <p:sp>
        <p:nvSpPr>
          <p:cNvPr id="11" name="Rectangle 10"/>
          <p:cNvSpPr/>
          <p:nvPr/>
        </p:nvSpPr>
        <p:spPr>
          <a:xfrm>
            <a:off x="4279392" y="1645920"/>
            <a:ext cx="3630168" cy="91440"/>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737360"/>
            <a:ext cx="3630168" cy="352044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1920240"/>
            <a:ext cx="3264408" cy="1188720"/>
          </a:xfrm>
          <a:prstGeom prst="rect">
            <a:avLst/>
          </a:prstGeom>
          <a:noFill/>
        </p:spPr>
        <p:txBody>
          <a:bodyPr wrap="square" lIns="45720" rIns="45720" tIns="18288" bIns="18288">
            <a:spAutoFit/>
          </a:bodyPr>
          <a:lstStyle/>
          <a:p>
            <a:pPr algn="l"/>
            <a:r>
              <a:rPr sz="3400" b="1" i="0">
                <a:solidFill>
                  <a:srgbClr val="0076A8"/>
                </a:solidFill>
                <a:latin typeface="Open Sans"/>
              </a:rPr>
              <a:t>Services</a:t>
            </a:r>
            <a:br/>
            <a:r>
              <a:rPr sz="3400" b="1" i="0">
                <a:solidFill>
                  <a:srgbClr val="0076A8"/>
                </a:solidFill>
                <a:latin typeface="Open Sans"/>
              </a:rPr>
              <a:t>&amp; software</a:t>
            </a:r>
          </a:p>
        </p:txBody>
      </p:sp>
      <p:sp>
        <p:nvSpPr>
          <p:cNvPr id="14" name="TextBox 13"/>
          <p:cNvSpPr txBox="1"/>
          <p:nvPr/>
        </p:nvSpPr>
        <p:spPr>
          <a:xfrm>
            <a:off x="4462272" y="3154680"/>
            <a:ext cx="3264408" cy="365760"/>
          </a:xfrm>
          <a:prstGeom prst="rect">
            <a:avLst/>
          </a:prstGeom>
          <a:noFill/>
        </p:spPr>
        <p:txBody>
          <a:bodyPr wrap="square" lIns="45720" rIns="45720" tIns="18288" bIns="18288">
            <a:spAutoFit/>
          </a:bodyPr>
          <a:lstStyle/>
          <a:p>
            <a:pPr algn="l"/>
            <a:r>
              <a:rPr sz="1200" b="1" i="0">
                <a:solidFill>
                  <a:srgbClr val="313131"/>
                </a:solidFill>
                <a:latin typeface="Open Sans"/>
              </a:rPr>
              <a:t>Renewal book at risk</a:t>
            </a:r>
          </a:p>
        </p:txBody>
      </p:sp>
      <p:sp>
        <p:nvSpPr>
          <p:cNvPr id="15" name="TextBox 14"/>
          <p:cNvSpPr txBox="1"/>
          <p:nvPr/>
        </p:nvSpPr>
        <p:spPr>
          <a:xfrm>
            <a:off x="4462272" y="3520439"/>
            <a:ext cx="3264408" cy="274320"/>
          </a:xfrm>
          <a:prstGeom prst="rect">
            <a:avLst/>
          </a:prstGeom>
          <a:noFill/>
        </p:spPr>
        <p:txBody>
          <a:bodyPr wrap="square" lIns="45720" rIns="45720" tIns="18288" bIns="18288">
            <a:spAutoFit/>
          </a:bodyPr>
          <a:lstStyle/>
          <a:p>
            <a:pPr algn="l"/>
            <a:r>
              <a:rPr sz="1000" b="0" i="1">
                <a:solidFill>
                  <a:srgbClr val="53565A"/>
                </a:solidFill>
                <a:latin typeface="Open Sans"/>
              </a:rPr>
              <a:t>Across the install base</a:t>
            </a:r>
          </a:p>
        </p:txBody>
      </p:sp>
      <p:cxnSp>
        <p:nvCxnSpPr>
          <p:cNvPr id="16" name="Connector 15"/>
          <p:cNvCxnSpPr/>
          <p:nvPr/>
        </p:nvCxnSpPr>
        <p:spPr>
          <a:xfrm>
            <a:off x="4462272" y="3840480"/>
            <a:ext cx="3264408"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62272" y="3977639"/>
            <a:ext cx="3264408" cy="1188720"/>
          </a:xfrm>
          <a:prstGeom prst="rect">
            <a:avLst/>
          </a:prstGeom>
          <a:noFill/>
        </p:spPr>
        <p:txBody>
          <a:bodyPr wrap="square" lIns="45720" rIns="45720" tIns="18288" bIns="18288">
            <a:spAutoFit/>
          </a:bodyPr>
          <a:lstStyle/>
          <a:p>
            <a:pPr algn="l"/>
            <a:r>
              <a:rPr sz="1000" b="0" i="0">
                <a:solidFill>
                  <a:srgbClr val="313131"/>
                </a:solidFill>
                <a:latin typeface="Open Sans"/>
              </a:rPr>
              <a:t>Adoption decay is visible in telemetry six to nine months before renewal, but discovered at renewal time. The intervention window is missed.</a:t>
            </a:r>
          </a:p>
        </p:txBody>
      </p:sp>
      <p:sp>
        <p:nvSpPr>
          <p:cNvPr id="18" name="Rectangle 17"/>
          <p:cNvSpPr/>
          <p:nvPr/>
        </p:nvSpPr>
        <p:spPr>
          <a:xfrm>
            <a:off x="8092440" y="1645920"/>
            <a:ext cx="3630168" cy="9144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737360"/>
            <a:ext cx="3630168" cy="352044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19" y="1920240"/>
            <a:ext cx="3264408" cy="1188720"/>
          </a:xfrm>
          <a:prstGeom prst="rect">
            <a:avLst/>
          </a:prstGeom>
          <a:noFill/>
        </p:spPr>
        <p:txBody>
          <a:bodyPr wrap="square" lIns="45720" rIns="45720" tIns="18288" bIns="18288">
            <a:spAutoFit/>
          </a:bodyPr>
          <a:lstStyle/>
          <a:p>
            <a:pPr algn="l"/>
            <a:r>
              <a:rPr sz="3400" b="1" i="0">
                <a:solidFill>
                  <a:srgbClr val="00A3E0"/>
                </a:solidFill>
                <a:latin typeface="Open Sans"/>
              </a:rPr>
              <a:t>AI INFRA</a:t>
            </a:r>
          </a:p>
        </p:txBody>
      </p:sp>
      <p:sp>
        <p:nvSpPr>
          <p:cNvPr id="21" name="TextBox 20"/>
          <p:cNvSpPr txBox="1"/>
          <p:nvPr/>
        </p:nvSpPr>
        <p:spPr>
          <a:xfrm>
            <a:off x="8275319" y="3154680"/>
            <a:ext cx="3264408" cy="365760"/>
          </a:xfrm>
          <a:prstGeom prst="rect">
            <a:avLst/>
          </a:prstGeom>
          <a:noFill/>
        </p:spPr>
        <p:txBody>
          <a:bodyPr wrap="square" lIns="45720" rIns="45720" tIns="18288" bIns="18288">
            <a:spAutoFit/>
          </a:bodyPr>
          <a:lstStyle/>
          <a:p>
            <a:pPr algn="l"/>
            <a:r>
              <a:rPr sz="1200" b="1" i="0">
                <a:solidFill>
                  <a:srgbClr val="313131"/>
                </a:solidFill>
                <a:latin typeface="Open Sans"/>
              </a:rPr>
              <a:t>NPI roadmap</a:t>
            </a:r>
          </a:p>
        </p:txBody>
      </p:sp>
      <p:sp>
        <p:nvSpPr>
          <p:cNvPr id="22" name="TextBox 21"/>
          <p:cNvSpPr txBox="1"/>
          <p:nvPr/>
        </p:nvSpPr>
        <p:spPr>
          <a:xfrm>
            <a:off x="8275319" y="3520439"/>
            <a:ext cx="3264408" cy="274320"/>
          </a:xfrm>
          <a:prstGeom prst="rect">
            <a:avLst/>
          </a:prstGeom>
          <a:noFill/>
        </p:spPr>
        <p:txBody>
          <a:bodyPr wrap="square" lIns="45720" rIns="45720" tIns="18288" bIns="18288">
            <a:spAutoFit/>
          </a:bodyPr>
          <a:lstStyle/>
          <a:p>
            <a:pPr algn="l"/>
            <a:r>
              <a:rPr sz="1000" b="0" i="1">
                <a:solidFill>
                  <a:srgbClr val="53565A"/>
                </a:solidFill>
                <a:latin typeface="Open Sans"/>
              </a:rPr>
              <a:t>Most adoption-sensitive moment</a:t>
            </a:r>
          </a:p>
        </p:txBody>
      </p:sp>
      <p:cxnSp>
        <p:nvCxnSpPr>
          <p:cNvPr id="23" name="Connector 22"/>
          <p:cNvCxnSpPr/>
          <p:nvPr/>
        </p:nvCxnSpPr>
        <p:spPr>
          <a:xfrm>
            <a:off x="8275319" y="3840480"/>
            <a:ext cx="3264409"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75319" y="3977639"/>
            <a:ext cx="3264408" cy="1188720"/>
          </a:xfrm>
          <a:prstGeom prst="rect">
            <a:avLst/>
          </a:prstGeom>
          <a:noFill/>
        </p:spPr>
        <p:txBody>
          <a:bodyPr wrap="square" lIns="45720" rIns="45720" tIns="18288" bIns="18288">
            <a:spAutoFit/>
          </a:bodyPr>
          <a:lstStyle/>
          <a:p>
            <a:pPr algn="l"/>
            <a:r>
              <a:rPr sz="1000" b="0" i="0">
                <a:solidFill>
                  <a:srgbClr val="313131"/>
                </a:solidFill>
                <a:latin typeface="Open Sans"/>
              </a:rPr>
              <a:t>Product decisions are made on incomplete adoption signal at exactly the moment the data should be sharpest. Engineering investment goes to features customers may not be using.</a:t>
            </a:r>
          </a:p>
        </p:txBody>
      </p:sp>
      <p:sp>
        <p:nvSpPr>
          <p:cNvPr id="25" name="Rectangle 24"/>
          <p:cNvSpPr/>
          <p:nvPr/>
        </p:nvSpPr>
        <p:spPr>
          <a:xfrm>
            <a:off x="466344" y="5440680"/>
            <a:ext cx="11256264" cy="45720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458968"/>
            <a:ext cx="10908792" cy="420624"/>
          </a:xfrm>
          <a:prstGeom prst="rect">
            <a:avLst/>
          </a:prstGeom>
          <a:noFill/>
        </p:spPr>
        <p:txBody>
          <a:bodyPr wrap="square" lIns="45720" rIns="45720" tIns="18288" bIns="18288" anchor="ctr">
            <a:spAutoFit/>
          </a:bodyPr>
          <a:lstStyle/>
          <a:p>
            <a:pPr algn="l"/>
            <a:r>
              <a:rPr sz="1200" b="1" i="0">
                <a:solidFill>
                  <a:srgbClr val="FFFFFF"/>
                </a:solidFill>
                <a:latin typeface="Open Sans"/>
              </a:rPr>
              <a:t>Refresh, renewal, and roadmap. All depend on the same install base question. Answering it once unlocks all three.</a:t>
            </a:r>
          </a:p>
        </p:txBody>
      </p:sp>
      <p:sp>
        <p:nvSpPr>
          <p:cNvPr id="27" name="TextBox 26"/>
          <p:cNvSpPr txBox="1"/>
          <p:nvPr/>
        </p:nvSpPr>
        <p:spPr>
          <a:xfrm>
            <a:off x="466344" y="6035040"/>
            <a:ext cx="11256264" cy="274320"/>
          </a:xfrm>
          <a:prstGeom prst="rect">
            <a:avLst/>
          </a:prstGeom>
          <a:noFill/>
        </p:spPr>
        <p:txBody>
          <a:bodyPr wrap="square" lIns="45720" rIns="45720" tIns="18288" bIns="18288">
            <a:spAutoFit/>
          </a:bodyPr>
          <a:lstStyle/>
          <a:p>
            <a:pPr algn="l"/>
            <a:r>
              <a:rPr sz="800" b="0" i="1">
                <a:solidFill>
                  <a:srgbClr val="53565A"/>
                </a:solidFill>
                <a:latin typeface="Open Sans"/>
              </a:rPr>
              <a:t>Source: Engagement brief from lead engagement partner; Deloitte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Open Sans"/>
              </a:rPr>
              <a:t>02  |  Our approach</a:t>
            </a:r>
          </a:p>
        </p:txBody>
      </p:sp>
      <p:sp>
        <p:nvSpPr>
          <p:cNvPr id="3" name="Text Placeholder 2"/>
          <p:cNvSpPr>
            <a:spLocks noGrp="1"/>
          </p:cNvSpPr>
          <p:nvPr>
            <p:ph type="body"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The work compounds across three legs that need each other</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Removing any one leg turns this back into another dashboard project. The legs work together, not in sequence.</a:t>
            </a:r>
          </a:p>
        </p:txBody>
      </p:sp>
      <p:sp>
        <p:nvSpPr>
          <p:cNvPr id="4" name="Rectangle 3"/>
          <p:cNvSpPr/>
          <p:nvPr/>
        </p:nvSpPr>
        <p:spPr>
          <a:xfrm>
            <a:off x="466344" y="1645920"/>
            <a:ext cx="3630168" cy="361188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9224" y="1828800"/>
            <a:ext cx="594360" cy="594360"/>
          </a:xfrm>
          <a:prstGeom prst="ellipse">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Open Sans"/>
              </a:rPr>
              <a:t>1</a:t>
            </a:r>
          </a:p>
        </p:txBody>
      </p:sp>
      <p:sp>
        <p:nvSpPr>
          <p:cNvPr id="6" name="TextBox 5"/>
          <p:cNvSpPr txBox="1"/>
          <p:nvPr/>
        </p:nvSpPr>
        <p:spPr>
          <a:xfrm>
            <a:off x="1380744" y="1828800"/>
            <a:ext cx="2532888" cy="365760"/>
          </a:xfrm>
          <a:prstGeom prst="rect">
            <a:avLst/>
          </a:prstGeom>
          <a:noFill/>
        </p:spPr>
        <p:txBody>
          <a:bodyPr wrap="square" lIns="45720" rIns="45720" tIns="18288" bIns="18288" anchor="ctr">
            <a:spAutoFit/>
          </a:bodyPr>
          <a:lstStyle/>
          <a:p>
            <a:pPr algn="l"/>
            <a:r>
              <a:rPr sz="1400" b="1" i="0">
                <a:solidFill>
                  <a:srgbClr val="012169"/>
                </a:solidFill>
                <a:latin typeface="Open Sans"/>
              </a:rPr>
              <a:t>NPI Telemetry Gate</a:t>
            </a:r>
          </a:p>
        </p:txBody>
      </p:sp>
      <p:sp>
        <p:nvSpPr>
          <p:cNvPr id="7" name="TextBox 6"/>
          <p:cNvSpPr txBox="1"/>
          <p:nvPr/>
        </p:nvSpPr>
        <p:spPr>
          <a:xfrm>
            <a:off x="1380744" y="2212848"/>
            <a:ext cx="2532888" cy="274320"/>
          </a:xfrm>
          <a:prstGeom prst="rect">
            <a:avLst/>
          </a:prstGeom>
          <a:noFill/>
        </p:spPr>
        <p:txBody>
          <a:bodyPr wrap="square" lIns="45720" rIns="45720" tIns="18288" bIns="18288">
            <a:spAutoFit/>
          </a:bodyPr>
          <a:lstStyle/>
          <a:p>
            <a:pPr algn="l"/>
            <a:r>
              <a:rPr sz="1000" b="0" i="1">
                <a:solidFill>
                  <a:srgbClr val="00A3E0"/>
                </a:solidFill>
                <a:latin typeface="Open Sans"/>
              </a:rPr>
              <a:t>Forward leverage</a:t>
            </a:r>
          </a:p>
        </p:txBody>
      </p:sp>
      <p:cxnSp>
        <p:nvCxnSpPr>
          <p:cNvPr id="8" name="Connector 7"/>
          <p:cNvCxnSpPr/>
          <p:nvPr/>
        </p:nvCxnSpPr>
        <p:spPr>
          <a:xfrm>
            <a:off x="649224" y="2606040"/>
            <a:ext cx="3264408"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9224" y="2743200"/>
            <a:ext cx="3264408" cy="2377440"/>
          </a:xfrm>
          <a:prstGeom prst="rect">
            <a:avLst/>
          </a:prstGeom>
          <a:noFill/>
        </p:spPr>
        <p:txBody>
          <a:bodyPr wrap="square" lIns="45720" rIns="45720" tIns="18288" bIns="18288">
            <a:spAutoFit/>
          </a:bodyPr>
          <a:lstStyle/>
          <a:p>
            <a:pPr algn="l"/>
            <a:r>
              <a:rPr sz="1000" b="0" i="0">
                <a:solidFill>
                  <a:srgbClr val="313131"/>
                </a:solidFill>
                <a:latin typeface="Open Sans"/>
              </a:rPr>
              <a:t>Every new AI INFRA product ships with a defined telemetry standard mapped to commercial concepts (Breadth, Depth, Intensity). No product passes NPI without it.</a:t>
            </a:r>
            <a:br/>
            <a:br/>
            <a:r>
              <a:rPr sz="1000" b="0" i="0">
                <a:solidFill>
                  <a:srgbClr val="313131"/>
                </a:solidFill>
                <a:latin typeface="Open Sans"/>
              </a:rPr>
              <a:t>Forcing the standard at the gate is much cheaper than retrofitting downstream.</a:t>
            </a:r>
          </a:p>
        </p:txBody>
      </p:sp>
      <p:sp>
        <p:nvSpPr>
          <p:cNvPr id="10" name="Rectangle 9"/>
          <p:cNvSpPr/>
          <p:nvPr/>
        </p:nvSpPr>
        <p:spPr>
          <a:xfrm>
            <a:off x="4279392" y="1645920"/>
            <a:ext cx="3630168" cy="361188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62272" y="1828800"/>
            <a:ext cx="594360" cy="594360"/>
          </a:xfrm>
          <a:prstGeom prst="ellipse">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Open Sans"/>
              </a:rPr>
              <a:t>2</a:t>
            </a:r>
          </a:p>
        </p:txBody>
      </p:sp>
      <p:sp>
        <p:nvSpPr>
          <p:cNvPr id="12" name="TextBox 11"/>
          <p:cNvSpPr txBox="1"/>
          <p:nvPr/>
        </p:nvSpPr>
        <p:spPr>
          <a:xfrm>
            <a:off x="5193792" y="1828800"/>
            <a:ext cx="2532888" cy="365760"/>
          </a:xfrm>
          <a:prstGeom prst="rect">
            <a:avLst/>
          </a:prstGeom>
          <a:noFill/>
        </p:spPr>
        <p:txBody>
          <a:bodyPr wrap="square" lIns="45720" rIns="45720" tIns="18288" bIns="18288" anchor="ctr">
            <a:spAutoFit/>
          </a:bodyPr>
          <a:lstStyle/>
          <a:p>
            <a:pPr algn="l"/>
            <a:r>
              <a:rPr sz="1400" b="1" i="0">
                <a:solidFill>
                  <a:srgbClr val="012169"/>
                </a:solidFill>
                <a:latin typeface="Open Sans"/>
              </a:rPr>
              <a:t>Install Base Intelligence Layer</a:t>
            </a:r>
          </a:p>
        </p:txBody>
      </p:sp>
      <p:sp>
        <p:nvSpPr>
          <p:cNvPr id="13" name="TextBox 12"/>
          <p:cNvSpPr txBox="1"/>
          <p:nvPr/>
        </p:nvSpPr>
        <p:spPr>
          <a:xfrm>
            <a:off x="5193792" y="2212848"/>
            <a:ext cx="2532888" cy="274320"/>
          </a:xfrm>
          <a:prstGeom prst="rect">
            <a:avLst/>
          </a:prstGeom>
          <a:noFill/>
        </p:spPr>
        <p:txBody>
          <a:bodyPr wrap="square" lIns="45720" rIns="45720" tIns="18288" bIns="18288">
            <a:spAutoFit/>
          </a:bodyPr>
          <a:lstStyle/>
          <a:p>
            <a:pPr algn="l"/>
            <a:r>
              <a:rPr sz="1000" b="0" i="1">
                <a:solidFill>
                  <a:srgbClr val="00A3E0"/>
                </a:solidFill>
                <a:latin typeface="Open Sans"/>
              </a:rPr>
              <a:t>Where translation happens</a:t>
            </a:r>
          </a:p>
        </p:txBody>
      </p:sp>
      <p:cxnSp>
        <p:nvCxnSpPr>
          <p:cNvPr id="14" name="Connector 13"/>
          <p:cNvCxnSpPr/>
          <p:nvPr/>
        </p:nvCxnSpPr>
        <p:spPr>
          <a:xfrm>
            <a:off x="4462272" y="2606040"/>
            <a:ext cx="3264408"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62272" y="2743200"/>
            <a:ext cx="3264408" cy="2377440"/>
          </a:xfrm>
          <a:prstGeom prst="rect">
            <a:avLst/>
          </a:prstGeom>
          <a:noFill/>
        </p:spPr>
        <p:txBody>
          <a:bodyPr wrap="square" lIns="45720" rIns="45720" tIns="18288" bIns="18288">
            <a:spAutoFit/>
          </a:bodyPr>
          <a:lstStyle/>
          <a:p>
            <a:pPr algn="l"/>
            <a:r>
              <a:rPr sz="1000" b="0" i="0">
                <a:solidFill>
                  <a:srgbClr val="313131"/>
                </a:solidFill>
                <a:latin typeface="Open Sans"/>
              </a:rPr>
              <a:t>A semantic layer above existing BU Snowflake feeds, CX flat files, and Varun's S3 pipeline. Translates raw events into Vitality Score, Adoption Decay Rate, and Time-to-First-Value.</a:t>
            </a:r>
            <a:br/>
            <a:br/>
            <a:r>
              <a:rPr sz="1000" b="0" i="0">
                <a:solidFill>
                  <a:srgbClr val="313131"/>
                </a:solidFill>
                <a:latin typeface="Open Sans"/>
              </a:rPr>
              <a:t>Resolves customer identity across telemetry, Commerce, and CRM. This is the spine of Track 1 and Track 2.</a:t>
            </a:r>
          </a:p>
        </p:txBody>
      </p:sp>
      <p:sp>
        <p:nvSpPr>
          <p:cNvPr id="16" name="Rectangle 15"/>
          <p:cNvSpPr/>
          <p:nvPr/>
        </p:nvSpPr>
        <p:spPr>
          <a:xfrm>
            <a:off x="8092440" y="1645920"/>
            <a:ext cx="3630168" cy="361188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75319" y="1828800"/>
            <a:ext cx="594360" cy="594360"/>
          </a:xfrm>
          <a:prstGeom prst="ellipse">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Open Sans"/>
              </a:rPr>
              <a:t>3</a:t>
            </a:r>
          </a:p>
        </p:txBody>
      </p:sp>
      <p:sp>
        <p:nvSpPr>
          <p:cNvPr id="18" name="TextBox 17"/>
          <p:cNvSpPr txBox="1"/>
          <p:nvPr/>
        </p:nvSpPr>
        <p:spPr>
          <a:xfrm>
            <a:off x="9006840" y="1828800"/>
            <a:ext cx="2532888" cy="365760"/>
          </a:xfrm>
          <a:prstGeom prst="rect">
            <a:avLst/>
          </a:prstGeom>
          <a:noFill/>
        </p:spPr>
        <p:txBody>
          <a:bodyPr wrap="square" lIns="45720" rIns="45720" tIns="18288" bIns="18288" anchor="ctr">
            <a:spAutoFit/>
          </a:bodyPr>
          <a:lstStyle/>
          <a:p>
            <a:pPr algn="l"/>
            <a:r>
              <a:rPr sz="1400" b="1" i="0">
                <a:solidFill>
                  <a:srgbClr val="012169"/>
                </a:solidFill>
                <a:latin typeface="Open Sans"/>
              </a:rPr>
              <a:t>Install Base Agent</a:t>
            </a:r>
          </a:p>
        </p:txBody>
      </p:sp>
      <p:sp>
        <p:nvSpPr>
          <p:cNvPr id="19" name="TextBox 18"/>
          <p:cNvSpPr txBox="1"/>
          <p:nvPr/>
        </p:nvSpPr>
        <p:spPr>
          <a:xfrm>
            <a:off x="9006840" y="2212848"/>
            <a:ext cx="2532888" cy="274320"/>
          </a:xfrm>
          <a:prstGeom prst="rect">
            <a:avLst/>
          </a:prstGeom>
          <a:noFill/>
        </p:spPr>
        <p:txBody>
          <a:bodyPr wrap="square" lIns="45720" rIns="45720" tIns="18288" bIns="18288">
            <a:spAutoFit/>
          </a:bodyPr>
          <a:lstStyle/>
          <a:p>
            <a:pPr algn="l"/>
            <a:r>
              <a:rPr sz="1000" b="0" i="1">
                <a:solidFill>
                  <a:srgbClr val="00A3E0"/>
                </a:solidFill>
                <a:latin typeface="Open Sans"/>
              </a:rPr>
              <a:t>From dashboard to action</a:t>
            </a:r>
          </a:p>
        </p:txBody>
      </p:sp>
      <p:cxnSp>
        <p:nvCxnSpPr>
          <p:cNvPr id="20" name="Connector 19"/>
          <p:cNvCxnSpPr/>
          <p:nvPr/>
        </p:nvCxnSpPr>
        <p:spPr>
          <a:xfrm>
            <a:off x="8275319" y="2606040"/>
            <a:ext cx="3264409"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75319" y="2743200"/>
            <a:ext cx="3264408" cy="2377440"/>
          </a:xfrm>
          <a:prstGeom prst="rect">
            <a:avLst/>
          </a:prstGeom>
          <a:noFill/>
        </p:spPr>
        <p:txBody>
          <a:bodyPr wrap="square" lIns="45720" rIns="45720" tIns="18288" bIns="18288">
            <a:spAutoFit/>
          </a:bodyPr>
          <a:lstStyle/>
          <a:p>
            <a:pPr algn="l"/>
            <a:r>
              <a:rPr sz="1000" b="0" i="0">
                <a:solidFill>
                  <a:srgbClr val="313131"/>
                </a:solidFill>
                <a:latin typeface="Open Sans"/>
              </a:rPr>
              <a:t>Agentic orchestration that monitors the layer continuously. When signal warrants action, the Agent reaches into the Commerce Portal, links telemetry to the Renewal Reference ID, and drafts seller and CX context.</a:t>
            </a:r>
            <a:br/>
            <a:br/>
            <a:r>
              <a:rPr sz="1000" b="0" i="0">
                <a:solidFill>
                  <a:srgbClr val="313131"/>
                </a:solidFill>
                <a:latin typeface="Open Sans"/>
              </a:rPr>
              <a:t>Not a dashboard. An action sellers can accept or reject.</a:t>
            </a:r>
          </a:p>
        </p:txBody>
      </p:sp>
      <p:sp>
        <p:nvSpPr>
          <p:cNvPr id="22" name="Right Arrow 21"/>
          <p:cNvSpPr/>
          <p:nvPr/>
        </p:nvSpPr>
        <p:spPr>
          <a:xfrm>
            <a:off x="4041648" y="3401568"/>
            <a:ext cx="237744" cy="182880"/>
          </a:xfrm>
          <a:prstGeom prst="rightArrow">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7854696" y="3401568"/>
            <a:ext cx="237744" cy="182880"/>
          </a:xfrm>
          <a:prstGeom prst="rightArrow">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6344" y="5440680"/>
            <a:ext cx="11256264" cy="45720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458968"/>
            <a:ext cx="10908792" cy="420624"/>
          </a:xfrm>
          <a:prstGeom prst="rect">
            <a:avLst/>
          </a:prstGeom>
          <a:noFill/>
        </p:spPr>
        <p:txBody>
          <a:bodyPr wrap="square" lIns="45720" rIns="45720" tIns="18288" bIns="18288" anchor="ctr">
            <a:spAutoFit/>
          </a:bodyPr>
          <a:lstStyle/>
          <a:p>
            <a:pPr algn="l"/>
            <a:r>
              <a:rPr sz="1200" b="1" i="0">
                <a:solidFill>
                  <a:srgbClr val="FFFFFF"/>
                </a:solidFill>
                <a:latin typeface="Open Sans"/>
              </a:rPr>
              <a:t>NPI Gate ensures the data is there. Intelligence Layer translates it. Agent acts on it. The leverage is in the combination.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Engineering events translated into commercial behavior</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The Value Realization Ontology. Raw signal becomes semantic translation, then commercial signal, then a downstream action with an owner.</a:t>
            </a:r>
          </a:p>
        </p:txBody>
      </p:sp>
      <p:graphicFrame>
        <p:nvGraphicFramePr>
          <p:cNvPr id="4" name="Table 3"/>
          <p:cNvGraphicFramePr>
            <a:graphicFrameLocks noGrp="1"/>
          </p:cNvGraphicFramePr>
          <p:nvPr/>
        </p:nvGraphicFramePr>
        <p:xfrm>
          <a:off x="466344" y="1645920"/>
          <a:ext cx="11256264" cy="3703320"/>
        </p:xfrm>
        <a:graphic>
          <a:graphicData uri="http://schemas.openxmlformats.org/drawingml/2006/table">
            <a:tbl>
              <a:tblPr firstRow="1" bandRow="1">
                <a:tableStyleId>{5C22544A-7EE6-4342-B048-85BDC9FD1C3A}</a:tableStyleId>
              </a:tblPr>
              <a:tblGrid>
                <a:gridCol w="2468880"/>
                <a:gridCol w="3108960"/>
                <a:gridCol w="2697480"/>
                <a:gridCol w="2980944"/>
              </a:tblGrid>
              <a:tr h="502920">
                <a:tc>
                  <a:txBody>
                    <a:bodyPr wrap="square" anchor="ctr"/>
                    <a:lstStyle/>
                    <a:p>
                      <a:r>
                        <a:rPr sz="1100" b="1">
                          <a:solidFill>
                            <a:srgbClr val="FFFFFF"/>
                          </a:solidFill>
                          <a:latin typeface="Open Sans"/>
                        </a:rPr>
                        <a:t>Raw telemetry</a:t>
                      </a:r>
                    </a:p>
                  </a:txBody>
                  <a:tcPr marL="91440" marR="91440" marT="73152" marB="73152">
                    <a:solidFill>
                      <a:srgbClr val="012169"/>
                    </a:solidFill>
                  </a:tcPr>
                </a:tc>
                <a:tc>
                  <a:txBody>
                    <a:bodyPr wrap="square" anchor="ctr"/>
                    <a:lstStyle/>
                    <a:p>
                      <a:r>
                        <a:rPr sz="1100" b="1">
                          <a:solidFill>
                            <a:srgbClr val="FFFFFF"/>
                          </a:solidFill>
                          <a:latin typeface="Open Sans"/>
                        </a:rPr>
                        <a:t>Semantic translation</a:t>
                      </a:r>
                    </a:p>
                  </a:txBody>
                  <a:tcPr marL="91440" marR="91440" marT="73152" marB="73152">
                    <a:solidFill>
                      <a:srgbClr val="012169"/>
                    </a:solidFill>
                  </a:tcPr>
                </a:tc>
                <a:tc>
                  <a:txBody>
                    <a:bodyPr wrap="square" anchor="ctr"/>
                    <a:lstStyle/>
                    <a:p>
                      <a:r>
                        <a:rPr sz="1100" b="1">
                          <a:solidFill>
                            <a:srgbClr val="FFFFFF"/>
                          </a:solidFill>
                          <a:latin typeface="Open Sans"/>
                        </a:rPr>
                        <a:t>Commercial signal</a:t>
                      </a:r>
                    </a:p>
                  </a:txBody>
                  <a:tcPr marL="91440" marR="91440" marT="73152" marB="73152">
                    <a:solidFill>
                      <a:srgbClr val="012169"/>
                    </a:solidFill>
                  </a:tcPr>
                </a:tc>
                <a:tc>
                  <a:txBody>
                    <a:bodyPr wrap="square" anchor="ctr"/>
                    <a:lstStyle/>
                    <a:p>
                      <a:r>
                        <a:rPr sz="1100" b="1">
                          <a:solidFill>
                            <a:srgbClr val="FFFFFF"/>
                          </a:solidFill>
                          <a:latin typeface="Open Sans"/>
                        </a:rPr>
                        <a:t>Action &amp; owner</a:t>
                      </a:r>
                    </a:p>
                  </a:txBody>
                  <a:tcPr marL="91440" marR="91440" marT="73152" marB="73152">
                    <a:solidFill>
                      <a:srgbClr val="012169"/>
                    </a:solidFill>
                  </a:tcPr>
                </a:tc>
              </a:tr>
              <a:tr h="800100">
                <a:tc>
                  <a:txBody>
                    <a:bodyPr wrap="square" anchor="ctr"/>
                    <a:lstStyle/>
                    <a:p>
                      <a:r>
                        <a:rPr sz="1000">
                          <a:solidFill>
                            <a:srgbClr val="313131"/>
                          </a:solidFill>
                          <a:latin typeface="Open Sans"/>
                        </a:rPr>
                        <a:t>RoCEv2 traffic + PFC pause frames</a:t>
                      </a:r>
                    </a:p>
                  </a:txBody>
                  <a:tcPr marL="91440" marR="91440" marT="73152" marB="73152">
                    <a:solidFill>
                      <a:srgbClr val="FFFFFF"/>
                    </a:solidFill>
                  </a:tcPr>
                </a:tc>
                <a:tc>
                  <a:txBody>
                    <a:bodyPr wrap="square" anchor="ctr"/>
                    <a:lstStyle/>
                    <a:p>
                      <a:r>
                        <a:rPr sz="1000">
                          <a:solidFill>
                            <a:srgbClr val="313131"/>
                          </a:solidFill>
                          <a:latin typeface="Open Sans"/>
                        </a:rPr>
                        <a:t>Customer is running distributed AI training at scale</a:t>
                      </a:r>
                    </a:p>
                  </a:txBody>
                  <a:tcPr marL="91440" marR="91440" marT="73152" marB="73152">
                    <a:solidFill>
                      <a:srgbClr val="FFFFFF"/>
                    </a:solidFill>
                  </a:tcPr>
                </a:tc>
                <a:tc>
                  <a:txBody>
                    <a:bodyPr wrap="square" anchor="ctr"/>
                    <a:lstStyle/>
                    <a:p>
                      <a:r>
                        <a:rPr sz="1000">
                          <a:solidFill>
                            <a:srgbClr val="313131"/>
                          </a:solidFill>
                          <a:latin typeface="Open Sans"/>
                        </a:rPr>
                        <a:t>High probability of capacity constraint</a:t>
                      </a:r>
                    </a:p>
                  </a:txBody>
                  <a:tcPr marL="91440" marR="91440" marT="73152" marB="73152">
                    <a:solidFill>
                      <a:srgbClr val="FFFFFF"/>
                    </a:solidFill>
                  </a:tcPr>
                </a:tc>
                <a:tc>
                  <a:txBody>
                    <a:bodyPr wrap="square" anchor="ctr"/>
                    <a:lstStyle/>
                    <a:p>
                      <a:r>
                        <a:rPr sz="1000" b="1">
                          <a:solidFill>
                            <a:srgbClr val="012169"/>
                          </a:solidFill>
                          <a:latin typeface="Open Sans"/>
                        </a:rPr>
                        <a:t>Sales triggers high-speed fabric refresh play</a:t>
                      </a:r>
                    </a:p>
                  </a:txBody>
                  <a:tcPr marL="91440" marR="91440" marT="73152" marB="73152">
                    <a:solidFill>
                      <a:srgbClr val="FFFFFF"/>
                    </a:solidFill>
                  </a:tcPr>
                </a:tc>
              </a:tr>
              <a:tr h="800100">
                <a:tc>
                  <a:txBody>
                    <a:bodyPr wrap="square" anchor="ctr"/>
                    <a:lstStyle/>
                    <a:p>
                      <a:r>
                        <a:rPr sz="1000">
                          <a:solidFill>
                            <a:srgbClr val="313131"/>
                          </a:solidFill>
                          <a:latin typeface="Open Sans"/>
                        </a:rPr>
                        <a:t>Sustained drop in microbursts and GPU sync</a:t>
                      </a:r>
                    </a:p>
                  </a:txBody>
                  <a:tcPr marL="91440" marR="91440" marT="73152" marB="73152">
                    <a:solidFill>
                      <a:srgbClr val="E6F6FC"/>
                    </a:solidFill>
                  </a:tcPr>
                </a:tc>
                <a:tc>
                  <a:txBody>
                    <a:bodyPr wrap="square" anchor="ctr"/>
                    <a:lstStyle/>
                    <a:p>
                      <a:r>
                        <a:rPr sz="1000">
                          <a:solidFill>
                            <a:srgbClr val="313131"/>
                          </a:solidFill>
                          <a:latin typeface="Open Sans"/>
                        </a:rPr>
                        <a:t>Adoption decay; active AI training has ceased</a:t>
                      </a:r>
                    </a:p>
                  </a:txBody>
                  <a:tcPr marL="91440" marR="91440" marT="73152" marB="73152">
                    <a:solidFill>
                      <a:srgbClr val="E6F6FC"/>
                    </a:solidFill>
                  </a:tcPr>
                </a:tc>
                <a:tc>
                  <a:txBody>
                    <a:bodyPr wrap="square" anchor="ctr"/>
                    <a:lstStyle/>
                    <a:p>
                      <a:r>
                        <a:rPr sz="1000">
                          <a:solidFill>
                            <a:srgbClr val="313131"/>
                          </a:solidFill>
                          <a:latin typeface="Open Sans"/>
                        </a:rPr>
                        <a:t>Renewal risk; possible competitor migration</a:t>
                      </a:r>
                    </a:p>
                  </a:txBody>
                  <a:tcPr marL="91440" marR="91440" marT="73152" marB="73152">
                    <a:solidFill>
                      <a:srgbClr val="E6F6FC"/>
                    </a:solidFill>
                  </a:tcPr>
                </a:tc>
                <a:tc>
                  <a:txBody>
                    <a:bodyPr wrap="square" anchor="ctr"/>
                    <a:lstStyle/>
                    <a:p>
                      <a:r>
                        <a:rPr sz="1000" b="1">
                          <a:solidFill>
                            <a:srgbClr val="0076A8"/>
                          </a:solidFill>
                          <a:latin typeface="Open Sans"/>
                        </a:rPr>
                        <a:t>CX automated early-warning alert at month 3</a:t>
                      </a:r>
                    </a:p>
                  </a:txBody>
                  <a:tcPr marL="91440" marR="91440" marT="73152" marB="73152">
                    <a:solidFill>
                      <a:srgbClr val="E6F6FC"/>
                    </a:solidFill>
                  </a:tcPr>
                </a:tc>
              </a:tr>
              <a:tr h="800100">
                <a:tc>
                  <a:txBody>
                    <a:bodyPr wrap="square" anchor="ctr"/>
                    <a:lstStyle/>
                    <a:p>
                      <a:r>
                        <a:rPr sz="1000">
                          <a:solidFill>
                            <a:srgbClr val="313131"/>
                          </a:solidFill>
                          <a:latin typeface="Open Sans"/>
                        </a:rPr>
                        <a:t>High VRF count + cross-domain activity</a:t>
                      </a:r>
                    </a:p>
                  </a:txBody>
                  <a:tcPr marL="91440" marR="91440" marT="73152" marB="73152">
                    <a:solidFill>
                      <a:srgbClr val="FFFFFF"/>
                    </a:solidFill>
                  </a:tcPr>
                </a:tc>
                <a:tc>
                  <a:txBody>
                    <a:bodyPr wrap="square" anchor="ctr"/>
                    <a:lstStyle/>
                    <a:p>
                      <a:r>
                        <a:rPr sz="1000">
                          <a:solidFill>
                            <a:srgbClr val="313131"/>
                          </a:solidFill>
                          <a:latin typeface="Open Sans"/>
                        </a:rPr>
                        <a:t>AI cluster is multi-tenant and enterprise-integrated</a:t>
                      </a:r>
                    </a:p>
                  </a:txBody>
                  <a:tcPr marL="91440" marR="91440" marT="73152" marB="73152">
                    <a:solidFill>
                      <a:srgbClr val="FFFFFF"/>
                    </a:solidFill>
                  </a:tcPr>
                </a:tc>
                <a:tc>
                  <a:txBody>
                    <a:bodyPr wrap="square" anchor="ctr"/>
                    <a:lstStyle/>
                    <a:p>
                      <a:r>
                        <a:rPr sz="1000">
                          <a:solidFill>
                            <a:srgbClr val="313131"/>
                          </a:solidFill>
                          <a:latin typeface="Open Sans"/>
                        </a:rPr>
                        <a:t>High likelihood of software and services renewal</a:t>
                      </a:r>
                    </a:p>
                  </a:txBody>
                  <a:tcPr marL="91440" marR="91440" marT="73152" marB="73152">
                    <a:solidFill>
                      <a:srgbClr val="FFFFFF"/>
                    </a:solidFill>
                  </a:tcPr>
                </a:tc>
                <a:tc>
                  <a:txBody>
                    <a:bodyPr wrap="square" anchor="ctr"/>
                    <a:lstStyle/>
                    <a:p>
                      <a:r>
                        <a:rPr sz="1000" b="1">
                          <a:solidFill>
                            <a:srgbClr val="00A3E0"/>
                          </a:solidFill>
                          <a:latin typeface="Open Sans"/>
                        </a:rPr>
                        <a:t>Renewals team proceeds with confidence</a:t>
                      </a:r>
                    </a:p>
                  </a:txBody>
                  <a:tcPr marL="91440" marR="91440" marT="73152" marB="73152">
                    <a:solidFill>
                      <a:srgbClr val="FFFFFF"/>
                    </a:solidFill>
                  </a:tcPr>
                </a:tc>
              </a:tr>
              <a:tr h="800100">
                <a:tc>
                  <a:txBody>
                    <a:bodyPr wrap="square" anchor="ctr"/>
                    <a:lstStyle/>
                    <a:p>
                      <a:r>
                        <a:rPr sz="1000">
                          <a:solidFill>
                            <a:srgbClr val="313131"/>
                          </a:solidFill>
                          <a:latin typeface="Open Sans"/>
                        </a:rPr>
                        <a:t>Low active port ratio after 6 months</a:t>
                      </a:r>
                    </a:p>
                  </a:txBody>
                  <a:tcPr marL="91440" marR="91440" marT="73152" marB="73152">
                    <a:solidFill>
                      <a:srgbClr val="E6F6FC"/>
                    </a:solidFill>
                  </a:tcPr>
                </a:tc>
                <a:tc>
                  <a:txBody>
                    <a:bodyPr wrap="square" anchor="ctr"/>
                    <a:lstStyle/>
                    <a:p>
                      <a:r>
                        <a:rPr sz="1000">
                          <a:solidFill>
                            <a:srgbClr val="313131"/>
                          </a:solidFill>
                          <a:latin typeface="Open Sans"/>
                        </a:rPr>
                        <a:t>Time-to-First-Value failure; stalled deployment</a:t>
                      </a:r>
                    </a:p>
                  </a:txBody>
                  <a:tcPr marL="91440" marR="91440" marT="73152" marB="73152">
                    <a:solidFill>
                      <a:srgbClr val="E6F6FC"/>
                    </a:solidFill>
                  </a:tcPr>
                </a:tc>
                <a:tc>
                  <a:txBody>
                    <a:bodyPr wrap="square" anchor="ctr"/>
                    <a:lstStyle/>
                    <a:p>
                      <a:r>
                        <a:rPr sz="1000">
                          <a:solidFill>
                            <a:srgbClr val="313131"/>
                          </a:solidFill>
                          <a:latin typeface="Open Sans"/>
                        </a:rPr>
                        <a:t>$45bn refresh thesis invalid for this node</a:t>
                      </a:r>
                    </a:p>
                  </a:txBody>
                  <a:tcPr marL="91440" marR="91440" marT="73152" marB="73152">
                    <a:solidFill>
                      <a:srgbClr val="E6F6FC"/>
                    </a:solidFill>
                  </a:tcPr>
                </a:tc>
                <a:tc>
                  <a:txBody>
                    <a:bodyPr wrap="square" anchor="ctr"/>
                    <a:lstStyle/>
                    <a:p>
                      <a:r>
                        <a:rPr sz="1000" b="1">
                          <a:solidFill>
                            <a:srgbClr val="012169"/>
                          </a:solidFill>
                          <a:latin typeface="Open Sans"/>
                        </a:rPr>
                        <a:t>IACV team flags; CX deploys adoption services</a:t>
                      </a:r>
                    </a:p>
                  </a:txBody>
                  <a:tcPr marL="91440" marR="91440" marT="73152" marB="73152">
                    <a:solidFill>
                      <a:srgbClr val="E6F6FC"/>
                    </a:solidFill>
                  </a:tcPr>
                </a:tc>
              </a:tr>
            </a:tbl>
          </a:graphicData>
        </a:graphic>
      </p:graphicFrame>
      <p:sp>
        <p:nvSpPr>
          <p:cNvPr id="5" name="Rectangle 4"/>
          <p:cNvSpPr/>
          <p:nvPr/>
        </p:nvSpPr>
        <p:spPr>
          <a:xfrm>
            <a:off x="466344" y="5532120"/>
            <a:ext cx="11256264" cy="45720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550408"/>
            <a:ext cx="10908792" cy="420624"/>
          </a:xfrm>
          <a:prstGeom prst="rect">
            <a:avLst/>
          </a:prstGeom>
          <a:noFill/>
        </p:spPr>
        <p:txBody>
          <a:bodyPr wrap="square" lIns="45720" rIns="45720" tIns="18288" bIns="18288" anchor="ctr">
            <a:spAutoFit/>
          </a:bodyPr>
          <a:lstStyle/>
          <a:p>
            <a:pPr algn="l"/>
            <a:r>
              <a:rPr sz="1200" b="1" i="0">
                <a:solidFill>
                  <a:srgbClr val="FFFFFF"/>
                </a:solidFill>
                <a:latin typeface="Open Sans"/>
              </a:rPr>
              <a:t>Dashboards show what the hardware is doing. The semantic layer tells us what the customer is going to do next.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AI INFRA produces telemetry richer than any other Cisco product line</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The signals already exist. The job is to translate them. Two lenses worth pulling apart on the call.</a:t>
            </a:r>
          </a:p>
        </p:txBody>
      </p:sp>
      <p:sp>
        <p:nvSpPr>
          <p:cNvPr id="4" name="Rectangle 3"/>
          <p:cNvSpPr/>
          <p:nvPr/>
        </p:nvSpPr>
        <p:spPr>
          <a:xfrm>
            <a:off x="466344" y="1645920"/>
            <a:ext cx="5486400" cy="502920"/>
          </a:xfrm>
          <a:prstGeom prst="rect">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9224" y="1691640"/>
            <a:ext cx="5120640" cy="411480"/>
          </a:xfrm>
          <a:prstGeom prst="rect">
            <a:avLst/>
          </a:prstGeom>
          <a:noFill/>
        </p:spPr>
        <p:txBody>
          <a:bodyPr wrap="square" lIns="45720" rIns="45720" tIns="18288" bIns="18288" anchor="ctr">
            <a:spAutoFit/>
          </a:bodyPr>
          <a:lstStyle/>
          <a:p>
            <a:pPr algn="l"/>
            <a:r>
              <a:rPr sz="1400" b="1" i="0">
                <a:solidFill>
                  <a:srgbClr val="FFFFFF"/>
                </a:solidFill>
                <a:latin typeface="Open Sans"/>
              </a:rPr>
              <a:t>Depth of Use  |  How intensely AI is being run</a:t>
            </a:r>
          </a:p>
        </p:txBody>
      </p:sp>
      <p:sp>
        <p:nvSpPr>
          <p:cNvPr id="6" name="Rectangle 5"/>
          <p:cNvSpPr/>
          <p:nvPr/>
        </p:nvSpPr>
        <p:spPr>
          <a:xfrm>
            <a:off x="466344" y="2148840"/>
            <a:ext cx="5486400" cy="342900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2286000"/>
            <a:ext cx="5029200" cy="274320"/>
          </a:xfrm>
          <a:prstGeom prst="rect">
            <a:avLst/>
          </a:prstGeom>
          <a:noFill/>
        </p:spPr>
        <p:txBody>
          <a:bodyPr wrap="square" lIns="45720" rIns="45720" tIns="18288" bIns="18288">
            <a:spAutoFit/>
          </a:bodyPr>
          <a:lstStyle/>
          <a:p>
            <a:pPr algn="l"/>
            <a:r>
              <a:rPr sz="1100" b="1" i="0">
                <a:solidFill>
                  <a:srgbClr val="012169"/>
                </a:solidFill>
                <a:latin typeface="Open Sans"/>
              </a:rPr>
              <a:t>Lossless fabric metrics</a:t>
            </a:r>
          </a:p>
        </p:txBody>
      </p:sp>
      <p:sp>
        <p:nvSpPr>
          <p:cNvPr id="8" name="TextBox 7"/>
          <p:cNvSpPr txBox="1"/>
          <p:nvPr/>
        </p:nvSpPr>
        <p:spPr>
          <a:xfrm>
            <a:off x="694944" y="2578608"/>
            <a:ext cx="5029200" cy="502920"/>
          </a:xfrm>
          <a:prstGeom prst="rect">
            <a:avLst/>
          </a:prstGeom>
          <a:noFill/>
        </p:spPr>
        <p:txBody>
          <a:bodyPr wrap="square" lIns="45720" rIns="45720" tIns="18288" bIns="18288">
            <a:spAutoFit/>
          </a:bodyPr>
          <a:lstStyle/>
          <a:p>
            <a:pPr algn="l"/>
            <a:r>
              <a:rPr sz="1000" b="0" i="0">
                <a:solidFill>
                  <a:srgbClr val="313131"/>
                </a:solidFill>
                <a:latin typeface="Open Sans"/>
              </a:rPr>
              <a:t>RoCEv2 ratio versus TCP/IP, PFC pause frames per queue, ECN marking rates</a:t>
            </a:r>
          </a:p>
        </p:txBody>
      </p:sp>
      <p:sp>
        <p:nvSpPr>
          <p:cNvPr id="9" name="TextBox 8"/>
          <p:cNvSpPr txBox="1"/>
          <p:nvPr/>
        </p:nvSpPr>
        <p:spPr>
          <a:xfrm>
            <a:off x="694944" y="3127248"/>
            <a:ext cx="5029200" cy="274320"/>
          </a:xfrm>
          <a:prstGeom prst="rect">
            <a:avLst/>
          </a:prstGeom>
          <a:noFill/>
        </p:spPr>
        <p:txBody>
          <a:bodyPr wrap="square" lIns="45720" rIns="45720" tIns="18288" bIns="18288">
            <a:spAutoFit/>
          </a:bodyPr>
          <a:lstStyle/>
          <a:p>
            <a:pPr algn="l"/>
            <a:r>
              <a:rPr sz="1100" b="1" i="0">
                <a:solidFill>
                  <a:srgbClr val="012169"/>
                </a:solidFill>
                <a:latin typeface="Open Sans"/>
              </a:rPr>
              <a:t>Traffic pattern signatures</a:t>
            </a:r>
          </a:p>
        </p:txBody>
      </p:sp>
      <p:sp>
        <p:nvSpPr>
          <p:cNvPr id="10" name="TextBox 9"/>
          <p:cNvSpPr txBox="1"/>
          <p:nvPr/>
        </p:nvSpPr>
        <p:spPr>
          <a:xfrm>
            <a:off x="694944" y="3419856"/>
            <a:ext cx="5029200" cy="502920"/>
          </a:xfrm>
          <a:prstGeom prst="rect">
            <a:avLst/>
          </a:prstGeom>
          <a:noFill/>
        </p:spPr>
        <p:txBody>
          <a:bodyPr wrap="square" lIns="45720" rIns="45720" tIns="18288" bIns="18288">
            <a:spAutoFit/>
          </a:bodyPr>
          <a:lstStyle/>
          <a:p>
            <a:pPr algn="l"/>
            <a:r>
              <a:rPr sz="1000" b="0" i="0">
                <a:solidFill>
                  <a:srgbClr val="313131"/>
                </a:solidFill>
                <a:latin typeface="Open Sans"/>
              </a:rPr>
              <a:t>Elephant flow distribution (NetFlow/IPFIX), Silicon One microburst absorption, port-level synchronicity</a:t>
            </a:r>
          </a:p>
        </p:txBody>
      </p:sp>
      <p:sp>
        <p:nvSpPr>
          <p:cNvPr id="11" name="TextBox 10"/>
          <p:cNvSpPr txBox="1"/>
          <p:nvPr/>
        </p:nvSpPr>
        <p:spPr>
          <a:xfrm>
            <a:off x="694944" y="3968496"/>
            <a:ext cx="5029200" cy="274320"/>
          </a:xfrm>
          <a:prstGeom prst="rect">
            <a:avLst/>
          </a:prstGeom>
          <a:noFill/>
        </p:spPr>
        <p:txBody>
          <a:bodyPr wrap="square" lIns="45720" rIns="45720" tIns="18288" bIns="18288">
            <a:spAutoFit/>
          </a:bodyPr>
          <a:lstStyle/>
          <a:p>
            <a:pPr algn="l"/>
            <a:r>
              <a:rPr sz="1100" b="1" i="0">
                <a:solidFill>
                  <a:srgbClr val="012169"/>
                </a:solidFill>
                <a:latin typeface="Open Sans"/>
              </a:rPr>
              <a:t>API and automation</a:t>
            </a:r>
          </a:p>
        </p:txBody>
      </p:sp>
      <p:sp>
        <p:nvSpPr>
          <p:cNvPr id="12" name="TextBox 11"/>
          <p:cNvSpPr txBox="1"/>
          <p:nvPr/>
        </p:nvSpPr>
        <p:spPr>
          <a:xfrm>
            <a:off x="694944" y="4261104"/>
            <a:ext cx="5029200" cy="502920"/>
          </a:xfrm>
          <a:prstGeom prst="rect">
            <a:avLst/>
          </a:prstGeom>
          <a:noFill/>
        </p:spPr>
        <p:txBody>
          <a:bodyPr wrap="square" lIns="45720" rIns="45720" tIns="18288" bIns="18288">
            <a:spAutoFit/>
          </a:bodyPr>
          <a:lstStyle/>
          <a:p>
            <a:pPr algn="l"/>
            <a:r>
              <a:rPr sz="1000" b="0" i="0">
                <a:solidFill>
                  <a:srgbClr val="313131"/>
                </a:solidFill>
                <a:latin typeface="Open Sans"/>
              </a:rPr>
              <a:t>Model-Driven Telemetry (gRPC) subscription rates, programmable ASIC / P4 profile usage</a:t>
            </a:r>
          </a:p>
        </p:txBody>
      </p:sp>
      <p:sp>
        <p:nvSpPr>
          <p:cNvPr id="13" name="TextBox 12"/>
          <p:cNvSpPr txBox="1"/>
          <p:nvPr/>
        </p:nvSpPr>
        <p:spPr>
          <a:xfrm>
            <a:off x="694944" y="4809744"/>
            <a:ext cx="5029200" cy="274320"/>
          </a:xfrm>
          <a:prstGeom prst="rect">
            <a:avLst/>
          </a:prstGeom>
          <a:noFill/>
        </p:spPr>
        <p:txBody>
          <a:bodyPr wrap="square" lIns="45720" rIns="45720" tIns="18288" bIns="18288">
            <a:spAutoFit/>
          </a:bodyPr>
          <a:lstStyle/>
          <a:p>
            <a:pPr algn="l"/>
            <a:r>
              <a:rPr sz="1100" b="1" i="0">
                <a:solidFill>
                  <a:srgbClr val="012169"/>
                </a:solidFill>
                <a:latin typeface="Open Sans"/>
              </a:rPr>
              <a:t>Optics and thermal</a:t>
            </a:r>
          </a:p>
        </p:txBody>
      </p:sp>
      <p:sp>
        <p:nvSpPr>
          <p:cNvPr id="14" name="TextBox 13"/>
          <p:cNvSpPr txBox="1"/>
          <p:nvPr/>
        </p:nvSpPr>
        <p:spPr>
          <a:xfrm>
            <a:off x="694944" y="5102352"/>
            <a:ext cx="5029200" cy="502920"/>
          </a:xfrm>
          <a:prstGeom prst="rect">
            <a:avLst/>
          </a:prstGeom>
          <a:noFill/>
        </p:spPr>
        <p:txBody>
          <a:bodyPr wrap="square" lIns="45720" rIns="45720" tIns="18288" bIns="18288">
            <a:spAutoFit/>
          </a:bodyPr>
          <a:lstStyle/>
          <a:p>
            <a:pPr algn="l"/>
            <a:r>
              <a:rPr sz="1000" b="0" i="0">
                <a:solidFill>
                  <a:srgbClr val="313131"/>
                </a:solidFill>
                <a:latin typeface="Open Sans"/>
              </a:rPr>
              <a:t>400G/800G transceiver telemetry, sustained ASIC thermal state over 24-hour windows</a:t>
            </a:r>
          </a:p>
        </p:txBody>
      </p:sp>
      <p:sp>
        <p:nvSpPr>
          <p:cNvPr id="15" name="Rectangle 14"/>
          <p:cNvSpPr/>
          <p:nvPr/>
        </p:nvSpPr>
        <p:spPr>
          <a:xfrm>
            <a:off x="6245352" y="1645920"/>
            <a:ext cx="5486400" cy="502920"/>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1691640"/>
            <a:ext cx="5120640" cy="411480"/>
          </a:xfrm>
          <a:prstGeom prst="rect">
            <a:avLst/>
          </a:prstGeom>
          <a:noFill/>
        </p:spPr>
        <p:txBody>
          <a:bodyPr wrap="square" lIns="45720" rIns="45720" tIns="18288" bIns="18288" anchor="ctr">
            <a:spAutoFit/>
          </a:bodyPr>
          <a:lstStyle/>
          <a:p>
            <a:pPr algn="l"/>
            <a:r>
              <a:rPr sz="1400" b="1" i="0">
                <a:solidFill>
                  <a:srgbClr val="FFFFFF"/>
                </a:solidFill>
                <a:latin typeface="Open Sans"/>
              </a:rPr>
              <a:t>Breadth of Use  |  How widely deployed across the customer</a:t>
            </a:r>
          </a:p>
        </p:txBody>
      </p:sp>
      <p:sp>
        <p:nvSpPr>
          <p:cNvPr id="17" name="Rectangle 16"/>
          <p:cNvSpPr/>
          <p:nvPr/>
        </p:nvSpPr>
        <p:spPr>
          <a:xfrm>
            <a:off x="6245352" y="2148840"/>
            <a:ext cx="5486400" cy="342900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2286000"/>
            <a:ext cx="5029200" cy="274320"/>
          </a:xfrm>
          <a:prstGeom prst="rect">
            <a:avLst/>
          </a:prstGeom>
          <a:noFill/>
        </p:spPr>
        <p:txBody>
          <a:bodyPr wrap="square" lIns="45720" rIns="45720" tIns="18288" bIns="18288">
            <a:spAutoFit/>
          </a:bodyPr>
          <a:lstStyle/>
          <a:p>
            <a:pPr algn="l"/>
            <a:r>
              <a:rPr sz="1100" b="1" i="0">
                <a:solidFill>
                  <a:srgbClr val="0076A8"/>
                </a:solidFill>
                <a:latin typeface="Open Sans"/>
              </a:rPr>
              <a:t>Footprint and scale</a:t>
            </a:r>
          </a:p>
        </p:txBody>
      </p:sp>
      <p:sp>
        <p:nvSpPr>
          <p:cNvPr id="19" name="TextBox 18"/>
          <p:cNvSpPr txBox="1"/>
          <p:nvPr/>
        </p:nvSpPr>
        <p:spPr>
          <a:xfrm>
            <a:off x="6473952" y="2578608"/>
            <a:ext cx="5029200" cy="502920"/>
          </a:xfrm>
          <a:prstGeom prst="rect">
            <a:avLst/>
          </a:prstGeom>
          <a:noFill/>
        </p:spPr>
        <p:txBody>
          <a:bodyPr wrap="square" lIns="45720" rIns="45720" tIns="18288" bIns="18288">
            <a:spAutoFit/>
          </a:bodyPr>
          <a:lstStyle/>
          <a:p>
            <a:pPr algn="l"/>
            <a:r>
              <a:rPr sz="1000" b="0" i="0">
                <a:solidFill>
                  <a:srgbClr val="313131"/>
                </a:solidFill>
                <a:latin typeface="Open Sans"/>
              </a:rPr>
              <a:t>Active port and node ratio versus provisioned, VRF proliferation, geographic distribution of telemetry origin</a:t>
            </a:r>
          </a:p>
        </p:txBody>
      </p:sp>
      <p:sp>
        <p:nvSpPr>
          <p:cNvPr id="20" name="TextBox 19"/>
          <p:cNvSpPr txBox="1"/>
          <p:nvPr/>
        </p:nvSpPr>
        <p:spPr>
          <a:xfrm>
            <a:off x="6473952" y="3127248"/>
            <a:ext cx="5029200" cy="274320"/>
          </a:xfrm>
          <a:prstGeom prst="rect">
            <a:avLst/>
          </a:prstGeom>
          <a:noFill/>
        </p:spPr>
        <p:txBody>
          <a:bodyPr wrap="square" lIns="45720" rIns="45720" tIns="18288" bIns="18288">
            <a:spAutoFit/>
          </a:bodyPr>
          <a:lstStyle/>
          <a:p>
            <a:pPr algn="l"/>
            <a:r>
              <a:rPr sz="1100" b="1" i="0">
                <a:solidFill>
                  <a:srgbClr val="0076A8"/>
                </a:solidFill>
                <a:latin typeface="Open Sans"/>
              </a:rPr>
              <a:t>Feature and component diversity</a:t>
            </a:r>
          </a:p>
        </p:txBody>
      </p:sp>
      <p:sp>
        <p:nvSpPr>
          <p:cNvPr id="21" name="TextBox 20"/>
          <p:cNvSpPr txBox="1"/>
          <p:nvPr/>
        </p:nvSpPr>
        <p:spPr>
          <a:xfrm>
            <a:off x="6473952" y="3419856"/>
            <a:ext cx="5029200" cy="502920"/>
          </a:xfrm>
          <a:prstGeom prst="rect">
            <a:avLst/>
          </a:prstGeom>
          <a:noFill/>
        </p:spPr>
        <p:txBody>
          <a:bodyPr wrap="square" lIns="45720" rIns="45720" tIns="18288" bIns="18288">
            <a:spAutoFit/>
          </a:bodyPr>
          <a:lstStyle/>
          <a:p>
            <a:pPr algn="l"/>
            <a:r>
              <a:rPr sz="1000" b="0" i="0">
                <a:solidFill>
                  <a:srgbClr val="313131"/>
                </a:solidFill>
                <a:latin typeface="Open Sans"/>
              </a:rPr>
              <a:t>Cross-domain telemetry across UCS, Nexus, Silicon One, security; Nexus Dashboard / Intersight integration</a:t>
            </a:r>
          </a:p>
        </p:txBody>
      </p:sp>
      <p:sp>
        <p:nvSpPr>
          <p:cNvPr id="22" name="TextBox 21"/>
          <p:cNvSpPr txBox="1"/>
          <p:nvPr/>
        </p:nvSpPr>
        <p:spPr>
          <a:xfrm>
            <a:off x="6473952" y="3968496"/>
            <a:ext cx="5029200" cy="274320"/>
          </a:xfrm>
          <a:prstGeom prst="rect">
            <a:avLst/>
          </a:prstGeom>
          <a:noFill/>
        </p:spPr>
        <p:txBody>
          <a:bodyPr wrap="square" lIns="45720" rIns="45720" tIns="18288" bIns="18288">
            <a:spAutoFit/>
          </a:bodyPr>
          <a:lstStyle/>
          <a:p>
            <a:pPr algn="l"/>
            <a:r>
              <a:rPr sz="1100" b="1" i="0">
                <a:solidFill>
                  <a:srgbClr val="0076A8"/>
                </a:solidFill>
                <a:latin typeface="Open Sans"/>
              </a:rPr>
              <a:t>Workload diversity</a:t>
            </a:r>
          </a:p>
        </p:txBody>
      </p:sp>
      <p:sp>
        <p:nvSpPr>
          <p:cNvPr id="23" name="TextBox 22"/>
          <p:cNvSpPr txBox="1"/>
          <p:nvPr/>
        </p:nvSpPr>
        <p:spPr>
          <a:xfrm>
            <a:off x="6473952" y="4261104"/>
            <a:ext cx="5029200" cy="502920"/>
          </a:xfrm>
          <a:prstGeom prst="rect">
            <a:avLst/>
          </a:prstGeom>
          <a:noFill/>
        </p:spPr>
        <p:txBody>
          <a:bodyPr wrap="square" lIns="45720" rIns="45720" tIns="18288" bIns="18288">
            <a:spAutoFit/>
          </a:bodyPr>
          <a:lstStyle/>
          <a:p>
            <a:pPr algn="l"/>
            <a:r>
              <a:rPr sz="1000" b="0" i="0">
                <a:solidFill>
                  <a:srgbClr val="313131"/>
                </a:solidFill>
                <a:latin typeface="Open Sans"/>
              </a:rPr>
              <a:t>East-west versus north-south traffic ratios, storage protocol diversity (NVMe-oF, NFS, SMB)</a:t>
            </a:r>
          </a:p>
        </p:txBody>
      </p:sp>
      <p:sp>
        <p:nvSpPr>
          <p:cNvPr id="24" name="TextBox 23"/>
          <p:cNvSpPr txBox="1"/>
          <p:nvPr/>
        </p:nvSpPr>
        <p:spPr>
          <a:xfrm>
            <a:off x="6473952" y="4809744"/>
            <a:ext cx="5029200" cy="274320"/>
          </a:xfrm>
          <a:prstGeom prst="rect">
            <a:avLst/>
          </a:prstGeom>
          <a:noFill/>
        </p:spPr>
        <p:txBody>
          <a:bodyPr wrap="square" lIns="45720" rIns="45720" tIns="18288" bIns="18288">
            <a:spAutoFit/>
          </a:bodyPr>
          <a:lstStyle/>
          <a:p>
            <a:pPr algn="l"/>
            <a:r>
              <a:rPr sz="1100" b="1" i="0">
                <a:solidFill>
                  <a:srgbClr val="0076A8"/>
                </a:solidFill>
                <a:latin typeface="Open Sans"/>
              </a:rPr>
              <a:t>User and admin breadth</a:t>
            </a:r>
          </a:p>
        </p:txBody>
      </p:sp>
      <p:sp>
        <p:nvSpPr>
          <p:cNvPr id="25" name="TextBox 24"/>
          <p:cNvSpPr txBox="1"/>
          <p:nvPr/>
        </p:nvSpPr>
        <p:spPr>
          <a:xfrm>
            <a:off x="6473952" y="5102352"/>
            <a:ext cx="5029200" cy="502920"/>
          </a:xfrm>
          <a:prstGeom prst="rect">
            <a:avLst/>
          </a:prstGeom>
          <a:noFill/>
        </p:spPr>
        <p:txBody>
          <a:bodyPr wrap="square" lIns="45720" rIns="45720" tIns="18288" bIns="18288">
            <a:spAutoFit/>
          </a:bodyPr>
          <a:lstStyle/>
          <a:p>
            <a:pPr algn="l"/>
            <a:r>
              <a:rPr sz="1000" b="0" i="0">
                <a:solidFill>
                  <a:srgbClr val="313131"/>
                </a:solidFill>
                <a:latin typeface="Open Sans"/>
              </a:rPr>
              <a:t>Distinct admin logins / API keys, configuration change frequency from Terraform / Ansible</a:t>
            </a:r>
          </a:p>
        </p:txBody>
      </p:sp>
      <p:sp>
        <p:nvSpPr>
          <p:cNvPr id="26" name="TextBox 25"/>
          <p:cNvSpPr txBox="1"/>
          <p:nvPr/>
        </p:nvSpPr>
        <p:spPr>
          <a:xfrm>
            <a:off x="466344" y="5760720"/>
            <a:ext cx="11256264" cy="274320"/>
          </a:xfrm>
          <a:prstGeom prst="rect">
            <a:avLst/>
          </a:prstGeom>
          <a:noFill/>
        </p:spPr>
        <p:txBody>
          <a:bodyPr wrap="square" lIns="45720" rIns="45720" tIns="18288" bIns="18288">
            <a:spAutoFit/>
          </a:bodyPr>
          <a:lstStyle/>
          <a:p>
            <a:pPr algn="l"/>
            <a:r>
              <a:rPr sz="800" b="0" i="1">
                <a:solidFill>
                  <a:srgbClr val="53565A"/>
                </a:solidFill>
                <a:latin typeface="Open Sans"/>
              </a:rPr>
              <a:t>Signals selected for AI Infrastructure on Cisco Nexus, Silicon One, and UCS. Translation to commercial behavior is the role of the Value Realization Ontology.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Open Sans"/>
              </a:rPr>
              <a:t>03  |  Proof and path forward</a:t>
            </a:r>
          </a:p>
        </p:txBody>
      </p:sp>
      <p:sp>
        <p:nvSpPr>
          <p:cNvPr id="3" name="Text Placeholder 2"/>
          <p:cNvSpPr>
            <a:spLocks noGrp="1"/>
          </p:cNvSpPr>
          <p:nvPr>
            <p:ph type="body"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Peers have already moved from telemetry to commercial intelligence</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Three external benchmarks and one inward question. The pattern of utilization-driven commercial motions is now table stakes in AI Infrastructure.</a:t>
            </a:r>
          </a:p>
        </p:txBody>
      </p:sp>
      <p:sp>
        <p:nvSpPr>
          <p:cNvPr id="4" name="Rectangle 3"/>
          <p:cNvSpPr/>
          <p:nvPr/>
        </p:nvSpPr>
        <p:spPr>
          <a:xfrm>
            <a:off x="466344" y="1645920"/>
            <a:ext cx="2688336" cy="868680"/>
          </a:xfrm>
          <a:prstGeom prst="rect">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1737360"/>
            <a:ext cx="2414016" cy="320040"/>
          </a:xfrm>
          <a:prstGeom prst="rect">
            <a:avLst/>
          </a:prstGeom>
          <a:noFill/>
        </p:spPr>
        <p:txBody>
          <a:bodyPr wrap="square" lIns="45720" rIns="45720" tIns="18288" bIns="18288">
            <a:spAutoFit/>
          </a:bodyPr>
          <a:lstStyle/>
          <a:p>
            <a:pPr algn="l"/>
            <a:r>
              <a:rPr sz="1300" b="1" i="0">
                <a:solidFill>
                  <a:srgbClr val="FFFFFF"/>
                </a:solidFill>
                <a:latin typeface="Open Sans"/>
              </a:rPr>
              <a:t>NVIDIA</a:t>
            </a:r>
          </a:p>
        </p:txBody>
      </p:sp>
      <p:sp>
        <p:nvSpPr>
          <p:cNvPr id="6" name="TextBox 5"/>
          <p:cNvSpPr txBox="1"/>
          <p:nvPr/>
        </p:nvSpPr>
        <p:spPr>
          <a:xfrm>
            <a:off x="603504" y="2057400"/>
            <a:ext cx="2414016" cy="457200"/>
          </a:xfrm>
          <a:prstGeom prst="rect">
            <a:avLst/>
          </a:prstGeom>
          <a:noFill/>
        </p:spPr>
        <p:txBody>
          <a:bodyPr wrap="square" lIns="45720" rIns="45720" tIns="18288" bIns="18288">
            <a:spAutoFit/>
          </a:bodyPr>
          <a:lstStyle/>
          <a:p>
            <a:pPr algn="l"/>
            <a:r>
              <a:rPr sz="1000" b="0" i="1">
                <a:solidFill>
                  <a:srgbClr val="FFFFFF"/>
                </a:solidFill>
                <a:latin typeface="Open Sans"/>
              </a:rPr>
              <a:t>Utilization as</a:t>
            </a:r>
            <a:br/>
            <a:r>
              <a:rPr sz="1000" b="0" i="1">
                <a:solidFill>
                  <a:srgbClr val="FFFFFF"/>
                </a:solidFill>
                <a:latin typeface="Open Sans"/>
              </a:rPr>
              <a:t>commercial signal</a:t>
            </a:r>
          </a:p>
        </p:txBody>
      </p:sp>
      <p:sp>
        <p:nvSpPr>
          <p:cNvPr id="7" name="Rectangle 6"/>
          <p:cNvSpPr/>
          <p:nvPr/>
        </p:nvSpPr>
        <p:spPr>
          <a:xfrm>
            <a:off x="466344" y="2514600"/>
            <a:ext cx="2688336" cy="3063239"/>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2651760"/>
            <a:ext cx="2414016" cy="1508760"/>
          </a:xfrm>
          <a:prstGeom prst="rect">
            <a:avLst/>
          </a:prstGeom>
          <a:noFill/>
        </p:spPr>
        <p:txBody>
          <a:bodyPr wrap="square" lIns="45720" rIns="45720" tIns="18288" bIns="18288">
            <a:spAutoFit/>
          </a:bodyPr>
          <a:lstStyle/>
          <a:p>
            <a:pPr algn="l"/>
            <a:r>
              <a:rPr sz="1000" b="0" i="0">
                <a:solidFill>
                  <a:srgbClr val="313131"/>
                </a:solidFill>
                <a:latin typeface="Open Sans"/>
              </a:rPr>
              <a:t>Base Command and Mission Control instrument GPU utilization deeply. Utilization is the primary input to enterprise AI subscription renewals and capacity expansion.</a:t>
            </a:r>
          </a:p>
        </p:txBody>
      </p:sp>
      <p:cxnSp>
        <p:nvCxnSpPr>
          <p:cNvPr id="9" name="Connector 8"/>
          <p:cNvCxnSpPr/>
          <p:nvPr/>
        </p:nvCxnSpPr>
        <p:spPr>
          <a:xfrm>
            <a:off x="649224" y="4206240"/>
            <a:ext cx="2322576"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4297680"/>
            <a:ext cx="2414016" cy="228600"/>
          </a:xfrm>
          <a:prstGeom prst="rect">
            <a:avLst/>
          </a:prstGeom>
          <a:noFill/>
        </p:spPr>
        <p:txBody>
          <a:bodyPr wrap="square" lIns="45720" rIns="45720" tIns="18288" bIns="18288">
            <a:spAutoFit/>
          </a:bodyPr>
          <a:lstStyle/>
          <a:p>
            <a:pPr algn="l"/>
            <a:r>
              <a:rPr sz="800" b="1" i="0">
                <a:solidFill>
                  <a:srgbClr val="012169"/>
                </a:solidFill>
                <a:latin typeface="Open Sans"/>
              </a:rPr>
              <a:t>LESSON</a:t>
            </a:r>
          </a:p>
        </p:txBody>
      </p:sp>
      <p:sp>
        <p:nvSpPr>
          <p:cNvPr id="11" name="TextBox 10"/>
          <p:cNvSpPr txBox="1"/>
          <p:nvPr/>
        </p:nvSpPr>
        <p:spPr>
          <a:xfrm>
            <a:off x="603504" y="4526280"/>
            <a:ext cx="2414016" cy="960119"/>
          </a:xfrm>
          <a:prstGeom prst="rect">
            <a:avLst/>
          </a:prstGeom>
          <a:noFill/>
        </p:spPr>
        <p:txBody>
          <a:bodyPr wrap="square" lIns="45720" rIns="45720" tIns="18288" bIns="18288">
            <a:spAutoFit/>
          </a:bodyPr>
          <a:lstStyle/>
          <a:p>
            <a:pPr algn="l"/>
            <a:r>
              <a:rPr sz="1000" b="0" i="1">
                <a:solidFill>
                  <a:srgbClr val="313131"/>
                </a:solidFill>
                <a:latin typeface="Open Sans"/>
              </a:rPr>
              <a:t>Utilization telemetry is table stakes in AI Infrastructure. Customers comparing Cisco to NVIDIA partners will ask the question.</a:t>
            </a:r>
          </a:p>
        </p:txBody>
      </p:sp>
      <p:sp>
        <p:nvSpPr>
          <p:cNvPr id="12" name="Rectangle 11"/>
          <p:cNvSpPr/>
          <p:nvPr/>
        </p:nvSpPr>
        <p:spPr>
          <a:xfrm>
            <a:off x="3346704" y="1645920"/>
            <a:ext cx="2688336" cy="868680"/>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3864" y="1737360"/>
            <a:ext cx="2414016" cy="320040"/>
          </a:xfrm>
          <a:prstGeom prst="rect">
            <a:avLst/>
          </a:prstGeom>
          <a:noFill/>
        </p:spPr>
        <p:txBody>
          <a:bodyPr wrap="square" lIns="45720" rIns="45720" tIns="18288" bIns="18288">
            <a:spAutoFit/>
          </a:bodyPr>
          <a:lstStyle/>
          <a:p>
            <a:pPr algn="l"/>
            <a:r>
              <a:rPr sz="1300" b="1" i="0">
                <a:solidFill>
                  <a:srgbClr val="FFFFFF"/>
                </a:solidFill>
                <a:latin typeface="Open Sans"/>
              </a:rPr>
              <a:t>HPE GreenLake</a:t>
            </a:r>
          </a:p>
        </p:txBody>
      </p:sp>
      <p:sp>
        <p:nvSpPr>
          <p:cNvPr id="14" name="TextBox 13"/>
          <p:cNvSpPr txBox="1"/>
          <p:nvPr/>
        </p:nvSpPr>
        <p:spPr>
          <a:xfrm>
            <a:off x="3483864" y="2057400"/>
            <a:ext cx="2414016" cy="457200"/>
          </a:xfrm>
          <a:prstGeom prst="rect">
            <a:avLst/>
          </a:prstGeom>
          <a:noFill/>
        </p:spPr>
        <p:txBody>
          <a:bodyPr wrap="square" lIns="45720" rIns="45720" tIns="18288" bIns="18288">
            <a:spAutoFit/>
          </a:bodyPr>
          <a:lstStyle/>
          <a:p>
            <a:pPr algn="l"/>
            <a:r>
              <a:rPr sz="1000" b="0" i="1">
                <a:solidFill>
                  <a:srgbClr val="FFFFFF"/>
                </a:solidFill>
                <a:latin typeface="Open Sans"/>
              </a:rPr>
              <a:t>Consumption as</a:t>
            </a:r>
            <a:br/>
            <a:r>
              <a:rPr sz="1000" b="0" i="1">
                <a:solidFill>
                  <a:srgbClr val="FFFFFF"/>
                </a:solidFill>
                <a:latin typeface="Open Sans"/>
              </a:rPr>
              <a:t>architectural pattern</a:t>
            </a:r>
          </a:p>
        </p:txBody>
      </p:sp>
      <p:sp>
        <p:nvSpPr>
          <p:cNvPr id="15" name="Rectangle 14"/>
          <p:cNvSpPr/>
          <p:nvPr/>
        </p:nvSpPr>
        <p:spPr>
          <a:xfrm>
            <a:off x="3346704" y="2514600"/>
            <a:ext cx="2688336" cy="3063239"/>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3864" y="2651760"/>
            <a:ext cx="2414016" cy="1508760"/>
          </a:xfrm>
          <a:prstGeom prst="rect">
            <a:avLst/>
          </a:prstGeom>
          <a:noFill/>
        </p:spPr>
        <p:txBody>
          <a:bodyPr wrap="square" lIns="45720" rIns="45720" tIns="18288" bIns="18288">
            <a:spAutoFit/>
          </a:bodyPr>
          <a:lstStyle/>
          <a:p>
            <a:pPr algn="l"/>
            <a:r>
              <a:rPr sz="1000" b="0" i="0">
                <a:solidFill>
                  <a:srgbClr val="313131"/>
                </a:solidFill>
                <a:latin typeface="Open Sans"/>
              </a:rPr>
              <a:t>GreenLake's billing model forces telemetry by design. The result is one telemetry pipe feeding many consumers (CX, sales, product) with signal latency in days, not quarters.</a:t>
            </a:r>
          </a:p>
        </p:txBody>
      </p:sp>
      <p:cxnSp>
        <p:nvCxnSpPr>
          <p:cNvPr id="17" name="Connector 16"/>
          <p:cNvCxnSpPr/>
          <p:nvPr/>
        </p:nvCxnSpPr>
        <p:spPr>
          <a:xfrm>
            <a:off x="3529584" y="4206240"/>
            <a:ext cx="2322575"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483864" y="4297680"/>
            <a:ext cx="2414016" cy="228600"/>
          </a:xfrm>
          <a:prstGeom prst="rect">
            <a:avLst/>
          </a:prstGeom>
          <a:noFill/>
        </p:spPr>
        <p:txBody>
          <a:bodyPr wrap="square" lIns="45720" rIns="45720" tIns="18288" bIns="18288">
            <a:spAutoFit/>
          </a:bodyPr>
          <a:lstStyle/>
          <a:p>
            <a:pPr algn="l"/>
            <a:r>
              <a:rPr sz="800" b="1" i="0">
                <a:solidFill>
                  <a:srgbClr val="0076A8"/>
                </a:solidFill>
                <a:latin typeface="Open Sans"/>
              </a:rPr>
              <a:t>LESSON</a:t>
            </a:r>
          </a:p>
        </p:txBody>
      </p:sp>
      <p:sp>
        <p:nvSpPr>
          <p:cNvPr id="19" name="TextBox 18"/>
          <p:cNvSpPr txBox="1"/>
          <p:nvPr/>
        </p:nvSpPr>
        <p:spPr>
          <a:xfrm>
            <a:off x="3483864" y="4526280"/>
            <a:ext cx="2414016" cy="960119"/>
          </a:xfrm>
          <a:prstGeom prst="rect">
            <a:avLst/>
          </a:prstGeom>
          <a:noFill/>
        </p:spPr>
        <p:txBody>
          <a:bodyPr wrap="square" lIns="45720" rIns="45720" tIns="18288" bIns="18288">
            <a:spAutoFit/>
          </a:bodyPr>
          <a:lstStyle/>
          <a:p>
            <a:pPr algn="l"/>
            <a:r>
              <a:rPr sz="1000" b="0" i="1">
                <a:solidFill>
                  <a:srgbClr val="313131"/>
                </a:solidFill>
                <a:latin typeface="Open Sans"/>
              </a:rPr>
              <a:t>Cisco's BU-local Snowflake to CX flat files is the architectural opposite. That is why install base intelligence does not exist today.</a:t>
            </a:r>
          </a:p>
        </p:txBody>
      </p:sp>
      <p:sp>
        <p:nvSpPr>
          <p:cNvPr id="20" name="Rectangle 19"/>
          <p:cNvSpPr/>
          <p:nvPr/>
        </p:nvSpPr>
        <p:spPr>
          <a:xfrm>
            <a:off x="6227064" y="1645920"/>
            <a:ext cx="2688336" cy="86868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737360"/>
            <a:ext cx="2414016" cy="320040"/>
          </a:xfrm>
          <a:prstGeom prst="rect">
            <a:avLst/>
          </a:prstGeom>
          <a:noFill/>
        </p:spPr>
        <p:txBody>
          <a:bodyPr wrap="square" lIns="45720" rIns="45720" tIns="18288" bIns="18288">
            <a:spAutoFit/>
          </a:bodyPr>
          <a:lstStyle/>
          <a:p>
            <a:pPr algn="l"/>
            <a:r>
              <a:rPr sz="1300" b="1" i="0">
                <a:solidFill>
                  <a:srgbClr val="FFFFFF"/>
                </a:solidFill>
                <a:latin typeface="Open Sans"/>
              </a:rPr>
              <a:t>Arista CloudVision</a:t>
            </a:r>
          </a:p>
        </p:txBody>
      </p:sp>
      <p:sp>
        <p:nvSpPr>
          <p:cNvPr id="22" name="TextBox 21"/>
          <p:cNvSpPr txBox="1"/>
          <p:nvPr/>
        </p:nvSpPr>
        <p:spPr>
          <a:xfrm>
            <a:off x="6364224" y="2057400"/>
            <a:ext cx="2414016" cy="457200"/>
          </a:xfrm>
          <a:prstGeom prst="rect">
            <a:avLst/>
          </a:prstGeom>
          <a:noFill/>
        </p:spPr>
        <p:txBody>
          <a:bodyPr wrap="square" lIns="45720" rIns="45720" tIns="18288" bIns="18288">
            <a:spAutoFit/>
          </a:bodyPr>
          <a:lstStyle/>
          <a:p>
            <a:pPr algn="l"/>
            <a:r>
              <a:rPr sz="1000" b="0" i="1">
                <a:solidFill>
                  <a:srgbClr val="FFFFFF"/>
                </a:solidFill>
                <a:latin typeface="Open Sans"/>
              </a:rPr>
              <a:t>Telemetry tied to</a:t>
            </a:r>
            <a:br/>
            <a:r>
              <a:rPr sz="1000" b="0" i="1">
                <a:solidFill>
                  <a:srgbClr val="FFFFFF"/>
                </a:solidFill>
                <a:latin typeface="Open Sans"/>
              </a:rPr>
              <a:t>renewal economics</a:t>
            </a:r>
          </a:p>
        </p:txBody>
      </p:sp>
      <p:sp>
        <p:nvSpPr>
          <p:cNvPr id="23" name="Rectangle 22"/>
          <p:cNvSpPr/>
          <p:nvPr/>
        </p:nvSpPr>
        <p:spPr>
          <a:xfrm>
            <a:off x="6227064" y="2514600"/>
            <a:ext cx="2688336" cy="3063239"/>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2651760"/>
            <a:ext cx="2414016" cy="1508760"/>
          </a:xfrm>
          <a:prstGeom prst="rect">
            <a:avLst/>
          </a:prstGeom>
          <a:noFill/>
        </p:spPr>
        <p:txBody>
          <a:bodyPr wrap="square" lIns="45720" rIns="45720" tIns="18288" bIns="18288">
            <a:spAutoFit/>
          </a:bodyPr>
          <a:lstStyle/>
          <a:p>
            <a:pPr algn="l"/>
            <a:r>
              <a:rPr sz="1000" b="0" i="0">
                <a:solidFill>
                  <a:srgbClr val="313131"/>
                </a:solidFill>
                <a:latin typeface="Open Sans"/>
              </a:rPr>
              <a:t>CloudVision telemetry is bundled with support. Arista has cited correlation between CloudVision adoption and renewal rates in investor materials.</a:t>
            </a:r>
          </a:p>
        </p:txBody>
      </p:sp>
      <p:cxnSp>
        <p:nvCxnSpPr>
          <p:cNvPr id="25" name="Connector 24"/>
          <p:cNvCxnSpPr/>
          <p:nvPr/>
        </p:nvCxnSpPr>
        <p:spPr>
          <a:xfrm>
            <a:off x="6409944" y="4206240"/>
            <a:ext cx="2322576"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64224" y="4297680"/>
            <a:ext cx="2414016" cy="228600"/>
          </a:xfrm>
          <a:prstGeom prst="rect">
            <a:avLst/>
          </a:prstGeom>
          <a:noFill/>
        </p:spPr>
        <p:txBody>
          <a:bodyPr wrap="square" lIns="45720" rIns="45720" tIns="18288" bIns="18288">
            <a:spAutoFit/>
          </a:bodyPr>
          <a:lstStyle/>
          <a:p>
            <a:pPr algn="l"/>
            <a:r>
              <a:rPr sz="800" b="1" i="0">
                <a:solidFill>
                  <a:srgbClr val="00A3E0"/>
                </a:solidFill>
                <a:latin typeface="Open Sans"/>
              </a:rPr>
              <a:t>LESSON</a:t>
            </a:r>
          </a:p>
        </p:txBody>
      </p:sp>
      <p:sp>
        <p:nvSpPr>
          <p:cNvPr id="27" name="TextBox 26"/>
          <p:cNvSpPr txBox="1"/>
          <p:nvPr/>
        </p:nvSpPr>
        <p:spPr>
          <a:xfrm>
            <a:off x="6364224" y="4526280"/>
            <a:ext cx="2414016" cy="960119"/>
          </a:xfrm>
          <a:prstGeom prst="rect">
            <a:avLst/>
          </a:prstGeom>
          <a:noFill/>
        </p:spPr>
        <p:txBody>
          <a:bodyPr wrap="square" lIns="45720" rIns="45720" tIns="18288" bIns="18288">
            <a:spAutoFit/>
          </a:bodyPr>
          <a:lstStyle/>
          <a:p>
            <a:pPr algn="l"/>
            <a:r>
              <a:rPr sz="1000" b="0" i="1">
                <a:solidFill>
                  <a:srgbClr val="313131"/>
                </a:solidFill>
                <a:latin typeface="Open Sans"/>
              </a:rPr>
              <a:t>Same investor case shape. Telemetry coverage correlates with renewal rate, with before-and-after numbers to prove it.</a:t>
            </a:r>
          </a:p>
        </p:txBody>
      </p:sp>
      <p:sp>
        <p:nvSpPr>
          <p:cNvPr id="28" name="Rectangle 27"/>
          <p:cNvSpPr/>
          <p:nvPr/>
        </p:nvSpPr>
        <p:spPr>
          <a:xfrm>
            <a:off x="9107424" y="1645920"/>
            <a:ext cx="2688336" cy="86868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44584" y="1737360"/>
            <a:ext cx="2414016" cy="320040"/>
          </a:xfrm>
          <a:prstGeom prst="rect">
            <a:avLst/>
          </a:prstGeom>
          <a:noFill/>
        </p:spPr>
        <p:txBody>
          <a:bodyPr wrap="square" lIns="45720" rIns="45720" tIns="18288" bIns="18288">
            <a:spAutoFit/>
          </a:bodyPr>
          <a:lstStyle/>
          <a:p>
            <a:pPr algn="l"/>
            <a:r>
              <a:rPr sz="1300" b="1" i="0">
                <a:solidFill>
                  <a:srgbClr val="FFFFFF"/>
                </a:solidFill>
                <a:latin typeface="Open Sans"/>
              </a:rPr>
              <a:t>Splunk</a:t>
            </a:r>
          </a:p>
        </p:txBody>
      </p:sp>
      <p:sp>
        <p:nvSpPr>
          <p:cNvPr id="30" name="TextBox 29"/>
          <p:cNvSpPr txBox="1"/>
          <p:nvPr/>
        </p:nvSpPr>
        <p:spPr>
          <a:xfrm>
            <a:off x="9244584" y="2057400"/>
            <a:ext cx="2414016" cy="457200"/>
          </a:xfrm>
          <a:prstGeom prst="rect">
            <a:avLst/>
          </a:prstGeom>
          <a:noFill/>
        </p:spPr>
        <p:txBody>
          <a:bodyPr wrap="square" lIns="45720" rIns="45720" tIns="18288" bIns="18288">
            <a:spAutoFit/>
          </a:bodyPr>
          <a:lstStyle/>
          <a:p>
            <a:pPr algn="l"/>
            <a:r>
              <a:rPr sz="1000" b="0" i="1">
                <a:solidFill>
                  <a:srgbClr val="FFFFFF"/>
                </a:solidFill>
                <a:latin typeface="Open Sans"/>
              </a:rPr>
              <a:t>What Cisco</a:t>
            </a:r>
            <a:br/>
            <a:r>
              <a:rPr sz="1000" b="0" i="1">
                <a:solidFill>
                  <a:srgbClr val="FFFFFF"/>
                </a:solidFill>
                <a:latin typeface="Open Sans"/>
              </a:rPr>
              <a:t>already owns (the inward question)</a:t>
            </a:r>
          </a:p>
        </p:txBody>
      </p:sp>
      <p:sp>
        <p:nvSpPr>
          <p:cNvPr id="31" name="Rectangle 30"/>
          <p:cNvSpPr/>
          <p:nvPr/>
        </p:nvSpPr>
        <p:spPr>
          <a:xfrm>
            <a:off x="9107424" y="2514600"/>
            <a:ext cx="2688336" cy="3063239"/>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44584" y="2651760"/>
            <a:ext cx="2414016" cy="1508760"/>
          </a:xfrm>
          <a:prstGeom prst="rect">
            <a:avLst/>
          </a:prstGeom>
          <a:noFill/>
        </p:spPr>
        <p:txBody>
          <a:bodyPr wrap="square" lIns="45720" rIns="45720" tIns="18288" bIns="18288">
            <a:spAutoFit/>
          </a:bodyPr>
          <a:lstStyle/>
          <a:p>
            <a:pPr algn="l"/>
            <a:r>
              <a:rPr sz="1000" b="0" i="0">
                <a:solidFill>
                  <a:srgbClr val="313131"/>
                </a:solidFill>
                <a:latin typeface="Open Sans"/>
              </a:rPr>
              <a:t>Cisco closed the Splunk acquisition in March 2024. Splunk is the leading observability platform, with a customer data platform built for multi-source telemetry unification.</a:t>
            </a:r>
          </a:p>
        </p:txBody>
      </p:sp>
      <p:cxnSp>
        <p:nvCxnSpPr>
          <p:cNvPr id="33" name="Connector 32"/>
          <p:cNvCxnSpPr/>
          <p:nvPr/>
        </p:nvCxnSpPr>
        <p:spPr>
          <a:xfrm>
            <a:off x="9290304" y="4206240"/>
            <a:ext cx="2322576"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244584" y="4297680"/>
            <a:ext cx="2414016" cy="228600"/>
          </a:xfrm>
          <a:prstGeom prst="rect">
            <a:avLst/>
          </a:prstGeom>
          <a:noFill/>
        </p:spPr>
        <p:txBody>
          <a:bodyPr wrap="square" lIns="45720" rIns="45720" tIns="18288" bIns="18288">
            <a:spAutoFit/>
          </a:bodyPr>
          <a:lstStyle/>
          <a:p>
            <a:pPr algn="l"/>
            <a:r>
              <a:rPr sz="800" b="1" i="0">
                <a:solidFill>
                  <a:srgbClr val="86BC25"/>
                </a:solidFill>
                <a:latin typeface="Open Sans"/>
              </a:rPr>
              <a:t>LESSON</a:t>
            </a:r>
          </a:p>
        </p:txBody>
      </p:sp>
      <p:sp>
        <p:nvSpPr>
          <p:cNvPr id="35" name="TextBox 34"/>
          <p:cNvSpPr txBox="1"/>
          <p:nvPr/>
        </p:nvSpPr>
        <p:spPr>
          <a:xfrm>
            <a:off x="9244584" y="4526280"/>
            <a:ext cx="2414016" cy="960119"/>
          </a:xfrm>
          <a:prstGeom prst="rect">
            <a:avLst/>
          </a:prstGeom>
          <a:noFill/>
        </p:spPr>
        <p:txBody>
          <a:bodyPr wrap="square" lIns="45720" rIns="45720" tIns="18288" bIns="18288">
            <a:spAutoFit/>
          </a:bodyPr>
          <a:lstStyle/>
          <a:p>
            <a:pPr algn="l"/>
            <a:r>
              <a:rPr sz="1000" b="0" i="1">
                <a:solidFill>
                  <a:srgbClr val="313131"/>
                </a:solidFill>
                <a:latin typeface="Open Sans"/>
              </a:rPr>
              <a:t>Cisco does not have a tooling problem. The tools exist inside the company. The standards and the translation layer do not.</a:t>
            </a:r>
          </a:p>
        </p:txBody>
      </p:sp>
      <p:sp>
        <p:nvSpPr>
          <p:cNvPr id="36" name="TextBox 35"/>
          <p:cNvSpPr txBox="1"/>
          <p:nvPr/>
        </p:nvSpPr>
        <p:spPr>
          <a:xfrm>
            <a:off x="466344" y="5852160"/>
            <a:ext cx="11256264" cy="274320"/>
          </a:xfrm>
          <a:prstGeom prst="rect">
            <a:avLst/>
          </a:prstGeom>
          <a:noFill/>
        </p:spPr>
        <p:txBody>
          <a:bodyPr wrap="square" lIns="45720" rIns="45720" tIns="18288" bIns="18288">
            <a:spAutoFit/>
          </a:bodyPr>
          <a:lstStyle/>
          <a:p>
            <a:pPr algn="l"/>
            <a:r>
              <a:rPr sz="800" b="0" i="1">
                <a:solidFill>
                  <a:srgbClr val="53565A"/>
                </a:solidFill>
                <a:latin typeface="Open Sans"/>
              </a:rPr>
              <a:t>Sources: NVIDIA Base Command product documentation; HPE GreenLake architecture papers; Arista investor disclosures; Cisco public statements on Splunk acquisition (March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Three ROI pillars, one operating model</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The investment unlocks revenue protection, pipeline validation, and R&amp;D efficiency simultaneously. We will size each with Cisco against the relevant baseline.</a:t>
            </a:r>
          </a:p>
        </p:txBody>
      </p:sp>
      <p:sp>
        <p:nvSpPr>
          <p:cNvPr id="4" name="Rectangle 3"/>
          <p:cNvSpPr/>
          <p:nvPr/>
        </p:nvSpPr>
        <p:spPr>
          <a:xfrm>
            <a:off x="466344" y="1645920"/>
            <a:ext cx="3630168" cy="274320"/>
          </a:xfrm>
          <a:prstGeom prst="rect">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1664208"/>
            <a:ext cx="3355848" cy="237744"/>
          </a:xfrm>
          <a:prstGeom prst="rect">
            <a:avLst/>
          </a:prstGeom>
          <a:noFill/>
        </p:spPr>
        <p:txBody>
          <a:bodyPr wrap="square" lIns="45720" rIns="45720" tIns="18288" bIns="18288" anchor="ctr">
            <a:spAutoFit/>
          </a:bodyPr>
          <a:lstStyle/>
          <a:p>
            <a:pPr algn="l"/>
            <a:r>
              <a:rPr sz="900" b="1" i="0">
                <a:solidFill>
                  <a:srgbClr val="FFFFFF"/>
                </a:solidFill>
                <a:latin typeface="Open Sans"/>
              </a:rPr>
              <a:t>PILLAR 1</a:t>
            </a:r>
          </a:p>
        </p:txBody>
      </p:sp>
      <p:sp>
        <p:nvSpPr>
          <p:cNvPr id="6" name="Rectangle 5"/>
          <p:cNvSpPr/>
          <p:nvPr/>
        </p:nvSpPr>
        <p:spPr>
          <a:xfrm>
            <a:off x="466344" y="1920240"/>
            <a:ext cx="3630168" cy="342900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2057400"/>
            <a:ext cx="3264408" cy="411480"/>
          </a:xfrm>
          <a:prstGeom prst="rect">
            <a:avLst/>
          </a:prstGeom>
          <a:noFill/>
        </p:spPr>
        <p:txBody>
          <a:bodyPr wrap="square" lIns="45720" rIns="45720" tIns="18288" bIns="18288">
            <a:spAutoFit/>
          </a:bodyPr>
          <a:lstStyle/>
          <a:p>
            <a:pPr algn="l"/>
            <a:r>
              <a:rPr sz="1600" b="1" i="0">
                <a:solidFill>
                  <a:srgbClr val="012169"/>
                </a:solidFill>
                <a:latin typeface="Open Sans"/>
              </a:rPr>
              <a:t>Revenue protection</a:t>
            </a:r>
          </a:p>
        </p:txBody>
      </p:sp>
      <p:sp>
        <p:nvSpPr>
          <p:cNvPr id="8" name="TextBox 7"/>
          <p:cNvSpPr txBox="1"/>
          <p:nvPr/>
        </p:nvSpPr>
        <p:spPr>
          <a:xfrm>
            <a:off x="649224" y="2487168"/>
            <a:ext cx="3264408" cy="274320"/>
          </a:xfrm>
          <a:prstGeom prst="rect">
            <a:avLst/>
          </a:prstGeom>
          <a:noFill/>
        </p:spPr>
        <p:txBody>
          <a:bodyPr wrap="square" lIns="45720" rIns="45720" tIns="18288" bIns="18288">
            <a:spAutoFit/>
          </a:bodyPr>
          <a:lstStyle/>
          <a:p>
            <a:pPr algn="l"/>
            <a:r>
              <a:rPr sz="1050" b="0" i="1">
                <a:solidFill>
                  <a:srgbClr val="53565A"/>
                </a:solidFill>
                <a:latin typeface="Open Sans"/>
              </a:rPr>
              <a:t>Defending the base</a:t>
            </a:r>
          </a:p>
        </p:txBody>
      </p:sp>
      <p:sp>
        <p:nvSpPr>
          <p:cNvPr id="9" name="TextBox 8"/>
          <p:cNvSpPr txBox="1"/>
          <p:nvPr/>
        </p:nvSpPr>
        <p:spPr>
          <a:xfrm>
            <a:off x="649224" y="2834640"/>
            <a:ext cx="3264408" cy="228600"/>
          </a:xfrm>
          <a:prstGeom prst="rect">
            <a:avLst/>
          </a:prstGeom>
          <a:noFill/>
        </p:spPr>
        <p:txBody>
          <a:bodyPr wrap="square" lIns="45720" rIns="45720" tIns="18288" bIns="18288">
            <a:spAutoFit/>
          </a:bodyPr>
          <a:lstStyle/>
          <a:p>
            <a:pPr algn="l"/>
            <a:r>
              <a:rPr sz="800" b="1" i="0">
                <a:solidFill>
                  <a:srgbClr val="012169"/>
                </a:solidFill>
                <a:latin typeface="Open Sans"/>
              </a:rPr>
              <a:t>METRIC</a:t>
            </a:r>
          </a:p>
        </p:txBody>
      </p:sp>
      <p:sp>
        <p:nvSpPr>
          <p:cNvPr id="10" name="TextBox 9"/>
          <p:cNvSpPr txBox="1"/>
          <p:nvPr/>
        </p:nvSpPr>
        <p:spPr>
          <a:xfrm>
            <a:off x="649224" y="3035808"/>
            <a:ext cx="3264408" cy="274320"/>
          </a:xfrm>
          <a:prstGeom prst="rect">
            <a:avLst/>
          </a:prstGeom>
          <a:noFill/>
        </p:spPr>
        <p:txBody>
          <a:bodyPr wrap="square" lIns="45720" rIns="45720" tIns="18288" bIns="18288">
            <a:spAutoFit/>
          </a:bodyPr>
          <a:lstStyle/>
          <a:p>
            <a:pPr algn="l"/>
            <a:r>
              <a:rPr sz="1050" b="1" i="0">
                <a:solidFill>
                  <a:srgbClr val="313131"/>
                </a:solidFill>
                <a:latin typeface="Open Sans"/>
              </a:rPr>
              <a:t>Renewal rate, NRR</a:t>
            </a:r>
          </a:p>
        </p:txBody>
      </p:sp>
      <p:sp>
        <p:nvSpPr>
          <p:cNvPr id="11" name="TextBox 10"/>
          <p:cNvSpPr txBox="1"/>
          <p:nvPr/>
        </p:nvSpPr>
        <p:spPr>
          <a:xfrm>
            <a:off x="649224" y="3401568"/>
            <a:ext cx="3264408" cy="228600"/>
          </a:xfrm>
          <a:prstGeom prst="rect">
            <a:avLst/>
          </a:prstGeom>
          <a:noFill/>
        </p:spPr>
        <p:txBody>
          <a:bodyPr wrap="square" lIns="45720" rIns="45720" tIns="18288" bIns="18288">
            <a:spAutoFit/>
          </a:bodyPr>
          <a:lstStyle/>
          <a:p>
            <a:pPr algn="l"/>
            <a:r>
              <a:rPr sz="800" b="1" i="0">
                <a:solidFill>
                  <a:srgbClr val="012169"/>
                </a:solidFill>
                <a:latin typeface="Open Sans"/>
              </a:rPr>
              <a:t>MECHANISM</a:t>
            </a:r>
          </a:p>
        </p:txBody>
      </p:sp>
      <p:sp>
        <p:nvSpPr>
          <p:cNvPr id="12" name="TextBox 11"/>
          <p:cNvSpPr txBox="1"/>
          <p:nvPr/>
        </p:nvSpPr>
        <p:spPr>
          <a:xfrm>
            <a:off x="649224" y="3602736"/>
            <a:ext cx="3264408" cy="914400"/>
          </a:xfrm>
          <a:prstGeom prst="rect">
            <a:avLst/>
          </a:prstGeom>
          <a:noFill/>
        </p:spPr>
        <p:txBody>
          <a:bodyPr wrap="square" lIns="45720" rIns="45720" tIns="18288" bIns="18288">
            <a:spAutoFit/>
          </a:bodyPr>
          <a:lstStyle/>
          <a:p>
            <a:pPr algn="l"/>
            <a:r>
              <a:rPr sz="1000" b="0" i="0">
                <a:solidFill>
                  <a:srgbClr val="313131"/>
                </a:solidFill>
                <a:latin typeface="Open Sans"/>
              </a:rPr>
              <a:t>Adoption Decay signal moves CX intervention from month 10 to month 3. Telemetry-validated renewal context replaces salvage-mode discovery.</a:t>
            </a:r>
          </a:p>
        </p:txBody>
      </p:sp>
      <p:sp>
        <p:nvSpPr>
          <p:cNvPr id="13" name="TextBox 12"/>
          <p:cNvSpPr txBox="1"/>
          <p:nvPr/>
        </p:nvSpPr>
        <p:spPr>
          <a:xfrm>
            <a:off x="649224" y="4553712"/>
            <a:ext cx="3264408" cy="228600"/>
          </a:xfrm>
          <a:prstGeom prst="rect">
            <a:avLst/>
          </a:prstGeom>
          <a:noFill/>
        </p:spPr>
        <p:txBody>
          <a:bodyPr wrap="square" lIns="45720" rIns="45720" tIns="18288" bIns="18288">
            <a:spAutoFit/>
          </a:bodyPr>
          <a:lstStyle/>
          <a:p>
            <a:pPr algn="l"/>
            <a:r>
              <a:rPr sz="800" b="1" i="0">
                <a:solidFill>
                  <a:srgbClr val="012169"/>
                </a:solidFill>
                <a:latin typeface="Open Sans"/>
              </a:rPr>
              <a:t>OUTCOME</a:t>
            </a:r>
          </a:p>
        </p:txBody>
      </p:sp>
      <p:sp>
        <p:nvSpPr>
          <p:cNvPr id="14" name="TextBox 13"/>
          <p:cNvSpPr txBox="1"/>
          <p:nvPr/>
        </p:nvSpPr>
        <p:spPr>
          <a:xfrm>
            <a:off x="649224" y="4754880"/>
            <a:ext cx="3264408" cy="685800"/>
          </a:xfrm>
          <a:prstGeom prst="rect">
            <a:avLst/>
          </a:prstGeom>
          <a:noFill/>
        </p:spPr>
        <p:txBody>
          <a:bodyPr wrap="square" lIns="45720" rIns="45720" tIns="18288" bIns="18288">
            <a:spAutoFit/>
          </a:bodyPr>
          <a:lstStyle/>
          <a:p>
            <a:pPr algn="l"/>
            <a:r>
              <a:rPr sz="1000" b="0" i="0">
                <a:solidFill>
                  <a:srgbClr val="313131"/>
                </a:solidFill>
                <a:latin typeface="Open Sans"/>
              </a:rPr>
              <a:t>Recovery of a portion of the at-risk renewal book each year. The first pillar alone funds the program.</a:t>
            </a:r>
          </a:p>
        </p:txBody>
      </p:sp>
      <p:sp>
        <p:nvSpPr>
          <p:cNvPr id="15" name="Rectangle 14"/>
          <p:cNvSpPr/>
          <p:nvPr/>
        </p:nvSpPr>
        <p:spPr>
          <a:xfrm>
            <a:off x="4279392" y="1645920"/>
            <a:ext cx="3630168" cy="274320"/>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2" y="1664208"/>
            <a:ext cx="3355848" cy="237744"/>
          </a:xfrm>
          <a:prstGeom prst="rect">
            <a:avLst/>
          </a:prstGeom>
          <a:noFill/>
        </p:spPr>
        <p:txBody>
          <a:bodyPr wrap="square" lIns="45720" rIns="45720" tIns="18288" bIns="18288" anchor="ctr">
            <a:spAutoFit/>
          </a:bodyPr>
          <a:lstStyle/>
          <a:p>
            <a:pPr algn="l"/>
            <a:r>
              <a:rPr sz="900" b="1" i="0">
                <a:solidFill>
                  <a:srgbClr val="FFFFFF"/>
                </a:solidFill>
                <a:latin typeface="Open Sans"/>
              </a:rPr>
              <a:t>PILLAR 2</a:t>
            </a:r>
          </a:p>
        </p:txBody>
      </p:sp>
      <p:sp>
        <p:nvSpPr>
          <p:cNvPr id="17" name="Rectangle 16"/>
          <p:cNvSpPr/>
          <p:nvPr/>
        </p:nvSpPr>
        <p:spPr>
          <a:xfrm>
            <a:off x="4279392" y="1920240"/>
            <a:ext cx="3630168" cy="342900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2057400"/>
            <a:ext cx="3264408" cy="411480"/>
          </a:xfrm>
          <a:prstGeom prst="rect">
            <a:avLst/>
          </a:prstGeom>
          <a:noFill/>
        </p:spPr>
        <p:txBody>
          <a:bodyPr wrap="square" lIns="45720" rIns="45720" tIns="18288" bIns="18288">
            <a:spAutoFit/>
          </a:bodyPr>
          <a:lstStyle/>
          <a:p>
            <a:pPr algn="l"/>
            <a:r>
              <a:rPr sz="1600" b="1" i="0">
                <a:solidFill>
                  <a:srgbClr val="0076A8"/>
                </a:solidFill>
                <a:latin typeface="Open Sans"/>
              </a:rPr>
              <a:t>Pipeline validation</a:t>
            </a:r>
          </a:p>
        </p:txBody>
      </p:sp>
      <p:sp>
        <p:nvSpPr>
          <p:cNvPr id="19" name="TextBox 18"/>
          <p:cNvSpPr txBox="1"/>
          <p:nvPr/>
        </p:nvSpPr>
        <p:spPr>
          <a:xfrm>
            <a:off x="4462272" y="2487168"/>
            <a:ext cx="3264408" cy="274320"/>
          </a:xfrm>
          <a:prstGeom prst="rect">
            <a:avLst/>
          </a:prstGeom>
          <a:noFill/>
        </p:spPr>
        <p:txBody>
          <a:bodyPr wrap="square" lIns="45720" rIns="45720" tIns="18288" bIns="18288">
            <a:spAutoFit/>
          </a:bodyPr>
          <a:lstStyle/>
          <a:p>
            <a:pPr algn="l"/>
            <a:r>
              <a:rPr sz="1050" b="0" i="1">
                <a:solidFill>
                  <a:srgbClr val="53565A"/>
                </a:solidFill>
                <a:latin typeface="Open Sans"/>
              </a:rPr>
              <a:t>Expanding the base</a:t>
            </a:r>
          </a:p>
        </p:txBody>
      </p:sp>
      <p:sp>
        <p:nvSpPr>
          <p:cNvPr id="20" name="TextBox 19"/>
          <p:cNvSpPr txBox="1"/>
          <p:nvPr/>
        </p:nvSpPr>
        <p:spPr>
          <a:xfrm>
            <a:off x="4462272" y="2834640"/>
            <a:ext cx="3264408" cy="228600"/>
          </a:xfrm>
          <a:prstGeom prst="rect">
            <a:avLst/>
          </a:prstGeom>
          <a:noFill/>
        </p:spPr>
        <p:txBody>
          <a:bodyPr wrap="square" lIns="45720" rIns="45720" tIns="18288" bIns="18288">
            <a:spAutoFit/>
          </a:bodyPr>
          <a:lstStyle/>
          <a:p>
            <a:pPr algn="l"/>
            <a:r>
              <a:rPr sz="800" b="1" i="0">
                <a:solidFill>
                  <a:srgbClr val="0076A8"/>
                </a:solidFill>
                <a:latin typeface="Open Sans"/>
              </a:rPr>
              <a:t>METRIC</a:t>
            </a:r>
          </a:p>
        </p:txBody>
      </p:sp>
      <p:sp>
        <p:nvSpPr>
          <p:cNvPr id="21" name="TextBox 20"/>
          <p:cNvSpPr txBox="1"/>
          <p:nvPr/>
        </p:nvSpPr>
        <p:spPr>
          <a:xfrm>
            <a:off x="4462272" y="3035808"/>
            <a:ext cx="3264408" cy="274320"/>
          </a:xfrm>
          <a:prstGeom prst="rect">
            <a:avLst/>
          </a:prstGeom>
          <a:noFill/>
        </p:spPr>
        <p:txBody>
          <a:bodyPr wrap="square" lIns="45720" rIns="45720" tIns="18288" bIns="18288">
            <a:spAutoFit/>
          </a:bodyPr>
          <a:lstStyle/>
          <a:p>
            <a:pPr algn="l"/>
            <a:r>
              <a:rPr sz="1050" b="1" i="0">
                <a:solidFill>
                  <a:srgbClr val="313131"/>
                </a:solidFill>
                <a:latin typeface="Open Sans"/>
              </a:rPr>
              <a:t>Pipeline conversion, iACV</a:t>
            </a:r>
          </a:p>
        </p:txBody>
      </p:sp>
      <p:sp>
        <p:nvSpPr>
          <p:cNvPr id="22" name="TextBox 21"/>
          <p:cNvSpPr txBox="1"/>
          <p:nvPr/>
        </p:nvSpPr>
        <p:spPr>
          <a:xfrm>
            <a:off x="4462272" y="3401568"/>
            <a:ext cx="3264408" cy="228600"/>
          </a:xfrm>
          <a:prstGeom prst="rect">
            <a:avLst/>
          </a:prstGeom>
          <a:noFill/>
        </p:spPr>
        <p:txBody>
          <a:bodyPr wrap="square" lIns="45720" rIns="45720" tIns="18288" bIns="18288">
            <a:spAutoFit/>
          </a:bodyPr>
          <a:lstStyle/>
          <a:p>
            <a:pPr algn="l"/>
            <a:r>
              <a:rPr sz="800" b="1" i="0">
                <a:solidFill>
                  <a:srgbClr val="0076A8"/>
                </a:solidFill>
                <a:latin typeface="Open Sans"/>
              </a:rPr>
              <a:t>MECHANISM</a:t>
            </a:r>
          </a:p>
        </p:txBody>
      </p:sp>
      <p:sp>
        <p:nvSpPr>
          <p:cNvPr id="23" name="TextBox 22"/>
          <p:cNvSpPr txBox="1"/>
          <p:nvPr/>
        </p:nvSpPr>
        <p:spPr>
          <a:xfrm>
            <a:off x="4462272" y="3602736"/>
            <a:ext cx="3264408" cy="914400"/>
          </a:xfrm>
          <a:prstGeom prst="rect">
            <a:avLst/>
          </a:prstGeom>
          <a:noFill/>
        </p:spPr>
        <p:txBody>
          <a:bodyPr wrap="square" lIns="45720" rIns="45720" tIns="18288" bIns="18288">
            <a:spAutoFit/>
          </a:bodyPr>
          <a:lstStyle/>
          <a:p>
            <a:pPr algn="l"/>
            <a:r>
              <a:rPr sz="1000" b="0" i="0">
                <a:solidFill>
                  <a:srgbClr val="313131"/>
                </a:solidFill>
                <a:latin typeface="Open Sans"/>
              </a:rPr>
              <a:t>Replaces shipment-based refresh estimates with telemetry-validated propensity scores per customer. Sellers receive validated leads, not blind ones.</a:t>
            </a:r>
          </a:p>
        </p:txBody>
      </p:sp>
      <p:sp>
        <p:nvSpPr>
          <p:cNvPr id="24" name="TextBox 23"/>
          <p:cNvSpPr txBox="1"/>
          <p:nvPr/>
        </p:nvSpPr>
        <p:spPr>
          <a:xfrm>
            <a:off x="4462272" y="4553712"/>
            <a:ext cx="3264408" cy="228600"/>
          </a:xfrm>
          <a:prstGeom prst="rect">
            <a:avLst/>
          </a:prstGeom>
          <a:noFill/>
        </p:spPr>
        <p:txBody>
          <a:bodyPr wrap="square" lIns="45720" rIns="45720" tIns="18288" bIns="18288">
            <a:spAutoFit/>
          </a:bodyPr>
          <a:lstStyle/>
          <a:p>
            <a:pPr algn="l"/>
            <a:r>
              <a:rPr sz="800" b="1" i="0">
                <a:solidFill>
                  <a:srgbClr val="0076A8"/>
                </a:solidFill>
                <a:latin typeface="Open Sans"/>
              </a:rPr>
              <a:t>OUTCOME</a:t>
            </a:r>
          </a:p>
        </p:txBody>
      </p:sp>
      <p:sp>
        <p:nvSpPr>
          <p:cNvPr id="25" name="TextBox 24"/>
          <p:cNvSpPr txBox="1"/>
          <p:nvPr/>
        </p:nvSpPr>
        <p:spPr>
          <a:xfrm>
            <a:off x="4462272" y="4754880"/>
            <a:ext cx="3264408" cy="685800"/>
          </a:xfrm>
          <a:prstGeom prst="rect">
            <a:avLst/>
          </a:prstGeom>
          <a:noFill/>
        </p:spPr>
        <p:txBody>
          <a:bodyPr wrap="square" lIns="45720" rIns="45720" tIns="18288" bIns="18288">
            <a:spAutoFit/>
          </a:bodyPr>
          <a:lstStyle/>
          <a:p>
            <a:pPr algn="l"/>
            <a:r>
              <a:rPr sz="1000" b="0" i="0">
                <a:solidFill>
                  <a:srgbClr val="313131"/>
                </a:solidFill>
                <a:latin typeface="Open Sans"/>
              </a:rPr>
              <a:t>Customer-by-customer pipeline that turns the $45bn refresh thesis into bookable revenue. Reduces wasted seller cycles.</a:t>
            </a:r>
          </a:p>
        </p:txBody>
      </p:sp>
      <p:sp>
        <p:nvSpPr>
          <p:cNvPr id="26" name="Rectangle 25"/>
          <p:cNvSpPr/>
          <p:nvPr/>
        </p:nvSpPr>
        <p:spPr>
          <a:xfrm>
            <a:off x="8092440" y="1645920"/>
            <a:ext cx="3630168" cy="2743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1664208"/>
            <a:ext cx="3355848" cy="237744"/>
          </a:xfrm>
          <a:prstGeom prst="rect">
            <a:avLst/>
          </a:prstGeom>
          <a:noFill/>
        </p:spPr>
        <p:txBody>
          <a:bodyPr wrap="square" lIns="45720" rIns="45720" tIns="18288" bIns="18288" anchor="ctr">
            <a:spAutoFit/>
          </a:bodyPr>
          <a:lstStyle/>
          <a:p>
            <a:pPr algn="l"/>
            <a:r>
              <a:rPr sz="900" b="1" i="0">
                <a:solidFill>
                  <a:srgbClr val="FFFFFF"/>
                </a:solidFill>
                <a:latin typeface="Open Sans"/>
              </a:rPr>
              <a:t>PILLAR 3</a:t>
            </a:r>
          </a:p>
        </p:txBody>
      </p:sp>
      <p:sp>
        <p:nvSpPr>
          <p:cNvPr id="28" name="Rectangle 27"/>
          <p:cNvSpPr/>
          <p:nvPr/>
        </p:nvSpPr>
        <p:spPr>
          <a:xfrm>
            <a:off x="8092440" y="1920240"/>
            <a:ext cx="3630168" cy="342900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19" y="2057400"/>
            <a:ext cx="3264408" cy="411480"/>
          </a:xfrm>
          <a:prstGeom prst="rect">
            <a:avLst/>
          </a:prstGeom>
          <a:noFill/>
        </p:spPr>
        <p:txBody>
          <a:bodyPr wrap="square" lIns="45720" rIns="45720" tIns="18288" bIns="18288">
            <a:spAutoFit/>
          </a:bodyPr>
          <a:lstStyle/>
          <a:p>
            <a:pPr algn="l"/>
            <a:r>
              <a:rPr sz="1600" b="1" i="0">
                <a:solidFill>
                  <a:srgbClr val="00A3E0"/>
                </a:solidFill>
                <a:latin typeface="Open Sans"/>
              </a:rPr>
              <a:t>R&amp;D efficiency</a:t>
            </a:r>
          </a:p>
        </p:txBody>
      </p:sp>
      <p:sp>
        <p:nvSpPr>
          <p:cNvPr id="30" name="TextBox 29"/>
          <p:cNvSpPr txBox="1"/>
          <p:nvPr/>
        </p:nvSpPr>
        <p:spPr>
          <a:xfrm>
            <a:off x="8275319" y="2487168"/>
            <a:ext cx="3264408" cy="274320"/>
          </a:xfrm>
          <a:prstGeom prst="rect">
            <a:avLst/>
          </a:prstGeom>
          <a:noFill/>
        </p:spPr>
        <p:txBody>
          <a:bodyPr wrap="square" lIns="45720" rIns="45720" tIns="18288" bIns="18288">
            <a:spAutoFit/>
          </a:bodyPr>
          <a:lstStyle/>
          <a:p>
            <a:pPr algn="l"/>
            <a:r>
              <a:rPr sz="1050" b="0" i="1">
                <a:solidFill>
                  <a:srgbClr val="53565A"/>
                </a:solidFill>
                <a:latin typeface="Open Sans"/>
              </a:rPr>
              <a:t>Sharpening the roadmap</a:t>
            </a:r>
          </a:p>
        </p:txBody>
      </p:sp>
      <p:sp>
        <p:nvSpPr>
          <p:cNvPr id="31" name="TextBox 30"/>
          <p:cNvSpPr txBox="1"/>
          <p:nvPr/>
        </p:nvSpPr>
        <p:spPr>
          <a:xfrm>
            <a:off x="8275319" y="2834640"/>
            <a:ext cx="3264408" cy="228600"/>
          </a:xfrm>
          <a:prstGeom prst="rect">
            <a:avLst/>
          </a:prstGeom>
          <a:noFill/>
        </p:spPr>
        <p:txBody>
          <a:bodyPr wrap="square" lIns="45720" rIns="45720" tIns="18288" bIns="18288">
            <a:spAutoFit/>
          </a:bodyPr>
          <a:lstStyle/>
          <a:p>
            <a:pPr algn="l"/>
            <a:r>
              <a:rPr sz="800" b="1" i="0">
                <a:solidFill>
                  <a:srgbClr val="00A3E0"/>
                </a:solidFill>
                <a:latin typeface="Open Sans"/>
              </a:rPr>
              <a:t>METRIC</a:t>
            </a:r>
          </a:p>
        </p:txBody>
      </p:sp>
      <p:sp>
        <p:nvSpPr>
          <p:cNvPr id="32" name="TextBox 31"/>
          <p:cNvSpPr txBox="1"/>
          <p:nvPr/>
        </p:nvSpPr>
        <p:spPr>
          <a:xfrm>
            <a:off x="8275319" y="3035808"/>
            <a:ext cx="3264408" cy="274320"/>
          </a:xfrm>
          <a:prstGeom prst="rect">
            <a:avLst/>
          </a:prstGeom>
          <a:noFill/>
        </p:spPr>
        <p:txBody>
          <a:bodyPr wrap="square" lIns="45720" rIns="45720" tIns="18288" bIns="18288">
            <a:spAutoFit/>
          </a:bodyPr>
          <a:lstStyle/>
          <a:p>
            <a:pPr algn="l"/>
            <a:r>
              <a:rPr sz="1050" b="1" i="0">
                <a:solidFill>
                  <a:srgbClr val="313131"/>
                </a:solidFill>
                <a:latin typeface="Open Sans"/>
              </a:rPr>
              <a:t>R&amp;D ROI, Time-to-Market</a:t>
            </a:r>
          </a:p>
        </p:txBody>
      </p:sp>
      <p:sp>
        <p:nvSpPr>
          <p:cNvPr id="33" name="TextBox 32"/>
          <p:cNvSpPr txBox="1"/>
          <p:nvPr/>
        </p:nvSpPr>
        <p:spPr>
          <a:xfrm>
            <a:off x="8275319" y="3401568"/>
            <a:ext cx="3264408" cy="228600"/>
          </a:xfrm>
          <a:prstGeom prst="rect">
            <a:avLst/>
          </a:prstGeom>
          <a:noFill/>
        </p:spPr>
        <p:txBody>
          <a:bodyPr wrap="square" lIns="45720" rIns="45720" tIns="18288" bIns="18288">
            <a:spAutoFit/>
          </a:bodyPr>
          <a:lstStyle/>
          <a:p>
            <a:pPr algn="l"/>
            <a:r>
              <a:rPr sz="800" b="1" i="0">
                <a:solidFill>
                  <a:srgbClr val="00A3E0"/>
                </a:solidFill>
                <a:latin typeface="Open Sans"/>
              </a:rPr>
              <a:t>MECHANISM</a:t>
            </a:r>
          </a:p>
        </p:txBody>
      </p:sp>
      <p:sp>
        <p:nvSpPr>
          <p:cNvPr id="34" name="TextBox 33"/>
          <p:cNvSpPr txBox="1"/>
          <p:nvPr/>
        </p:nvSpPr>
        <p:spPr>
          <a:xfrm>
            <a:off x="8275319" y="3602736"/>
            <a:ext cx="3264408" cy="914400"/>
          </a:xfrm>
          <a:prstGeom prst="rect">
            <a:avLst/>
          </a:prstGeom>
          <a:noFill/>
        </p:spPr>
        <p:txBody>
          <a:bodyPr wrap="square" lIns="45720" rIns="45720" tIns="18288" bIns="18288">
            <a:spAutoFit/>
          </a:bodyPr>
          <a:lstStyle/>
          <a:p>
            <a:pPr algn="l"/>
            <a:r>
              <a:rPr sz="1000" b="0" i="0">
                <a:solidFill>
                  <a:srgbClr val="313131"/>
                </a:solidFill>
                <a:latin typeface="Open Sans"/>
              </a:rPr>
              <a:t>NPI Telemetry Gate forces every AI INFRA product to define adoption signal as a launch requirement. Closes the loop between feature shipped and feature used.</a:t>
            </a:r>
          </a:p>
        </p:txBody>
      </p:sp>
      <p:sp>
        <p:nvSpPr>
          <p:cNvPr id="35" name="TextBox 34"/>
          <p:cNvSpPr txBox="1"/>
          <p:nvPr/>
        </p:nvSpPr>
        <p:spPr>
          <a:xfrm>
            <a:off x="8275319" y="4553712"/>
            <a:ext cx="3264408" cy="228600"/>
          </a:xfrm>
          <a:prstGeom prst="rect">
            <a:avLst/>
          </a:prstGeom>
          <a:noFill/>
        </p:spPr>
        <p:txBody>
          <a:bodyPr wrap="square" lIns="45720" rIns="45720" tIns="18288" bIns="18288">
            <a:spAutoFit/>
          </a:bodyPr>
          <a:lstStyle/>
          <a:p>
            <a:pPr algn="l"/>
            <a:r>
              <a:rPr sz="800" b="1" i="0">
                <a:solidFill>
                  <a:srgbClr val="00A3E0"/>
                </a:solidFill>
                <a:latin typeface="Open Sans"/>
              </a:rPr>
              <a:t>OUTCOME</a:t>
            </a:r>
          </a:p>
        </p:txBody>
      </p:sp>
      <p:sp>
        <p:nvSpPr>
          <p:cNvPr id="36" name="TextBox 35"/>
          <p:cNvSpPr txBox="1"/>
          <p:nvPr/>
        </p:nvSpPr>
        <p:spPr>
          <a:xfrm>
            <a:off x="8275319" y="4754880"/>
            <a:ext cx="3264408" cy="685800"/>
          </a:xfrm>
          <a:prstGeom prst="rect">
            <a:avLst/>
          </a:prstGeom>
          <a:noFill/>
        </p:spPr>
        <p:txBody>
          <a:bodyPr wrap="square" lIns="45720" rIns="45720" tIns="18288" bIns="18288">
            <a:spAutoFit/>
          </a:bodyPr>
          <a:lstStyle/>
          <a:p>
            <a:pPr algn="l"/>
            <a:r>
              <a:rPr sz="1000" b="0" i="0">
                <a:solidFill>
                  <a:srgbClr val="313131"/>
                </a:solidFill>
                <a:latin typeface="Open Sans"/>
              </a:rPr>
              <a:t>Engineering investment reallocated away from low-adoption features. Roadmap decisions made on signal, not anecdote.</a:t>
            </a:r>
          </a:p>
        </p:txBody>
      </p:sp>
      <p:sp>
        <p:nvSpPr>
          <p:cNvPr id="37" name="TextBox 36"/>
          <p:cNvSpPr txBox="1"/>
          <p:nvPr/>
        </p:nvSpPr>
        <p:spPr>
          <a:xfrm>
            <a:off x="466344" y="5440680"/>
            <a:ext cx="11256264" cy="365760"/>
          </a:xfrm>
          <a:prstGeom prst="rect">
            <a:avLst/>
          </a:prstGeom>
          <a:noFill/>
        </p:spPr>
        <p:txBody>
          <a:bodyPr wrap="square" lIns="45720" rIns="45720" tIns="18288" bIns="18288" anchor="ctr">
            <a:spAutoFit/>
          </a:bodyPr>
          <a:lstStyle/>
          <a:p>
            <a:pPr algn="ctr"/>
            <a:r>
              <a:rPr sz="1100" b="0" i="1">
                <a:solidFill>
                  <a:srgbClr val="86BC25"/>
                </a:solidFill>
                <a:latin typeface="Open Sans"/>
              </a:rPr>
              <a:t>A fourth pillar is partner channel enablement (87% of Cisco GTM). Worth probing with Anand whether this is in scope or is a separate program.</a:t>
            </a:r>
          </a:p>
        </p:txBody>
      </p:sp>
      <p:sp>
        <p:nvSpPr>
          <p:cNvPr id="38" name="TextBox 37"/>
          <p:cNvSpPr txBox="1"/>
          <p:nvPr/>
        </p:nvSpPr>
        <p:spPr>
          <a:xfrm>
            <a:off x="466344" y="5897880"/>
            <a:ext cx="11256264" cy="274320"/>
          </a:xfrm>
          <a:prstGeom prst="rect">
            <a:avLst/>
          </a:prstGeom>
          <a:noFill/>
        </p:spPr>
        <p:txBody>
          <a:bodyPr wrap="square" lIns="45720" rIns="45720" tIns="18288" bIns="18288">
            <a:spAutoFit/>
          </a:bodyPr>
          <a:lstStyle/>
          <a:p>
            <a:pPr algn="l"/>
            <a:r>
              <a:rPr sz="800" b="0" i="1">
                <a:solidFill>
                  <a:srgbClr val="53565A"/>
                </a:solidFill>
                <a:latin typeface="Open Sans"/>
              </a:rPr>
              <a:t>Source: Engagement brief from lead engagement partner; Deloitte analysis. ROI sizing to be done jointly with Cisco against current baselines.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A focused first phase that proves the pattern at AI INFRA scale</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Six to eight weeks. One product line. One defined customer cohort. One working Vitality Score validated against known outcomes.</a:t>
            </a:r>
          </a:p>
        </p:txBody>
      </p:sp>
      <p:sp>
        <p:nvSpPr>
          <p:cNvPr id="4" name="Rectangle 3"/>
          <p:cNvSpPr/>
          <p:nvPr/>
        </p:nvSpPr>
        <p:spPr>
          <a:xfrm>
            <a:off x="466344" y="2011680"/>
            <a:ext cx="11256264" cy="36576"/>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82495" y="1883664"/>
            <a:ext cx="292608" cy="292608"/>
          </a:xfrm>
          <a:prstGeom prst="ellipse">
            <a:avLst/>
          </a:prstGeom>
          <a:solidFill>
            <a:srgbClr val="01216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Open Sans"/>
              </a:rPr>
              <a:t>1</a:t>
            </a:r>
          </a:p>
        </p:txBody>
      </p:sp>
      <p:sp>
        <p:nvSpPr>
          <p:cNvPr id="6" name="Rectangle 5"/>
          <p:cNvSpPr/>
          <p:nvPr/>
        </p:nvSpPr>
        <p:spPr>
          <a:xfrm>
            <a:off x="466344" y="2423160"/>
            <a:ext cx="2688336" cy="283464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66344" y="2423160"/>
            <a:ext cx="2688336" cy="365760"/>
          </a:xfrm>
          <a:prstGeom prst="rect">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2468880"/>
            <a:ext cx="2505456" cy="292608"/>
          </a:xfrm>
          <a:prstGeom prst="rect">
            <a:avLst/>
          </a:prstGeom>
          <a:noFill/>
        </p:spPr>
        <p:txBody>
          <a:bodyPr wrap="square" lIns="45720" rIns="45720" tIns="18288" bIns="18288" anchor="ctr">
            <a:spAutoFit/>
          </a:bodyPr>
          <a:lstStyle/>
          <a:p>
            <a:pPr algn="l"/>
            <a:r>
              <a:rPr sz="1000" b="1" i="0">
                <a:solidFill>
                  <a:srgbClr val="FFFFFF"/>
                </a:solidFill>
                <a:latin typeface="Open Sans"/>
              </a:rPr>
              <a:t>Weeks 1-2</a:t>
            </a:r>
          </a:p>
        </p:txBody>
      </p:sp>
      <p:sp>
        <p:nvSpPr>
          <p:cNvPr id="9" name="TextBox 8"/>
          <p:cNvSpPr txBox="1"/>
          <p:nvPr/>
        </p:nvSpPr>
        <p:spPr>
          <a:xfrm>
            <a:off x="603504" y="2926080"/>
            <a:ext cx="2414016" cy="594360"/>
          </a:xfrm>
          <a:prstGeom prst="rect">
            <a:avLst/>
          </a:prstGeom>
          <a:noFill/>
        </p:spPr>
        <p:txBody>
          <a:bodyPr wrap="square" lIns="45720" rIns="45720" tIns="18288" bIns="18288">
            <a:spAutoFit/>
          </a:bodyPr>
          <a:lstStyle/>
          <a:p>
            <a:pPr algn="l"/>
            <a:r>
              <a:rPr sz="1200" b="1" i="0">
                <a:solidFill>
                  <a:srgbClr val="012169"/>
                </a:solidFill>
                <a:latin typeface="Open Sans"/>
              </a:rPr>
              <a:t>Discovery &amp; scope lock</a:t>
            </a:r>
          </a:p>
        </p:txBody>
      </p:sp>
      <p:sp>
        <p:nvSpPr>
          <p:cNvPr id="10" name="TextBox 9"/>
          <p:cNvSpPr txBox="1"/>
          <p:nvPr/>
        </p:nvSpPr>
        <p:spPr>
          <a:xfrm>
            <a:off x="603504" y="3520440"/>
            <a:ext cx="2414016" cy="1645920"/>
          </a:xfrm>
          <a:prstGeom prst="rect">
            <a:avLst/>
          </a:prstGeom>
          <a:noFill/>
        </p:spPr>
        <p:txBody>
          <a:bodyPr wrap="square" lIns="45720" rIns="45720" tIns="18288" bIns="18288">
            <a:spAutoFit/>
          </a:bodyPr>
          <a:lstStyle/>
          <a:p>
            <a:pPr algn="l"/>
            <a:r>
              <a:rPr sz="1000" b="0" i="0">
                <a:solidFill>
                  <a:srgbClr val="313131"/>
                </a:solidFill>
                <a:latin typeface="Open Sans"/>
              </a:rPr>
              <a:t>Map data flow end to end. Define the AI INFRA cohort (20-50 customers). Confirm identity resolution path across S3, Snowflake, Commerce, CRM.</a:t>
            </a:r>
          </a:p>
        </p:txBody>
      </p:sp>
      <p:sp>
        <p:nvSpPr>
          <p:cNvPr id="11" name="Oval 10"/>
          <p:cNvSpPr/>
          <p:nvPr/>
        </p:nvSpPr>
        <p:spPr>
          <a:xfrm>
            <a:off x="4562856" y="1883664"/>
            <a:ext cx="292608" cy="292608"/>
          </a:xfrm>
          <a:prstGeom prst="ellipse">
            <a:avLst/>
          </a:prstGeom>
          <a:solidFill>
            <a:srgbClr val="0076A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Open Sans"/>
              </a:rPr>
              <a:t>2</a:t>
            </a:r>
          </a:p>
        </p:txBody>
      </p:sp>
      <p:sp>
        <p:nvSpPr>
          <p:cNvPr id="12" name="Rectangle 11"/>
          <p:cNvSpPr/>
          <p:nvPr/>
        </p:nvSpPr>
        <p:spPr>
          <a:xfrm>
            <a:off x="3346704" y="2423160"/>
            <a:ext cx="2688336" cy="283464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6704" y="2423160"/>
            <a:ext cx="2688336" cy="365760"/>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8144" y="2468880"/>
            <a:ext cx="2505456" cy="292608"/>
          </a:xfrm>
          <a:prstGeom prst="rect">
            <a:avLst/>
          </a:prstGeom>
          <a:noFill/>
        </p:spPr>
        <p:txBody>
          <a:bodyPr wrap="square" lIns="45720" rIns="45720" tIns="18288" bIns="18288" anchor="ctr">
            <a:spAutoFit/>
          </a:bodyPr>
          <a:lstStyle/>
          <a:p>
            <a:pPr algn="l"/>
            <a:r>
              <a:rPr sz="1000" b="1" i="0">
                <a:solidFill>
                  <a:srgbClr val="FFFFFF"/>
                </a:solidFill>
                <a:latin typeface="Open Sans"/>
              </a:rPr>
              <a:t>Weeks 2-4</a:t>
            </a:r>
          </a:p>
        </p:txBody>
      </p:sp>
      <p:sp>
        <p:nvSpPr>
          <p:cNvPr id="15" name="TextBox 14"/>
          <p:cNvSpPr txBox="1"/>
          <p:nvPr/>
        </p:nvSpPr>
        <p:spPr>
          <a:xfrm>
            <a:off x="3483864" y="2926080"/>
            <a:ext cx="2414016" cy="594360"/>
          </a:xfrm>
          <a:prstGeom prst="rect">
            <a:avLst/>
          </a:prstGeom>
          <a:noFill/>
        </p:spPr>
        <p:txBody>
          <a:bodyPr wrap="square" lIns="45720" rIns="45720" tIns="18288" bIns="18288">
            <a:spAutoFit/>
          </a:bodyPr>
          <a:lstStyle/>
          <a:p>
            <a:pPr algn="l"/>
            <a:r>
              <a:rPr sz="1200" b="1" i="0">
                <a:solidFill>
                  <a:srgbClr val="012169"/>
                </a:solidFill>
                <a:latin typeface="Open Sans"/>
              </a:rPr>
              <a:t>Ontology &amp; feature build</a:t>
            </a:r>
          </a:p>
        </p:txBody>
      </p:sp>
      <p:sp>
        <p:nvSpPr>
          <p:cNvPr id="16" name="TextBox 15"/>
          <p:cNvSpPr txBox="1"/>
          <p:nvPr/>
        </p:nvSpPr>
        <p:spPr>
          <a:xfrm>
            <a:off x="3483864" y="3520440"/>
            <a:ext cx="2414016" cy="1645920"/>
          </a:xfrm>
          <a:prstGeom prst="rect">
            <a:avLst/>
          </a:prstGeom>
          <a:noFill/>
        </p:spPr>
        <p:txBody>
          <a:bodyPr wrap="square" lIns="45720" rIns="45720" tIns="18288" bIns="18288">
            <a:spAutoFit/>
          </a:bodyPr>
          <a:lstStyle/>
          <a:p>
            <a:pPr algn="l"/>
            <a:r>
              <a:rPr sz="1000" b="0" i="0">
                <a:solidFill>
                  <a:srgbClr val="313131"/>
                </a:solidFill>
                <a:latin typeface="Open Sans"/>
              </a:rPr>
              <a:t>Define the Value Realization Ontology for AI INFRA. Engineer Vitality Score, Adoption Decay, and Time-to-First-Value features in Snowflake.</a:t>
            </a:r>
          </a:p>
        </p:txBody>
      </p:sp>
      <p:sp>
        <p:nvSpPr>
          <p:cNvPr id="17" name="Oval 16"/>
          <p:cNvSpPr/>
          <p:nvPr/>
        </p:nvSpPr>
        <p:spPr>
          <a:xfrm>
            <a:off x="7443215" y="1883664"/>
            <a:ext cx="292608" cy="292608"/>
          </a:xfrm>
          <a:prstGeom prst="ellipse">
            <a:avLst/>
          </a:prstGeom>
          <a:solidFill>
            <a:srgbClr val="00A3E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Open Sans"/>
              </a:rPr>
              <a:t>3</a:t>
            </a:r>
          </a:p>
        </p:txBody>
      </p:sp>
      <p:sp>
        <p:nvSpPr>
          <p:cNvPr id="18" name="Rectangle 17"/>
          <p:cNvSpPr/>
          <p:nvPr/>
        </p:nvSpPr>
        <p:spPr>
          <a:xfrm>
            <a:off x="6227064" y="2423160"/>
            <a:ext cx="2688336" cy="283464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2423160"/>
            <a:ext cx="2688336" cy="3657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8503" y="2468880"/>
            <a:ext cx="2505456" cy="292608"/>
          </a:xfrm>
          <a:prstGeom prst="rect">
            <a:avLst/>
          </a:prstGeom>
          <a:noFill/>
        </p:spPr>
        <p:txBody>
          <a:bodyPr wrap="square" lIns="45720" rIns="45720" tIns="18288" bIns="18288" anchor="ctr">
            <a:spAutoFit/>
          </a:bodyPr>
          <a:lstStyle/>
          <a:p>
            <a:pPr algn="l"/>
            <a:r>
              <a:rPr sz="1000" b="1" i="0">
                <a:solidFill>
                  <a:srgbClr val="FFFFFF"/>
                </a:solidFill>
                <a:latin typeface="Open Sans"/>
              </a:rPr>
              <a:t>Weeks 4-6</a:t>
            </a:r>
          </a:p>
        </p:txBody>
      </p:sp>
      <p:sp>
        <p:nvSpPr>
          <p:cNvPr id="21" name="TextBox 20"/>
          <p:cNvSpPr txBox="1"/>
          <p:nvPr/>
        </p:nvSpPr>
        <p:spPr>
          <a:xfrm>
            <a:off x="6364224" y="2926080"/>
            <a:ext cx="2414016" cy="594360"/>
          </a:xfrm>
          <a:prstGeom prst="rect">
            <a:avLst/>
          </a:prstGeom>
          <a:noFill/>
        </p:spPr>
        <p:txBody>
          <a:bodyPr wrap="square" lIns="45720" rIns="45720" tIns="18288" bIns="18288">
            <a:spAutoFit/>
          </a:bodyPr>
          <a:lstStyle/>
          <a:p>
            <a:pPr algn="l"/>
            <a:r>
              <a:rPr sz="1200" b="1" i="0">
                <a:solidFill>
                  <a:srgbClr val="012169"/>
                </a:solidFill>
                <a:latin typeface="Open Sans"/>
              </a:rPr>
              <a:t>Validate against history</a:t>
            </a:r>
          </a:p>
        </p:txBody>
      </p:sp>
      <p:sp>
        <p:nvSpPr>
          <p:cNvPr id="22" name="TextBox 21"/>
          <p:cNvSpPr txBox="1"/>
          <p:nvPr/>
        </p:nvSpPr>
        <p:spPr>
          <a:xfrm>
            <a:off x="6364224" y="3520440"/>
            <a:ext cx="2414016" cy="1645920"/>
          </a:xfrm>
          <a:prstGeom prst="rect">
            <a:avLst/>
          </a:prstGeom>
          <a:noFill/>
        </p:spPr>
        <p:txBody>
          <a:bodyPr wrap="square" lIns="45720" rIns="45720" tIns="18288" bIns="18288">
            <a:spAutoFit/>
          </a:bodyPr>
          <a:lstStyle/>
          <a:p>
            <a:pPr algn="l"/>
            <a:r>
              <a:rPr sz="1000" b="0" i="0">
                <a:solidFill>
                  <a:srgbClr val="313131"/>
                </a:solidFill>
                <a:latin typeface="Open Sans"/>
              </a:rPr>
              <a:t>Run features against historical CRM data. Test predictive signal for known churn and expansion cases. Iterate the ontology where signal is weak.</a:t>
            </a:r>
          </a:p>
        </p:txBody>
      </p:sp>
      <p:sp>
        <p:nvSpPr>
          <p:cNvPr id="23" name="Oval 22"/>
          <p:cNvSpPr/>
          <p:nvPr/>
        </p:nvSpPr>
        <p:spPr>
          <a:xfrm>
            <a:off x="10323576" y="1883664"/>
            <a:ext cx="292608" cy="292608"/>
          </a:xfrm>
          <a:prstGeom prst="ellipse">
            <a:avLst/>
          </a:prstGeom>
          <a:solidFill>
            <a:srgbClr val="86BC2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Open Sans"/>
              </a:rPr>
              <a:t>4</a:t>
            </a:r>
          </a:p>
        </p:txBody>
      </p:sp>
      <p:sp>
        <p:nvSpPr>
          <p:cNvPr id="24" name="Rectangle 23"/>
          <p:cNvSpPr/>
          <p:nvPr/>
        </p:nvSpPr>
        <p:spPr>
          <a:xfrm>
            <a:off x="9107424" y="2423160"/>
            <a:ext cx="2688336" cy="283464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07424" y="2423160"/>
            <a:ext cx="2688336" cy="36576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98864" y="2468880"/>
            <a:ext cx="2505456" cy="292608"/>
          </a:xfrm>
          <a:prstGeom prst="rect">
            <a:avLst/>
          </a:prstGeom>
          <a:noFill/>
        </p:spPr>
        <p:txBody>
          <a:bodyPr wrap="square" lIns="45720" rIns="45720" tIns="18288" bIns="18288" anchor="ctr">
            <a:spAutoFit/>
          </a:bodyPr>
          <a:lstStyle/>
          <a:p>
            <a:pPr algn="l"/>
            <a:r>
              <a:rPr sz="1000" b="1" i="0">
                <a:solidFill>
                  <a:srgbClr val="FFFFFF"/>
                </a:solidFill>
                <a:latin typeface="Open Sans"/>
              </a:rPr>
              <a:t>Weeks 6-8</a:t>
            </a:r>
          </a:p>
        </p:txBody>
      </p:sp>
      <p:sp>
        <p:nvSpPr>
          <p:cNvPr id="27" name="TextBox 26"/>
          <p:cNvSpPr txBox="1"/>
          <p:nvPr/>
        </p:nvSpPr>
        <p:spPr>
          <a:xfrm>
            <a:off x="9244584" y="2926080"/>
            <a:ext cx="2414016" cy="594360"/>
          </a:xfrm>
          <a:prstGeom prst="rect">
            <a:avLst/>
          </a:prstGeom>
          <a:noFill/>
        </p:spPr>
        <p:txBody>
          <a:bodyPr wrap="square" lIns="45720" rIns="45720" tIns="18288" bIns="18288">
            <a:spAutoFit/>
          </a:bodyPr>
          <a:lstStyle/>
          <a:p>
            <a:pPr algn="l"/>
            <a:r>
              <a:rPr sz="1200" b="1" i="0">
                <a:solidFill>
                  <a:srgbClr val="012169"/>
                </a:solidFill>
                <a:latin typeface="Open Sans"/>
              </a:rPr>
              <a:t>Agent prototype &amp; readout</a:t>
            </a:r>
          </a:p>
        </p:txBody>
      </p:sp>
      <p:sp>
        <p:nvSpPr>
          <p:cNvPr id="28" name="TextBox 27"/>
          <p:cNvSpPr txBox="1"/>
          <p:nvPr/>
        </p:nvSpPr>
        <p:spPr>
          <a:xfrm>
            <a:off x="9244584" y="3520440"/>
            <a:ext cx="2414016" cy="1645920"/>
          </a:xfrm>
          <a:prstGeom prst="rect">
            <a:avLst/>
          </a:prstGeom>
          <a:noFill/>
        </p:spPr>
        <p:txBody>
          <a:bodyPr wrap="square" lIns="45720" rIns="45720" tIns="18288" bIns="18288">
            <a:spAutoFit/>
          </a:bodyPr>
          <a:lstStyle/>
          <a:p>
            <a:pPr algn="l"/>
            <a:r>
              <a:rPr sz="1000" b="0" i="0">
                <a:solidFill>
                  <a:srgbClr val="313131"/>
                </a:solidFill>
                <a:latin typeface="Open Sans"/>
              </a:rPr>
              <a:t>Build one Install Base Agent workflow (CX early-warning OR sales refresh trigger). Live readout with Anand, Vas, CX leadership. Decide phase 2 scope.</a:t>
            </a:r>
          </a:p>
        </p:txBody>
      </p:sp>
      <p:sp>
        <p:nvSpPr>
          <p:cNvPr id="29" name="Rectangle 28"/>
          <p:cNvSpPr/>
          <p:nvPr/>
        </p:nvSpPr>
        <p:spPr>
          <a:xfrm>
            <a:off x="466344" y="5349240"/>
            <a:ext cx="11256264" cy="45720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367528"/>
            <a:ext cx="10908792" cy="420624"/>
          </a:xfrm>
          <a:prstGeom prst="rect">
            <a:avLst/>
          </a:prstGeom>
          <a:noFill/>
        </p:spPr>
        <p:txBody>
          <a:bodyPr wrap="square" lIns="45720" rIns="45720" tIns="18288" bIns="18288" anchor="ctr">
            <a:spAutoFit/>
          </a:bodyPr>
          <a:lstStyle/>
          <a:p>
            <a:pPr algn="l"/>
            <a:r>
              <a:rPr sz="1200" b="1" i="0">
                <a:solidFill>
                  <a:srgbClr val="FFFFFF"/>
                </a:solidFill>
                <a:latin typeface="Open Sans"/>
              </a:rPr>
              <a:t>One product line. One cohort. One working score. Phase 2 scope is decided based on what we prove in phase 1, not committed to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b="1" sz="2200">
                <a:solidFill>
                  <a:srgbClr val="313131"/>
                </a:solidFill>
                <a:latin typeface="Open Sans"/>
              </a:rPr>
              <a:t>What we ask of Cisco to make this real</a:t>
            </a:r>
          </a:p>
        </p:txBody>
      </p:sp>
      <p:sp>
        <p:nvSpPr>
          <p:cNvPr id="3" name="TextBox 2"/>
          <p:cNvSpPr txBox="1"/>
          <p:nvPr/>
        </p:nvSpPr>
        <p:spPr>
          <a:xfrm>
            <a:off x="466344" y="1115568"/>
            <a:ext cx="11256264" cy="411480"/>
          </a:xfrm>
          <a:prstGeom prst="rect">
            <a:avLst/>
          </a:prstGeom>
          <a:noFill/>
        </p:spPr>
        <p:txBody>
          <a:bodyPr wrap="square" lIns="45720" rIns="45720" tIns="18288" bIns="18288">
            <a:spAutoFit/>
          </a:bodyPr>
          <a:lstStyle/>
          <a:p>
            <a:pPr algn="l"/>
            <a:r>
              <a:rPr sz="1200" b="0" i="1">
                <a:solidFill>
                  <a:srgbClr val="53565A"/>
                </a:solidFill>
                <a:latin typeface="Open Sans"/>
              </a:rPr>
              <a:t>Three asks. None of them require commitment beyond phase 1.</a:t>
            </a:r>
          </a:p>
        </p:txBody>
      </p:sp>
      <p:sp>
        <p:nvSpPr>
          <p:cNvPr id="4" name="Rectangle 3"/>
          <p:cNvSpPr/>
          <p:nvPr/>
        </p:nvSpPr>
        <p:spPr>
          <a:xfrm>
            <a:off x="466344" y="1645920"/>
            <a:ext cx="5532120" cy="457200"/>
          </a:xfrm>
          <a:prstGeom prst="rect">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1691640"/>
            <a:ext cx="5257800" cy="365760"/>
          </a:xfrm>
          <a:prstGeom prst="rect">
            <a:avLst/>
          </a:prstGeom>
          <a:noFill/>
        </p:spPr>
        <p:txBody>
          <a:bodyPr wrap="square" lIns="45720" rIns="45720" tIns="18288" bIns="18288" anchor="ctr">
            <a:spAutoFit/>
          </a:bodyPr>
          <a:lstStyle/>
          <a:p>
            <a:pPr algn="l"/>
            <a:r>
              <a:rPr sz="1400" b="1" i="0">
                <a:solidFill>
                  <a:srgbClr val="FFFFFF"/>
                </a:solidFill>
                <a:latin typeface="Open Sans"/>
              </a:rPr>
              <a:t>Three asks of Cisco</a:t>
            </a:r>
          </a:p>
        </p:txBody>
      </p:sp>
      <p:sp>
        <p:nvSpPr>
          <p:cNvPr id="6" name="Rectangle 5"/>
          <p:cNvSpPr/>
          <p:nvPr/>
        </p:nvSpPr>
        <p:spPr>
          <a:xfrm>
            <a:off x="466344" y="2103120"/>
            <a:ext cx="5532120" cy="342900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49224" y="2240280"/>
            <a:ext cx="411480" cy="411480"/>
          </a:xfrm>
          <a:prstGeom prst="ellipse">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Open Sans"/>
              </a:rPr>
              <a:t>1</a:t>
            </a:r>
          </a:p>
        </p:txBody>
      </p:sp>
      <p:sp>
        <p:nvSpPr>
          <p:cNvPr id="8" name="TextBox 7"/>
          <p:cNvSpPr txBox="1"/>
          <p:nvPr/>
        </p:nvSpPr>
        <p:spPr>
          <a:xfrm>
            <a:off x="1197864" y="2240280"/>
            <a:ext cx="4663440" cy="320040"/>
          </a:xfrm>
          <a:prstGeom prst="rect">
            <a:avLst/>
          </a:prstGeom>
          <a:noFill/>
        </p:spPr>
        <p:txBody>
          <a:bodyPr wrap="square" lIns="45720" rIns="45720" tIns="18288" bIns="18288">
            <a:spAutoFit/>
          </a:bodyPr>
          <a:lstStyle/>
          <a:p>
            <a:pPr algn="l"/>
            <a:r>
              <a:rPr sz="1200" b="1" i="0">
                <a:solidFill>
                  <a:srgbClr val="012169"/>
                </a:solidFill>
                <a:latin typeface="Open Sans"/>
              </a:rPr>
              <a:t>A primary business outcome owner</a:t>
            </a:r>
          </a:p>
        </p:txBody>
      </p:sp>
      <p:sp>
        <p:nvSpPr>
          <p:cNvPr id="9" name="TextBox 8"/>
          <p:cNvSpPr txBox="1"/>
          <p:nvPr/>
        </p:nvSpPr>
        <p:spPr>
          <a:xfrm>
            <a:off x="1197864" y="2560320"/>
            <a:ext cx="4663440" cy="777240"/>
          </a:xfrm>
          <a:prstGeom prst="rect">
            <a:avLst/>
          </a:prstGeom>
          <a:noFill/>
        </p:spPr>
        <p:txBody>
          <a:bodyPr wrap="square" lIns="45720" rIns="45720" tIns="18288" bIns="18288">
            <a:spAutoFit/>
          </a:bodyPr>
          <a:lstStyle/>
          <a:p>
            <a:pPr algn="l"/>
            <a:r>
              <a:rPr sz="1000" b="0" i="0">
                <a:solidFill>
                  <a:srgbClr val="313131"/>
                </a:solidFill>
                <a:latin typeface="Open Sans"/>
              </a:rPr>
              <a:t>Anand's CETO group can build the layer. The work needs a co-sponsor who owns the commercial outcome. Vas Gambhir (IACV) is the natural anchor; CX leadership is the strong second.</a:t>
            </a:r>
          </a:p>
        </p:txBody>
      </p:sp>
      <p:sp>
        <p:nvSpPr>
          <p:cNvPr id="10" name="Oval 9"/>
          <p:cNvSpPr/>
          <p:nvPr/>
        </p:nvSpPr>
        <p:spPr>
          <a:xfrm>
            <a:off x="649224" y="3337560"/>
            <a:ext cx="411480" cy="411480"/>
          </a:xfrm>
          <a:prstGeom prst="ellipse">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Open Sans"/>
              </a:rPr>
              <a:t>2</a:t>
            </a:r>
          </a:p>
        </p:txBody>
      </p:sp>
      <p:sp>
        <p:nvSpPr>
          <p:cNvPr id="11" name="TextBox 10"/>
          <p:cNvSpPr txBox="1"/>
          <p:nvPr/>
        </p:nvSpPr>
        <p:spPr>
          <a:xfrm>
            <a:off x="1197864" y="3337560"/>
            <a:ext cx="4663440" cy="320040"/>
          </a:xfrm>
          <a:prstGeom prst="rect">
            <a:avLst/>
          </a:prstGeom>
          <a:noFill/>
        </p:spPr>
        <p:txBody>
          <a:bodyPr wrap="square" lIns="45720" rIns="45720" tIns="18288" bIns="18288">
            <a:spAutoFit/>
          </a:bodyPr>
          <a:lstStyle/>
          <a:p>
            <a:pPr algn="l"/>
            <a:r>
              <a:rPr sz="1200" b="1" i="0">
                <a:solidFill>
                  <a:srgbClr val="012169"/>
                </a:solidFill>
                <a:latin typeface="Open Sans"/>
              </a:rPr>
              <a:t>Data access for the AI INFRA cohort</a:t>
            </a:r>
          </a:p>
        </p:txBody>
      </p:sp>
      <p:sp>
        <p:nvSpPr>
          <p:cNvPr id="12" name="TextBox 11"/>
          <p:cNvSpPr txBox="1"/>
          <p:nvPr/>
        </p:nvSpPr>
        <p:spPr>
          <a:xfrm>
            <a:off x="1197864" y="3657600"/>
            <a:ext cx="4663440" cy="777240"/>
          </a:xfrm>
          <a:prstGeom prst="rect">
            <a:avLst/>
          </a:prstGeom>
          <a:noFill/>
        </p:spPr>
        <p:txBody>
          <a:bodyPr wrap="square" lIns="45720" rIns="45720" tIns="18288" bIns="18288">
            <a:spAutoFit/>
          </a:bodyPr>
          <a:lstStyle/>
          <a:p>
            <a:pPr algn="l"/>
            <a:r>
              <a:rPr sz="1000" b="0" i="0">
                <a:solidFill>
                  <a:srgbClr val="313131"/>
                </a:solidFill>
                <a:latin typeface="Open Sans"/>
              </a:rPr>
              <a:t>Read access to the BU Snowflake instances, the CX flat files, and Varun's S3 pipeline for a defined customer cohort. Plus Commerce Portal and seller CRM for the joins.</a:t>
            </a:r>
          </a:p>
        </p:txBody>
      </p:sp>
      <p:sp>
        <p:nvSpPr>
          <p:cNvPr id="13" name="Oval 12"/>
          <p:cNvSpPr/>
          <p:nvPr/>
        </p:nvSpPr>
        <p:spPr>
          <a:xfrm>
            <a:off x="649224" y="4434840"/>
            <a:ext cx="411480" cy="411480"/>
          </a:xfrm>
          <a:prstGeom prst="ellipse">
            <a:avLst/>
          </a:prstGeom>
          <a:solidFill>
            <a:srgbClr val="01216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Open Sans"/>
              </a:rPr>
              <a:t>3</a:t>
            </a:r>
          </a:p>
        </p:txBody>
      </p:sp>
      <p:sp>
        <p:nvSpPr>
          <p:cNvPr id="14" name="TextBox 13"/>
          <p:cNvSpPr txBox="1"/>
          <p:nvPr/>
        </p:nvSpPr>
        <p:spPr>
          <a:xfrm>
            <a:off x="1197864" y="4434840"/>
            <a:ext cx="4663440" cy="320040"/>
          </a:xfrm>
          <a:prstGeom prst="rect">
            <a:avLst/>
          </a:prstGeom>
          <a:noFill/>
        </p:spPr>
        <p:txBody>
          <a:bodyPr wrap="square" lIns="45720" rIns="45720" tIns="18288" bIns="18288">
            <a:spAutoFit/>
          </a:bodyPr>
          <a:lstStyle/>
          <a:p>
            <a:pPr algn="l"/>
            <a:r>
              <a:rPr sz="1200" b="1" i="0">
                <a:solidFill>
                  <a:srgbClr val="012169"/>
                </a:solidFill>
                <a:latin typeface="Open Sans"/>
              </a:rPr>
              <a:t>Honest history</a:t>
            </a:r>
          </a:p>
        </p:txBody>
      </p:sp>
      <p:sp>
        <p:nvSpPr>
          <p:cNvPr id="15" name="TextBox 14"/>
          <p:cNvSpPr txBox="1"/>
          <p:nvPr/>
        </p:nvSpPr>
        <p:spPr>
          <a:xfrm>
            <a:off x="1197864" y="4754880"/>
            <a:ext cx="4663440" cy="777240"/>
          </a:xfrm>
          <a:prstGeom prst="rect">
            <a:avLst/>
          </a:prstGeom>
          <a:noFill/>
        </p:spPr>
        <p:txBody>
          <a:bodyPr wrap="square" lIns="45720" rIns="45720" tIns="18288" bIns="18288">
            <a:spAutoFit/>
          </a:bodyPr>
          <a:lstStyle/>
          <a:p>
            <a:pPr algn="l"/>
            <a:r>
              <a:rPr sz="1000" b="0" i="0">
                <a:solidFill>
                  <a:srgbClr val="313131"/>
                </a:solidFill>
                <a:latin typeface="Open Sans"/>
              </a:rPr>
              <a:t>What has been tried before. What worked. What stalled, and why. We will design the engagement to avoid the pattern of stall, and we need to know what that pattern was.</a:t>
            </a:r>
          </a:p>
        </p:txBody>
      </p:sp>
      <p:sp>
        <p:nvSpPr>
          <p:cNvPr id="16" name="Rectangle 15"/>
          <p:cNvSpPr/>
          <p:nvPr/>
        </p:nvSpPr>
        <p:spPr>
          <a:xfrm>
            <a:off x="6245352" y="1645920"/>
            <a:ext cx="5477256" cy="457200"/>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691640"/>
            <a:ext cx="5202936" cy="365760"/>
          </a:xfrm>
          <a:prstGeom prst="rect">
            <a:avLst/>
          </a:prstGeom>
          <a:noFill/>
        </p:spPr>
        <p:txBody>
          <a:bodyPr wrap="square" lIns="45720" rIns="45720" tIns="18288" bIns="18288" anchor="ctr">
            <a:spAutoFit/>
          </a:bodyPr>
          <a:lstStyle/>
          <a:p>
            <a:pPr algn="l"/>
            <a:r>
              <a:rPr sz="1400" b="1" i="0">
                <a:solidFill>
                  <a:srgbClr val="FFFFFF"/>
                </a:solidFill>
                <a:latin typeface="Open Sans"/>
              </a:rPr>
              <a:t>How we engage from week 1</a:t>
            </a:r>
          </a:p>
        </p:txBody>
      </p:sp>
      <p:sp>
        <p:nvSpPr>
          <p:cNvPr id="18" name="Rectangle 17"/>
          <p:cNvSpPr/>
          <p:nvPr/>
        </p:nvSpPr>
        <p:spPr>
          <a:xfrm>
            <a:off x="6245352" y="2103120"/>
            <a:ext cx="5477256" cy="3429000"/>
          </a:xfrm>
          <a:prstGeom prst="rect">
            <a:avLst/>
          </a:prstGeom>
          <a:solidFill>
            <a:srgbClr val="E6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73952" y="2313432"/>
            <a:ext cx="91440" cy="9144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6832" y="2240280"/>
            <a:ext cx="4974336" cy="274320"/>
          </a:xfrm>
          <a:prstGeom prst="rect">
            <a:avLst/>
          </a:prstGeom>
          <a:noFill/>
        </p:spPr>
        <p:txBody>
          <a:bodyPr wrap="square" lIns="45720" rIns="45720" tIns="18288" bIns="18288">
            <a:spAutoFit/>
          </a:bodyPr>
          <a:lstStyle/>
          <a:p>
            <a:pPr algn="l"/>
            <a:r>
              <a:rPr sz="1100" b="1" i="0">
                <a:solidFill>
                  <a:srgbClr val="012169"/>
                </a:solidFill>
                <a:latin typeface="Open Sans"/>
              </a:rPr>
              <a:t>Anand (CETO)</a:t>
            </a:r>
          </a:p>
        </p:txBody>
      </p:sp>
      <p:sp>
        <p:nvSpPr>
          <p:cNvPr id="21" name="TextBox 20"/>
          <p:cNvSpPr txBox="1"/>
          <p:nvPr/>
        </p:nvSpPr>
        <p:spPr>
          <a:xfrm>
            <a:off x="6656832" y="2514600"/>
            <a:ext cx="4974336" cy="274320"/>
          </a:xfrm>
          <a:prstGeom prst="rect">
            <a:avLst/>
          </a:prstGeom>
          <a:noFill/>
        </p:spPr>
        <p:txBody>
          <a:bodyPr wrap="square" lIns="45720" rIns="45720" tIns="18288" bIns="18288">
            <a:spAutoFit/>
          </a:bodyPr>
          <a:lstStyle/>
          <a:p>
            <a:pPr algn="l"/>
            <a:r>
              <a:rPr sz="1000" b="0" i="0">
                <a:solidFill>
                  <a:srgbClr val="53565A"/>
                </a:solidFill>
                <a:latin typeface="Open Sans"/>
              </a:rPr>
              <a:t>IT owner. Engagement sponsor. Weekly steer.</a:t>
            </a:r>
          </a:p>
        </p:txBody>
      </p:sp>
      <p:sp>
        <p:nvSpPr>
          <p:cNvPr id="22" name="Oval 21"/>
          <p:cNvSpPr/>
          <p:nvPr/>
        </p:nvSpPr>
        <p:spPr>
          <a:xfrm>
            <a:off x="6473952" y="2816352"/>
            <a:ext cx="91440" cy="9144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56832" y="2743200"/>
            <a:ext cx="4974336" cy="274320"/>
          </a:xfrm>
          <a:prstGeom prst="rect">
            <a:avLst/>
          </a:prstGeom>
          <a:noFill/>
        </p:spPr>
        <p:txBody>
          <a:bodyPr wrap="square" lIns="45720" rIns="45720" tIns="18288" bIns="18288">
            <a:spAutoFit/>
          </a:bodyPr>
          <a:lstStyle/>
          <a:p>
            <a:pPr algn="l"/>
            <a:r>
              <a:rPr sz="1100" b="1" i="0">
                <a:solidFill>
                  <a:srgbClr val="012169"/>
                </a:solidFill>
                <a:latin typeface="Open Sans"/>
              </a:rPr>
              <a:t>Vas Gambhir (IACV)</a:t>
            </a:r>
          </a:p>
        </p:txBody>
      </p:sp>
      <p:sp>
        <p:nvSpPr>
          <p:cNvPr id="24" name="TextBox 23"/>
          <p:cNvSpPr txBox="1"/>
          <p:nvPr/>
        </p:nvSpPr>
        <p:spPr>
          <a:xfrm>
            <a:off x="6656832" y="3017520"/>
            <a:ext cx="4974336" cy="274320"/>
          </a:xfrm>
          <a:prstGeom prst="rect">
            <a:avLst/>
          </a:prstGeom>
          <a:noFill/>
        </p:spPr>
        <p:txBody>
          <a:bodyPr wrap="square" lIns="45720" rIns="45720" tIns="18288" bIns="18288">
            <a:spAutoFit/>
          </a:bodyPr>
          <a:lstStyle/>
          <a:p>
            <a:pPr algn="l"/>
            <a:r>
              <a:rPr sz="1000" b="0" i="0">
                <a:solidFill>
                  <a:srgbClr val="53565A"/>
                </a:solidFill>
                <a:latin typeface="Open Sans"/>
              </a:rPr>
              <a:t>Business outcome anchor. Joins by week 2.</a:t>
            </a:r>
          </a:p>
        </p:txBody>
      </p:sp>
      <p:sp>
        <p:nvSpPr>
          <p:cNvPr id="25" name="Oval 24"/>
          <p:cNvSpPr/>
          <p:nvPr/>
        </p:nvSpPr>
        <p:spPr>
          <a:xfrm>
            <a:off x="6473952" y="3319272"/>
            <a:ext cx="91440" cy="9144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56832" y="3246120"/>
            <a:ext cx="4974336" cy="274320"/>
          </a:xfrm>
          <a:prstGeom prst="rect">
            <a:avLst/>
          </a:prstGeom>
          <a:noFill/>
        </p:spPr>
        <p:txBody>
          <a:bodyPr wrap="square" lIns="45720" rIns="45720" tIns="18288" bIns="18288">
            <a:spAutoFit/>
          </a:bodyPr>
          <a:lstStyle/>
          <a:p>
            <a:pPr algn="l"/>
            <a:r>
              <a:rPr sz="1100" b="1" i="0">
                <a:solidFill>
                  <a:srgbClr val="012169"/>
                </a:solidFill>
                <a:latin typeface="Open Sans"/>
              </a:rPr>
              <a:t>Lavanya &amp; Bhaskar (CX)</a:t>
            </a:r>
          </a:p>
        </p:txBody>
      </p:sp>
      <p:sp>
        <p:nvSpPr>
          <p:cNvPr id="27" name="TextBox 26"/>
          <p:cNvSpPr txBox="1"/>
          <p:nvPr/>
        </p:nvSpPr>
        <p:spPr>
          <a:xfrm>
            <a:off x="6656832" y="3520439"/>
            <a:ext cx="4974336" cy="274320"/>
          </a:xfrm>
          <a:prstGeom prst="rect">
            <a:avLst/>
          </a:prstGeom>
          <a:noFill/>
        </p:spPr>
        <p:txBody>
          <a:bodyPr wrap="square" lIns="45720" rIns="45720" tIns="18288" bIns="18288">
            <a:spAutoFit/>
          </a:bodyPr>
          <a:lstStyle/>
          <a:p>
            <a:pPr algn="l"/>
            <a:r>
              <a:rPr sz="1000" b="0" i="0">
                <a:solidFill>
                  <a:srgbClr val="53565A"/>
                </a:solidFill>
                <a:latin typeface="Open Sans"/>
              </a:rPr>
              <a:t>Renewal protection workstream. Joins by week 3.</a:t>
            </a:r>
          </a:p>
        </p:txBody>
      </p:sp>
      <p:sp>
        <p:nvSpPr>
          <p:cNvPr id="28" name="Oval 27"/>
          <p:cNvSpPr/>
          <p:nvPr/>
        </p:nvSpPr>
        <p:spPr>
          <a:xfrm>
            <a:off x="6473952" y="3822191"/>
            <a:ext cx="91440" cy="9144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56832" y="3749039"/>
            <a:ext cx="4974336" cy="274320"/>
          </a:xfrm>
          <a:prstGeom prst="rect">
            <a:avLst/>
          </a:prstGeom>
          <a:noFill/>
        </p:spPr>
        <p:txBody>
          <a:bodyPr wrap="square" lIns="45720" rIns="45720" tIns="18288" bIns="18288">
            <a:spAutoFit/>
          </a:bodyPr>
          <a:lstStyle/>
          <a:p>
            <a:pPr algn="l"/>
            <a:r>
              <a:rPr sz="1100" b="1" i="0">
                <a:solidFill>
                  <a:srgbClr val="012169"/>
                </a:solidFill>
                <a:latin typeface="Open Sans"/>
              </a:rPr>
              <a:t>Varun (Telemetry)</a:t>
            </a:r>
          </a:p>
        </p:txBody>
      </p:sp>
      <p:sp>
        <p:nvSpPr>
          <p:cNvPr id="30" name="TextBox 29"/>
          <p:cNvSpPr txBox="1"/>
          <p:nvPr/>
        </p:nvSpPr>
        <p:spPr>
          <a:xfrm>
            <a:off x="6656832" y="4023359"/>
            <a:ext cx="4974336" cy="274320"/>
          </a:xfrm>
          <a:prstGeom prst="rect">
            <a:avLst/>
          </a:prstGeom>
          <a:noFill/>
        </p:spPr>
        <p:txBody>
          <a:bodyPr wrap="square" lIns="45720" rIns="45720" tIns="18288" bIns="18288">
            <a:spAutoFit/>
          </a:bodyPr>
          <a:lstStyle/>
          <a:p>
            <a:pPr algn="l"/>
            <a:r>
              <a:rPr sz="1000" b="0" i="0">
                <a:solidFill>
                  <a:srgbClr val="53565A"/>
                </a:solidFill>
                <a:latin typeface="Open Sans"/>
              </a:rPr>
              <a:t>Technical partner from day 1. Joint build.</a:t>
            </a:r>
          </a:p>
        </p:txBody>
      </p:sp>
      <p:sp>
        <p:nvSpPr>
          <p:cNvPr id="31" name="Oval 30"/>
          <p:cNvSpPr/>
          <p:nvPr/>
        </p:nvSpPr>
        <p:spPr>
          <a:xfrm>
            <a:off x="6473952" y="4325112"/>
            <a:ext cx="91440" cy="9144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56832" y="4251959"/>
            <a:ext cx="4974336" cy="274320"/>
          </a:xfrm>
          <a:prstGeom prst="rect">
            <a:avLst/>
          </a:prstGeom>
          <a:noFill/>
        </p:spPr>
        <p:txBody>
          <a:bodyPr wrap="square" lIns="45720" rIns="45720" tIns="18288" bIns="18288">
            <a:spAutoFit/>
          </a:bodyPr>
          <a:lstStyle/>
          <a:p>
            <a:pPr algn="l"/>
            <a:r>
              <a:rPr sz="1100" b="1" i="0">
                <a:solidFill>
                  <a:srgbClr val="012169"/>
                </a:solidFill>
                <a:latin typeface="Open Sans"/>
              </a:rPr>
              <a:t>Balram &amp; Subrata (Track 2)</a:t>
            </a:r>
          </a:p>
        </p:txBody>
      </p:sp>
      <p:sp>
        <p:nvSpPr>
          <p:cNvPr id="33" name="TextBox 32"/>
          <p:cNvSpPr txBox="1"/>
          <p:nvPr/>
        </p:nvSpPr>
        <p:spPr>
          <a:xfrm>
            <a:off x="6656832" y="4526279"/>
            <a:ext cx="4974336" cy="274320"/>
          </a:xfrm>
          <a:prstGeom prst="rect">
            <a:avLst/>
          </a:prstGeom>
          <a:noFill/>
        </p:spPr>
        <p:txBody>
          <a:bodyPr wrap="square" lIns="45720" rIns="45720" tIns="18288" bIns="18288">
            <a:spAutoFit/>
          </a:bodyPr>
          <a:lstStyle/>
          <a:p>
            <a:pPr algn="l"/>
            <a:r>
              <a:rPr sz="1000" b="0" i="0">
                <a:solidFill>
                  <a:srgbClr val="53565A"/>
                </a:solidFill>
                <a:latin typeface="Open Sans"/>
              </a:rPr>
              <a:t>Customer identity resolution joint design.</a:t>
            </a:r>
          </a:p>
        </p:txBody>
      </p:sp>
      <p:sp>
        <p:nvSpPr>
          <p:cNvPr id="34" name="Oval 33"/>
          <p:cNvSpPr/>
          <p:nvPr/>
        </p:nvSpPr>
        <p:spPr>
          <a:xfrm>
            <a:off x="6473952" y="4828031"/>
            <a:ext cx="91440" cy="9144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56832" y="4754879"/>
            <a:ext cx="4974336" cy="274320"/>
          </a:xfrm>
          <a:prstGeom prst="rect">
            <a:avLst/>
          </a:prstGeom>
          <a:noFill/>
        </p:spPr>
        <p:txBody>
          <a:bodyPr wrap="square" lIns="45720" rIns="45720" tIns="18288" bIns="18288">
            <a:spAutoFit/>
          </a:bodyPr>
          <a:lstStyle/>
          <a:p>
            <a:pPr algn="l"/>
            <a:r>
              <a:rPr sz="1100" b="1" i="0">
                <a:solidFill>
                  <a:srgbClr val="012169"/>
                </a:solidFill>
                <a:latin typeface="Open Sans"/>
              </a:rPr>
              <a:t>Ankur (Deloitte LP)</a:t>
            </a:r>
          </a:p>
        </p:txBody>
      </p:sp>
      <p:sp>
        <p:nvSpPr>
          <p:cNvPr id="36" name="TextBox 35"/>
          <p:cNvSpPr txBox="1"/>
          <p:nvPr/>
        </p:nvSpPr>
        <p:spPr>
          <a:xfrm>
            <a:off x="6656832" y="5029199"/>
            <a:ext cx="4974336" cy="274320"/>
          </a:xfrm>
          <a:prstGeom prst="rect">
            <a:avLst/>
          </a:prstGeom>
          <a:noFill/>
        </p:spPr>
        <p:txBody>
          <a:bodyPr wrap="square" lIns="45720" rIns="45720" tIns="18288" bIns="18288">
            <a:spAutoFit/>
          </a:bodyPr>
          <a:lstStyle/>
          <a:p>
            <a:pPr algn="l"/>
            <a:r>
              <a:rPr sz="1000" b="0" i="0">
                <a:solidFill>
                  <a:srgbClr val="53565A"/>
                </a:solidFill>
                <a:latin typeface="Open Sans"/>
              </a:rPr>
              <a:t>Engagement leadership. Weekly aligned.</a:t>
            </a:r>
          </a:p>
        </p:txBody>
      </p:sp>
      <p:sp>
        <p:nvSpPr>
          <p:cNvPr id="37" name="TextBox 36"/>
          <p:cNvSpPr txBox="1"/>
          <p:nvPr/>
        </p:nvSpPr>
        <p:spPr>
          <a:xfrm>
            <a:off x="466344" y="5669280"/>
            <a:ext cx="11256264" cy="274320"/>
          </a:xfrm>
          <a:prstGeom prst="rect">
            <a:avLst/>
          </a:prstGeom>
          <a:noFill/>
        </p:spPr>
        <p:txBody>
          <a:bodyPr wrap="square" lIns="45720" rIns="45720" tIns="18288" bIns="18288">
            <a:spAutoFit/>
          </a:bodyPr>
          <a:lstStyle/>
          <a:p>
            <a:pPr algn="ctr"/>
            <a:r>
              <a:rPr sz="1100" b="1" i="1">
                <a:solidFill>
                  <a:srgbClr val="86BC25"/>
                </a:solidFill>
                <a:latin typeface="Open Sans"/>
              </a:rPr>
              <a:t>Phase 1 is six to eight weeks. The decision today is not the engagement. It is the workshop that scopes phase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66344" y="3291840"/>
            <a:ext cx="6400800" cy="1097280"/>
          </a:xfrm>
          <a:prstGeom prst="rect">
            <a:avLst/>
          </a:prstGeom>
          <a:noFill/>
        </p:spPr>
        <p:txBody>
          <a:bodyPr wrap="square" lIns="45720" rIns="45720" tIns="18288" bIns="18288">
            <a:spAutoFit/>
          </a:bodyPr>
          <a:lstStyle/>
          <a:p>
            <a:pPr algn="l"/>
            <a:r>
              <a:rPr sz="5400" b="1" i="0">
                <a:solidFill>
                  <a:srgbClr val="313131"/>
                </a:solidFill>
                <a:latin typeface="Open Sans"/>
              </a:rPr>
              <a:t>Thank you.</a:t>
            </a:r>
          </a:p>
        </p:txBody>
      </p:sp>
      <p:sp>
        <p:nvSpPr>
          <p:cNvPr id="3" name="Rectangle 2"/>
          <p:cNvSpPr/>
          <p:nvPr/>
        </p:nvSpPr>
        <p:spPr>
          <a:xfrm>
            <a:off x="466344" y="4434840"/>
            <a:ext cx="2011680"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66344" y="4663440"/>
            <a:ext cx="6400800" cy="411480"/>
          </a:xfrm>
          <a:prstGeom prst="rect">
            <a:avLst/>
          </a:prstGeom>
          <a:noFill/>
        </p:spPr>
        <p:txBody>
          <a:bodyPr wrap="square" lIns="45720" rIns="45720" tIns="18288" bIns="18288">
            <a:spAutoFit/>
          </a:bodyPr>
          <a:lstStyle/>
          <a:p>
            <a:pPr algn="l"/>
            <a:r>
              <a:rPr sz="1400" b="1" i="0">
                <a:solidFill>
                  <a:srgbClr val="012169"/>
                </a:solidFill>
                <a:latin typeface="Open Sans"/>
              </a:rPr>
              <a:t>From Telemetry to Commercial Intelligence</a:t>
            </a:r>
          </a:p>
        </p:txBody>
      </p:sp>
      <p:sp>
        <p:nvSpPr>
          <p:cNvPr id="5" name="TextBox 4"/>
          <p:cNvSpPr txBox="1"/>
          <p:nvPr/>
        </p:nvSpPr>
        <p:spPr>
          <a:xfrm>
            <a:off x="466344" y="5029200"/>
            <a:ext cx="6400800" cy="365760"/>
          </a:xfrm>
          <a:prstGeom prst="rect">
            <a:avLst/>
          </a:prstGeom>
          <a:noFill/>
        </p:spPr>
        <p:txBody>
          <a:bodyPr wrap="square" lIns="45720" rIns="45720" tIns="18288" bIns="18288">
            <a:spAutoFit/>
          </a:bodyPr>
          <a:lstStyle/>
          <a:p>
            <a:pPr algn="l"/>
            <a:r>
              <a:rPr sz="1100" b="0" i="0">
                <a:solidFill>
                  <a:srgbClr val="53565A"/>
                </a:solidFill>
                <a:latin typeface="Open Sans"/>
              </a:rPr>
              <a:t>Cisco AI Infrastructure  |  Deloitte working pitch</a:t>
            </a:r>
          </a:p>
        </p:txBody>
      </p:sp>
      <p:sp>
        <p:nvSpPr>
          <p:cNvPr id="6" name="TextBox 5"/>
          <p:cNvSpPr txBox="1"/>
          <p:nvPr/>
        </p:nvSpPr>
        <p:spPr>
          <a:xfrm>
            <a:off x="466344" y="5577840"/>
            <a:ext cx="11256264" cy="1097280"/>
          </a:xfrm>
          <a:prstGeom prst="rect">
            <a:avLst/>
          </a:prstGeom>
          <a:noFill/>
        </p:spPr>
        <p:txBody>
          <a:bodyPr wrap="square" lIns="45720" rIns="45720" tIns="18288" bIns="18288">
            <a:spAutoFit/>
          </a:bodyPr>
          <a:lstStyle/>
          <a:p>
            <a:pPr algn="l"/>
            <a:r>
              <a:rPr sz="700" b="0" i="0">
                <a:solidFill>
                  <a:srgbClr val="53565A"/>
                </a:solidFill>
                <a:latin typeface="Open Sans"/>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br/>
            <a:br/>
            <a:r>
              <a:rPr sz="700" b="0" i="0">
                <a:solidFill>
                  <a:srgbClr val="53565A"/>
                </a:solidFill>
                <a:latin typeface="Open Sans"/>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the rules and regulations of public accounting.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US.potx [Read-Only]" id="{747678D8-1E3A-4E91-B049-69D7C2820B25}" vid="{DC5301C9-FEEC-481D-B604-AC964BC0CB3B}"/>
    </a:ext>
  </a:extLst>
</a:theme>
</file>

<file path=ppt/theme/theme2.xml><?xml version="1.0" encoding="utf-8"?>
<a:theme xmlns:a="http://schemas.openxmlformats.org/drawingml/2006/main" name="DeloitteTheme2021_OpenSans">
  <a:themeElements>
    <a:clrScheme name="Deloitte2021">
      <a:dk1>
        <a:srgbClr val="000000"/>
      </a:dk1>
      <a:lt1>
        <a:srgbClr val="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loud Market Offering">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Theme2021_OpenSans" id="{954FED3A-F4D9-A640-B136-AE29D353F62A}" vid="{259AB7B3-3F54-D948-88A1-B5F57CA5AA9E}"/>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F54C77A1458144082AE147E7F09B8FA" ma:contentTypeVersion="11" ma:contentTypeDescription="Create a new document." ma:contentTypeScope="" ma:versionID="ed0eebb835ebb4a0d5e85b9fb37b7c31">
  <xsd:schema xmlns:xsd="http://www.w3.org/2001/XMLSchema" xmlns:xs="http://www.w3.org/2001/XMLSchema" xmlns:p="http://schemas.microsoft.com/office/2006/metadata/properties" xmlns:ns2="747df5d4-2ee9-4481-82f2-5f8ae4a7651b" xmlns:ns3="48eb6c90-d7c5-4f82-a4bd-74382039df2f" targetNamespace="http://schemas.microsoft.com/office/2006/metadata/properties" ma:root="true" ma:fieldsID="7fca93861e68833fd404b5582843642b" ns2:_="" ns3:_="">
    <xsd:import namespace="747df5d4-2ee9-4481-82f2-5f8ae4a7651b"/>
    <xsd:import namespace="48eb6c90-d7c5-4f82-a4bd-74382039df2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7df5d4-2ee9-4481-82f2-5f8ae4a765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eb6c90-d7c5-4f82-a4bd-74382039df2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9D717C-6647-4B9C-AB63-BC4A4A0EFB9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81F8B83-5A25-43D0-8F94-6C972363D299}">
  <ds:schemaRefs>
    <ds:schemaRef ds:uri="http://schemas.microsoft.com/sharepoint/v3/contenttype/forms"/>
  </ds:schemaRefs>
</ds:datastoreItem>
</file>

<file path=customXml/itemProps3.xml><?xml version="1.0" encoding="utf-8"?>
<ds:datastoreItem xmlns:ds="http://schemas.openxmlformats.org/officeDocument/2006/customXml" ds:itemID="{EBDB3247-9B25-459E-BDCE-FC216D4869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47df5d4-2ee9-4481-82f2-5f8ae4a7651b"/>
    <ds:schemaRef ds:uri="48eb6c90-d7c5-4f82-a4bd-74382039df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203</TotalTime>
  <Words>2181</Words>
  <Application>Microsoft Office PowerPoint</Application>
  <PresentationFormat>Widescreen</PresentationFormat>
  <Paragraphs>294</Paragraphs>
  <Slides>10</Slides>
  <Notes>5</Notes>
  <HiddenSlides>0</HiddenSlides>
  <MMClips>0</MMClips>
  <ScaleCrop>false</ScaleCrop>
  <HeadingPairs>
    <vt:vector size="8" baseType="variant">
      <vt:variant>
        <vt:lpstr>Fonts Used</vt:lpstr>
      </vt:variant>
      <vt:variant>
        <vt:i4>10</vt:i4>
      </vt:variant>
      <vt:variant>
        <vt:lpstr>Theme</vt:lpstr>
      </vt:variant>
      <vt:variant>
        <vt:i4>3</vt:i4>
      </vt:variant>
      <vt:variant>
        <vt:lpstr>Embedded OLE Servers</vt:lpstr>
      </vt:variant>
      <vt:variant>
        <vt:i4>1</vt:i4>
      </vt:variant>
      <vt:variant>
        <vt:lpstr>Slide Titles</vt:lpstr>
      </vt:variant>
      <vt:variant>
        <vt:i4>10</vt:i4>
      </vt:variant>
    </vt:vector>
  </HeadingPairs>
  <TitlesOfParts>
    <vt:vector size="24" baseType="lpstr">
      <vt:lpstr>Arial</vt:lpstr>
      <vt:lpstr>Calibri</vt:lpstr>
      <vt:lpstr>Calibri Light</vt:lpstr>
      <vt:lpstr>Chronicle Display Black</vt:lpstr>
      <vt:lpstr>Nexa Black</vt:lpstr>
      <vt:lpstr>Open Sans</vt:lpstr>
      <vt:lpstr>Open Sans Light</vt:lpstr>
      <vt:lpstr>Verdana</vt:lpstr>
      <vt:lpstr>Wingdings</vt:lpstr>
      <vt:lpstr>Wingdings 2</vt:lpstr>
      <vt:lpstr>1_Deloitte_US_Onscreen</vt:lpstr>
      <vt:lpstr>DeloitteTheme2021_OpenSans</vt:lpstr>
      <vt:lpstr>1_Office Theme</vt:lpstr>
      <vt:lpstr>think-cell Slide</vt:lpstr>
      <vt:lpstr>PowerPoint Presentation</vt:lpstr>
      <vt:lpstr>Reimagining Cloud Migration Journey</vt:lpstr>
      <vt:lpstr>Cloud Modernization Patterns</vt:lpstr>
      <vt:lpstr>Deloitte Modernization Factory – Our Differentiated Approach</vt:lpstr>
      <vt:lpstr>Deloitte &amp; Snowflake Modernization Factory – Our Automation Suite</vt:lpstr>
      <vt:lpstr>Deloitte "Data Assist" Accelerator with Agents Across the Data Value Chain</vt:lpstr>
      <vt:lpstr>Our Value Proposition</vt:lpstr>
      <vt:lpstr>PowerPoint Presentation</vt:lpstr>
      <vt:lpstr>Deloitte is positioned to lead AI and Data engagements with Snowflake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Dandekar, Rupesh</dc:creator>
  <cp:lastModifiedBy>Dandekar, Rupesh</cp:lastModifiedBy>
  <cp:revision>4</cp:revision>
  <dcterms:created xsi:type="dcterms:W3CDTF">2023-08-07T20:09:55Z</dcterms:created>
  <dcterms:modified xsi:type="dcterms:W3CDTF">2026-05-05T15:28:32Z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2023-08-07T20:09:55Z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1543aacd-ed90-4f4c-86b1-1108b93cc73a</vt:lpwstr>
  </property>
  <property fmtid="{D5CDD505-2E9C-101B-9397-08002B2CF9AE}" pid="8" name="MSIP_Label_ea60d57e-af5b-4752-ac57-3e4f28ca11dc_ContentBits">
    <vt:lpwstr>0</vt:lpwstr>
  </property>
  <property fmtid="{D5CDD505-2E9C-101B-9397-08002B2CF9AE}" pid="9" name="ContentTypeId">
    <vt:lpwstr>0x010100BF54C77A1458144082AE147E7F09B8FA</vt:lpwstr>
  </property>
</Properties>
</file>