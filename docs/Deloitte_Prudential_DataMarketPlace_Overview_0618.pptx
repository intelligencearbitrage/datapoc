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4"/>
  </p:sldMasterIdLst>
  <p:notesMasterIdLst>
    <p:notesMasterId r:id="rId22"/>
  </p:notesMasterIdLst>
  <p:sldIdLst>
    <p:sldId id="2147308812" r:id="rId5"/>
    <p:sldId id="2147483273" r:id="rId6"/>
    <p:sldId id="2147481835" r:id="rId7"/>
    <p:sldId id="2147481837" r:id="rId8"/>
    <p:sldId id="2147481834" r:id="rId9"/>
    <p:sldId id="2147481846" r:id="rId10"/>
    <p:sldId id="2147483275" r:id="rId11"/>
    <p:sldId id="2147482505" r:id="rId12"/>
    <p:sldId id="2147483279" r:id="rId13"/>
    <p:sldId id="2147483276" r:id="rId14"/>
    <p:sldId id="2147481850" r:id="rId15"/>
    <p:sldId id="2147483272" r:id="rId16"/>
    <p:sldId id="2147481843" r:id="rId17"/>
    <p:sldId id="2147481844" r:id="rId18"/>
    <p:sldId id="2147481842" r:id="rId19"/>
    <p:sldId id="2147481836" r:id="rId20"/>
    <p:sldId id="214737439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50BDC45-880E-461D-A95A-0BD50D97B0B3}">
          <p14:sldIdLst>
            <p14:sldId id="2147308812"/>
            <p14:sldId id="2147483273"/>
            <p14:sldId id="2147481835"/>
            <p14:sldId id="2147481837"/>
            <p14:sldId id="2147481834"/>
            <p14:sldId id="2147481846"/>
            <p14:sldId id="2147483275"/>
            <p14:sldId id="2147482505"/>
            <p14:sldId id="2147483279"/>
            <p14:sldId id="2147483276"/>
            <p14:sldId id="2147481850"/>
            <p14:sldId id="2147483272"/>
            <p14:sldId id="2147481843"/>
            <p14:sldId id="2147481844"/>
            <p14:sldId id="2147481842"/>
            <p14:sldId id="2147481836"/>
            <p14:sldId id="214737439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BC5613-CB11-E4B8-0267-C35FB37E671A}" name="Gangadharan, Mithun" initials="GM" userId="S::mgangadharan@deloitte.com::3ccf545a-a753-4a3e-9dbf-f1397910301c" providerId="AD"/>
  <p188:author id="{64D9DC43-D581-F545-C940-1A0E9B8C5DC5}" name="Mathur, Shekhar" initials="MS" userId="S::shemathur@deloitte.com::ffc3f7cc-dc5b-4546-8e9b-7e952313476b" providerId="AD"/>
  <p188:author id="{3CF7CC52-AFC4-4D50-9889-37679AF5E842}" name="Samanta, Kaushik" initials="SK" userId="S::kasamanta@deloitte.com::3e96c15c-cc2e-446f-97df-ec20b549b571" providerId="AD"/>
  <p188:author id="{D64F4B5B-2072-6A38-349D-6354DE4D8AFD}" name="Sundaram, Prem Sagar" initials="SPS" userId="S::pssundaram@deloitte.com::819a079e-446e-4347-b6ca-9ef83f72e7da" providerId="AD"/>
  <p188:author id="{85F1AE60-58F4-4A99-FD65-DCA01B447C5E}" name="Dandekar, Rupesh" initials="DR" userId="S::rudandekar@deloitte.com::2ec24d39-a403-47d2-b934-c6602cb48632" providerId="AD"/>
  <p188:author id="{53DE8A8A-8886-9F1B-88A9-DD3518B79E2A}" name="Rigaud, Marvin" initials="RM" userId="S::mrigaud@deloitte.com::3858a81c-ccf5-4892-bcfd-4d32553a704f" providerId="AD"/>
  <p188:author id="{8E76C18D-ECCD-EB00-840D-834C88334A5D}" name="Gorantla, Deepti" initials="GD" userId="S::dgorantla@deloitte.com::7dd72ead-2c16-4d39-a130-d59e6a91b7e0" providerId="AD"/>
  <p188:author id="{B3262BC0-B77E-1556-9612-58A2A72C6F59}" name="Mathur, Shekhar" initials="SM" userId="Mathur, Shekhar" providerId="None"/>
  <p188:author id="{045E13CC-E2C4-FE47-E190-9161182D4BD6}" name="Chhatriwala, Husein" initials="CH" userId="S::hchhatriwala@deloitte.com::60126020-cc10-4cb1-ad3e-a76aaddb7f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B14E"/>
    <a:srgbClr val="D7F4D1"/>
    <a:srgbClr val="05B050"/>
    <a:srgbClr val="92D051"/>
    <a:srgbClr val="5EEC3B"/>
    <a:srgbClr val="92F47B"/>
    <a:srgbClr val="CAFABD"/>
    <a:srgbClr val="F2FAE4"/>
    <a:srgbClr val="00B14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32"/>
    <p:restoredTop sz="94694"/>
  </p:normalViewPr>
  <p:slideViewPr>
    <p:cSldViewPr snapToGrid="0">
      <p:cViewPr varScale="1">
        <p:scale>
          <a:sx n="93" d="100"/>
          <a:sy n="93" d="100"/>
        </p:scale>
        <p:origin x="1632" y="306"/>
      </p:cViewPr>
      <p:guideLst/>
    </p:cSldViewPr>
  </p:slideViewPr>
  <p:notesTextViewPr>
    <p:cViewPr>
      <p:scale>
        <a:sx n="1" d="1"/>
        <a:sy n="1" d="1"/>
      </p:scale>
      <p:origin x="0" y="0"/>
    </p:cViewPr>
  </p:notesTextViewPr>
  <p:sorterViewPr>
    <p:cViewPr varScale="1">
      <p:scale>
        <a:sx n="1" d="1"/>
        <a:sy n="1" d="1"/>
      </p:scale>
      <p:origin x="0" y="-91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4DAC7-4582-435B-8C8C-D868CA058A03}"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59EE6C-8F80-490C-9FCD-574C604E271C}" type="slidenum">
              <a:rPr lang="en-US" smtClean="0"/>
              <a:t>‹#›</a:t>
            </a:fld>
            <a:endParaRPr lang="en-US"/>
          </a:p>
        </p:txBody>
      </p:sp>
    </p:spTree>
    <p:extLst>
      <p:ext uri="{BB962C8B-B14F-4D97-AF65-F5344CB8AC3E}">
        <p14:creationId xmlns:p14="http://schemas.microsoft.com/office/powerpoint/2010/main" val="1594946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0B4633-E9F2-4A27-BF70-1ABC59E82593}" type="slidenum">
              <a:rPr lang="en-US" smtClean="0"/>
              <a:t>1</a:t>
            </a:fld>
            <a:endParaRPr lang="en-US"/>
          </a:p>
        </p:txBody>
      </p:sp>
    </p:spTree>
    <p:extLst>
      <p:ext uri="{BB962C8B-B14F-4D97-AF65-F5344CB8AC3E}">
        <p14:creationId xmlns:p14="http://schemas.microsoft.com/office/powerpoint/2010/main" val="1540086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dirty="0">
                <a:solidFill>
                  <a:schemeClr val="bg1"/>
                </a:solidFill>
              </a:rPr>
              <a:t>10/18 Ryan comments - Not a technical metadata discovery tool but more focused on business users</a:t>
            </a:r>
          </a:p>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a:t>
            </a:fld>
            <a:endParaRPr lang="en-US"/>
          </a:p>
        </p:txBody>
      </p:sp>
    </p:spTree>
    <p:extLst>
      <p:ext uri="{BB962C8B-B14F-4D97-AF65-F5344CB8AC3E}">
        <p14:creationId xmlns:p14="http://schemas.microsoft.com/office/powerpoint/2010/main" val="1955621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a:solidFill>
                  <a:schemeClr val="bg1"/>
                </a:solidFill>
              </a:rPr>
              <a:t>10/18 Ryan comments - Not a technical metadata discovery tool but more focused on business users</a:t>
            </a:r>
          </a:p>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3</a:t>
            </a:fld>
            <a:endParaRPr lang="en-US"/>
          </a:p>
        </p:txBody>
      </p:sp>
    </p:spTree>
    <p:extLst>
      <p:ext uri="{BB962C8B-B14F-4D97-AF65-F5344CB8AC3E}">
        <p14:creationId xmlns:p14="http://schemas.microsoft.com/office/powerpoint/2010/main" val="811887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a:solidFill>
                  <a:schemeClr val="bg1"/>
                </a:solidFill>
              </a:rPr>
              <a:t>10/18 Ryan comments - Not a technical metadata discovery tool but more focused on business users</a:t>
            </a:r>
          </a:p>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4</a:t>
            </a:fld>
            <a:endParaRPr lang="en-US"/>
          </a:p>
        </p:txBody>
      </p:sp>
    </p:spTree>
    <p:extLst>
      <p:ext uri="{BB962C8B-B14F-4D97-AF65-F5344CB8AC3E}">
        <p14:creationId xmlns:p14="http://schemas.microsoft.com/office/powerpoint/2010/main" val="495315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a:solidFill>
                  <a:schemeClr val="bg1"/>
                </a:solidFill>
              </a:rPr>
              <a:t>10/18 Ryan comments - Not a technical metadata discovery tool but more focused on business users</a:t>
            </a:r>
          </a:p>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5</a:t>
            </a:fld>
            <a:endParaRPr lang="en-US"/>
          </a:p>
        </p:txBody>
      </p:sp>
    </p:spTree>
    <p:extLst>
      <p:ext uri="{BB962C8B-B14F-4D97-AF65-F5344CB8AC3E}">
        <p14:creationId xmlns:p14="http://schemas.microsoft.com/office/powerpoint/2010/main" val="3076765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a:solidFill>
                  <a:schemeClr val="bg1"/>
                </a:solidFill>
              </a:rPr>
              <a:t>10/18 Ryan comments - Not a technical metadata discovery tool but more focused on business users</a:t>
            </a:r>
          </a:p>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6</a:t>
            </a:fld>
            <a:endParaRPr lang="en-US"/>
          </a:p>
        </p:txBody>
      </p:sp>
    </p:spTree>
    <p:extLst>
      <p:ext uri="{BB962C8B-B14F-4D97-AF65-F5344CB8AC3E}">
        <p14:creationId xmlns:p14="http://schemas.microsoft.com/office/powerpoint/2010/main" val="2436823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dirty="0">
                <a:solidFill>
                  <a:schemeClr val="bg1"/>
                </a:solidFill>
              </a:rPr>
              <a:t>10/18 Ryan comments - Not a technical metadata discovery tool but more focused on business users</a:t>
            </a:r>
          </a:p>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7</a:t>
            </a:fld>
            <a:endParaRPr lang="en-US"/>
          </a:p>
        </p:txBody>
      </p:sp>
    </p:spTree>
    <p:extLst>
      <p:ext uri="{BB962C8B-B14F-4D97-AF65-F5344CB8AC3E}">
        <p14:creationId xmlns:p14="http://schemas.microsoft.com/office/powerpoint/2010/main" val="2265723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1F53A-367A-0D0F-D983-F83C044C5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F33C4-A9AE-7933-119C-525FBBC9AE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01778-6CE9-F234-0864-FA102D62C9A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4032E04-5794-09F8-D6DD-831E57A6B42A}"/>
              </a:ext>
            </a:extLst>
          </p:cNvPr>
          <p:cNvSpPr>
            <a:spLocks noGrp="1"/>
          </p:cNvSpPr>
          <p:nvPr>
            <p:ph type="sldNum" sz="quarter" idx="5"/>
          </p:nvPr>
        </p:nvSpPr>
        <p:spPr/>
        <p:txBody>
          <a:bodyPr/>
          <a:lstStyle/>
          <a:p>
            <a:pPr marL="0" marR="0" lvl="0" indent="0" algn="r" defTabSz="942289" rtl="0" eaLnBrk="1" fontAlgn="auto" latinLnBrk="0" hangingPunct="1">
              <a:lnSpc>
                <a:spcPct val="100000"/>
              </a:lnSpc>
              <a:spcBef>
                <a:spcPts val="0"/>
              </a:spcBef>
              <a:spcAft>
                <a:spcPts val="0"/>
              </a:spcAft>
              <a:buClrTx/>
              <a:buSzTx/>
              <a:buFontTx/>
              <a:buNone/>
              <a:tabLst/>
              <a:defRPr/>
            </a:pPr>
            <a:fld id="{E47C507A-633F-4959-AAD3-EE313E71E0D1}"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42289"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431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a:solidFill>
                  <a:schemeClr val="bg1"/>
                </a:solidFill>
              </a:rPr>
              <a:t>10/18 Ryan comments - Not a technical metadata discovery tool but more focused on business users</a:t>
            </a:r>
          </a:p>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10</a:t>
            </a:fld>
            <a:endParaRPr lang="en-US"/>
          </a:p>
        </p:txBody>
      </p:sp>
    </p:spTree>
    <p:extLst>
      <p:ext uri="{BB962C8B-B14F-4D97-AF65-F5344CB8AC3E}">
        <p14:creationId xmlns:p14="http://schemas.microsoft.com/office/powerpoint/2010/main" val="1444838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11</a:t>
            </a:fld>
            <a:endParaRPr lang="en-US"/>
          </a:p>
        </p:txBody>
      </p:sp>
    </p:spTree>
    <p:extLst>
      <p:ext uri="{BB962C8B-B14F-4D97-AF65-F5344CB8AC3E}">
        <p14:creationId xmlns:p14="http://schemas.microsoft.com/office/powerpoint/2010/main" val="3040634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a:solidFill>
                  <a:schemeClr val="bg1"/>
                </a:solidFill>
              </a:rPr>
              <a:t>10/18 Ryan comments - Not a technical metadata discovery tool but more focused on business users</a:t>
            </a:r>
          </a:p>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13</a:t>
            </a:fld>
            <a:endParaRPr lang="en-US"/>
          </a:p>
        </p:txBody>
      </p:sp>
    </p:spTree>
    <p:extLst>
      <p:ext uri="{BB962C8B-B14F-4D97-AF65-F5344CB8AC3E}">
        <p14:creationId xmlns:p14="http://schemas.microsoft.com/office/powerpoint/2010/main" val="382133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a:solidFill>
                  <a:schemeClr val="bg1"/>
                </a:solidFill>
              </a:rPr>
              <a:t>10/18 Ryan comments - Not a technical metadata discovery tool but more focused on business users</a:t>
            </a:r>
          </a:p>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14</a:t>
            </a:fld>
            <a:endParaRPr lang="en-US"/>
          </a:p>
        </p:txBody>
      </p:sp>
    </p:spTree>
    <p:extLst>
      <p:ext uri="{BB962C8B-B14F-4D97-AF65-F5344CB8AC3E}">
        <p14:creationId xmlns:p14="http://schemas.microsoft.com/office/powerpoint/2010/main" val="502388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15</a:t>
            </a:fld>
            <a:endParaRPr lang="en-US"/>
          </a:p>
        </p:txBody>
      </p:sp>
    </p:spTree>
    <p:extLst>
      <p:ext uri="{BB962C8B-B14F-4D97-AF65-F5344CB8AC3E}">
        <p14:creationId xmlns:p14="http://schemas.microsoft.com/office/powerpoint/2010/main" val="4070459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6000"/>
              </a:lnSpc>
              <a:buFont typeface="Wingdings 2" pitchFamily="18" charset="2"/>
              <a:buNone/>
            </a:pPr>
            <a:r>
              <a:rPr lang="en-US" sz="1800" b="0">
                <a:solidFill>
                  <a:schemeClr val="bg1"/>
                </a:solidFill>
              </a:rPr>
              <a:t>10/18 Ryan comments - Not a technical metadata discovery tool but more focused on business users</a:t>
            </a:r>
          </a:p>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16</a:t>
            </a:fld>
            <a:endParaRPr lang="en-US"/>
          </a:p>
        </p:txBody>
      </p:sp>
    </p:spTree>
    <p:extLst>
      <p:ext uri="{BB962C8B-B14F-4D97-AF65-F5344CB8AC3E}">
        <p14:creationId xmlns:p14="http://schemas.microsoft.com/office/powerpoint/2010/main" val="2330532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38171306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tx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pic>
        <p:nvPicPr>
          <p:cNvPr id="16" name="Picture Placeholder 7">
            <a:extLst>
              <a:ext uri="{FF2B5EF4-FFF2-40B4-BE49-F238E27FC236}">
                <a16:creationId xmlns:a16="http://schemas.microsoft.com/office/drawing/2014/main" id="{34DA8247-B63F-4BA3-B2BF-B8BDDE403E5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953232" y="0"/>
            <a:ext cx="7238771" cy="6859120"/>
          </a:xfrm>
          <a:prstGeom prst="rect">
            <a:avLst/>
          </a:prstGeom>
        </p:spPr>
      </p:pic>
    </p:spTree>
    <p:extLst>
      <p:ext uri="{BB962C8B-B14F-4D97-AF65-F5344CB8AC3E}">
        <p14:creationId xmlns:p14="http://schemas.microsoft.com/office/powerpoint/2010/main" val="294698151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spc="0" baseline="0">
                <a:solidFill>
                  <a:srgbClr val="57575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b="1"/>
            </a:lvl1pPr>
          </a:lstStyle>
          <a:p>
            <a:r>
              <a:rPr lang="en-US" noProof="0"/>
              <a:t>Click to edit Master title style</a:t>
            </a:r>
          </a:p>
        </p:txBody>
      </p:sp>
    </p:spTree>
    <p:extLst>
      <p:ext uri="{BB962C8B-B14F-4D97-AF65-F5344CB8AC3E}">
        <p14:creationId xmlns:p14="http://schemas.microsoft.com/office/powerpoint/2010/main" val="15621495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19545" y="427210"/>
            <a:ext cx="10962696" cy="352437"/>
          </a:xfrm>
        </p:spPr>
        <p:txBody>
          <a:bodyPr/>
          <a:lstStyle>
            <a:lvl1pPr>
              <a:defRPr>
                <a:solidFill>
                  <a:srgbClr val="00877C"/>
                </a:solidFill>
              </a:defRPr>
            </a:lvl1pPr>
          </a:lstStyle>
          <a:p>
            <a:r>
              <a:rPr lang="en-US"/>
              <a:t>Click to edit Master title style</a:t>
            </a:r>
          </a:p>
        </p:txBody>
      </p:sp>
      <p:sp>
        <p:nvSpPr>
          <p:cNvPr id="5" name="Footer Placeholder 4"/>
          <p:cNvSpPr>
            <a:spLocks noGrp="1"/>
          </p:cNvSpPr>
          <p:nvPr>
            <p:ph type="ftr" sz="quarter" idx="11"/>
          </p:nvPr>
        </p:nvSpPr>
        <p:spPr/>
        <p:txBody>
          <a:bodyPr/>
          <a:lstStyle>
            <a:lvl1pPr>
              <a:defRPr>
                <a:solidFill>
                  <a:srgbClr val="000000"/>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000000"/>
                </a:solidFill>
              </a:defRPr>
            </a:lvl1pPr>
          </a:lstStyle>
          <a:p>
            <a:fld id="{74D97F68-CC38-3C48-B083-3B4A1457065E}" type="slidenum">
              <a:rPr lang="en-US" smtClean="0"/>
              <a:pPr/>
              <a:t>‹#›</a:t>
            </a:fld>
            <a:endParaRPr lang="en-US" dirty="0"/>
          </a:p>
        </p:txBody>
      </p:sp>
      <p:sp>
        <p:nvSpPr>
          <p:cNvPr id="7" name="Text Placeholder 8">
            <a:extLst>
              <a:ext uri="{FF2B5EF4-FFF2-40B4-BE49-F238E27FC236}">
                <a16:creationId xmlns:a16="http://schemas.microsoft.com/office/drawing/2014/main" id="{84D6B2B7-1467-3443-AFA2-5EBCC9C8F3E0}"/>
              </a:ext>
            </a:extLst>
          </p:cNvPr>
          <p:cNvSpPr>
            <a:spLocks noGrp="1"/>
          </p:cNvSpPr>
          <p:nvPr>
            <p:ph type="body" sz="quarter" idx="14" hasCustomPrompt="1"/>
          </p:nvPr>
        </p:nvSpPr>
        <p:spPr>
          <a:xfrm>
            <a:off x="609759" y="141924"/>
            <a:ext cx="3567089" cy="233997"/>
          </a:xfrm>
        </p:spPr>
        <p:txBody>
          <a:bodyPr anchor="ctr"/>
          <a:lstStyle>
            <a:lvl1pPr>
              <a:defRPr sz="1200">
                <a:solidFill>
                  <a:schemeClr val="bg1">
                    <a:lumMod val="65000"/>
                  </a:schemeClr>
                </a:solidFill>
              </a:defRPr>
            </a:lvl1pPr>
          </a:lstStyle>
          <a:p>
            <a:pPr lvl="0"/>
            <a:r>
              <a:rPr lang="en-US"/>
              <a:t>Breadcrumb</a:t>
            </a:r>
          </a:p>
        </p:txBody>
      </p:sp>
      <p:sp>
        <p:nvSpPr>
          <p:cNvPr id="4" name="Text Placeholder 3">
            <a:extLst>
              <a:ext uri="{FF2B5EF4-FFF2-40B4-BE49-F238E27FC236}">
                <a16:creationId xmlns:a16="http://schemas.microsoft.com/office/drawing/2014/main" id="{11F9F48F-BB02-5E46-BB49-2B7CB5849F7D}"/>
              </a:ext>
            </a:extLst>
          </p:cNvPr>
          <p:cNvSpPr>
            <a:spLocks noGrp="1"/>
          </p:cNvSpPr>
          <p:nvPr>
            <p:ph type="body" sz="quarter" idx="15"/>
          </p:nvPr>
        </p:nvSpPr>
        <p:spPr>
          <a:xfrm>
            <a:off x="614757" y="817556"/>
            <a:ext cx="10977079" cy="421309"/>
          </a:xfrm>
        </p:spPr>
        <p:txBody>
          <a:bodyPr/>
          <a:lstStyle>
            <a:lvl1pPr>
              <a:defRPr sz="1600"/>
            </a:lvl1pPr>
          </a:lstStyle>
          <a:p>
            <a:pPr lvl="0"/>
            <a:r>
              <a:rPr lang="en-US"/>
              <a:t>Click to edit Master text styles</a:t>
            </a:r>
          </a:p>
        </p:txBody>
      </p:sp>
    </p:spTree>
    <p:extLst>
      <p:ext uri="{BB962C8B-B14F-4D97-AF65-F5344CB8AC3E}">
        <p14:creationId xmlns:p14="http://schemas.microsoft.com/office/powerpoint/2010/main" val="2059460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Tree>
    <p:extLst>
      <p:ext uri="{BB962C8B-B14F-4D97-AF65-F5344CB8AC3E}">
        <p14:creationId xmlns:p14="http://schemas.microsoft.com/office/powerpoint/2010/main" val="260079519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
            </p:custDataLst>
            <p:extLst>
              <p:ext uri="{D42A27DB-BD31-4B8C-83A1-F6EECF244321}">
                <p14:modId xmlns:p14="http://schemas.microsoft.com/office/powerpoint/2010/main" val="3206429901"/>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4" name="Object 3" hidden="1"/>
                      <p:cNvPicPr/>
                      <p:nvPr/>
                    </p:nvPicPr>
                    <p:blipFill>
                      <a:blip r:embed="rId9"/>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81285" cy="340136"/>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0887" y="1714500"/>
            <a:ext cx="11277599" cy="4648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5A35A5D5-FD12-4A0E-B47E-3D53D008B26B}"/>
              </a:ext>
            </a:extLst>
          </p:cNvPr>
          <p:cNvSpPr txBox="1"/>
          <p:nvPr userDrawn="1"/>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userDrawn="1"/>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userDrawn="1"/>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userDrawn="1"/>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7" name="Rectangle 2">
            <a:extLst>
              <a:ext uri="{FF2B5EF4-FFF2-40B4-BE49-F238E27FC236}">
                <a16:creationId xmlns:a16="http://schemas.microsoft.com/office/drawing/2014/main" id="{1B1A73CE-58BA-59FF-5D1A-EC3F5C941F2B}"/>
              </a:ext>
            </a:extLst>
          </p:cNvPr>
          <p:cNvSpPr>
            <a:spLocks/>
          </p:cNvSpPr>
          <p:nvPr userDrawn="1"/>
        </p:nvSpPr>
        <p:spPr bwMode="auto">
          <a:xfrm>
            <a:off x="469900" y="6571391"/>
            <a:ext cx="2647520" cy="1077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spAutoFit/>
          </a:bodyPr>
          <a:lstStyle/>
          <a:p>
            <a:r>
              <a:rPr kumimoji="0" lang="en-US" sz="700" b="0" i="0" u="none" strike="noStrike" kern="0" cap="none" spc="0" normalizeH="0" baseline="0" noProof="0">
                <a:ln>
                  <a:noFill/>
                </a:ln>
                <a:solidFill>
                  <a:srgbClr val="ADADAD"/>
                </a:solidFill>
                <a:effectLst/>
                <a:uLnTx/>
                <a:uFillTx/>
                <a:latin typeface="Open Sans"/>
                <a:cs typeface="Open Sans"/>
              </a:rPr>
              <a:t>Copyright</a:t>
            </a:r>
            <a:r>
              <a:rPr kumimoji="0" lang="en-US" sz="700" b="0" i="0" u="none" strike="noStrike" kern="0" cap="none" spc="-20" normalizeH="0" baseline="0" noProof="0">
                <a:ln>
                  <a:noFill/>
                </a:ln>
                <a:solidFill>
                  <a:srgbClr val="ADADAD"/>
                </a:solidFill>
                <a:effectLst/>
                <a:uLnTx/>
                <a:uFillTx/>
                <a:latin typeface="Open Sans"/>
                <a:cs typeface="Open Sans"/>
              </a:rPr>
              <a:t> </a:t>
            </a:r>
            <a:r>
              <a:rPr kumimoji="0" lang="en-US" sz="700" b="0" i="0" u="none" strike="noStrike" kern="0" cap="none" spc="0" normalizeH="0" baseline="0" noProof="0">
                <a:ln>
                  <a:noFill/>
                </a:ln>
                <a:solidFill>
                  <a:srgbClr val="ADADAD"/>
                </a:solidFill>
                <a:effectLst/>
                <a:uLnTx/>
                <a:uFillTx/>
                <a:latin typeface="Open Sans"/>
                <a:cs typeface="Open Sans"/>
              </a:rPr>
              <a:t>©</a:t>
            </a:r>
            <a:r>
              <a:rPr kumimoji="0" lang="en-US" sz="700" b="0" i="0" u="none" strike="noStrike" kern="0" cap="none" spc="-10" normalizeH="0" baseline="0" noProof="0">
                <a:ln>
                  <a:noFill/>
                </a:ln>
                <a:solidFill>
                  <a:srgbClr val="ADADAD"/>
                </a:solidFill>
                <a:effectLst/>
                <a:uLnTx/>
                <a:uFillTx/>
                <a:latin typeface="Open Sans"/>
                <a:cs typeface="Open Sans"/>
              </a:rPr>
              <a:t> </a:t>
            </a:r>
            <a:r>
              <a:rPr kumimoji="0" lang="en-US" sz="700" b="0" i="0" u="none" strike="noStrike" kern="0" cap="none" spc="0" normalizeH="0" baseline="0" noProof="0">
                <a:ln>
                  <a:noFill/>
                </a:ln>
                <a:solidFill>
                  <a:srgbClr val="ADADAD"/>
                </a:solidFill>
                <a:effectLst/>
                <a:uLnTx/>
                <a:uFillTx/>
                <a:latin typeface="Open Sans"/>
                <a:cs typeface="Open Sans"/>
              </a:rPr>
              <a:t>2023</a:t>
            </a:r>
            <a:r>
              <a:rPr kumimoji="0" lang="en-US" sz="700" b="0" i="0" u="none" strike="noStrike" kern="0" cap="none" spc="15" normalizeH="0" baseline="0" noProof="0">
                <a:ln>
                  <a:noFill/>
                </a:ln>
                <a:solidFill>
                  <a:srgbClr val="ADADAD"/>
                </a:solidFill>
                <a:effectLst/>
                <a:uLnTx/>
                <a:uFillTx/>
                <a:latin typeface="Open Sans"/>
                <a:cs typeface="Open Sans"/>
              </a:rPr>
              <a:t> </a:t>
            </a:r>
            <a:r>
              <a:rPr kumimoji="0" lang="en-US" sz="700" b="0" i="0" u="none" strike="noStrike" kern="0" cap="none" spc="0" normalizeH="0" baseline="0" noProof="0">
                <a:ln>
                  <a:noFill/>
                </a:ln>
                <a:solidFill>
                  <a:srgbClr val="ADADAD"/>
                </a:solidFill>
                <a:effectLst/>
                <a:uLnTx/>
                <a:uFillTx/>
                <a:latin typeface="Open Sans"/>
                <a:cs typeface="Open Sans"/>
              </a:rPr>
              <a:t>Deloitte</a:t>
            </a:r>
            <a:r>
              <a:rPr kumimoji="0" lang="en-US" sz="700" b="0" i="0" u="none" strike="noStrike" kern="0" cap="none" spc="-20" normalizeH="0" baseline="0" noProof="0">
                <a:ln>
                  <a:noFill/>
                </a:ln>
                <a:solidFill>
                  <a:srgbClr val="ADADAD"/>
                </a:solidFill>
                <a:effectLst/>
                <a:uLnTx/>
                <a:uFillTx/>
                <a:latin typeface="Open Sans"/>
                <a:cs typeface="Open Sans"/>
              </a:rPr>
              <a:t> </a:t>
            </a:r>
            <a:r>
              <a:rPr kumimoji="0" lang="en-US" sz="700" b="0" i="0" u="none" strike="noStrike" kern="0" cap="none" spc="0" normalizeH="0" baseline="0" noProof="0">
                <a:ln>
                  <a:noFill/>
                </a:ln>
                <a:solidFill>
                  <a:srgbClr val="ADADAD"/>
                </a:solidFill>
                <a:effectLst/>
                <a:uLnTx/>
                <a:uFillTx/>
                <a:latin typeface="Open Sans"/>
                <a:cs typeface="Open Sans"/>
              </a:rPr>
              <a:t>Development</a:t>
            </a:r>
            <a:r>
              <a:rPr kumimoji="0" lang="en-US" sz="700" b="0" i="0" u="none" strike="noStrike" kern="0" cap="none" spc="-20" normalizeH="0" baseline="0" noProof="0">
                <a:ln>
                  <a:noFill/>
                </a:ln>
                <a:solidFill>
                  <a:srgbClr val="ADADAD"/>
                </a:solidFill>
                <a:effectLst/>
                <a:uLnTx/>
                <a:uFillTx/>
                <a:latin typeface="Open Sans"/>
                <a:cs typeface="Open Sans"/>
              </a:rPr>
              <a:t> </a:t>
            </a:r>
            <a:r>
              <a:rPr kumimoji="0" lang="en-US" sz="700" b="0" i="0" u="none" strike="noStrike" kern="0" cap="none" spc="0" normalizeH="0" baseline="0" noProof="0">
                <a:ln>
                  <a:noFill/>
                </a:ln>
                <a:solidFill>
                  <a:srgbClr val="ADADAD"/>
                </a:solidFill>
                <a:effectLst/>
                <a:uLnTx/>
                <a:uFillTx/>
                <a:latin typeface="Open Sans"/>
                <a:cs typeface="Open Sans"/>
              </a:rPr>
              <a:t>LLC.</a:t>
            </a:r>
            <a:r>
              <a:rPr kumimoji="0" lang="en-US" sz="700" b="0" i="0" u="none" strike="noStrike" kern="0" cap="none" spc="-25" normalizeH="0" baseline="0" noProof="0">
                <a:ln>
                  <a:noFill/>
                </a:ln>
                <a:solidFill>
                  <a:srgbClr val="ADADAD"/>
                </a:solidFill>
                <a:effectLst/>
                <a:uLnTx/>
                <a:uFillTx/>
                <a:latin typeface="Open Sans"/>
                <a:cs typeface="Open Sans"/>
              </a:rPr>
              <a:t> </a:t>
            </a:r>
            <a:r>
              <a:rPr kumimoji="0" lang="en-US" sz="700" b="0" i="0" u="none" strike="noStrike" kern="0" cap="none" spc="0" normalizeH="0" baseline="0" noProof="0">
                <a:ln>
                  <a:noFill/>
                </a:ln>
                <a:solidFill>
                  <a:srgbClr val="ADADAD"/>
                </a:solidFill>
                <a:effectLst/>
                <a:uLnTx/>
                <a:uFillTx/>
                <a:latin typeface="Open Sans"/>
                <a:cs typeface="Open Sans"/>
              </a:rPr>
              <a:t>All</a:t>
            </a:r>
            <a:r>
              <a:rPr kumimoji="0" lang="en-US" sz="700" b="0" i="0" u="none" strike="noStrike" kern="0" cap="none" spc="-10" normalizeH="0" baseline="0" noProof="0">
                <a:ln>
                  <a:noFill/>
                </a:ln>
                <a:solidFill>
                  <a:srgbClr val="ADADAD"/>
                </a:solidFill>
                <a:effectLst/>
                <a:uLnTx/>
                <a:uFillTx/>
                <a:latin typeface="Open Sans"/>
                <a:cs typeface="Open Sans"/>
              </a:rPr>
              <a:t> </a:t>
            </a:r>
            <a:r>
              <a:rPr kumimoji="0" lang="en-US" sz="700" b="0" i="0" u="none" strike="noStrike" kern="0" cap="none" spc="0" normalizeH="0" baseline="0" noProof="0">
                <a:ln>
                  <a:noFill/>
                </a:ln>
                <a:solidFill>
                  <a:srgbClr val="ADADAD"/>
                </a:solidFill>
                <a:effectLst/>
                <a:uLnTx/>
                <a:uFillTx/>
                <a:latin typeface="Open Sans"/>
                <a:cs typeface="Open Sans"/>
              </a:rPr>
              <a:t>rights</a:t>
            </a:r>
            <a:r>
              <a:rPr kumimoji="0" lang="en-US" sz="700" b="0" i="0" u="none" strike="noStrike" kern="0" cap="none" spc="-10" normalizeH="0" baseline="0" noProof="0">
                <a:ln>
                  <a:noFill/>
                </a:ln>
                <a:solidFill>
                  <a:srgbClr val="ADADAD"/>
                </a:solidFill>
                <a:effectLst/>
                <a:uLnTx/>
                <a:uFillTx/>
                <a:latin typeface="Open Sans"/>
                <a:cs typeface="Open Sans"/>
              </a:rPr>
              <a:t> reserved.</a:t>
            </a:r>
            <a:endParaRPr lang="en-US" sz="700">
              <a:solidFill>
                <a:schemeClr val="accent5">
                  <a:lumMod val="60000"/>
                  <a:lumOff val="40000"/>
                </a:schemeClr>
              </a:solidFill>
              <a:latin typeface="Open Sans" charset="0"/>
              <a:ea typeface="Open Sans" charset="0"/>
              <a:cs typeface="Open Sans" charset="0"/>
              <a:sym typeface="Frutiger Next Pro Light" charset="0"/>
            </a:endParaRPr>
          </a:p>
        </p:txBody>
      </p:sp>
    </p:spTree>
    <p:extLst>
      <p:ext uri="{BB962C8B-B14F-4D97-AF65-F5344CB8AC3E}">
        <p14:creationId xmlns:p14="http://schemas.microsoft.com/office/powerpoint/2010/main" val="2199583896"/>
      </p:ext>
    </p:extLst>
  </p:cSld>
  <p:clrMap bg1="lt1" tx1="dk1" bg2="lt2" tx2="dk2" accent1="accent1" accent2="accent2" accent3="accent3" accent4="accent4" accent5="accent5" accent6="accent6" hlink="hlink" folHlink="folHlink"/>
  <p:sldLayoutIdLst>
    <p:sldLayoutId id="2147483665" r:id="rId1"/>
    <p:sldLayoutId id="2147483706" r:id="rId2"/>
    <p:sldLayoutId id="2147483718" r:id="rId3"/>
    <p:sldLayoutId id="2147483719" r:id="rId4"/>
    <p:sldLayoutId id="2147483720" r:id="rId5"/>
  </p:sldLayoutIdLst>
  <p:transition>
    <p:fade/>
  </p:transition>
  <p:hf hdr="0" dt="0"/>
  <p:txStyles>
    <p:titleStyle>
      <a:lvl1pPr algn="l" defTabSz="6858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69" orient="horz" pos="2088">
          <p15:clr>
            <a:srgbClr val="F26B43"/>
          </p15:clr>
        </p15:guide>
        <p15:guide id="70" orient="horz" pos="1080">
          <p15:clr>
            <a:srgbClr val="F26B43"/>
          </p15:clr>
        </p15:guide>
        <p15:guide id="71" orient="horz" pos="216">
          <p15:clr>
            <a:srgbClr val="F26B43"/>
          </p15:clr>
        </p15:guide>
        <p15:guide id="72" pos="3840">
          <p15:clr>
            <a:srgbClr val="F26B43"/>
          </p15:clr>
        </p15:guide>
        <p15:guide id="73" pos="3936">
          <p15:clr>
            <a:srgbClr val="F26B43"/>
          </p15:clr>
        </p15:guide>
        <p15:guide id="74" pos="288">
          <p15:clr>
            <a:srgbClr val="F26B43"/>
          </p15:clr>
        </p15:guide>
        <p15:guide id="75" pos="4960">
          <p15:clr>
            <a:srgbClr val="F26B43"/>
          </p15:clr>
        </p15:guide>
        <p15:guide id="76" pos="3744">
          <p15:clr>
            <a:srgbClr val="F26B43"/>
          </p15:clr>
        </p15:guide>
        <p15:guide id="77" pos="2720">
          <p15:clr>
            <a:srgbClr val="F26B43"/>
          </p15:clr>
        </p15:guide>
        <p15:guide id="78" pos="2528">
          <p15:clr>
            <a:srgbClr val="F26B43"/>
          </p15:clr>
        </p15:guide>
        <p15:guide id="79" pos="1312">
          <p15:clr>
            <a:srgbClr val="F26B43"/>
          </p15:clr>
        </p15:guide>
        <p15:guide id="80" pos="1504">
          <p15:clr>
            <a:srgbClr val="F26B43"/>
          </p15:clr>
        </p15:guide>
        <p15:guide id="81" pos="5152">
          <p15:clr>
            <a:srgbClr val="F26B43"/>
          </p15:clr>
        </p15:guide>
        <p15:guide id="82" pos="6176">
          <p15:clr>
            <a:srgbClr val="F26B43"/>
          </p15:clr>
        </p15:guide>
        <p15:guide id="83" pos="6368">
          <p15:clr>
            <a:srgbClr val="F26B43"/>
          </p15:clr>
        </p15:guide>
        <p15:guide id="84" pos="7392">
          <p15:clr>
            <a:srgbClr val="F26B43"/>
          </p15:clr>
        </p15:guide>
        <p15:guide id="85" orient="horz" pos="21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8.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4.xml"/><Relationship Id="rId7" Type="http://schemas.openxmlformats.org/officeDocument/2006/relationships/slideLayout" Target="../slideLayouts/slideLayout5.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9.emf"/><Relationship Id="rId4" Type="http://schemas.openxmlformats.org/officeDocument/2006/relationships/tags" Target="../tags/tag5.xml"/><Relationship Id="rId9"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png"/><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3" Type="http://schemas.openxmlformats.org/officeDocument/2006/relationships/image" Target="../media/image31.png"/><Relationship Id="rId18" Type="http://schemas.openxmlformats.org/officeDocument/2006/relationships/image" Target="../media/image36.png"/><Relationship Id="rId26" Type="http://schemas.openxmlformats.org/officeDocument/2006/relationships/image" Target="../media/image44.png"/><Relationship Id="rId21" Type="http://schemas.openxmlformats.org/officeDocument/2006/relationships/image" Target="../media/image39.png"/><Relationship Id="rId34" Type="http://schemas.openxmlformats.org/officeDocument/2006/relationships/image" Target="../media/image52.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5" Type="http://schemas.openxmlformats.org/officeDocument/2006/relationships/image" Target="../media/image43.png"/><Relationship Id="rId33" Type="http://schemas.openxmlformats.org/officeDocument/2006/relationships/image" Target="../media/image51.png"/><Relationship Id="rId2" Type="http://schemas.openxmlformats.org/officeDocument/2006/relationships/notesSlide" Target="../notesSlides/notesSlide14.xml"/><Relationship Id="rId16" Type="http://schemas.openxmlformats.org/officeDocument/2006/relationships/image" Target="../media/image34.png"/><Relationship Id="rId20" Type="http://schemas.openxmlformats.org/officeDocument/2006/relationships/image" Target="../media/image38.png"/><Relationship Id="rId29"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image" Target="../media/image29.png"/><Relationship Id="rId24" Type="http://schemas.openxmlformats.org/officeDocument/2006/relationships/image" Target="../media/image42.png"/><Relationship Id="rId32" Type="http://schemas.openxmlformats.org/officeDocument/2006/relationships/image" Target="../media/image50.png"/><Relationship Id="rId37" Type="http://schemas.openxmlformats.org/officeDocument/2006/relationships/image" Target="../media/image55.png"/><Relationship Id="rId5" Type="http://schemas.openxmlformats.org/officeDocument/2006/relationships/image" Target="../media/image23.png"/><Relationship Id="rId15" Type="http://schemas.openxmlformats.org/officeDocument/2006/relationships/image" Target="../media/image33.jpeg"/><Relationship Id="rId23" Type="http://schemas.openxmlformats.org/officeDocument/2006/relationships/image" Target="../media/image41.png"/><Relationship Id="rId28" Type="http://schemas.openxmlformats.org/officeDocument/2006/relationships/image" Target="../media/image46.png"/><Relationship Id="rId36" Type="http://schemas.openxmlformats.org/officeDocument/2006/relationships/image" Target="../media/image54.png"/><Relationship Id="rId10" Type="http://schemas.openxmlformats.org/officeDocument/2006/relationships/image" Target="../media/image28.png"/><Relationship Id="rId19" Type="http://schemas.openxmlformats.org/officeDocument/2006/relationships/image" Target="../media/image37.png"/><Relationship Id="rId31" Type="http://schemas.openxmlformats.org/officeDocument/2006/relationships/image" Target="../media/image49.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 Id="rId22" Type="http://schemas.openxmlformats.org/officeDocument/2006/relationships/image" Target="../media/image40.png"/><Relationship Id="rId27" Type="http://schemas.openxmlformats.org/officeDocument/2006/relationships/image" Target="../media/image45.png"/><Relationship Id="rId30" Type="http://schemas.openxmlformats.org/officeDocument/2006/relationships/image" Target="../media/image48.png"/><Relationship Id="rId35" Type="http://schemas.openxmlformats.org/officeDocument/2006/relationships/image" Target="../media/image53.png"/><Relationship Id="rId8" Type="http://schemas.openxmlformats.org/officeDocument/2006/relationships/image" Target="../media/image26.png"/><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E43B3F7-14E9-4734-9EF0-BAC1444BD6E8}"/>
              </a:ext>
            </a:extLst>
          </p:cNvPr>
          <p:cNvSpPr>
            <a:spLocks noGrp="1"/>
          </p:cNvSpPr>
          <p:nvPr>
            <p:ph type="body" sz="quarter" idx="10"/>
          </p:nvPr>
        </p:nvSpPr>
        <p:spPr/>
        <p:txBody>
          <a:bodyPr/>
          <a:lstStyle/>
          <a:p>
            <a:pPr marL="0" indent="0">
              <a:buNone/>
            </a:pPr>
            <a:r>
              <a:rPr lang="en-US" dirty="0"/>
              <a:t>January 2024</a:t>
            </a:r>
          </a:p>
        </p:txBody>
      </p:sp>
      <p:sp>
        <p:nvSpPr>
          <p:cNvPr id="6" name="object 6"/>
          <p:cNvSpPr txBox="1">
            <a:spLocks noGrp="1"/>
          </p:cNvSpPr>
          <p:nvPr>
            <p:ph type="ctrTitle"/>
          </p:nvPr>
        </p:nvSpPr>
        <p:spPr>
          <a:xfrm>
            <a:off x="463299" y="5204814"/>
            <a:ext cx="11265402" cy="895983"/>
          </a:xfrm>
        </p:spPr>
        <p:txBody>
          <a:bodyPr/>
          <a:lstStyle/>
          <a:p>
            <a:r>
              <a:rPr kumimoji="0" lang="en-US" sz="3200" b="0" i="0" u="none" strike="noStrike" kern="1200" cap="none" spc="0" normalizeH="0" baseline="0" noProof="0" dirty="0">
                <a:ln>
                  <a:noFill/>
                </a:ln>
                <a:solidFill>
                  <a:srgbClr val="007CB0">
                    <a:lumMod val="60000"/>
                    <a:lumOff val="40000"/>
                  </a:srgbClr>
                </a:solidFill>
                <a:effectLst/>
                <a:uLnTx/>
                <a:uFillTx/>
                <a:latin typeface="Calibri (Headings)"/>
                <a:ea typeface="Open Sans"/>
                <a:cs typeface="Open Sans"/>
              </a:rPr>
              <a:t>Data Marketplace </a:t>
            </a:r>
            <a:br>
              <a:rPr kumimoji="0" lang="en-US" sz="3200" b="0" i="0" u="none" strike="noStrike" kern="1200" cap="none" spc="0" normalizeH="0" baseline="0" noProof="0" dirty="0">
                <a:ln>
                  <a:noFill/>
                </a:ln>
                <a:solidFill>
                  <a:srgbClr val="007CB0">
                    <a:lumMod val="60000"/>
                    <a:lumOff val="40000"/>
                  </a:srgbClr>
                </a:solidFill>
                <a:effectLst/>
                <a:uLnTx/>
                <a:uFillTx/>
                <a:latin typeface="Calibri (Headings)"/>
                <a:ea typeface="Open Sans"/>
                <a:cs typeface="Open Sans"/>
              </a:rPr>
            </a:br>
            <a:r>
              <a:rPr kumimoji="0" lang="en-US" sz="2400" b="1" i="0" u="none" strike="noStrike" kern="1200" cap="none" spc="0" normalizeH="0" baseline="0" noProof="0" dirty="0">
                <a:ln>
                  <a:noFill/>
                </a:ln>
                <a:effectLst/>
                <a:uLnTx/>
                <a:uFillTx/>
                <a:latin typeface="Calibri (Headings)"/>
                <a:ea typeface="Open Sans"/>
                <a:cs typeface="Open Sans"/>
              </a:rPr>
              <a:t>Deloitte </a:t>
            </a:r>
            <a:r>
              <a:rPr kumimoji="0" lang="en-US" sz="2400" b="1" i="0" u="none" strike="noStrike" kern="1200" cap="none" spc="0" normalizeH="0" baseline="0" noProof="0" dirty="0" err="1">
                <a:ln>
                  <a:noFill/>
                </a:ln>
                <a:effectLst/>
                <a:uLnTx/>
                <a:uFillTx/>
                <a:latin typeface="Calibri (Headings)"/>
                <a:ea typeface="Open Sans"/>
                <a:cs typeface="Open Sans"/>
              </a:rPr>
              <a:t>PoV</a:t>
            </a:r>
            <a:endParaRPr kumimoji="0" lang="en-US" sz="2400" b="1" i="0" u="none" strike="noStrike" kern="1200" cap="none" spc="0" normalizeH="0" baseline="0" noProof="0" dirty="0">
              <a:ln>
                <a:noFill/>
              </a:ln>
              <a:effectLst/>
              <a:uLnTx/>
              <a:uFillTx/>
              <a:latin typeface="Calibri (Headings)"/>
              <a:ea typeface="Open Sans"/>
              <a:cs typeface="Open Sans"/>
            </a:endParaRPr>
          </a:p>
        </p:txBody>
      </p:sp>
      <p:pic>
        <p:nvPicPr>
          <p:cNvPr id="8" name="Picture Placeholder 7">
            <a:extLst>
              <a:ext uri="{FF2B5EF4-FFF2-40B4-BE49-F238E27FC236}">
                <a16:creationId xmlns:a16="http://schemas.microsoft.com/office/drawing/2014/main" id="{24E7BA31-CCC5-45E0-8F2B-B37ED4C1DA3D}"/>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a:fillRect/>
          </a:stretch>
        </p:blipFill>
        <p:spPr>
          <a:xfrm>
            <a:off x="5566522" y="305826"/>
            <a:ext cx="6274634" cy="6267758"/>
          </a:xfrm>
          <a:solidFill>
            <a:srgbClr val="4B86D5"/>
          </a:solidFill>
        </p:spPr>
      </p:pic>
    </p:spTree>
    <p:extLst>
      <p:ext uri="{BB962C8B-B14F-4D97-AF65-F5344CB8AC3E}">
        <p14:creationId xmlns:p14="http://schemas.microsoft.com/office/powerpoint/2010/main" val="276996803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b="0" dirty="0">
                <a:ea typeface="Open Sans"/>
                <a:cs typeface="Open Sans"/>
              </a:rPr>
              <a:t>Data Marketplace - </a:t>
            </a:r>
            <a:r>
              <a:rPr lang="en-US" sz="2200" dirty="0">
                <a:solidFill>
                  <a:srgbClr val="00B050"/>
                </a:solidFill>
                <a:ea typeface="Open Sans"/>
                <a:cs typeface="Open Sans"/>
              </a:rPr>
              <a:t>Guiding principles </a:t>
            </a:r>
            <a:r>
              <a:rPr lang="en-US" sz="2200" b="0" dirty="0">
                <a:ea typeface="Open Sans"/>
                <a:cs typeface="Open Sans"/>
              </a:rPr>
              <a:t>to seamlessly discover, access and utilize data</a:t>
            </a:r>
          </a:p>
        </p:txBody>
      </p:sp>
      <p:sp>
        <p:nvSpPr>
          <p:cNvPr id="4" name="TextBox 3">
            <a:extLst>
              <a:ext uri="{FF2B5EF4-FFF2-40B4-BE49-F238E27FC236}">
                <a16:creationId xmlns:a16="http://schemas.microsoft.com/office/drawing/2014/main" id="{7CDCB5FB-2F4C-7CD6-FC7D-B7F110D92998}"/>
              </a:ext>
            </a:extLst>
          </p:cNvPr>
          <p:cNvSpPr txBox="1"/>
          <p:nvPr/>
        </p:nvSpPr>
        <p:spPr>
          <a:xfrm>
            <a:off x="1119243" y="1157360"/>
            <a:ext cx="10579105" cy="5201424"/>
          </a:xfrm>
          <a:prstGeom prst="rect">
            <a:avLst/>
          </a:prstGeom>
          <a:noFill/>
        </p:spPr>
        <p:txBody>
          <a:bodyPr wrap="square" lIns="0" tIns="0" rIns="0" bIns="0" rtlCol="0" anchor="t" anchorCtr="0">
            <a:spAutoFit/>
          </a:bodyPr>
          <a:lstStyle/>
          <a:p>
            <a:pPr>
              <a:spcAft>
                <a:spcPts val="2000"/>
              </a:spcAft>
            </a:pPr>
            <a:r>
              <a:rPr lang="en-US" b="1" kern="600" spc="30" dirty="0">
                <a:solidFill>
                  <a:srgbClr val="00B050"/>
                </a:solidFill>
              </a:rPr>
              <a:t>The right User Experience</a:t>
            </a:r>
            <a:r>
              <a:rPr lang="en-US" b="1" kern="600" spc="30" dirty="0">
                <a:solidFill>
                  <a:schemeClr val="tx2"/>
                </a:solidFill>
              </a:rPr>
              <a:t> </a:t>
            </a:r>
            <a:r>
              <a:rPr lang="en-US" sz="1600" kern="600" spc="30" dirty="0"/>
              <a:t>– Building a marketplace experience that will serve a broad audience from business users to data scientists. This will improve adoption and scaling of the marketplace.</a:t>
            </a:r>
          </a:p>
          <a:p>
            <a:pPr>
              <a:spcAft>
                <a:spcPts val="2000"/>
              </a:spcAft>
            </a:pPr>
            <a:r>
              <a:rPr lang="en-US" b="1" kern="600" spc="30" dirty="0">
                <a:solidFill>
                  <a:srgbClr val="00B050"/>
                </a:solidFill>
              </a:rPr>
              <a:t>Robust Search capabilities </a:t>
            </a:r>
            <a:r>
              <a:rPr lang="en-US" sz="1600" kern="600" spc="30" dirty="0"/>
              <a:t>– </a:t>
            </a:r>
            <a:r>
              <a:rPr lang="en-US" sz="1600" b="0" i="0" dirty="0">
                <a:solidFill>
                  <a:srgbClr val="231F20"/>
                </a:solidFill>
                <a:effectLst/>
              </a:rPr>
              <a:t>A robust and flexible search capability is critical to achieving user satisfaction and focused search results. </a:t>
            </a:r>
            <a:endParaRPr lang="en-US" b="0" i="0" dirty="0">
              <a:solidFill>
                <a:srgbClr val="231F20"/>
              </a:solidFill>
              <a:effectLst/>
            </a:endParaRPr>
          </a:p>
          <a:p>
            <a:pPr>
              <a:spcAft>
                <a:spcPts val="2000"/>
              </a:spcAft>
            </a:pPr>
            <a:r>
              <a:rPr lang="en-US" b="1" kern="600" spc="30" dirty="0">
                <a:solidFill>
                  <a:srgbClr val="00B050"/>
                </a:solidFill>
              </a:rPr>
              <a:t>Trusted Datasets </a:t>
            </a:r>
            <a:r>
              <a:rPr lang="en-US" sz="1600" kern="600" spc="30" dirty="0"/>
              <a:t>– User must have confidence in the data products and associated metadata that is in the marketplace. Ensuring quality and data lineage is key to building trust.</a:t>
            </a:r>
            <a:endParaRPr lang="en-US" sz="1600" b="1" kern="600" spc="30" dirty="0"/>
          </a:p>
          <a:p>
            <a:pPr>
              <a:spcAft>
                <a:spcPts val="2000"/>
              </a:spcAft>
            </a:pPr>
            <a:r>
              <a:rPr lang="en-US" b="1" kern="600" spc="30" dirty="0">
                <a:solidFill>
                  <a:srgbClr val="00B050"/>
                </a:solidFill>
              </a:rPr>
              <a:t>Early Adopter Feedback </a:t>
            </a:r>
            <a:r>
              <a:rPr lang="en-US" sz="1600" kern="600" spc="30" dirty="0"/>
              <a:t>– A targeted rollout plan focused on a set of use cases will create awareness, enable early feedback from users, generate new ideas and create “marketplace champions”</a:t>
            </a:r>
            <a:endParaRPr lang="en-US" sz="1600" b="1" kern="600" spc="30" dirty="0"/>
          </a:p>
          <a:p>
            <a:pPr>
              <a:spcAft>
                <a:spcPts val="2000"/>
              </a:spcAft>
            </a:pPr>
            <a:r>
              <a:rPr lang="en-US" b="1" kern="600" spc="30" dirty="0">
                <a:solidFill>
                  <a:srgbClr val="00B050"/>
                </a:solidFill>
              </a:rPr>
              <a:t>Balanced data management | governance </a:t>
            </a:r>
            <a:r>
              <a:rPr lang="en-US" sz="1600" kern="600" spc="30" dirty="0"/>
              <a:t>– Ensure the right access for the right purpose in a timely and streamlined manner. Too tight controls will turn users away, you must find the right balance while maintaining compliance.</a:t>
            </a:r>
            <a:r>
              <a:rPr lang="en-US" sz="1600" b="1" kern="600" spc="30" dirty="0"/>
              <a:t> </a:t>
            </a:r>
            <a:endParaRPr lang="en-US" b="1" kern="600" spc="30" dirty="0"/>
          </a:p>
          <a:p>
            <a:pPr>
              <a:spcAft>
                <a:spcPts val="2000"/>
              </a:spcAft>
            </a:pPr>
            <a:r>
              <a:rPr lang="en-US" b="1" kern="600" spc="30" dirty="0">
                <a:solidFill>
                  <a:srgbClr val="00B050"/>
                </a:solidFill>
              </a:rPr>
              <a:t>Data products enablement </a:t>
            </a:r>
            <a:r>
              <a:rPr lang="en-US" sz="1600" kern="600" spc="30" dirty="0"/>
              <a:t>– To ensure an ideal user experience, once a user has access to data, they should be able to quickly connect their KPI, dashboard or analytical tool of choice to start their analysis.</a:t>
            </a:r>
            <a:endParaRPr lang="en-US" sz="1600" b="1" kern="600" spc="30" dirty="0"/>
          </a:p>
          <a:p>
            <a:pPr>
              <a:spcAft>
                <a:spcPts val="2000"/>
              </a:spcAft>
            </a:pPr>
            <a:r>
              <a:rPr lang="en-US" b="1" kern="600" spc="30" dirty="0">
                <a:solidFill>
                  <a:srgbClr val="00B050"/>
                </a:solidFill>
              </a:rPr>
              <a:t>Enhanced Collaboration </a:t>
            </a:r>
            <a:r>
              <a:rPr lang="en-US" sz="1600" kern="600" spc="30" dirty="0"/>
              <a:t>– Create an environment that encourages collaboration and knowledge sharing. This will help improve the data literacy of the organization and create new ways of working.</a:t>
            </a:r>
            <a:r>
              <a:rPr lang="en-US" sz="1600" b="1" kern="600" spc="30" dirty="0"/>
              <a:t> </a:t>
            </a:r>
            <a:endParaRPr lang="en-US" b="1" kern="600" spc="30" dirty="0"/>
          </a:p>
        </p:txBody>
      </p:sp>
      <p:grpSp>
        <p:nvGrpSpPr>
          <p:cNvPr id="5" name="Group 4">
            <a:extLst>
              <a:ext uri="{FF2B5EF4-FFF2-40B4-BE49-F238E27FC236}">
                <a16:creationId xmlns:a16="http://schemas.microsoft.com/office/drawing/2014/main" id="{E8268A97-3B17-DEB8-B31E-D4BDF99A6214}"/>
              </a:ext>
            </a:extLst>
          </p:cNvPr>
          <p:cNvGrpSpPr/>
          <p:nvPr/>
        </p:nvGrpSpPr>
        <p:grpSpPr>
          <a:xfrm>
            <a:off x="493651" y="1273452"/>
            <a:ext cx="393746" cy="271822"/>
            <a:chOff x="547455" y="1390302"/>
            <a:chExt cx="427409" cy="295119"/>
          </a:xfrm>
          <a:solidFill>
            <a:schemeClr val="tx2"/>
          </a:solidFill>
        </p:grpSpPr>
        <p:grpSp>
          <p:nvGrpSpPr>
            <p:cNvPr id="6" name="Group 5">
              <a:extLst>
                <a:ext uri="{FF2B5EF4-FFF2-40B4-BE49-F238E27FC236}">
                  <a16:creationId xmlns:a16="http://schemas.microsoft.com/office/drawing/2014/main" id="{57A2AA88-1828-AFA0-F058-542A757A3011}"/>
                </a:ext>
              </a:extLst>
            </p:cNvPr>
            <p:cNvGrpSpPr>
              <a:grpSpLocks noChangeAspect="1"/>
            </p:cNvGrpSpPr>
            <p:nvPr/>
          </p:nvGrpSpPr>
          <p:grpSpPr>
            <a:xfrm>
              <a:off x="547455" y="1390302"/>
              <a:ext cx="427409" cy="295119"/>
              <a:chOff x="3321051" y="2665413"/>
              <a:chExt cx="266700" cy="184150"/>
            </a:xfrm>
            <a:grpFill/>
          </p:grpSpPr>
          <p:sp>
            <p:nvSpPr>
              <p:cNvPr id="8" name="Freeform 221">
                <a:extLst>
                  <a:ext uri="{FF2B5EF4-FFF2-40B4-BE49-F238E27FC236}">
                    <a16:creationId xmlns:a16="http://schemas.microsoft.com/office/drawing/2014/main" id="{82309D0B-E8CA-6228-618E-34B22D79166A}"/>
                  </a:ext>
                </a:extLst>
              </p:cNvPr>
              <p:cNvSpPr>
                <a:spLocks/>
              </p:cNvSpPr>
              <p:nvPr/>
            </p:nvSpPr>
            <p:spPr bwMode="auto">
              <a:xfrm>
                <a:off x="3321051" y="2824163"/>
                <a:ext cx="266700" cy="25400"/>
              </a:xfrm>
              <a:custGeom>
                <a:avLst/>
                <a:gdLst>
                  <a:gd name="T0" fmla="*/ 330 w 335"/>
                  <a:gd name="T1" fmla="*/ 0 h 33"/>
                  <a:gd name="T2" fmla="*/ 5 w 335"/>
                  <a:gd name="T3" fmla="*/ 0 h 33"/>
                  <a:gd name="T4" fmla="*/ 5 w 335"/>
                  <a:gd name="T5" fmla="*/ 0 h 33"/>
                  <a:gd name="T6" fmla="*/ 2 w 335"/>
                  <a:gd name="T7" fmla="*/ 0 h 33"/>
                  <a:gd name="T8" fmla="*/ 1 w 335"/>
                  <a:gd name="T9" fmla="*/ 2 h 33"/>
                  <a:gd name="T10" fmla="*/ 0 w 335"/>
                  <a:gd name="T11" fmla="*/ 3 h 33"/>
                  <a:gd name="T12" fmla="*/ 0 w 335"/>
                  <a:gd name="T13" fmla="*/ 6 h 33"/>
                  <a:gd name="T14" fmla="*/ 0 w 335"/>
                  <a:gd name="T15" fmla="*/ 11 h 33"/>
                  <a:gd name="T16" fmla="*/ 0 w 335"/>
                  <a:gd name="T17" fmla="*/ 11 h 33"/>
                  <a:gd name="T18" fmla="*/ 0 w 335"/>
                  <a:gd name="T19" fmla="*/ 15 h 33"/>
                  <a:gd name="T20" fmla="*/ 1 w 335"/>
                  <a:gd name="T21" fmla="*/ 19 h 33"/>
                  <a:gd name="T22" fmla="*/ 4 w 335"/>
                  <a:gd name="T23" fmla="*/ 23 h 33"/>
                  <a:gd name="T24" fmla="*/ 6 w 335"/>
                  <a:gd name="T25" fmla="*/ 26 h 33"/>
                  <a:gd name="T26" fmla="*/ 9 w 335"/>
                  <a:gd name="T27" fmla="*/ 29 h 33"/>
                  <a:gd name="T28" fmla="*/ 13 w 335"/>
                  <a:gd name="T29" fmla="*/ 31 h 33"/>
                  <a:gd name="T30" fmla="*/ 17 w 335"/>
                  <a:gd name="T31" fmla="*/ 33 h 33"/>
                  <a:gd name="T32" fmla="*/ 21 w 335"/>
                  <a:gd name="T33" fmla="*/ 33 h 33"/>
                  <a:gd name="T34" fmla="*/ 314 w 335"/>
                  <a:gd name="T35" fmla="*/ 33 h 33"/>
                  <a:gd name="T36" fmla="*/ 314 w 335"/>
                  <a:gd name="T37" fmla="*/ 33 h 33"/>
                  <a:gd name="T38" fmla="*/ 318 w 335"/>
                  <a:gd name="T39" fmla="*/ 33 h 33"/>
                  <a:gd name="T40" fmla="*/ 322 w 335"/>
                  <a:gd name="T41" fmla="*/ 31 h 33"/>
                  <a:gd name="T42" fmla="*/ 326 w 335"/>
                  <a:gd name="T43" fmla="*/ 29 h 33"/>
                  <a:gd name="T44" fmla="*/ 329 w 335"/>
                  <a:gd name="T45" fmla="*/ 26 h 33"/>
                  <a:gd name="T46" fmla="*/ 331 w 335"/>
                  <a:gd name="T47" fmla="*/ 23 h 33"/>
                  <a:gd name="T48" fmla="*/ 334 w 335"/>
                  <a:gd name="T49" fmla="*/ 19 h 33"/>
                  <a:gd name="T50" fmla="*/ 335 w 335"/>
                  <a:gd name="T51" fmla="*/ 15 h 33"/>
                  <a:gd name="T52" fmla="*/ 335 w 335"/>
                  <a:gd name="T53" fmla="*/ 11 h 33"/>
                  <a:gd name="T54" fmla="*/ 335 w 335"/>
                  <a:gd name="T55" fmla="*/ 6 h 33"/>
                  <a:gd name="T56" fmla="*/ 335 w 335"/>
                  <a:gd name="T57" fmla="*/ 6 h 33"/>
                  <a:gd name="T58" fmla="*/ 335 w 335"/>
                  <a:gd name="T59" fmla="*/ 3 h 33"/>
                  <a:gd name="T60" fmla="*/ 334 w 335"/>
                  <a:gd name="T61" fmla="*/ 2 h 33"/>
                  <a:gd name="T62" fmla="*/ 331 w 335"/>
                  <a:gd name="T63" fmla="*/ 0 h 33"/>
                  <a:gd name="T64" fmla="*/ 330 w 335"/>
                  <a:gd name="T65" fmla="*/ 0 h 33"/>
                  <a:gd name="T66" fmla="*/ 330 w 335"/>
                  <a:gd name="T67"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5" h="33">
                    <a:moveTo>
                      <a:pt x="330" y="0"/>
                    </a:moveTo>
                    <a:lnTo>
                      <a:pt x="5" y="0"/>
                    </a:lnTo>
                    <a:lnTo>
                      <a:pt x="5" y="0"/>
                    </a:lnTo>
                    <a:lnTo>
                      <a:pt x="2" y="0"/>
                    </a:lnTo>
                    <a:lnTo>
                      <a:pt x="1" y="2"/>
                    </a:lnTo>
                    <a:lnTo>
                      <a:pt x="0" y="3"/>
                    </a:lnTo>
                    <a:lnTo>
                      <a:pt x="0" y="6"/>
                    </a:lnTo>
                    <a:lnTo>
                      <a:pt x="0" y="11"/>
                    </a:lnTo>
                    <a:lnTo>
                      <a:pt x="0" y="11"/>
                    </a:lnTo>
                    <a:lnTo>
                      <a:pt x="0" y="15"/>
                    </a:lnTo>
                    <a:lnTo>
                      <a:pt x="1" y="19"/>
                    </a:lnTo>
                    <a:lnTo>
                      <a:pt x="4" y="23"/>
                    </a:lnTo>
                    <a:lnTo>
                      <a:pt x="6" y="26"/>
                    </a:lnTo>
                    <a:lnTo>
                      <a:pt x="9" y="29"/>
                    </a:lnTo>
                    <a:lnTo>
                      <a:pt x="13" y="31"/>
                    </a:lnTo>
                    <a:lnTo>
                      <a:pt x="17" y="33"/>
                    </a:lnTo>
                    <a:lnTo>
                      <a:pt x="21" y="33"/>
                    </a:lnTo>
                    <a:lnTo>
                      <a:pt x="314" y="33"/>
                    </a:lnTo>
                    <a:lnTo>
                      <a:pt x="314" y="33"/>
                    </a:lnTo>
                    <a:lnTo>
                      <a:pt x="318" y="33"/>
                    </a:lnTo>
                    <a:lnTo>
                      <a:pt x="322" y="31"/>
                    </a:lnTo>
                    <a:lnTo>
                      <a:pt x="326" y="29"/>
                    </a:lnTo>
                    <a:lnTo>
                      <a:pt x="329" y="26"/>
                    </a:lnTo>
                    <a:lnTo>
                      <a:pt x="331" y="23"/>
                    </a:lnTo>
                    <a:lnTo>
                      <a:pt x="334" y="19"/>
                    </a:lnTo>
                    <a:lnTo>
                      <a:pt x="335" y="15"/>
                    </a:lnTo>
                    <a:lnTo>
                      <a:pt x="335" y="11"/>
                    </a:lnTo>
                    <a:lnTo>
                      <a:pt x="335" y="6"/>
                    </a:lnTo>
                    <a:lnTo>
                      <a:pt x="335" y="6"/>
                    </a:lnTo>
                    <a:lnTo>
                      <a:pt x="335" y="3"/>
                    </a:lnTo>
                    <a:lnTo>
                      <a:pt x="334" y="2"/>
                    </a:lnTo>
                    <a:lnTo>
                      <a:pt x="331" y="0"/>
                    </a:lnTo>
                    <a:lnTo>
                      <a:pt x="330" y="0"/>
                    </a:lnTo>
                    <a:lnTo>
                      <a:pt x="3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9" name="Freeform 222">
                <a:extLst>
                  <a:ext uri="{FF2B5EF4-FFF2-40B4-BE49-F238E27FC236}">
                    <a16:creationId xmlns:a16="http://schemas.microsoft.com/office/drawing/2014/main" id="{0828FE05-5405-2CB6-CFB2-32E01C6DBC31}"/>
                  </a:ext>
                </a:extLst>
              </p:cNvPr>
              <p:cNvSpPr>
                <a:spLocks/>
              </p:cNvSpPr>
              <p:nvPr/>
            </p:nvSpPr>
            <p:spPr bwMode="auto">
              <a:xfrm>
                <a:off x="3341688" y="2665413"/>
                <a:ext cx="223838" cy="142875"/>
              </a:xfrm>
              <a:custGeom>
                <a:avLst/>
                <a:gdLst>
                  <a:gd name="T0" fmla="*/ 22 w 283"/>
                  <a:gd name="T1" fmla="*/ 33 h 179"/>
                  <a:gd name="T2" fmla="*/ 22 w 283"/>
                  <a:gd name="T3" fmla="*/ 33 h 179"/>
                  <a:gd name="T4" fmla="*/ 23 w 283"/>
                  <a:gd name="T5" fmla="*/ 29 h 179"/>
                  <a:gd name="T6" fmla="*/ 26 w 283"/>
                  <a:gd name="T7" fmla="*/ 25 h 179"/>
                  <a:gd name="T8" fmla="*/ 29 w 283"/>
                  <a:gd name="T9" fmla="*/ 23 h 179"/>
                  <a:gd name="T10" fmla="*/ 33 w 283"/>
                  <a:gd name="T11" fmla="*/ 22 h 179"/>
                  <a:gd name="T12" fmla="*/ 250 w 283"/>
                  <a:gd name="T13" fmla="*/ 22 h 179"/>
                  <a:gd name="T14" fmla="*/ 250 w 283"/>
                  <a:gd name="T15" fmla="*/ 22 h 179"/>
                  <a:gd name="T16" fmla="*/ 254 w 283"/>
                  <a:gd name="T17" fmla="*/ 23 h 179"/>
                  <a:gd name="T18" fmla="*/ 257 w 283"/>
                  <a:gd name="T19" fmla="*/ 25 h 179"/>
                  <a:gd name="T20" fmla="*/ 260 w 283"/>
                  <a:gd name="T21" fmla="*/ 29 h 179"/>
                  <a:gd name="T22" fmla="*/ 261 w 283"/>
                  <a:gd name="T23" fmla="*/ 33 h 179"/>
                  <a:gd name="T24" fmla="*/ 261 w 283"/>
                  <a:gd name="T25" fmla="*/ 179 h 179"/>
                  <a:gd name="T26" fmla="*/ 283 w 283"/>
                  <a:gd name="T27" fmla="*/ 179 h 179"/>
                  <a:gd name="T28" fmla="*/ 283 w 283"/>
                  <a:gd name="T29" fmla="*/ 33 h 179"/>
                  <a:gd name="T30" fmla="*/ 283 w 283"/>
                  <a:gd name="T31" fmla="*/ 33 h 179"/>
                  <a:gd name="T32" fmla="*/ 281 w 283"/>
                  <a:gd name="T33" fmla="*/ 26 h 179"/>
                  <a:gd name="T34" fmla="*/ 280 w 283"/>
                  <a:gd name="T35" fmla="*/ 21 h 179"/>
                  <a:gd name="T36" fmla="*/ 277 w 283"/>
                  <a:gd name="T37" fmla="*/ 14 h 179"/>
                  <a:gd name="T38" fmla="*/ 273 w 283"/>
                  <a:gd name="T39" fmla="*/ 10 h 179"/>
                  <a:gd name="T40" fmla="*/ 268 w 283"/>
                  <a:gd name="T41" fmla="*/ 6 h 179"/>
                  <a:gd name="T42" fmla="*/ 262 w 283"/>
                  <a:gd name="T43" fmla="*/ 3 h 179"/>
                  <a:gd name="T44" fmla="*/ 256 w 283"/>
                  <a:gd name="T45" fmla="*/ 0 h 179"/>
                  <a:gd name="T46" fmla="*/ 250 w 283"/>
                  <a:gd name="T47" fmla="*/ 0 h 179"/>
                  <a:gd name="T48" fmla="*/ 33 w 283"/>
                  <a:gd name="T49" fmla="*/ 0 h 179"/>
                  <a:gd name="T50" fmla="*/ 33 w 283"/>
                  <a:gd name="T51" fmla="*/ 0 h 179"/>
                  <a:gd name="T52" fmla="*/ 26 w 283"/>
                  <a:gd name="T53" fmla="*/ 0 h 179"/>
                  <a:gd name="T54" fmla="*/ 21 w 283"/>
                  <a:gd name="T55" fmla="*/ 3 h 179"/>
                  <a:gd name="T56" fmla="*/ 15 w 283"/>
                  <a:gd name="T57" fmla="*/ 6 h 179"/>
                  <a:gd name="T58" fmla="*/ 10 w 283"/>
                  <a:gd name="T59" fmla="*/ 10 h 179"/>
                  <a:gd name="T60" fmla="*/ 6 w 283"/>
                  <a:gd name="T61" fmla="*/ 14 h 179"/>
                  <a:gd name="T62" fmla="*/ 3 w 283"/>
                  <a:gd name="T63" fmla="*/ 21 h 179"/>
                  <a:gd name="T64" fmla="*/ 2 w 283"/>
                  <a:gd name="T65" fmla="*/ 26 h 179"/>
                  <a:gd name="T66" fmla="*/ 0 w 283"/>
                  <a:gd name="T67" fmla="*/ 33 h 179"/>
                  <a:gd name="T68" fmla="*/ 0 w 283"/>
                  <a:gd name="T69" fmla="*/ 179 h 179"/>
                  <a:gd name="T70" fmla="*/ 22 w 283"/>
                  <a:gd name="T71" fmla="*/ 179 h 179"/>
                  <a:gd name="T72" fmla="*/ 22 w 283"/>
                  <a:gd name="T73" fmla="*/ 3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3" h="179">
                    <a:moveTo>
                      <a:pt x="22" y="33"/>
                    </a:moveTo>
                    <a:lnTo>
                      <a:pt x="22" y="33"/>
                    </a:lnTo>
                    <a:lnTo>
                      <a:pt x="23" y="29"/>
                    </a:lnTo>
                    <a:lnTo>
                      <a:pt x="26" y="25"/>
                    </a:lnTo>
                    <a:lnTo>
                      <a:pt x="29" y="23"/>
                    </a:lnTo>
                    <a:lnTo>
                      <a:pt x="33" y="22"/>
                    </a:lnTo>
                    <a:lnTo>
                      <a:pt x="250" y="22"/>
                    </a:lnTo>
                    <a:lnTo>
                      <a:pt x="250" y="22"/>
                    </a:lnTo>
                    <a:lnTo>
                      <a:pt x="254" y="23"/>
                    </a:lnTo>
                    <a:lnTo>
                      <a:pt x="257" y="25"/>
                    </a:lnTo>
                    <a:lnTo>
                      <a:pt x="260" y="29"/>
                    </a:lnTo>
                    <a:lnTo>
                      <a:pt x="261" y="33"/>
                    </a:lnTo>
                    <a:lnTo>
                      <a:pt x="261" y="179"/>
                    </a:lnTo>
                    <a:lnTo>
                      <a:pt x="283" y="179"/>
                    </a:lnTo>
                    <a:lnTo>
                      <a:pt x="283" y="33"/>
                    </a:lnTo>
                    <a:lnTo>
                      <a:pt x="283" y="33"/>
                    </a:lnTo>
                    <a:lnTo>
                      <a:pt x="281" y="26"/>
                    </a:lnTo>
                    <a:lnTo>
                      <a:pt x="280" y="21"/>
                    </a:lnTo>
                    <a:lnTo>
                      <a:pt x="277" y="14"/>
                    </a:lnTo>
                    <a:lnTo>
                      <a:pt x="273" y="10"/>
                    </a:lnTo>
                    <a:lnTo>
                      <a:pt x="268" y="6"/>
                    </a:lnTo>
                    <a:lnTo>
                      <a:pt x="262" y="3"/>
                    </a:lnTo>
                    <a:lnTo>
                      <a:pt x="256" y="0"/>
                    </a:lnTo>
                    <a:lnTo>
                      <a:pt x="250" y="0"/>
                    </a:lnTo>
                    <a:lnTo>
                      <a:pt x="33" y="0"/>
                    </a:lnTo>
                    <a:lnTo>
                      <a:pt x="33" y="0"/>
                    </a:lnTo>
                    <a:lnTo>
                      <a:pt x="26" y="0"/>
                    </a:lnTo>
                    <a:lnTo>
                      <a:pt x="21" y="3"/>
                    </a:lnTo>
                    <a:lnTo>
                      <a:pt x="15" y="6"/>
                    </a:lnTo>
                    <a:lnTo>
                      <a:pt x="10" y="10"/>
                    </a:lnTo>
                    <a:lnTo>
                      <a:pt x="6" y="14"/>
                    </a:lnTo>
                    <a:lnTo>
                      <a:pt x="3" y="21"/>
                    </a:lnTo>
                    <a:lnTo>
                      <a:pt x="2" y="26"/>
                    </a:lnTo>
                    <a:lnTo>
                      <a:pt x="0" y="33"/>
                    </a:lnTo>
                    <a:lnTo>
                      <a:pt x="0" y="179"/>
                    </a:lnTo>
                    <a:lnTo>
                      <a:pt x="22" y="179"/>
                    </a:lnTo>
                    <a:lnTo>
                      <a:pt x="22"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grpSp>
        <p:sp>
          <p:nvSpPr>
            <p:cNvPr id="7" name="Freeform 188">
              <a:extLst>
                <a:ext uri="{FF2B5EF4-FFF2-40B4-BE49-F238E27FC236}">
                  <a16:creationId xmlns:a16="http://schemas.microsoft.com/office/drawing/2014/main" id="{A4BF34BA-0FCA-CDC3-0778-97679AF12410}"/>
                </a:ext>
              </a:extLst>
            </p:cNvPr>
            <p:cNvSpPr>
              <a:spLocks/>
            </p:cNvSpPr>
            <p:nvPr/>
          </p:nvSpPr>
          <p:spPr bwMode="auto">
            <a:xfrm>
              <a:off x="675945" y="1487632"/>
              <a:ext cx="169398" cy="113598"/>
            </a:xfrm>
            <a:custGeom>
              <a:avLst/>
              <a:gdLst>
                <a:gd name="T0" fmla="*/ 346 w 369"/>
                <a:gd name="T1" fmla="*/ 0 h 250"/>
                <a:gd name="T2" fmla="*/ 135 w 369"/>
                <a:gd name="T3" fmla="*/ 211 h 250"/>
                <a:gd name="T4" fmla="*/ 22 w 369"/>
                <a:gd name="T5" fmla="*/ 97 h 250"/>
                <a:gd name="T6" fmla="*/ 0 w 369"/>
                <a:gd name="T7" fmla="*/ 119 h 250"/>
                <a:gd name="T8" fmla="*/ 125 w 369"/>
                <a:gd name="T9" fmla="*/ 244 h 250"/>
                <a:gd name="T10" fmla="*/ 125 w 369"/>
                <a:gd name="T11" fmla="*/ 244 h 250"/>
                <a:gd name="T12" fmla="*/ 130 w 369"/>
                <a:gd name="T13" fmla="*/ 248 h 250"/>
                <a:gd name="T14" fmla="*/ 135 w 369"/>
                <a:gd name="T15" fmla="*/ 250 h 250"/>
                <a:gd name="T16" fmla="*/ 135 w 369"/>
                <a:gd name="T17" fmla="*/ 250 h 250"/>
                <a:gd name="T18" fmla="*/ 142 w 369"/>
                <a:gd name="T19" fmla="*/ 248 h 250"/>
                <a:gd name="T20" fmla="*/ 147 w 369"/>
                <a:gd name="T21" fmla="*/ 244 h 250"/>
                <a:gd name="T22" fmla="*/ 369 w 369"/>
                <a:gd name="T23" fmla="*/ 23 h 250"/>
                <a:gd name="T24" fmla="*/ 346 w 369"/>
                <a:gd name="T2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250">
                  <a:moveTo>
                    <a:pt x="346" y="0"/>
                  </a:moveTo>
                  <a:lnTo>
                    <a:pt x="135" y="211"/>
                  </a:lnTo>
                  <a:lnTo>
                    <a:pt x="22" y="97"/>
                  </a:lnTo>
                  <a:lnTo>
                    <a:pt x="0" y="119"/>
                  </a:lnTo>
                  <a:lnTo>
                    <a:pt x="125" y="244"/>
                  </a:lnTo>
                  <a:lnTo>
                    <a:pt x="125" y="244"/>
                  </a:lnTo>
                  <a:lnTo>
                    <a:pt x="130" y="248"/>
                  </a:lnTo>
                  <a:lnTo>
                    <a:pt x="135" y="250"/>
                  </a:lnTo>
                  <a:lnTo>
                    <a:pt x="135" y="250"/>
                  </a:lnTo>
                  <a:lnTo>
                    <a:pt x="142" y="248"/>
                  </a:lnTo>
                  <a:lnTo>
                    <a:pt x="147" y="244"/>
                  </a:lnTo>
                  <a:lnTo>
                    <a:pt x="369" y="23"/>
                  </a:lnTo>
                  <a:lnTo>
                    <a:pt x="3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grpSp>
      <p:grpSp>
        <p:nvGrpSpPr>
          <p:cNvPr id="10" name="Group 9">
            <a:extLst>
              <a:ext uri="{FF2B5EF4-FFF2-40B4-BE49-F238E27FC236}">
                <a16:creationId xmlns:a16="http://schemas.microsoft.com/office/drawing/2014/main" id="{485AE4D8-FBC4-CDF9-B1C9-1C65091C6881}"/>
              </a:ext>
            </a:extLst>
          </p:cNvPr>
          <p:cNvGrpSpPr/>
          <p:nvPr/>
        </p:nvGrpSpPr>
        <p:grpSpPr>
          <a:xfrm>
            <a:off x="514045" y="1926934"/>
            <a:ext cx="336079" cy="323011"/>
            <a:chOff x="728301" y="2073196"/>
            <a:chExt cx="336079" cy="323011"/>
          </a:xfrm>
          <a:solidFill>
            <a:schemeClr val="tx2"/>
          </a:solidFill>
        </p:grpSpPr>
        <p:grpSp>
          <p:nvGrpSpPr>
            <p:cNvPr id="11" name="Group 10">
              <a:extLst>
                <a:ext uri="{FF2B5EF4-FFF2-40B4-BE49-F238E27FC236}">
                  <a16:creationId xmlns:a16="http://schemas.microsoft.com/office/drawing/2014/main" id="{33F47379-E411-C4C1-9C7C-3B2FD3A4C2E6}"/>
                </a:ext>
              </a:extLst>
            </p:cNvPr>
            <p:cNvGrpSpPr>
              <a:grpSpLocks noChangeAspect="1"/>
            </p:cNvGrpSpPr>
            <p:nvPr/>
          </p:nvGrpSpPr>
          <p:grpSpPr>
            <a:xfrm>
              <a:off x="728301" y="2073196"/>
              <a:ext cx="309281" cy="307293"/>
              <a:chOff x="5091113" y="4314825"/>
              <a:chExt cx="246063" cy="244476"/>
            </a:xfrm>
            <a:grpFill/>
          </p:grpSpPr>
          <p:sp>
            <p:nvSpPr>
              <p:cNvPr id="16" name="Freeform 250">
                <a:extLst>
                  <a:ext uri="{FF2B5EF4-FFF2-40B4-BE49-F238E27FC236}">
                    <a16:creationId xmlns:a16="http://schemas.microsoft.com/office/drawing/2014/main" id="{0AD835EF-E221-01AD-C459-323E7C20D30C}"/>
                  </a:ext>
                </a:extLst>
              </p:cNvPr>
              <p:cNvSpPr>
                <a:spLocks/>
              </p:cNvSpPr>
              <p:nvPr/>
            </p:nvSpPr>
            <p:spPr bwMode="auto">
              <a:xfrm>
                <a:off x="5132388" y="4511675"/>
                <a:ext cx="49213" cy="46038"/>
              </a:xfrm>
              <a:custGeom>
                <a:avLst/>
                <a:gdLst>
                  <a:gd name="T0" fmla="*/ 0 w 63"/>
                  <a:gd name="T1" fmla="*/ 23 h 58"/>
                  <a:gd name="T2" fmla="*/ 0 w 63"/>
                  <a:gd name="T3" fmla="*/ 23 h 58"/>
                  <a:gd name="T4" fmla="*/ 13 w 63"/>
                  <a:gd name="T5" fmla="*/ 34 h 58"/>
                  <a:gd name="T6" fmla="*/ 29 w 63"/>
                  <a:gd name="T7" fmla="*/ 45 h 58"/>
                  <a:gd name="T8" fmla="*/ 45 w 63"/>
                  <a:gd name="T9" fmla="*/ 51 h 58"/>
                  <a:gd name="T10" fmla="*/ 63 w 63"/>
                  <a:gd name="T11" fmla="*/ 58 h 58"/>
                  <a:gd name="T12" fmla="*/ 63 w 63"/>
                  <a:gd name="T13" fmla="*/ 58 h 58"/>
                  <a:gd name="T14" fmla="*/ 52 w 63"/>
                  <a:gd name="T15" fmla="*/ 47 h 58"/>
                  <a:gd name="T16" fmla="*/ 43 w 63"/>
                  <a:gd name="T17" fmla="*/ 34 h 58"/>
                  <a:gd name="T18" fmla="*/ 35 w 63"/>
                  <a:gd name="T19" fmla="*/ 18 h 58"/>
                  <a:gd name="T20" fmla="*/ 27 w 63"/>
                  <a:gd name="T21" fmla="*/ 0 h 58"/>
                  <a:gd name="T22" fmla="*/ 27 w 63"/>
                  <a:gd name="T23" fmla="*/ 0 h 58"/>
                  <a:gd name="T24" fmla="*/ 12 w 63"/>
                  <a:gd name="T25" fmla="*/ 11 h 58"/>
                  <a:gd name="T26" fmla="*/ 0 w 63"/>
                  <a:gd name="T27" fmla="*/ 23 h 58"/>
                  <a:gd name="T28" fmla="*/ 0 w 63"/>
                  <a:gd name="T29" fmla="*/ 2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58">
                    <a:moveTo>
                      <a:pt x="0" y="23"/>
                    </a:moveTo>
                    <a:lnTo>
                      <a:pt x="0" y="23"/>
                    </a:lnTo>
                    <a:lnTo>
                      <a:pt x="13" y="34"/>
                    </a:lnTo>
                    <a:lnTo>
                      <a:pt x="29" y="45"/>
                    </a:lnTo>
                    <a:lnTo>
                      <a:pt x="45" y="51"/>
                    </a:lnTo>
                    <a:lnTo>
                      <a:pt x="63" y="58"/>
                    </a:lnTo>
                    <a:lnTo>
                      <a:pt x="63" y="58"/>
                    </a:lnTo>
                    <a:lnTo>
                      <a:pt x="52" y="47"/>
                    </a:lnTo>
                    <a:lnTo>
                      <a:pt x="43" y="34"/>
                    </a:lnTo>
                    <a:lnTo>
                      <a:pt x="35" y="18"/>
                    </a:lnTo>
                    <a:lnTo>
                      <a:pt x="27" y="0"/>
                    </a:lnTo>
                    <a:lnTo>
                      <a:pt x="27" y="0"/>
                    </a:lnTo>
                    <a:lnTo>
                      <a:pt x="12" y="11"/>
                    </a:lnTo>
                    <a:lnTo>
                      <a:pt x="0" y="23"/>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17" name="Freeform 251">
                <a:extLst>
                  <a:ext uri="{FF2B5EF4-FFF2-40B4-BE49-F238E27FC236}">
                    <a16:creationId xmlns:a16="http://schemas.microsoft.com/office/drawing/2014/main" id="{400C818B-D75A-1E82-50EC-59ED15BCF332}"/>
                  </a:ext>
                </a:extLst>
              </p:cNvPr>
              <p:cNvSpPr>
                <a:spLocks/>
              </p:cNvSpPr>
              <p:nvPr/>
            </p:nvSpPr>
            <p:spPr bwMode="auto">
              <a:xfrm>
                <a:off x="5219701" y="4494213"/>
                <a:ext cx="46038" cy="65088"/>
              </a:xfrm>
              <a:custGeom>
                <a:avLst/>
                <a:gdLst>
                  <a:gd name="T0" fmla="*/ 0 w 59"/>
                  <a:gd name="T1" fmla="*/ 82 h 82"/>
                  <a:gd name="T2" fmla="*/ 0 w 59"/>
                  <a:gd name="T3" fmla="*/ 82 h 82"/>
                  <a:gd name="T4" fmla="*/ 9 w 59"/>
                  <a:gd name="T5" fmla="*/ 81 h 82"/>
                  <a:gd name="T6" fmla="*/ 17 w 59"/>
                  <a:gd name="T7" fmla="*/ 76 h 82"/>
                  <a:gd name="T8" fmla="*/ 27 w 59"/>
                  <a:gd name="T9" fmla="*/ 70 h 82"/>
                  <a:gd name="T10" fmla="*/ 33 w 59"/>
                  <a:gd name="T11" fmla="*/ 62 h 82"/>
                  <a:gd name="T12" fmla="*/ 42 w 59"/>
                  <a:gd name="T13" fmla="*/ 52 h 82"/>
                  <a:gd name="T14" fmla="*/ 48 w 59"/>
                  <a:gd name="T15" fmla="*/ 42 h 82"/>
                  <a:gd name="T16" fmla="*/ 54 w 59"/>
                  <a:gd name="T17" fmla="*/ 29 h 82"/>
                  <a:gd name="T18" fmla="*/ 59 w 59"/>
                  <a:gd name="T19" fmla="*/ 16 h 82"/>
                  <a:gd name="T20" fmla="*/ 59 w 59"/>
                  <a:gd name="T21" fmla="*/ 16 h 82"/>
                  <a:gd name="T22" fmla="*/ 46 w 59"/>
                  <a:gd name="T23" fmla="*/ 9 h 82"/>
                  <a:gd name="T24" fmla="*/ 31 w 59"/>
                  <a:gd name="T25" fmla="*/ 5 h 82"/>
                  <a:gd name="T26" fmla="*/ 16 w 59"/>
                  <a:gd name="T27" fmla="*/ 1 h 82"/>
                  <a:gd name="T28" fmla="*/ 0 w 59"/>
                  <a:gd name="T29" fmla="*/ 0 h 82"/>
                  <a:gd name="T30" fmla="*/ 0 w 59"/>
                  <a:gd name="T31" fmla="*/ 8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9" h="82">
                    <a:moveTo>
                      <a:pt x="0" y="82"/>
                    </a:moveTo>
                    <a:lnTo>
                      <a:pt x="0" y="82"/>
                    </a:lnTo>
                    <a:lnTo>
                      <a:pt x="9" y="81"/>
                    </a:lnTo>
                    <a:lnTo>
                      <a:pt x="17" y="76"/>
                    </a:lnTo>
                    <a:lnTo>
                      <a:pt x="27" y="70"/>
                    </a:lnTo>
                    <a:lnTo>
                      <a:pt x="33" y="62"/>
                    </a:lnTo>
                    <a:lnTo>
                      <a:pt x="42" y="52"/>
                    </a:lnTo>
                    <a:lnTo>
                      <a:pt x="48" y="42"/>
                    </a:lnTo>
                    <a:lnTo>
                      <a:pt x="54" y="29"/>
                    </a:lnTo>
                    <a:lnTo>
                      <a:pt x="59" y="16"/>
                    </a:lnTo>
                    <a:lnTo>
                      <a:pt x="59" y="16"/>
                    </a:lnTo>
                    <a:lnTo>
                      <a:pt x="46" y="9"/>
                    </a:lnTo>
                    <a:lnTo>
                      <a:pt x="31" y="5"/>
                    </a:lnTo>
                    <a:lnTo>
                      <a:pt x="16" y="1"/>
                    </a:lnTo>
                    <a:lnTo>
                      <a:pt x="0" y="0"/>
                    </a:lnTo>
                    <a:lnTo>
                      <a:pt x="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18" name="Freeform 252">
                <a:extLst>
                  <a:ext uri="{FF2B5EF4-FFF2-40B4-BE49-F238E27FC236}">
                    <a16:creationId xmlns:a16="http://schemas.microsoft.com/office/drawing/2014/main" id="{C87C7AD8-B1B4-7ACC-4467-B40C9620BB20}"/>
                  </a:ext>
                </a:extLst>
              </p:cNvPr>
              <p:cNvSpPr>
                <a:spLocks/>
              </p:cNvSpPr>
              <p:nvPr/>
            </p:nvSpPr>
            <p:spPr bwMode="auto">
              <a:xfrm>
                <a:off x="5162551" y="4494213"/>
                <a:ext cx="46038" cy="65088"/>
              </a:xfrm>
              <a:custGeom>
                <a:avLst/>
                <a:gdLst>
                  <a:gd name="T0" fmla="*/ 59 w 59"/>
                  <a:gd name="T1" fmla="*/ 82 h 82"/>
                  <a:gd name="T2" fmla="*/ 59 w 59"/>
                  <a:gd name="T3" fmla="*/ 0 h 82"/>
                  <a:gd name="T4" fmla="*/ 59 w 59"/>
                  <a:gd name="T5" fmla="*/ 0 h 82"/>
                  <a:gd name="T6" fmla="*/ 43 w 59"/>
                  <a:gd name="T7" fmla="*/ 3 h 82"/>
                  <a:gd name="T8" fmla="*/ 29 w 59"/>
                  <a:gd name="T9" fmla="*/ 5 h 82"/>
                  <a:gd name="T10" fmla="*/ 14 w 59"/>
                  <a:gd name="T11" fmla="*/ 9 h 82"/>
                  <a:gd name="T12" fmla="*/ 0 w 59"/>
                  <a:gd name="T13" fmla="*/ 16 h 82"/>
                  <a:gd name="T14" fmla="*/ 0 w 59"/>
                  <a:gd name="T15" fmla="*/ 16 h 82"/>
                  <a:gd name="T16" fmla="*/ 6 w 59"/>
                  <a:gd name="T17" fmla="*/ 29 h 82"/>
                  <a:gd name="T18" fmla="*/ 11 w 59"/>
                  <a:gd name="T19" fmla="*/ 42 h 82"/>
                  <a:gd name="T20" fmla="*/ 18 w 59"/>
                  <a:gd name="T21" fmla="*/ 52 h 82"/>
                  <a:gd name="T22" fmla="*/ 25 w 59"/>
                  <a:gd name="T23" fmla="*/ 62 h 82"/>
                  <a:gd name="T24" fmla="*/ 33 w 59"/>
                  <a:gd name="T25" fmla="*/ 70 h 82"/>
                  <a:gd name="T26" fmla="*/ 41 w 59"/>
                  <a:gd name="T27" fmla="*/ 76 h 82"/>
                  <a:gd name="T28" fmla="*/ 50 w 59"/>
                  <a:gd name="T29" fmla="*/ 81 h 82"/>
                  <a:gd name="T30" fmla="*/ 59 w 59"/>
                  <a:gd name="T31" fmla="*/ 82 h 82"/>
                  <a:gd name="T32" fmla="*/ 59 w 59"/>
                  <a:gd name="T33" fmla="*/ 8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2">
                    <a:moveTo>
                      <a:pt x="59" y="82"/>
                    </a:moveTo>
                    <a:lnTo>
                      <a:pt x="59" y="0"/>
                    </a:lnTo>
                    <a:lnTo>
                      <a:pt x="59" y="0"/>
                    </a:lnTo>
                    <a:lnTo>
                      <a:pt x="43" y="3"/>
                    </a:lnTo>
                    <a:lnTo>
                      <a:pt x="29" y="5"/>
                    </a:lnTo>
                    <a:lnTo>
                      <a:pt x="14" y="9"/>
                    </a:lnTo>
                    <a:lnTo>
                      <a:pt x="0" y="16"/>
                    </a:lnTo>
                    <a:lnTo>
                      <a:pt x="0" y="16"/>
                    </a:lnTo>
                    <a:lnTo>
                      <a:pt x="6" y="29"/>
                    </a:lnTo>
                    <a:lnTo>
                      <a:pt x="11" y="42"/>
                    </a:lnTo>
                    <a:lnTo>
                      <a:pt x="18" y="52"/>
                    </a:lnTo>
                    <a:lnTo>
                      <a:pt x="25" y="62"/>
                    </a:lnTo>
                    <a:lnTo>
                      <a:pt x="33" y="70"/>
                    </a:lnTo>
                    <a:lnTo>
                      <a:pt x="41" y="76"/>
                    </a:lnTo>
                    <a:lnTo>
                      <a:pt x="50" y="81"/>
                    </a:lnTo>
                    <a:lnTo>
                      <a:pt x="59" y="82"/>
                    </a:lnTo>
                    <a:lnTo>
                      <a:pt x="59"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19" name="Freeform 253">
                <a:extLst>
                  <a:ext uri="{FF2B5EF4-FFF2-40B4-BE49-F238E27FC236}">
                    <a16:creationId xmlns:a16="http://schemas.microsoft.com/office/drawing/2014/main" id="{DC43718F-09C3-8B04-4A47-19075D035854}"/>
                  </a:ext>
                </a:extLst>
              </p:cNvPr>
              <p:cNvSpPr>
                <a:spLocks/>
              </p:cNvSpPr>
              <p:nvPr/>
            </p:nvSpPr>
            <p:spPr bwMode="auto">
              <a:xfrm>
                <a:off x="5246688" y="4511675"/>
                <a:ext cx="49213" cy="46038"/>
              </a:xfrm>
              <a:custGeom>
                <a:avLst/>
                <a:gdLst>
                  <a:gd name="T0" fmla="*/ 64 w 64"/>
                  <a:gd name="T1" fmla="*/ 23 h 58"/>
                  <a:gd name="T2" fmla="*/ 64 w 64"/>
                  <a:gd name="T3" fmla="*/ 23 h 58"/>
                  <a:gd name="T4" fmla="*/ 52 w 64"/>
                  <a:gd name="T5" fmla="*/ 11 h 58"/>
                  <a:gd name="T6" fmla="*/ 37 w 64"/>
                  <a:gd name="T7" fmla="*/ 0 h 58"/>
                  <a:gd name="T8" fmla="*/ 37 w 64"/>
                  <a:gd name="T9" fmla="*/ 0 h 58"/>
                  <a:gd name="T10" fmla="*/ 29 w 64"/>
                  <a:gd name="T11" fmla="*/ 18 h 58"/>
                  <a:gd name="T12" fmla="*/ 21 w 64"/>
                  <a:gd name="T13" fmla="*/ 34 h 58"/>
                  <a:gd name="T14" fmla="*/ 11 w 64"/>
                  <a:gd name="T15" fmla="*/ 47 h 58"/>
                  <a:gd name="T16" fmla="*/ 0 w 64"/>
                  <a:gd name="T17" fmla="*/ 58 h 58"/>
                  <a:gd name="T18" fmla="*/ 0 w 64"/>
                  <a:gd name="T19" fmla="*/ 58 h 58"/>
                  <a:gd name="T20" fmla="*/ 18 w 64"/>
                  <a:gd name="T21" fmla="*/ 51 h 58"/>
                  <a:gd name="T22" fmla="*/ 34 w 64"/>
                  <a:gd name="T23" fmla="*/ 45 h 58"/>
                  <a:gd name="T24" fmla="*/ 50 w 64"/>
                  <a:gd name="T25" fmla="*/ 34 h 58"/>
                  <a:gd name="T26" fmla="*/ 64 w 64"/>
                  <a:gd name="T27" fmla="*/ 23 h 58"/>
                  <a:gd name="T28" fmla="*/ 64 w 64"/>
                  <a:gd name="T29" fmla="*/ 2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58">
                    <a:moveTo>
                      <a:pt x="64" y="23"/>
                    </a:moveTo>
                    <a:lnTo>
                      <a:pt x="64" y="23"/>
                    </a:lnTo>
                    <a:lnTo>
                      <a:pt x="52" y="11"/>
                    </a:lnTo>
                    <a:lnTo>
                      <a:pt x="37" y="0"/>
                    </a:lnTo>
                    <a:lnTo>
                      <a:pt x="37" y="0"/>
                    </a:lnTo>
                    <a:lnTo>
                      <a:pt x="29" y="18"/>
                    </a:lnTo>
                    <a:lnTo>
                      <a:pt x="21" y="34"/>
                    </a:lnTo>
                    <a:lnTo>
                      <a:pt x="11" y="47"/>
                    </a:lnTo>
                    <a:lnTo>
                      <a:pt x="0" y="58"/>
                    </a:lnTo>
                    <a:lnTo>
                      <a:pt x="0" y="58"/>
                    </a:lnTo>
                    <a:lnTo>
                      <a:pt x="18" y="51"/>
                    </a:lnTo>
                    <a:lnTo>
                      <a:pt x="34" y="45"/>
                    </a:lnTo>
                    <a:lnTo>
                      <a:pt x="50" y="34"/>
                    </a:lnTo>
                    <a:lnTo>
                      <a:pt x="64" y="23"/>
                    </a:lnTo>
                    <a:lnTo>
                      <a:pt x="64"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0" name="Freeform 254">
                <a:extLst>
                  <a:ext uri="{FF2B5EF4-FFF2-40B4-BE49-F238E27FC236}">
                    <a16:creationId xmlns:a16="http://schemas.microsoft.com/office/drawing/2014/main" id="{33048CD1-293C-986A-7FC6-393DCBA1057F}"/>
                  </a:ext>
                </a:extLst>
              </p:cNvPr>
              <p:cNvSpPr>
                <a:spLocks/>
              </p:cNvSpPr>
              <p:nvPr/>
            </p:nvSpPr>
            <p:spPr bwMode="auto">
              <a:xfrm>
                <a:off x="5132388" y="4316413"/>
                <a:ext cx="49213" cy="46038"/>
              </a:xfrm>
              <a:custGeom>
                <a:avLst/>
                <a:gdLst>
                  <a:gd name="T0" fmla="*/ 0 w 63"/>
                  <a:gd name="T1" fmla="*/ 35 h 58"/>
                  <a:gd name="T2" fmla="*/ 0 w 63"/>
                  <a:gd name="T3" fmla="*/ 35 h 58"/>
                  <a:gd name="T4" fmla="*/ 12 w 63"/>
                  <a:gd name="T5" fmla="*/ 47 h 58"/>
                  <a:gd name="T6" fmla="*/ 27 w 63"/>
                  <a:gd name="T7" fmla="*/ 58 h 58"/>
                  <a:gd name="T8" fmla="*/ 27 w 63"/>
                  <a:gd name="T9" fmla="*/ 58 h 58"/>
                  <a:gd name="T10" fmla="*/ 35 w 63"/>
                  <a:gd name="T11" fmla="*/ 40 h 58"/>
                  <a:gd name="T12" fmla="*/ 43 w 63"/>
                  <a:gd name="T13" fmla="*/ 24 h 58"/>
                  <a:gd name="T14" fmla="*/ 52 w 63"/>
                  <a:gd name="T15" fmla="*/ 11 h 58"/>
                  <a:gd name="T16" fmla="*/ 63 w 63"/>
                  <a:gd name="T17" fmla="*/ 0 h 58"/>
                  <a:gd name="T18" fmla="*/ 63 w 63"/>
                  <a:gd name="T19" fmla="*/ 0 h 58"/>
                  <a:gd name="T20" fmla="*/ 45 w 63"/>
                  <a:gd name="T21" fmla="*/ 5 h 58"/>
                  <a:gd name="T22" fmla="*/ 28 w 63"/>
                  <a:gd name="T23" fmla="*/ 13 h 58"/>
                  <a:gd name="T24" fmla="*/ 13 w 63"/>
                  <a:gd name="T25" fmla="*/ 23 h 58"/>
                  <a:gd name="T26" fmla="*/ 0 w 63"/>
                  <a:gd name="T27" fmla="*/ 35 h 58"/>
                  <a:gd name="T28" fmla="*/ 0 w 63"/>
                  <a:gd name="T29" fmla="*/ 3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58">
                    <a:moveTo>
                      <a:pt x="0" y="35"/>
                    </a:moveTo>
                    <a:lnTo>
                      <a:pt x="0" y="35"/>
                    </a:lnTo>
                    <a:lnTo>
                      <a:pt x="12" y="47"/>
                    </a:lnTo>
                    <a:lnTo>
                      <a:pt x="27" y="58"/>
                    </a:lnTo>
                    <a:lnTo>
                      <a:pt x="27" y="58"/>
                    </a:lnTo>
                    <a:lnTo>
                      <a:pt x="35" y="40"/>
                    </a:lnTo>
                    <a:lnTo>
                      <a:pt x="43" y="24"/>
                    </a:lnTo>
                    <a:lnTo>
                      <a:pt x="52" y="11"/>
                    </a:lnTo>
                    <a:lnTo>
                      <a:pt x="63" y="0"/>
                    </a:lnTo>
                    <a:lnTo>
                      <a:pt x="63" y="0"/>
                    </a:lnTo>
                    <a:lnTo>
                      <a:pt x="45" y="5"/>
                    </a:lnTo>
                    <a:lnTo>
                      <a:pt x="28" y="13"/>
                    </a:lnTo>
                    <a:lnTo>
                      <a:pt x="13" y="23"/>
                    </a:lnTo>
                    <a:lnTo>
                      <a:pt x="0" y="35"/>
                    </a:lnTo>
                    <a:lnTo>
                      <a:pt x="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1" name="Freeform 255">
                <a:extLst>
                  <a:ext uri="{FF2B5EF4-FFF2-40B4-BE49-F238E27FC236}">
                    <a16:creationId xmlns:a16="http://schemas.microsoft.com/office/drawing/2014/main" id="{0666B711-3F8E-A1EA-2F3C-67CB07864ADF}"/>
                  </a:ext>
                </a:extLst>
              </p:cNvPr>
              <p:cNvSpPr>
                <a:spLocks/>
              </p:cNvSpPr>
              <p:nvPr/>
            </p:nvSpPr>
            <p:spPr bwMode="auto">
              <a:xfrm>
                <a:off x="5151438" y="4378325"/>
                <a:ext cx="57150" cy="52388"/>
              </a:xfrm>
              <a:custGeom>
                <a:avLst/>
                <a:gdLst>
                  <a:gd name="T0" fmla="*/ 72 w 72"/>
                  <a:gd name="T1" fmla="*/ 67 h 67"/>
                  <a:gd name="T2" fmla="*/ 72 w 72"/>
                  <a:gd name="T3" fmla="*/ 16 h 67"/>
                  <a:gd name="T4" fmla="*/ 72 w 72"/>
                  <a:gd name="T5" fmla="*/ 16 h 67"/>
                  <a:gd name="T6" fmla="*/ 55 w 72"/>
                  <a:gd name="T7" fmla="*/ 14 h 67"/>
                  <a:gd name="T8" fmla="*/ 39 w 72"/>
                  <a:gd name="T9" fmla="*/ 10 h 67"/>
                  <a:gd name="T10" fmla="*/ 24 w 72"/>
                  <a:gd name="T11" fmla="*/ 6 h 67"/>
                  <a:gd name="T12" fmla="*/ 9 w 72"/>
                  <a:gd name="T13" fmla="*/ 0 h 67"/>
                  <a:gd name="T14" fmla="*/ 9 w 72"/>
                  <a:gd name="T15" fmla="*/ 0 h 67"/>
                  <a:gd name="T16" fmla="*/ 5 w 72"/>
                  <a:gd name="T17" fmla="*/ 16 h 67"/>
                  <a:gd name="T18" fmla="*/ 3 w 72"/>
                  <a:gd name="T19" fmla="*/ 32 h 67"/>
                  <a:gd name="T20" fmla="*/ 1 w 72"/>
                  <a:gd name="T21" fmla="*/ 49 h 67"/>
                  <a:gd name="T22" fmla="*/ 0 w 72"/>
                  <a:gd name="T23" fmla="*/ 67 h 67"/>
                  <a:gd name="T24" fmla="*/ 72 w 7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7">
                    <a:moveTo>
                      <a:pt x="72" y="67"/>
                    </a:moveTo>
                    <a:lnTo>
                      <a:pt x="72" y="16"/>
                    </a:lnTo>
                    <a:lnTo>
                      <a:pt x="72" y="16"/>
                    </a:lnTo>
                    <a:lnTo>
                      <a:pt x="55" y="14"/>
                    </a:lnTo>
                    <a:lnTo>
                      <a:pt x="39" y="10"/>
                    </a:lnTo>
                    <a:lnTo>
                      <a:pt x="24" y="6"/>
                    </a:lnTo>
                    <a:lnTo>
                      <a:pt x="9" y="0"/>
                    </a:lnTo>
                    <a:lnTo>
                      <a:pt x="9" y="0"/>
                    </a:lnTo>
                    <a:lnTo>
                      <a:pt x="5" y="16"/>
                    </a:lnTo>
                    <a:lnTo>
                      <a:pt x="3" y="32"/>
                    </a:lnTo>
                    <a:lnTo>
                      <a:pt x="1" y="49"/>
                    </a:lnTo>
                    <a:lnTo>
                      <a:pt x="0" y="67"/>
                    </a:lnTo>
                    <a:lnTo>
                      <a:pt x="72"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2" name="Freeform 256">
                <a:extLst>
                  <a:ext uri="{FF2B5EF4-FFF2-40B4-BE49-F238E27FC236}">
                    <a16:creationId xmlns:a16="http://schemas.microsoft.com/office/drawing/2014/main" id="{0C049E03-442D-C8EC-5E2D-58532ADB7250}"/>
                  </a:ext>
                </a:extLst>
              </p:cNvPr>
              <p:cNvSpPr>
                <a:spLocks/>
              </p:cNvSpPr>
              <p:nvPr/>
            </p:nvSpPr>
            <p:spPr bwMode="auto">
              <a:xfrm>
                <a:off x="5151438" y="4443413"/>
                <a:ext cx="57150" cy="52388"/>
              </a:xfrm>
              <a:custGeom>
                <a:avLst/>
                <a:gdLst>
                  <a:gd name="T0" fmla="*/ 72 w 72"/>
                  <a:gd name="T1" fmla="*/ 51 h 68"/>
                  <a:gd name="T2" fmla="*/ 72 w 72"/>
                  <a:gd name="T3" fmla="*/ 0 h 68"/>
                  <a:gd name="T4" fmla="*/ 0 w 72"/>
                  <a:gd name="T5" fmla="*/ 0 h 68"/>
                  <a:gd name="T6" fmla="*/ 0 w 72"/>
                  <a:gd name="T7" fmla="*/ 0 h 68"/>
                  <a:gd name="T8" fmla="*/ 1 w 72"/>
                  <a:gd name="T9" fmla="*/ 18 h 68"/>
                  <a:gd name="T10" fmla="*/ 3 w 72"/>
                  <a:gd name="T11" fmla="*/ 35 h 68"/>
                  <a:gd name="T12" fmla="*/ 5 w 72"/>
                  <a:gd name="T13" fmla="*/ 51 h 68"/>
                  <a:gd name="T14" fmla="*/ 9 w 72"/>
                  <a:gd name="T15" fmla="*/ 68 h 68"/>
                  <a:gd name="T16" fmla="*/ 9 w 72"/>
                  <a:gd name="T17" fmla="*/ 68 h 68"/>
                  <a:gd name="T18" fmla="*/ 24 w 72"/>
                  <a:gd name="T19" fmla="*/ 61 h 68"/>
                  <a:gd name="T20" fmla="*/ 39 w 72"/>
                  <a:gd name="T21" fmla="*/ 57 h 68"/>
                  <a:gd name="T22" fmla="*/ 55 w 72"/>
                  <a:gd name="T23" fmla="*/ 53 h 68"/>
                  <a:gd name="T24" fmla="*/ 72 w 72"/>
                  <a:gd name="T25" fmla="*/ 51 h 68"/>
                  <a:gd name="T26" fmla="*/ 72 w 72"/>
                  <a:gd name="T27" fmla="*/ 5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68">
                    <a:moveTo>
                      <a:pt x="72" y="51"/>
                    </a:moveTo>
                    <a:lnTo>
                      <a:pt x="72" y="0"/>
                    </a:lnTo>
                    <a:lnTo>
                      <a:pt x="0" y="0"/>
                    </a:lnTo>
                    <a:lnTo>
                      <a:pt x="0" y="0"/>
                    </a:lnTo>
                    <a:lnTo>
                      <a:pt x="1" y="18"/>
                    </a:lnTo>
                    <a:lnTo>
                      <a:pt x="3" y="35"/>
                    </a:lnTo>
                    <a:lnTo>
                      <a:pt x="5" y="51"/>
                    </a:lnTo>
                    <a:lnTo>
                      <a:pt x="9" y="68"/>
                    </a:lnTo>
                    <a:lnTo>
                      <a:pt x="9" y="68"/>
                    </a:lnTo>
                    <a:lnTo>
                      <a:pt x="24" y="61"/>
                    </a:lnTo>
                    <a:lnTo>
                      <a:pt x="39" y="57"/>
                    </a:lnTo>
                    <a:lnTo>
                      <a:pt x="55" y="53"/>
                    </a:lnTo>
                    <a:lnTo>
                      <a:pt x="72" y="51"/>
                    </a:lnTo>
                    <a:lnTo>
                      <a:pt x="72"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3" name="Freeform 257">
                <a:extLst>
                  <a:ext uri="{FF2B5EF4-FFF2-40B4-BE49-F238E27FC236}">
                    <a16:creationId xmlns:a16="http://schemas.microsoft.com/office/drawing/2014/main" id="{884AEA45-9DC1-BC9F-A68F-3CB23824D7FE}"/>
                  </a:ext>
                </a:extLst>
              </p:cNvPr>
              <p:cNvSpPr>
                <a:spLocks/>
              </p:cNvSpPr>
              <p:nvPr/>
            </p:nvSpPr>
            <p:spPr bwMode="auto">
              <a:xfrm>
                <a:off x="5162551" y="4314825"/>
                <a:ext cx="46038" cy="63500"/>
              </a:xfrm>
              <a:custGeom>
                <a:avLst/>
                <a:gdLst>
                  <a:gd name="T0" fmla="*/ 59 w 59"/>
                  <a:gd name="T1" fmla="*/ 0 h 81"/>
                  <a:gd name="T2" fmla="*/ 59 w 59"/>
                  <a:gd name="T3" fmla="*/ 0 h 81"/>
                  <a:gd name="T4" fmla="*/ 50 w 59"/>
                  <a:gd name="T5" fmla="*/ 2 h 81"/>
                  <a:gd name="T6" fmla="*/ 41 w 59"/>
                  <a:gd name="T7" fmla="*/ 6 h 81"/>
                  <a:gd name="T8" fmla="*/ 33 w 59"/>
                  <a:gd name="T9" fmla="*/ 12 h 81"/>
                  <a:gd name="T10" fmla="*/ 25 w 59"/>
                  <a:gd name="T11" fmla="*/ 20 h 81"/>
                  <a:gd name="T12" fmla="*/ 18 w 59"/>
                  <a:gd name="T13" fmla="*/ 30 h 81"/>
                  <a:gd name="T14" fmla="*/ 11 w 59"/>
                  <a:gd name="T15" fmla="*/ 41 h 81"/>
                  <a:gd name="T16" fmla="*/ 6 w 59"/>
                  <a:gd name="T17" fmla="*/ 53 h 81"/>
                  <a:gd name="T18" fmla="*/ 0 w 59"/>
                  <a:gd name="T19" fmla="*/ 66 h 81"/>
                  <a:gd name="T20" fmla="*/ 0 w 59"/>
                  <a:gd name="T21" fmla="*/ 66 h 81"/>
                  <a:gd name="T22" fmla="*/ 14 w 59"/>
                  <a:gd name="T23" fmla="*/ 73 h 81"/>
                  <a:gd name="T24" fmla="*/ 29 w 59"/>
                  <a:gd name="T25" fmla="*/ 77 h 81"/>
                  <a:gd name="T26" fmla="*/ 43 w 59"/>
                  <a:gd name="T27" fmla="*/ 80 h 81"/>
                  <a:gd name="T28" fmla="*/ 59 w 59"/>
                  <a:gd name="T29" fmla="*/ 81 h 81"/>
                  <a:gd name="T30" fmla="*/ 59 w 59"/>
                  <a:gd name="T3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9" h="81">
                    <a:moveTo>
                      <a:pt x="59" y="0"/>
                    </a:moveTo>
                    <a:lnTo>
                      <a:pt x="59" y="0"/>
                    </a:lnTo>
                    <a:lnTo>
                      <a:pt x="50" y="2"/>
                    </a:lnTo>
                    <a:lnTo>
                      <a:pt x="41" y="6"/>
                    </a:lnTo>
                    <a:lnTo>
                      <a:pt x="33" y="12"/>
                    </a:lnTo>
                    <a:lnTo>
                      <a:pt x="25" y="20"/>
                    </a:lnTo>
                    <a:lnTo>
                      <a:pt x="18" y="30"/>
                    </a:lnTo>
                    <a:lnTo>
                      <a:pt x="11" y="41"/>
                    </a:lnTo>
                    <a:lnTo>
                      <a:pt x="6" y="53"/>
                    </a:lnTo>
                    <a:lnTo>
                      <a:pt x="0" y="66"/>
                    </a:lnTo>
                    <a:lnTo>
                      <a:pt x="0" y="66"/>
                    </a:lnTo>
                    <a:lnTo>
                      <a:pt x="14" y="73"/>
                    </a:lnTo>
                    <a:lnTo>
                      <a:pt x="29" y="77"/>
                    </a:lnTo>
                    <a:lnTo>
                      <a:pt x="43" y="80"/>
                    </a:lnTo>
                    <a:lnTo>
                      <a:pt x="59" y="81"/>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4" name="Freeform 258">
                <a:extLst>
                  <a:ext uri="{FF2B5EF4-FFF2-40B4-BE49-F238E27FC236}">
                    <a16:creationId xmlns:a16="http://schemas.microsoft.com/office/drawing/2014/main" id="{282DB88E-BB5A-49BA-9E51-66A80EA7710E}"/>
                  </a:ext>
                </a:extLst>
              </p:cNvPr>
              <p:cNvSpPr>
                <a:spLocks/>
              </p:cNvSpPr>
              <p:nvPr/>
            </p:nvSpPr>
            <p:spPr bwMode="auto">
              <a:xfrm>
                <a:off x="5091113" y="4443413"/>
                <a:ext cx="58738" cy="77788"/>
              </a:xfrm>
              <a:custGeom>
                <a:avLst/>
                <a:gdLst>
                  <a:gd name="T0" fmla="*/ 74 w 74"/>
                  <a:gd name="T1" fmla="*/ 73 h 98"/>
                  <a:gd name="T2" fmla="*/ 74 w 74"/>
                  <a:gd name="T3" fmla="*/ 73 h 98"/>
                  <a:gd name="T4" fmla="*/ 69 w 74"/>
                  <a:gd name="T5" fmla="*/ 57 h 98"/>
                  <a:gd name="T6" fmla="*/ 66 w 74"/>
                  <a:gd name="T7" fmla="*/ 39 h 98"/>
                  <a:gd name="T8" fmla="*/ 63 w 74"/>
                  <a:gd name="T9" fmla="*/ 21 h 98"/>
                  <a:gd name="T10" fmla="*/ 63 w 74"/>
                  <a:gd name="T11" fmla="*/ 0 h 98"/>
                  <a:gd name="T12" fmla="*/ 0 w 74"/>
                  <a:gd name="T13" fmla="*/ 0 h 98"/>
                  <a:gd name="T14" fmla="*/ 0 w 74"/>
                  <a:gd name="T15" fmla="*/ 0 h 98"/>
                  <a:gd name="T16" fmla="*/ 2 w 74"/>
                  <a:gd name="T17" fmla="*/ 15 h 98"/>
                  <a:gd name="T18" fmla="*/ 4 w 74"/>
                  <a:gd name="T19" fmla="*/ 29 h 98"/>
                  <a:gd name="T20" fmla="*/ 8 w 74"/>
                  <a:gd name="T21" fmla="*/ 42 h 98"/>
                  <a:gd name="T22" fmla="*/ 12 w 74"/>
                  <a:gd name="T23" fmla="*/ 54 h 98"/>
                  <a:gd name="T24" fmla="*/ 19 w 74"/>
                  <a:gd name="T25" fmla="*/ 66 h 98"/>
                  <a:gd name="T26" fmla="*/ 26 w 74"/>
                  <a:gd name="T27" fmla="*/ 78 h 98"/>
                  <a:gd name="T28" fmla="*/ 34 w 74"/>
                  <a:gd name="T29" fmla="*/ 89 h 98"/>
                  <a:gd name="T30" fmla="*/ 42 w 74"/>
                  <a:gd name="T31" fmla="*/ 98 h 98"/>
                  <a:gd name="T32" fmla="*/ 42 w 74"/>
                  <a:gd name="T33" fmla="*/ 98 h 98"/>
                  <a:gd name="T34" fmla="*/ 57 w 74"/>
                  <a:gd name="T35" fmla="*/ 85 h 98"/>
                  <a:gd name="T36" fmla="*/ 74 w 74"/>
                  <a:gd name="T37" fmla="*/ 73 h 98"/>
                  <a:gd name="T38" fmla="*/ 74 w 74"/>
                  <a:gd name="T39" fmla="*/ 7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 h="98">
                    <a:moveTo>
                      <a:pt x="74" y="73"/>
                    </a:moveTo>
                    <a:lnTo>
                      <a:pt x="74" y="73"/>
                    </a:lnTo>
                    <a:lnTo>
                      <a:pt x="69" y="57"/>
                    </a:lnTo>
                    <a:lnTo>
                      <a:pt x="66" y="39"/>
                    </a:lnTo>
                    <a:lnTo>
                      <a:pt x="63" y="21"/>
                    </a:lnTo>
                    <a:lnTo>
                      <a:pt x="63" y="0"/>
                    </a:lnTo>
                    <a:lnTo>
                      <a:pt x="0" y="0"/>
                    </a:lnTo>
                    <a:lnTo>
                      <a:pt x="0" y="0"/>
                    </a:lnTo>
                    <a:lnTo>
                      <a:pt x="2" y="15"/>
                    </a:lnTo>
                    <a:lnTo>
                      <a:pt x="4" y="29"/>
                    </a:lnTo>
                    <a:lnTo>
                      <a:pt x="8" y="42"/>
                    </a:lnTo>
                    <a:lnTo>
                      <a:pt x="12" y="54"/>
                    </a:lnTo>
                    <a:lnTo>
                      <a:pt x="19" y="66"/>
                    </a:lnTo>
                    <a:lnTo>
                      <a:pt x="26" y="78"/>
                    </a:lnTo>
                    <a:lnTo>
                      <a:pt x="34" y="89"/>
                    </a:lnTo>
                    <a:lnTo>
                      <a:pt x="42" y="98"/>
                    </a:lnTo>
                    <a:lnTo>
                      <a:pt x="42" y="98"/>
                    </a:lnTo>
                    <a:lnTo>
                      <a:pt x="57" y="85"/>
                    </a:lnTo>
                    <a:lnTo>
                      <a:pt x="74" y="73"/>
                    </a:lnTo>
                    <a:lnTo>
                      <a:pt x="74"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5" name="Freeform 259">
                <a:extLst>
                  <a:ext uri="{FF2B5EF4-FFF2-40B4-BE49-F238E27FC236}">
                    <a16:creationId xmlns:a16="http://schemas.microsoft.com/office/drawing/2014/main" id="{632AB84D-5C4D-4045-8D4C-992DA838C442}"/>
                  </a:ext>
                </a:extLst>
              </p:cNvPr>
              <p:cNvSpPr>
                <a:spLocks/>
              </p:cNvSpPr>
              <p:nvPr/>
            </p:nvSpPr>
            <p:spPr bwMode="auto">
              <a:xfrm>
                <a:off x="5280026" y="4443413"/>
                <a:ext cx="57150" cy="77788"/>
              </a:xfrm>
              <a:custGeom>
                <a:avLst/>
                <a:gdLst>
                  <a:gd name="T0" fmla="*/ 11 w 73"/>
                  <a:gd name="T1" fmla="*/ 0 h 98"/>
                  <a:gd name="T2" fmla="*/ 11 w 73"/>
                  <a:gd name="T3" fmla="*/ 0 h 98"/>
                  <a:gd name="T4" fmla="*/ 11 w 73"/>
                  <a:gd name="T5" fmla="*/ 21 h 98"/>
                  <a:gd name="T6" fmla="*/ 8 w 73"/>
                  <a:gd name="T7" fmla="*/ 39 h 98"/>
                  <a:gd name="T8" fmla="*/ 5 w 73"/>
                  <a:gd name="T9" fmla="*/ 57 h 98"/>
                  <a:gd name="T10" fmla="*/ 0 w 73"/>
                  <a:gd name="T11" fmla="*/ 73 h 98"/>
                  <a:gd name="T12" fmla="*/ 0 w 73"/>
                  <a:gd name="T13" fmla="*/ 73 h 98"/>
                  <a:gd name="T14" fmla="*/ 18 w 73"/>
                  <a:gd name="T15" fmla="*/ 85 h 98"/>
                  <a:gd name="T16" fmla="*/ 32 w 73"/>
                  <a:gd name="T17" fmla="*/ 98 h 98"/>
                  <a:gd name="T18" fmla="*/ 32 w 73"/>
                  <a:gd name="T19" fmla="*/ 98 h 98"/>
                  <a:gd name="T20" fmla="*/ 40 w 73"/>
                  <a:gd name="T21" fmla="*/ 89 h 98"/>
                  <a:gd name="T22" fmla="*/ 48 w 73"/>
                  <a:gd name="T23" fmla="*/ 78 h 98"/>
                  <a:gd name="T24" fmla="*/ 55 w 73"/>
                  <a:gd name="T25" fmla="*/ 66 h 98"/>
                  <a:gd name="T26" fmla="*/ 62 w 73"/>
                  <a:gd name="T27" fmla="*/ 54 h 98"/>
                  <a:gd name="T28" fmla="*/ 66 w 73"/>
                  <a:gd name="T29" fmla="*/ 42 h 98"/>
                  <a:gd name="T30" fmla="*/ 70 w 73"/>
                  <a:gd name="T31" fmla="*/ 29 h 98"/>
                  <a:gd name="T32" fmla="*/ 73 w 73"/>
                  <a:gd name="T33" fmla="*/ 15 h 98"/>
                  <a:gd name="T34" fmla="*/ 73 w 73"/>
                  <a:gd name="T35" fmla="*/ 0 h 98"/>
                  <a:gd name="T36" fmla="*/ 11 w 73"/>
                  <a:gd name="T3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98">
                    <a:moveTo>
                      <a:pt x="11" y="0"/>
                    </a:moveTo>
                    <a:lnTo>
                      <a:pt x="11" y="0"/>
                    </a:lnTo>
                    <a:lnTo>
                      <a:pt x="11" y="21"/>
                    </a:lnTo>
                    <a:lnTo>
                      <a:pt x="8" y="39"/>
                    </a:lnTo>
                    <a:lnTo>
                      <a:pt x="5" y="57"/>
                    </a:lnTo>
                    <a:lnTo>
                      <a:pt x="0" y="73"/>
                    </a:lnTo>
                    <a:lnTo>
                      <a:pt x="0" y="73"/>
                    </a:lnTo>
                    <a:lnTo>
                      <a:pt x="18" y="85"/>
                    </a:lnTo>
                    <a:lnTo>
                      <a:pt x="32" y="98"/>
                    </a:lnTo>
                    <a:lnTo>
                      <a:pt x="32" y="98"/>
                    </a:lnTo>
                    <a:lnTo>
                      <a:pt x="40" y="89"/>
                    </a:lnTo>
                    <a:lnTo>
                      <a:pt x="48" y="78"/>
                    </a:lnTo>
                    <a:lnTo>
                      <a:pt x="55" y="66"/>
                    </a:lnTo>
                    <a:lnTo>
                      <a:pt x="62" y="54"/>
                    </a:lnTo>
                    <a:lnTo>
                      <a:pt x="66" y="42"/>
                    </a:lnTo>
                    <a:lnTo>
                      <a:pt x="70" y="29"/>
                    </a:lnTo>
                    <a:lnTo>
                      <a:pt x="73" y="15"/>
                    </a:lnTo>
                    <a:lnTo>
                      <a:pt x="73" y="0"/>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6" name="Freeform 260">
                <a:extLst>
                  <a:ext uri="{FF2B5EF4-FFF2-40B4-BE49-F238E27FC236}">
                    <a16:creationId xmlns:a16="http://schemas.microsoft.com/office/drawing/2014/main" id="{10A26B78-FFE0-83CF-1C56-675A6ED780BB}"/>
                  </a:ext>
                </a:extLst>
              </p:cNvPr>
              <p:cNvSpPr>
                <a:spLocks/>
              </p:cNvSpPr>
              <p:nvPr/>
            </p:nvSpPr>
            <p:spPr bwMode="auto">
              <a:xfrm>
                <a:off x="5091113" y="4352925"/>
                <a:ext cx="57150" cy="77788"/>
              </a:xfrm>
              <a:custGeom>
                <a:avLst/>
                <a:gdLst>
                  <a:gd name="T0" fmla="*/ 62 w 73"/>
                  <a:gd name="T1" fmla="*/ 96 h 96"/>
                  <a:gd name="T2" fmla="*/ 62 w 73"/>
                  <a:gd name="T3" fmla="*/ 96 h 96"/>
                  <a:gd name="T4" fmla="*/ 63 w 73"/>
                  <a:gd name="T5" fmla="*/ 78 h 96"/>
                  <a:gd name="T6" fmla="*/ 66 w 73"/>
                  <a:gd name="T7" fmla="*/ 59 h 96"/>
                  <a:gd name="T8" fmla="*/ 69 w 73"/>
                  <a:gd name="T9" fmla="*/ 41 h 96"/>
                  <a:gd name="T10" fmla="*/ 73 w 73"/>
                  <a:gd name="T11" fmla="*/ 24 h 96"/>
                  <a:gd name="T12" fmla="*/ 73 w 73"/>
                  <a:gd name="T13" fmla="*/ 24 h 96"/>
                  <a:gd name="T14" fmla="*/ 57 w 73"/>
                  <a:gd name="T15" fmla="*/ 13 h 96"/>
                  <a:gd name="T16" fmla="*/ 42 w 73"/>
                  <a:gd name="T17" fmla="*/ 0 h 96"/>
                  <a:gd name="T18" fmla="*/ 42 w 73"/>
                  <a:gd name="T19" fmla="*/ 0 h 96"/>
                  <a:gd name="T20" fmla="*/ 34 w 73"/>
                  <a:gd name="T21" fmla="*/ 9 h 96"/>
                  <a:gd name="T22" fmla="*/ 26 w 73"/>
                  <a:gd name="T23" fmla="*/ 20 h 96"/>
                  <a:gd name="T24" fmla="*/ 19 w 73"/>
                  <a:gd name="T25" fmla="*/ 32 h 96"/>
                  <a:gd name="T26" fmla="*/ 12 w 73"/>
                  <a:gd name="T27" fmla="*/ 44 h 96"/>
                  <a:gd name="T28" fmla="*/ 8 w 73"/>
                  <a:gd name="T29" fmla="*/ 56 h 96"/>
                  <a:gd name="T30" fmla="*/ 4 w 73"/>
                  <a:gd name="T31" fmla="*/ 69 h 96"/>
                  <a:gd name="T32" fmla="*/ 2 w 73"/>
                  <a:gd name="T33" fmla="*/ 83 h 96"/>
                  <a:gd name="T34" fmla="*/ 0 w 73"/>
                  <a:gd name="T35" fmla="*/ 96 h 96"/>
                  <a:gd name="T36" fmla="*/ 62 w 73"/>
                  <a:gd name="T3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96">
                    <a:moveTo>
                      <a:pt x="62" y="96"/>
                    </a:moveTo>
                    <a:lnTo>
                      <a:pt x="62" y="96"/>
                    </a:lnTo>
                    <a:lnTo>
                      <a:pt x="63" y="78"/>
                    </a:lnTo>
                    <a:lnTo>
                      <a:pt x="66" y="59"/>
                    </a:lnTo>
                    <a:lnTo>
                      <a:pt x="69" y="41"/>
                    </a:lnTo>
                    <a:lnTo>
                      <a:pt x="73" y="24"/>
                    </a:lnTo>
                    <a:lnTo>
                      <a:pt x="73" y="24"/>
                    </a:lnTo>
                    <a:lnTo>
                      <a:pt x="57" y="13"/>
                    </a:lnTo>
                    <a:lnTo>
                      <a:pt x="42" y="0"/>
                    </a:lnTo>
                    <a:lnTo>
                      <a:pt x="42" y="0"/>
                    </a:lnTo>
                    <a:lnTo>
                      <a:pt x="34" y="9"/>
                    </a:lnTo>
                    <a:lnTo>
                      <a:pt x="26" y="20"/>
                    </a:lnTo>
                    <a:lnTo>
                      <a:pt x="19" y="32"/>
                    </a:lnTo>
                    <a:lnTo>
                      <a:pt x="12" y="44"/>
                    </a:lnTo>
                    <a:lnTo>
                      <a:pt x="8" y="56"/>
                    </a:lnTo>
                    <a:lnTo>
                      <a:pt x="4" y="69"/>
                    </a:lnTo>
                    <a:lnTo>
                      <a:pt x="2" y="83"/>
                    </a:lnTo>
                    <a:lnTo>
                      <a:pt x="0" y="96"/>
                    </a:lnTo>
                    <a:lnTo>
                      <a:pt x="6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7" name="Freeform 261">
                <a:extLst>
                  <a:ext uri="{FF2B5EF4-FFF2-40B4-BE49-F238E27FC236}">
                    <a16:creationId xmlns:a16="http://schemas.microsoft.com/office/drawing/2014/main" id="{C982DEA9-83C6-A354-BA81-BD08D27958D3}"/>
                  </a:ext>
                </a:extLst>
              </p:cNvPr>
              <p:cNvSpPr>
                <a:spLocks/>
              </p:cNvSpPr>
              <p:nvPr/>
            </p:nvSpPr>
            <p:spPr bwMode="auto">
              <a:xfrm>
                <a:off x="5280026" y="4352925"/>
                <a:ext cx="57150" cy="77788"/>
              </a:xfrm>
              <a:custGeom>
                <a:avLst/>
                <a:gdLst>
                  <a:gd name="T0" fmla="*/ 0 w 73"/>
                  <a:gd name="T1" fmla="*/ 24 h 96"/>
                  <a:gd name="T2" fmla="*/ 0 w 73"/>
                  <a:gd name="T3" fmla="*/ 24 h 96"/>
                  <a:gd name="T4" fmla="*/ 4 w 73"/>
                  <a:gd name="T5" fmla="*/ 41 h 96"/>
                  <a:gd name="T6" fmla="*/ 8 w 73"/>
                  <a:gd name="T7" fmla="*/ 59 h 96"/>
                  <a:gd name="T8" fmla="*/ 11 w 73"/>
                  <a:gd name="T9" fmla="*/ 78 h 96"/>
                  <a:gd name="T10" fmla="*/ 11 w 73"/>
                  <a:gd name="T11" fmla="*/ 96 h 96"/>
                  <a:gd name="T12" fmla="*/ 73 w 73"/>
                  <a:gd name="T13" fmla="*/ 96 h 96"/>
                  <a:gd name="T14" fmla="*/ 73 w 73"/>
                  <a:gd name="T15" fmla="*/ 96 h 96"/>
                  <a:gd name="T16" fmla="*/ 71 w 73"/>
                  <a:gd name="T17" fmla="*/ 83 h 96"/>
                  <a:gd name="T18" fmla="*/ 69 w 73"/>
                  <a:gd name="T19" fmla="*/ 69 h 96"/>
                  <a:gd name="T20" fmla="*/ 66 w 73"/>
                  <a:gd name="T21" fmla="*/ 56 h 96"/>
                  <a:gd name="T22" fmla="*/ 61 w 73"/>
                  <a:gd name="T23" fmla="*/ 44 h 96"/>
                  <a:gd name="T24" fmla="*/ 55 w 73"/>
                  <a:gd name="T25" fmla="*/ 32 h 96"/>
                  <a:gd name="T26" fmla="*/ 48 w 73"/>
                  <a:gd name="T27" fmla="*/ 20 h 96"/>
                  <a:gd name="T28" fmla="*/ 40 w 73"/>
                  <a:gd name="T29" fmla="*/ 9 h 96"/>
                  <a:gd name="T30" fmla="*/ 31 w 73"/>
                  <a:gd name="T31" fmla="*/ 0 h 96"/>
                  <a:gd name="T32" fmla="*/ 31 w 73"/>
                  <a:gd name="T33" fmla="*/ 0 h 96"/>
                  <a:gd name="T34" fmla="*/ 24 w 73"/>
                  <a:gd name="T35" fmla="*/ 6 h 96"/>
                  <a:gd name="T36" fmla="*/ 18 w 73"/>
                  <a:gd name="T37" fmla="*/ 13 h 96"/>
                  <a:gd name="T38" fmla="*/ 0 w 73"/>
                  <a:gd name="T39" fmla="*/ 24 h 96"/>
                  <a:gd name="T40" fmla="*/ 0 w 73"/>
                  <a:gd name="T41" fmla="*/ 2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3" h="96">
                    <a:moveTo>
                      <a:pt x="0" y="24"/>
                    </a:moveTo>
                    <a:lnTo>
                      <a:pt x="0" y="24"/>
                    </a:lnTo>
                    <a:lnTo>
                      <a:pt x="4" y="41"/>
                    </a:lnTo>
                    <a:lnTo>
                      <a:pt x="8" y="59"/>
                    </a:lnTo>
                    <a:lnTo>
                      <a:pt x="11" y="78"/>
                    </a:lnTo>
                    <a:lnTo>
                      <a:pt x="11" y="96"/>
                    </a:lnTo>
                    <a:lnTo>
                      <a:pt x="73" y="96"/>
                    </a:lnTo>
                    <a:lnTo>
                      <a:pt x="73" y="96"/>
                    </a:lnTo>
                    <a:lnTo>
                      <a:pt x="71" y="83"/>
                    </a:lnTo>
                    <a:lnTo>
                      <a:pt x="69" y="69"/>
                    </a:lnTo>
                    <a:lnTo>
                      <a:pt x="66" y="56"/>
                    </a:lnTo>
                    <a:lnTo>
                      <a:pt x="61" y="44"/>
                    </a:lnTo>
                    <a:lnTo>
                      <a:pt x="55" y="32"/>
                    </a:lnTo>
                    <a:lnTo>
                      <a:pt x="48" y="20"/>
                    </a:lnTo>
                    <a:lnTo>
                      <a:pt x="40" y="9"/>
                    </a:lnTo>
                    <a:lnTo>
                      <a:pt x="31" y="0"/>
                    </a:lnTo>
                    <a:lnTo>
                      <a:pt x="31" y="0"/>
                    </a:lnTo>
                    <a:lnTo>
                      <a:pt x="24" y="6"/>
                    </a:lnTo>
                    <a:lnTo>
                      <a:pt x="18" y="13"/>
                    </a:lnTo>
                    <a:lnTo>
                      <a:pt x="0" y="24"/>
                    </a:lnTo>
                    <a:lnTo>
                      <a:pt x="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8" name="Freeform 262">
                <a:extLst>
                  <a:ext uri="{FF2B5EF4-FFF2-40B4-BE49-F238E27FC236}">
                    <a16:creationId xmlns:a16="http://schemas.microsoft.com/office/drawing/2014/main" id="{51CEC077-CC60-FDA3-B347-D39F0ED265E1}"/>
                  </a:ext>
                </a:extLst>
              </p:cNvPr>
              <p:cNvSpPr>
                <a:spLocks/>
              </p:cNvSpPr>
              <p:nvPr/>
            </p:nvSpPr>
            <p:spPr bwMode="auto">
              <a:xfrm>
                <a:off x="5219701" y="4314825"/>
                <a:ext cx="46038" cy="63500"/>
              </a:xfrm>
              <a:custGeom>
                <a:avLst/>
                <a:gdLst>
                  <a:gd name="T0" fmla="*/ 0 w 59"/>
                  <a:gd name="T1" fmla="*/ 0 h 81"/>
                  <a:gd name="T2" fmla="*/ 0 w 59"/>
                  <a:gd name="T3" fmla="*/ 81 h 81"/>
                  <a:gd name="T4" fmla="*/ 0 w 59"/>
                  <a:gd name="T5" fmla="*/ 81 h 81"/>
                  <a:gd name="T6" fmla="*/ 16 w 59"/>
                  <a:gd name="T7" fmla="*/ 80 h 81"/>
                  <a:gd name="T8" fmla="*/ 31 w 59"/>
                  <a:gd name="T9" fmla="*/ 77 h 81"/>
                  <a:gd name="T10" fmla="*/ 46 w 59"/>
                  <a:gd name="T11" fmla="*/ 73 h 81"/>
                  <a:gd name="T12" fmla="*/ 59 w 59"/>
                  <a:gd name="T13" fmla="*/ 66 h 81"/>
                  <a:gd name="T14" fmla="*/ 59 w 59"/>
                  <a:gd name="T15" fmla="*/ 66 h 81"/>
                  <a:gd name="T16" fmla="*/ 54 w 59"/>
                  <a:gd name="T17" fmla="*/ 53 h 81"/>
                  <a:gd name="T18" fmla="*/ 48 w 59"/>
                  <a:gd name="T19" fmla="*/ 41 h 81"/>
                  <a:gd name="T20" fmla="*/ 42 w 59"/>
                  <a:gd name="T21" fmla="*/ 28 h 81"/>
                  <a:gd name="T22" fmla="*/ 33 w 59"/>
                  <a:gd name="T23" fmla="*/ 19 h 81"/>
                  <a:gd name="T24" fmla="*/ 27 w 59"/>
                  <a:gd name="T25" fmla="*/ 12 h 81"/>
                  <a:gd name="T26" fmla="*/ 17 w 59"/>
                  <a:gd name="T27" fmla="*/ 6 h 81"/>
                  <a:gd name="T28" fmla="*/ 9 w 59"/>
                  <a:gd name="T29" fmla="*/ 2 h 81"/>
                  <a:gd name="T30" fmla="*/ 0 w 59"/>
                  <a:gd name="T31" fmla="*/ 0 h 81"/>
                  <a:gd name="T32" fmla="*/ 0 w 59"/>
                  <a:gd name="T33"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1">
                    <a:moveTo>
                      <a:pt x="0" y="0"/>
                    </a:moveTo>
                    <a:lnTo>
                      <a:pt x="0" y="81"/>
                    </a:lnTo>
                    <a:lnTo>
                      <a:pt x="0" y="81"/>
                    </a:lnTo>
                    <a:lnTo>
                      <a:pt x="16" y="80"/>
                    </a:lnTo>
                    <a:lnTo>
                      <a:pt x="31" y="77"/>
                    </a:lnTo>
                    <a:lnTo>
                      <a:pt x="46" y="73"/>
                    </a:lnTo>
                    <a:lnTo>
                      <a:pt x="59" y="66"/>
                    </a:lnTo>
                    <a:lnTo>
                      <a:pt x="59" y="66"/>
                    </a:lnTo>
                    <a:lnTo>
                      <a:pt x="54" y="53"/>
                    </a:lnTo>
                    <a:lnTo>
                      <a:pt x="48" y="41"/>
                    </a:lnTo>
                    <a:lnTo>
                      <a:pt x="42" y="28"/>
                    </a:lnTo>
                    <a:lnTo>
                      <a:pt x="33" y="19"/>
                    </a:lnTo>
                    <a:lnTo>
                      <a:pt x="27" y="12"/>
                    </a:lnTo>
                    <a:lnTo>
                      <a:pt x="17" y="6"/>
                    </a:lnTo>
                    <a:lnTo>
                      <a:pt x="9"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29" name="Freeform 263">
                <a:extLst>
                  <a:ext uri="{FF2B5EF4-FFF2-40B4-BE49-F238E27FC236}">
                    <a16:creationId xmlns:a16="http://schemas.microsoft.com/office/drawing/2014/main" id="{2BE6768A-0357-7CE1-7C98-6C39CF7A00C9}"/>
                  </a:ext>
                </a:extLst>
              </p:cNvPr>
              <p:cNvSpPr>
                <a:spLocks/>
              </p:cNvSpPr>
              <p:nvPr/>
            </p:nvSpPr>
            <p:spPr bwMode="auto">
              <a:xfrm>
                <a:off x="5246688" y="4316413"/>
                <a:ext cx="49213" cy="46038"/>
              </a:xfrm>
              <a:custGeom>
                <a:avLst/>
                <a:gdLst>
                  <a:gd name="T0" fmla="*/ 64 w 64"/>
                  <a:gd name="T1" fmla="*/ 35 h 58"/>
                  <a:gd name="T2" fmla="*/ 64 w 64"/>
                  <a:gd name="T3" fmla="*/ 35 h 58"/>
                  <a:gd name="T4" fmla="*/ 50 w 64"/>
                  <a:gd name="T5" fmla="*/ 23 h 58"/>
                  <a:gd name="T6" fmla="*/ 34 w 64"/>
                  <a:gd name="T7" fmla="*/ 13 h 58"/>
                  <a:gd name="T8" fmla="*/ 18 w 64"/>
                  <a:gd name="T9" fmla="*/ 5 h 58"/>
                  <a:gd name="T10" fmla="*/ 0 w 64"/>
                  <a:gd name="T11" fmla="*/ 0 h 58"/>
                  <a:gd name="T12" fmla="*/ 0 w 64"/>
                  <a:gd name="T13" fmla="*/ 0 h 58"/>
                  <a:gd name="T14" fmla="*/ 11 w 64"/>
                  <a:gd name="T15" fmla="*/ 11 h 58"/>
                  <a:gd name="T16" fmla="*/ 21 w 64"/>
                  <a:gd name="T17" fmla="*/ 24 h 58"/>
                  <a:gd name="T18" fmla="*/ 29 w 64"/>
                  <a:gd name="T19" fmla="*/ 40 h 58"/>
                  <a:gd name="T20" fmla="*/ 37 w 64"/>
                  <a:gd name="T21" fmla="*/ 58 h 58"/>
                  <a:gd name="T22" fmla="*/ 37 w 64"/>
                  <a:gd name="T23" fmla="*/ 58 h 58"/>
                  <a:gd name="T24" fmla="*/ 52 w 64"/>
                  <a:gd name="T25" fmla="*/ 47 h 58"/>
                  <a:gd name="T26" fmla="*/ 64 w 64"/>
                  <a:gd name="T27" fmla="*/ 35 h 58"/>
                  <a:gd name="T28" fmla="*/ 64 w 64"/>
                  <a:gd name="T29" fmla="*/ 3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58">
                    <a:moveTo>
                      <a:pt x="64" y="35"/>
                    </a:moveTo>
                    <a:lnTo>
                      <a:pt x="64" y="35"/>
                    </a:lnTo>
                    <a:lnTo>
                      <a:pt x="50" y="23"/>
                    </a:lnTo>
                    <a:lnTo>
                      <a:pt x="34" y="13"/>
                    </a:lnTo>
                    <a:lnTo>
                      <a:pt x="18" y="5"/>
                    </a:lnTo>
                    <a:lnTo>
                      <a:pt x="0" y="0"/>
                    </a:lnTo>
                    <a:lnTo>
                      <a:pt x="0" y="0"/>
                    </a:lnTo>
                    <a:lnTo>
                      <a:pt x="11" y="11"/>
                    </a:lnTo>
                    <a:lnTo>
                      <a:pt x="21" y="24"/>
                    </a:lnTo>
                    <a:lnTo>
                      <a:pt x="29" y="40"/>
                    </a:lnTo>
                    <a:lnTo>
                      <a:pt x="37" y="58"/>
                    </a:lnTo>
                    <a:lnTo>
                      <a:pt x="37" y="58"/>
                    </a:lnTo>
                    <a:lnTo>
                      <a:pt x="52" y="47"/>
                    </a:lnTo>
                    <a:lnTo>
                      <a:pt x="64" y="35"/>
                    </a:lnTo>
                    <a:lnTo>
                      <a:pt x="6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30" name="Freeform 264">
                <a:extLst>
                  <a:ext uri="{FF2B5EF4-FFF2-40B4-BE49-F238E27FC236}">
                    <a16:creationId xmlns:a16="http://schemas.microsoft.com/office/drawing/2014/main" id="{120704A5-C132-2833-8E26-E74C1BD7179E}"/>
                  </a:ext>
                </a:extLst>
              </p:cNvPr>
              <p:cNvSpPr>
                <a:spLocks/>
              </p:cNvSpPr>
              <p:nvPr/>
            </p:nvSpPr>
            <p:spPr bwMode="auto">
              <a:xfrm>
                <a:off x="5219701" y="4378325"/>
                <a:ext cx="57150" cy="52388"/>
              </a:xfrm>
              <a:custGeom>
                <a:avLst/>
                <a:gdLst>
                  <a:gd name="T0" fmla="*/ 0 w 72"/>
                  <a:gd name="T1" fmla="*/ 16 h 67"/>
                  <a:gd name="T2" fmla="*/ 0 w 72"/>
                  <a:gd name="T3" fmla="*/ 67 h 67"/>
                  <a:gd name="T4" fmla="*/ 72 w 72"/>
                  <a:gd name="T5" fmla="*/ 67 h 67"/>
                  <a:gd name="T6" fmla="*/ 72 w 72"/>
                  <a:gd name="T7" fmla="*/ 67 h 67"/>
                  <a:gd name="T8" fmla="*/ 71 w 72"/>
                  <a:gd name="T9" fmla="*/ 49 h 67"/>
                  <a:gd name="T10" fmla="*/ 70 w 72"/>
                  <a:gd name="T11" fmla="*/ 32 h 67"/>
                  <a:gd name="T12" fmla="*/ 67 w 72"/>
                  <a:gd name="T13" fmla="*/ 14 h 67"/>
                  <a:gd name="T14" fmla="*/ 63 w 72"/>
                  <a:gd name="T15" fmla="*/ 0 h 67"/>
                  <a:gd name="T16" fmla="*/ 63 w 72"/>
                  <a:gd name="T17" fmla="*/ 0 h 67"/>
                  <a:gd name="T18" fmla="*/ 48 w 72"/>
                  <a:gd name="T19" fmla="*/ 6 h 67"/>
                  <a:gd name="T20" fmla="*/ 32 w 72"/>
                  <a:gd name="T21" fmla="*/ 10 h 67"/>
                  <a:gd name="T22" fmla="*/ 17 w 72"/>
                  <a:gd name="T23" fmla="*/ 14 h 67"/>
                  <a:gd name="T24" fmla="*/ 0 w 72"/>
                  <a:gd name="T25" fmla="*/ 16 h 67"/>
                  <a:gd name="T26" fmla="*/ 0 w 72"/>
                  <a:gd name="T27" fmla="*/ 1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67">
                    <a:moveTo>
                      <a:pt x="0" y="16"/>
                    </a:moveTo>
                    <a:lnTo>
                      <a:pt x="0" y="67"/>
                    </a:lnTo>
                    <a:lnTo>
                      <a:pt x="72" y="67"/>
                    </a:lnTo>
                    <a:lnTo>
                      <a:pt x="72" y="67"/>
                    </a:lnTo>
                    <a:lnTo>
                      <a:pt x="71" y="49"/>
                    </a:lnTo>
                    <a:lnTo>
                      <a:pt x="70" y="32"/>
                    </a:lnTo>
                    <a:lnTo>
                      <a:pt x="67" y="14"/>
                    </a:lnTo>
                    <a:lnTo>
                      <a:pt x="63" y="0"/>
                    </a:lnTo>
                    <a:lnTo>
                      <a:pt x="63" y="0"/>
                    </a:lnTo>
                    <a:lnTo>
                      <a:pt x="48" y="6"/>
                    </a:lnTo>
                    <a:lnTo>
                      <a:pt x="32" y="10"/>
                    </a:lnTo>
                    <a:lnTo>
                      <a:pt x="17" y="14"/>
                    </a:lnTo>
                    <a:lnTo>
                      <a:pt x="0" y="16"/>
                    </a:lnTo>
                    <a:lnTo>
                      <a:pt x="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31" name="Freeform 265">
                <a:extLst>
                  <a:ext uri="{FF2B5EF4-FFF2-40B4-BE49-F238E27FC236}">
                    <a16:creationId xmlns:a16="http://schemas.microsoft.com/office/drawing/2014/main" id="{D819C89F-4F1C-E7A4-65AF-576815B87FDB}"/>
                  </a:ext>
                </a:extLst>
              </p:cNvPr>
              <p:cNvSpPr>
                <a:spLocks/>
              </p:cNvSpPr>
              <p:nvPr/>
            </p:nvSpPr>
            <p:spPr bwMode="auto">
              <a:xfrm>
                <a:off x="5219701" y="4443413"/>
                <a:ext cx="57150" cy="52388"/>
              </a:xfrm>
              <a:custGeom>
                <a:avLst/>
                <a:gdLst>
                  <a:gd name="T0" fmla="*/ 0 w 72"/>
                  <a:gd name="T1" fmla="*/ 0 h 68"/>
                  <a:gd name="T2" fmla="*/ 0 w 72"/>
                  <a:gd name="T3" fmla="*/ 51 h 68"/>
                  <a:gd name="T4" fmla="*/ 0 w 72"/>
                  <a:gd name="T5" fmla="*/ 51 h 68"/>
                  <a:gd name="T6" fmla="*/ 17 w 72"/>
                  <a:gd name="T7" fmla="*/ 53 h 68"/>
                  <a:gd name="T8" fmla="*/ 32 w 72"/>
                  <a:gd name="T9" fmla="*/ 57 h 68"/>
                  <a:gd name="T10" fmla="*/ 48 w 72"/>
                  <a:gd name="T11" fmla="*/ 61 h 68"/>
                  <a:gd name="T12" fmla="*/ 63 w 72"/>
                  <a:gd name="T13" fmla="*/ 68 h 68"/>
                  <a:gd name="T14" fmla="*/ 63 w 72"/>
                  <a:gd name="T15" fmla="*/ 68 h 68"/>
                  <a:gd name="T16" fmla="*/ 67 w 72"/>
                  <a:gd name="T17" fmla="*/ 51 h 68"/>
                  <a:gd name="T18" fmla="*/ 70 w 72"/>
                  <a:gd name="T19" fmla="*/ 35 h 68"/>
                  <a:gd name="T20" fmla="*/ 71 w 72"/>
                  <a:gd name="T21" fmla="*/ 18 h 68"/>
                  <a:gd name="T22" fmla="*/ 72 w 72"/>
                  <a:gd name="T23" fmla="*/ 0 h 68"/>
                  <a:gd name="T24" fmla="*/ 0 w 72"/>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68">
                    <a:moveTo>
                      <a:pt x="0" y="0"/>
                    </a:moveTo>
                    <a:lnTo>
                      <a:pt x="0" y="51"/>
                    </a:lnTo>
                    <a:lnTo>
                      <a:pt x="0" y="51"/>
                    </a:lnTo>
                    <a:lnTo>
                      <a:pt x="17" y="53"/>
                    </a:lnTo>
                    <a:lnTo>
                      <a:pt x="32" y="57"/>
                    </a:lnTo>
                    <a:lnTo>
                      <a:pt x="48" y="61"/>
                    </a:lnTo>
                    <a:lnTo>
                      <a:pt x="63" y="68"/>
                    </a:lnTo>
                    <a:lnTo>
                      <a:pt x="63" y="68"/>
                    </a:lnTo>
                    <a:lnTo>
                      <a:pt x="67" y="51"/>
                    </a:lnTo>
                    <a:lnTo>
                      <a:pt x="70" y="35"/>
                    </a:lnTo>
                    <a:lnTo>
                      <a:pt x="71" y="18"/>
                    </a:lnTo>
                    <a:lnTo>
                      <a:pt x="72"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grpSp>
        <p:sp>
          <p:nvSpPr>
            <p:cNvPr id="12" name="Oval 11">
              <a:extLst>
                <a:ext uri="{FF2B5EF4-FFF2-40B4-BE49-F238E27FC236}">
                  <a16:creationId xmlns:a16="http://schemas.microsoft.com/office/drawing/2014/main" id="{31FFA2AA-FEF7-E454-3AA2-2AB7B8592042}"/>
                </a:ext>
              </a:extLst>
            </p:cNvPr>
            <p:cNvSpPr/>
            <p:nvPr/>
          </p:nvSpPr>
          <p:spPr>
            <a:xfrm>
              <a:off x="845324" y="2178992"/>
              <a:ext cx="204984" cy="217199"/>
            </a:xfrm>
            <a:prstGeom prst="ellipse">
              <a:avLst/>
            </a:prstGeom>
            <a:solidFill>
              <a:schemeClr val="bg1"/>
            </a:solidFill>
            <a:ln w="6350" cap="flat" cmpd="sng" algn="ctr">
              <a:no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kern="600" spc="30" err="1"/>
            </a:p>
          </p:txBody>
        </p:sp>
        <p:grpSp>
          <p:nvGrpSpPr>
            <p:cNvPr id="13" name="Group 12">
              <a:extLst>
                <a:ext uri="{FF2B5EF4-FFF2-40B4-BE49-F238E27FC236}">
                  <a16:creationId xmlns:a16="http://schemas.microsoft.com/office/drawing/2014/main" id="{2707E410-1203-902D-333F-AC60CD97D2A1}"/>
                </a:ext>
              </a:extLst>
            </p:cNvPr>
            <p:cNvGrpSpPr>
              <a:grpSpLocks noChangeAspect="1"/>
            </p:cNvGrpSpPr>
            <p:nvPr/>
          </p:nvGrpSpPr>
          <p:grpSpPr>
            <a:xfrm>
              <a:off x="887962" y="2218804"/>
              <a:ext cx="176418" cy="177403"/>
              <a:chOff x="11223626" y="4299585"/>
              <a:chExt cx="284163" cy="285750"/>
            </a:xfrm>
            <a:grpFill/>
          </p:grpSpPr>
          <p:sp>
            <p:nvSpPr>
              <p:cNvPr id="14" name="Freeform 327">
                <a:extLst>
                  <a:ext uri="{FF2B5EF4-FFF2-40B4-BE49-F238E27FC236}">
                    <a16:creationId xmlns:a16="http://schemas.microsoft.com/office/drawing/2014/main" id="{424C1872-31D0-8B18-2BB6-331A3F29BD05}"/>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15" name="Freeform 328">
                <a:extLst>
                  <a:ext uri="{FF2B5EF4-FFF2-40B4-BE49-F238E27FC236}">
                    <a16:creationId xmlns:a16="http://schemas.microsoft.com/office/drawing/2014/main" id="{BEE27A50-C9A4-E0CC-6AEE-A283F05D452B}"/>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grpSp>
      </p:grpSp>
      <p:grpSp>
        <p:nvGrpSpPr>
          <p:cNvPr id="32" name="Group 31">
            <a:extLst>
              <a:ext uri="{FF2B5EF4-FFF2-40B4-BE49-F238E27FC236}">
                <a16:creationId xmlns:a16="http://schemas.microsoft.com/office/drawing/2014/main" id="{0EEA1F97-D151-AC0C-5B22-B2BA49ECFEDE}"/>
              </a:ext>
            </a:extLst>
          </p:cNvPr>
          <p:cNvGrpSpPr>
            <a:grpSpLocks noChangeAspect="1"/>
          </p:cNvGrpSpPr>
          <p:nvPr/>
        </p:nvGrpSpPr>
        <p:grpSpPr>
          <a:xfrm>
            <a:off x="586232" y="2753926"/>
            <a:ext cx="214119" cy="263401"/>
            <a:chOff x="6886576" y="4329113"/>
            <a:chExt cx="200025" cy="246063"/>
          </a:xfrm>
          <a:solidFill>
            <a:schemeClr val="tx2"/>
          </a:solidFill>
        </p:grpSpPr>
        <p:sp>
          <p:nvSpPr>
            <p:cNvPr id="33" name="Freeform 213">
              <a:extLst>
                <a:ext uri="{FF2B5EF4-FFF2-40B4-BE49-F238E27FC236}">
                  <a16:creationId xmlns:a16="http://schemas.microsoft.com/office/drawing/2014/main" id="{1B27C506-40A1-FEE2-1951-83DD18800B3F}"/>
                </a:ext>
              </a:extLst>
            </p:cNvPr>
            <p:cNvSpPr>
              <a:spLocks/>
            </p:cNvSpPr>
            <p:nvPr/>
          </p:nvSpPr>
          <p:spPr bwMode="auto">
            <a:xfrm>
              <a:off x="6886576" y="4329113"/>
              <a:ext cx="200025" cy="65088"/>
            </a:xfrm>
            <a:custGeom>
              <a:avLst/>
              <a:gdLst>
                <a:gd name="T0" fmla="*/ 126 w 251"/>
                <a:gd name="T1" fmla="*/ 0 h 84"/>
                <a:gd name="T2" fmla="*/ 126 w 251"/>
                <a:gd name="T3" fmla="*/ 0 h 84"/>
                <a:gd name="T4" fmla="*/ 104 w 251"/>
                <a:gd name="T5" fmla="*/ 0 h 84"/>
                <a:gd name="T6" fmla="*/ 81 w 251"/>
                <a:gd name="T7" fmla="*/ 3 h 84"/>
                <a:gd name="T8" fmla="*/ 59 w 251"/>
                <a:gd name="T9" fmla="*/ 6 h 84"/>
                <a:gd name="T10" fmla="*/ 40 w 251"/>
                <a:gd name="T11" fmla="*/ 11 h 84"/>
                <a:gd name="T12" fmla="*/ 24 w 251"/>
                <a:gd name="T13" fmla="*/ 16 h 84"/>
                <a:gd name="T14" fmla="*/ 11 w 251"/>
                <a:gd name="T15" fmla="*/ 24 h 84"/>
                <a:gd name="T16" fmla="*/ 7 w 251"/>
                <a:gd name="T17" fmla="*/ 28 h 84"/>
                <a:gd name="T18" fmla="*/ 3 w 251"/>
                <a:gd name="T19" fmla="*/ 32 h 84"/>
                <a:gd name="T20" fmla="*/ 1 w 251"/>
                <a:gd name="T21" fmla="*/ 36 h 84"/>
                <a:gd name="T22" fmla="*/ 0 w 251"/>
                <a:gd name="T23" fmla="*/ 42 h 84"/>
                <a:gd name="T24" fmla="*/ 0 w 251"/>
                <a:gd name="T25" fmla="*/ 42 h 84"/>
                <a:gd name="T26" fmla="*/ 1 w 251"/>
                <a:gd name="T27" fmla="*/ 47 h 84"/>
                <a:gd name="T28" fmla="*/ 3 w 251"/>
                <a:gd name="T29" fmla="*/ 51 h 84"/>
                <a:gd name="T30" fmla="*/ 7 w 251"/>
                <a:gd name="T31" fmla="*/ 55 h 84"/>
                <a:gd name="T32" fmla="*/ 11 w 251"/>
                <a:gd name="T33" fmla="*/ 59 h 84"/>
                <a:gd name="T34" fmla="*/ 24 w 251"/>
                <a:gd name="T35" fmla="*/ 67 h 84"/>
                <a:gd name="T36" fmla="*/ 40 w 251"/>
                <a:gd name="T37" fmla="*/ 73 h 84"/>
                <a:gd name="T38" fmla="*/ 59 w 251"/>
                <a:gd name="T39" fmla="*/ 78 h 84"/>
                <a:gd name="T40" fmla="*/ 81 w 251"/>
                <a:gd name="T41" fmla="*/ 81 h 84"/>
                <a:gd name="T42" fmla="*/ 104 w 251"/>
                <a:gd name="T43" fmla="*/ 84 h 84"/>
                <a:gd name="T44" fmla="*/ 126 w 251"/>
                <a:gd name="T45" fmla="*/ 84 h 84"/>
                <a:gd name="T46" fmla="*/ 126 w 251"/>
                <a:gd name="T47" fmla="*/ 84 h 84"/>
                <a:gd name="T48" fmla="*/ 149 w 251"/>
                <a:gd name="T49" fmla="*/ 84 h 84"/>
                <a:gd name="T50" fmla="*/ 171 w 251"/>
                <a:gd name="T51" fmla="*/ 81 h 84"/>
                <a:gd name="T52" fmla="*/ 192 w 251"/>
                <a:gd name="T53" fmla="*/ 78 h 84"/>
                <a:gd name="T54" fmla="*/ 211 w 251"/>
                <a:gd name="T55" fmla="*/ 73 h 84"/>
                <a:gd name="T56" fmla="*/ 228 w 251"/>
                <a:gd name="T57" fmla="*/ 67 h 84"/>
                <a:gd name="T58" fmla="*/ 241 w 251"/>
                <a:gd name="T59" fmla="*/ 59 h 84"/>
                <a:gd name="T60" fmla="*/ 245 w 251"/>
                <a:gd name="T61" fmla="*/ 55 h 84"/>
                <a:gd name="T62" fmla="*/ 249 w 251"/>
                <a:gd name="T63" fmla="*/ 51 h 84"/>
                <a:gd name="T64" fmla="*/ 251 w 251"/>
                <a:gd name="T65" fmla="*/ 47 h 84"/>
                <a:gd name="T66" fmla="*/ 251 w 251"/>
                <a:gd name="T67" fmla="*/ 42 h 84"/>
                <a:gd name="T68" fmla="*/ 251 w 251"/>
                <a:gd name="T69" fmla="*/ 42 h 84"/>
                <a:gd name="T70" fmla="*/ 251 w 251"/>
                <a:gd name="T71" fmla="*/ 36 h 84"/>
                <a:gd name="T72" fmla="*/ 249 w 251"/>
                <a:gd name="T73" fmla="*/ 32 h 84"/>
                <a:gd name="T74" fmla="*/ 245 w 251"/>
                <a:gd name="T75" fmla="*/ 28 h 84"/>
                <a:gd name="T76" fmla="*/ 241 w 251"/>
                <a:gd name="T77" fmla="*/ 24 h 84"/>
                <a:gd name="T78" fmla="*/ 228 w 251"/>
                <a:gd name="T79" fmla="*/ 16 h 84"/>
                <a:gd name="T80" fmla="*/ 211 w 251"/>
                <a:gd name="T81" fmla="*/ 11 h 84"/>
                <a:gd name="T82" fmla="*/ 192 w 251"/>
                <a:gd name="T83" fmla="*/ 6 h 84"/>
                <a:gd name="T84" fmla="*/ 171 w 251"/>
                <a:gd name="T85" fmla="*/ 3 h 84"/>
                <a:gd name="T86" fmla="*/ 149 w 251"/>
                <a:gd name="T87" fmla="*/ 0 h 84"/>
                <a:gd name="T88" fmla="*/ 126 w 251"/>
                <a:gd name="T89" fmla="*/ 0 h 84"/>
                <a:gd name="T90" fmla="*/ 126 w 251"/>
                <a:gd name="T91"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1" h="84">
                  <a:moveTo>
                    <a:pt x="126" y="0"/>
                  </a:moveTo>
                  <a:lnTo>
                    <a:pt x="126" y="0"/>
                  </a:lnTo>
                  <a:lnTo>
                    <a:pt x="104" y="0"/>
                  </a:lnTo>
                  <a:lnTo>
                    <a:pt x="81" y="3"/>
                  </a:lnTo>
                  <a:lnTo>
                    <a:pt x="59" y="6"/>
                  </a:lnTo>
                  <a:lnTo>
                    <a:pt x="40" y="11"/>
                  </a:lnTo>
                  <a:lnTo>
                    <a:pt x="24" y="16"/>
                  </a:lnTo>
                  <a:lnTo>
                    <a:pt x="11" y="24"/>
                  </a:lnTo>
                  <a:lnTo>
                    <a:pt x="7" y="28"/>
                  </a:lnTo>
                  <a:lnTo>
                    <a:pt x="3" y="32"/>
                  </a:lnTo>
                  <a:lnTo>
                    <a:pt x="1" y="36"/>
                  </a:lnTo>
                  <a:lnTo>
                    <a:pt x="0" y="42"/>
                  </a:lnTo>
                  <a:lnTo>
                    <a:pt x="0" y="42"/>
                  </a:lnTo>
                  <a:lnTo>
                    <a:pt x="1" y="47"/>
                  </a:lnTo>
                  <a:lnTo>
                    <a:pt x="3" y="51"/>
                  </a:lnTo>
                  <a:lnTo>
                    <a:pt x="7" y="55"/>
                  </a:lnTo>
                  <a:lnTo>
                    <a:pt x="11" y="59"/>
                  </a:lnTo>
                  <a:lnTo>
                    <a:pt x="24" y="67"/>
                  </a:lnTo>
                  <a:lnTo>
                    <a:pt x="40" y="73"/>
                  </a:lnTo>
                  <a:lnTo>
                    <a:pt x="59" y="78"/>
                  </a:lnTo>
                  <a:lnTo>
                    <a:pt x="81" y="81"/>
                  </a:lnTo>
                  <a:lnTo>
                    <a:pt x="104" y="84"/>
                  </a:lnTo>
                  <a:lnTo>
                    <a:pt x="126" y="84"/>
                  </a:lnTo>
                  <a:lnTo>
                    <a:pt x="126" y="84"/>
                  </a:lnTo>
                  <a:lnTo>
                    <a:pt x="149" y="84"/>
                  </a:lnTo>
                  <a:lnTo>
                    <a:pt x="171" y="81"/>
                  </a:lnTo>
                  <a:lnTo>
                    <a:pt x="192" y="78"/>
                  </a:lnTo>
                  <a:lnTo>
                    <a:pt x="211" y="73"/>
                  </a:lnTo>
                  <a:lnTo>
                    <a:pt x="228" y="67"/>
                  </a:lnTo>
                  <a:lnTo>
                    <a:pt x="241" y="59"/>
                  </a:lnTo>
                  <a:lnTo>
                    <a:pt x="245" y="55"/>
                  </a:lnTo>
                  <a:lnTo>
                    <a:pt x="249" y="51"/>
                  </a:lnTo>
                  <a:lnTo>
                    <a:pt x="251" y="47"/>
                  </a:lnTo>
                  <a:lnTo>
                    <a:pt x="251" y="42"/>
                  </a:lnTo>
                  <a:lnTo>
                    <a:pt x="251" y="42"/>
                  </a:lnTo>
                  <a:lnTo>
                    <a:pt x="251" y="36"/>
                  </a:lnTo>
                  <a:lnTo>
                    <a:pt x="249" y="32"/>
                  </a:lnTo>
                  <a:lnTo>
                    <a:pt x="245" y="28"/>
                  </a:lnTo>
                  <a:lnTo>
                    <a:pt x="241" y="24"/>
                  </a:lnTo>
                  <a:lnTo>
                    <a:pt x="228" y="16"/>
                  </a:lnTo>
                  <a:lnTo>
                    <a:pt x="211" y="11"/>
                  </a:lnTo>
                  <a:lnTo>
                    <a:pt x="192" y="6"/>
                  </a:lnTo>
                  <a:lnTo>
                    <a:pt x="171" y="3"/>
                  </a:lnTo>
                  <a:lnTo>
                    <a:pt x="149" y="0"/>
                  </a:lnTo>
                  <a:lnTo>
                    <a:pt x="126" y="0"/>
                  </a:lnTo>
                  <a:lnTo>
                    <a:pt x="1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34" name="Freeform 214">
              <a:extLst>
                <a:ext uri="{FF2B5EF4-FFF2-40B4-BE49-F238E27FC236}">
                  <a16:creationId xmlns:a16="http://schemas.microsoft.com/office/drawing/2014/main" id="{0B9B36FD-8024-ADB1-56C6-D5D390B3865C}"/>
                </a:ext>
              </a:extLst>
            </p:cNvPr>
            <p:cNvSpPr>
              <a:spLocks/>
            </p:cNvSpPr>
            <p:nvPr/>
          </p:nvSpPr>
          <p:spPr bwMode="auto">
            <a:xfrm>
              <a:off x="6886576" y="4386263"/>
              <a:ext cx="200025" cy="98425"/>
            </a:xfrm>
            <a:custGeom>
              <a:avLst/>
              <a:gdLst>
                <a:gd name="T0" fmla="*/ 215 w 251"/>
                <a:gd name="T1" fmla="*/ 20 h 123"/>
                <a:gd name="T2" fmla="*/ 215 w 251"/>
                <a:gd name="T3" fmla="*/ 20 h 123"/>
                <a:gd name="T4" fmla="*/ 195 w 251"/>
                <a:gd name="T5" fmla="*/ 24 h 123"/>
                <a:gd name="T6" fmla="*/ 173 w 251"/>
                <a:gd name="T7" fmla="*/ 28 h 123"/>
                <a:gd name="T8" fmla="*/ 151 w 251"/>
                <a:gd name="T9" fmla="*/ 29 h 123"/>
                <a:gd name="T10" fmla="*/ 126 w 251"/>
                <a:gd name="T11" fmla="*/ 31 h 123"/>
                <a:gd name="T12" fmla="*/ 126 w 251"/>
                <a:gd name="T13" fmla="*/ 31 h 123"/>
                <a:gd name="T14" fmla="*/ 102 w 251"/>
                <a:gd name="T15" fmla="*/ 29 h 123"/>
                <a:gd name="T16" fmla="*/ 78 w 251"/>
                <a:gd name="T17" fmla="*/ 28 h 123"/>
                <a:gd name="T18" fmla="*/ 57 w 251"/>
                <a:gd name="T19" fmla="*/ 24 h 123"/>
                <a:gd name="T20" fmla="*/ 38 w 251"/>
                <a:gd name="T21" fmla="*/ 20 h 123"/>
                <a:gd name="T22" fmla="*/ 38 w 251"/>
                <a:gd name="T23" fmla="*/ 20 h 123"/>
                <a:gd name="T24" fmla="*/ 24 w 251"/>
                <a:gd name="T25" fmla="*/ 15 h 123"/>
                <a:gd name="T26" fmla="*/ 15 w 251"/>
                <a:gd name="T27" fmla="*/ 11 h 123"/>
                <a:gd name="T28" fmla="*/ 7 w 251"/>
                <a:gd name="T29" fmla="*/ 5 h 123"/>
                <a:gd name="T30" fmla="*/ 0 w 251"/>
                <a:gd name="T31" fmla="*/ 0 h 123"/>
                <a:gd name="T32" fmla="*/ 0 w 251"/>
                <a:gd name="T33" fmla="*/ 82 h 123"/>
                <a:gd name="T34" fmla="*/ 0 w 251"/>
                <a:gd name="T35" fmla="*/ 82 h 123"/>
                <a:gd name="T36" fmla="*/ 1 w 251"/>
                <a:gd name="T37" fmla="*/ 87 h 123"/>
                <a:gd name="T38" fmla="*/ 3 w 251"/>
                <a:gd name="T39" fmla="*/ 91 h 123"/>
                <a:gd name="T40" fmla="*/ 7 w 251"/>
                <a:gd name="T41" fmla="*/ 96 h 123"/>
                <a:gd name="T42" fmla="*/ 11 w 251"/>
                <a:gd name="T43" fmla="*/ 101 h 123"/>
                <a:gd name="T44" fmla="*/ 24 w 251"/>
                <a:gd name="T45" fmla="*/ 107 h 123"/>
                <a:gd name="T46" fmla="*/ 40 w 251"/>
                <a:gd name="T47" fmla="*/ 113 h 123"/>
                <a:gd name="T48" fmla="*/ 59 w 251"/>
                <a:gd name="T49" fmla="*/ 118 h 123"/>
                <a:gd name="T50" fmla="*/ 81 w 251"/>
                <a:gd name="T51" fmla="*/ 121 h 123"/>
                <a:gd name="T52" fmla="*/ 104 w 251"/>
                <a:gd name="T53" fmla="*/ 123 h 123"/>
                <a:gd name="T54" fmla="*/ 126 w 251"/>
                <a:gd name="T55" fmla="*/ 123 h 123"/>
                <a:gd name="T56" fmla="*/ 126 w 251"/>
                <a:gd name="T57" fmla="*/ 123 h 123"/>
                <a:gd name="T58" fmla="*/ 149 w 251"/>
                <a:gd name="T59" fmla="*/ 123 h 123"/>
                <a:gd name="T60" fmla="*/ 171 w 251"/>
                <a:gd name="T61" fmla="*/ 121 h 123"/>
                <a:gd name="T62" fmla="*/ 192 w 251"/>
                <a:gd name="T63" fmla="*/ 118 h 123"/>
                <a:gd name="T64" fmla="*/ 211 w 251"/>
                <a:gd name="T65" fmla="*/ 113 h 123"/>
                <a:gd name="T66" fmla="*/ 228 w 251"/>
                <a:gd name="T67" fmla="*/ 107 h 123"/>
                <a:gd name="T68" fmla="*/ 241 w 251"/>
                <a:gd name="T69" fmla="*/ 101 h 123"/>
                <a:gd name="T70" fmla="*/ 245 w 251"/>
                <a:gd name="T71" fmla="*/ 96 h 123"/>
                <a:gd name="T72" fmla="*/ 249 w 251"/>
                <a:gd name="T73" fmla="*/ 91 h 123"/>
                <a:gd name="T74" fmla="*/ 251 w 251"/>
                <a:gd name="T75" fmla="*/ 87 h 123"/>
                <a:gd name="T76" fmla="*/ 251 w 251"/>
                <a:gd name="T77" fmla="*/ 82 h 123"/>
                <a:gd name="T78" fmla="*/ 251 w 251"/>
                <a:gd name="T79" fmla="*/ 0 h 123"/>
                <a:gd name="T80" fmla="*/ 251 w 251"/>
                <a:gd name="T81" fmla="*/ 0 h 123"/>
                <a:gd name="T82" fmla="*/ 246 w 251"/>
                <a:gd name="T83" fmla="*/ 5 h 123"/>
                <a:gd name="T84" fmla="*/ 238 w 251"/>
                <a:gd name="T85" fmla="*/ 11 h 123"/>
                <a:gd name="T86" fmla="*/ 227 w 251"/>
                <a:gd name="T87" fmla="*/ 15 h 123"/>
                <a:gd name="T88" fmla="*/ 215 w 251"/>
                <a:gd name="T89" fmla="*/ 20 h 123"/>
                <a:gd name="T90" fmla="*/ 215 w 251"/>
                <a:gd name="T91"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1" h="123">
                  <a:moveTo>
                    <a:pt x="215" y="20"/>
                  </a:moveTo>
                  <a:lnTo>
                    <a:pt x="215" y="20"/>
                  </a:lnTo>
                  <a:lnTo>
                    <a:pt x="195" y="24"/>
                  </a:lnTo>
                  <a:lnTo>
                    <a:pt x="173" y="28"/>
                  </a:lnTo>
                  <a:lnTo>
                    <a:pt x="151" y="29"/>
                  </a:lnTo>
                  <a:lnTo>
                    <a:pt x="126" y="31"/>
                  </a:lnTo>
                  <a:lnTo>
                    <a:pt x="126" y="31"/>
                  </a:lnTo>
                  <a:lnTo>
                    <a:pt x="102" y="29"/>
                  </a:lnTo>
                  <a:lnTo>
                    <a:pt x="78" y="28"/>
                  </a:lnTo>
                  <a:lnTo>
                    <a:pt x="57" y="24"/>
                  </a:lnTo>
                  <a:lnTo>
                    <a:pt x="38" y="20"/>
                  </a:lnTo>
                  <a:lnTo>
                    <a:pt x="38" y="20"/>
                  </a:lnTo>
                  <a:lnTo>
                    <a:pt x="24" y="15"/>
                  </a:lnTo>
                  <a:lnTo>
                    <a:pt x="15" y="11"/>
                  </a:lnTo>
                  <a:lnTo>
                    <a:pt x="7" y="5"/>
                  </a:lnTo>
                  <a:lnTo>
                    <a:pt x="0" y="0"/>
                  </a:lnTo>
                  <a:lnTo>
                    <a:pt x="0" y="82"/>
                  </a:lnTo>
                  <a:lnTo>
                    <a:pt x="0" y="82"/>
                  </a:lnTo>
                  <a:lnTo>
                    <a:pt x="1" y="87"/>
                  </a:lnTo>
                  <a:lnTo>
                    <a:pt x="3" y="91"/>
                  </a:lnTo>
                  <a:lnTo>
                    <a:pt x="7" y="96"/>
                  </a:lnTo>
                  <a:lnTo>
                    <a:pt x="11" y="101"/>
                  </a:lnTo>
                  <a:lnTo>
                    <a:pt x="24" y="107"/>
                  </a:lnTo>
                  <a:lnTo>
                    <a:pt x="40" y="113"/>
                  </a:lnTo>
                  <a:lnTo>
                    <a:pt x="59" y="118"/>
                  </a:lnTo>
                  <a:lnTo>
                    <a:pt x="81" y="121"/>
                  </a:lnTo>
                  <a:lnTo>
                    <a:pt x="104" y="123"/>
                  </a:lnTo>
                  <a:lnTo>
                    <a:pt x="126" y="123"/>
                  </a:lnTo>
                  <a:lnTo>
                    <a:pt x="126" y="123"/>
                  </a:lnTo>
                  <a:lnTo>
                    <a:pt x="149" y="123"/>
                  </a:lnTo>
                  <a:lnTo>
                    <a:pt x="171" y="121"/>
                  </a:lnTo>
                  <a:lnTo>
                    <a:pt x="192" y="118"/>
                  </a:lnTo>
                  <a:lnTo>
                    <a:pt x="211" y="113"/>
                  </a:lnTo>
                  <a:lnTo>
                    <a:pt x="228" y="107"/>
                  </a:lnTo>
                  <a:lnTo>
                    <a:pt x="241" y="101"/>
                  </a:lnTo>
                  <a:lnTo>
                    <a:pt x="245" y="96"/>
                  </a:lnTo>
                  <a:lnTo>
                    <a:pt x="249" y="91"/>
                  </a:lnTo>
                  <a:lnTo>
                    <a:pt x="251" y="87"/>
                  </a:lnTo>
                  <a:lnTo>
                    <a:pt x="251" y="82"/>
                  </a:lnTo>
                  <a:lnTo>
                    <a:pt x="251" y="0"/>
                  </a:lnTo>
                  <a:lnTo>
                    <a:pt x="251" y="0"/>
                  </a:lnTo>
                  <a:lnTo>
                    <a:pt x="246" y="5"/>
                  </a:lnTo>
                  <a:lnTo>
                    <a:pt x="238" y="11"/>
                  </a:lnTo>
                  <a:lnTo>
                    <a:pt x="227" y="15"/>
                  </a:lnTo>
                  <a:lnTo>
                    <a:pt x="215" y="20"/>
                  </a:lnTo>
                  <a:lnTo>
                    <a:pt x="215"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35" name="Freeform 215">
              <a:extLst>
                <a:ext uri="{FF2B5EF4-FFF2-40B4-BE49-F238E27FC236}">
                  <a16:creationId xmlns:a16="http://schemas.microsoft.com/office/drawing/2014/main" id="{21958DE7-9DA4-63EB-F87C-9F93B536319F}"/>
                </a:ext>
              </a:extLst>
            </p:cNvPr>
            <p:cNvSpPr>
              <a:spLocks/>
            </p:cNvSpPr>
            <p:nvPr/>
          </p:nvSpPr>
          <p:spPr bwMode="auto">
            <a:xfrm>
              <a:off x="6886576" y="4475163"/>
              <a:ext cx="200025" cy="100013"/>
            </a:xfrm>
            <a:custGeom>
              <a:avLst/>
              <a:gdLst>
                <a:gd name="T0" fmla="*/ 215 w 251"/>
                <a:gd name="T1" fmla="*/ 20 h 125"/>
                <a:gd name="T2" fmla="*/ 215 w 251"/>
                <a:gd name="T3" fmla="*/ 20 h 125"/>
                <a:gd name="T4" fmla="*/ 195 w 251"/>
                <a:gd name="T5" fmla="*/ 24 h 125"/>
                <a:gd name="T6" fmla="*/ 173 w 251"/>
                <a:gd name="T7" fmla="*/ 28 h 125"/>
                <a:gd name="T8" fmla="*/ 151 w 251"/>
                <a:gd name="T9" fmla="*/ 31 h 125"/>
                <a:gd name="T10" fmla="*/ 126 w 251"/>
                <a:gd name="T11" fmla="*/ 31 h 125"/>
                <a:gd name="T12" fmla="*/ 126 w 251"/>
                <a:gd name="T13" fmla="*/ 31 h 125"/>
                <a:gd name="T14" fmla="*/ 102 w 251"/>
                <a:gd name="T15" fmla="*/ 31 h 125"/>
                <a:gd name="T16" fmla="*/ 78 w 251"/>
                <a:gd name="T17" fmla="*/ 28 h 125"/>
                <a:gd name="T18" fmla="*/ 57 w 251"/>
                <a:gd name="T19" fmla="*/ 24 h 125"/>
                <a:gd name="T20" fmla="*/ 38 w 251"/>
                <a:gd name="T21" fmla="*/ 20 h 125"/>
                <a:gd name="T22" fmla="*/ 38 w 251"/>
                <a:gd name="T23" fmla="*/ 20 h 125"/>
                <a:gd name="T24" fmla="*/ 24 w 251"/>
                <a:gd name="T25" fmla="*/ 16 h 125"/>
                <a:gd name="T26" fmla="*/ 15 w 251"/>
                <a:gd name="T27" fmla="*/ 10 h 125"/>
                <a:gd name="T28" fmla="*/ 7 w 251"/>
                <a:gd name="T29" fmla="*/ 5 h 125"/>
                <a:gd name="T30" fmla="*/ 0 w 251"/>
                <a:gd name="T31" fmla="*/ 0 h 125"/>
                <a:gd name="T32" fmla="*/ 0 w 251"/>
                <a:gd name="T33" fmla="*/ 82 h 125"/>
                <a:gd name="T34" fmla="*/ 0 w 251"/>
                <a:gd name="T35" fmla="*/ 82 h 125"/>
                <a:gd name="T36" fmla="*/ 1 w 251"/>
                <a:gd name="T37" fmla="*/ 87 h 125"/>
                <a:gd name="T38" fmla="*/ 3 w 251"/>
                <a:gd name="T39" fmla="*/ 92 h 125"/>
                <a:gd name="T40" fmla="*/ 7 w 251"/>
                <a:gd name="T41" fmla="*/ 96 h 125"/>
                <a:gd name="T42" fmla="*/ 11 w 251"/>
                <a:gd name="T43" fmla="*/ 100 h 125"/>
                <a:gd name="T44" fmla="*/ 24 w 251"/>
                <a:gd name="T45" fmla="*/ 107 h 125"/>
                <a:gd name="T46" fmla="*/ 40 w 251"/>
                <a:gd name="T47" fmla="*/ 114 h 125"/>
                <a:gd name="T48" fmla="*/ 59 w 251"/>
                <a:gd name="T49" fmla="*/ 118 h 125"/>
                <a:gd name="T50" fmla="*/ 81 w 251"/>
                <a:gd name="T51" fmla="*/ 122 h 125"/>
                <a:gd name="T52" fmla="*/ 104 w 251"/>
                <a:gd name="T53" fmla="*/ 123 h 125"/>
                <a:gd name="T54" fmla="*/ 126 w 251"/>
                <a:gd name="T55" fmla="*/ 125 h 125"/>
                <a:gd name="T56" fmla="*/ 126 w 251"/>
                <a:gd name="T57" fmla="*/ 125 h 125"/>
                <a:gd name="T58" fmla="*/ 149 w 251"/>
                <a:gd name="T59" fmla="*/ 123 h 125"/>
                <a:gd name="T60" fmla="*/ 171 w 251"/>
                <a:gd name="T61" fmla="*/ 122 h 125"/>
                <a:gd name="T62" fmla="*/ 192 w 251"/>
                <a:gd name="T63" fmla="*/ 118 h 125"/>
                <a:gd name="T64" fmla="*/ 211 w 251"/>
                <a:gd name="T65" fmla="*/ 114 h 125"/>
                <a:gd name="T66" fmla="*/ 228 w 251"/>
                <a:gd name="T67" fmla="*/ 107 h 125"/>
                <a:gd name="T68" fmla="*/ 241 w 251"/>
                <a:gd name="T69" fmla="*/ 100 h 125"/>
                <a:gd name="T70" fmla="*/ 245 w 251"/>
                <a:gd name="T71" fmla="*/ 96 h 125"/>
                <a:gd name="T72" fmla="*/ 249 w 251"/>
                <a:gd name="T73" fmla="*/ 92 h 125"/>
                <a:gd name="T74" fmla="*/ 251 w 251"/>
                <a:gd name="T75" fmla="*/ 87 h 125"/>
                <a:gd name="T76" fmla="*/ 251 w 251"/>
                <a:gd name="T77" fmla="*/ 82 h 125"/>
                <a:gd name="T78" fmla="*/ 251 w 251"/>
                <a:gd name="T79" fmla="*/ 0 h 125"/>
                <a:gd name="T80" fmla="*/ 251 w 251"/>
                <a:gd name="T81" fmla="*/ 0 h 125"/>
                <a:gd name="T82" fmla="*/ 246 w 251"/>
                <a:gd name="T83" fmla="*/ 5 h 125"/>
                <a:gd name="T84" fmla="*/ 238 w 251"/>
                <a:gd name="T85" fmla="*/ 10 h 125"/>
                <a:gd name="T86" fmla="*/ 227 w 251"/>
                <a:gd name="T87" fmla="*/ 16 h 125"/>
                <a:gd name="T88" fmla="*/ 215 w 251"/>
                <a:gd name="T89" fmla="*/ 20 h 125"/>
                <a:gd name="T90" fmla="*/ 215 w 251"/>
                <a:gd name="T91" fmla="*/ 2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1" h="125">
                  <a:moveTo>
                    <a:pt x="215" y="20"/>
                  </a:moveTo>
                  <a:lnTo>
                    <a:pt x="215" y="20"/>
                  </a:lnTo>
                  <a:lnTo>
                    <a:pt x="195" y="24"/>
                  </a:lnTo>
                  <a:lnTo>
                    <a:pt x="173" y="28"/>
                  </a:lnTo>
                  <a:lnTo>
                    <a:pt x="151" y="31"/>
                  </a:lnTo>
                  <a:lnTo>
                    <a:pt x="126" y="31"/>
                  </a:lnTo>
                  <a:lnTo>
                    <a:pt x="126" y="31"/>
                  </a:lnTo>
                  <a:lnTo>
                    <a:pt x="102" y="31"/>
                  </a:lnTo>
                  <a:lnTo>
                    <a:pt x="78" y="28"/>
                  </a:lnTo>
                  <a:lnTo>
                    <a:pt x="57" y="24"/>
                  </a:lnTo>
                  <a:lnTo>
                    <a:pt x="38" y="20"/>
                  </a:lnTo>
                  <a:lnTo>
                    <a:pt x="38" y="20"/>
                  </a:lnTo>
                  <a:lnTo>
                    <a:pt x="24" y="16"/>
                  </a:lnTo>
                  <a:lnTo>
                    <a:pt x="15" y="10"/>
                  </a:lnTo>
                  <a:lnTo>
                    <a:pt x="7" y="5"/>
                  </a:lnTo>
                  <a:lnTo>
                    <a:pt x="0" y="0"/>
                  </a:lnTo>
                  <a:lnTo>
                    <a:pt x="0" y="82"/>
                  </a:lnTo>
                  <a:lnTo>
                    <a:pt x="0" y="82"/>
                  </a:lnTo>
                  <a:lnTo>
                    <a:pt x="1" y="87"/>
                  </a:lnTo>
                  <a:lnTo>
                    <a:pt x="3" y="92"/>
                  </a:lnTo>
                  <a:lnTo>
                    <a:pt x="7" y="96"/>
                  </a:lnTo>
                  <a:lnTo>
                    <a:pt x="11" y="100"/>
                  </a:lnTo>
                  <a:lnTo>
                    <a:pt x="24" y="107"/>
                  </a:lnTo>
                  <a:lnTo>
                    <a:pt x="40" y="114"/>
                  </a:lnTo>
                  <a:lnTo>
                    <a:pt x="59" y="118"/>
                  </a:lnTo>
                  <a:lnTo>
                    <a:pt x="81" y="122"/>
                  </a:lnTo>
                  <a:lnTo>
                    <a:pt x="104" y="123"/>
                  </a:lnTo>
                  <a:lnTo>
                    <a:pt x="126" y="125"/>
                  </a:lnTo>
                  <a:lnTo>
                    <a:pt x="126" y="125"/>
                  </a:lnTo>
                  <a:lnTo>
                    <a:pt x="149" y="123"/>
                  </a:lnTo>
                  <a:lnTo>
                    <a:pt x="171" y="122"/>
                  </a:lnTo>
                  <a:lnTo>
                    <a:pt x="192" y="118"/>
                  </a:lnTo>
                  <a:lnTo>
                    <a:pt x="211" y="114"/>
                  </a:lnTo>
                  <a:lnTo>
                    <a:pt x="228" y="107"/>
                  </a:lnTo>
                  <a:lnTo>
                    <a:pt x="241" y="100"/>
                  </a:lnTo>
                  <a:lnTo>
                    <a:pt x="245" y="96"/>
                  </a:lnTo>
                  <a:lnTo>
                    <a:pt x="249" y="92"/>
                  </a:lnTo>
                  <a:lnTo>
                    <a:pt x="251" y="87"/>
                  </a:lnTo>
                  <a:lnTo>
                    <a:pt x="251" y="82"/>
                  </a:lnTo>
                  <a:lnTo>
                    <a:pt x="251" y="0"/>
                  </a:lnTo>
                  <a:lnTo>
                    <a:pt x="251" y="0"/>
                  </a:lnTo>
                  <a:lnTo>
                    <a:pt x="246" y="5"/>
                  </a:lnTo>
                  <a:lnTo>
                    <a:pt x="238" y="10"/>
                  </a:lnTo>
                  <a:lnTo>
                    <a:pt x="227" y="16"/>
                  </a:lnTo>
                  <a:lnTo>
                    <a:pt x="215" y="20"/>
                  </a:lnTo>
                  <a:lnTo>
                    <a:pt x="215"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grpSp>
      <p:sp>
        <p:nvSpPr>
          <p:cNvPr id="36" name="Oval 35">
            <a:extLst>
              <a:ext uri="{FF2B5EF4-FFF2-40B4-BE49-F238E27FC236}">
                <a16:creationId xmlns:a16="http://schemas.microsoft.com/office/drawing/2014/main" id="{3F108A19-971A-94CC-8D34-DB7226123B08}"/>
              </a:ext>
            </a:extLst>
          </p:cNvPr>
          <p:cNvSpPr/>
          <p:nvPr/>
        </p:nvSpPr>
        <p:spPr>
          <a:xfrm>
            <a:off x="712811" y="2912370"/>
            <a:ext cx="117211" cy="104975"/>
          </a:xfrm>
          <a:prstGeom prst="ellipse">
            <a:avLst/>
          </a:prstGeom>
          <a:solidFill>
            <a:schemeClr val="bg1"/>
          </a:solidFill>
          <a:ln w="6350" cap="flat" cmpd="sng" algn="ctr">
            <a:no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kern="600" spc="30" err="1"/>
          </a:p>
        </p:txBody>
      </p:sp>
      <p:grpSp>
        <p:nvGrpSpPr>
          <p:cNvPr id="37" name="Group 36">
            <a:extLst>
              <a:ext uri="{FF2B5EF4-FFF2-40B4-BE49-F238E27FC236}">
                <a16:creationId xmlns:a16="http://schemas.microsoft.com/office/drawing/2014/main" id="{72D16DC1-BCE5-0B02-3555-3A283D73BA99}"/>
              </a:ext>
            </a:extLst>
          </p:cNvPr>
          <p:cNvGrpSpPr>
            <a:grpSpLocks noChangeAspect="1"/>
          </p:cNvGrpSpPr>
          <p:nvPr/>
        </p:nvGrpSpPr>
        <p:grpSpPr>
          <a:xfrm>
            <a:off x="731278" y="2930441"/>
            <a:ext cx="71436" cy="102393"/>
            <a:chOff x="5265738" y="2738438"/>
            <a:chExt cx="95250" cy="136525"/>
          </a:xfrm>
          <a:solidFill>
            <a:schemeClr val="tx2"/>
          </a:solidFill>
        </p:grpSpPr>
        <p:sp>
          <p:nvSpPr>
            <p:cNvPr id="38" name="Freeform 355">
              <a:extLst>
                <a:ext uri="{FF2B5EF4-FFF2-40B4-BE49-F238E27FC236}">
                  <a16:creationId xmlns:a16="http://schemas.microsoft.com/office/drawing/2014/main" id="{F9DCA7C9-C74B-A55A-1FF1-E99FDFC57FE6}"/>
                </a:ext>
              </a:extLst>
            </p:cNvPr>
            <p:cNvSpPr>
              <a:spLocks/>
            </p:cNvSpPr>
            <p:nvPr/>
          </p:nvSpPr>
          <p:spPr bwMode="auto">
            <a:xfrm>
              <a:off x="5284788" y="2833688"/>
              <a:ext cx="60325" cy="41275"/>
            </a:xfrm>
            <a:custGeom>
              <a:avLst/>
              <a:gdLst>
                <a:gd name="T0" fmla="*/ 0 w 75"/>
                <a:gd name="T1" fmla="*/ 0 h 54"/>
                <a:gd name="T2" fmla="*/ 0 w 75"/>
                <a:gd name="T3" fmla="*/ 49 h 54"/>
                <a:gd name="T4" fmla="*/ 0 w 75"/>
                <a:gd name="T5" fmla="*/ 49 h 54"/>
                <a:gd name="T6" fmla="*/ 0 w 75"/>
                <a:gd name="T7" fmla="*/ 51 h 54"/>
                <a:gd name="T8" fmla="*/ 3 w 75"/>
                <a:gd name="T9" fmla="*/ 54 h 54"/>
                <a:gd name="T10" fmla="*/ 3 w 75"/>
                <a:gd name="T11" fmla="*/ 54 h 54"/>
                <a:gd name="T12" fmla="*/ 5 w 75"/>
                <a:gd name="T13" fmla="*/ 54 h 54"/>
                <a:gd name="T14" fmla="*/ 8 w 75"/>
                <a:gd name="T15" fmla="*/ 54 h 54"/>
                <a:gd name="T16" fmla="*/ 37 w 75"/>
                <a:gd name="T17" fmla="*/ 34 h 54"/>
                <a:gd name="T18" fmla="*/ 67 w 75"/>
                <a:gd name="T19" fmla="*/ 54 h 54"/>
                <a:gd name="T20" fmla="*/ 67 w 75"/>
                <a:gd name="T21" fmla="*/ 54 h 54"/>
                <a:gd name="T22" fmla="*/ 70 w 75"/>
                <a:gd name="T23" fmla="*/ 54 h 54"/>
                <a:gd name="T24" fmla="*/ 70 w 75"/>
                <a:gd name="T25" fmla="*/ 54 h 54"/>
                <a:gd name="T26" fmla="*/ 72 w 75"/>
                <a:gd name="T27" fmla="*/ 54 h 54"/>
                <a:gd name="T28" fmla="*/ 72 w 75"/>
                <a:gd name="T29" fmla="*/ 54 h 54"/>
                <a:gd name="T30" fmla="*/ 74 w 75"/>
                <a:gd name="T31" fmla="*/ 51 h 54"/>
                <a:gd name="T32" fmla="*/ 75 w 75"/>
                <a:gd name="T33" fmla="*/ 49 h 54"/>
                <a:gd name="T34" fmla="*/ 75 w 75"/>
                <a:gd name="T35" fmla="*/ 0 h 54"/>
                <a:gd name="T36" fmla="*/ 75 w 75"/>
                <a:gd name="T37" fmla="*/ 0 h 54"/>
                <a:gd name="T38" fmla="*/ 67 w 75"/>
                <a:gd name="T39" fmla="*/ 4 h 54"/>
                <a:gd name="T40" fmla="*/ 58 w 75"/>
                <a:gd name="T41" fmla="*/ 8 h 54"/>
                <a:gd name="T42" fmla="*/ 47 w 75"/>
                <a:gd name="T43" fmla="*/ 10 h 54"/>
                <a:gd name="T44" fmla="*/ 37 w 75"/>
                <a:gd name="T45" fmla="*/ 11 h 54"/>
                <a:gd name="T46" fmla="*/ 37 w 75"/>
                <a:gd name="T47" fmla="*/ 11 h 54"/>
                <a:gd name="T48" fmla="*/ 27 w 75"/>
                <a:gd name="T49" fmla="*/ 10 h 54"/>
                <a:gd name="T50" fmla="*/ 17 w 75"/>
                <a:gd name="T51" fmla="*/ 8 h 54"/>
                <a:gd name="T52" fmla="*/ 8 w 75"/>
                <a:gd name="T53" fmla="*/ 4 h 54"/>
                <a:gd name="T54" fmla="*/ 0 w 75"/>
                <a:gd name="T55" fmla="*/ 0 h 54"/>
                <a:gd name="T56" fmla="*/ 0 w 75"/>
                <a:gd name="T5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5" h="54">
                  <a:moveTo>
                    <a:pt x="0" y="0"/>
                  </a:moveTo>
                  <a:lnTo>
                    <a:pt x="0" y="49"/>
                  </a:lnTo>
                  <a:lnTo>
                    <a:pt x="0" y="49"/>
                  </a:lnTo>
                  <a:lnTo>
                    <a:pt x="0" y="51"/>
                  </a:lnTo>
                  <a:lnTo>
                    <a:pt x="3" y="54"/>
                  </a:lnTo>
                  <a:lnTo>
                    <a:pt x="3" y="54"/>
                  </a:lnTo>
                  <a:lnTo>
                    <a:pt x="5" y="54"/>
                  </a:lnTo>
                  <a:lnTo>
                    <a:pt x="8" y="54"/>
                  </a:lnTo>
                  <a:lnTo>
                    <a:pt x="37" y="34"/>
                  </a:lnTo>
                  <a:lnTo>
                    <a:pt x="67" y="54"/>
                  </a:lnTo>
                  <a:lnTo>
                    <a:pt x="67" y="54"/>
                  </a:lnTo>
                  <a:lnTo>
                    <a:pt x="70" y="54"/>
                  </a:lnTo>
                  <a:lnTo>
                    <a:pt x="70" y="54"/>
                  </a:lnTo>
                  <a:lnTo>
                    <a:pt x="72" y="54"/>
                  </a:lnTo>
                  <a:lnTo>
                    <a:pt x="72" y="54"/>
                  </a:lnTo>
                  <a:lnTo>
                    <a:pt x="74" y="51"/>
                  </a:lnTo>
                  <a:lnTo>
                    <a:pt x="75" y="49"/>
                  </a:lnTo>
                  <a:lnTo>
                    <a:pt x="75" y="0"/>
                  </a:lnTo>
                  <a:lnTo>
                    <a:pt x="75" y="0"/>
                  </a:lnTo>
                  <a:lnTo>
                    <a:pt x="67" y="4"/>
                  </a:lnTo>
                  <a:lnTo>
                    <a:pt x="58" y="8"/>
                  </a:lnTo>
                  <a:lnTo>
                    <a:pt x="47" y="10"/>
                  </a:lnTo>
                  <a:lnTo>
                    <a:pt x="37" y="11"/>
                  </a:lnTo>
                  <a:lnTo>
                    <a:pt x="37" y="11"/>
                  </a:lnTo>
                  <a:lnTo>
                    <a:pt x="27" y="10"/>
                  </a:lnTo>
                  <a:lnTo>
                    <a:pt x="17" y="8"/>
                  </a:lnTo>
                  <a:lnTo>
                    <a:pt x="8"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39" name="Freeform 356">
              <a:extLst>
                <a:ext uri="{FF2B5EF4-FFF2-40B4-BE49-F238E27FC236}">
                  <a16:creationId xmlns:a16="http://schemas.microsoft.com/office/drawing/2014/main" id="{254B5A8D-B197-0F59-69D2-47912BCB1197}"/>
                </a:ext>
              </a:extLst>
            </p:cNvPr>
            <p:cNvSpPr>
              <a:spLocks/>
            </p:cNvSpPr>
            <p:nvPr/>
          </p:nvSpPr>
          <p:spPr bwMode="auto">
            <a:xfrm>
              <a:off x="5265738" y="2738438"/>
              <a:ext cx="95250" cy="95250"/>
            </a:xfrm>
            <a:custGeom>
              <a:avLst/>
              <a:gdLst>
                <a:gd name="T0" fmla="*/ 60 w 120"/>
                <a:gd name="T1" fmla="*/ 0 h 119"/>
                <a:gd name="T2" fmla="*/ 60 w 120"/>
                <a:gd name="T3" fmla="*/ 0 h 119"/>
                <a:gd name="T4" fmla="*/ 48 w 120"/>
                <a:gd name="T5" fmla="*/ 1 h 119"/>
                <a:gd name="T6" fmla="*/ 38 w 120"/>
                <a:gd name="T7" fmla="*/ 5 h 119"/>
                <a:gd name="T8" fmla="*/ 27 w 120"/>
                <a:gd name="T9" fmla="*/ 10 h 119"/>
                <a:gd name="T10" fmla="*/ 17 w 120"/>
                <a:gd name="T11" fmla="*/ 17 h 119"/>
                <a:gd name="T12" fmla="*/ 11 w 120"/>
                <a:gd name="T13" fmla="*/ 27 h 119"/>
                <a:gd name="T14" fmla="*/ 5 w 120"/>
                <a:gd name="T15" fmla="*/ 36 h 119"/>
                <a:gd name="T16" fmla="*/ 1 w 120"/>
                <a:gd name="T17" fmla="*/ 48 h 119"/>
                <a:gd name="T18" fmla="*/ 0 w 120"/>
                <a:gd name="T19" fmla="*/ 60 h 119"/>
                <a:gd name="T20" fmla="*/ 0 w 120"/>
                <a:gd name="T21" fmla="*/ 60 h 119"/>
                <a:gd name="T22" fmla="*/ 1 w 120"/>
                <a:gd name="T23" fmla="*/ 72 h 119"/>
                <a:gd name="T24" fmla="*/ 5 w 120"/>
                <a:gd name="T25" fmla="*/ 83 h 119"/>
                <a:gd name="T26" fmla="*/ 11 w 120"/>
                <a:gd name="T27" fmla="*/ 92 h 119"/>
                <a:gd name="T28" fmla="*/ 17 w 120"/>
                <a:gd name="T29" fmla="*/ 102 h 119"/>
                <a:gd name="T30" fmla="*/ 27 w 120"/>
                <a:gd name="T31" fmla="*/ 108 h 119"/>
                <a:gd name="T32" fmla="*/ 38 w 120"/>
                <a:gd name="T33" fmla="*/ 114 h 119"/>
                <a:gd name="T34" fmla="*/ 48 w 120"/>
                <a:gd name="T35" fmla="*/ 118 h 119"/>
                <a:gd name="T36" fmla="*/ 60 w 120"/>
                <a:gd name="T37" fmla="*/ 119 h 119"/>
                <a:gd name="T38" fmla="*/ 60 w 120"/>
                <a:gd name="T39" fmla="*/ 119 h 119"/>
                <a:gd name="T40" fmla="*/ 73 w 120"/>
                <a:gd name="T41" fmla="*/ 118 h 119"/>
                <a:gd name="T42" fmla="*/ 83 w 120"/>
                <a:gd name="T43" fmla="*/ 114 h 119"/>
                <a:gd name="T44" fmla="*/ 94 w 120"/>
                <a:gd name="T45" fmla="*/ 108 h 119"/>
                <a:gd name="T46" fmla="*/ 102 w 120"/>
                <a:gd name="T47" fmla="*/ 102 h 119"/>
                <a:gd name="T48" fmla="*/ 110 w 120"/>
                <a:gd name="T49" fmla="*/ 92 h 119"/>
                <a:gd name="T50" fmla="*/ 115 w 120"/>
                <a:gd name="T51" fmla="*/ 83 h 119"/>
                <a:gd name="T52" fmla="*/ 118 w 120"/>
                <a:gd name="T53" fmla="*/ 72 h 119"/>
                <a:gd name="T54" fmla="*/ 120 w 120"/>
                <a:gd name="T55" fmla="*/ 60 h 119"/>
                <a:gd name="T56" fmla="*/ 120 w 120"/>
                <a:gd name="T57" fmla="*/ 60 h 119"/>
                <a:gd name="T58" fmla="*/ 118 w 120"/>
                <a:gd name="T59" fmla="*/ 48 h 119"/>
                <a:gd name="T60" fmla="*/ 115 w 120"/>
                <a:gd name="T61" fmla="*/ 36 h 119"/>
                <a:gd name="T62" fmla="*/ 110 w 120"/>
                <a:gd name="T63" fmla="*/ 27 h 119"/>
                <a:gd name="T64" fmla="*/ 102 w 120"/>
                <a:gd name="T65" fmla="*/ 17 h 119"/>
                <a:gd name="T66" fmla="*/ 94 w 120"/>
                <a:gd name="T67" fmla="*/ 10 h 119"/>
                <a:gd name="T68" fmla="*/ 83 w 120"/>
                <a:gd name="T69" fmla="*/ 5 h 119"/>
                <a:gd name="T70" fmla="*/ 73 w 120"/>
                <a:gd name="T71" fmla="*/ 1 h 119"/>
                <a:gd name="T72" fmla="*/ 60 w 120"/>
                <a:gd name="T73" fmla="*/ 0 h 119"/>
                <a:gd name="T74" fmla="*/ 60 w 120"/>
                <a:gd name="T75"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19">
                  <a:moveTo>
                    <a:pt x="60" y="0"/>
                  </a:moveTo>
                  <a:lnTo>
                    <a:pt x="60" y="0"/>
                  </a:lnTo>
                  <a:lnTo>
                    <a:pt x="48" y="1"/>
                  </a:lnTo>
                  <a:lnTo>
                    <a:pt x="38" y="5"/>
                  </a:lnTo>
                  <a:lnTo>
                    <a:pt x="27" y="10"/>
                  </a:lnTo>
                  <a:lnTo>
                    <a:pt x="17" y="17"/>
                  </a:lnTo>
                  <a:lnTo>
                    <a:pt x="11" y="27"/>
                  </a:lnTo>
                  <a:lnTo>
                    <a:pt x="5" y="36"/>
                  </a:lnTo>
                  <a:lnTo>
                    <a:pt x="1" y="48"/>
                  </a:lnTo>
                  <a:lnTo>
                    <a:pt x="0" y="60"/>
                  </a:lnTo>
                  <a:lnTo>
                    <a:pt x="0" y="60"/>
                  </a:lnTo>
                  <a:lnTo>
                    <a:pt x="1" y="72"/>
                  </a:lnTo>
                  <a:lnTo>
                    <a:pt x="5" y="83"/>
                  </a:lnTo>
                  <a:lnTo>
                    <a:pt x="11" y="92"/>
                  </a:lnTo>
                  <a:lnTo>
                    <a:pt x="17" y="102"/>
                  </a:lnTo>
                  <a:lnTo>
                    <a:pt x="27" y="108"/>
                  </a:lnTo>
                  <a:lnTo>
                    <a:pt x="38" y="114"/>
                  </a:lnTo>
                  <a:lnTo>
                    <a:pt x="48" y="118"/>
                  </a:lnTo>
                  <a:lnTo>
                    <a:pt x="60" y="119"/>
                  </a:lnTo>
                  <a:lnTo>
                    <a:pt x="60" y="119"/>
                  </a:lnTo>
                  <a:lnTo>
                    <a:pt x="73" y="118"/>
                  </a:lnTo>
                  <a:lnTo>
                    <a:pt x="83" y="114"/>
                  </a:lnTo>
                  <a:lnTo>
                    <a:pt x="94" y="108"/>
                  </a:lnTo>
                  <a:lnTo>
                    <a:pt x="102" y="102"/>
                  </a:lnTo>
                  <a:lnTo>
                    <a:pt x="110" y="92"/>
                  </a:lnTo>
                  <a:lnTo>
                    <a:pt x="115" y="83"/>
                  </a:lnTo>
                  <a:lnTo>
                    <a:pt x="118" y="72"/>
                  </a:lnTo>
                  <a:lnTo>
                    <a:pt x="120" y="60"/>
                  </a:lnTo>
                  <a:lnTo>
                    <a:pt x="120" y="60"/>
                  </a:lnTo>
                  <a:lnTo>
                    <a:pt x="118" y="48"/>
                  </a:lnTo>
                  <a:lnTo>
                    <a:pt x="115" y="36"/>
                  </a:lnTo>
                  <a:lnTo>
                    <a:pt x="110" y="27"/>
                  </a:lnTo>
                  <a:lnTo>
                    <a:pt x="102" y="17"/>
                  </a:lnTo>
                  <a:lnTo>
                    <a:pt x="94" y="10"/>
                  </a:lnTo>
                  <a:lnTo>
                    <a:pt x="83" y="5"/>
                  </a:lnTo>
                  <a:lnTo>
                    <a:pt x="73" y="1"/>
                  </a:lnTo>
                  <a:lnTo>
                    <a:pt x="60" y="0"/>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grpSp>
      <p:grpSp>
        <p:nvGrpSpPr>
          <p:cNvPr id="40" name="Group 39">
            <a:extLst>
              <a:ext uri="{FF2B5EF4-FFF2-40B4-BE49-F238E27FC236}">
                <a16:creationId xmlns:a16="http://schemas.microsoft.com/office/drawing/2014/main" id="{C5B0C813-C1DC-ADED-F079-8C10001B0271}"/>
              </a:ext>
            </a:extLst>
          </p:cNvPr>
          <p:cNvGrpSpPr>
            <a:grpSpLocks noChangeAspect="1"/>
          </p:cNvGrpSpPr>
          <p:nvPr/>
        </p:nvGrpSpPr>
        <p:grpSpPr>
          <a:xfrm>
            <a:off x="528263" y="3543066"/>
            <a:ext cx="330015" cy="290342"/>
            <a:chOff x="5964238" y="960438"/>
            <a:chExt cx="290513" cy="255588"/>
          </a:xfrm>
          <a:solidFill>
            <a:schemeClr val="tx2"/>
          </a:solidFill>
        </p:grpSpPr>
        <p:sp>
          <p:nvSpPr>
            <p:cNvPr id="41" name="Freeform 259">
              <a:extLst>
                <a:ext uri="{FF2B5EF4-FFF2-40B4-BE49-F238E27FC236}">
                  <a16:creationId xmlns:a16="http://schemas.microsoft.com/office/drawing/2014/main" id="{96CA8B97-793A-42B3-663F-85987AD21B69}"/>
                </a:ext>
              </a:extLst>
            </p:cNvPr>
            <p:cNvSpPr>
              <a:spLocks/>
            </p:cNvSpPr>
            <p:nvPr/>
          </p:nvSpPr>
          <p:spPr bwMode="auto">
            <a:xfrm>
              <a:off x="5964238" y="960438"/>
              <a:ext cx="90488" cy="255588"/>
            </a:xfrm>
            <a:custGeom>
              <a:avLst/>
              <a:gdLst>
                <a:gd name="T0" fmla="*/ 113 w 113"/>
                <a:gd name="T1" fmla="*/ 149 h 322"/>
                <a:gd name="T2" fmla="*/ 111 w 113"/>
                <a:gd name="T3" fmla="*/ 139 h 322"/>
                <a:gd name="T4" fmla="*/ 107 w 113"/>
                <a:gd name="T5" fmla="*/ 131 h 322"/>
                <a:gd name="T6" fmla="*/ 63 w 113"/>
                <a:gd name="T7" fmla="*/ 9 h 322"/>
                <a:gd name="T8" fmla="*/ 63 w 113"/>
                <a:gd name="T9" fmla="*/ 5 h 322"/>
                <a:gd name="T10" fmla="*/ 58 w 113"/>
                <a:gd name="T11" fmla="*/ 1 h 322"/>
                <a:gd name="T12" fmla="*/ 55 w 113"/>
                <a:gd name="T13" fmla="*/ 0 h 322"/>
                <a:gd name="T14" fmla="*/ 48 w 113"/>
                <a:gd name="T15" fmla="*/ 2 h 322"/>
                <a:gd name="T16" fmla="*/ 46 w 113"/>
                <a:gd name="T17" fmla="*/ 9 h 322"/>
                <a:gd name="T18" fmla="*/ 46 w 113"/>
                <a:gd name="T19" fmla="*/ 91 h 322"/>
                <a:gd name="T20" fmla="*/ 48 w 113"/>
                <a:gd name="T21" fmla="*/ 96 h 322"/>
                <a:gd name="T22" fmla="*/ 95 w 113"/>
                <a:gd name="T23" fmla="*/ 143 h 322"/>
                <a:gd name="T24" fmla="*/ 95 w 113"/>
                <a:gd name="T25" fmla="*/ 146 h 322"/>
                <a:gd name="T26" fmla="*/ 51 w 113"/>
                <a:gd name="T27" fmla="*/ 165 h 322"/>
                <a:gd name="T28" fmla="*/ 48 w 113"/>
                <a:gd name="T29" fmla="*/ 167 h 322"/>
                <a:gd name="T30" fmla="*/ 46 w 113"/>
                <a:gd name="T31" fmla="*/ 192 h 322"/>
                <a:gd name="T32" fmla="*/ 23 w 113"/>
                <a:gd name="T33" fmla="*/ 202 h 322"/>
                <a:gd name="T34" fmla="*/ 9 w 113"/>
                <a:gd name="T35" fmla="*/ 214 h 322"/>
                <a:gd name="T36" fmla="*/ 5 w 113"/>
                <a:gd name="T37" fmla="*/ 232 h 322"/>
                <a:gd name="T38" fmla="*/ 7 w 113"/>
                <a:gd name="T39" fmla="*/ 240 h 322"/>
                <a:gd name="T40" fmla="*/ 15 w 113"/>
                <a:gd name="T41" fmla="*/ 255 h 322"/>
                <a:gd name="T42" fmla="*/ 46 w 113"/>
                <a:gd name="T43" fmla="*/ 272 h 322"/>
                <a:gd name="T44" fmla="*/ 46 w 113"/>
                <a:gd name="T45" fmla="*/ 290 h 322"/>
                <a:gd name="T46" fmla="*/ 41 w 113"/>
                <a:gd name="T47" fmla="*/ 300 h 322"/>
                <a:gd name="T48" fmla="*/ 31 w 113"/>
                <a:gd name="T49" fmla="*/ 304 h 322"/>
                <a:gd name="T50" fmla="*/ 8 w 113"/>
                <a:gd name="T51" fmla="*/ 304 h 322"/>
                <a:gd name="T52" fmla="*/ 1 w 113"/>
                <a:gd name="T53" fmla="*/ 307 h 322"/>
                <a:gd name="T54" fmla="*/ 0 w 113"/>
                <a:gd name="T55" fmla="*/ 314 h 322"/>
                <a:gd name="T56" fmla="*/ 0 w 113"/>
                <a:gd name="T57" fmla="*/ 317 h 322"/>
                <a:gd name="T58" fmla="*/ 4 w 113"/>
                <a:gd name="T59" fmla="*/ 322 h 322"/>
                <a:gd name="T60" fmla="*/ 31 w 113"/>
                <a:gd name="T61" fmla="*/ 322 h 322"/>
                <a:gd name="T62" fmla="*/ 37 w 113"/>
                <a:gd name="T63" fmla="*/ 322 h 322"/>
                <a:gd name="T64" fmla="*/ 50 w 113"/>
                <a:gd name="T65" fmla="*/ 317 h 322"/>
                <a:gd name="T66" fmla="*/ 58 w 113"/>
                <a:gd name="T67" fmla="*/ 308 h 322"/>
                <a:gd name="T68" fmla="*/ 63 w 113"/>
                <a:gd name="T69" fmla="*/ 296 h 322"/>
                <a:gd name="T70" fmla="*/ 63 w 113"/>
                <a:gd name="T71" fmla="*/ 267 h 322"/>
                <a:gd name="T72" fmla="*/ 62 w 113"/>
                <a:gd name="T73" fmla="*/ 263 h 322"/>
                <a:gd name="T74" fmla="*/ 31 w 113"/>
                <a:gd name="T75" fmla="*/ 245 h 322"/>
                <a:gd name="T76" fmla="*/ 27 w 113"/>
                <a:gd name="T77" fmla="*/ 243 h 322"/>
                <a:gd name="T78" fmla="*/ 23 w 113"/>
                <a:gd name="T79" fmla="*/ 236 h 322"/>
                <a:gd name="T80" fmla="*/ 21 w 113"/>
                <a:gd name="T81" fmla="*/ 232 h 322"/>
                <a:gd name="T82" fmla="*/ 24 w 113"/>
                <a:gd name="T83" fmla="*/ 224 h 322"/>
                <a:gd name="T84" fmla="*/ 31 w 113"/>
                <a:gd name="T85" fmla="*/ 218 h 322"/>
                <a:gd name="T86" fmla="*/ 59 w 113"/>
                <a:gd name="T87" fmla="*/ 204 h 322"/>
                <a:gd name="T88" fmla="*/ 63 w 113"/>
                <a:gd name="T89" fmla="*/ 196 h 322"/>
                <a:gd name="T90" fmla="*/ 101 w 113"/>
                <a:gd name="T91" fmla="*/ 163 h 322"/>
                <a:gd name="T92" fmla="*/ 105 w 113"/>
                <a:gd name="T93" fmla="*/ 162 h 322"/>
                <a:gd name="T94" fmla="*/ 111 w 113"/>
                <a:gd name="T95" fmla="*/ 154 h 322"/>
                <a:gd name="T96" fmla="*/ 113 w 113"/>
                <a:gd name="T97" fmla="*/ 14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3" h="322">
                  <a:moveTo>
                    <a:pt x="113" y="149"/>
                  </a:moveTo>
                  <a:lnTo>
                    <a:pt x="113" y="149"/>
                  </a:lnTo>
                  <a:lnTo>
                    <a:pt x="113" y="145"/>
                  </a:lnTo>
                  <a:lnTo>
                    <a:pt x="111" y="139"/>
                  </a:lnTo>
                  <a:lnTo>
                    <a:pt x="110" y="135"/>
                  </a:lnTo>
                  <a:lnTo>
                    <a:pt x="107" y="131"/>
                  </a:lnTo>
                  <a:lnTo>
                    <a:pt x="63" y="87"/>
                  </a:lnTo>
                  <a:lnTo>
                    <a:pt x="63" y="9"/>
                  </a:lnTo>
                  <a:lnTo>
                    <a:pt x="63" y="9"/>
                  </a:lnTo>
                  <a:lnTo>
                    <a:pt x="63" y="5"/>
                  </a:lnTo>
                  <a:lnTo>
                    <a:pt x="60" y="2"/>
                  </a:lnTo>
                  <a:lnTo>
                    <a:pt x="58" y="1"/>
                  </a:lnTo>
                  <a:lnTo>
                    <a:pt x="55" y="0"/>
                  </a:lnTo>
                  <a:lnTo>
                    <a:pt x="55" y="0"/>
                  </a:lnTo>
                  <a:lnTo>
                    <a:pt x="51" y="1"/>
                  </a:lnTo>
                  <a:lnTo>
                    <a:pt x="48" y="2"/>
                  </a:lnTo>
                  <a:lnTo>
                    <a:pt x="47" y="5"/>
                  </a:lnTo>
                  <a:lnTo>
                    <a:pt x="46" y="9"/>
                  </a:lnTo>
                  <a:lnTo>
                    <a:pt x="46" y="91"/>
                  </a:lnTo>
                  <a:lnTo>
                    <a:pt x="46" y="91"/>
                  </a:lnTo>
                  <a:lnTo>
                    <a:pt x="47" y="94"/>
                  </a:lnTo>
                  <a:lnTo>
                    <a:pt x="48" y="96"/>
                  </a:lnTo>
                  <a:lnTo>
                    <a:pt x="95" y="143"/>
                  </a:lnTo>
                  <a:lnTo>
                    <a:pt x="95" y="143"/>
                  </a:lnTo>
                  <a:lnTo>
                    <a:pt x="95" y="146"/>
                  </a:lnTo>
                  <a:lnTo>
                    <a:pt x="95" y="146"/>
                  </a:lnTo>
                  <a:lnTo>
                    <a:pt x="94" y="149"/>
                  </a:lnTo>
                  <a:lnTo>
                    <a:pt x="51" y="165"/>
                  </a:lnTo>
                  <a:lnTo>
                    <a:pt x="51" y="165"/>
                  </a:lnTo>
                  <a:lnTo>
                    <a:pt x="48" y="167"/>
                  </a:lnTo>
                  <a:lnTo>
                    <a:pt x="46" y="173"/>
                  </a:lnTo>
                  <a:lnTo>
                    <a:pt x="46" y="192"/>
                  </a:lnTo>
                  <a:lnTo>
                    <a:pt x="23" y="202"/>
                  </a:lnTo>
                  <a:lnTo>
                    <a:pt x="23" y="202"/>
                  </a:lnTo>
                  <a:lnTo>
                    <a:pt x="15" y="208"/>
                  </a:lnTo>
                  <a:lnTo>
                    <a:pt x="9" y="214"/>
                  </a:lnTo>
                  <a:lnTo>
                    <a:pt x="7" y="223"/>
                  </a:lnTo>
                  <a:lnTo>
                    <a:pt x="5" y="232"/>
                  </a:lnTo>
                  <a:lnTo>
                    <a:pt x="5" y="232"/>
                  </a:lnTo>
                  <a:lnTo>
                    <a:pt x="7" y="240"/>
                  </a:lnTo>
                  <a:lnTo>
                    <a:pt x="9" y="248"/>
                  </a:lnTo>
                  <a:lnTo>
                    <a:pt x="15" y="255"/>
                  </a:lnTo>
                  <a:lnTo>
                    <a:pt x="23" y="260"/>
                  </a:lnTo>
                  <a:lnTo>
                    <a:pt x="46" y="272"/>
                  </a:lnTo>
                  <a:lnTo>
                    <a:pt x="46" y="290"/>
                  </a:lnTo>
                  <a:lnTo>
                    <a:pt x="46" y="290"/>
                  </a:lnTo>
                  <a:lnTo>
                    <a:pt x="46" y="296"/>
                  </a:lnTo>
                  <a:lnTo>
                    <a:pt x="41" y="300"/>
                  </a:lnTo>
                  <a:lnTo>
                    <a:pt x="37" y="304"/>
                  </a:lnTo>
                  <a:lnTo>
                    <a:pt x="31" y="304"/>
                  </a:lnTo>
                  <a:lnTo>
                    <a:pt x="8" y="304"/>
                  </a:lnTo>
                  <a:lnTo>
                    <a:pt x="8" y="304"/>
                  </a:lnTo>
                  <a:lnTo>
                    <a:pt x="4" y="306"/>
                  </a:lnTo>
                  <a:lnTo>
                    <a:pt x="1" y="307"/>
                  </a:lnTo>
                  <a:lnTo>
                    <a:pt x="0" y="310"/>
                  </a:lnTo>
                  <a:lnTo>
                    <a:pt x="0" y="314"/>
                  </a:lnTo>
                  <a:lnTo>
                    <a:pt x="0" y="314"/>
                  </a:lnTo>
                  <a:lnTo>
                    <a:pt x="0" y="317"/>
                  </a:lnTo>
                  <a:lnTo>
                    <a:pt x="1" y="319"/>
                  </a:lnTo>
                  <a:lnTo>
                    <a:pt x="4" y="322"/>
                  </a:lnTo>
                  <a:lnTo>
                    <a:pt x="8" y="322"/>
                  </a:lnTo>
                  <a:lnTo>
                    <a:pt x="31" y="322"/>
                  </a:lnTo>
                  <a:lnTo>
                    <a:pt x="31" y="322"/>
                  </a:lnTo>
                  <a:lnTo>
                    <a:pt x="37" y="322"/>
                  </a:lnTo>
                  <a:lnTo>
                    <a:pt x="44" y="319"/>
                  </a:lnTo>
                  <a:lnTo>
                    <a:pt x="50" y="317"/>
                  </a:lnTo>
                  <a:lnTo>
                    <a:pt x="54" y="312"/>
                  </a:lnTo>
                  <a:lnTo>
                    <a:pt x="58" y="308"/>
                  </a:lnTo>
                  <a:lnTo>
                    <a:pt x="60" y="303"/>
                  </a:lnTo>
                  <a:lnTo>
                    <a:pt x="63" y="296"/>
                  </a:lnTo>
                  <a:lnTo>
                    <a:pt x="63" y="290"/>
                  </a:lnTo>
                  <a:lnTo>
                    <a:pt x="63" y="267"/>
                  </a:lnTo>
                  <a:lnTo>
                    <a:pt x="63" y="267"/>
                  </a:lnTo>
                  <a:lnTo>
                    <a:pt x="62" y="263"/>
                  </a:lnTo>
                  <a:lnTo>
                    <a:pt x="59" y="259"/>
                  </a:lnTo>
                  <a:lnTo>
                    <a:pt x="31" y="245"/>
                  </a:lnTo>
                  <a:lnTo>
                    <a:pt x="31" y="245"/>
                  </a:lnTo>
                  <a:lnTo>
                    <a:pt x="27" y="243"/>
                  </a:lnTo>
                  <a:lnTo>
                    <a:pt x="24" y="240"/>
                  </a:lnTo>
                  <a:lnTo>
                    <a:pt x="23" y="236"/>
                  </a:lnTo>
                  <a:lnTo>
                    <a:pt x="21" y="232"/>
                  </a:lnTo>
                  <a:lnTo>
                    <a:pt x="21" y="232"/>
                  </a:lnTo>
                  <a:lnTo>
                    <a:pt x="23" y="228"/>
                  </a:lnTo>
                  <a:lnTo>
                    <a:pt x="24" y="224"/>
                  </a:lnTo>
                  <a:lnTo>
                    <a:pt x="27" y="221"/>
                  </a:lnTo>
                  <a:lnTo>
                    <a:pt x="31" y="218"/>
                  </a:lnTo>
                  <a:lnTo>
                    <a:pt x="59" y="204"/>
                  </a:lnTo>
                  <a:lnTo>
                    <a:pt x="59" y="204"/>
                  </a:lnTo>
                  <a:lnTo>
                    <a:pt x="62" y="201"/>
                  </a:lnTo>
                  <a:lnTo>
                    <a:pt x="63" y="196"/>
                  </a:lnTo>
                  <a:lnTo>
                    <a:pt x="63" y="178"/>
                  </a:lnTo>
                  <a:lnTo>
                    <a:pt x="101" y="163"/>
                  </a:lnTo>
                  <a:lnTo>
                    <a:pt x="101" y="163"/>
                  </a:lnTo>
                  <a:lnTo>
                    <a:pt x="105" y="162"/>
                  </a:lnTo>
                  <a:lnTo>
                    <a:pt x="109" y="158"/>
                  </a:lnTo>
                  <a:lnTo>
                    <a:pt x="111" y="154"/>
                  </a:lnTo>
                  <a:lnTo>
                    <a:pt x="113" y="149"/>
                  </a:lnTo>
                  <a:lnTo>
                    <a:pt x="113"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42" name="Freeform 260">
              <a:extLst>
                <a:ext uri="{FF2B5EF4-FFF2-40B4-BE49-F238E27FC236}">
                  <a16:creationId xmlns:a16="http://schemas.microsoft.com/office/drawing/2014/main" id="{5BA6A1D8-ECDC-F188-BA84-0D9B6507B6A7}"/>
                </a:ext>
              </a:extLst>
            </p:cNvPr>
            <p:cNvSpPr>
              <a:spLocks noEditPoints="1"/>
            </p:cNvSpPr>
            <p:nvPr/>
          </p:nvSpPr>
          <p:spPr bwMode="auto">
            <a:xfrm>
              <a:off x="6049963" y="992188"/>
              <a:ext cx="204788" cy="166688"/>
            </a:xfrm>
            <a:custGeom>
              <a:avLst/>
              <a:gdLst>
                <a:gd name="T0" fmla="*/ 89 w 258"/>
                <a:gd name="T1" fmla="*/ 0 h 210"/>
                <a:gd name="T2" fmla="*/ 81 w 258"/>
                <a:gd name="T3" fmla="*/ 0 h 210"/>
                <a:gd name="T4" fmla="*/ 66 w 258"/>
                <a:gd name="T5" fmla="*/ 6 h 210"/>
                <a:gd name="T6" fmla="*/ 54 w 258"/>
                <a:gd name="T7" fmla="*/ 17 h 210"/>
                <a:gd name="T8" fmla="*/ 49 w 258"/>
                <a:gd name="T9" fmla="*/ 32 h 210"/>
                <a:gd name="T10" fmla="*/ 47 w 258"/>
                <a:gd name="T11" fmla="*/ 143 h 210"/>
                <a:gd name="T12" fmla="*/ 2 w 258"/>
                <a:gd name="T13" fmla="*/ 201 h 210"/>
                <a:gd name="T14" fmla="*/ 2 w 258"/>
                <a:gd name="T15" fmla="*/ 206 h 210"/>
                <a:gd name="T16" fmla="*/ 3 w 258"/>
                <a:gd name="T17" fmla="*/ 209 h 210"/>
                <a:gd name="T18" fmla="*/ 218 w 258"/>
                <a:gd name="T19" fmla="*/ 210 h 210"/>
                <a:gd name="T20" fmla="*/ 226 w 258"/>
                <a:gd name="T21" fmla="*/ 209 h 210"/>
                <a:gd name="T22" fmla="*/ 241 w 258"/>
                <a:gd name="T23" fmla="*/ 204 h 210"/>
                <a:gd name="T24" fmla="*/ 251 w 258"/>
                <a:gd name="T25" fmla="*/ 192 h 210"/>
                <a:gd name="T26" fmla="*/ 258 w 258"/>
                <a:gd name="T27" fmla="*/ 177 h 210"/>
                <a:gd name="T28" fmla="*/ 258 w 258"/>
                <a:gd name="T29" fmla="*/ 40 h 210"/>
                <a:gd name="T30" fmla="*/ 258 w 258"/>
                <a:gd name="T31" fmla="*/ 32 h 210"/>
                <a:gd name="T32" fmla="*/ 251 w 258"/>
                <a:gd name="T33" fmla="*/ 17 h 210"/>
                <a:gd name="T34" fmla="*/ 241 w 258"/>
                <a:gd name="T35" fmla="*/ 6 h 210"/>
                <a:gd name="T36" fmla="*/ 226 w 258"/>
                <a:gd name="T37" fmla="*/ 0 h 210"/>
                <a:gd name="T38" fmla="*/ 218 w 258"/>
                <a:gd name="T39" fmla="*/ 0 h 210"/>
                <a:gd name="T40" fmla="*/ 109 w 258"/>
                <a:gd name="T41" fmla="*/ 142 h 210"/>
                <a:gd name="T42" fmla="*/ 106 w 258"/>
                <a:gd name="T43" fmla="*/ 142 h 210"/>
                <a:gd name="T44" fmla="*/ 101 w 258"/>
                <a:gd name="T45" fmla="*/ 137 h 210"/>
                <a:gd name="T46" fmla="*/ 101 w 258"/>
                <a:gd name="T47" fmla="*/ 134 h 210"/>
                <a:gd name="T48" fmla="*/ 104 w 258"/>
                <a:gd name="T49" fmla="*/ 128 h 210"/>
                <a:gd name="T50" fmla="*/ 109 w 258"/>
                <a:gd name="T51" fmla="*/ 126 h 210"/>
                <a:gd name="T52" fmla="*/ 196 w 258"/>
                <a:gd name="T53" fmla="*/ 126 h 210"/>
                <a:gd name="T54" fmla="*/ 203 w 258"/>
                <a:gd name="T55" fmla="*/ 128 h 210"/>
                <a:gd name="T56" fmla="*/ 204 w 258"/>
                <a:gd name="T57" fmla="*/ 134 h 210"/>
                <a:gd name="T58" fmla="*/ 204 w 258"/>
                <a:gd name="T59" fmla="*/ 137 h 210"/>
                <a:gd name="T60" fmla="*/ 200 w 258"/>
                <a:gd name="T61" fmla="*/ 142 h 210"/>
                <a:gd name="T62" fmla="*/ 196 w 258"/>
                <a:gd name="T63" fmla="*/ 142 h 210"/>
                <a:gd name="T64" fmla="*/ 112 w 258"/>
                <a:gd name="T65" fmla="*/ 77 h 210"/>
                <a:gd name="T66" fmla="*/ 109 w 258"/>
                <a:gd name="T67" fmla="*/ 76 h 210"/>
                <a:gd name="T68" fmla="*/ 105 w 258"/>
                <a:gd name="T69" fmla="*/ 72 h 210"/>
                <a:gd name="T70" fmla="*/ 104 w 258"/>
                <a:gd name="T71" fmla="*/ 69 h 210"/>
                <a:gd name="T72" fmla="*/ 106 w 258"/>
                <a:gd name="T73" fmla="*/ 64 h 210"/>
                <a:gd name="T74" fmla="*/ 112 w 258"/>
                <a:gd name="T75" fmla="*/ 61 h 210"/>
                <a:gd name="T76" fmla="*/ 200 w 258"/>
                <a:gd name="T77" fmla="*/ 61 h 210"/>
                <a:gd name="T78" fmla="*/ 206 w 258"/>
                <a:gd name="T79" fmla="*/ 64 h 210"/>
                <a:gd name="T80" fmla="*/ 208 w 258"/>
                <a:gd name="T81" fmla="*/ 69 h 210"/>
                <a:gd name="T82" fmla="*/ 207 w 258"/>
                <a:gd name="T83" fmla="*/ 72 h 210"/>
                <a:gd name="T84" fmla="*/ 203 w 258"/>
                <a:gd name="T85" fmla="*/ 76 h 210"/>
                <a:gd name="T86" fmla="*/ 200 w 258"/>
                <a:gd name="T87" fmla="*/ 77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8" h="210">
                  <a:moveTo>
                    <a:pt x="218" y="0"/>
                  </a:moveTo>
                  <a:lnTo>
                    <a:pt x="89" y="0"/>
                  </a:lnTo>
                  <a:lnTo>
                    <a:pt x="89" y="0"/>
                  </a:lnTo>
                  <a:lnTo>
                    <a:pt x="81" y="0"/>
                  </a:lnTo>
                  <a:lnTo>
                    <a:pt x="73" y="2"/>
                  </a:lnTo>
                  <a:lnTo>
                    <a:pt x="66" y="6"/>
                  </a:lnTo>
                  <a:lnTo>
                    <a:pt x="59" y="12"/>
                  </a:lnTo>
                  <a:lnTo>
                    <a:pt x="54" y="17"/>
                  </a:lnTo>
                  <a:lnTo>
                    <a:pt x="50" y="24"/>
                  </a:lnTo>
                  <a:lnTo>
                    <a:pt x="49" y="32"/>
                  </a:lnTo>
                  <a:lnTo>
                    <a:pt x="47" y="40"/>
                  </a:lnTo>
                  <a:lnTo>
                    <a:pt x="47" y="143"/>
                  </a:lnTo>
                  <a:lnTo>
                    <a:pt x="2" y="201"/>
                  </a:lnTo>
                  <a:lnTo>
                    <a:pt x="2" y="201"/>
                  </a:lnTo>
                  <a:lnTo>
                    <a:pt x="0" y="204"/>
                  </a:lnTo>
                  <a:lnTo>
                    <a:pt x="2" y="206"/>
                  </a:lnTo>
                  <a:lnTo>
                    <a:pt x="2" y="206"/>
                  </a:lnTo>
                  <a:lnTo>
                    <a:pt x="3" y="209"/>
                  </a:lnTo>
                  <a:lnTo>
                    <a:pt x="7" y="210"/>
                  </a:lnTo>
                  <a:lnTo>
                    <a:pt x="218" y="210"/>
                  </a:lnTo>
                  <a:lnTo>
                    <a:pt x="218" y="210"/>
                  </a:lnTo>
                  <a:lnTo>
                    <a:pt x="226" y="209"/>
                  </a:lnTo>
                  <a:lnTo>
                    <a:pt x="234" y="206"/>
                  </a:lnTo>
                  <a:lnTo>
                    <a:pt x="241" y="204"/>
                  </a:lnTo>
                  <a:lnTo>
                    <a:pt x="246" y="198"/>
                  </a:lnTo>
                  <a:lnTo>
                    <a:pt x="251" y="192"/>
                  </a:lnTo>
                  <a:lnTo>
                    <a:pt x="255" y="185"/>
                  </a:lnTo>
                  <a:lnTo>
                    <a:pt x="258" y="177"/>
                  </a:lnTo>
                  <a:lnTo>
                    <a:pt x="258" y="169"/>
                  </a:lnTo>
                  <a:lnTo>
                    <a:pt x="258" y="40"/>
                  </a:lnTo>
                  <a:lnTo>
                    <a:pt x="258" y="40"/>
                  </a:lnTo>
                  <a:lnTo>
                    <a:pt x="258" y="32"/>
                  </a:lnTo>
                  <a:lnTo>
                    <a:pt x="255" y="24"/>
                  </a:lnTo>
                  <a:lnTo>
                    <a:pt x="251" y="17"/>
                  </a:lnTo>
                  <a:lnTo>
                    <a:pt x="246" y="12"/>
                  </a:lnTo>
                  <a:lnTo>
                    <a:pt x="241" y="6"/>
                  </a:lnTo>
                  <a:lnTo>
                    <a:pt x="234" y="2"/>
                  </a:lnTo>
                  <a:lnTo>
                    <a:pt x="226" y="0"/>
                  </a:lnTo>
                  <a:lnTo>
                    <a:pt x="218" y="0"/>
                  </a:lnTo>
                  <a:lnTo>
                    <a:pt x="218" y="0"/>
                  </a:lnTo>
                  <a:close/>
                  <a:moveTo>
                    <a:pt x="196" y="142"/>
                  </a:moveTo>
                  <a:lnTo>
                    <a:pt x="109" y="142"/>
                  </a:lnTo>
                  <a:lnTo>
                    <a:pt x="109" y="142"/>
                  </a:lnTo>
                  <a:lnTo>
                    <a:pt x="106" y="142"/>
                  </a:lnTo>
                  <a:lnTo>
                    <a:pt x="104" y="139"/>
                  </a:lnTo>
                  <a:lnTo>
                    <a:pt x="101" y="137"/>
                  </a:lnTo>
                  <a:lnTo>
                    <a:pt x="101" y="134"/>
                  </a:lnTo>
                  <a:lnTo>
                    <a:pt x="101" y="134"/>
                  </a:lnTo>
                  <a:lnTo>
                    <a:pt x="101" y="131"/>
                  </a:lnTo>
                  <a:lnTo>
                    <a:pt x="104" y="128"/>
                  </a:lnTo>
                  <a:lnTo>
                    <a:pt x="106" y="126"/>
                  </a:lnTo>
                  <a:lnTo>
                    <a:pt x="109" y="126"/>
                  </a:lnTo>
                  <a:lnTo>
                    <a:pt x="196" y="126"/>
                  </a:lnTo>
                  <a:lnTo>
                    <a:pt x="196" y="126"/>
                  </a:lnTo>
                  <a:lnTo>
                    <a:pt x="200" y="126"/>
                  </a:lnTo>
                  <a:lnTo>
                    <a:pt x="203" y="128"/>
                  </a:lnTo>
                  <a:lnTo>
                    <a:pt x="204" y="131"/>
                  </a:lnTo>
                  <a:lnTo>
                    <a:pt x="204" y="134"/>
                  </a:lnTo>
                  <a:lnTo>
                    <a:pt x="204" y="134"/>
                  </a:lnTo>
                  <a:lnTo>
                    <a:pt x="204" y="137"/>
                  </a:lnTo>
                  <a:lnTo>
                    <a:pt x="203" y="139"/>
                  </a:lnTo>
                  <a:lnTo>
                    <a:pt x="200" y="142"/>
                  </a:lnTo>
                  <a:lnTo>
                    <a:pt x="196" y="142"/>
                  </a:lnTo>
                  <a:lnTo>
                    <a:pt x="196" y="142"/>
                  </a:lnTo>
                  <a:close/>
                  <a:moveTo>
                    <a:pt x="200" y="77"/>
                  </a:moveTo>
                  <a:lnTo>
                    <a:pt x="112" y="77"/>
                  </a:lnTo>
                  <a:lnTo>
                    <a:pt x="112" y="77"/>
                  </a:lnTo>
                  <a:lnTo>
                    <a:pt x="109" y="76"/>
                  </a:lnTo>
                  <a:lnTo>
                    <a:pt x="106" y="75"/>
                  </a:lnTo>
                  <a:lnTo>
                    <a:pt x="105" y="72"/>
                  </a:lnTo>
                  <a:lnTo>
                    <a:pt x="104" y="69"/>
                  </a:lnTo>
                  <a:lnTo>
                    <a:pt x="104" y="69"/>
                  </a:lnTo>
                  <a:lnTo>
                    <a:pt x="105" y="67"/>
                  </a:lnTo>
                  <a:lnTo>
                    <a:pt x="106" y="64"/>
                  </a:lnTo>
                  <a:lnTo>
                    <a:pt x="109" y="61"/>
                  </a:lnTo>
                  <a:lnTo>
                    <a:pt x="112" y="61"/>
                  </a:lnTo>
                  <a:lnTo>
                    <a:pt x="200" y="61"/>
                  </a:lnTo>
                  <a:lnTo>
                    <a:pt x="200" y="61"/>
                  </a:lnTo>
                  <a:lnTo>
                    <a:pt x="203" y="61"/>
                  </a:lnTo>
                  <a:lnTo>
                    <a:pt x="206" y="64"/>
                  </a:lnTo>
                  <a:lnTo>
                    <a:pt x="207" y="67"/>
                  </a:lnTo>
                  <a:lnTo>
                    <a:pt x="208" y="69"/>
                  </a:lnTo>
                  <a:lnTo>
                    <a:pt x="208" y="69"/>
                  </a:lnTo>
                  <a:lnTo>
                    <a:pt x="207" y="72"/>
                  </a:lnTo>
                  <a:lnTo>
                    <a:pt x="206" y="75"/>
                  </a:lnTo>
                  <a:lnTo>
                    <a:pt x="203" y="76"/>
                  </a:lnTo>
                  <a:lnTo>
                    <a:pt x="200" y="77"/>
                  </a:lnTo>
                  <a:lnTo>
                    <a:pt x="200" y="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grpSp>
      <p:grpSp>
        <p:nvGrpSpPr>
          <p:cNvPr id="43" name="Group 42">
            <a:extLst>
              <a:ext uri="{FF2B5EF4-FFF2-40B4-BE49-F238E27FC236}">
                <a16:creationId xmlns:a16="http://schemas.microsoft.com/office/drawing/2014/main" id="{C3F17615-8FA6-9986-0306-BEDE5D7D15E1}"/>
              </a:ext>
            </a:extLst>
          </p:cNvPr>
          <p:cNvGrpSpPr>
            <a:grpSpLocks noChangeAspect="1"/>
          </p:cNvGrpSpPr>
          <p:nvPr/>
        </p:nvGrpSpPr>
        <p:grpSpPr>
          <a:xfrm>
            <a:off x="578689" y="4309920"/>
            <a:ext cx="274682" cy="310070"/>
            <a:chOff x="6842126" y="4271963"/>
            <a:chExt cx="258763" cy="292100"/>
          </a:xfrm>
          <a:solidFill>
            <a:schemeClr val="tx2"/>
          </a:solidFill>
        </p:grpSpPr>
        <p:sp>
          <p:nvSpPr>
            <p:cNvPr id="44" name="Freeform 180">
              <a:extLst>
                <a:ext uri="{FF2B5EF4-FFF2-40B4-BE49-F238E27FC236}">
                  <a16:creationId xmlns:a16="http://schemas.microsoft.com/office/drawing/2014/main" id="{03909099-B286-D45E-CF54-C43927DDEC69}"/>
                </a:ext>
              </a:extLst>
            </p:cNvPr>
            <p:cNvSpPr>
              <a:spLocks/>
            </p:cNvSpPr>
            <p:nvPr/>
          </p:nvSpPr>
          <p:spPr bwMode="auto">
            <a:xfrm>
              <a:off x="6870701" y="4271963"/>
              <a:ext cx="200025" cy="127000"/>
            </a:xfrm>
            <a:custGeom>
              <a:avLst/>
              <a:gdLst>
                <a:gd name="T0" fmla="*/ 130 w 251"/>
                <a:gd name="T1" fmla="*/ 44 h 160"/>
                <a:gd name="T2" fmla="*/ 130 w 251"/>
                <a:gd name="T3" fmla="*/ 5 h 160"/>
                <a:gd name="T4" fmla="*/ 130 w 251"/>
                <a:gd name="T5" fmla="*/ 5 h 160"/>
                <a:gd name="T6" fmla="*/ 130 w 251"/>
                <a:gd name="T7" fmla="*/ 4 h 160"/>
                <a:gd name="T8" fmla="*/ 129 w 251"/>
                <a:gd name="T9" fmla="*/ 1 h 160"/>
                <a:gd name="T10" fmla="*/ 127 w 251"/>
                <a:gd name="T11" fmla="*/ 1 h 160"/>
                <a:gd name="T12" fmla="*/ 125 w 251"/>
                <a:gd name="T13" fmla="*/ 0 h 160"/>
                <a:gd name="T14" fmla="*/ 125 w 251"/>
                <a:gd name="T15" fmla="*/ 0 h 160"/>
                <a:gd name="T16" fmla="*/ 123 w 251"/>
                <a:gd name="T17" fmla="*/ 1 h 160"/>
                <a:gd name="T18" fmla="*/ 121 w 251"/>
                <a:gd name="T19" fmla="*/ 1 h 160"/>
                <a:gd name="T20" fmla="*/ 121 w 251"/>
                <a:gd name="T21" fmla="*/ 4 h 160"/>
                <a:gd name="T22" fmla="*/ 119 w 251"/>
                <a:gd name="T23" fmla="*/ 5 h 160"/>
                <a:gd name="T24" fmla="*/ 119 w 251"/>
                <a:gd name="T25" fmla="*/ 44 h 160"/>
                <a:gd name="T26" fmla="*/ 119 w 251"/>
                <a:gd name="T27" fmla="*/ 44 h 160"/>
                <a:gd name="T28" fmla="*/ 108 w 251"/>
                <a:gd name="T29" fmla="*/ 45 h 160"/>
                <a:gd name="T30" fmla="*/ 96 w 251"/>
                <a:gd name="T31" fmla="*/ 48 h 160"/>
                <a:gd name="T32" fmla="*/ 86 w 251"/>
                <a:gd name="T33" fmla="*/ 51 h 160"/>
                <a:gd name="T34" fmla="*/ 75 w 251"/>
                <a:gd name="T35" fmla="*/ 55 h 160"/>
                <a:gd name="T36" fmla="*/ 64 w 251"/>
                <a:gd name="T37" fmla="*/ 60 h 160"/>
                <a:gd name="T38" fmla="*/ 55 w 251"/>
                <a:gd name="T39" fmla="*/ 66 h 160"/>
                <a:gd name="T40" fmla="*/ 47 w 251"/>
                <a:gd name="T41" fmla="*/ 72 h 160"/>
                <a:gd name="T42" fmla="*/ 37 w 251"/>
                <a:gd name="T43" fmla="*/ 79 h 160"/>
                <a:gd name="T44" fmla="*/ 31 w 251"/>
                <a:gd name="T45" fmla="*/ 87 h 160"/>
                <a:gd name="T46" fmla="*/ 23 w 251"/>
                <a:gd name="T47" fmla="*/ 96 h 160"/>
                <a:gd name="T48" fmla="*/ 17 w 251"/>
                <a:gd name="T49" fmla="*/ 106 h 160"/>
                <a:gd name="T50" fmla="*/ 12 w 251"/>
                <a:gd name="T51" fmla="*/ 115 h 160"/>
                <a:gd name="T52" fmla="*/ 6 w 251"/>
                <a:gd name="T53" fmla="*/ 126 h 160"/>
                <a:gd name="T54" fmla="*/ 4 w 251"/>
                <a:gd name="T55" fmla="*/ 137 h 160"/>
                <a:gd name="T56" fmla="*/ 1 w 251"/>
                <a:gd name="T57" fmla="*/ 147 h 160"/>
                <a:gd name="T58" fmla="*/ 0 w 251"/>
                <a:gd name="T59" fmla="*/ 160 h 160"/>
                <a:gd name="T60" fmla="*/ 251 w 251"/>
                <a:gd name="T61" fmla="*/ 160 h 160"/>
                <a:gd name="T62" fmla="*/ 251 w 251"/>
                <a:gd name="T63" fmla="*/ 160 h 160"/>
                <a:gd name="T64" fmla="*/ 249 w 251"/>
                <a:gd name="T65" fmla="*/ 147 h 160"/>
                <a:gd name="T66" fmla="*/ 247 w 251"/>
                <a:gd name="T67" fmla="*/ 137 h 160"/>
                <a:gd name="T68" fmla="*/ 243 w 251"/>
                <a:gd name="T69" fmla="*/ 126 h 160"/>
                <a:gd name="T70" fmla="*/ 239 w 251"/>
                <a:gd name="T71" fmla="*/ 115 h 160"/>
                <a:gd name="T72" fmla="*/ 233 w 251"/>
                <a:gd name="T73" fmla="*/ 106 h 160"/>
                <a:gd name="T74" fmla="*/ 227 w 251"/>
                <a:gd name="T75" fmla="*/ 96 h 160"/>
                <a:gd name="T76" fmla="*/ 220 w 251"/>
                <a:gd name="T77" fmla="*/ 87 h 160"/>
                <a:gd name="T78" fmla="*/ 212 w 251"/>
                <a:gd name="T79" fmla="*/ 79 h 160"/>
                <a:gd name="T80" fmla="*/ 204 w 251"/>
                <a:gd name="T81" fmla="*/ 72 h 160"/>
                <a:gd name="T82" fmla="*/ 194 w 251"/>
                <a:gd name="T83" fmla="*/ 66 h 160"/>
                <a:gd name="T84" fmla="*/ 185 w 251"/>
                <a:gd name="T85" fmla="*/ 60 h 160"/>
                <a:gd name="T86" fmla="*/ 176 w 251"/>
                <a:gd name="T87" fmla="*/ 55 h 160"/>
                <a:gd name="T88" fmla="*/ 165 w 251"/>
                <a:gd name="T89" fmla="*/ 51 h 160"/>
                <a:gd name="T90" fmla="*/ 154 w 251"/>
                <a:gd name="T91" fmla="*/ 48 h 160"/>
                <a:gd name="T92" fmla="*/ 142 w 251"/>
                <a:gd name="T93" fmla="*/ 45 h 160"/>
                <a:gd name="T94" fmla="*/ 130 w 251"/>
                <a:gd name="T95" fmla="*/ 44 h 160"/>
                <a:gd name="T96" fmla="*/ 130 w 251"/>
                <a:gd name="T97" fmla="*/ 4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1" h="160">
                  <a:moveTo>
                    <a:pt x="130" y="44"/>
                  </a:moveTo>
                  <a:lnTo>
                    <a:pt x="130" y="5"/>
                  </a:lnTo>
                  <a:lnTo>
                    <a:pt x="130" y="5"/>
                  </a:lnTo>
                  <a:lnTo>
                    <a:pt x="130" y="4"/>
                  </a:lnTo>
                  <a:lnTo>
                    <a:pt x="129" y="1"/>
                  </a:lnTo>
                  <a:lnTo>
                    <a:pt x="127" y="1"/>
                  </a:lnTo>
                  <a:lnTo>
                    <a:pt x="125" y="0"/>
                  </a:lnTo>
                  <a:lnTo>
                    <a:pt x="125" y="0"/>
                  </a:lnTo>
                  <a:lnTo>
                    <a:pt x="123" y="1"/>
                  </a:lnTo>
                  <a:lnTo>
                    <a:pt x="121" y="1"/>
                  </a:lnTo>
                  <a:lnTo>
                    <a:pt x="121" y="4"/>
                  </a:lnTo>
                  <a:lnTo>
                    <a:pt x="119" y="5"/>
                  </a:lnTo>
                  <a:lnTo>
                    <a:pt x="119" y="44"/>
                  </a:lnTo>
                  <a:lnTo>
                    <a:pt x="119" y="44"/>
                  </a:lnTo>
                  <a:lnTo>
                    <a:pt x="108" y="45"/>
                  </a:lnTo>
                  <a:lnTo>
                    <a:pt x="96" y="48"/>
                  </a:lnTo>
                  <a:lnTo>
                    <a:pt x="86" y="51"/>
                  </a:lnTo>
                  <a:lnTo>
                    <a:pt x="75" y="55"/>
                  </a:lnTo>
                  <a:lnTo>
                    <a:pt x="64" y="60"/>
                  </a:lnTo>
                  <a:lnTo>
                    <a:pt x="55" y="66"/>
                  </a:lnTo>
                  <a:lnTo>
                    <a:pt x="47" y="72"/>
                  </a:lnTo>
                  <a:lnTo>
                    <a:pt x="37" y="79"/>
                  </a:lnTo>
                  <a:lnTo>
                    <a:pt x="31" y="87"/>
                  </a:lnTo>
                  <a:lnTo>
                    <a:pt x="23" y="96"/>
                  </a:lnTo>
                  <a:lnTo>
                    <a:pt x="17" y="106"/>
                  </a:lnTo>
                  <a:lnTo>
                    <a:pt x="12" y="115"/>
                  </a:lnTo>
                  <a:lnTo>
                    <a:pt x="6" y="126"/>
                  </a:lnTo>
                  <a:lnTo>
                    <a:pt x="4" y="137"/>
                  </a:lnTo>
                  <a:lnTo>
                    <a:pt x="1" y="147"/>
                  </a:lnTo>
                  <a:lnTo>
                    <a:pt x="0" y="160"/>
                  </a:lnTo>
                  <a:lnTo>
                    <a:pt x="251" y="160"/>
                  </a:lnTo>
                  <a:lnTo>
                    <a:pt x="251" y="160"/>
                  </a:lnTo>
                  <a:lnTo>
                    <a:pt x="249" y="147"/>
                  </a:lnTo>
                  <a:lnTo>
                    <a:pt x="247" y="137"/>
                  </a:lnTo>
                  <a:lnTo>
                    <a:pt x="243" y="126"/>
                  </a:lnTo>
                  <a:lnTo>
                    <a:pt x="239" y="115"/>
                  </a:lnTo>
                  <a:lnTo>
                    <a:pt x="233" y="106"/>
                  </a:lnTo>
                  <a:lnTo>
                    <a:pt x="227" y="96"/>
                  </a:lnTo>
                  <a:lnTo>
                    <a:pt x="220" y="87"/>
                  </a:lnTo>
                  <a:lnTo>
                    <a:pt x="212" y="79"/>
                  </a:lnTo>
                  <a:lnTo>
                    <a:pt x="204" y="72"/>
                  </a:lnTo>
                  <a:lnTo>
                    <a:pt x="194" y="66"/>
                  </a:lnTo>
                  <a:lnTo>
                    <a:pt x="185" y="60"/>
                  </a:lnTo>
                  <a:lnTo>
                    <a:pt x="176" y="55"/>
                  </a:lnTo>
                  <a:lnTo>
                    <a:pt x="165" y="51"/>
                  </a:lnTo>
                  <a:lnTo>
                    <a:pt x="154" y="48"/>
                  </a:lnTo>
                  <a:lnTo>
                    <a:pt x="142" y="45"/>
                  </a:lnTo>
                  <a:lnTo>
                    <a:pt x="130" y="44"/>
                  </a:lnTo>
                  <a:lnTo>
                    <a:pt x="130"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45" name="Rectangle 181">
              <a:extLst>
                <a:ext uri="{FF2B5EF4-FFF2-40B4-BE49-F238E27FC236}">
                  <a16:creationId xmlns:a16="http://schemas.microsoft.com/office/drawing/2014/main" id="{EE1746EC-998D-6599-834D-6BD0DC0B9361}"/>
                </a:ext>
              </a:extLst>
            </p:cNvPr>
            <p:cNvSpPr>
              <a:spLocks noChangeArrowheads="1"/>
            </p:cNvSpPr>
            <p:nvPr/>
          </p:nvSpPr>
          <p:spPr bwMode="auto">
            <a:xfrm>
              <a:off x="6865938" y="4454525"/>
              <a:ext cx="444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46" name="Rectangle 182">
              <a:extLst>
                <a:ext uri="{FF2B5EF4-FFF2-40B4-BE49-F238E27FC236}">
                  <a16:creationId xmlns:a16="http://schemas.microsoft.com/office/drawing/2014/main" id="{8457AA4A-F950-A453-EC55-D526A17C98C3}"/>
                </a:ext>
              </a:extLst>
            </p:cNvPr>
            <p:cNvSpPr>
              <a:spLocks noChangeArrowheads="1"/>
            </p:cNvSpPr>
            <p:nvPr/>
          </p:nvSpPr>
          <p:spPr bwMode="auto">
            <a:xfrm>
              <a:off x="6921501" y="4454525"/>
              <a:ext cx="428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47" name="Rectangle 183">
              <a:extLst>
                <a:ext uri="{FF2B5EF4-FFF2-40B4-BE49-F238E27FC236}">
                  <a16:creationId xmlns:a16="http://schemas.microsoft.com/office/drawing/2014/main" id="{933D1B9F-4F92-54D9-8543-47168AC278BB}"/>
                </a:ext>
              </a:extLst>
            </p:cNvPr>
            <p:cNvSpPr>
              <a:spLocks noChangeArrowheads="1"/>
            </p:cNvSpPr>
            <p:nvPr/>
          </p:nvSpPr>
          <p:spPr bwMode="auto">
            <a:xfrm>
              <a:off x="6977063" y="4454525"/>
              <a:ext cx="428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48" name="Rectangle 184">
              <a:extLst>
                <a:ext uri="{FF2B5EF4-FFF2-40B4-BE49-F238E27FC236}">
                  <a16:creationId xmlns:a16="http://schemas.microsoft.com/office/drawing/2014/main" id="{EE7F7A46-4521-0C9D-7D70-D766707FDC57}"/>
                </a:ext>
              </a:extLst>
            </p:cNvPr>
            <p:cNvSpPr>
              <a:spLocks noChangeArrowheads="1"/>
            </p:cNvSpPr>
            <p:nvPr/>
          </p:nvSpPr>
          <p:spPr bwMode="auto">
            <a:xfrm>
              <a:off x="7031038" y="4454525"/>
              <a:ext cx="444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49" name="Freeform 185">
              <a:extLst>
                <a:ext uri="{FF2B5EF4-FFF2-40B4-BE49-F238E27FC236}">
                  <a16:creationId xmlns:a16="http://schemas.microsoft.com/office/drawing/2014/main" id="{86045076-4AE0-DAD4-B547-0DC625E5BDBC}"/>
                </a:ext>
              </a:extLst>
            </p:cNvPr>
            <p:cNvSpPr>
              <a:spLocks/>
            </p:cNvSpPr>
            <p:nvPr/>
          </p:nvSpPr>
          <p:spPr bwMode="auto">
            <a:xfrm>
              <a:off x="6845301" y="4411663"/>
              <a:ext cx="252413" cy="30163"/>
            </a:xfrm>
            <a:custGeom>
              <a:avLst/>
              <a:gdLst>
                <a:gd name="T0" fmla="*/ 6 w 318"/>
                <a:gd name="T1" fmla="*/ 39 h 39"/>
                <a:gd name="T2" fmla="*/ 313 w 318"/>
                <a:gd name="T3" fmla="*/ 39 h 39"/>
                <a:gd name="T4" fmla="*/ 313 w 318"/>
                <a:gd name="T5" fmla="*/ 39 h 39"/>
                <a:gd name="T6" fmla="*/ 314 w 318"/>
                <a:gd name="T7" fmla="*/ 39 h 39"/>
                <a:gd name="T8" fmla="*/ 317 w 318"/>
                <a:gd name="T9" fmla="*/ 37 h 39"/>
                <a:gd name="T10" fmla="*/ 318 w 318"/>
                <a:gd name="T11" fmla="*/ 35 h 39"/>
                <a:gd name="T12" fmla="*/ 318 w 318"/>
                <a:gd name="T13" fmla="*/ 33 h 39"/>
                <a:gd name="T14" fmla="*/ 318 w 318"/>
                <a:gd name="T15" fmla="*/ 5 h 39"/>
                <a:gd name="T16" fmla="*/ 318 w 318"/>
                <a:gd name="T17" fmla="*/ 5 h 39"/>
                <a:gd name="T18" fmla="*/ 318 w 318"/>
                <a:gd name="T19" fmla="*/ 4 h 39"/>
                <a:gd name="T20" fmla="*/ 317 w 318"/>
                <a:gd name="T21" fmla="*/ 2 h 39"/>
                <a:gd name="T22" fmla="*/ 314 w 318"/>
                <a:gd name="T23" fmla="*/ 1 h 39"/>
                <a:gd name="T24" fmla="*/ 313 w 318"/>
                <a:gd name="T25" fmla="*/ 0 h 39"/>
                <a:gd name="T26" fmla="*/ 6 w 318"/>
                <a:gd name="T27" fmla="*/ 0 h 39"/>
                <a:gd name="T28" fmla="*/ 6 w 318"/>
                <a:gd name="T29" fmla="*/ 0 h 39"/>
                <a:gd name="T30" fmla="*/ 3 w 318"/>
                <a:gd name="T31" fmla="*/ 1 h 39"/>
                <a:gd name="T32" fmla="*/ 1 w 318"/>
                <a:gd name="T33" fmla="*/ 2 h 39"/>
                <a:gd name="T34" fmla="*/ 0 w 318"/>
                <a:gd name="T35" fmla="*/ 4 h 39"/>
                <a:gd name="T36" fmla="*/ 0 w 318"/>
                <a:gd name="T37" fmla="*/ 5 h 39"/>
                <a:gd name="T38" fmla="*/ 0 w 318"/>
                <a:gd name="T39" fmla="*/ 33 h 39"/>
                <a:gd name="T40" fmla="*/ 0 w 318"/>
                <a:gd name="T41" fmla="*/ 33 h 39"/>
                <a:gd name="T42" fmla="*/ 0 w 318"/>
                <a:gd name="T43" fmla="*/ 35 h 39"/>
                <a:gd name="T44" fmla="*/ 1 w 318"/>
                <a:gd name="T45" fmla="*/ 37 h 39"/>
                <a:gd name="T46" fmla="*/ 3 w 318"/>
                <a:gd name="T47" fmla="*/ 39 h 39"/>
                <a:gd name="T48" fmla="*/ 6 w 318"/>
                <a:gd name="T49" fmla="*/ 39 h 39"/>
                <a:gd name="T50" fmla="*/ 6 w 318"/>
                <a:gd name="T5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18" h="39">
                  <a:moveTo>
                    <a:pt x="6" y="39"/>
                  </a:moveTo>
                  <a:lnTo>
                    <a:pt x="313" y="39"/>
                  </a:lnTo>
                  <a:lnTo>
                    <a:pt x="313" y="39"/>
                  </a:lnTo>
                  <a:lnTo>
                    <a:pt x="314" y="39"/>
                  </a:lnTo>
                  <a:lnTo>
                    <a:pt x="317" y="37"/>
                  </a:lnTo>
                  <a:lnTo>
                    <a:pt x="318" y="35"/>
                  </a:lnTo>
                  <a:lnTo>
                    <a:pt x="318" y="33"/>
                  </a:lnTo>
                  <a:lnTo>
                    <a:pt x="318" y="5"/>
                  </a:lnTo>
                  <a:lnTo>
                    <a:pt x="318" y="5"/>
                  </a:lnTo>
                  <a:lnTo>
                    <a:pt x="318" y="4"/>
                  </a:lnTo>
                  <a:lnTo>
                    <a:pt x="317" y="2"/>
                  </a:lnTo>
                  <a:lnTo>
                    <a:pt x="314" y="1"/>
                  </a:lnTo>
                  <a:lnTo>
                    <a:pt x="313" y="0"/>
                  </a:lnTo>
                  <a:lnTo>
                    <a:pt x="6" y="0"/>
                  </a:lnTo>
                  <a:lnTo>
                    <a:pt x="6" y="0"/>
                  </a:lnTo>
                  <a:lnTo>
                    <a:pt x="3" y="1"/>
                  </a:lnTo>
                  <a:lnTo>
                    <a:pt x="1" y="2"/>
                  </a:lnTo>
                  <a:lnTo>
                    <a:pt x="0" y="4"/>
                  </a:lnTo>
                  <a:lnTo>
                    <a:pt x="0" y="5"/>
                  </a:lnTo>
                  <a:lnTo>
                    <a:pt x="0" y="33"/>
                  </a:lnTo>
                  <a:lnTo>
                    <a:pt x="0" y="33"/>
                  </a:lnTo>
                  <a:lnTo>
                    <a:pt x="0" y="35"/>
                  </a:lnTo>
                  <a:lnTo>
                    <a:pt x="1" y="37"/>
                  </a:lnTo>
                  <a:lnTo>
                    <a:pt x="3" y="39"/>
                  </a:lnTo>
                  <a:lnTo>
                    <a:pt x="6" y="39"/>
                  </a:lnTo>
                  <a:lnTo>
                    <a:pt x="6"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50" name="Freeform 186">
              <a:extLst>
                <a:ext uri="{FF2B5EF4-FFF2-40B4-BE49-F238E27FC236}">
                  <a16:creationId xmlns:a16="http://schemas.microsoft.com/office/drawing/2014/main" id="{9DB419D0-6525-5682-1883-E7B365583292}"/>
                </a:ext>
              </a:extLst>
            </p:cNvPr>
            <p:cNvSpPr>
              <a:spLocks/>
            </p:cNvSpPr>
            <p:nvPr/>
          </p:nvSpPr>
          <p:spPr bwMode="auto">
            <a:xfrm>
              <a:off x="6842126" y="4549775"/>
              <a:ext cx="258763" cy="14288"/>
            </a:xfrm>
            <a:custGeom>
              <a:avLst/>
              <a:gdLst>
                <a:gd name="T0" fmla="*/ 317 w 326"/>
                <a:gd name="T1" fmla="*/ 0 h 19"/>
                <a:gd name="T2" fmla="*/ 10 w 326"/>
                <a:gd name="T3" fmla="*/ 0 h 19"/>
                <a:gd name="T4" fmla="*/ 10 w 326"/>
                <a:gd name="T5" fmla="*/ 0 h 19"/>
                <a:gd name="T6" fmla="*/ 5 w 326"/>
                <a:gd name="T7" fmla="*/ 0 h 19"/>
                <a:gd name="T8" fmla="*/ 3 w 326"/>
                <a:gd name="T9" fmla="*/ 3 h 19"/>
                <a:gd name="T10" fmla="*/ 0 w 326"/>
                <a:gd name="T11" fmla="*/ 6 h 19"/>
                <a:gd name="T12" fmla="*/ 0 w 326"/>
                <a:gd name="T13" fmla="*/ 10 h 19"/>
                <a:gd name="T14" fmla="*/ 0 w 326"/>
                <a:gd name="T15" fmla="*/ 10 h 19"/>
                <a:gd name="T16" fmla="*/ 0 w 326"/>
                <a:gd name="T17" fmla="*/ 12 h 19"/>
                <a:gd name="T18" fmla="*/ 3 w 326"/>
                <a:gd name="T19" fmla="*/ 16 h 19"/>
                <a:gd name="T20" fmla="*/ 5 w 326"/>
                <a:gd name="T21" fmla="*/ 18 h 19"/>
                <a:gd name="T22" fmla="*/ 10 w 326"/>
                <a:gd name="T23" fmla="*/ 19 h 19"/>
                <a:gd name="T24" fmla="*/ 317 w 326"/>
                <a:gd name="T25" fmla="*/ 19 h 19"/>
                <a:gd name="T26" fmla="*/ 317 w 326"/>
                <a:gd name="T27" fmla="*/ 19 h 19"/>
                <a:gd name="T28" fmla="*/ 321 w 326"/>
                <a:gd name="T29" fmla="*/ 18 h 19"/>
                <a:gd name="T30" fmla="*/ 324 w 326"/>
                <a:gd name="T31" fmla="*/ 16 h 19"/>
                <a:gd name="T32" fmla="*/ 325 w 326"/>
                <a:gd name="T33" fmla="*/ 12 h 19"/>
                <a:gd name="T34" fmla="*/ 326 w 326"/>
                <a:gd name="T35" fmla="*/ 10 h 19"/>
                <a:gd name="T36" fmla="*/ 326 w 326"/>
                <a:gd name="T37" fmla="*/ 10 h 19"/>
                <a:gd name="T38" fmla="*/ 325 w 326"/>
                <a:gd name="T39" fmla="*/ 6 h 19"/>
                <a:gd name="T40" fmla="*/ 324 w 326"/>
                <a:gd name="T41" fmla="*/ 3 h 19"/>
                <a:gd name="T42" fmla="*/ 321 w 326"/>
                <a:gd name="T43" fmla="*/ 0 h 19"/>
                <a:gd name="T44" fmla="*/ 317 w 326"/>
                <a:gd name="T45" fmla="*/ 0 h 19"/>
                <a:gd name="T46" fmla="*/ 317 w 326"/>
                <a:gd name="T4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6" h="19">
                  <a:moveTo>
                    <a:pt x="317" y="0"/>
                  </a:moveTo>
                  <a:lnTo>
                    <a:pt x="10" y="0"/>
                  </a:lnTo>
                  <a:lnTo>
                    <a:pt x="10" y="0"/>
                  </a:lnTo>
                  <a:lnTo>
                    <a:pt x="5" y="0"/>
                  </a:lnTo>
                  <a:lnTo>
                    <a:pt x="3" y="3"/>
                  </a:lnTo>
                  <a:lnTo>
                    <a:pt x="0" y="6"/>
                  </a:lnTo>
                  <a:lnTo>
                    <a:pt x="0" y="10"/>
                  </a:lnTo>
                  <a:lnTo>
                    <a:pt x="0" y="10"/>
                  </a:lnTo>
                  <a:lnTo>
                    <a:pt x="0" y="12"/>
                  </a:lnTo>
                  <a:lnTo>
                    <a:pt x="3" y="16"/>
                  </a:lnTo>
                  <a:lnTo>
                    <a:pt x="5" y="18"/>
                  </a:lnTo>
                  <a:lnTo>
                    <a:pt x="10" y="19"/>
                  </a:lnTo>
                  <a:lnTo>
                    <a:pt x="317" y="19"/>
                  </a:lnTo>
                  <a:lnTo>
                    <a:pt x="317" y="19"/>
                  </a:lnTo>
                  <a:lnTo>
                    <a:pt x="321" y="18"/>
                  </a:lnTo>
                  <a:lnTo>
                    <a:pt x="324" y="16"/>
                  </a:lnTo>
                  <a:lnTo>
                    <a:pt x="325" y="12"/>
                  </a:lnTo>
                  <a:lnTo>
                    <a:pt x="326" y="10"/>
                  </a:lnTo>
                  <a:lnTo>
                    <a:pt x="326" y="10"/>
                  </a:lnTo>
                  <a:lnTo>
                    <a:pt x="325" y="6"/>
                  </a:lnTo>
                  <a:lnTo>
                    <a:pt x="324" y="3"/>
                  </a:lnTo>
                  <a:lnTo>
                    <a:pt x="321" y="0"/>
                  </a:lnTo>
                  <a:lnTo>
                    <a:pt x="317" y="0"/>
                  </a:lnTo>
                  <a:lnTo>
                    <a:pt x="3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grpSp>
      <p:grpSp>
        <p:nvGrpSpPr>
          <p:cNvPr id="51" name="Group 50">
            <a:extLst>
              <a:ext uri="{FF2B5EF4-FFF2-40B4-BE49-F238E27FC236}">
                <a16:creationId xmlns:a16="http://schemas.microsoft.com/office/drawing/2014/main" id="{1195F14B-D9BF-0A37-06CC-7B5919CFAAF8}"/>
              </a:ext>
            </a:extLst>
          </p:cNvPr>
          <p:cNvGrpSpPr>
            <a:grpSpLocks noChangeAspect="1"/>
          </p:cNvGrpSpPr>
          <p:nvPr/>
        </p:nvGrpSpPr>
        <p:grpSpPr>
          <a:xfrm>
            <a:off x="574884" y="5106080"/>
            <a:ext cx="292443" cy="290670"/>
            <a:chOff x="4222751" y="1801813"/>
            <a:chExt cx="261938" cy="260350"/>
          </a:xfrm>
          <a:solidFill>
            <a:schemeClr val="tx2"/>
          </a:solidFill>
        </p:grpSpPr>
        <p:sp>
          <p:nvSpPr>
            <p:cNvPr id="52" name="Freeform 176">
              <a:extLst>
                <a:ext uri="{FF2B5EF4-FFF2-40B4-BE49-F238E27FC236}">
                  <a16:creationId xmlns:a16="http://schemas.microsoft.com/office/drawing/2014/main" id="{EDAE9159-79AD-DB60-D984-4B9440B35755}"/>
                </a:ext>
              </a:extLst>
            </p:cNvPr>
            <p:cNvSpPr>
              <a:spLocks noEditPoints="1"/>
            </p:cNvSpPr>
            <p:nvPr/>
          </p:nvSpPr>
          <p:spPr bwMode="auto">
            <a:xfrm>
              <a:off x="4222751" y="1801813"/>
              <a:ext cx="128588" cy="192088"/>
            </a:xfrm>
            <a:custGeom>
              <a:avLst/>
              <a:gdLst>
                <a:gd name="T0" fmla="*/ 164 w 164"/>
                <a:gd name="T1" fmla="*/ 20 h 243"/>
                <a:gd name="T2" fmla="*/ 163 w 164"/>
                <a:gd name="T3" fmla="*/ 12 h 243"/>
                <a:gd name="T4" fmla="*/ 152 w 164"/>
                <a:gd name="T5" fmla="*/ 2 h 243"/>
                <a:gd name="T6" fmla="*/ 19 w 164"/>
                <a:gd name="T7" fmla="*/ 0 h 243"/>
                <a:gd name="T8" fmla="*/ 12 w 164"/>
                <a:gd name="T9" fmla="*/ 2 h 243"/>
                <a:gd name="T10" fmla="*/ 1 w 164"/>
                <a:gd name="T11" fmla="*/ 12 h 243"/>
                <a:gd name="T12" fmla="*/ 0 w 164"/>
                <a:gd name="T13" fmla="*/ 223 h 243"/>
                <a:gd name="T14" fmla="*/ 1 w 164"/>
                <a:gd name="T15" fmla="*/ 231 h 243"/>
                <a:gd name="T16" fmla="*/ 12 w 164"/>
                <a:gd name="T17" fmla="*/ 242 h 243"/>
                <a:gd name="T18" fmla="*/ 145 w 164"/>
                <a:gd name="T19" fmla="*/ 243 h 243"/>
                <a:gd name="T20" fmla="*/ 152 w 164"/>
                <a:gd name="T21" fmla="*/ 242 h 243"/>
                <a:gd name="T22" fmla="*/ 163 w 164"/>
                <a:gd name="T23" fmla="*/ 231 h 243"/>
                <a:gd name="T24" fmla="*/ 164 w 164"/>
                <a:gd name="T25" fmla="*/ 223 h 243"/>
                <a:gd name="T26" fmla="*/ 19 w 164"/>
                <a:gd name="T27" fmla="*/ 196 h 243"/>
                <a:gd name="T28" fmla="*/ 15 w 164"/>
                <a:gd name="T29" fmla="*/ 192 h 243"/>
                <a:gd name="T30" fmla="*/ 15 w 164"/>
                <a:gd name="T31" fmla="*/ 19 h 243"/>
                <a:gd name="T32" fmla="*/ 19 w 164"/>
                <a:gd name="T33" fmla="*/ 15 h 243"/>
                <a:gd name="T34" fmla="*/ 147 w 164"/>
                <a:gd name="T35" fmla="*/ 15 h 243"/>
                <a:gd name="T36" fmla="*/ 151 w 164"/>
                <a:gd name="T37" fmla="*/ 19 h 243"/>
                <a:gd name="T38" fmla="*/ 151 w 164"/>
                <a:gd name="T39" fmla="*/ 192 h 243"/>
                <a:gd name="T40" fmla="*/ 147 w 164"/>
                <a:gd name="T41" fmla="*/ 196 h 243"/>
                <a:gd name="T42" fmla="*/ 82 w 164"/>
                <a:gd name="T43" fmla="*/ 235 h 243"/>
                <a:gd name="T44" fmla="*/ 78 w 164"/>
                <a:gd name="T45" fmla="*/ 234 h 243"/>
                <a:gd name="T46" fmla="*/ 71 w 164"/>
                <a:gd name="T47" fmla="*/ 229 h 243"/>
                <a:gd name="T48" fmla="*/ 70 w 164"/>
                <a:gd name="T49" fmla="*/ 223 h 243"/>
                <a:gd name="T50" fmla="*/ 74 w 164"/>
                <a:gd name="T51" fmla="*/ 215 h 243"/>
                <a:gd name="T52" fmla="*/ 82 w 164"/>
                <a:gd name="T53" fmla="*/ 213 h 243"/>
                <a:gd name="T54" fmla="*/ 86 w 164"/>
                <a:gd name="T55" fmla="*/ 213 h 243"/>
                <a:gd name="T56" fmla="*/ 93 w 164"/>
                <a:gd name="T57" fmla="*/ 219 h 243"/>
                <a:gd name="T58" fmla="*/ 94 w 164"/>
                <a:gd name="T59" fmla="*/ 223 h 243"/>
                <a:gd name="T60" fmla="*/ 90 w 164"/>
                <a:gd name="T61" fmla="*/ 231 h 243"/>
                <a:gd name="T62" fmla="*/ 82 w 164"/>
                <a:gd name="T63" fmla="*/ 23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4" h="243">
                  <a:moveTo>
                    <a:pt x="164" y="223"/>
                  </a:moveTo>
                  <a:lnTo>
                    <a:pt x="164" y="20"/>
                  </a:lnTo>
                  <a:lnTo>
                    <a:pt x="164" y="20"/>
                  </a:lnTo>
                  <a:lnTo>
                    <a:pt x="163" y="12"/>
                  </a:lnTo>
                  <a:lnTo>
                    <a:pt x="159" y="6"/>
                  </a:lnTo>
                  <a:lnTo>
                    <a:pt x="152" y="2"/>
                  </a:lnTo>
                  <a:lnTo>
                    <a:pt x="145" y="0"/>
                  </a:lnTo>
                  <a:lnTo>
                    <a:pt x="19" y="0"/>
                  </a:lnTo>
                  <a:lnTo>
                    <a:pt x="19" y="0"/>
                  </a:lnTo>
                  <a:lnTo>
                    <a:pt x="12" y="2"/>
                  </a:lnTo>
                  <a:lnTo>
                    <a:pt x="5" y="6"/>
                  </a:lnTo>
                  <a:lnTo>
                    <a:pt x="1" y="12"/>
                  </a:lnTo>
                  <a:lnTo>
                    <a:pt x="0" y="20"/>
                  </a:lnTo>
                  <a:lnTo>
                    <a:pt x="0" y="223"/>
                  </a:lnTo>
                  <a:lnTo>
                    <a:pt x="0" y="223"/>
                  </a:lnTo>
                  <a:lnTo>
                    <a:pt x="1" y="231"/>
                  </a:lnTo>
                  <a:lnTo>
                    <a:pt x="5" y="238"/>
                  </a:lnTo>
                  <a:lnTo>
                    <a:pt x="12" y="242"/>
                  </a:lnTo>
                  <a:lnTo>
                    <a:pt x="19" y="243"/>
                  </a:lnTo>
                  <a:lnTo>
                    <a:pt x="145" y="243"/>
                  </a:lnTo>
                  <a:lnTo>
                    <a:pt x="145" y="243"/>
                  </a:lnTo>
                  <a:lnTo>
                    <a:pt x="152" y="242"/>
                  </a:lnTo>
                  <a:lnTo>
                    <a:pt x="159" y="238"/>
                  </a:lnTo>
                  <a:lnTo>
                    <a:pt x="163" y="231"/>
                  </a:lnTo>
                  <a:lnTo>
                    <a:pt x="164" y="223"/>
                  </a:lnTo>
                  <a:lnTo>
                    <a:pt x="164" y="223"/>
                  </a:lnTo>
                  <a:close/>
                  <a:moveTo>
                    <a:pt x="19" y="196"/>
                  </a:moveTo>
                  <a:lnTo>
                    <a:pt x="19" y="196"/>
                  </a:lnTo>
                  <a:lnTo>
                    <a:pt x="15" y="195"/>
                  </a:lnTo>
                  <a:lnTo>
                    <a:pt x="15" y="192"/>
                  </a:lnTo>
                  <a:lnTo>
                    <a:pt x="15" y="19"/>
                  </a:lnTo>
                  <a:lnTo>
                    <a:pt x="15" y="19"/>
                  </a:lnTo>
                  <a:lnTo>
                    <a:pt x="15" y="16"/>
                  </a:lnTo>
                  <a:lnTo>
                    <a:pt x="19" y="15"/>
                  </a:lnTo>
                  <a:lnTo>
                    <a:pt x="147" y="15"/>
                  </a:lnTo>
                  <a:lnTo>
                    <a:pt x="147" y="15"/>
                  </a:lnTo>
                  <a:lnTo>
                    <a:pt x="149" y="16"/>
                  </a:lnTo>
                  <a:lnTo>
                    <a:pt x="151" y="19"/>
                  </a:lnTo>
                  <a:lnTo>
                    <a:pt x="151" y="192"/>
                  </a:lnTo>
                  <a:lnTo>
                    <a:pt x="151" y="192"/>
                  </a:lnTo>
                  <a:lnTo>
                    <a:pt x="149" y="195"/>
                  </a:lnTo>
                  <a:lnTo>
                    <a:pt x="147" y="196"/>
                  </a:lnTo>
                  <a:lnTo>
                    <a:pt x="19" y="196"/>
                  </a:lnTo>
                  <a:close/>
                  <a:moveTo>
                    <a:pt x="82" y="235"/>
                  </a:moveTo>
                  <a:lnTo>
                    <a:pt x="82" y="235"/>
                  </a:lnTo>
                  <a:lnTo>
                    <a:pt x="78" y="234"/>
                  </a:lnTo>
                  <a:lnTo>
                    <a:pt x="74" y="231"/>
                  </a:lnTo>
                  <a:lnTo>
                    <a:pt x="71" y="229"/>
                  </a:lnTo>
                  <a:lnTo>
                    <a:pt x="70" y="223"/>
                  </a:lnTo>
                  <a:lnTo>
                    <a:pt x="70" y="223"/>
                  </a:lnTo>
                  <a:lnTo>
                    <a:pt x="71" y="219"/>
                  </a:lnTo>
                  <a:lnTo>
                    <a:pt x="74" y="215"/>
                  </a:lnTo>
                  <a:lnTo>
                    <a:pt x="78" y="213"/>
                  </a:lnTo>
                  <a:lnTo>
                    <a:pt x="82" y="213"/>
                  </a:lnTo>
                  <a:lnTo>
                    <a:pt x="82" y="213"/>
                  </a:lnTo>
                  <a:lnTo>
                    <a:pt x="86" y="213"/>
                  </a:lnTo>
                  <a:lnTo>
                    <a:pt x="90" y="215"/>
                  </a:lnTo>
                  <a:lnTo>
                    <a:pt x="93" y="219"/>
                  </a:lnTo>
                  <a:lnTo>
                    <a:pt x="94" y="223"/>
                  </a:lnTo>
                  <a:lnTo>
                    <a:pt x="94" y="223"/>
                  </a:lnTo>
                  <a:lnTo>
                    <a:pt x="93" y="229"/>
                  </a:lnTo>
                  <a:lnTo>
                    <a:pt x="90" y="231"/>
                  </a:lnTo>
                  <a:lnTo>
                    <a:pt x="86" y="234"/>
                  </a:lnTo>
                  <a:lnTo>
                    <a:pt x="82" y="235"/>
                  </a:lnTo>
                  <a:lnTo>
                    <a:pt x="8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
          <p:nvSpPr>
            <p:cNvPr id="150" name="Freeform 177">
              <a:extLst>
                <a:ext uri="{FF2B5EF4-FFF2-40B4-BE49-F238E27FC236}">
                  <a16:creationId xmlns:a16="http://schemas.microsoft.com/office/drawing/2014/main" id="{10586923-0DBB-9820-E8BC-02477957C6AE}"/>
                </a:ext>
              </a:extLst>
            </p:cNvPr>
            <p:cNvSpPr>
              <a:spLocks/>
            </p:cNvSpPr>
            <p:nvPr/>
          </p:nvSpPr>
          <p:spPr bwMode="auto">
            <a:xfrm>
              <a:off x="4279901" y="1887538"/>
              <a:ext cx="204788" cy="174625"/>
            </a:xfrm>
            <a:custGeom>
              <a:avLst/>
              <a:gdLst>
                <a:gd name="T0" fmla="*/ 236 w 258"/>
                <a:gd name="T1" fmla="*/ 31 h 219"/>
                <a:gd name="T2" fmla="*/ 236 w 258"/>
                <a:gd name="T3" fmla="*/ 9 h 219"/>
                <a:gd name="T4" fmla="*/ 233 w 258"/>
                <a:gd name="T5" fmla="*/ 3 h 219"/>
                <a:gd name="T6" fmla="*/ 227 w 258"/>
                <a:gd name="T7" fmla="*/ 0 h 219"/>
                <a:gd name="T8" fmla="*/ 223 w 258"/>
                <a:gd name="T9" fmla="*/ 0 h 219"/>
                <a:gd name="T10" fmla="*/ 219 w 258"/>
                <a:gd name="T11" fmla="*/ 5 h 219"/>
                <a:gd name="T12" fmla="*/ 217 w 258"/>
                <a:gd name="T13" fmla="*/ 31 h 219"/>
                <a:gd name="T14" fmla="*/ 173 w 258"/>
                <a:gd name="T15" fmla="*/ 9 h 219"/>
                <a:gd name="T16" fmla="*/ 172 w 258"/>
                <a:gd name="T17" fmla="*/ 5 h 219"/>
                <a:gd name="T18" fmla="*/ 168 w 258"/>
                <a:gd name="T19" fmla="*/ 0 h 219"/>
                <a:gd name="T20" fmla="*/ 164 w 258"/>
                <a:gd name="T21" fmla="*/ 0 h 219"/>
                <a:gd name="T22" fmla="*/ 157 w 258"/>
                <a:gd name="T23" fmla="*/ 3 h 219"/>
                <a:gd name="T24" fmla="*/ 154 w 258"/>
                <a:gd name="T25" fmla="*/ 9 h 219"/>
                <a:gd name="T26" fmla="*/ 142 w 258"/>
                <a:gd name="T27" fmla="*/ 31 h 219"/>
                <a:gd name="T28" fmla="*/ 139 w 258"/>
                <a:gd name="T29" fmla="*/ 32 h 219"/>
                <a:gd name="T30" fmla="*/ 134 w 258"/>
                <a:gd name="T31" fmla="*/ 38 h 219"/>
                <a:gd name="T32" fmla="*/ 134 w 258"/>
                <a:gd name="T33" fmla="*/ 40 h 219"/>
                <a:gd name="T34" fmla="*/ 137 w 258"/>
                <a:gd name="T35" fmla="*/ 47 h 219"/>
                <a:gd name="T36" fmla="*/ 142 w 258"/>
                <a:gd name="T37" fmla="*/ 50 h 219"/>
                <a:gd name="T38" fmla="*/ 143 w 258"/>
                <a:gd name="T39" fmla="*/ 73 h 219"/>
                <a:gd name="T40" fmla="*/ 145 w 258"/>
                <a:gd name="T41" fmla="*/ 82 h 219"/>
                <a:gd name="T42" fmla="*/ 151 w 258"/>
                <a:gd name="T43" fmla="*/ 98 h 219"/>
                <a:gd name="T44" fmla="*/ 162 w 258"/>
                <a:gd name="T45" fmla="*/ 112 h 219"/>
                <a:gd name="T46" fmla="*/ 177 w 258"/>
                <a:gd name="T47" fmla="*/ 121 h 219"/>
                <a:gd name="T48" fmla="*/ 186 w 258"/>
                <a:gd name="T49" fmla="*/ 200 h 219"/>
                <a:gd name="T50" fmla="*/ 18 w 258"/>
                <a:gd name="T51" fmla="*/ 157 h 219"/>
                <a:gd name="T52" fmla="*/ 0 w 258"/>
                <a:gd name="T53" fmla="*/ 210 h 219"/>
                <a:gd name="T54" fmla="*/ 1 w 258"/>
                <a:gd name="T55" fmla="*/ 212 h 219"/>
                <a:gd name="T56" fmla="*/ 5 w 258"/>
                <a:gd name="T57" fmla="*/ 218 h 219"/>
                <a:gd name="T58" fmla="*/ 196 w 258"/>
                <a:gd name="T59" fmla="*/ 219 h 219"/>
                <a:gd name="T60" fmla="*/ 198 w 258"/>
                <a:gd name="T61" fmla="*/ 218 h 219"/>
                <a:gd name="T62" fmla="*/ 204 w 258"/>
                <a:gd name="T63" fmla="*/ 212 h 219"/>
                <a:gd name="T64" fmla="*/ 205 w 258"/>
                <a:gd name="T65" fmla="*/ 122 h 219"/>
                <a:gd name="T66" fmla="*/ 213 w 258"/>
                <a:gd name="T67" fmla="*/ 121 h 219"/>
                <a:gd name="T68" fmla="*/ 228 w 258"/>
                <a:gd name="T69" fmla="*/ 112 h 219"/>
                <a:gd name="T70" fmla="*/ 240 w 258"/>
                <a:gd name="T71" fmla="*/ 98 h 219"/>
                <a:gd name="T72" fmla="*/ 245 w 258"/>
                <a:gd name="T73" fmla="*/ 82 h 219"/>
                <a:gd name="T74" fmla="*/ 247 w 258"/>
                <a:gd name="T75" fmla="*/ 50 h 219"/>
                <a:gd name="T76" fmla="*/ 248 w 258"/>
                <a:gd name="T77" fmla="*/ 50 h 219"/>
                <a:gd name="T78" fmla="*/ 255 w 258"/>
                <a:gd name="T79" fmla="*/ 47 h 219"/>
                <a:gd name="T80" fmla="*/ 258 w 258"/>
                <a:gd name="T81" fmla="*/ 40 h 219"/>
                <a:gd name="T82" fmla="*/ 256 w 258"/>
                <a:gd name="T83" fmla="*/ 38 h 219"/>
                <a:gd name="T84" fmla="*/ 252 w 258"/>
                <a:gd name="T85" fmla="*/ 32 h 219"/>
                <a:gd name="T86" fmla="*/ 248 w 258"/>
                <a:gd name="T87" fmla="*/ 3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8" h="219">
                  <a:moveTo>
                    <a:pt x="248" y="31"/>
                  </a:moveTo>
                  <a:lnTo>
                    <a:pt x="236" y="31"/>
                  </a:lnTo>
                  <a:lnTo>
                    <a:pt x="236" y="9"/>
                  </a:lnTo>
                  <a:lnTo>
                    <a:pt x="236" y="9"/>
                  </a:lnTo>
                  <a:lnTo>
                    <a:pt x="236" y="5"/>
                  </a:lnTo>
                  <a:lnTo>
                    <a:pt x="233" y="3"/>
                  </a:lnTo>
                  <a:lnTo>
                    <a:pt x="231" y="0"/>
                  </a:lnTo>
                  <a:lnTo>
                    <a:pt x="227" y="0"/>
                  </a:lnTo>
                  <a:lnTo>
                    <a:pt x="227" y="0"/>
                  </a:lnTo>
                  <a:lnTo>
                    <a:pt x="223" y="0"/>
                  </a:lnTo>
                  <a:lnTo>
                    <a:pt x="220" y="3"/>
                  </a:lnTo>
                  <a:lnTo>
                    <a:pt x="219" y="5"/>
                  </a:lnTo>
                  <a:lnTo>
                    <a:pt x="217" y="9"/>
                  </a:lnTo>
                  <a:lnTo>
                    <a:pt x="217" y="31"/>
                  </a:lnTo>
                  <a:lnTo>
                    <a:pt x="173" y="31"/>
                  </a:lnTo>
                  <a:lnTo>
                    <a:pt x="173" y="9"/>
                  </a:lnTo>
                  <a:lnTo>
                    <a:pt x="173" y="9"/>
                  </a:lnTo>
                  <a:lnTo>
                    <a:pt x="172" y="5"/>
                  </a:lnTo>
                  <a:lnTo>
                    <a:pt x="170" y="3"/>
                  </a:lnTo>
                  <a:lnTo>
                    <a:pt x="168" y="0"/>
                  </a:lnTo>
                  <a:lnTo>
                    <a:pt x="164" y="0"/>
                  </a:lnTo>
                  <a:lnTo>
                    <a:pt x="164" y="0"/>
                  </a:lnTo>
                  <a:lnTo>
                    <a:pt x="159" y="0"/>
                  </a:lnTo>
                  <a:lnTo>
                    <a:pt x="157" y="3"/>
                  </a:lnTo>
                  <a:lnTo>
                    <a:pt x="155" y="5"/>
                  </a:lnTo>
                  <a:lnTo>
                    <a:pt x="154" y="9"/>
                  </a:lnTo>
                  <a:lnTo>
                    <a:pt x="154" y="31"/>
                  </a:lnTo>
                  <a:lnTo>
                    <a:pt x="142" y="31"/>
                  </a:lnTo>
                  <a:lnTo>
                    <a:pt x="142" y="31"/>
                  </a:lnTo>
                  <a:lnTo>
                    <a:pt x="139" y="32"/>
                  </a:lnTo>
                  <a:lnTo>
                    <a:pt x="137" y="34"/>
                  </a:lnTo>
                  <a:lnTo>
                    <a:pt x="134" y="38"/>
                  </a:lnTo>
                  <a:lnTo>
                    <a:pt x="134" y="40"/>
                  </a:lnTo>
                  <a:lnTo>
                    <a:pt x="134" y="40"/>
                  </a:lnTo>
                  <a:lnTo>
                    <a:pt x="134" y="44"/>
                  </a:lnTo>
                  <a:lnTo>
                    <a:pt x="137" y="47"/>
                  </a:lnTo>
                  <a:lnTo>
                    <a:pt x="139" y="50"/>
                  </a:lnTo>
                  <a:lnTo>
                    <a:pt x="142" y="50"/>
                  </a:lnTo>
                  <a:lnTo>
                    <a:pt x="143" y="50"/>
                  </a:lnTo>
                  <a:lnTo>
                    <a:pt x="143" y="73"/>
                  </a:lnTo>
                  <a:lnTo>
                    <a:pt x="143" y="73"/>
                  </a:lnTo>
                  <a:lnTo>
                    <a:pt x="145" y="82"/>
                  </a:lnTo>
                  <a:lnTo>
                    <a:pt x="147" y="90"/>
                  </a:lnTo>
                  <a:lnTo>
                    <a:pt x="151" y="98"/>
                  </a:lnTo>
                  <a:lnTo>
                    <a:pt x="155" y="105"/>
                  </a:lnTo>
                  <a:lnTo>
                    <a:pt x="162" y="112"/>
                  </a:lnTo>
                  <a:lnTo>
                    <a:pt x="169" y="117"/>
                  </a:lnTo>
                  <a:lnTo>
                    <a:pt x="177" y="121"/>
                  </a:lnTo>
                  <a:lnTo>
                    <a:pt x="186" y="122"/>
                  </a:lnTo>
                  <a:lnTo>
                    <a:pt x="186" y="200"/>
                  </a:lnTo>
                  <a:lnTo>
                    <a:pt x="18" y="200"/>
                  </a:lnTo>
                  <a:lnTo>
                    <a:pt x="18" y="157"/>
                  </a:lnTo>
                  <a:lnTo>
                    <a:pt x="0" y="157"/>
                  </a:lnTo>
                  <a:lnTo>
                    <a:pt x="0" y="210"/>
                  </a:lnTo>
                  <a:lnTo>
                    <a:pt x="0" y="210"/>
                  </a:lnTo>
                  <a:lnTo>
                    <a:pt x="1" y="212"/>
                  </a:lnTo>
                  <a:lnTo>
                    <a:pt x="2" y="216"/>
                  </a:lnTo>
                  <a:lnTo>
                    <a:pt x="5" y="218"/>
                  </a:lnTo>
                  <a:lnTo>
                    <a:pt x="9" y="219"/>
                  </a:lnTo>
                  <a:lnTo>
                    <a:pt x="196" y="219"/>
                  </a:lnTo>
                  <a:lnTo>
                    <a:pt x="196" y="219"/>
                  </a:lnTo>
                  <a:lnTo>
                    <a:pt x="198" y="218"/>
                  </a:lnTo>
                  <a:lnTo>
                    <a:pt x="202" y="216"/>
                  </a:lnTo>
                  <a:lnTo>
                    <a:pt x="204" y="212"/>
                  </a:lnTo>
                  <a:lnTo>
                    <a:pt x="205" y="210"/>
                  </a:lnTo>
                  <a:lnTo>
                    <a:pt x="205" y="122"/>
                  </a:lnTo>
                  <a:lnTo>
                    <a:pt x="205" y="122"/>
                  </a:lnTo>
                  <a:lnTo>
                    <a:pt x="213" y="121"/>
                  </a:lnTo>
                  <a:lnTo>
                    <a:pt x="221" y="117"/>
                  </a:lnTo>
                  <a:lnTo>
                    <a:pt x="228" y="112"/>
                  </a:lnTo>
                  <a:lnTo>
                    <a:pt x="235" y="105"/>
                  </a:lnTo>
                  <a:lnTo>
                    <a:pt x="240" y="98"/>
                  </a:lnTo>
                  <a:lnTo>
                    <a:pt x="244" y="90"/>
                  </a:lnTo>
                  <a:lnTo>
                    <a:pt x="245" y="82"/>
                  </a:lnTo>
                  <a:lnTo>
                    <a:pt x="247" y="73"/>
                  </a:lnTo>
                  <a:lnTo>
                    <a:pt x="247" y="50"/>
                  </a:lnTo>
                  <a:lnTo>
                    <a:pt x="248" y="50"/>
                  </a:lnTo>
                  <a:lnTo>
                    <a:pt x="248" y="50"/>
                  </a:lnTo>
                  <a:lnTo>
                    <a:pt x="252" y="50"/>
                  </a:lnTo>
                  <a:lnTo>
                    <a:pt x="255" y="47"/>
                  </a:lnTo>
                  <a:lnTo>
                    <a:pt x="256" y="44"/>
                  </a:lnTo>
                  <a:lnTo>
                    <a:pt x="258" y="40"/>
                  </a:lnTo>
                  <a:lnTo>
                    <a:pt x="258" y="40"/>
                  </a:lnTo>
                  <a:lnTo>
                    <a:pt x="256" y="38"/>
                  </a:lnTo>
                  <a:lnTo>
                    <a:pt x="255" y="34"/>
                  </a:lnTo>
                  <a:lnTo>
                    <a:pt x="252" y="32"/>
                  </a:lnTo>
                  <a:lnTo>
                    <a:pt x="248" y="31"/>
                  </a:lnTo>
                  <a:lnTo>
                    <a:pt x="248"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grpSp>
      <p:sp>
        <p:nvSpPr>
          <p:cNvPr id="151" name="Freeform 226">
            <a:extLst>
              <a:ext uri="{FF2B5EF4-FFF2-40B4-BE49-F238E27FC236}">
                <a16:creationId xmlns:a16="http://schemas.microsoft.com/office/drawing/2014/main" id="{64D7CBBC-02AD-49D6-4E65-BE5C72F28506}"/>
              </a:ext>
            </a:extLst>
          </p:cNvPr>
          <p:cNvSpPr>
            <a:spLocks noEditPoints="1"/>
          </p:cNvSpPr>
          <p:nvPr/>
        </p:nvSpPr>
        <p:spPr bwMode="auto">
          <a:xfrm>
            <a:off x="589931" y="5847751"/>
            <a:ext cx="257827" cy="267475"/>
          </a:xfrm>
          <a:custGeom>
            <a:avLst/>
            <a:gdLst>
              <a:gd name="T0" fmla="*/ 4 w 285"/>
              <a:gd name="T1" fmla="*/ 173 h 293"/>
              <a:gd name="T2" fmla="*/ 12 w 285"/>
              <a:gd name="T3" fmla="*/ 191 h 293"/>
              <a:gd name="T4" fmla="*/ 32 w 285"/>
              <a:gd name="T5" fmla="*/ 198 h 293"/>
              <a:gd name="T6" fmla="*/ 35 w 285"/>
              <a:gd name="T7" fmla="*/ 214 h 293"/>
              <a:gd name="T8" fmla="*/ 56 w 285"/>
              <a:gd name="T9" fmla="*/ 226 h 293"/>
              <a:gd name="T10" fmla="*/ 62 w 285"/>
              <a:gd name="T11" fmla="*/ 241 h 293"/>
              <a:gd name="T12" fmla="*/ 83 w 285"/>
              <a:gd name="T13" fmla="*/ 253 h 293"/>
              <a:gd name="T14" fmla="*/ 89 w 285"/>
              <a:gd name="T15" fmla="*/ 267 h 293"/>
              <a:gd name="T16" fmla="*/ 110 w 285"/>
              <a:gd name="T17" fmla="*/ 279 h 293"/>
              <a:gd name="T18" fmla="*/ 129 w 285"/>
              <a:gd name="T19" fmla="*/ 270 h 293"/>
              <a:gd name="T20" fmla="*/ 161 w 285"/>
              <a:gd name="T21" fmla="*/ 293 h 293"/>
              <a:gd name="T22" fmla="*/ 179 w 285"/>
              <a:gd name="T23" fmla="*/ 285 h 293"/>
              <a:gd name="T24" fmla="*/ 188 w 285"/>
              <a:gd name="T25" fmla="*/ 266 h 293"/>
              <a:gd name="T26" fmla="*/ 205 w 285"/>
              <a:gd name="T27" fmla="*/ 258 h 293"/>
              <a:gd name="T28" fmla="*/ 212 w 285"/>
              <a:gd name="T29" fmla="*/ 238 h 293"/>
              <a:gd name="T30" fmla="*/ 228 w 285"/>
              <a:gd name="T31" fmla="*/ 235 h 293"/>
              <a:gd name="T32" fmla="*/ 239 w 285"/>
              <a:gd name="T33" fmla="*/ 214 h 293"/>
              <a:gd name="T34" fmla="*/ 247 w 285"/>
              <a:gd name="T35" fmla="*/ 211 h 293"/>
              <a:gd name="T36" fmla="*/ 265 w 285"/>
              <a:gd name="T37" fmla="*/ 196 h 293"/>
              <a:gd name="T38" fmla="*/ 259 w 285"/>
              <a:gd name="T39" fmla="*/ 171 h 293"/>
              <a:gd name="T40" fmla="*/ 278 w 285"/>
              <a:gd name="T41" fmla="*/ 137 h 293"/>
              <a:gd name="T42" fmla="*/ 285 w 285"/>
              <a:gd name="T43" fmla="*/ 90 h 293"/>
              <a:gd name="T44" fmla="*/ 263 w 285"/>
              <a:gd name="T45" fmla="*/ 36 h 293"/>
              <a:gd name="T46" fmla="*/ 201 w 285"/>
              <a:gd name="T47" fmla="*/ 1 h 293"/>
              <a:gd name="T48" fmla="*/ 129 w 285"/>
              <a:gd name="T49" fmla="*/ 4 h 293"/>
              <a:gd name="T50" fmla="*/ 42 w 285"/>
              <a:gd name="T51" fmla="*/ 19 h 293"/>
              <a:gd name="T52" fmla="*/ 1 w 285"/>
              <a:gd name="T53" fmla="*/ 89 h 293"/>
              <a:gd name="T54" fmla="*/ 171 w 285"/>
              <a:gd name="T55" fmla="*/ 278 h 293"/>
              <a:gd name="T56" fmla="*/ 136 w 285"/>
              <a:gd name="T57" fmla="*/ 262 h 293"/>
              <a:gd name="T58" fmla="*/ 171 w 285"/>
              <a:gd name="T59" fmla="*/ 258 h 293"/>
              <a:gd name="T60" fmla="*/ 38 w 285"/>
              <a:gd name="T61" fmla="*/ 36 h 293"/>
              <a:gd name="T62" fmla="*/ 94 w 285"/>
              <a:gd name="T63" fmla="*/ 11 h 293"/>
              <a:gd name="T64" fmla="*/ 114 w 285"/>
              <a:gd name="T65" fmla="*/ 30 h 293"/>
              <a:gd name="T66" fmla="*/ 46 w 285"/>
              <a:gd name="T67" fmla="*/ 103 h 293"/>
              <a:gd name="T68" fmla="*/ 81 w 285"/>
              <a:gd name="T69" fmla="*/ 112 h 293"/>
              <a:gd name="T70" fmla="*/ 118 w 285"/>
              <a:gd name="T71" fmla="*/ 93 h 293"/>
              <a:gd name="T72" fmla="*/ 184 w 285"/>
              <a:gd name="T73" fmla="*/ 106 h 293"/>
              <a:gd name="T74" fmla="*/ 251 w 285"/>
              <a:gd name="T75" fmla="*/ 198 h 293"/>
              <a:gd name="T76" fmla="*/ 208 w 285"/>
              <a:gd name="T77" fmla="*/ 173 h 293"/>
              <a:gd name="T78" fmla="*/ 200 w 285"/>
              <a:gd name="T79" fmla="*/ 173 h 293"/>
              <a:gd name="T80" fmla="*/ 224 w 285"/>
              <a:gd name="T81" fmla="*/ 204 h 293"/>
              <a:gd name="T82" fmla="*/ 224 w 285"/>
              <a:gd name="T83" fmla="*/ 224 h 293"/>
              <a:gd name="T84" fmla="*/ 181 w 285"/>
              <a:gd name="T85" fmla="*/ 200 h 293"/>
              <a:gd name="T86" fmla="*/ 172 w 285"/>
              <a:gd name="T87" fmla="*/ 202 h 293"/>
              <a:gd name="T88" fmla="*/ 200 w 285"/>
              <a:gd name="T89" fmla="*/ 236 h 293"/>
              <a:gd name="T90" fmla="*/ 193 w 285"/>
              <a:gd name="T91" fmla="*/ 254 h 293"/>
              <a:gd name="T92" fmla="*/ 146 w 285"/>
              <a:gd name="T93" fmla="*/ 218 h 293"/>
              <a:gd name="T94" fmla="*/ 130 w 285"/>
              <a:gd name="T95" fmla="*/ 210 h 293"/>
              <a:gd name="T96" fmla="*/ 125 w 285"/>
              <a:gd name="T97" fmla="*/ 198 h 293"/>
              <a:gd name="T98" fmla="*/ 107 w 285"/>
              <a:gd name="T99" fmla="*/ 184 h 293"/>
              <a:gd name="T100" fmla="*/ 101 w 285"/>
              <a:gd name="T101" fmla="*/ 180 h 293"/>
              <a:gd name="T102" fmla="*/ 90 w 285"/>
              <a:gd name="T103" fmla="*/ 160 h 293"/>
              <a:gd name="T104" fmla="*/ 74 w 285"/>
              <a:gd name="T105" fmla="*/ 156 h 293"/>
              <a:gd name="T106" fmla="*/ 63 w 285"/>
              <a:gd name="T107" fmla="*/ 133 h 293"/>
              <a:gd name="T108" fmla="*/ 40 w 285"/>
              <a:gd name="T109" fmla="*/ 132 h 293"/>
              <a:gd name="T110" fmla="*/ 13 w 285"/>
              <a:gd name="T111" fmla="*/ 117 h 293"/>
              <a:gd name="T112" fmla="*/ 38 w 285"/>
              <a:gd name="T113" fmla="*/ 36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5" h="293">
                <a:moveTo>
                  <a:pt x="12" y="157"/>
                </a:moveTo>
                <a:lnTo>
                  <a:pt x="12" y="157"/>
                </a:lnTo>
                <a:lnTo>
                  <a:pt x="9" y="160"/>
                </a:lnTo>
                <a:lnTo>
                  <a:pt x="7" y="164"/>
                </a:lnTo>
                <a:lnTo>
                  <a:pt x="5" y="169"/>
                </a:lnTo>
                <a:lnTo>
                  <a:pt x="4" y="173"/>
                </a:lnTo>
                <a:lnTo>
                  <a:pt x="4" y="173"/>
                </a:lnTo>
                <a:lnTo>
                  <a:pt x="5" y="179"/>
                </a:lnTo>
                <a:lnTo>
                  <a:pt x="7" y="183"/>
                </a:lnTo>
                <a:lnTo>
                  <a:pt x="9" y="188"/>
                </a:lnTo>
                <a:lnTo>
                  <a:pt x="12" y="191"/>
                </a:lnTo>
                <a:lnTo>
                  <a:pt x="12" y="191"/>
                </a:lnTo>
                <a:lnTo>
                  <a:pt x="16" y="195"/>
                </a:lnTo>
                <a:lnTo>
                  <a:pt x="20" y="196"/>
                </a:lnTo>
                <a:lnTo>
                  <a:pt x="24" y="198"/>
                </a:lnTo>
                <a:lnTo>
                  <a:pt x="29" y="199"/>
                </a:lnTo>
                <a:lnTo>
                  <a:pt x="29" y="199"/>
                </a:lnTo>
                <a:lnTo>
                  <a:pt x="32" y="198"/>
                </a:lnTo>
                <a:lnTo>
                  <a:pt x="32" y="198"/>
                </a:lnTo>
                <a:lnTo>
                  <a:pt x="31" y="200"/>
                </a:lnTo>
                <a:lnTo>
                  <a:pt x="31" y="200"/>
                </a:lnTo>
                <a:lnTo>
                  <a:pt x="32" y="206"/>
                </a:lnTo>
                <a:lnTo>
                  <a:pt x="33" y="210"/>
                </a:lnTo>
                <a:lnTo>
                  <a:pt x="35" y="214"/>
                </a:lnTo>
                <a:lnTo>
                  <a:pt x="39" y="218"/>
                </a:lnTo>
                <a:lnTo>
                  <a:pt x="39" y="218"/>
                </a:lnTo>
                <a:lnTo>
                  <a:pt x="43" y="222"/>
                </a:lnTo>
                <a:lnTo>
                  <a:pt x="47" y="223"/>
                </a:lnTo>
                <a:lnTo>
                  <a:pt x="51" y="224"/>
                </a:lnTo>
                <a:lnTo>
                  <a:pt x="56" y="226"/>
                </a:lnTo>
                <a:lnTo>
                  <a:pt x="56" y="226"/>
                </a:lnTo>
                <a:lnTo>
                  <a:pt x="59" y="224"/>
                </a:lnTo>
                <a:lnTo>
                  <a:pt x="59" y="224"/>
                </a:lnTo>
                <a:lnTo>
                  <a:pt x="59" y="230"/>
                </a:lnTo>
                <a:lnTo>
                  <a:pt x="59" y="235"/>
                </a:lnTo>
                <a:lnTo>
                  <a:pt x="62" y="241"/>
                </a:lnTo>
                <a:lnTo>
                  <a:pt x="66" y="245"/>
                </a:lnTo>
                <a:lnTo>
                  <a:pt x="66" y="245"/>
                </a:lnTo>
                <a:lnTo>
                  <a:pt x="70" y="249"/>
                </a:lnTo>
                <a:lnTo>
                  <a:pt x="74" y="250"/>
                </a:lnTo>
                <a:lnTo>
                  <a:pt x="78" y="251"/>
                </a:lnTo>
                <a:lnTo>
                  <a:pt x="83" y="253"/>
                </a:lnTo>
                <a:lnTo>
                  <a:pt x="83" y="253"/>
                </a:lnTo>
                <a:lnTo>
                  <a:pt x="86" y="251"/>
                </a:lnTo>
                <a:lnTo>
                  <a:pt x="86" y="251"/>
                </a:lnTo>
                <a:lnTo>
                  <a:pt x="86" y="257"/>
                </a:lnTo>
                <a:lnTo>
                  <a:pt x="86" y="262"/>
                </a:lnTo>
                <a:lnTo>
                  <a:pt x="89" y="267"/>
                </a:lnTo>
                <a:lnTo>
                  <a:pt x="93" y="271"/>
                </a:lnTo>
                <a:lnTo>
                  <a:pt x="93" y="271"/>
                </a:lnTo>
                <a:lnTo>
                  <a:pt x="97" y="275"/>
                </a:lnTo>
                <a:lnTo>
                  <a:pt x="101" y="277"/>
                </a:lnTo>
                <a:lnTo>
                  <a:pt x="105" y="278"/>
                </a:lnTo>
                <a:lnTo>
                  <a:pt x="110" y="279"/>
                </a:lnTo>
                <a:lnTo>
                  <a:pt x="110" y="279"/>
                </a:lnTo>
                <a:lnTo>
                  <a:pt x="114" y="278"/>
                </a:lnTo>
                <a:lnTo>
                  <a:pt x="119" y="277"/>
                </a:lnTo>
                <a:lnTo>
                  <a:pt x="123" y="275"/>
                </a:lnTo>
                <a:lnTo>
                  <a:pt x="126" y="271"/>
                </a:lnTo>
                <a:lnTo>
                  <a:pt x="129" y="270"/>
                </a:lnTo>
                <a:lnTo>
                  <a:pt x="144" y="285"/>
                </a:lnTo>
                <a:lnTo>
                  <a:pt x="144" y="285"/>
                </a:lnTo>
                <a:lnTo>
                  <a:pt x="148" y="289"/>
                </a:lnTo>
                <a:lnTo>
                  <a:pt x="152" y="290"/>
                </a:lnTo>
                <a:lnTo>
                  <a:pt x="156" y="292"/>
                </a:lnTo>
                <a:lnTo>
                  <a:pt x="161" y="293"/>
                </a:lnTo>
                <a:lnTo>
                  <a:pt x="161" y="293"/>
                </a:lnTo>
                <a:lnTo>
                  <a:pt x="166" y="292"/>
                </a:lnTo>
                <a:lnTo>
                  <a:pt x="171" y="290"/>
                </a:lnTo>
                <a:lnTo>
                  <a:pt x="175" y="289"/>
                </a:lnTo>
                <a:lnTo>
                  <a:pt x="179" y="285"/>
                </a:lnTo>
                <a:lnTo>
                  <a:pt x="179" y="285"/>
                </a:lnTo>
                <a:lnTo>
                  <a:pt x="181" y="281"/>
                </a:lnTo>
                <a:lnTo>
                  <a:pt x="184" y="275"/>
                </a:lnTo>
                <a:lnTo>
                  <a:pt x="185" y="270"/>
                </a:lnTo>
                <a:lnTo>
                  <a:pt x="185" y="265"/>
                </a:lnTo>
                <a:lnTo>
                  <a:pt x="185" y="265"/>
                </a:lnTo>
                <a:lnTo>
                  <a:pt x="188" y="266"/>
                </a:lnTo>
                <a:lnTo>
                  <a:pt x="188" y="266"/>
                </a:lnTo>
                <a:lnTo>
                  <a:pt x="193" y="265"/>
                </a:lnTo>
                <a:lnTo>
                  <a:pt x="197" y="263"/>
                </a:lnTo>
                <a:lnTo>
                  <a:pt x="201" y="262"/>
                </a:lnTo>
                <a:lnTo>
                  <a:pt x="205" y="258"/>
                </a:lnTo>
                <a:lnTo>
                  <a:pt x="205" y="258"/>
                </a:lnTo>
                <a:lnTo>
                  <a:pt x="208" y="254"/>
                </a:lnTo>
                <a:lnTo>
                  <a:pt x="211" y="250"/>
                </a:lnTo>
                <a:lnTo>
                  <a:pt x="212" y="246"/>
                </a:lnTo>
                <a:lnTo>
                  <a:pt x="212" y="241"/>
                </a:lnTo>
                <a:lnTo>
                  <a:pt x="212" y="241"/>
                </a:lnTo>
                <a:lnTo>
                  <a:pt x="212" y="238"/>
                </a:lnTo>
                <a:lnTo>
                  <a:pt x="212" y="238"/>
                </a:lnTo>
                <a:lnTo>
                  <a:pt x="215" y="239"/>
                </a:lnTo>
                <a:lnTo>
                  <a:pt x="215" y="239"/>
                </a:lnTo>
                <a:lnTo>
                  <a:pt x="220" y="238"/>
                </a:lnTo>
                <a:lnTo>
                  <a:pt x="224" y="236"/>
                </a:lnTo>
                <a:lnTo>
                  <a:pt x="228" y="235"/>
                </a:lnTo>
                <a:lnTo>
                  <a:pt x="232" y="231"/>
                </a:lnTo>
                <a:lnTo>
                  <a:pt x="232" y="231"/>
                </a:lnTo>
                <a:lnTo>
                  <a:pt x="235" y="227"/>
                </a:lnTo>
                <a:lnTo>
                  <a:pt x="238" y="223"/>
                </a:lnTo>
                <a:lnTo>
                  <a:pt x="239" y="219"/>
                </a:lnTo>
                <a:lnTo>
                  <a:pt x="239" y="214"/>
                </a:lnTo>
                <a:lnTo>
                  <a:pt x="239" y="214"/>
                </a:lnTo>
                <a:lnTo>
                  <a:pt x="239" y="211"/>
                </a:lnTo>
                <a:lnTo>
                  <a:pt x="239" y="211"/>
                </a:lnTo>
                <a:lnTo>
                  <a:pt x="242" y="212"/>
                </a:lnTo>
                <a:lnTo>
                  <a:pt x="242" y="212"/>
                </a:lnTo>
                <a:lnTo>
                  <a:pt x="247" y="211"/>
                </a:lnTo>
                <a:lnTo>
                  <a:pt x="251" y="210"/>
                </a:lnTo>
                <a:lnTo>
                  <a:pt x="255" y="207"/>
                </a:lnTo>
                <a:lnTo>
                  <a:pt x="259" y="204"/>
                </a:lnTo>
                <a:lnTo>
                  <a:pt x="259" y="204"/>
                </a:lnTo>
                <a:lnTo>
                  <a:pt x="262" y="200"/>
                </a:lnTo>
                <a:lnTo>
                  <a:pt x="265" y="196"/>
                </a:lnTo>
                <a:lnTo>
                  <a:pt x="266" y="192"/>
                </a:lnTo>
                <a:lnTo>
                  <a:pt x="266" y="187"/>
                </a:lnTo>
                <a:lnTo>
                  <a:pt x="266" y="183"/>
                </a:lnTo>
                <a:lnTo>
                  <a:pt x="265" y="179"/>
                </a:lnTo>
                <a:lnTo>
                  <a:pt x="263" y="175"/>
                </a:lnTo>
                <a:lnTo>
                  <a:pt x="259" y="171"/>
                </a:lnTo>
                <a:lnTo>
                  <a:pt x="258" y="168"/>
                </a:lnTo>
                <a:lnTo>
                  <a:pt x="258" y="168"/>
                </a:lnTo>
                <a:lnTo>
                  <a:pt x="265" y="161"/>
                </a:lnTo>
                <a:lnTo>
                  <a:pt x="270" y="153"/>
                </a:lnTo>
                <a:lnTo>
                  <a:pt x="274" y="145"/>
                </a:lnTo>
                <a:lnTo>
                  <a:pt x="278" y="137"/>
                </a:lnTo>
                <a:lnTo>
                  <a:pt x="281" y="128"/>
                </a:lnTo>
                <a:lnTo>
                  <a:pt x="283" y="120"/>
                </a:lnTo>
                <a:lnTo>
                  <a:pt x="285" y="110"/>
                </a:lnTo>
                <a:lnTo>
                  <a:pt x="285" y="99"/>
                </a:lnTo>
                <a:lnTo>
                  <a:pt x="285" y="99"/>
                </a:lnTo>
                <a:lnTo>
                  <a:pt x="285" y="90"/>
                </a:lnTo>
                <a:lnTo>
                  <a:pt x="283" y="81"/>
                </a:lnTo>
                <a:lnTo>
                  <a:pt x="281" y="71"/>
                </a:lnTo>
                <a:lnTo>
                  <a:pt x="278" y="62"/>
                </a:lnTo>
                <a:lnTo>
                  <a:pt x="274" y="52"/>
                </a:lnTo>
                <a:lnTo>
                  <a:pt x="269" y="44"/>
                </a:lnTo>
                <a:lnTo>
                  <a:pt x="263" y="36"/>
                </a:lnTo>
                <a:lnTo>
                  <a:pt x="256" y="30"/>
                </a:lnTo>
                <a:lnTo>
                  <a:pt x="256" y="30"/>
                </a:lnTo>
                <a:lnTo>
                  <a:pt x="244" y="19"/>
                </a:lnTo>
                <a:lnTo>
                  <a:pt x="231" y="11"/>
                </a:lnTo>
                <a:lnTo>
                  <a:pt x="216" y="5"/>
                </a:lnTo>
                <a:lnTo>
                  <a:pt x="201" y="1"/>
                </a:lnTo>
                <a:lnTo>
                  <a:pt x="187" y="0"/>
                </a:lnTo>
                <a:lnTo>
                  <a:pt x="172" y="1"/>
                </a:lnTo>
                <a:lnTo>
                  <a:pt x="157" y="4"/>
                </a:lnTo>
                <a:lnTo>
                  <a:pt x="142" y="9"/>
                </a:lnTo>
                <a:lnTo>
                  <a:pt x="142" y="9"/>
                </a:lnTo>
                <a:lnTo>
                  <a:pt x="129" y="4"/>
                </a:lnTo>
                <a:lnTo>
                  <a:pt x="113" y="0"/>
                </a:lnTo>
                <a:lnTo>
                  <a:pt x="98" y="0"/>
                </a:lnTo>
                <a:lnTo>
                  <a:pt x="83" y="1"/>
                </a:lnTo>
                <a:lnTo>
                  <a:pt x="68" y="5"/>
                </a:lnTo>
                <a:lnTo>
                  <a:pt x="55" y="11"/>
                </a:lnTo>
                <a:lnTo>
                  <a:pt x="42" y="19"/>
                </a:lnTo>
                <a:lnTo>
                  <a:pt x="29" y="30"/>
                </a:lnTo>
                <a:lnTo>
                  <a:pt x="29" y="30"/>
                </a:lnTo>
                <a:lnTo>
                  <a:pt x="19" y="43"/>
                </a:lnTo>
                <a:lnTo>
                  <a:pt x="11" y="56"/>
                </a:lnTo>
                <a:lnTo>
                  <a:pt x="4" y="73"/>
                </a:lnTo>
                <a:lnTo>
                  <a:pt x="1" y="89"/>
                </a:lnTo>
                <a:lnTo>
                  <a:pt x="0" y="105"/>
                </a:lnTo>
                <a:lnTo>
                  <a:pt x="3" y="122"/>
                </a:lnTo>
                <a:lnTo>
                  <a:pt x="8" y="137"/>
                </a:lnTo>
                <a:lnTo>
                  <a:pt x="16" y="153"/>
                </a:lnTo>
                <a:lnTo>
                  <a:pt x="12" y="157"/>
                </a:lnTo>
                <a:close/>
                <a:moveTo>
                  <a:pt x="171" y="278"/>
                </a:moveTo>
                <a:lnTo>
                  <a:pt x="171" y="278"/>
                </a:lnTo>
                <a:lnTo>
                  <a:pt x="166" y="281"/>
                </a:lnTo>
                <a:lnTo>
                  <a:pt x="161" y="281"/>
                </a:lnTo>
                <a:lnTo>
                  <a:pt x="156" y="281"/>
                </a:lnTo>
                <a:lnTo>
                  <a:pt x="152" y="278"/>
                </a:lnTo>
                <a:lnTo>
                  <a:pt x="136" y="262"/>
                </a:lnTo>
                <a:lnTo>
                  <a:pt x="146" y="251"/>
                </a:lnTo>
                <a:lnTo>
                  <a:pt x="146" y="251"/>
                </a:lnTo>
                <a:lnTo>
                  <a:pt x="150" y="246"/>
                </a:lnTo>
                <a:lnTo>
                  <a:pt x="153" y="241"/>
                </a:lnTo>
                <a:lnTo>
                  <a:pt x="171" y="258"/>
                </a:lnTo>
                <a:lnTo>
                  <a:pt x="171" y="258"/>
                </a:lnTo>
                <a:lnTo>
                  <a:pt x="173" y="263"/>
                </a:lnTo>
                <a:lnTo>
                  <a:pt x="175" y="267"/>
                </a:lnTo>
                <a:lnTo>
                  <a:pt x="173" y="273"/>
                </a:lnTo>
                <a:lnTo>
                  <a:pt x="171" y="278"/>
                </a:lnTo>
                <a:lnTo>
                  <a:pt x="171" y="278"/>
                </a:lnTo>
                <a:close/>
                <a:moveTo>
                  <a:pt x="38" y="36"/>
                </a:moveTo>
                <a:lnTo>
                  <a:pt x="38" y="36"/>
                </a:lnTo>
                <a:lnTo>
                  <a:pt x="47" y="28"/>
                </a:lnTo>
                <a:lnTo>
                  <a:pt x="58" y="22"/>
                </a:lnTo>
                <a:lnTo>
                  <a:pt x="70" y="16"/>
                </a:lnTo>
                <a:lnTo>
                  <a:pt x="81" y="14"/>
                </a:lnTo>
                <a:lnTo>
                  <a:pt x="94" y="11"/>
                </a:lnTo>
                <a:lnTo>
                  <a:pt x="106" y="11"/>
                </a:lnTo>
                <a:lnTo>
                  <a:pt x="118" y="12"/>
                </a:lnTo>
                <a:lnTo>
                  <a:pt x="130" y="16"/>
                </a:lnTo>
                <a:lnTo>
                  <a:pt x="130" y="16"/>
                </a:lnTo>
                <a:lnTo>
                  <a:pt x="122" y="22"/>
                </a:lnTo>
                <a:lnTo>
                  <a:pt x="114" y="30"/>
                </a:lnTo>
                <a:lnTo>
                  <a:pt x="47" y="97"/>
                </a:lnTo>
                <a:lnTo>
                  <a:pt x="47" y="97"/>
                </a:lnTo>
                <a:lnTo>
                  <a:pt x="46" y="98"/>
                </a:lnTo>
                <a:lnTo>
                  <a:pt x="46" y="101"/>
                </a:lnTo>
                <a:lnTo>
                  <a:pt x="46" y="101"/>
                </a:lnTo>
                <a:lnTo>
                  <a:pt x="46" y="103"/>
                </a:lnTo>
                <a:lnTo>
                  <a:pt x="48" y="105"/>
                </a:lnTo>
                <a:lnTo>
                  <a:pt x="48" y="105"/>
                </a:lnTo>
                <a:lnTo>
                  <a:pt x="54" y="108"/>
                </a:lnTo>
                <a:lnTo>
                  <a:pt x="60" y="110"/>
                </a:lnTo>
                <a:lnTo>
                  <a:pt x="70" y="112"/>
                </a:lnTo>
                <a:lnTo>
                  <a:pt x="81" y="112"/>
                </a:lnTo>
                <a:lnTo>
                  <a:pt x="93" y="109"/>
                </a:lnTo>
                <a:lnTo>
                  <a:pt x="99" y="106"/>
                </a:lnTo>
                <a:lnTo>
                  <a:pt x="105" y="103"/>
                </a:lnTo>
                <a:lnTo>
                  <a:pt x="111" y="99"/>
                </a:lnTo>
                <a:lnTo>
                  <a:pt x="118" y="93"/>
                </a:lnTo>
                <a:lnTo>
                  <a:pt x="118" y="93"/>
                </a:lnTo>
                <a:lnTo>
                  <a:pt x="129" y="98"/>
                </a:lnTo>
                <a:lnTo>
                  <a:pt x="145" y="103"/>
                </a:lnTo>
                <a:lnTo>
                  <a:pt x="154" y="105"/>
                </a:lnTo>
                <a:lnTo>
                  <a:pt x="164" y="106"/>
                </a:lnTo>
                <a:lnTo>
                  <a:pt x="175" y="108"/>
                </a:lnTo>
                <a:lnTo>
                  <a:pt x="184" y="106"/>
                </a:lnTo>
                <a:lnTo>
                  <a:pt x="252" y="177"/>
                </a:lnTo>
                <a:lnTo>
                  <a:pt x="252" y="177"/>
                </a:lnTo>
                <a:lnTo>
                  <a:pt x="255" y="183"/>
                </a:lnTo>
                <a:lnTo>
                  <a:pt x="255" y="187"/>
                </a:lnTo>
                <a:lnTo>
                  <a:pt x="254" y="192"/>
                </a:lnTo>
                <a:lnTo>
                  <a:pt x="251" y="198"/>
                </a:lnTo>
                <a:lnTo>
                  <a:pt x="251" y="198"/>
                </a:lnTo>
                <a:lnTo>
                  <a:pt x="247" y="200"/>
                </a:lnTo>
                <a:lnTo>
                  <a:pt x="242" y="200"/>
                </a:lnTo>
                <a:lnTo>
                  <a:pt x="236" y="200"/>
                </a:lnTo>
                <a:lnTo>
                  <a:pt x="232" y="198"/>
                </a:lnTo>
                <a:lnTo>
                  <a:pt x="208" y="173"/>
                </a:lnTo>
                <a:lnTo>
                  <a:pt x="208" y="173"/>
                </a:lnTo>
                <a:lnTo>
                  <a:pt x="207" y="172"/>
                </a:lnTo>
                <a:lnTo>
                  <a:pt x="204" y="171"/>
                </a:lnTo>
                <a:lnTo>
                  <a:pt x="203" y="172"/>
                </a:lnTo>
                <a:lnTo>
                  <a:pt x="200" y="173"/>
                </a:lnTo>
                <a:lnTo>
                  <a:pt x="200" y="173"/>
                </a:lnTo>
                <a:lnTo>
                  <a:pt x="199" y="175"/>
                </a:lnTo>
                <a:lnTo>
                  <a:pt x="199" y="177"/>
                </a:lnTo>
                <a:lnTo>
                  <a:pt x="199" y="179"/>
                </a:lnTo>
                <a:lnTo>
                  <a:pt x="200" y="180"/>
                </a:lnTo>
                <a:lnTo>
                  <a:pt x="224" y="204"/>
                </a:lnTo>
                <a:lnTo>
                  <a:pt x="224" y="204"/>
                </a:lnTo>
                <a:lnTo>
                  <a:pt x="227" y="210"/>
                </a:lnTo>
                <a:lnTo>
                  <a:pt x="228" y="214"/>
                </a:lnTo>
                <a:lnTo>
                  <a:pt x="228" y="214"/>
                </a:lnTo>
                <a:lnTo>
                  <a:pt x="227" y="219"/>
                </a:lnTo>
                <a:lnTo>
                  <a:pt x="224" y="224"/>
                </a:lnTo>
                <a:lnTo>
                  <a:pt x="224" y="224"/>
                </a:lnTo>
                <a:lnTo>
                  <a:pt x="220" y="227"/>
                </a:lnTo>
                <a:lnTo>
                  <a:pt x="215" y="227"/>
                </a:lnTo>
                <a:lnTo>
                  <a:pt x="209" y="227"/>
                </a:lnTo>
                <a:lnTo>
                  <a:pt x="205" y="224"/>
                </a:lnTo>
                <a:lnTo>
                  <a:pt x="181" y="200"/>
                </a:lnTo>
                <a:lnTo>
                  <a:pt x="181" y="200"/>
                </a:lnTo>
                <a:lnTo>
                  <a:pt x="180" y="199"/>
                </a:lnTo>
                <a:lnTo>
                  <a:pt x="177" y="198"/>
                </a:lnTo>
                <a:lnTo>
                  <a:pt x="176" y="199"/>
                </a:lnTo>
                <a:lnTo>
                  <a:pt x="173" y="200"/>
                </a:lnTo>
                <a:lnTo>
                  <a:pt x="173" y="200"/>
                </a:lnTo>
                <a:lnTo>
                  <a:pt x="172" y="202"/>
                </a:lnTo>
                <a:lnTo>
                  <a:pt x="172" y="203"/>
                </a:lnTo>
                <a:lnTo>
                  <a:pt x="172" y="206"/>
                </a:lnTo>
                <a:lnTo>
                  <a:pt x="173" y="207"/>
                </a:lnTo>
                <a:lnTo>
                  <a:pt x="197" y="231"/>
                </a:lnTo>
                <a:lnTo>
                  <a:pt x="197" y="231"/>
                </a:lnTo>
                <a:lnTo>
                  <a:pt x="200" y="236"/>
                </a:lnTo>
                <a:lnTo>
                  <a:pt x="201" y="241"/>
                </a:lnTo>
                <a:lnTo>
                  <a:pt x="201" y="241"/>
                </a:lnTo>
                <a:lnTo>
                  <a:pt x="200" y="246"/>
                </a:lnTo>
                <a:lnTo>
                  <a:pt x="197" y="251"/>
                </a:lnTo>
                <a:lnTo>
                  <a:pt x="197" y="251"/>
                </a:lnTo>
                <a:lnTo>
                  <a:pt x="193" y="254"/>
                </a:lnTo>
                <a:lnTo>
                  <a:pt x="188" y="254"/>
                </a:lnTo>
                <a:lnTo>
                  <a:pt x="183" y="254"/>
                </a:lnTo>
                <a:lnTo>
                  <a:pt x="179" y="251"/>
                </a:lnTo>
                <a:lnTo>
                  <a:pt x="152" y="224"/>
                </a:lnTo>
                <a:lnTo>
                  <a:pt x="152" y="224"/>
                </a:lnTo>
                <a:lnTo>
                  <a:pt x="146" y="218"/>
                </a:lnTo>
                <a:lnTo>
                  <a:pt x="146" y="218"/>
                </a:lnTo>
                <a:lnTo>
                  <a:pt x="144" y="214"/>
                </a:lnTo>
                <a:lnTo>
                  <a:pt x="140" y="212"/>
                </a:lnTo>
                <a:lnTo>
                  <a:pt x="134" y="211"/>
                </a:lnTo>
                <a:lnTo>
                  <a:pt x="130" y="210"/>
                </a:lnTo>
                <a:lnTo>
                  <a:pt x="130" y="210"/>
                </a:lnTo>
                <a:lnTo>
                  <a:pt x="128" y="210"/>
                </a:lnTo>
                <a:lnTo>
                  <a:pt x="128" y="210"/>
                </a:lnTo>
                <a:lnTo>
                  <a:pt x="128" y="207"/>
                </a:lnTo>
                <a:lnTo>
                  <a:pt x="128" y="207"/>
                </a:lnTo>
                <a:lnTo>
                  <a:pt x="126" y="203"/>
                </a:lnTo>
                <a:lnTo>
                  <a:pt x="125" y="198"/>
                </a:lnTo>
                <a:lnTo>
                  <a:pt x="123" y="193"/>
                </a:lnTo>
                <a:lnTo>
                  <a:pt x="119" y="191"/>
                </a:lnTo>
                <a:lnTo>
                  <a:pt x="119" y="191"/>
                </a:lnTo>
                <a:lnTo>
                  <a:pt x="117" y="187"/>
                </a:lnTo>
                <a:lnTo>
                  <a:pt x="113" y="185"/>
                </a:lnTo>
                <a:lnTo>
                  <a:pt x="107" y="184"/>
                </a:lnTo>
                <a:lnTo>
                  <a:pt x="103" y="183"/>
                </a:lnTo>
                <a:lnTo>
                  <a:pt x="103" y="183"/>
                </a:lnTo>
                <a:lnTo>
                  <a:pt x="101" y="183"/>
                </a:lnTo>
                <a:lnTo>
                  <a:pt x="101" y="183"/>
                </a:lnTo>
                <a:lnTo>
                  <a:pt x="101" y="180"/>
                </a:lnTo>
                <a:lnTo>
                  <a:pt x="101" y="180"/>
                </a:lnTo>
                <a:lnTo>
                  <a:pt x="99" y="176"/>
                </a:lnTo>
                <a:lnTo>
                  <a:pt x="98" y="171"/>
                </a:lnTo>
                <a:lnTo>
                  <a:pt x="97" y="167"/>
                </a:lnTo>
                <a:lnTo>
                  <a:pt x="93" y="164"/>
                </a:lnTo>
                <a:lnTo>
                  <a:pt x="93" y="164"/>
                </a:lnTo>
                <a:lnTo>
                  <a:pt x="90" y="160"/>
                </a:lnTo>
                <a:lnTo>
                  <a:pt x="86" y="159"/>
                </a:lnTo>
                <a:lnTo>
                  <a:pt x="81" y="157"/>
                </a:lnTo>
                <a:lnTo>
                  <a:pt x="76" y="156"/>
                </a:lnTo>
                <a:lnTo>
                  <a:pt x="76" y="156"/>
                </a:lnTo>
                <a:lnTo>
                  <a:pt x="74" y="156"/>
                </a:lnTo>
                <a:lnTo>
                  <a:pt x="74" y="156"/>
                </a:lnTo>
                <a:lnTo>
                  <a:pt x="74" y="151"/>
                </a:lnTo>
                <a:lnTo>
                  <a:pt x="72" y="146"/>
                </a:lnTo>
                <a:lnTo>
                  <a:pt x="70" y="141"/>
                </a:lnTo>
                <a:lnTo>
                  <a:pt x="66" y="137"/>
                </a:lnTo>
                <a:lnTo>
                  <a:pt x="66" y="137"/>
                </a:lnTo>
                <a:lnTo>
                  <a:pt x="63" y="133"/>
                </a:lnTo>
                <a:lnTo>
                  <a:pt x="59" y="132"/>
                </a:lnTo>
                <a:lnTo>
                  <a:pt x="54" y="130"/>
                </a:lnTo>
                <a:lnTo>
                  <a:pt x="50" y="129"/>
                </a:lnTo>
                <a:lnTo>
                  <a:pt x="50" y="129"/>
                </a:lnTo>
                <a:lnTo>
                  <a:pt x="44" y="130"/>
                </a:lnTo>
                <a:lnTo>
                  <a:pt x="40" y="132"/>
                </a:lnTo>
                <a:lnTo>
                  <a:pt x="36" y="133"/>
                </a:lnTo>
                <a:lnTo>
                  <a:pt x="32" y="137"/>
                </a:lnTo>
                <a:lnTo>
                  <a:pt x="23" y="145"/>
                </a:lnTo>
                <a:lnTo>
                  <a:pt x="23" y="145"/>
                </a:lnTo>
                <a:lnTo>
                  <a:pt x="17" y="132"/>
                </a:lnTo>
                <a:lnTo>
                  <a:pt x="13" y="117"/>
                </a:lnTo>
                <a:lnTo>
                  <a:pt x="11" y="103"/>
                </a:lnTo>
                <a:lnTo>
                  <a:pt x="12" y="89"/>
                </a:lnTo>
                <a:lnTo>
                  <a:pt x="15" y="75"/>
                </a:lnTo>
                <a:lnTo>
                  <a:pt x="20" y="61"/>
                </a:lnTo>
                <a:lnTo>
                  <a:pt x="28" y="48"/>
                </a:lnTo>
                <a:lnTo>
                  <a:pt x="38" y="36"/>
                </a:lnTo>
                <a:lnTo>
                  <a:pt x="38" y="36"/>
                </a:lnTo>
                <a:close/>
              </a:path>
            </a:pathLst>
          </a:custGeom>
          <a:solidFill>
            <a:schemeClr val="tx2"/>
          </a:solidFill>
          <a:ln>
            <a:noFill/>
          </a:ln>
        </p:spPr>
        <p:txBody>
          <a:bodyPr vert="horz" wrap="square" lIns="68580" tIns="34290" rIns="68580" bIns="34290" numCol="1" anchor="t" anchorCtr="0" compatLnSpc="1">
            <a:prstTxWarp prst="textNoShape">
              <a:avLst/>
            </a:prstTxWarp>
          </a:bodyPr>
          <a:lstStyle/>
          <a:p>
            <a:pPr defTabSz="685800"/>
            <a:endParaRPr lang="en-US" sz="1350">
              <a:solidFill>
                <a:srgbClr val="000000"/>
              </a:solidFill>
              <a:latin typeface="Open Sans"/>
            </a:endParaRPr>
          </a:p>
        </p:txBody>
      </p:sp>
    </p:spTree>
    <p:extLst>
      <p:ext uri="{BB962C8B-B14F-4D97-AF65-F5344CB8AC3E}">
        <p14:creationId xmlns:p14="http://schemas.microsoft.com/office/powerpoint/2010/main" val="60757949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a:solidFill>
                  <a:schemeClr val="accent2"/>
                </a:solidFill>
                <a:ea typeface="Open Sans"/>
                <a:cs typeface="Open Sans"/>
              </a:rPr>
              <a:t>Pain points </a:t>
            </a:r>
            <a:r>
              <a:rPr lang="en-US" sz="2200">
                <a:ea typeface="Open Sans"/>
                <a:cs typeface="Open Sans"/>
              </a:rPr>
              <a:t>addressed through Data Marketplace for Deloitte clients </a:t>
            </a:r>
          </a:p>
        </p:txBody>
      </p:sp>
      <p:sp>
        <p:nvSpPr>
          <p:cNvPr id="53" name="Rectangle 52">
            <a:extLst>
              <a:ext uri="{FF2B5EF4-FFF2-40B4-BE49-F238E27FC236}">
                <a16:creationId xmlns:a16="http://schemas.microsoft.com/office/drawing/2014/main" id="{FD6FC2C9-1BF5-CFF4-797A-E37A49DA2A8B}"/>
              </a:ext>
            </a:extLst>
          </p:cNvPr>
          <p:cNvSpPr/>
          <p:nvPr/>
        </p:nvSpPr>
        <p:spPr>
          <a:xfrm>
            <a:off x="208149" y="6076419"/>
            <a:ext cx="11802922" cy="307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4" name="TextBox 53">
            <a:extLst>
              <a:ext uri="{FF2B5EF4-FFF2-40B4-BE49-F238E27FC236}">
                <a16:creationId xmlns:a16="http://schemas.microsoft.com/office/drawing/2014/main" id="{0BE07D75-4B50-3EE0-80BF-9202D706A272}"/>
              </a:ext>
            </a:extLst>
          </p:cNvPr>
          <p:cNvSpPr txBox="1"/>
          <p:nvPr/>
        </p:nvSpPr>
        <p:spPr bwMode="gray">
          <a:xfrm>
            <a:off x="462023" y="2165282"/>
            <a:ext cx="2833155" cy="1097736"/>
          </a:xfrm>
          <a:prstGeom prst="rect">
            <a:avLst/>
          </a:prstGeom>
          <a:noFill/>
        </p:spPr>
        <p:txBody>
          <a:bodyPr vert="horz" wrap="square" lIns="0" tIns="0" rIns="0" bIns="0" rtlCol="0">
            <a:spAutoFit/>
          </a:bodyPr>
          <a:lstStyle/>
          <a:p>
            <a:pPr defTabSz="914126">
              <a:spcBef>
                <a:spcPts val="400"/>
              </a:spcBef>
              <a:buSzPct val="65000"/>
              <a:defRPr/>
            </a:pPr>
            <a:r>
              <a:rPr lang="en-US" sz="1400">
                <a:solidFill>
                  <a:srgbClr val="000000"/>
                </a:solidFill>
              </a:rPr>
              <a:t>Proliferation of </a:t>
            </a:r>
            <a:r>
              <a:rPr lang="en-US" sz="1400" b="1" i="1">
                <a:solidFill>
                  <a:srgbClr val="000000"/>
                </a:solidFill>
              </a:rPr>
              <a:t>siloed data sources and analytical outputs </a:t>
            </a:r>
            <a:r>
              <a:rPr lang="en-US" sz="1400" i="1">
                <a:solidFill>
                  <a:srgbClr val="000000"/>
                </a:solidFill>
              </a:rPr>
              <a:t>limits the use of these assets, creates inefficiencies, and  duplicative work </a:t>
            </a:r>
            <a:endParaRPr lang="en-US" sz="1400">
              <a:solidFill>
                <a:srgbClr val="000000"/>
              </a:solidFill>
            </a:endParaRPr>
          </a:p>
          <a:p>
            <a:pPr marL="171399" indent="-171399" defTabSz="914126">
              <a:spcBef>
                <a:spcPts val="400"/>
              </a:spcBef>
              <a:buSzPct val="65000"/>
              <a:buFont typeface="Arial" panose="020B0604020202020204" pitchFamily="34" charset="0"/>
              <a:buChar char="•"/>
              <a:defRPr/>
            </a:pPr>
            <a:endParaRPr lang="en-US" sz="1200">
              <a:solidFill>
                <a:srgbClr val="000000"/>
              </a:solidFill>
            </a:endParaRPr>
          </a:p>
        </p:txBody>
      </p:sp>
      <p:sp>
        <p:nvSpPr>
          <p:cNvPr id="55" name="Rectangle 54">
            <a:extLst>
              <a:ext uri="{FF2B5EF4-FFF2-40B4-BE49-F238E27FC236}">
                <a16:creationId xmlns:a16="http://schemas.microsoft.com/office/drawing/2014/main" id="{C0A04F4E-981B-434A-6808-EB1BECA74B39}"/>
              </a:ext>
            </a:extLst>
          </p:cNvPr>
          <p:cNvSpPr/>
          <p:nvPr/>
        </p:nvSpPr>
        <p:spPr>
          <a:xfrm>
            <a:off x="466221" y="1600989"/>
            <a:ext cx="2828958" cy="5035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r>
              <a:rPr lang="en-US" sz="1400" b="1">
                <a:solidFill>
                  <a:schemeClr val="bg1"/>
                </a:solidFill>
              </a:rPr>
              <a:t>Limited Data Visibility </a:t>
            </a:r>
          </a:p>
        </p:txBody>
      </p:sp>
      <p:sp>
        <p:nvSpPr>
          <p:cNvPr id="56" name="TextBox 55">
            <a:extLst>
              <a:ext uri="{FF2B5EF4-FFF2-40B4-BE49-F238E27FC236}">
                <a16:creationId xmlns:a16="http://schemas.microsoft.com/office/drawing/2014/main" id="{91C3109B-D9B3-8DA9-1CF1-1570B1B01A01}"/>
              </a:ext>
            </a:extLst>
          </p:cNvPr>
          <p:cNvSpPr txBox="1"/>
          <p:nvPr/>
        </p:nvSpPr>
        <p:spPr bwMode="gray">
          <a:xfrm>
            <a:off x="462025" y="3820548"/>
            <a:ext cx="2828958" cy="861774"/>
          </a:xfrm>
          <a:prstGeom prst="rect">
            <a:avLst/>
          </a:prstGeom>
          <a:noFill/>
        </p:spPr>
        <p:txBody>
          <a:bodyPr vert="horz" wrap="square" lIns="0" tIns="0" rIns="0" bIns="0" rtlCol="0">
            <a:spAutoFit/>
          </a:bodyPr>
          <a:lstStyle/>
          <a:p>
            <a:pPr defTabSz="914126">
              <a:spcBef>
                <a:spcPts val="400"/>
              </a:spcBef>
              <a:buSzPct val="65000"/>
              <a:defRPr/>
            </a:pPr>
            <a:r>
              <a:rPr lang="en-US" sz="1400">
                <a:solidFill>
                  <a:srgbClr val="000000"/>
                </a:solidFill>
              </a:rPr>
              <a:t>Getting </a:t>
            </a:r>
            <a:r>
              <a:rPr lang="en-US" sz="1400" b="1">
                <a:solidFill>
                  <a:srgbClr val="000000"/>
                </a:solidFill>
              </a:rPr>
              <a:t>access to data and/or analytic outputs can be time consuming </a:t>
            </a:r>
            <a:r>
              <a:rPr lang="en-US" sz="1400">
                <a:solidFill>
                  <a:srgbClr val="000000"/>
                </a:solidFill>
              </a:rPr>
              <a:t>and governance policies can be difficult to understand</a:t>
            </a:r>
            <a:endParaRPr lang="en-US" sz="1400" b="1" i="1">
              <a:solidFill>
                <a:srgbClr val="000000"/>
              </a:solidFill>
            </a:endParaRPr>
          </a:p>
        </p:txBody>
      </p:sp>
      <p:sp>
        <p:nvSpPr>
          <p:cNvPr id="57" name="Rectangle 56">
            <a:extLst>
              <a:ext uri="{FF2B5EF4-FFF2-40B4-BE49-F238E27FC236}">
                <a16:creationId xmlns:a16="http://schemas.microsoft.com/office/drawing/2014/main" id="{BA6493FA-9101-1B03-707E-BBAEF2C0A8B2}"/>
              </a:ext>
            </a:extLst>
          </p:cNvPr>
          <p:cNvSpPr/>
          <p:nvPr/>
        </p:nvSpPr>
        <p:spPr>
          <a:xfrm>
            <a:off x="466219" y="3230696"/>
            <a:ext cx="2828958" cy="5035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400" b="1">
                <a:solidFill>
                  <a:schemeClr val="bg1"/>
                </a:solidFill>
              </a:rPr>
              <a:t>Access and Governance </a:t>
            </a:r>
          </a:p>
        </p:txBody>
      </p:sp>
      <p:sp>
        <p:nvSpPr>
          <p:cNvPr id="58" name="TextBox 57">
            <a:extLst>
              <a:ext uri="{FF2B5EF4-FFF2-40B4-BE49-F238E27FC236}">
                <a16:creationId xmlns:a16="http://schemas.microsoft.com/office/drawing/2014/main" id="{E3C3FB31-D252-E95A-A4EB-D9222AC0E300}"/>
              </a:ext>
            </a:extLst>
          </p:cNvPr>
          <p:cNvSpPr txBox="1"/>
          <p:nvPr/>
        </p:nvSpPr>
        <p:spPr bwMode="gray">
          <a:xfrm>
            <a:off x="462023" y="5413584"/>
            <a:ext cx="2828958" cy="861774"/>
          </a:xfrm>
          <a:prstGeom prst="rect">
            <a:avLst/>
          </a:prstGeom>
          <a:noFill/>
        </p:spPr>
        <p:txBody>
          <a:bodyPr vert="horz" wrap="square" lIns="0" tIns="0" rIns="0" bIns="0" rtlCol="0">
            <a:spAutoFit/>
          </a:bodyPr>
          <a:lstStyle/>
          <a:p>
            <a:pPr defTabSz="914126">
              <a:spcBef>
                <a:spcPts val="400"/>
              </a:spcBef>
              <a:buSzPct val="65000"/>
              <a:defRPr/>
            </a:pPr>
            <a:r>
              <a:rPr lang="en-US" sz="1400" b="1" i="1">
                <a:solidFill>
                  <a:srgbClr val="000000"/>
                </a:solidFill>
              </a:rPr>
              <a:t>Inconsistencies </a:t>
            </a:r>
            <a:r>
              <a:rPr lang="en-US" sz="1400" i="1">
                <a:solidFill>
                  <a:srgbClr val="000000"/>
                </a:solidFill>
              </a:rPr>
              <a:t>in data quality and how data are described across the organization, impacting the ability for collaboration amongst stakeholders</a:t>
            </a:r>
            <a:endParaRPr lang="en-US" sz="1400">
              <a:solidFill>
                <a:srgbClr val="000000"/>
              </a:solidFill>
            </a:endParaRPr>
          </a:p>
        </p:txBody>
      </p:sp>
      <p:sp>
        <p:nvSpPr>
          <p:cNvPr id="59" name="Rectangle 58">
            <a:extLst>
              <a:ext uri="{FF2B5EF4-FFF2-40B4-BE49-F238E27FC236}">
                <a16:creationId xmlns:a16="http://schemas.microsoft.com/office/drawing/2014/main" id="{4D482E30-4D9B-FEDD-7654-55BCE03EAFEA}"/>
              </a:ext>
            </a:extLst>
          </p:cNvPr>
          <p:cNvSpPr/>
          <p:nvPr/>
        </p:nvSpPr>
        <p:spPr>
          <a:xfrm>
            <a:off x="462024" y="4828190"/>
            <a:ext cx="2828958" cy="5035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r>
              <a:rPr lang="en-US" sz="1400" b="1">
                <a:solidFill>
                  <a:schemeClr val="bg1"/>
                </a:solidFill>
              </a:rPr>
              <a:t>Standards, Quality and Collaboration</a:t>
            </a:r>
          </a:p>
        </p:txBody>
      </p:sp>
      <p:sp>
        <p:nvSpPr>
          <p:cNvPr id="60" name="TextBox 59">
            <a:extLst>
              <a:ext uri="{FF2B5EF4-FFF2-40B4-BE49-F238E27FC236}">
                <a16:creationId xmlns:a16="http://schemas.microsoft.com/office/drawing/2014/main" id="{1DFFC25B-D7B7-6C43-3AB6-AC7F093F2631}"/>
              </a:ext>
            </a:extLst>
          </p:cNvPr>
          <p:cNvSpPr txBox="1"/>
          <p:nvPr/>
        </p:nvSpPr>
        <p:spPr>
          <a:xfrm>
            <a:off x="466218" y="1220423"/>
            <a:ext cx="2824763" cy="307697"/>
          </a:xfrm>
          <a:prstGeom prst="rect">
            <a:avLst/>
          </a:prstGeom>
          <a:noFill/>
        </p:spPr>
        <p:txBody>
          <a:bodyPr wrap="square" rtlCol="0">
            <a:spAutoFit/>
          </a:bodyPr>
          <a:lstStyle/>
          <a:p>
            <a:pPr algn="ctr"/>
            <a:r>
              <a:rPr lang="en-US" sz="1400" b="1" spc="100"/>
              <a:t>PAIN POINT</a:t>
            </a:r>
          </a:p>
        </p:txBody>
      </p:sp>
      <p:sp>
        <p:nvSpPr>
          <p:cNvPr id="61" name="TextBox 60">
            <a:extLst>
              <a:ext uri="{FF2B5EF4-FFF2-40B4-BE49-F238E27FC236}">
                <a16:creationId xmlns:a16="http://schemas.microsoft.com/office/drawing/2014/main" id="{D6BC69A8-AA0B-65EC-187B-53AA69BE427A}"/>
              </a:ext>
            </a:extLst>
          </p:cNvPr>
          <p:cNvSpPr txBox="1"/>
          <p:nvPr/>
        </p:nvSpPr>
        <p:spPr>
          <a:xfrm>
            <a:off x="3835884" y="1220423"/>
            <a:ext cx="3682279" cy="461545"/>
          </a:xfrm>
          <a:prstGeom prst="rect">
            <a:avLst/>
          </a:prstGeom>
          <a:noFill/>
        </p:spPr>
        <p:txBody>
          <a:bodyPr wrap="square" rtlCol="0">
            <a:spAutoFit/>
          </a:bodyPr>
          <a:lstStyle/>
          <a:p>
            <a:pPr algn="ctr"/>
            <a:r>
              <a:rPr lang="en-US" sz="2399" b="1" spc="100">
                <a:solidFill>
                  <a:srgbClr val="34F0FF"/>
                </a:solidFill>
              </a:rPr>
              <a:t>MARKETPLACE</a:t>
            </a:r>
          </a:p>
        </p:txBody>
      </p:sp>
      <p:sp>
        <p:nvSpPr>
          <p:cNvPr id="62" name="TextBox 61">
            <a:extLst>
              <a:ext uri="{FF2B5EF4-FFF2-40B4-BE49-F238E27FC236}">
                <a16:creationId xmlns:a16="http://schemas.microsoft.com/office/drawing/2014/main" id="{57FB1808-AE82-48CD-EB3D-ECC97251D97C}"/>
              </a:ext>
            </a:extLst>
          </p:cNvPr>
          <p:cNvSpPr txBox="1"/>
          <p:nvPr/>
        </p:nvSpPr>
        <p:spPr>
          <a:xfrm>
            <a:off x="8241749" y="1218604"/>
            <a:ext cx="3564313" cy="307697"/>
          </a:xfrm>
          <a:prstGeom prst="rect">
            <a:avLst/>
          </a:prstGeom>
          <a:noFill/>
        </p:spPr>
        <p:txBody>
          <a:bodyPr wrap="square" rtlCol="0">
            <a:spAutoFit/>
          </a:bodyPr>
          <a:lstStyle/>
          <a:p>
            <a:pPr algn="ctr"/>
            <a:r>
              <a:rPr lang="en-US" sz="1400" b="1" spc="100">
                <a:solidFill>
                  <a:schemeClr val="accent1"/>
                </a:solidFill>
              </a:rPr>
              <a:t>MARKETPLACE OUTCOMES</a:t>
            </a:r>
          </a:p>
        </p:txBody>
      </p:sp>
      <p:sp>
        <p:nvSpPr>
          <p:cNvPr id="63" name="Arrow: Chevron 3">
            <a:extLst>
              <a:ext uri="{FF2B5EF4-FFF2-40B4-BE49-F238E27FC236}">
                <a16:creationId xmlns:a16="http://schemas.microsoft.com/office/drawing/2014/main" id="{D1957B3F-6C0E-EE64-42AA-0A8CBA14B755}"/>
              </a:ext>
            </a:extLst>
          </p:cNvPr>
          <p:cNvSpPr/>
          <p:nvPr/>
        </p:nvSpPr>
        <p:spPr>
          <a:xfrm>
            <a:off x="3638834" y="1251084"/>
            <a:ext cx="197050" cy="334423"/>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sp>
        <p:nvSpPr>
          <p:cNvPr id="128" name="Arrow: Chevron 40">
            <a:extLst>
              <a:ext uri="{FF2B5EF4-FFF2-40B4-BE49-F238E27FC236}">
                <a16:creationId xmlns:a16="http://schemas.microsoft.com/office/drawing/2014/main" id="{B3937DE9-0E3F-21C5-21C4-1B6CA4449AA1}"/>
              </a:ext>
            </a:extLst>
          </p:cNvPr>
          <p:cNvSpPr/>
          <p:nvPr/>
        </p:nvSpPr>
        <p:spPr>
          <a:xfrm>
            <a:off x="3535341" y="1297626"/>
            <a:ext cx="108461" cy="232780"/>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sp>
        <p:nvSpPr>
          <p:cNvPr id="129" name="Arrow: Chevron 41">
            <a:extLst>
              <a:ext uri="{FF2B5EF4-FFF2-40B4-BE49-F238E27FC236}">
                <a16:creationId xmlns:a16="http://schemas.microsoft.com/office/drawing/2014/main" id="{A0F8F4EC-EABD-C932-F6BF-6278C835B120}"/>
              </a:ext>
            </a:extLst>
          </p:cNvPr>
          <p:cNvSpPr/>
          <p:nvPr/>
        </p:nvSpPr>
        <p:spPr>
          <a:xfrm>
            <a:off x="7631159" y="1247937"/>
            <a:ext cx="197050" cy="334423"/>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sp>
        <p:nvSpPr>
          <p:cNvPr id="130" name="Arrow: Chevron 42">
            <a:extLst>
              <a:ext uri="{FF2B5EF4-FFF2-40B4-BE49-F238E27FC236}">
                <a16:creationId xmlns:a16="http://schemas.microsoft.com/office/drawing/2014/main" id="{F647AF34-42F2-FEA5-332A-A40CFB1523BC}"/>
              </a:ext>
            </a:extLst>
          </p:cNvPr>
          <p:cNvSpPr/>
          <p:nvPr/>
        </p:nvSpPr>
        <p:spPr>
          <a:xfrm>
            <a:off x="7527666" y="1294479"/>
            <a:ext cx="108461" cy="23278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sp>
        <p:nvSpPr>
          <p:cNvPr id="131" name="Rectangle 130">
            <a:extLst>
              <a:ext uri="{FF2B5EF4-FFF2-40B4-BE49-F238E27FC236}">
                <a16:creationId xmlns:a16="http://schemas.microsoft.com/office/drawing/2014/main" id="{64717913-29B7-7692-105B-5E975ADB5BE0}"/>
              </a:ext>
            </a:extLst>
          </p:cNvPr>
          <p:cNvSpPr/>
          <p:nvPr/>
        </p:nvSpPr>
        <p:spPr>
          <a:xfrm>
            <a:off x="7983680" y="3330323"/>
            <a:ext cx="3822381" cy="500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400" b="1">
                <a:solidFill>
                  <a:schemeClr val="bg1"/>
                </a:solidFill>
              </a:rPr>
              <a:t>Improved ROI and Efficiencies </a:t>
            </a:r>
          </a:p>
        </p:txBody>
      </p:sp>
      <p:sp>
        <p:nvSpPr>
          <p:cNvPr id="132" name="Rectangle 131">
            <a:extLst>
              <a:ext uri="{FF2B5EF4-FFF2-40B4-BE49-F238E27FC236}">
                <a16:creationId xmlns:a16="http://schemas.microsoft.com/office/drawing/2014/main" id="{2E9C2862-761E-244D-42EB-6EA9515AFDA3}"/>
              </a:ext>
            </a:extLst>
          </p:cNvPr>
          <p:cNvSpPr/>
          <p:nvPr/>
        </p:nvSpPr>
        <p:spPr>
          <a:xfrm>
            <a:off x="7983681" y="1599583"/>
            <a:ext cx="3822381" cy="500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400" b="1">
                <a:solidFill>
                  <a:schemeClr val="bg1"/>
                </a:solidFill>
              </a:rPr>
              <a:t>Accelerate Time to Insights</a:t>
            </a:r>
          </a:p>
        </p:txBody>
      </p:sp>
      <p:sp>
        <p:nvSpPr>
          <p:cNvPr id="133" name="Rectangle 132">
            <a:extLst>
              <a:ext uri="{FF2B5EF4-FFF2-40B4-BE49-F238E27FC236}">
                <a16:creationId xmlns:a16="http://schemas.microsoft.com/office/drawing/2014/main" id="{FC926BFF-755A-273C-E176-1FF5359E8890}"/>
              </a:ext>
            </a:extLst>
          </p:cNvPr>
          <p:cNvSpPr/>
          <p:nvPr/>
        </p:nvSpPr>
        <p:spPr>
          <a:xfrm>
            <a:off x="7983680" y="5061064"/>
            <a:ext cx="3822381" cy="5002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400" b="1">
                <a:solidFill>
                  <a:schemeClr val="bg1"/>
                </a:solidFill>
              </a:rPr>
              <a:t>Improved Standards, Quality and Compliance</a:t>
            </a:r>
          </a:p>
        </p:txBody>
      </p:sp>
      <p:sp>
        <p:nvSpPr>
          <p:cNvPr id="134" name="TextBox 133">
            <a:extLst>
              <a:ext uri="{FF2B5EF4-FFF2-40B4-BE49-F238E27FC236}">
                <a16:creationId xmlns:a16="http://schemas.microsoft.com/office/drawing/2014/main" id="{43DD2139-5DEB-990E-9D47-172F7AD66B38}"/>
              </a:ext>
            </a:extLst>
          </p:cNvPr>
          <p:cNvSpPr txBox="1"/>
          <p:nvPr/>
        </p:nvSpPr>
        <p:spPr bwMode="gray">
          <a:xfrm>
            <a:off x="7983680" y="3898948"/>
            <a:ext cx="3822381" cy="1015399"/>
          </a:xfrm>
          <a:prstGeom prst="rect">
            <a:avLst/>
          </a:prstGeom>
          <a:noFill/>
        </p:spPr>
        <p:txBody>
          <a:bodyPr vert="horz" wrap="square" lIns="0" tIns="0" rIns="0" bIns="0" rtlCol="0">
            <a:spAutoFit/>
          </a:bodyPr>
          <a:lstStyle/>
          <a:p>
            <a:pPr marL="285664" indent="-285664">
              <a:spcBef>
                <a:spcPts val="400"/>
              </a:spcBef>
              <a:buClr>
                <a:schemeClr val="bg1"/>
              </a:buClr>
              <a:buSzPct val="65000"/>
              <a:buFont typeface="Arial" panose="020B0604020202020204" pitchFamily="34" charset="0"/>
              <a:buChar char="•"/>
              <a:defRPr/>
            </a:pPr>
            <a:r>
              <a:rPr lang="en-US" sz="1400">
                <a:solidFill>
                  <a:srgbClr val="000000"/>
                </a:solidFill>
              </a:rPr>
              <a:t>Reduce redundant data acquisition </a:t>
            </a:r>
          </a:p>
          <a:p>
            <a:pPr marL="285664" indent="-285664">
              <a:spcBef>
                <a:spcPts val="400"/>
              </a:spcBef>
              <a:buClr>
                <a:schemeClr val="bg1"/>
              </a:buClr>
              <a:buSzPct val="65000"/>
              <a:buFont typeface="Arial" panose="020B0604020202020204" pitchFamily="34" charset="0"/>
              <a:buChar char="•"/>
              <a:defRPr/>
            </a:pPr>
            <a:r>
              <a:rPr lang="en-US" sz="1400">
                <a:solidFill>
                  <a:srgbClr val="000000"/>
                </a:solidFill>
              </a:rPr>
              <a:t>Reduce time to onboard new resources </a:t>
            </a:r>
          </a:p>
          <a:p>
            <a:pPr marL="285664" indent="-285664">
              <a:spcBef>
                <a:spcPts val="400"/>
              </a:spcBef>
              <a:buClr>
                <a:schemeClr val="bg1"/>
              </a:buClr>
              <a:buSzPct val="65000"/>
              <a:buFont typeface="Arial" panose="020B0604020202020204" pitchFamily="34" charset="0"/>
              <a:buChar char="•"/>
              <a:defRPr/>
            </a:pPr>
            <a:r>
              <a:rPr lang="en-US" sz="1400">
                <a:solidFill>
                  <a:srgbClr val="000000"/>
                </a:solidFill>
              </a:rPr>
              <a:t>Reduced time from ingestion to availability</a:t>
            </a:r>
          </a:p>
          <a:p>
            <a:pPr marL="285664" indent="-285664">
              <a:spcBef>
                <a:spcPts val="400"/>
              </a:spcBef>
              <a:buClr>
                <a:schemeClr val="bg1"/>
              </a:buClr>
              <a:buSzPct val="65000"/>
              <a:buFont typeface="Arial" panose="020B0604020202020204" pitchFamily="34" charset="0"/>
              <a:buChar char="•"/>
              <a:defRPr/>
            </a:pPr>
            <a:r>
              <a:rPr lang="en-US" sz="1400">
                <a:solidFill>
                  <a:srgbClr val="000000"/>
                </a:solidFill>
              </a:rPr>
              <a:t>Optimize investments in data </a:t>
            </a:r>
            <a:endParaRPr lang="en-US" sz="1200">
              <a:solidFill>
                <a:srgbClr val="000000"/>
              </a:solidFill>
            </a:endParaRPr>
          </a:p>
        </p:txBody>
      </p:sp>
      <p:sp>
        <p:nvSpPr>
          <p:cNvPr id="135" name="TextBox 134">
            <a:extLst>
              <a:ext uri="{FF2B5EF4-FFF2-40B4-BE49-F238E27FC236}">
                <a16:creationId xmlns:a16="http://schemas.microsoft.com/office/drawing/2014/main" id="{02B10AB4-4540-CC51-8426-54A8717D0965}"/>
              </a:ext>
            </a:extLst>
          </p:cNvPr>
          <p:cNvSpPr txBox="1"/>
          <p:nvPr/>
        </p:nvSpPr>
        <p:spPr bwMode="gray">
          <a:xfrm>
            <a:off x="7983681" y="2162260"/>
            <a:ext cx="3822381" cy="1179810"/>
          </a:xfrm>
          <a:prstGeom prst="rect">
            <a:avLst/>
          </a:prstGeom>
          <a:noFill/>
        </p:spPr>
        <p:txBody>
          <a:bodyPr vert="horz" wrap="square" lIns="0" tIns="0" rIns="0" bIns="0" rtlCol="0">
            <a:spAutoFit/>
          </a:bodyPr>
          <a:lstStyle/>
          <a:p>
            <a:pPr marL="285664" indent="-285664">
              <a:spcBef>
                <a:spcPts val="400"/>
              </a:spcBef>
              <a:buClr>
                <a:schemeClr val="bg1"/>
              </a:buClr>
              <a:buSzPct val="65000"/>
              <a:buFont typeface="Arial" panose="020B0604020202020204" pitchFamily="34" charset="0"/>
              <a:buChar char="•"/>
              <a:defRPr/>
            </a:pPr>
            <a:r>
              <a:rPr lang="en-US" sz="1400" dirty="0">
                <a:solidFill>
                  <a:srgbClr val="000000"/>
                </a:solidFill>
              </a:rPr>
              <a:t>Decrease time to discover and access data</a:t>
            </a:r>
          </a:p>
          <a:p>
            <a:pPr marL="285664" indent="-285664">
              <a:spcBef>
                <a:spcPts val="400"/>
              </a:spcBef>
              <a:buClr>
                <a:schemeClr val="bg1"/>
              </a:buClr>
              <a:buSzPct val="65000"/>
              <a:buFont typeface="Arial" panose="020B0604020202020204" pitchFamily="34" charset="0"/>
              <a:buChar char="•"/>
              <a:defRPr/>
            </a:pPr>
            <a:r>
              <a:rPr lang="en-US" sz="1400" dirty="0">
                <a:solidFill>
                  <a:srgbClr val="000000"/>
                </a:solidFill>
              </a:rPr>
              <a:t>Decrease time spent accessing analytics</a:t>
            </a:r>
          </a:p>
          <a:p>
            <a:pPr marL="285664" indent="-285664">
              <a:spcBef>
                <a:spcPts val="400"/>
              </a:spcBef>
              <a:buClr>
                <a:schemeClr val="bg1"/>
              </a:buClr>
              <a:buSzPct val="65000"/>
              <a:buFont typeface="Arial" panose="020B0604020202020204" pitchFamily="34" charset="0"/>
              <a:buChar char="•"/>
              <a:defRPr/>
            </a:pPr>
            <a:r>
              <a:rPr lang="en-US" sz="1400" dirty="0">
                <a:solidFill>
                  <a:srgbClr val="000000"/>
                </a:solidFill>
              </a:rPr>
              <a:t>Improve visibility to data for a broad group of stakeholders of varying skill levels via a centralized solution</a:t>
            </a:r>
          </a:p>
        </p:txBody>
      </p:sp>
      <p:sp>
        <p:nvSpPr>
          <p:cNvPr id="136" name="TextBox 135">
            <a:extLst>
              <a:ext uri="{FF2B5EF4-FFF2-40B4-BE49-F238E27FC236}">
                <a16:creationId xmlns:a16="http://schemas.microsoft.com/office/drawing/2014/main" id="{E63F3F20-1B1E-1E9C-D3C9-21061ED7D46F}"/>
              </a:ext>
            </a:extLst>
          </p:cNvPr>
          <p:cNvSpPr txBox="1"/>
          <p:nvPr/>
        </p:nvSpPr>
        <p:spPr bwMode="gray">
          <a:xfrm>
            <a:off x="7983679" y="5582797"/>
            <a:ext cx="3822381" cy="964367"/>
          </a:xfrm>
          <a:prstGeom prst="rect">
            <a:avLst/>
          </a:prstGeom>
          <a:noFill/>
        </p:spPr>
        <p:txBody>
          <a:bodyPr vert="horz" wrap="square" lIns="0" tIns="0" rIns="0" bIns="0" rtlCol="0">
            <a:spAutoFit/>
          </a:bodyPr>
          <a:lstStyle/>
          <a:p>
            <a:pPr marL="285664" indent="-285664">
              <a:spcBef>
                <a:spcPts val="400"/>
              </a:spcBef>
              <a:buClr>
                <a:schemeClr val="bg1"/>
              </a:buClr>
              <a:buSzPct val="65000"/>
              <a:buFont typeface="Arial" panose="020B0604020202020204" pitchFamily="34" charset="0"/>
              <a:buChar char="•"/>
              <a:defRPr/>
            </a:pPr>
            <a:r>
              <a:rPr lang="en-US" sz="1400">
                <a:solidFill>
                  <a:srgbClr val="000000"/>
                </a:solidFill>
              </a:rPr>
              <a:t>Reduce time spent on data quality resolution </a:t>
            </a:r>
          </a:p>
          <a:p>
            <a:pPr marL="285664" indent="-285664">
              <a:spcBef>
                <a:spcPts val="400"/>
              </a:spcBef>
              <a:buClr>
                <a:schemeClr val="bg1"/>
              </a:buClr>
              <a:buSzPct val="65000"/>
              <a:buFont typeface="Arial" panose="020B0604020202020204" pitchFamily="34" charset="0"/>
              <a:buChar char="•"/>
              <a:defRPr/>
            </a:pPr>
            <a:r>
              <a:rPr lang="en-US" sz="1400">
                <a:solidFill>
                  <a:srgbClr val="000000"/>
                </a:solidFill>
              </a:rPr>
              <a:t>Improved data standards and collaboration</a:t>
            </a:r>
          </a:p>
          <a:p>
            <a:pPr marL="285664" indent="-285664">
              <a:spcBef>
                <a:spcPts val="400"/>
              </a:spcBef>
              <a:buClr>
                <a:schemeClr val="bg1"/>
              </a:buClr>
              <a:buSzPct val="65000"/>
              <a:buFont typeface="Arial" panose="020B0604020202020204" pitchFamily="34" charset="0"/>
              <a:buChar char="•"/>
              <a:defRPr/>
            </a:pPr>
            <a:r>
              <a:rPr lang="en-US" sz="1400">
                <a:solidFill>
                  <a:srgbClr val="000000"/>
                </a:solidFill>
              </a:rPr>
              <a:t>Improved compliance with governance and data use rights</a:t>
            </a:r>
          </a:p>
        </p:txBody>
      </p:sp>
      <p:sp>
        <p:nvSpPr>
          <p:cNvPr id="137" name="Arrow: Up 6">
            <a:extLst>
              <a:ext uri="{FF2B5EF4-FFF2-40B4-BE49-F238E27FC236}">
                <a16:creationId xmlns:a16="http://schemas.microsoft.com/office/drawing/2014/main" id="{AFB6A0F5-8643-52F6-63FE-603090142430}"/>
              </a:ext>
            </a:extLst>
          </p:cNvPr>
          <p:cNvSpPr/>
          <p:nvPr/>
        </p:nvSpPr>
        <p:spPr>
          <a:xfrm>
            <a:off x="8020824" y="2790549"/>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8" name="Arrow: Up 58">
            <a:extLst>
              <a:ext uri="{FF2B5EF4-FFF2-40B4-BE49-F238E27FC236}">
                <a16:creationId xmlns:a16="http://schemas.microsoft.com/office/drawing/2014/main" id="{9D635BD3-4F9B-6F8D-D731-03AEE0559D0E}"/>
              </a:ext>
            </a:extLst>
          </p:cNvPr>
          <p:cNvSpPr/>
          <p:nvPr/>
        </p:nvSpPr>
        <p:spPr>
          <a:xfrm rot="10800000">
            <a:off x="8021768" y="2481847"/>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39" name="Arrow: Up 59">
            <a:extLst>
              <a:ext uri="{FF2B5EF4-FFF2-40B4-BE49-F238E27FC236}">
                <a16:creationId xmlns:a16="http://schemas.microsoft.com/office/drawing/2014/main" id="{D004D856-2ABE-2271-7293-9196DF01DAB8}"/>
              </a:ext>
            </a:extLst>
          </p:cNvPr>
          <p:cNvSpPr/>
          <p:nvPr/>
        </p:nvSpPr>
        <p:spPr>
          <a:xfrm rot="10800000">
            <a:off x="8020824" y="2200239"/>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40" name="Arrow: Up 60">
            <a:extLst>
              <a:ext uri="{FF2B5EF4-FFF2-40B4-BE49-F238E27FC236}">
                <a16:creationId xmlns:a16="http://schemas.microsoft.com/office/drawing/2014/main" id="{E3C5205C-40AB-E092-163B-F8E045DF0C58}"/>
              </a:ext>
            </a:extLst>
          </p:cNvPr>
          <p:cNvSpPr/>
          <p:nvPr/>
        </p:nvSpPr>
        <p:spPr>
          <a:xfrm>
            <a:off x="8020824" y="4712211"/>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41" name="Arrow: Up 61">
            <a:extLst>
              <a:ext uri="{FF2B5EF4-FFF2-40B4-BE49-F238E27FC236}">
                <a16:creationId xmlns:a16="http://schemas.microsoft.com/office/drawing/2014/main" id="{2743D1A6-4DFC-C194-6A81-02D2CA7DDDD7}"/>
              </a:ext>
            </a:extLst>
          </p:cNvPr>
          <p:cNvSpPr/>
          <p:nvPr/>
        </p:nvSpPr>
        <p:spPr>
          <a:xfrm rot="10800000">
            <a:off x="8021768" y="4447123"/>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43" name="Arrow: Up 62">
            <a:extLst>
              <a:ext uri="{FF2B5EF4-FFF2-40B4-BE49-F238E27FC236}">
                <a16:creationId xmlns:a16="http://schemas.microsoft.com/office/drawing/2014/main" id="{ED83384D-DBEC-5E99-0F6C-D92429CD7BD4}"/>
              </a:ext>
            </a:extLst>
          </p:cNvPr>
          <p:cNvSpPr/>
          <p:nvPr/>
        </p:nvSpPr>
        <p:spPr>
          <a:xfrm rot="10800000">
            <a:off x="8020824" y="4203605"/>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99"/>
              <a:t> </a:t>
            </a:r>
          </a:p>
        </p:txBody>
      </p:sp>
      <p:sp>
        <p:nvSpPr>
          <p:cNvPr id="144" name="Arrow: Up 65">
            <a:extLst>
              <a:ext uri="{FF2B5EF4-FFF2-40B4-BE49-F238E27FC236}">
                <a16:creationId xmlns:a16="http://schemas.microsoft.com/office/drawing/2014/main" id="{4D6D3271-7F18-6CAC-9A15-48AD89C99B3C}"/>
              </a:ext>
            </a:extLst>
          </p:cNvPr>
          <p:cNvSpPr/>
          <p:nvPr/>
        </p:nvSpPr>
        <p:spPr>
          <a:xfrm rot="10800000">
            <a:off x="8020824" y="3930229"/>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99"/>
              <a:t> </a:t>
            </a:r>
          </a:p>
        </p:txBody>
      </p:sp>
      <p:sp>
        <p:nvSpPr>
          <p:cNvPr id="145" name="Arrow: Up 67">
            <a:extLst>
              <a:ext uri="{FF2B5EF4-FFF2-40B4-BE49-F238E27FC236}">
                <a16:creationId xmlns:a16="http://schemas.microsoft.com/office/drawing/2014/main" id="{11FC2785-C214-B5A6-F923-066AD5A017DD}"/>
              </a:ext>
            </a:extLst>
          </p:cNvPr>
          <p:cNvSpPr/>
          <p:nvPr/>
        </p:nvSpPr>
        <p:spPr>
          <a:xfrm>
            <a:off x="8020824" y="5917083"/>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99"/>
              <a:t> </a:t>
            </a:r>
          </a:p>
        </p:txBody>
      </p:sp>
      <p:sp>
        <p:nvSpPr>
          <p:cNvPr id="146" name="Arrow: Up 68">
            <a:extLst>
              <a:ext uri="{FF2B5EF4-FFF2-40B4-BE49-F238E27FC236}">
                <a16:creationId xmlns:a16="http://schemas.microsoft.com/office/drawing/2014/main" id="{B3A68649-1C88-F921-3AC1-368413F98254}"/>
              </a:ext>
            </a:extLst>
          </p:cNvPr>
          <p:cNvSpPr/>
          <p:nvPr/>
        </p:nvSpPr>
        <p:spPr>
          <a:xfrm rot="10800000">
            <a:off x="8020824" y="5680211"/>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99"/>
              <a:t> </a:t>
            </a:r>
          </a:p>
        </p:txBody>
      </p:sp>
      <p:sp>
        <p:nvSpPr>
          <p:cNvPr id="147" name="TextBox 146">
            <a:extLst>
              <a:ext uri="{FF2B5EF4-FFF2-40B4-BE49-F238E27FC236}">
                <a16:creationId xmlns:a16="http://schemas.microsoft.com/office/drawing/2014/main" id="{F484E64E-4D8E-6DE2-5253-52C86970DB54}"/>
              </a:ext>
            </a:extLst>
          </p:cNvPr>
          <p:cNvSpPr txBox="1"/>
          <p:nvPr/>
        </p:nvSpPr>
        <p:spPr bwMode="gray">
          <a:xfrm>
            <a:off x="3638834" y="5384971"/>
            <a:ext cx="3992325" cy="1046392"/>
          </a:xfrm>
          <a:prstGeom prst="rect">
            <a:avLst/>
          </a:prstGeom>
          <a:solidFill>
            <a:schemeClr val="bg1">
              <a:lumMod val="95000"/>
            </a:schemeClr>
          </a:solidFill>
        </p:spPr>
        <p:txBody>
          <a:bodyPr vert="horz" wrap="square" lIns="91416" tIns="91416" rIns="91416" bIns="91416" rtlCol="0">
            <a:spAutoFit/>
          </a:bodyPr>
          <a:lstStyle/>
          <a:p>
            <a:pPr algn="ctr">
              <a:spcBef>
                <a:spcPts val="400"/>
              </a:spcBef>
              <a:buSzPct val="65000"/>
              <a:defRPr/>
            </a:pPr>
            <a:r>
              <a:rPr lang="en-US" sz="1400" i="1">
                <a:solidFill>
                  <a:srgbClr val="000000"/>
                </a:solidFill>
              </a:rPr>
              <a:t>Data Marketplaces </a:t>
            </a:r>
            <a:r>
              <a:rPr lang="en-US" sz="1400" b="1" i="1">
                <a:solidFill>
                  <a:srgbClr val="00877C"/>
                </a:solidFill>
              </a:rPr>
              <a:t>drive </a:t>
            </a:r>
            <a:r>
              <a:rPr lang="en-US" sz="1400" b="1" i="1" err="1">
                <a:solidFill>
                  <a:srgbClr val="00877C"/>
                </a:solidFill>
              </a:rPr>
              <a:t>DnA</a:t>
            </a:r>
            <a:r>
              <a:rPr lang="en-US" sz="1400" b="1" i="1">
                <a:solidFill>
                  <a:srgbClr val="00877C"/>
                </a:solidFill>
              </a:rPr>
              <a:t> adoption and ROI </a:t>
            </a:r>
            <a:r>
              <a:rPr lang="en-US" sz="1400" i="1">
                <a:solidFill>
                  <a:srgbClr val="000000"/>
                </a:solidFill>
              </a:rPr>
              <a:t>by encouraging people across the enterprise to leverage data, </a:t>
            </a:r>
            <a:r>
              <a:rPr lang="en-US" sz="1400" b="1" i="1">
                <a:solidFill>
                  <a:srgbClr val="00877C"/>
                </a:solidFill>
              </a:rPr>
              <a:t>making data discovery easier, and enhancing democratization and data literacy</a:t>
            </a:r>
            <a:endParaRPr lang="en-US" sz="1200" b="1" i="1">
              <a:solidFill>
                <a:srgbClr val="00877C"/>
              </a:solidFill>
            </a:endParaRPr>
          </a:p>
        </p:txBody>
      </p:sp>
      <p:sp>
        <p:nvSpPr>
          <p:cNvPr id="148" name="Rectangle 147">
            <a:extLst>
              <a:ext uri="{FF2B5EF4-FFF2-40B4-BE49-F238E27FC236}">
                <a16:creationId xmlns:a16="http://schemas.microsoft.com/office/drawing/2014/main" id="{99901ACE-BE0B-2482-C96E-19AC302E07A9}"/>
              </a:ext>
            </a:extLst>
          </p:cNvPr>
          <p:cNvSpPr/>
          <p:nvPr/>
        </p:nvSpPr>
        <p:spPr>
          <a:xfrm flipV="1">
            <a:off x="3638834" y="5339264"/>
            <a:ext cx="3995928" cy="457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US" sz="1600" b="1">
              <a:solidFill>
                <a:schemeClr val="tx1"/>
              </a:solidFill>
            </a:endParaRPr>
          </a:p>
        </p:txBody>
      </p:sp>
      <p:pic>
        <p:nvPicPr>
          <p:cNvPr id="149" name="Picture 148">
            <a:extLst>
              <a:ext uri="{FF2B5EF4-FFF2-40B4-BE49-F238E27FC236}">
                <a16:creationId xmlns:a16="http://schemas.microsoft.com/office/drawing/2014/main" id="{AEF50655-CF5E-6D59-B105-7D13CD7148C7}"/>
              </a:ext>
            </a:extLst>
          </p:cNvPr>
          <p:cNvPicPr>
            <a:picLocks noChangeAspect="1"/>
          </p:cNvPicPr>
          <p:nvPr/>
        </p:nvPicPr>
        <p:blipFill>
          <a:blip r:embed="rId3"/>
          <a:stretch>
            <a:fillRect/>
          </a:stretch>
        </p:blipFill>
        <p:spPr>
          <a:xfrm>
            <a:off x="3898900" y="1619473"/>
            <a:ext cx="3547241" cy="3566160"/>
          </a:xfrm>
          <a:prstGeom prst="rect">
            <a:avLst/>
          </a:prstGeom>
        </p:spPr>
      </p:pic>
      <p:sp>
        <p:nvSpPr>
          <p:cNvPr id="150" name="Arrow: Up 39">
            <a:extLst>
              <a:ext uri="{FF2B5EF4-FFF2-40B4-BE49-F238E27FC236}">
                <a16:creationId xmlns:a16="http://schemas.microsoft.com/office/drawing/2014/main" id="{5098CBFA-F4DC-0F72-FA2C-C45995284310}"/>
              </a:ext>
            </a:extLst>
          </p:cNvPr>
          <p:cNvSpPr/>
          <p:nvPr/>
        </p:nvSpPr>
        <p:spPr>
          <a:xfrm>
            <a:off x="8020823" y="6144570"/>
            <a:ext cx="152360" cy="17619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Tree>
    <p:extLst>
      <p:ext uri="{BB962C8B-B14F-4D97-AF65-F5344CB8AC3E}">
        <p14:creationId xmlns:p14="http://schemas.microsoft.com/office/powerpoint/2010/main" val="105546289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a:solidFill>
                  <a:schemeClr val="accent2"/>
                </a:solidFill>
                <a:ea typeface="Open Sans"/>
                <a:cs typeface="Open Sans"/>
              </a:rPr>
              <a:t>Common capabilities </a:t>
            </a:r>
            <a:r>
              <a:rPr lang="en-US" sz="2200">
                <a:ea typeface="Open Sans"/>
                <a:cs typeface="Open Sans"/>
              </a:rPr>
              <a:t>enabled for our clients</a:t>
            </a:r>
          </a:p>
        </p:txBody>
      </p:sp>
      <p:grpSp>
        <p:nvGrpSpPr>
          <p:cNvPr id="53" name="Group 52">
            <a:extLst>
              <a:ext uri="{FF2B5EF4-FFF2-40B4-BE49-F238E27FC236}">
                <a16:creationId xmlns:a16="http://schemas.microsoft.com/office/drawing/2014/main" id="{841B9653-074A-0029-EF2C-A027B6AB04F5}"/>
              </a:ext>
            </a:extLst>
          </p:cNvPr>
          <p:cNvGrpSpPr/>
          <p:nvPr/>
        </p:nvGrpSpPr>
        <p:grpSpPr>
          <a:xfrm>
            <a:off x="4861077" y="1591695"/>
            <a:ext cx="2181654" cy="2178951"/>
            <a:chOff x="3259203" y="1561092"/>
            <a:chExt cx="2182792" cy="2180087"/>
          </a:xfrm>
          <a:solidFill>
            <a:srgbClr val="FDD300"/>
          </a:solidFill>
        </p:grpSpPr>
        <p:sp>
          <p:nvSpPr>
            <p:cNvPr id="54" name="Freeform 5">
              <a:extLst>
                <a:ext uri="{FF2B5EF4-FFF2-40B4-BE49-F238E27FC236}">
                  <a16:creationId xmlns:a16="http://schemas.microsoft.com/office/drawing/2014/main" id="{486DA7DC-5737-149B-B268-7E534103BE96}"/>
                </a:ext>
              </a:extLst>
            </p:cNvPr>
            <p:cNvSpPr>
              <a:spLocks noEditPoints="1"/>
            </p:cNvSpPr>
            <p:nvPr/>
          </p:nvSpPr>
          <p:spPr bwMode="auto">
            <a:xfrm>
              <a:off x="3602715" y="1569207"/>
              <a:ext cx="1506586" cy="1847394"/>
            </a:xfrm>
            <a:custGeom>
              <a:avLst/>
              <a:gdLst>
                <a:gd name="T0" fmla="*/ 1114 w 1114"/>
                <a:gd name="T1" fmla="*/ 1366 h 1366"/>
                <a:gd name="T2" fmla="*/ 0 w 1114"/>
                <a:gd name="T3" fmla="*/ 1366 h 1366"/>
                <a:gd name="T4" fmla="*/ 0 w 1114"/>
                <a:gd name="T5" fmla="*/ 1364 h 1366"/>
                <a:gd name="T6" fmla="*/ 556 w 1114"/>
                <a:gd name="T7" fmla="*/ 0 h 1366"/>
                <a:gd name="T8" fmla="*/ 558 w 1114"/>
                <a:gd name="T9" fmla="*/ 4 h 1366"/>
                <a:gd name="T10" fmla="*/ 1114 w 1114"/>
                <a:gd name="T11" fmla="*/ 1366 h 1366"/>
                <a:gd name="T12" fmla="*/ 4 w 1114"/>
                <a:gd name="T13" fmla="*/ 1364 h 1366"/>
                <a:gd name="T14" fmla="*/ 1110 w 1114"/>
                <a:gd name="T15" fmla="*/ 1364 h 1366"/>
                <a:gd name="T16" fmla="*/ 556 w 1114"/>
                <a:gd name="T17" fmla="*/ 8 h 1366"/>
                <a:gd name="T18" fmla="*/ 4 w 1114"/>
                <a:gd name="T19" fmla="*/ 1364 h 1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4" h="1366">
                  <a:moveTo>
                    <a:pt x="1114" y="1366"/>
                  </a:moveTo>
                  <a:lnTo>
                    <a:pt x="0" y="1366"/>
                  </a:lnTo>
                  <a:lnTo>
                    <a:pt x="0" y="1364"/>
                  </a:lnTo>
                  <a:lnTo>
                    <a:pt x="556" y="0"/>
                  </a:lnTo>
                  <a:lnTo>
                    <a:pt x="558" y="4"/>
                  </a:lnTo>
                  <a:lnTo>
                    <a:pt x="1114" y="1366"/>
                  </a:lnTo>
                  <a:close/>
                  <a:moveTo>
                    <a:pt x="4" y="1364"/>
                  </a:moveTo>
                  <a:lnTo>
                    <a:pt x="1110" y="1364"/>
                  </a:lnTo>
                  <a:lnTo>
                    <a:pt x="556" y="8"/>
                  </a:lnTo>
                  <a:lnTo>
                    <a:pt x="4" y="13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Freeform 6">
              <a:extLst>
                <a:ext uri="{FF2B5EF4-FFF2-40B4-BE49-F238E27FC236}">
                  <a16:creationId xmlns:a16="http://schemas.microsoft.com/office/drawing/2014/main" id="{7DE53D43-8A1E-0010-5B97-44537E1034B8}"/>
                </a:ext>
              </a:extLst>
            </p:cNvPr>
            <p:cNvSpPr>
              <a:spLocks noEditPoints="1"/>
            </p:cNvSpPr>
            <p:nvPr/>
          </p:nvSpPr>
          <p:spPr bwMode="auto">
            <a:xfrm>
              <a:off x="3602715" y="1893785"/>
              <a:ext cx="1509291" cy="1847394"/>
            </a:xfrm>
            <a:custGeom>
              <a:avLst/>
              <a:gdLst>
                <a:gd name="T0" fmla="*/ 558 w 1116"/>
                <a:gd name="T1" fmla="*/ 1366 h 1366"/>
                <a:gd name="T2" fmla="*/ 556 w 1116"/>
                <a:gd name="T3" fmla="*/ 1362 h 1366"/>
                <a:gd name="T4" fmla="*/ 0 w 1116"/>
                <a:gd name="T5" fmla="*/ 0 h 1366"/>
                <a:gd name="T6" fmla="*/ 1116 w 1116"/>
                <a:gd name="T7" fmla="*/ 0 h 1366"/>
                <a:gd name="T8" fmla="*/ 1116 w 1116"/>
                <a:gd name="T9" fmla="*/ 2 h 1366"/>
                <a:gd name="T10" fmla="*/ 558 w 1116"/>
                <a:gd name="T11" fmla="*/ 1366 h 1366"/>
                <a:gd name="T12" fmla="*/ 4 w 1116"/>
                <a:gd name="T13" fmla="*/ 2 h 1366"/>
                <a:gd name="T14" fmla="*/ 558 w 1116"/>
                <a:gd name="T15" fmla="*/ 1358 h 1366"/>
                <a:gd name="T16" fmla="*/ 1112 w 1116"/>
                <a:gd name="T17" fmla="*/ 2 h 1366"/>
                <a:gd name="T18" fmla="*/ 4 w 1116"/>
                <a:gd name="T19" fmla="*/ 2 h 1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6" h="1366">
                  <a:moveTo>
                    <a:pt x="558" y="1366"/>
                  </a:moveTo>
                  <a:lnTo>
                    <a:pt x="556" y="1362"/>
                  </a:lnTo>
                  <a:lnTo>
                    <a:pt x="0" y="0"/>
                  </a:lnTo>
                  <a:lnTo>
                    <a:pt x="1116" y="0"/>
                  </a:lnTo>
                  <a:lnTo>
                    <a:pt x="1116" y="2"/>
                  </a:lnTo>
                  <a:lnTo>
                    <a:pt x="558" y="1366"/>
                  </a:lnTo>
                  <a:close/>
                  <a:moveTo>
                    <a:pt x="4" y="2"/>
                  </a:moveTo>
                  <a:lnTo>
                    <a:pt x="558" y="1358"/>
                  </a:lnTo>
                  <a:lnTo>
                    <a:pt x="1112" y="2"/>
                  </a:lnTo>
                  <a:lnTo>
                    <a:pt x="4"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Freeform 7">
              <a:extLst>
                <a:ext uri="{FF2B5EF4-FFF2-40B4-BE49-F238E27FC236}">
                  <a16:creationId xmlns:a16="http://schemas.microsoft.com/office/drawing/2014/main" id="{494E00AA-E729-1B30-CE03-88B2F35CF01D}"/>
                </a:ext>
              </a:extLst>
            </p:cNvPr>
            <p:cNvSpPr>
              <a:spLocks noEditPoints="1"/>
            </p:cNvSpPr>
            <p:nvPr/>
          </p:nvSpPr>
          <p:spPr bwMode="auto">
            <a:xfrm>
              <a:off x="3361986" y="2245412"/>
              <a:ext cx="1996158" cy="841200"/>
            </a:xfrm>
            <a:custGeom>
              <a:avLst/>
              <a:gdLst>
                <a:gd name="T0" fmla="*/ 1476 w 1476"/>
                <a:gd name="T1" fmla="*/ 622 h 622"/>
                <a:gd name="T2" fmla="*/ 0 w 1476"/>
                <a:gd name="T3" fmla="*/ 622 h 622"/>
                <a:gd name="T4" fmla="*/ 0 w 1476"/>
                <a:gd name="T5" fmla="*/ 0 h 622"/>
                <a:gd name="T6" fmla="*/ 1476 w 1476"/>
                <a:gd name="T7" fmla="*/ 0 h 622"/>
                <a:gd name="T8" fmla="*/ 1476 w 1476"/>
                <a:gd name="T9" fmla="*/ 622 h 622"/>
                <a:gd name="T10" fmla="*/ 2 w 1476"/>
                <a:gd name="T11" fmla="*/ 620 h 622"/>
                <a:gd name="T12" fmla="*/ 1474 w 1476"/>
                <a:gd name="T13" fmla="*/ 620 h 622"/>
                <a:gd name="T14" fmla="*/ 1474 w 1476"/>
                <a:gd name="T15" fmla="*/ 4 h 622"/>
                <a:gd name="T16" fmla="*/ 2 w 1476"/>
                <a:gd name="T17" fmla="*/ 4 h 622"/>
                <a:gd name="T18" fmla="*/ 2 w 1476"/>
                <a:gd name="T19" fmla="*/ 620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6" h="622">
                  <a:moveTo>
                    <a:pt x="1476" y="622"/>
                  </a:moveTo>
                  <a:lnTo>
                    <a:pt x="0" y="622"/>
                  </a:lnTo>
                  <a:lnTo>
                    <a:pt x="0" y="0"/>
                  </a:lnTo>
                  <a:lnTo>
                    <a:pt x="1476" y="0"/>
                  </a:lnTo>
                  <a:lnTo>
                    <a:pt x="1476" y="622"/>
                  </a:lnTo>
                  <a:close/>
                  <a:moveTo>
                    <a:pt x="2" y="620"/>
                  </a:moveTo>
                  <a:lnTo>
                    <a:pt x="1474" y="620"/>
                  </a:lnTo>
                  <a:lnTo>
                    <a:pt x="1474" y="4"/>
                  </a:lnTo>
                  <a:lnTo>
                    <a:pt x="2" y="4"/>
                  </a:lnTo>
                  <a:lnTo>
                    <a:pt x="2" y="6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7" name="Freeform 8">
              <a:extLst>
                <a:ext uri="{FF2B5EF4-FFF2-40B4-BE49-F238E27FC236}">
                  <a16:creationId xmlns:a16="http://schemas.microsoft.com/office/drawing/2014/main" id="{1FD11AB9-17B5-C37E-B7F7-879658D23516}"/>
                </a:ext>
              </a:extLst>
            </p:cNvPr>
            <p:cNvSpPr>
              <a:spLocks noEditPoints="1"/>
            </p:cNvSpPr>
            <p:nvPr/>
          </p:nvSpPr>
          <p:spPr bwMode="auto">
            <a:xfrm>
              <a:off x="3938114" y="1666581"/>
              <a:ext cx="841200" cy="1998863"/>
            </a:xfrm>
            <a:custGeom>
              <a:avLst/>
              <a:gdLst>
                <a:gd name="T0" fmla="*/ 622 w 622"/>
                <a:gd name="T1" fmla="*/ 1478 h 1478"/>
                <a:gd name="T2" fmla="*/ 0 w 622"/>
                <a:gd name="T3" fmla="*/ 1478 h 1478"/>
                <a:gd name="T4" fmla="*/ 0 w 622"/>
                <a:gd name="T5" fmla="*/ 0 h 1478"/>
                <a:gd name="T6" fmla="*/ 622 w 622"/>
                <a:gd name="T7" fmla="*/ 0 h 1478"/>
                <a:gd name="T8" fmla="*/ 622 w 622"/>
                <a:gd name="T9" fmla="*/ 1478 h 1478"/>
                <a:gd name="T10" fmla="*/ 4 w 622"/>
                <a:gd name="T11" fmla="*/ 1476 h 1478"/>
                <a:gd name="T12" fmla="*/ 620 w 622"/>
                <a:gd name="T13" fmla="*/ 1476 h 1478"/>
                <a:gd name="T14" fmla="*/ 620 w 622"/>
                <a:gd name="T15" fmla="*/ 4 h 1478"/>
                <a:gd name="T16" fmla="*/ 4 w 622"/>
                <a:gd name="T17" fmla="*/ 4 h 1478"/>
                <a:gd name="T18" fmla="*/ 4 w 622"/>
                <a:gd name="T19" fmla="*/ 1476 h 1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2" h="1478">
                  <a:moveTo>
                    <a:pt x="622" y="1478"/>
                  </a:moveTo>
                  <a:lnTo>
                    <a:pt x="0" y="1478"/>
                  </a:lnTo>
                  <a:lnTo>
                    <a:pt x="0" y="0"/>
                  </a:lnTo>
                  <a:lnTo>
                    <a:pt x="622" y="0"/>
                  </a:lnTo>
                  <a:lnTo>
                    <a:pt x="622" y="1478"/>
                  </a:lnTo>
                  <a:close/>
                  <a:moveTo>
                    <a:pt x="4" y="1476"/>
                  </a:moveTo>
                  <a:lnTo>
                    <a:pt x="620" y="1476"/>
                  </a:lnTo>
                  <a:lnTo>
                    <a:pt x="620" y="4"/>
                  </a:lnTo>
                  <a:lnTo>
                    <a:pt x="4" y="4"/>
                  </a:lnTo>
                  <a:lnTo>
                    <a:pt x="4" y="1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8" name="Freeform 9">
              <a:extLst>
                <a:ext uri="{FF2B5EF4-FFF2-40B4-BE49-F238E27FC236}">
                  <a16:creationId xmlns:a16="http://schemas.microsoft.com/office/drawing/2014/main" id="{E61F4D40-F4F6-2DAA-65A1-3BD37C283641}"/>
                </a:ext>
              </a:extLst>
            </p:cNvPr>
            <p:cNvSpPr>
              <a:spLocks/>
            </p:cNvSpPr>
            <p:nvPr/>
          </p:nvSpPr>
          <p:spPr bwMode="auto">
            <a:xfrm>
              <a:off x="3361986" y="2245412"/>
              <a:ext cx="1996158" cy="841200"/>
            </a:xfrm>
            <a:custGeom>
              <a:avLst/>
              <a:gdLst>
                <a:gd name="T0" fmla="*/ 1474 w 1476"/>
                <a:gd name="T1" fmla="*/ 622 h 622"/>
                <a:gd name="T2" fmla="*/ 0 w 1476"/>
                <a:gd name="T3" fmla="*/ 2 h 622"/>
                <a:gd name="T4" fmla="*/ 0 w 1476"/>
                <a:gd name="T5" fmla="*/ 0 h 622"/>
                <a:gd name="T6" fmla="*/ 1476 w 1476"/>
                <a:gd name="T7" fmla="*/ 620 h 622"/>
                <a:gd name="T8" fmla="*/ 1474 w 1476"/>
                <a:gd name="T9" fmla="*/ 622 h 622"/>
              </a:gdLst>
              <a:ahLst/>
              <a:cxnLst>
                <a:cxn ang="0">
                  <a:pos x="T0" y="T1"/>
                </a:cxn>
                <a:cxn ang="0">
                  <a:pos x="T2" y="T3"/>
                </a:cxn>
                <a:cxn ang="0">
                  <a:pos x="T4" y="T5"/>
                </a:cxn>
                <a:cxn ang="0">
                  <a:pos x="T6" y="T7"/>
                </a:cxn>
                <a:cxn ang="0">
                  <a:pos x="T8" y="T9"/>
                </a:cxn>
              </a:cxnLst>
              <a:rect l="0" t="0" r="r" b="b"/>
              <a:pathLst>
                <a:path w="1476" h="622">
                  <a:moveTo>
                    <a:pt x="1474" y="622"/>
                  </a:moveTo>
                  <a:lnTo>
                    <a:pt x="0" y="2"/>
                  </a:lnTo>
                  <a:lnTo>
                    <a:pt x="0" y="0"/>
                  </a:lnTo>
                  <a:lnTo>
                    <a:pt x="1476" y="620"/>
                  </a:lnTo>
                  <a:lnTo>
                    <a:pt x="1474" y="6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Freeform 10">
              <a:extLst>
                <a:ext uri="{FF2B5EF4-FFF2-40B4-BE49-F238E27FC236}">
                  <a16:creationId xmlns:a16="http://schemas.microsoft.com/office/drawing/2014/main" id="{0088604B-A6DD-C526-3820-2EF261B26B30}"/>
                </a:ext>
              </a:extLst>
            </p:cNvPr>
            <p:cNvSpPr>
              <a:spLocks/>
            </p:cNvSpPr>
            <p:nvPr/>
          </p:nvSpPr>
          <p:spPr bwMode="auto">
            <a:xfrm>
              <a:off x="3616240" y="1893785"/>
              <a:ext cx="1817641" cy="770875"/>
            </a:xfrm>
            <a:custGeom>
              <a:avLst/>
              <a:gdLst>
                <a:gd name="T0" fmla="*/ 1342 w 1344"/>
                <a:gd name="T1" fmla="*/ 570 h 570"/>
                <a:gd name="T2" fmla="*/ 0 w 1344"/>
                <a:gd name="T3" fmla="*/ 2 h 570"/>
                <a:gd name="T4" fmla="*/ 0 w 1344"/>
                <a:gd name="T5" fmla="*/ 0 h 570"/>
                <a:gd name="T6" fmla="*/ 1344 w 1344"/>
                <a:gd name="T7" fmla="*/ 568 h 570"/>
                <a:gd name="T8" fmla="*/ 1342 w 1344"/>
                <a:gd name="T9" fmla="*/ 570 h 570"/>
              </a:gdLst>
              <a:ahLst/>
              <a:cxnLst>
                <a:cxn ang="0">
                  <a:pos x="T0" y="T1"/>
                </a:cxn>
                <a:cxn ang="0">
                  <a:pos x="T2" y="T3"/>
                </a:cxn>
                <a:cxn ang="0">
                  <a:pos x="T4" y="T5"/>
                </a:cxn>
                <a:cxn ang="0">
                  <a:pos x="T6" y="T7"/>
                </a:cxn>
                <a:cxn ang="0">
                  <a:pos x="T8" y="T9"/>
                </a:cxn>
              </a:cxnLst>
              <a:rect l="0" t="0" r="r" b="b"/>
              <a:pathLst>
                <a:path w="1344" h="570">
                  <a:moveTo>
                    <a:pt x="1342" y="570"/>
                  </a:moveTo>
                  <a:lnTo>
                    <a:pt x="0" y="2"/>
                  </a:lnTo>
                  <a:lnTo>
                    <a:pt x="0" y="0"/>
                  </a:lnTo>
                  <a:lnTo>
                    <a:pt x="1344" y="568"/>
                  </a:lnTo>
                  <a:lnTo>
                    <a:pt x="1342" y="5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0" name="Freeform 11">
              <a:extLst>
                <a:ext uri="{FF2B5EF4-FFF2-40B4-BE49-F238E27FC236}">
                  <a16:creationId xmlns:a16="http://schemas.microsoft.com/office/drawing/2014/main" id="{AA62A8D5-45F2-31D3-2E80-1FF5237846F8}"/>
                </a:ext>
              </a:extLst>
            </p:cNvPr>
            <p:cNvSpPr>
              <a:spLocks/>
            </p:cNvSpPr>
            <p:nvPr/>
          </p:nvSpPr>
          <p:spPr bwMode="auto">
            <a:xfrm>
              <a:off x="3267318" y="2643021"/>
              <a:ext cx="1841983" cy="773579"/>
            </a:xfrm>
            <a:custGeom>
              <a:avLst/>
              <a:gdLst>
                <a:gd name="T0" fmla="*/ 1360 w 1362"/>
                <a:gd name="T1" fmla="*/ 572 h 572"/>
                <a:gd name="T2" fmla="*/ 0 w 1362"/>
                <a:gd name="T3" fmla="*/ 2 h 572"/>
                <a:gd name="T4" fmla="*/ 2 w 1362"/>
                <a:gd name="T5" fmla="*/ 0 h 572"/>
                <a:gd name="T6" fmla="*/ 1362 w 1362"/>
                <a:gd name="T7" fmla="*/ 570 h 572"/>
                <a:gd name="T8" fmla="*/ 1360 w 1362"/>
                <a:gd name="T9" fmla="*/ 572 h 572"/>
              </a:gdLst>
              <a:ahLst/>
              <a:cxnLst>
                <a:cxn ang="0">
                  <a:pos x="T0" y="T1"/>
                </a:cxn>
                <a:cxn ang="0">
                  <a:pos x="T2" y="T3"/>
                </a:cxn>
                <a:cxn ang="0">
                  <a:pos x="T4" y="T5"/>
                </a:cxn>
                <a:cxn ang="0">
                  <a:pos x="T6" y="T7"/>
                </a:cxn>
                <a:cxn ang="0">
                  <a:pos x="T8" y="T9"/>
                </a:cxn>
              </a:cxnLst>
              <a:rect l="0" t="0" r="r" b="b"/>
              <a:pathLst>
                <a:path w="1362" h="572">
                  <a:moveTo>
                    <a:pt x="1360" y="572"/>
                  </a:moveTo>
                  <a:lnTo>
                    <a:pt x="0" y="2"/>
                  </a:lnTo>
                  <a:lnTo>
                    <a:pt x="2" y="0"/>
                  </a:lnTo>
                  <a:lnTo>
                    <a:pt x="1362" y="570"/>
                  </a:lnTo>
                  <a:lnTo>
                    <a:pt x="1360"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Freeform 12">
              <a:extLst>
                <a:ext uri="{FF2B5EF4-FFF2-40B4-BE49-F238E27FC236}">
                  <a16:creationId xmlns:a16="http://schemas.microsoft.com/office/drawing/2014/main" id="{8504DB4C-B4FF-8176-7775-95B50BC4F283}"/>
                </a:ext>
              </a:extLst>
            </p:cNvPr>
            <p:cNvSpPr>
              <a:spLocks/>
            </p:cNvSpPr>
            <p:nvPr/>
          </p:nvSpPr>
          <p:spPr bwMode="auto">
            <a:xfrm>
              <a:off x="3345757" y="2245412"/>
              <a:ext cx="2012388" cy="841200"/>
            </a:xfrm>
            <a:custGeom>
              <a:avLst/>
              <a:gdLst>
                <a:gd name="T0" fmla="*/ 0 w 1488"/>
                <a:gd name="T1" fmla="*/ 622 h 622"/>
                <a:gd name="T2" fmla="*/ 0 w 1488"/>
                <a:gd name="T3" fmla="*/ 620 h 622"/>
                <a:gd name="T4" fmla="*/ 1486 w 1488"/>
                <a:gd name="T5" fmla="*/ 0 h 622"/>
                <a:gd name="T6" fmla="*/ 1488 w 1488"/>
                <a:gd name="T7" fmla="*/ 2 h 622"/>
                <a:gd name="T8" fmla="*/ 0 w 1488"/>
                <a:gd name="T9" fmla="*/ 622 h 622"/>
              </a:gdLst>
              <a:ahLst/>
              <a:cxnLst>
                <a:cxn ang="0">
                  <a:pos x="T0" y="T1"/>
                </a:cxn>
                <a:cxn ang="0">
                  <a:pos x="T2" y="T3"/>
                </a:cxn>
                <a:cxn ang="0">
                  <a:pos x="T4" y="T5"/>
                </a:cxn>
                <a:cxn ang="0">
                  <a:pos x="T6" y="T7"/>
                </a:cxn>
                <a:cxn ang="0">
                  <a:pos x="T8" y="T9"/>
                </a:cxn>
              </a:cxnLst>
              <a:rect l="0" t="0" r="r" b="b"/>
              <a:pathLst>
                <a:path w="1488" h="622">
                  <a:moveTo>
                    <a:pt x="0" y="622"/>
                  </a:moveTo>
                  <a:lnTo>
                    <a:pt x="0" y="620"/>
                  </a:lnTo>
                  <a:lnTo>
                    <a:pt x="1486" y="0"/>
                  </a:lnTo>
                  <a:lnTo>
                    <a:pt x="1488" y="2"/>
                  </a:lnTo>
                  <a:lnTo>
                    <a:pt x="0" y="6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Freeform 13">
              <a:extLst>
                <a:ext uri="{FF2B5EF4-FFF2-40B4-BE49-F238E27FC236}">
                  <a16:creationId xmlns:a16="http://schemas.microsoft.com/office/drawing/2014/main" id="{478A5E9B-608F-5EBB-AFD6-E1346C751ECC}"/>
                </a:ext>
              </a:extLst>
            </p:cNvPr>
            <p:cNvSpPr>
              <a:spLocks/>
            </p:cNvSpPr>
            <p:nvPr/>
          </p:nvSpPr>
          <p:spPr bwMode="auto">
            <a:xfrm>
              <a:off x="3270022" y="1893785"/>
              <a:ext cx="1839280" cy="751940"/>
            </a:xfrm>
            <a:custGeom>
              <a:avLst/>
              <a:gdLst>
                <a:gd name="T0" fmla="*/ 0 w 1360"/>
                <a:gd name="T1" fmla="*/ 556 h 556"/>
                <a:gd name="T2" fmla="*/ 0 w 1360"/>
                <a:gd name="T3" fmla="*/ 554 h 556"/>
                <a:gd name="T4" fmla="*/ 1360 w 1360"/>
                <a:gd name="T5" fmla="*/ 0 h 556"/>
                <a:gd name="T6" fmla="*/ 1360 w 1360"/>
                <a:gd name="T7" fmla="*/ 2 h 556"/>
                <a:gd name="T8" fmla="*/ 0 w 1360"/>
                <a:gd name="T9" fmla="*/ 556 h 556"/>
              </a:gdLst>
              <a:ahLst/>
              <a:cxnLst>
                <a:cxn ang="0">
                  <a:pos x="T0" y="T1"/>
                </a:cxn>
                <a:cxn ang="0">
                  <a:pos x="T2" y="T3"/>
                </a:cxn>
                <a:cxn ang="0">
                  <a:pos x="T4" y="T5"/>
                </a:cxn>
                <a:cxn ang="0">
                  <a:pos x="T6" y="T7"/>
                </a:cxn>
                <a:cxn ang="0">
                  <a:pos x="T8" y="T9"/>
                </a:cxn>
              </a:cxnLst>
              <a:rect l="0" t="0" r="r" b="b"/>
              <a:pathLst>
                <a:path w="1360" h="556">
                  <a:moveTo>
                    <a:pt x="0" y="556"/>
                  </a:moveTo>
                  <a:lnTo>
                    <a:pt x="0" y="554"/>
                  </a:lnTo>
                  <a:lnTo>
                    <a:pt x="1360" y="0"/>
                  </a:lnTo>
                  <a:lnTo>
                    <a:pt x="1360" y="2"/>
                  </a:lnTo>
                  <a:lnTo>
                    <a:pt x="0" y="5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3" name="Freeform 14">
              <a:extLst>
                <a:ext uri="{FF2B5EF4-FFF2-40B4-BE49-F238E27FC236}">
                  <a16:creationId xmlns:a16="http://schemas.microsoft.com/office/drawing/2014/main" id="{4609B91A-1DA9-9C90-07F9-30237555C105}"/>
                </a:ext>
              </a:extLst>
            </p:cNvPr>
            <p:cNvSpPr>
              <a:spLocks/>
            </p:cNvSpPr>
            <p:nvPr/>
          </p:nvSpPr>
          <p:spPr bwMode="auto">
            <a:xfrm>
              <a:off x="3602715" y="2661955"/>
              <a:ext cx="1831165" cy="754645"/>
            </a:xfrm>
            <a:custGeom>
              <a:avLst/>
              <a:gdLst>
                <a:gd name="T0" fmla="*/ 2 w 1354"/>
                <a:gd name="T1" fmla="*/ 558 h 558"/>
                <a:gd name="T2" fmla="*/ 0 w 1354"/>
                <a:gd name="T3" fmla="*/ 556 h 558"/>
                <a:gd name="T4" fmla="*/ 1352 w 1354"/>
                <a:gd name="T5" fmla="*/ 0 h 558"/>
                <a:gd name="T6" fmla="*/ 1354 w 1354"/>
                <a:gd name="T7" fmla="*/ 4 h 558"/>
                <a:gd name="T8" fmla="*/ 2 w 1354"/>
                <a:gd name="T9" fmla="*/ 558 h 558"/>
              </a:gdLst>
              <a:ahLst/>
              <a:cxnLst>
                <a:cxn ang="0">
                  <a:pos x="T0" y="T1"/>
                </a:cxn>
                <a:cxn ang="0">
                  <a:pos x="T2" y="T3"/>
                </a:cxn>
                <a:cxn ang="0">
                  <a:pos x="T4" y="T5"/>
                </a:cxn>
                <a:cxn ang="0">
                  <a:pos x="T6" y="T7"/>
                </a:cxn>
                <a:cxn ang="0">
                  <a:pos x="T8" y="T9"/>
                </a:cxn>
              </a:cxnLst>
              <a:rect l="0" t="0" r="r" b="b"/>
              <a:pathLst>
                <a:path w="1354" h="558">
                  <a:moveTo>
                    <a:pt x="2" y="558"/>
                  </a:moveTo>
                  <a:lnTo>
                    <a:pt x="0" y="556"/>
                  </a:lnTo>
                  <a:lnTo>
                    <a:pt x="1352" y="0"/>
                  </a:lnTo>
                  <a:lnTo>
                    <a:pt x="1354" y="4"/>
                  </a:lnTo>
                  <a:lnTo>
                    <a:pt x="2" y="5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8" name="Freeform 15">
              <a:extLst>
                <a:ext uri="{FF2B5EF4-FFF2-40B4-BE49-F238E27FC236}">
                  <a16:creationId xmlns:a16="http://schemas.microsoft.com/office/drawing/2014/main" id="{8B90366B-1DB9-6846-E3FE-21C47F708226}"/>
                </a:ext>
              </a:extLst>
            </p:cNvPr>
            <p:cNvSpPr>
              <a:spLocks/>
            </p:cNvSpPr>
            <p:nvPr/>
          </p:nvSpPr>
          <p:spPr bwMode="auto">
            <a:xfrm>
              <a:off x="3938114" y="1669285"/>
              <a:ext cx="841200" cy="1996159"/>
            </a:xfrm>
            <a:custGeom>
              <a:avLst/>
              <a:gdLst>
                <a:gd name="T0" fmla="*/ 620 w 622"/>
                <a:gd name="T1" fmla="*/ 1476 h 1476"/>
                <a:gd name="T2" fmla="*/ 0 w 622"/>
                <a:gd name="T3" fmla="*/ 0 h 1476"/>
                <a:gd name="T4" fmla="*/ 4 w 622"/>
                <a:gd name="T5" fmla="*/ 0 h 1476"/>
                <a:gd name="T6" fmla="*/ 622 w 622"/>
                <a:gd name="T7" fmla="*/ 1474 h 1476"/>
                <a:gd name="T8" fmla="*/ 620 w 622"/>
                <a:gd name="T9" fmla="*/ 1476 h 1476"/>
              </a:gdLst>
              <a:ahLst/>
              <a:cxnLst>
                <a:cxn ang="0">
                  <a:pos x="T0" y="T1"/>
                </a:cxn>
                <a:cxn ang="0">
                  <a:pos x="T2" y="T3"/>
                </a:cxn>
                <a:cxn ang="0">
                  <a:pos x="T4" y="T5"/>
                </a:cxn>
                <a:cxn ang="0">
                  <a:pos x="T6" y="T7"/>
                </a:cxn>
                <a:cxn ang="0">
                  <a:pos x="T8" y="T9"/>
                </a:cxn>
              </a:cxnLst>
              <a:rect l="0" t="0" r="r" b="b"/>
              <a:pathLst>
                <a:path w="622" h="1476">
                  <a:moveTo>
                    <a:pt x="620" y="1476"/>
                  </a:moveTo>
                  <a:lnTo>
                    <a:pt x="0" y="0"/>
                  </a:lnTo>
                  <a:lnTo>
                    <a:pt x="4" y="0"/>
                  </a:lnTo>
                  <a:lnTo>
                    <a:pt x="622" y="1474"/>
                  </a:lnTo>
                  <a:lnTo>
                    <a:pt x="620" y="1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9" name="Freeform 16">
              <a:extLst>
                <a:ext uri="{FF2B5EF4-FFF2-40B4-BE49-F238E27FC236}">
                  <a16:creationId xmlns:a16="http://schemas.microsoft.com/office/drawing/2014/main" id="{BFCEA8A5-85D1-5D37-2F75-586015FDDBCE}"/>
                </a:ext>
              </a:extLst>
            </p:cNvPr>
            <p:cNvSpPr>
              <a:spLocks/>
            </p:cNvSpPr>
            <p:nvPr/>
          </p:nvSpPr>
          <p:spPr bwMode="auto">
            <a:xfrm>
              <a:off x="3938114" y="1669285"/>
              <a:ext cx="841200" cy="1996159"/>
            </a:xfrm>
            <a:custGeom>
              <a:avLst/>
              <a:gdLst>
                <a:gd name="T0" fmla="*/ 4 w 622"/>
                <a:gd name="T1" fmla="*/ 1476 h 1476"/>
                <a:gd name="T2" fmla="*/ 0 w 622"/>
                <a:gd name="T3" fmla="*/ 1474 h 1476"/>
                <a:gd name="T4" fmla="*/ 620 w 622"/>
                <a:gd name="T5" fmla="*/ 0 h 1476"/>
                <a:gd name="T6" fmla="*/ 622 w 622"/>
                <a:gd name="T7" fmla="*/ 0 h 1476"/>
                <a:gd name="T8" fmla="*/ 4 w 622"/>
                <a:gd name="T9" fmla="*/ 1476 h 1476"/>
              </a:gdLst>
              <a:ahLst/>
              <a:cxnLst>
                <a:cxn ang="0">
                  <a:pos x="T0" y="T1"/>
                </a:cxn>
                <a:cxn ang="0">
                  <a:pos x="T2" y="T3"/>
                </a:cxn>
                <a:cxn ang="0">
                  <a:pos x="T4" y="T5"/>
                </a:cxn>
                <a:cxn ang="0">
                  <a:pos x="T6" y="T7"/>
                </a:cxn>
                <a:cxn ang="0">
                  <a:pos x="T8" y="T9"/>
                </a:cxn>
              </a:cxnLst>
              <a:rect l="0" t="0" r="r" b="b"/>
              <a:pathLst>
                <a:path w="622" h="1476">
                  <a:moveTo>
                    <a:pt x="4" y="1476"/>
                  </a:moveTo>
                  <a:lnTo>
                    <a:pt x="0" y="1474"/>
                  </a:lnTo>
                  <a:lnTo>
                    <a:pt x="620" y="0"/>
                  </a:lnTo>
                  <a:lnTo>
                    <a:pt x="622" y="0"/>
                  </a:lnTo>
                  <a:lnTo>
                    <a:pt x="4" y="1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0" name="Freeform 17">
              <a:extLst>
                <a:ext uri="{FF2B5EF4-FFF2-40B4-BE49-F238E27FC236}">
                  <a16:creationId xmlns:a16="http://schemas.microsoft.com/office/drawing/2014/main" id="{7F1F0134-326E-D01D-484E-805542134A84}"/>
                </a:ext>
              </a:extLst>
            </p:cNvPr>
            <p:cNvSpPr>
              <a:spLocks/>
            </p:cNvSpPr>
            <p:nvPr/>
          </p:nvSpPr>
          <p:spPr bwMode="auto">
            <a:xfrm>
              <a:off x="3345757" y="2234594"/>
              <a:ext cx="29753" cy="29753"/>
            </a:xfrm>
            <a:custGeom>
              <a:avLst/>
              <a:gdLst>
                <a:gd name="T0" fmla="*/ 22 w 22"/>
                <a:gd name="T1" fmla="*/ 10 h 22"/>
                <a:gd name="T2" fmla="*/ 22 w 22"/>
                <a:gd name="T3" fmla="*/ 10 h 22"/>
                <a:gd name="T4" fmla="*/ 20 w 22"/>
                <a:gd name="T5" fmla="*/ 6 h 22"/>
                <a:gd name="T6" fmla="*/ 18 w 22"/>
                <a:gd name="T7" fmla="*/ 2 h 22"/>
                <a:gd name="T8" fmla="*/ 14 w 22"/>
                <a:gd name="T9" fmla="*/ 0 h 22"/>
                <a:gd name="T10" fmla="*/ 10 w 22"/>
                <a:gd name="T11" fmla="*/ 0 h 22"/>
                <a:gd name="T12" fmla="*/ 10 w 22"/>
                <a:gd name="T13" fmla="*/ 0 h 22"/>
                <a:gd name="T14" fmla="*/ 6 w 22"/>
                <a:gd name="T15" fmla="*/ 0 h 22"/>
                <a:gd name="T16" fmla="*/ 2 w 22"/>
                <a:gd name="T17" fmla="*/ 2 h 22"/>
                <a:gd name="T18" fmla="*/ 0 w 22"/>
                <a:gd name="T19" fmla="*/ 6 h 22"/>
                <a:gd name="T20" fmla="*/ 0 w 22"/>
                <a:gd name="T21" fmla="*/ 10 h 22"/>
                <a:gd name="T22" fmla="*/ 0 w 22"/>
                <a:gd name="T23" fmla="*/ 10 h 22"/>
                <a:gd name="T24" fmla="*/ 0 w 22"/>
                <a:gd name="T25" fmla="*/ 16 h 22"/>
                <a:gd name="T26" fmla="*/ 2 w 22"/>
                <a:gd name="T27" fmla="*/ 18 h 22"/>
                <a:gd name="T28" fmla="*/ 6 w 22"/>
                <a:gd name="T29" fmla="*/ 22 h 22"/>
                <a:gd name="T30" fmla="*/ 10 w 22"/>
                <a:gd name="T31" fmla="*/ 22 h 22"/>
                <a:gd name="T32" fmla="*/ 10 w 22"/>
                <a:gd name="T33" fmla="*/ 22 h 22"/>
                <a:gd name="T34" fmla="*/ 14 w 22"/>
                <a:gd name="T35" fmla="*/ 22 h 22"/>
                <a:gd name="T36" fmla="*/ 18 w 22"/>
                <a:gd name="T37" fmla="*/ 18 h 22"/>
                <a:gd name="T38" fmla="*/ 20 w 22"/>
                <a:gd name="T39" fmla="*/ 16 h 22"/>
                <a:gd name="T40" fmla="*/ 22 w 22"/>
                <a:gd name="T41" fmla="*/ 10 h 22"/>
                <a:gd name="T42" fmla="*/ 22 w 22"/>
                <a:gd name="T4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22" y="10"/>
                  </a:moveTo>
                  <a:lnTo>
                    <a:pt x="22" y="10"/>
                  </a:lnTo>
                  <a:lnTo>
                    <a:pt x="20" y="6"/>
                  </a:lnTo>
                  <a:lnTo>
                    <a:pt x="18" y="2"/>
                  </a:lnTo>
                  <a:lnTo>
                    <a:pt x="14" y="0"/>
                  </a:lnTo>
                  <a:lnTo>
                    <a:pt x="10" y="0"/>
                  </a:lnTo>
                  <a:lnTo>
                    <a:pt x="10" y="0"/>
                  </a:lnTo>
                  <a:lnTo>
                    <a:pt x="6" y="0"/>
                  </a:lnTo>
                  <a:lnTo>
                    <a:pt x="2" y="2"/>
                  </a:lnTo>
                  <a:lnTo>
                    <a:pt x="0" y="6"/>
                  </a:lnTo>
                  <a:lnTo>
                    <a:pt x="0" y="10"/>
                  </a:lnTo>
                  <a:lnTo>
                    <a:pt x="0" y="10"/>
                  </a:lnTo>
                  <a:lnTo>
                    <a:pt x="0" y="16"/>
                  </a:lnTo>
                  <a:lnTo>
                    <a:pt x="2" y="18"/>
                  </a:lnTo>
                  <a:lnTo>
                    <a:pt x="6" y="22"/>
                  </a:lnTo>
                  <a:lnTo>
                    <a:pt x="10" y="22"/>
                  </a:lnTo>
                  <a:lnTo>
                    <a:pt x="10" y="22"/>
                  </a:lnTo>
                  <a:lnTo>
                    <a:pt x="14" y="22"/>
                  </a:lnTo>
                  <a:lnTo>
                    <a:pt x="18" y="18"/>
                  </a:lnTo>
                  <a:lnTo>
                    <a:pt x="20" y="16"/>
                  </a:lnTo>
                  <a:lnTo>
                    <a:pt x="22" y="10"/>
                  </a:lnTo>
                  <a:lnTo>
                    <a:pt x="22"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1" name="Freeform 18">
              <a:extLst>
                <a:ext uri="{FF2B5EF4-FFF2-40B4-BE49-F238E27FC236}">
                  <a16:creationId xmlns:a16="http://schemas.microsoft.com/office/drawing/2014/main" id="{DF533B75-4C4A-B110-3FEB-453B9245523C}"/>
                </a:ext>
              </a:extLst>
            </p:cNvPr>
            <p:cNvSpPr>
              <a:spLocks/>
            </p:cNvSpPr>
            <p:nvPr/>
          </p:nvSpPr>
          <p:spPr bwMode="auto">
            <a:xfrm>
              <a:off x="3589192" y="1880261"/>
              <a:ext cx="29753" cy="29753"/>
            </a:xfrm>
            <a:custGeom>
              <a:avLst/>
              <a:gdLst>
                <a:gd name="T0" fmla="*/ 22 w 22"/>
                <a:gd name="T1" fmla="*/ 12 h 22"/>
                <a:gd name="T2" fmla="*/ 22 w 22"/>
                <a:gd name="T3" fmla="*/ 12 h 22"/>
                <a:gd name="T4" fmla="*/ 22 w 22"/>
                <a:gd name="T5" fmla="*/ 6 h 22"/>
                <a:gd name="T6" fmla="*/ 18 w 22"/>
                <a:gd name="T7" fmla="*/ 4 h 22"/>
                <a:gd name="T8" fmla="*/ 16 w 22"/>
                <a:gd name="T9" fmla="*/ 0 h 22"/>
                <a:gd name="T10" fmla="*/ 12 w 22"/>
                <a:gd name="T11" fmla="*/ 0 h 22"/>
                <a:gd name="T12" fmla="*/ 12 w 22"/>
                <a:gd name="T13" fmla="*/ 0 h 22"/>
                <a:gd name="T14" fmla="*/ 6 w 22"/>
                <a:gd name="T15" fmla="*/ 0 h 22"/>
                <a:gd name="T16" fmla="*/ 4 w 22"/>
                <a:gd name="T17" fmla="*/ 4 h 22"/>
                <a:gd name="T18" fmla="*/ 0 w 22"/>
                <a:gd name="T19" fmla="*/ 6 h 22"/>
                <a:gd name="T20" fmla="*/ 0 w 22"/>
                <a:gd name="T21" fmla="*/ 12 h 22"/>
                <a:gd name="T22" fmla="*/ 0 w 22"/>
                <a:gd name="T23" fmla="*/ 12 h 22"/>
                <a:gd name="T24" fmla="*/ 0 w 22"/>
                <a:gd name="T25" fmla="*/ 16 h 22"/>
                <a:gd name="T26" fmla="*/ 4 w 22"/>
                <a:gd name="T27" fmla="*/ 20 h 22"/>
                <a:gd name="T28" fmla="*/ 6 w 22"/>
                <a:gd name="T29" fmla="*/ 22 h 22"/>
                <a:gd name="T30" fmla="*/ 12 w 22"/>
                <a:gd name="T31" fmla="*/ 22 h 22"/>
                <a:gd name="T32" fmla="*/ 12 w 22"/>
                <a:gd name="T33" fmla="*/ 22 h 22"/>
                <a:gd name="T34" fmla="*/ 16 w 22"/>
                <a:gd name="T35" fmla="*/ 22 h 22"/>
                <a:gd name="T36" fmla="*/ 18 w 22"/>
                <a:gd name="T37" fmla="*/ 20 h 22"/>
                <a:gd name="T38" fmla="*/ 22 w 22"/>
                <a:gd name="T39" fmla="*/ 16 h 22"/>
                <a:gd name="T40" fmla="*/ 22 w 22"/>
                <a:gd name="T41" fmla="*/ 12 h 22"/>
                <a:gd name="T42" fmla="*/ 22 w 22"/>
                <a:gd name="T43"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22" y="12"/>
                  </a:moveTo>
                  <a:lnTo>
                    <a:pt x="22" y="12"/>
                  </a:lnTo>
                  <a:lnTo>
                    <a:pt x="22" y="6"/>
                  </a:lnTo>
                  <a:lnTo>
                    <a:pt x="18" y="4"/>
                  </a:lnTo>
                  <a:lnTo>
                    <a:pt x="16" y="0"/>
                  </a:lnTo>
                  <a:lnTo>
                    <a:pt x="12" y="0"/>
                  </a:lnTo>
                  <a:lnTo>
                    <a:pt x="12" y="0"/>
                  </a:lnTo>
                  <a:lnTo>
                    <a:pt x="6" y="0"/>
                  </a:lnTo>
                  <a:lnTo>
                    <a:pt x="4" y="4"/>
                  </a:lnTo>
                  <a:lnTo>
                    <a:pt x="0" y="6"/>
                  </a:lnTo>
                  <a:lnTo>
                    <a:pt x="0" y="12"/>
                  </a:lnTo>
                  <a:lnTo>
                    <a:pt x="0" y="12"/>
                  </a:lnTo>
                  <a:lnTo>
                    <a:pt x="0" y="16"/>
                  </a:lnTo>
                  <a:lnTo>
                    <a:pt x="4" y="20"/>
                  </a:lnTo>
                  <a:lnTo>
                    <a:pt x="6" y="22"/>
                  </a:lnTo>
                  <a:lnTo>
                    <a:pt x="12" y="22"/>
                  </a:lnTo>
                  <a:lnTo>
                    <a:pt x="12" y="22"/>
                  </a:lnTo>
                  <a:lnTo>
                    <a:pt x="16" y="22"/>
                  </a:lnTo>
                  <a:lnTo>
                    <a:pt x="18" y="20"/>
                  </a:lnTo>
                  <a:lnTo>
                    <a:pt x="22" y="16"/>
                  </a:lnTo>
                  <a:lnTo>
                    <a:pt x="22" y="12"/>
                  </a:lnTo>
                  <a:lnTo>
                    <a:pt x="2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2" name="Freeform 19">
              <a:extLst>
                <a:ext uri="{FF2B5EF4-FFF2-40B4-BE49-F238E27FC236}">
                  <a16:creationId xmlns:a16="http://schemas.microsoft.com/office/drawing/2014/main" id="{60517D90-A01F-4A71-5B3D-D70EAF12F47B}"/>
                </a:ext>
              </a:extLst>
            </p:cNvPr>
            <p:cNvSpPr>
              <a:spLocks/>
            </p:cNvSpPr>
            <p:nvPr/>
          </p:nvSpPr>
          <p:spPr bwMode="auto">
            <a:xfrm>
              <a:off x="3924589" y="1655760"/>
              <a:ext cx="29753" cy="29753"/>
            </a:xfrm>
            <a:custGeom>
              <a:avLst/>
              <a:gdLst>
                <a:gd name="T0" fmla="*/ 22 w 22"/>
                <a:gd name="T1" fmla="*/ 10 h 22"/>
                <a:gd name="T2" fmla="*/ 22 w 22"/>
                <a:gd name="T3" fmla="*/ 10 h 22"/>
                <a:gd name="T4" fmla="*/ 22 w 22"/>
                <a:gd name="T5" fmla="*/ 6 h 22"/>
                <a:gd name="T6" fmla="*/ 20 w 22"/>
                <a:gd name="T7" fmla="*/ 2 h 22"/>
                <a:gd name="T8" fmla="*/ 16 w 22"/>
                <a:gd name="T9" fmla="*/ 0 h 22"/>
                <a:gd name="T10" fmla="*/ 12 w 22"/>
                <a:gd name="T11" fmla="*/ 0 h 22"/>
                <a:gd name="T12" fmla="*/ 12 w 22"/>
                <a:gd name="T13" fmla="*/ 0 h 22"/>
                <a:gd name="T14" fmla="*/ 8 w 22"/>
                <a:gd name="T15" fmla="*/ 0 h 22"/>
                <a:gd name="T16" fmla="*/ 4 w 22"/>
                <a:gd name="T17" fmla="*/ 2 h 22"/>
                <a:gd name="T18" fmla="*/ 2 w 22"/>
                <a:gd name="T19" fmla="*/ 6 h 22"/>
                <a:gd name="T20" fmla="*/ 0 w 22"/>
                <a:gd name="T21" fmla="*/ 10 h 22"/>
                <a:gd name="T22" fmla="*/ 0 w 22"/>
                <a:gd name="T23" fmla="*/ 10 h 22"/>
                <a:gd name="T24" fmla="*/ 2 w 22"/>
                <a:gd name="T25" fmla="*/ 14 h 22"/>
                <a:gd name="T26" fmla="*/ 4 w 22"/>
                <a:gd name="T27" fmla="*/ 18 h 22"/>
                <a:gd name="T28" fmla="*/ 8 w 22"/>
                <a:gd name="T29" fmla="*/ 20 h 22"/>
                <a:gd name="T30" fmla="*/ 12 w 22"/>
                <a:gd name="T31" fmla="*/ 22 h 22"/>
                <a:gd name="T32" fmla="*/ 12 w 22"/>
                <a:gd name="T33" fmla="*/ 22 h 22"/>
                <a:gd name="T34" fmla="*/ 16 w 22"/>
                <a:gd name="T35" fmla="*/ 20 h 22"/>
                <a:gd name="T36" fmla="*/ 20 w 22"/>
                <a:gd name="T37" fmla="*/ 18 h 22"/>
                <a:gd name="T38" fmla="*/ 22 w 22"/>
                <a:gd name="T39" fmla="*/ 14 h 22"/>
                <a:gd name="T40" fmla="*/ 22 w 22"/>
                <a:gd name="T41" fmla="*/ 10 h 22"/>
                <a:gd name="T42" fmla="*/ 22 w 22"/>
                <a:gd name="T4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22" y="10"/>
                  </a:moveTo>
                  <a:lnTo>
                    <a:pt x="22" y="10"/>
                  </a:lnTo>
                  <a:lnTo>
                    <a:pt x="22" y="6"/>
                  </a:lnTo>
                  <a:lnTo>
                    <a:pt x="20" y="2"/>
                  </a:lnTo>
                  <a:lnTo>
                    <a:pt x="16" y="0"/>
                  </a:lnTo>
                  <a:lnTo>
                    <a:pt x="12" y="0"/>
                  </a:lnTo>
                  <a:lnTo>
                    <a:pt x="12" y="0"/>
                  </a:lnTo>
                  <a:lnTo>
                    <a:pt x="8" y="0"/>
                  </a:lnTo>
                  <a:lnTo>
                    <a:pt x="4" y="2"/>
                  </a:lnTo>
                  <a:lnTo>
                    <a:pt x="2" y="6"/>
                  </a:lnTo>
                  <a:lnTo>
                    <a:pt x="0" y="10"/>
                  </a:lnTo>
                  <a:lnTo>
                    <a:pt x="0" y="10"/>
                  </a:lnTo>
                  <a:lnTo>
                    <a:pt x="2" y="14"/>
                  </a:lnTo>
                  <a:lnTo>
                    <a:pt x="4" y="18"/>
                  </a:lnTo>
                  <a:lnTo>
                    <a:pt x="8" y="20"/>
                  </a:lnTo>
                  <a:lnTo>
                    <a:pt x="12" y="22"/>
                  </a:lnTo>
                  <a:lnTo>
                    <a:pt x="12" y="22"/>
                  </a:lnTo>
                  <a:lnTo>
                    <a:pt x="16" y="20"/>
                  </a:lnTo>
                  <a:lnTo>
                    <a:pt x="20" y="18"/>
                  </a:lnTo>
                  <a:lnTo>
                    <a:pt x="22" y="14"/>
                  </a:lnTo>
                  <a:lnTo>
                    <a:pt x="22" y="10"/>
                  </a:lnTo>
                  <a:lnTo>
                    <a:pt x="22"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Freeform 20">
              <a:extLst>
                <a:ext uri="{FF2B5EF4-FFF2-40B4-BE49-F238E27FC236}">
                  <a16:creationId xmlns:a16="http://schemas.microsoft.com/office/drawing/2014/main" id="{D83CB641-0EB6-0FDF-5BDF-BA248C09B63B}"/>
                </a:ext>
              </a:extLst>
            </p:cNvPr>
            <p:cNvSpPr>
              <a:spLocks/>
            </p:cNvSpPr>
            <p:nvPr/>
          </p:nvSpPr>
          <p:spPr bwMode="auto">
            <a:xfrm>
              <a:off x="4341132" y="1561092"/>
              <a:ext cx="29753" cy="29753"/>
            </a:xfrm>
            <a:custGeom>
              <a:avLst/>
              <a:gdLst>
                <a:gd name="T0" fmla="*/ 22 w 22"/>
                <a:gd name="T1" fmla="*/ 10 h 22"/>
                <a:gd name="T2" fmla="*/ 22 w 22"/>
                <a:gd name="T3" fmla="*/ 10 h 22"/>
                <a:gd name="T4" fmla="*/ 22 w 22"/>
                <a:gd name="T5" fmla="*/ 6 h 22"/>
                <a:gd name="T6" fmla="*/ 20 w 22"/>
                <a:gd name="T7" fmla="*/ 2 h 22"/>
                <a:gd name="T8" fmla="*/ 16 w 22"/>
                <a:gd name="T9" fmla="*/ 0 h 22"/>
                <a:gd name="T10" fmla="*/ 12 w 22"/>
                <a:gd name="T11" fmla="*/ 0 h 22"/>
                <a:gd name="T12" fmla="*/ 12 w 22"/>
                <a:gd name="T13" fmla="*/ 0 h 22"/>
                <a:gd name="T14" fmla="*/ 6 w 22"/>
                <a:gd name="T15" fmla="*/ 0 h 22"/>
                <a:gd name="T16" fmla="*/ 4 w 22"/>
                <a:gd name="T17" fmla="*/ 2 h 22"/>
                <a:gd name="T18" fmla="*/ 0 w 22"/>
                <a:gd name="T19" fmla="*/ 6 h 22"/>
                <a:gd name="T20" fmla="*/ 0 w 22"/>
                <a:gd name="T21" fmla="*/ 10 h 22"/>
                <a:gd name="T22" fmla="*/ 0 w 22"/>
                <a:gd name="T23" fmla="*/ 10 h 22"/>
                <a:gd name="T24" fmla="*/ 0 w 22"/>
                <a:gd name="T25" fmla="*/ 14 h 22"/>
                <a:gd name="T26" fmla="*/ 4 w 22"/>
                <a:gd name="T27" fmla="*/ 18 h 22"/>
                <a:gd name="T28" fmla="*/ 6 w 22"/>
                <a:gd name="T29" fmla="*/ 20 h 22"/>
                <a:gd name="T30" fmla="*/ 12 w 22"/>
                <a:gd name="T31" fmla="*/ 22 h 22"/>
                <a:gd name="T32" fmla="*/ 12 w 22"/>
                <a:gd name="T33" fmla="*/ 22 h 22"/>
                <a:gd name="T34" fmla="*/ 16 w 22"/>
                <a:gd name="T35" fmla="*/ 20 h 22"/>
                <a:gd name="T36" fmla="*/ 20 w 22"/>
                <a:gd name="T37" fmla="*/ 18 h 22"/>
                <a:gd name="T38" fmla="*/ 22 w 22"/>
                <a:gd name="T39" fmla="*/ 14 h 22"/>
                <a:gd name="T40" fmla="*/ 22 w 22"/>
                <a:gd name="T41" fmla="*/ 10 h 22"/>
                <a:gd name="T42" fmla="*/ 22 w 22"/>
                <a:gd name="T4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22" y="10"/>
                  </a:moveTo>
                  <a:lnTo>
                    <a:pt x="22" y="10"/>
                  </a:lnTo>
                  <a:lnTo>
                    <a:pt x="22" y="6"/>
                  </a:lnTo>
                  <a:lnTo>
                    <a:pt x="20" y="2"/>
                  </a:lnTo>
                  <a:lnTo>
                    <a:pt x="16" y="0"/>
                  </a:lnTo>
                  <a:lnTo>
                    <a:pt x="12" y="0"/>
                  </a:lnTo>
                  <a:lnTo>
                    <a:pt x="12" y="0"/>
                  </a:lnTo>
                  <a:lnTo>
                    <a:pt x="6" y="0"/>
                  </a:lnTo>
                  <a:lnTo>
                    <a:pt x="4" y="2"/>
                  </a:lnTo>
                  <a:lnTo>
                    <a:pt x="0" y="6"/>
                  </a:lnTo>
                  <a:lnTo>
                    <a:pt x="0" y="10"/>
                  </a:lnTo>
                  <a:lnTo>
                    <a:pt x="0" y="10"/>
                  </a:lnTo>
                  <a:lnTo>
                    <a:pt x="0" y="14"/>
                  </a:lnTo>
                  <a:lnTo>
                    <a:pt x="4" y="18"/>
                  </a:lnTo>
                  <a:lnTo>
                    <a:pt x="6" y="20"/>
                  </a:lnTo>
                  <a:lnTo>
                    <a:pt x="12" y="22"/>
                  </a:lnTo>
                  <a:lnTo>
                    <a:pt x="12" y="22"/>
                  </a:lnTo>
                  <a:lnTo>
                    <a:pt x="16" y="20"/>
                  </a:lnTo>
                  <a:lnTo>
                    <a:pt x="20" y="18"/>
                  </a:lnTo>
                  <a:lnTo>
                    <a:pt x="22" y="14"/>
                  </a:lnTo>
                  <a:lnTo>
                    <a:pt x="22" y="10"/>
                  </a:lnTo>
                  <a:lnTo>
                    <a:pt x="22"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4" name="Freeform 23">
              <a:extLst>
                <a:ext uri="{FF2B5EF4-FFF2-40B4-BE49-F238E27FC236}">
                  <a16:creationId xmlns:a16="http://schemas.microsoft.com/office/drawing/2014/main" id="{9919DDD1-0CCB-4B68-244A-9987D1700A4A}"/>
                </a:ext>
              </a:extLst>
            </p:cNvPr>
            <p:cNvSpPr>
              <a:spLocks/>
            </p:cNvSpPr>
            <p:nvPr/>
          </p:nvSpPr>
          <p:spPr bwMode="auto">
            <a:xfrm>
              <a:off x="3589192" y="3400371"/>
              <a:ext cx="29753" cy="29753"/>
            </a:xfrm>
            <a:custGeom>
              <a:avLst/>
              <a:gdLst>
                <a:gd name="T0" fmla="*/ 22 w 22"/>
                <a:gd name="T1" fmla="*/ 12 h 22"/>
                <a:gd name="T2" fmla="*/ 22 w 22"/>
                <a:gd name="T3" fmla="*/ 12 h 22"/>
                <a:gd name="T4" fmla="*/ 22 w 22"/>
                <a:gd name="T5" fmla="*/ 8 h 22"/>
                <a:gd name="T6" fmla="*/ 18 w 22"/>
                <a:gd name="T7" fmla="*/ 4 h 22"/>
                <a:gd name="T8" fmla="*/ 16 w 22"/>
                <a:gd name="T9" fmla="*/ 2 h 22"/>
                <a:gd name="T10" fmla="*/ 12 w 22"/>
                <a:gd name="T11" fmla="*/ 0 h 22"/>
                <a:gd name="T12" fmla="*/ 12 w 22"/>
                <a:gd name="T13" fmla="*/ 0 h 22"/>
                <a:gd name="T14" fmla="*/ 6 w 22"/>
                <a:gd name="T15" fmla="*/ 2 h 22"/>
                <a:gd name="T16" fmla="*/ 4 w 22"/>
                <a:gd name="T17" fmla="*/ 4 h 22"/>
                <a:gd name="T18" fmla="*/ 0 w 22"/>
                <a:gd name="T19" fmla="*/ 8 h 22"/>
                <a:gd name="T20" fmla="*/ 0 w 22"/>
                <a:gd name="T21" fmla="*/ 12 h 22"/>
                <a:gd name="T22" fmla="*/ 0 w 22"/>
                <a:gd name="T23" fmla="*/ 12 h 22"/>
                <a:gd name="T24" fmla="*/ 0 w 22"/>
                <a:gd name="T25" fmla="*/ 16 h 22"/>
                <a:gd name="T26" fmla="*/ 4 w 22"/>
                <a:gd name="T27" fmla="*/ 20 h 22"/>
                <a:gd name="T28" fmla="*/ 6 w 22"/>
                <a:gd name="T29" fmla="*/ 22 h 22"/>
                <a:gd name="T30" fmla="*/ 12 w 22"/>
                <a:gd name="T31" fmla="*/ 22 h 22"/>
                <a:gd name="T32" fmla="*/ 12 w 22"/>
                <a:gd name="T33" fmla="*/ 22 h 22"/>
                <a:gd name="T34" fmla="*/ 16 w 22"/>
                <a:gd name="T35" fmla="*/ 22 h 22"/>
                <a:gd name="T36" fmla="*/ 18 w 22"/>
                <a:gd name="T37" fmla="*/ 20 h 22"/>
                <a:gd name="T38" fmla="*/ 22 w 22"/>
                <a:gd name="T39" fmla="*/ 16 h 22"/>
                <a:gd name="T40" fmla="*/ 22 w 22"/>
                <a:gd name="T41" fmla="*/ 12 h 22"/>
                <a:gd name="T42" fmla="*/ 22 w 22"/>
                <a:gd name="T43"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22" y="12"/>
                  </a:moveTo>
                  <a:lnTo>
                    <a:pt x="22" y="12"/>
                  </a:lnTo>
                  <a:lnTo>
                    <a:pt x="22" y="8"/>
                  </a:lnTo>
                  <a:lnTo>
                    <a:pt x="18" y="4"/>
                  </a:lnTo>
                  <a:lnTo>
                    <a:pt x="16" y="2"/>
                  </a:lnTo>
                  <a:lnTo>
                    <a:pt x="12" y="0"/>
                  </a:lnTo>
                  <a:lnTo>
                    <a:pt x="12" y="0"/>
                  </a:lnTo>
                  <a:lnTo>
                    <a:pt x="6" y="2"/>
                  </a:lnTo>
                  <a:lnTo>
                    <a:pt x="4" y="4"/>
                  </a:lnTo>
                  <a:lnTo>
                    <a:pt x="0" y="8"/>
                  </a:lnTo>
                  <a:lnTo>
                    <a:pt x="0" y="12"/>
                  </a:lnTo>
                  <a:lnTo>
                    <a:pt x="0" y="12"/>
                  </a:lnTo>
                  <a:lnTo>
                    <a:pt x="0" y="16"/>
                  </a:lnTo>
                  <a:lnTo>
                    <a:pt x="4" y="20"/>
                  </a:lnTo>
                  <a:lnTo>
                    <a:pt x="6" y="22"/>
                  </a:lnTo>
                  <a:lnTo>
                    <a:pt x="12" y="22"/>
                  </a:lnTo>
                  <a:lnTo>
                    <a:pt x="12" y="22"/>
                  </a:lnTo>
                  <a:lnTo>
                    <a:pt x="16" y="22"/>
                  </a:lnTo>
                  <a:lnTo>
                    <a:pt x="18" y="20"/>
                  </a:lnTo>
                  <a:lnTo>
                    <a:pt x="22" y="16"/>
                  </a:lnTo>
                  <a:lnTo>
                    <a:pt x="22" y="12"/>
                  </a:lnTo>
                  <a:lnTo>
                    <a:pt x="2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5" name="Freeform 24">
              <a:extLst>
                <a:ext uri="{FF2B5EF4-FFF2-40B4-BE49-F238E27FC236}">
                  <a16:creationId xmlns:a16="http://schemas.microsoft.com/office/drawing/2014/main" id="{7F6FE7B0-1774-BDFD-7D5E-248D9CE7B977}"/>
                </a:ext>
              </a:extLst>
            </p:cNvPr>
            <p:cNvSpPr>
              <a:spLocks/>
            </p:cNvSpPr>
            <p:nvPr/>
          </p:nvSpPr>
          <p:spPr bwMode="auto">
            <a:xfrm>
              <a:off x="3259203" y="2629497"/>
              <a:ext cx="29753" cy="29753"/>
            </a:xfrm>
            <a:custGeom>
              <a:avLst/>
              <a:gdLst>
                <a:gd name="T0" fmla="*/ 22 w 22"/>
                <a:gd name="T1" fmla="*/ 12 h 22"/>
                <a:gd name="T2" fmla="*/ 22 w 22"/>
                <a:gd name="T3" fmla="*/ 12 h 22"/>
                <a:gd name="T4" fmla="*/ 22 w 22"/>
                <a:gd name="T5" fmla="*/ 8 h 22"/>
                <a:gd name="T6" fmla="*/ 20 w 22"/>
                <a:gd name="T7" fmla="*/ 4 h 22"/>
                <a:gd name="T8" fmla="*/ 16 w 22"/>
                <a:gd name="T9" fmla="*/ 2 h 22"/>
                <a:gd name="T10" fmla="*/ 12 w 22"/>
                <a:gd name="T11" fmla="*/ 0 h 22"/>
                <a:gd name="T12" fmla="*/ 12 w 22"/>
                <a:gd name="T13" fmla="*/ 0 h 22"/>
                <a:gd name="T14" fmla="*/ 8 w 22"/>
                <a:gd name="T15" fmla="*/ 2 h 22"/>
                <a:gd name="T16" fmla="*/ 4 w 22"/>
                <a:gd name="T17" fmla="*/ 4 h 22"/>
                <a:gd name="T18" fmla="*/ 2 w 22"/>
                <a:gd name="T19" fmla="*/ 8 h 22"/>
                <a:gd name="T20" fmla="*/ 0 w 22"/>
                <a:gd name="T21" fmla="*/ 12 h 22"/>
                <a:gd name="T22" fmla="*/ 0 w 22"/>
                <a:gd name="T23" fmla="*/ 12 h 22"/>
                <a:gd name="T24" fmla="*/ 2 w 22"/>
                <a:gd name="T25" fmla="*/ 16 h 22"/>
                <a:gd name="T26" fmla="*/ 4 w 22"/>
                <a:gd name="T27" fmla="*/ 20 h 22"/>
                <a:gd name="T28" fmla="*/ 8 w 22"/>
                <a:gd name="T29" fmla="*/ 22 h 22"/>
                <a:gd name="T30" fmla="*/ 12 w 22"/>
                <a:gd name="T31" fmla="*/ 22 h 22"/>
                <a:gd name="T32" fmla="*/ 12 w 22"/>
                <a:gd name="T33" fmla="*/ 22 h 22"/>
                <a:gd name="T34" fmla="*/ 16 w 22"/>
                <a:gd name="T35" fmla="*/ 22 h 22"/>
                <a:gd name="T36" fmla="*/ 20 w 22"/>
                <a:gd name="T37" fmla="*/ 20 h 22"/>
                <a:gd name="T38" fmla="*/ 22 w 22"/>
                <a:gd name="T39" fmla="*/ 16 h 22"/>
                <a:gd name="T40" fmla="*/ 22 w 22"/>
                <a:gd name="T41" fmla="*/ 12 h 22"/>
                <a:gd name="T42" fmla="*/ 22 w 22"/>
                <a:gd name="T43"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22" y="12"/>
                  </a:moveTo>
                  <a:lnTo>
                    <a:pt x="22" y="12"/>
                  </a:lnTo>
                  <a:lnTo>
                    <a:pt x="22" y="8"/>
                  </a:lnTo>
                  <a:lnTo>
                    <a:pt x="20" y="4"/>
                  </a:lnTo>
                  <a:lnTo>
                    <a:pt x="16" y="2"/>
                  </a:lnTo>
                  <a:lnTo>
                    <a:pt x="12" y="0"/>
                  </a:lnTo>
                  <a:lnTo>
                    <a:pt x="12" y="0"/>
                  </a:lnTo>
                  <a:lnTo>
                    <a:pt x="8" y="2"/>
                  </a:lnTo>
                  <a:lnTo>
                    <a:pt x="4" y="4"/>
                  </a:lnTo>
                  <a:lnTo>
                    <a:pt x="2" y="8"/>
                  </a:lnTo>
                  <a:lnTo>
                    <a:pt x="0" y="12"/>
                  </a:lnTo>
                  <a:lnTo>
                    <a:pt x="0" y="12"/>
                  </a:lnTo>
                  <a:lnTo>
                    <a:pt x="2" y="16"/>
                  </a:lnTo>
                  <a:lnTo>
                    <a:pt x="4" y="20"/>
                  </a:lnTo>
                  <a:lnTo>
                    <a:pt x="8" y="22"/>
                  </a:lnTo>
                  <a:lnTo>
                    <a:pt x="12" y="22"/>
                  </a:lnTo>
                  <a:lnTo>
                    <a:pt x="12" y="22"/>
                  </a:lnTo>
                  <a:lnTo>
                    <a:pt x="16" y="22"/>
                  </a:lnTo>
                  <a:lnTo>
                    <a:pt x="20" y="20"/>
                  </a:lnTo>
                  <a:lnTo>
                    <a:pt x="22" y="16"/>
                  </a:lnTo>
                  <a:lnTo>
                    <a:pt x="22" y="12"/>
                  </a:lnTo>
                  <a:lnTo>
                    <a:pt x="2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6" name="Freeform 25">
              <a:extLst>
                <a:ext uri="{FF2B5EF4-FFF2-40B4-BE49-F238E27FC236}">
                  <a16:creationId xmlns:a16="http://schemas.microsoft.com/office/drawing/2014/main" id="{B853F22E-DC64-4A46-65FA-94A81E2B1752}"/>
                </a:ext>
              </a:extLst>
            </p:cNvPr>
            <p:cNvSpPr>
              <a:spLocks/>
            </p:cNvSpPr>
            <p:nvPr/>
          </p:nvSpPr>
          <p:spPr bwMode="auto">
            <a:xfrm>
              <a:off x="3343052" y="3067678"/>
              <a:ext cx="29753" cy="29753"/>
            </a:xfrm>
            <a:custGeom>
              <a:avLst/>
              <a:gdLst>
                <a:gd name="T0" fmla="*/ 22 w 22"/>
                <a:gd name="T1" fmla="*/ 12 h 22"/>
                <a:gd name="T2" fmla="*/ 22 w 22"/>
                <a:gd name="T3" fmla="*/ 12 h 22"/>
                <a:gd name="T4" fmla="*/ 22 w 22"/>
                <a:gd name="T5" fmla="*/ 8 h 22"/>
                <a:gd name="T6" fmla="*/ 20 w 22"/>
                <a:gd name="T7" fmla="*/ 4 h 22"/>
                <a:gd name="T8" fmla="*/ 16 w 22"/>
                <a:gd name="T9" fmla="*/ 2 h 22"/>
                <a:gd name="T10" fmla="*/ 12 w 22"/>
                <a:gd name="T11" fmla="*/ 0 h 22"/>
                <a:gd name="T12" fmla="*/ 12 w 22"/>
                <a:gd name="T13" fmla="*/ 0 h 22"/>
                <a:gd name="T14" fmla="*/ 8 w 22"/>
                <a:gd name="T15" fmla="*/ 2 h 22"/>
                <a:gd name="T16" fmla="*/ 4 w 22"/>
                <a:gd name="T17" fmla="*/ 4 h 22"/>
                <a:gd name="T18" fmla="*/ 2 w 22"/>
                <a:gd name="T19" fmla="*/ 8 h 22"/>
                <a:gd name="T20" fmla="*/ 0 w 22"/>
                <a:gd name="T21" fmla="*/ 12 h 22"/>
                <a:gd name="T22" fmla="*/ 0 w 22"/>
                <a:gd name="T23" fmla="*/ 12 h 22"/>
                <a:gd name="T24" fmla="*/ 2 w 22"/>
                <a:gd name="T25" fmla="*/ 16 h 22"/>
                <a:gd name="T26" fmla="*/ 4 w 22"/>
                <a:gd name="T27" fmla="*/ 20 h 22"/>
                <a:gd name="T28" fmla="*/ 8 w 22"/>
                <a:gd name="T29" fmla="*/ 22 h 22"/>
                <a:gd name="T30" fmla="*/ 12 w 22"/>
                <a:gd name="T31" fmla="*/ 22 h 22"/>
                <a:gd name="T32" fmla="*/ 12 w 22"/>
                <a:gd name="T33" fmla="*/ 22 h 22"/>
                <a:gd name="T34" fmla="*/ 16 w 22"/>
                <a:gd name="T35" fmla="*/ 22 h 22"/>
                <a:gd name="T36" fmla="*/ 20 w 22"/>
                <a:gd name="T37" fmla="*/ 20 h 22"/>
                <a:gd name="T38" fmla="*/ 22 w 22"/>
                <a:gd name="T39" fmla="*/ 16 h 22"/>
                <a:gd name="T40" fmla="*/ 22 w 22"/>
                <a:gd name="T41" fmla="*/ 12 h 22"/>
                <a:gd name="T42" fmla="*/ 22 w 22"/>
                <a:gd name="T43"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22" y="12"/>
                  </a:moveTo>
                  <a:lnTo>
                    <a:pt x="22" y="12"/>
                  </a:lnTo>
                  <a:lnTo>
                    <a:pt x="22" y="8"/>
                  </a:lnTo>
                  <a:lnTo>
                    <a:pt x="20" y="4"/>
                  </a:lnTo>
                  <a:lnTo>
                    <a:pt x="16" y="2"/>
                  </a:lnTo>
                  <a:lnTo>
                    <a:pt x="12" y="0"/>
                  </a:lnTo>
                  <a:lnTo>
                    <a:pt x="12" y="0"/>
                  </a:lnTo>
                  <a:lnTo>
                    <a:pt x="8" y="2"/>
                  </a:lnTo>
                  <a:lnTo>
                    <a:pt x="4" y="4"/>
                  </a:lnTo>
                  <a:lnTo>
                    <a:pt x="2" y="8"/>
                  </a:lnTo>
                  <a:lnTo>
                    <a:pt x="0" y="12"/>
                  </a:lnTo>
                  <a:lnTo>
                    <a:pt x="0" y="12"/>
                  </a:lnTo>
                  <a:lnTo>
                    <a:pt x="2" y="16"/>
                  </a:lnTo>
                  <a:lnTo>
                    <a:pt x="4" y="20"/>
                  </a:lnTo>
                  <a:lnTo>
                    <a:pt x="8" y="22"/>
                  </a:lnTo>
                  <a:lnTo>
                    <a:pt x="12" y="22"/>
                  </a:lnTo>
                  <a:lnTo>
                    <a:pt x="12" y="22"/>
                  </a:lnTo>
                  <a:lnTo>
                    <a:pt x="16" y="22"/>
                  </a:lnTo>
                  <a:lnTo>
                    <a:pt x="20" y="20"/>
                  </a:lnTo>
                  <a:lnTo>
                    <a:pt x="22" y="16"/>
                  </a:lnTo>
                  <a:lnTo>
                    <a:pt x="22" y="12"/>
                  </a:lnTo>
                  <a:lnTo>
                    <a:pt x="2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7" name="Freeform 26">
              <a:extLst>
                <a:ext uri="{FF2B5EF4-FFF2-40B4-BE49-F238E27FC236}">
                  <a16:creationId xmlns:a16="http://schemas.microsoft.com/office/drawing/2014/main" id="{ADDE32F9-1C26-CDD0-00DD-EF0DEA15B2A5}"/>
                </a:ext>
              </a:extLst>
            </p:cNvPr>
            <p:cNvSpPr>
              <a:spLocks/>
            </p:cNvSpPr>
            <p:nvPr/>
          </p:nvSpPr>
          <p:spPr bwMode="auto">
            <a:xfrm>
              <a:off x="5336506" y="2234594"/>
              <a:ext cx="29753" cy="29753"/>
            </a:xfrm>
            <a:custGeom>
              <a:avLst/>
              <a:gdLst>
                <a:gd name="T0" fmla="*/ 0 w 22"/>
                <a:gd name="T1" fmla="*/ 10 h 22"/>
                <a:gd name="T2" fmla="*/ 0 w 22"/>
                <a:gd name="T3" fmla="*/ 10 h 22"/>
                <a:gd name="T4" fmla="*/ 0 w 22"/>
                <a:gd name="T5" fmla="*/ 6 h 22"/>
                <a:gd name="T6" fmla="*/ 2 w 22"/>
                <a:gd name="T7" fmla="*/ 2 h 22"/>
                <a:gd name="T8" fmla="*/ 6 w 22"/>
                <a:gd name="T9" fmla="*/ 0 h 22"/>
                <a:gd name="T10" fmla="*/ 10 w 22"/>
                <a:gd name="T11" fmla="*/ 0 h 22"/>
                <a:gd name="T12" fmla="*/ 10 w 22"/>
                <a:gd name="T13" fmla="*/ 0 h 22"/>
                <a:gd name="T14" fmla="*/ 14 w 22"/>
                <a:gd name="T15" fmla="*/ 0 h 22"/>
                <a:gd name="T16" fmla="*/ 18 w 22"/>
                <a:gd name="T17" fmla="*/ 2 h 22"/>
                <a:gd name="T18" fmla="*/ 20 w 22"/>
                <a:gd name="T19" fmla="*/ 6 h 22"/>
                <a:gd name="T20" fmla="*/ 22 w 22"/>
                <a:gd name="T21" fmla="*/ 10 h 22"/>
                <a:gd name="T22" fmla="*/ 22 w 22"/>
                <a:gd name="T23" fmla="*/ 10 h 22"/>
                <a:gd name="T24" fmla="*/ 20 w 22"/>
                <a:gd name="T25" fmla="*/ 16 h 22"/>
                <a:gd name="T26" fmla="*/ 18 w 22"/>
                <a:gd name="T27" fmla="*/ 18 h 22"/>
                <a:gd name="T28" fmla="*/ 14 w 22"/>
                <a:gd name="T29" fmla="*/ 22 h 22"/>
                <a:gd name="T30" fmla="*/ 10 w 22"/>
                <a:gd name="T31" fmla="*/ 22 h 22"/>
                <a:gd name="T32" fmla="*/ 10 w 22"/>
                <a:gd name="T33" fmla="*/ 22 h 22"/>
                <a:gd name="T34" fmla="*/ 6 w 22"/>
                <a:gd name="T35" fmla="*/ 22 h 22"/>
                <a:gd name="T36" fmla="*/ 2 w 22"/>
                <a:gd name="T37" fmla="*/ 18 h 22"/>
                <a:gd name="T38" fmla="*/ 0 w 22"/>
                <a:gd name="T39" fmla="*/ 16 h 22"/>
                <a:gd name="T40" fmla="*/ 0 w 22"/>
                <a:gd name="T41" fmla="*/ 10 h 22"/>
                <a:gd name="T42" fmla="*/ 0 w 22"/>
                <a:gd name="T4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0" y="10"/>
                  </a:moveTo>
                  <a:lnTo>
                    <a:pt x="0" y="10"/>
                  </a:lnTo>
                  <a:lnTo>
                    <a:pt x="0" y="6"/>
                  </a:lnTo>
                  <a:lnTo>
                    <a:pt x="2" y="2"/>
                  </a:lnTo>
                  <a:lnTo>
                    <a:pt x="6" y="0"/>
                  </a:lnTo>
                  <a:lnTo>
                    <a:pt x="10" y="0"/>
                  </a:lnTo>
                  <a:lnTo>
                    <a:pt x="10" y="0"/>
                  </a:lnTo>
                  <a:lnTo>
                    <a:pt x="14" y="0"/>
                  </a:lnTo>
                  <a:lnTo>
                    <a:pt x="18" y="2"/>
                  </a:lnTo>
                  <a:lnTo>
                    <a:pt x="20" y="6"/>
                  </a:lnTo>
                  <a:lnTo>
                    <a:pt x="22" y="10"/>
                  </a:lnTo>
                  <a:lnTo>
                    <a:pt x="22" y="10"/>
                  </a:lnTo>
                  <a:lnTo>
                    <a:pt x="20" y="16"/>
                  </a:lnTo>
                  <a:lnTo>
                    <a:pt x="18" y="18"/>
                  </a:lnTo>
                  <a:lnTo>
                    <a:pt x="14" y="22"/>
                  </a:lnTo>
                  <a:lnTo>
                    <a:pt x="10" y="22"/>
                  </a:lnTo>
                  <a:lnTo>
                    <a:pt x="10" y="22"/>
                  </a:lnTo>
                  <a:lnTo>
                    <a:pt x="6" y="22"/>
                  </a:lnTo>
                  <a:lnTo>
                    <a:pt x="2" y="18"/>
                  </a:lnTo>
                  <a:lnTo>
                    <a:pt x="0" y="16"/>
                  </a:lnTo>
                  <a:lnTo>
                    <a:pt x="0" y="10"/>
                  </a:lnTo>
                  <a:lnTo>
                    <a:pt x="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8" name="Freeform 27">
              <a:extLst>
                <a:ext uri="{FF2B5EF4-FFF2-40B4-BE49-F238E27FC236}">
                  <a16:creationId xmlns:a16="http://schemas.microsoft.com/office/drawing/2014/main" id="{0C461EA3-CCC5-F252-2902-B5C5758F843D}"/>
                </a:ext>
              </a:extLst>
            </p:cNvPr>
            <p:cNvSpPr>
              <a:spLocks/>
            </p:cNvSpPr>
            <p:nvPr/>
          </p:nvSpPr>
          <p:spPr bwMode="auto">
            <a:xfrm>
              <a:off x="5090367" y="1880261"/>
              <a:ext cx="29753" cy="29753"/>
            </a:xfrm>
            <a:custGeom>
              <a:avLst/>
              <a:gdLst>
                <a:gd name="T0" fmla="*/ 0 w 22"/>
                <a:gd name="T1" fmla="*/ 12 h 22"/>
                <a:gd name="T2" fmla="*/ 0 w 22"/>
                <a:gd name="T3" fmla="*/ 12 h 22"/>
                <a:gd name="T4" fmla="*/ 2 w 22"/>
                <a:gd name="T5" fmla="*/ 6 h 22"/>
                <a:gd name="T6" fmla="*/ 4 w 22"/>
                <a:gd name="T7" fmla="*/ 4 h 22"/>
                <a:gd name="T8" fmla="*/ 8 w 22"/>
                <a:gd name="T9" fmla="*/ 0 h 22"/>
                <a:gd name="T10" fmla="*/ 12 w 22"/>
                <a:gd name="T11" fmla="*/ 0 h 22"/>
                <a:gd name="T12" fmla="*/ 12 w 22"/>
                <a:gd name="T13" fmla="*/ 0 h 22"/>
                <a:gd name="T14" fmla="*/ 16 w 22"/>
                <a:gd name="T15" fmla="*/ 0 h 22"/>
                <a:gd name="T16" fmla="*/ 20 w 22"/>
                <a:gd name="T17" fmla="*/ 4 h 22"/>
                <a:gd name="T18" fmla="*/ 22 w 22"/>
                <a:gd name="T19" fmla="*/ 6 h 22"/>
                <a:gd name="T20" fmla="*/ 22 w 22"/>
                <a:gd name="T21" fmla="*/ 12 h 22"/>
                <a:gd name="T22" fmla="*/ 22 w 22"/>
                <a:gd name="T23" fmla="*/ 12 h 22"/>
                <a:gd name="T24" fmla="*/ 22 w 22"/>
                <a:gd name="T25" fmla="*/ 16 h 22"/>
                <a:gd name="T26" fmla="*/ 20 w 22"/>
                <a:gd name="T27" fmla="*/ 20 h 22"/>
                <a:gd name="T28" fmla="*/ 16 w 22"/>
                <a:gd name="T29" fmla="*/ 22 h 22"/>
                <a:gd name="T30" fmla="*/ 12 w 22"/>
                <a:gd name="T31" fmla="*/ 22 h 22"/>
                <a:gd name="T32" fmla="*/ 12 w 22"/>
                <a:gd name="T33" fmla="*/ 22 h 22"/>
                <a:gd name="T34" fmla="*/ 8 w 22"/>
                <a:gd name="T35" fmla="*/ 22 h 22"/>
                <a:gd name="T36" fmla="*/ 4 w 22"/>
                <a:gd name="T37" fmla="*/ 20 h 22"/>
                <a:gd name="T38" fmla="*/ 2 w 22"/>
                <a:gd name="T39" fmla="*/ 16 h 22"/>
                <a:gd name="T40" fmla="*/ 0 w 22"/>
                <a:gd name="T41" fmla="*/ 12 h 22"/>
                <a:gd name="T42" fmla="*/ 0 w 22"/>
                <a:gd name="T43"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0" y="12"/>
                  </a:moveTo>
                  <a:lnTo>
                    <a:pt x="0" y="12"/>
                  </a:lnTo>
                  <a:lnTo>
                    <a:pt x="2" y="6"/>
                  </a:lnTo>
                  <a:lnTo>
                    <a:pt x="4" y="4"/>
                  </a:lnTo>
                  <a:lnTo>
                    <a:pt x="8" y="0"/>
                  </a:lnTo>
                  <a:lnTo>
                    <a:pt x="12" y="0"/>
                  </a:lnTo>
                  <a:lnTo>
                    <a:pt x="12" y="0"/>
                  </a:lnTo>
                  <a:lnTo>
                    <a:pt x="16" y="0"/>
                  </a:lnTo>
                  <a:lnTo>
                    <a:pt x="20" y="4"/>
                  </a:lnTo>
                  <a:lnTo>
                    <a:pt x="22" y="6"/>
                  </a:lnTo>
                  <a:lnTo>
                    <a:pt x="22" y="12"/>
                  </a:lnTo>
                  <a:lnTo>
                    <a:pt x="22" y="12"/>
                  </a:lnTo>
                  <a:lnTo>
                    <a:pt x="22" y="16"/>
                  </a:lnTo>
                  <a:lnTo>
                    <a:pt x="20" y="20"/>
                  </a:lnTo>
                  <a:lnTo>
                    <a:pt x="16" y="22"/>
                  </a:lnTo>
                  <a:lnTo>
                    <a:pt x="12" y="22"/>
                  </a:lnTo>
                  <a:lnTo>
                    <a:pt x="12" y="22"/>
                  </a:lnTo>
                  <a:lnTo>
                    <a:pt x="8" y="22"/>
                  </a:lnTo>
                  <a:lnTo>
                    <a:pt x="4" y="20"/>
                  </a:lnTo>
                  <a:lnTo>
                    <a:pt x="2" y="16"/>
                  </a:lnTo>
                  <a:lnTo>
                    <a:pt x="0" y="12"/>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9" name="Freeform 28">
              <a:extLst>
                <a:ext uri="{FF2B5EF4-FFF2-40B4-BE49-F238E27FC236}">
                  <a16:creationId xmlns:a16="http://schemas.microsoft.com/office/drawing/2014/main" id="{F59BF67C-170C-658D-DCEE-08B0765D8293}"/>
                </a:ext>
              </a:extLst>
            </p:cNvPr>
            <p:cNvSpPr>
              <a:spLocks/>
            </p:cNvSpPr>
            <p:nvPr/>
          </p:nvSpPr>
          <p:spPr bwMode="auto">
            <a:xfrm>
              <a:off x="4763083" y="1658466"/>
              <a:ext cx="29753" cy="29753"/>
            </a:xfrm>
            <a:custGeom>
              <a:avLst/>
              <a:gdLst>
                <a:gd name="T0" fmla="*/ 0 w 22"/>
                <a:gd name="T1" fmla="*/ 12 h 22"/>
                <a:gd name="T2" fmla="*/ 0 w 22"/>
                <a:gd name="T3" fmla="*/ 12 h 22"/>
                <a:gd name="T4" fmla="*/ 2 w 22"/>
                <a:gd name="T5" fmla="*/ 6 h 22"/>
                <a:gd name="T6" fmla="*/ 4 w 22"/>
                <a:gd name="T7" fmla="*/ 4 h 22"/>
                <a:gd name="T8" fmla="*/ 6 w 22"/>
                <a:gd name="T9" fmla="*/ 0 h 22"/>
                <a:gd name="T10" fmla="*/ 12 w 22"/>
                <a:gd name="T11" fmla="*/ 0 h 22"/>
                <a:gd name="T12" fmla="*/ 12 w 22"/>
                <a:gd name="T13" fmla="*/ 0 h 22"/>
                <a:gd name="T14" fmla="*/ 16 w 22"/>
                <a:gd name="T15" fmla="*/ 0 h 22"/>
                <a:gd name="T16" fmla="*/ 20 w 22"/>
                <a:gd name="T17" fmla="*/ 4 h 22"/>
                <a:gd name="T18" fmla="*/ 22 w 22"/>
                <a:gd name="T19" fmla="*/ 6 h 22"/>
                <a:gd name="T20" fmla="*/ 22 w 22"/>
                <a:gd name="T21" fmla="*/ 12 h 22"/>
                <a:gd name="T22" fmla="*/ 22 w 22"/>
                <a:gd name="T23" fmla="*/ 12 h 22"/>
                <a:gd name="T24" fmla="*/ 22 w 22"/>
                <a:gd name="T25" fmla="*/ 16 h 22"/>
                <a:gd name="T26" fmla="*/ 20 w 22"/>
                <a:gd name="T27" fmla="*/ 18 h 22"/>
                <a:gd name="T28" fmla="*/ 16 w 22"/>
                <a:gd name="T29" fmla="*/ 22 h 22"/>
                <a:gd name="T30" fmla="*/ 12 w 22"/>
                <a:gd name="T31" fmla="*/ 22 h 22"/>
                <a:gd name="T32" fmla="*/ 12 w 22"/>
                <a:gd name="T33" fmla="*/ 22 h 22"/>
                <a:gd name="T34" fmla="*/ 6 w 22"/>
                <a:gd name="T35" fmla="*/ 22 h 22"/>
                <a:gd name="T36" fmla="*/ 4 w 22"/>
                <a:gd name="T37" fmla="*/ 18 h 22"/>
                <a:gd name="T38" fmla="*/ 2 w 22"/>
                <a:gd name="T39" fmla="*/ 16 h 22"/>
                <a:gd name="T40" fmla="*/ 0 w 22"/>
                <a:gd name="T41" fmla="*/ 12 h 22"/>
                <a:gd name="T42" fmla="*/ 0 w 22"/>
                <a:gd name="T43"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2">
                  <a:moveTo>
                    <a:pt x="0" y="12"/>
                  </a:moveTo>
                  <a:lnTo>
                    <a:pt x="0" y="12"/>
                  </a:lnTo>
                  <a:lnTo>
                    <a:pt x="2" y="6"/>
                  </a:lnTo>
                  <a:lnTo>
                    <a:pt x="4" y="4"/>
                  </a:lnTo>
                  <a:lnTo>
                    <a:pt x="6" y="0"/>
                  </a:lnTo>
                  <a:lnTo>
                    <a:pt x="12" y="0"/>
                  </a:lnTo>
                  <a:lnTo>
                    <a:pt x="12" y="0"/>
                  </a:lnTo>
                  <a:lnTo>
                    <a:pt x="16" y="0"/>
                  </a:lnTo>
                  <a:lnTo>
                    <a:pt x="20" y="4"/>
                  </a:lnTo>
                  <a:lnTo>
                    <a:pt x="22" y="6"/>
                  </a:lnTo>
                  <a:lnTo>
                    <a:pt x="22" y="12"/>
                  </a:lnTo>
                  <a:lnTo>
                    <a:pt x="22" y="12"/>
                  </a:lnTo>
                  <a:lnTo>
                    <a:pt x="22" y="16"/>
                  </a:lnTo>
                  <a:lnTo>
                    <a:pt x="20" y="18"/>
                  </a:lnTo>
                  <a:lnTo>
                    <a:pt x="16" y="22"/>
                  </a:lnTo>
                  <a:lnTo>
                    <a:pt x="12" y="22"/>
                  </a:lnTo>
                  <a:lnTo>
                    <a:pt x="12" y="22"/>
                  </a:lnTo>
                  <a:lnTo>
                    <a:pt x="6" y="22"/>
                  </a:lnTo>
                  <a:lnTo>
                    <a:pt x="4" y="18"/>
                  </a:lnTo>
                  <a:lnTo>
                    <a:pt x="2" y="16"/>
                  </a:lnTo>
                  <a:lnTo>
                    <a:pt x="0" y="12"/>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0" name="Freeform 31">
              <a:extLst>
                <a:ext uri="{FF2B5EF4-FFF2-40B4-BE49-F238E27FC236}">
                  <a16:creationId xmlns:a16="http://schemas.microsoft.com/office/drawing/2014/main" id="{6497DAB8-159C-B095-288D-4D6F5A57C650}"/>
                </a:ext>
              </a:extLst>
            </p:cNvPr>
            <p:cNvSpPr>
              <a:spLocks/>
            </p:cNvSpPr>
            <p:nvPr/>
          </p:nvSpPr>
          <p:spPr bwMode="auto">
            <a:xfrm>
              <a:off x="5412242" y="2645726"/>
              <a:ext cx="29753" cy="32458"/>
            </a:xfrm>
            <a:custGeom>
              <a:avLst/>
              <a:gdLst>
                <a:gd name="T0" fmla="*/ 0 w 22"/>
                <a:gd name="T1" fmla="*/ 12 h 24"/>
                <a:gd name="T2" fmla="*/ 0 w 22"/>
                <a:gd name="T3" fmla="*/ 12 h 24"/>
                <a:gd name="T4" fmla="*/ 0 w 22"/>
                <a:gd name="T5" fmla="*/ 8 h 24"/>
                <a:gd name="T6" fmla="*/ 2 w 22"/>
                <a:gd name="T7" fmla="*/ 4 h 24"/>
                <a:gd name="T8" fmla="*/ 6 w 22"/>
                <a:gd name="T9" fmla="*/ 2 h 24"/>
                <a:gd name="T10" fmla="*/ 10 w 22"/>
                <a:gd name="T11" fmla="*/ 0 h 24"/>
                <a:gd name="T12" fmla="*/ 10 w 22"/>
                <a:gd name="T13" fmla="*/ 0 h 24"/>
                <a:gd name="T14" fmla="*/ 16 w 22"/>
                <a:gd name="T15" fmla="*/ 2 h 24"/>
                <a:gd name="T16" fmla="*/ 18 w 22"/>
                <a:gd name="T17" fmla="*/ 4 h 24"/>
                <a:gd name="T18" fmla="*/ 22 w 22"/>
                <a:gd name="T19" fmla="*/ 8 h 24"/>
                <a:gd name="T20" fmla="*/ 22 w 22"/>
                <a:gd name="T21" fmla="*/ 12 h 24"/>
                <a:gd name="T22" fmla="*/ 22 w 22"/>
                <a:gd name="T23" fmla="*/ 12 h 24"/>
                <a:gd name="T24" fmla="*/ 22 w 22"/>
                <a:gd name="T25" fmla="*/ 16 h 24"/>
                <a:gd name="T26" fmla="*/ 18 w 22"/>
                <a:gd name="T27" fmla="*/ 20 h 24"/>
                <a:gd name="T28" fmla="*/ 16 w 22"/>
                <a:gd name="T29" fmla="*/ 22 h 24"/>
                <a:gd name="T30" fmla="*/ 10 w 22"/>
                <a:gd name="T31" fmla="*/ 24 h 24"/>
                <a:gd name="T32" fmla="*/ 10 w 22"/>
                <a:gd name="T33" fmla="*/ 24 h 24"/>
                <a:gd name="T34" fmla="*/ 6 w 22"/>
                <a:gd name="T35" fmla="*/ 22 h 24"/>
                <a:gd name="T36" fmla="*/ 2 w 22"/>
                <a:gd name="T37" fmla="*/ 20 h 24"/>
                <a:gd name="T38" fmla="*/ 0 w 22"/>
                <a:gd name="T39" fmla="*/ 16 h 24"/>
                <a:gd name="T40" fmla="*/ 0 w 22"/>
                <a:gd name="T41" fmla="*/ 12 h 24"/>
                <a:gd name="T42" fmla="*/ 0 w 22"/>
                <a:gd name="T43"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 h="24">
                  <a:moveTo>
                    <a:pt x="0" y="12"/>
                  </a:moveTo>
                  <a:lnTo>
                    <a:pt x="0" y="12"/>
                  </a:lnTo>
                  <a:lnTo>
                    <a:pt x="0" y="8"/>
                  </a:lnTo>
                  <a:lnTo>
                    <a:pt x="2" y="4"/>
                  </a:lnTo>
                  <a:lnTo>
                    <a:pt x="6" y="2"/>
                  </a:lnTo>
                  <a:lnTo>
                    <a:pt x="10" y="0"/>
                  </a:lnTo>
                  <a:lnTo>
                    <a:pt x="10" y="0"/>
                  </a:lnTo>
                  <a:lnTo>
                    <a:pt x="16" y="2"/>
                  </a:lnTo>
                  <a:lnTo>
                    <a:pt x="18" y="4"/>
                  </a:lnTo>
                  <a:lnTo>
                    <a:pt x="22" y="8"/>
                  </a:lnTo>
                  <a:lnTo>
                    <a:pt x="22" y="12"/>
                  </a:lnTo>
                  <a:lnTo>
                    <a:pt x="22" y="12"/>
                  </a:lnTo>
                  <a:lnTo>
                    <a:pt x="22" y="16"/>
                  </a:lnTo>
                  <a:lnTo>
                    <a:pt x="18" y="20"/>
                  </a:lnTo>
                  <a:lnTo>
                    <a:pt x="16" y="22"/>
                  </a:lnTo>
                  <a:lnTo>
                    <a:pt x="10" y="24"/>
                  </a:lnTo>
                  <a:lnTo>
                    <a:pt x="10" y="24"/>
                  </a:lnTo>
                  <a:lnTo>
                    <a:pt x="6" y="22"/>
                  </a:lnTo>
                  <a:lnTo>
                    <a:pt x="2" y="20"/>
                  </a:lnTo>
                  <a:lnTo>
                    <a:pt x="0" y="16"/>
                  </a:lnTo>
                  <a:lnTo>
                    <a:pt x="0" y="12"/>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defTabSz="913852">
                <a:defRPr/>
              </a:pPr>
              <a:endPar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141" name="Rectangle 140">
            <a:extLst>
              <a:ext uri="{FF2B5EF4-FFF2-40B4-BE49-F238E27FC236}">
                <a16:creationId xmlns:a16="http://schemas.microsoft.com/office/drawing/2014/main" id="{D4B66BA7-A33F-C63A-9566-D4D3E44B6C05}"/>
              </a:ext>
            </a:extLst>
          </p:cNvPr>
          <p:cNvSpPr/>
          <p:nvPr/>
        </p:nvSpPr>
        <p:spPr>
          <a:xfrm>
            <a:off x="8084404" y="1370974"/>
            <a:ext cx="2856962" cy="369236"/>
          </a:xfrm>
          <a:prstGeom prst="rect">
            <a:avLst/>
          </a:prstGeom>
        </p:spPr>
        <p:txBody>
          <a:bodyPr wrap="none" lIns="0" tIns="0" rIns="0" bIns="0">
            <a:spAutoFit/>
          </a:bodyPr>
          <a:lstStyle/>
          <a:p>
            <a:pPr algn="r" defTabSz="913852" fontAlgn="ctr">
              <a:defRPr/>
            </a:pPr>
            <a:r>
              <a:rPr lang="en-US" sz="1200" b="1" spc="150">
                <a:solidFill>
                  <a:srgbClr val="000000"/>
                </a:solidFill>
                <a:latin typeface="Open Sans" panose="020B0606030504020204" pitchFamily="34" charset="0"/>
                <a:ea typeface="Open Sans" panose="020B0606030504020204" pitchFamily="34" charset="0"/>
                <a:cs typeface="Open Sans" panose="020B0606030504020204" pitchFamily="34" charset="0"/>
              </a:rPr>
              <a:t>WORKFLOWS &amp; NOTIFICATIONS</a:t>
            </a:r>
          </a:p>
          <a:p>
            <a:pPr algn="r" defTabSz="913852" fontAlgn="ctr">
              <a:defRPr/>
            </a:pPr>
            <a:endParaRPr lang="en-US" sz="1200" b="1" spc="150">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43" name="Straight Connector 142">
            <a:extLst>
              <a:ext uri="{FF2B5EF4-FFF2-40B4-BE49-F238E27FC236}">
                <a16:creationId xmlns:a16="http://schemas.microsoft.com/office/drawing/2014/main" id="{F8C6284F-B238-AC96-5780-0F185E5CF75C}"/>
              </a:ext>
            </a:extLst>
          </p:cNvPr>
          <p:cNvCxnSpPr/>
          <p:nvPr/>
        </p:nvCxnSpPr>
        <p:spPr>
          <a:xfrm flipH="1">
            <a:off x="6955453" y="1581463"/>
            <a:ext cx="3985914" cy="0"/>
          </a:xfrm>
          <a:prstGeom prst="line">
            <a:avLst/>
          </a:prstGeom>
          <a:ln w="28575" cmpd="sng">
            <a:solidFill>
              <a:srgbClr val="00ABAB"/>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1AD1FA48-3DA6-5BDE-BEB9-533D42198412}"/>
              </a:ext>
            </a:extLst>
          </p:cNvPr>
          <p:cNvCxnSpPr/>
          <p:nvPr/>
        </p:nvCxnSpPr>
        <p:spPr>
          <a:xfrm flipH="1">
            <a:off x="7559850" y="2714433"/>
            <a:ext cx="3381518" cy="0"/>
          </a:xfrm>
          <a:prstGeom prst="line">
            <a:avLst/>
          </a:prstGeom>
          <a:ln w="28575" cmpd="sng">
            <a:solidFill>
              <a:srgbClr val="00ABAB"/>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0E68DC43-2C20-1A96-8576-ADFDD9E0D630}"/>
              </a:ext>
            </a:extLst>
          </p:cNvPr>
          <p:cNvCxnSpPr>
            <a:cxnSpLocks/>
          </p:cNvCxnSpPr>
          <p:nvPr/>
        </p:nvCxnSpPr>
        <p:spPr>
          <a:xfrm flipH="1">
            <a:off x="7099780" y="3776819"/>
            <a:ext cx="3841588" cy="0"/>
          </a:xfrm>
          <a:prstGeom prst="line">
            <a:avLst/>
          </a:prstGeom>
          <a:ln w="28575" cmpd="sng">
            <a:solidFill>
              <a:srgbClr val="00ABAB"/>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B5165983-2EDA-4EF5-5926-E7C758FC2C34}"/>
              </a:ext>
            </a:extLst>
          </p:cNvPr>
          <p:cNvSpPr/>
          <p:nvPr/>
        </p:nvSpPr>
        <p:spPr>
          <a:xfrm>
            <a:off x="9413981" y="2497684"/>
            <a:ext cx="1555085" cy="184618"/>
          </a:xfrm>
          <a:prstGeom prst="rect">
            <a:avLst/>
          </a:prstGeom>
        </p:spPr>
        <p:txBody>
          <a:bodyPr wrap="none" lIns="0" tIns="0" rIns="0" bIns="0">
            <a:spAutoFit/>
          </a:bodyPr>
          <a:lstStyle/>
          <a:p>
            <a:pPr algn="r" defTabSz="913852" fontAlgn="ctr">
              <a:defRPr/>
            </a:pPr>
            <a:r>
              <a:rPr lang="en-US" sz="1200" b="1" spc="150">
                <a:solidFill>
                  <a:srgbClr val="000000"/>
                </a:solidFill>
                <a:latin typeface="Open Sans" panose="020B0606030504020204" pitchFamily="34" charset="0"/>
                <a:ea typeface="Open Sans" panose="020B0606030504020204" pitchFamily="34" charset="0"/>
                <a:cs typeface="Open Sans" panose="020B0606030504020204" pitchFamily="34" charset="0"/>
              </a:rPr>
              <a:t>COLLABORATION</a:t>
            </a:r>
          </a:p>
        </p:txBody>
      </p:sp>
      <p:sp>
        <p:nvSpPr>
          <p:cNvPr id="147" name="Rectangle 146">
            <a:extLst>
              <a:ext uri="{FF2B5EF4-FFF2-40B4-BE49-F238E27FC236}">
                <a16:creationId xmlns:a16="http://schemas.microsoft.com/office/drawing/2014/main" id="{7B300DC0-5FD6-65EA-A66E-263CE471A200}"/>
              </a:ext>
            </a:extLst>
          </p:cNvPr>
          <p:cNvSpPr/>
          <p:nvPr/>
        </p:nvSpPr>
        <p:spPr>
          <a:xfrm>
            <a:off x="7265331" y="3566335"/>
            <a:ext cx="3699344" cy="184618"/>
          </a:xfrm>
          <a:prstGeom prst="rect">
            <a:avLst/>
          </a:prstGeom>
        </p:spPr>
        <p:txBody>
          <a:bodyPr wrap="none" lIns="0" tIns="0" rIns="0" bIns="0">
            <a:spAutoFit/>
          </a:bodyPr>
          <a:lstStyle/>
          <a:p>
            <a:pPr algn="r" defTabSz="913852" fontAlgn="ctr">
              <a:defRPr/>
            </a:pPr>
            <a:r>
              <a:rPr lang="en-US" sz="1200" b="1" spc="150">
                <a:solidFill>
                  <a:srgbClr val="000000"/>
                </a:solidFill>
                <a:latin typeface="Open Sans" panose="020B0606030504020204" pitchFamily="34" charset="0"/>
                <a:ea typeface="Open Sans" panose="020B0606030504020204" pitchFamily="34" charset="0"/>
                <a:cs typeface="Open Sans" panose="020B0606030504020204" pitchFamily="34" charset="0"/>
              </a:rPr>
              <a:t>EXTERNAL MARKETPLACE INTEGRATION</a:t>
            </a:r>
          </a:p>
        </p:txBody>
      </p:sp>
      <p:sp>
        <p:nvSpPr>
          <p:cNvPr id="148" name="Rectangle 147">
            <a:extLst>
              <a:ext uri="{FF2B5EF4-FFF2-40B4-BE49-F238E27FC236}">
                <a16:creationId xmlns:a16="http://schemas.microsoft.com/office/drawing/2014/main" id="{AA873E1F-5AF5-E3EB-4EC2-07663DA01D60}"/>
              </a:ext>
            </a:extLst>
          </p:cNvPr>
          <p:cNvSpPr/>
          <p:nvPr/>
        </p:nvSpPr>
        <p:spPr>
          <a:xfrm>
            <a:off x="7211450" y="1643937"/>
            <a:ext cx="3749417" cy="769241"/>
          </a:xfrm>
          <a:prstGeom prst="rect">
            <a:avLst/>
          </a:prstGeom>
        </p:spPr>
        <p:txBody>
          <a:bodyPr wrap="square" lIns="0" tIns="0" rIns="0" bIns="0">
            <a:spAutoFit/>
          </a:bodyPr>
          <a:lstStyle/>
          <a:p>
            <a:pPr marL="171399" indent="-171399" algn="r" defTabSz="914126" fontAlgn="ctr">
              <a:spcAft>
                <a:spcPts val="600"/>
              </a:spcAft>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Configurable workflows to establish governance processes for different assets e.g., request data product access, publish data products, initiate new data asset request etc.. </a:t>
            </a:r>
          </a:p>
          <a:p>
            <a:pPr marL="171399" indent="-171399" algn="r" defTabSz="914126" fontAlgn="ctr">
              <a:spcAft>
                <a:spcPts val="600"/>
              </a:spcAft>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Flexible rule-engine to customize notifications based on specific scenarios e.g., change of analysis status, approval of data access etc.</a:t>
            </a:r>
          </a:p>
        </p:txBody>
      </p:sp>
      <p:sp>
        <p:nvSpPr>
          <p:cNvPr id="149" name="Rectangle 148">
            <a:extLst>
              <a:ext uri="{FF2B5EF4-FFF2-40B4-BE49-F238E27FC236}">
                <a16:creationId xmlns:a16="http://schemas.microsoft.com/office/drawing/2014/main" id="{3312D5B4-9B74-6653-4176-FD90C7F55691}"/>
              </a:ext>
            </a:extLst>
          </p:cNvPr>
          <p:cNvSpPr/>
          <p:nvPr/>
        </p:nvSpPr>
        <p:spPr>
          <a:xfrm>
            <a:off x="7520308" y="2762868"/>
            <a:ext cx="3448758" cy="630778"/>
          </a:xfrm>
          <a:prstGeom prst="rect">
            <a:avLst/>
          </a:prstGeom>
        </p:spPr>
        <p:txBody>
          <a:bodyPr wrap="square" lIns="0" tIns="0" rIns="0" bIns="0">
            <a:spAutoFit/>
          </a:bodyPr>
          <a:lstStyle/>
          <a:p>
            <a:pPr marL="171399" indent="-171399" algn="r" defTabSz="914126" fontAlgn="ctr">
              <a:spcAft>
                <a:spcPts val="600"/>
              </a:spcAft>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Ability to provide real time feedback through comments, tags and ‘likes’ supporting collaboration across functional groups </a:t>
            </a:r>
          </a:p>
          <a:p>
            <a:pPr marL="171399" indent="-171399" algn="r" defTabSz="914126" fontAlgn="ctr">
              <a:spcAft>
                <a:spcPts val="600"/>
              </a:spcAft>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Out of the box and Custom reporting capabilities to reports on system usage and adoption</a:t>
            </a:r>
          </a:p>
        </p:txBody>
      </p:sp>
      <p:sp>
        <p:nvSpPr>
          <p:cNvPr id="150" name="Rectangle 149">
            <a:extLst>
              <a:ext uri="{FF2B5EF4-FFF2-40B4-BE49-F238E27FC236}">
                <a16:creationId xmlns:a16="http://schemas.microsoft.com/office/drawing/2014/main" id="{C04913FF-C4E3-CA13-3903-0A93F86DDAC1}"/>
              </a:ext>
            </a:extLst>
          </p:cNvPr>
          <p:cNvSpPr/>
          <p:nvPr/>
        </p:nvSpPr>
        <p:spPr>
          <a:xfrm>
            <a:off x="7142380" y="3817968"/>
            <a:ext cx="3777016" cy="276999"/>
          </a:xfrm>
          <a:prstGeom prst="rect">
            <a:avLst/>
          </a:prstGeom>
        </p:spPr>
        <p:txBody>
          <a:bodyPr wrap="square" lIns="0" tIns="0" rIns="0" bIns="0">
            <a:spAutoFit/>
          </a:bodyPr>
          <a:lstStyle/>
          <a:p>
            <a:pPr marL="171348" indent="-171348" algn="r" defTabSz="913852"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Integrate with external marketplace i.e., </a:t>
            </a:r>
            <a:r>
              <a:rPr lang="en-US" sz="900" i="1" dirty="0">
                <a:solidFill>
                  <a:srgbClr val="000000"/>
                </a:solidFill>
                <a:latin typeface="Open Sans" panose="020B0606030504020204" pitchFamily="34" charset="0"/>
                <a:ea typeface="Open Sans" panose="020B0606030504020204" pitchFamily="34" charset="0"/>
                <a:cs typeface="Open Sans" panose="020B0606030504020204" pitchFamily="34" charset="0"/>
              </a:rPr>
              <a:t>Snowflake Data Marketplace/</a:t>
            </a: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AWS Data Exchange) </a:t>
            </a:r>
          </a:p>
        </p:txBody>
      </p:sp>
      <p:cxnSp>
        <p:nvCxnSpPr>
          <p:cNvPr id="256" name="Straight Connector 255">
            <a:extLst>
              <a:ext uri="{FF2B5EF4-FFF2-40B4-BE49-F238E27FC236}">
                <a16:creationId xmlns:a16="http://schemas.microsoft.com/office/drawing/2014/main" id="{98D064C9-597C-99D7-7A63-4A73E63A7A3F}"/>
              </a:ext>
            </a:extLst>
          </p:cNvPr>
          <p:cNvCxnSpPr/>
          <p:nvPr/>
        </p:nvCxnSpPr>
        <p:spPr>
          <a:xfrm>
            <a:off x="996608" y="1589002"/>
            <a:ext cx="3985914" cy="0"/>
          </a:xfrm>
          <a:prstGeom prst="line">
            <a:avLst/>
          </a:prstGeom>
          <a:ln w="28575" cmpd="sng">
            <a:solidFill>
              <a:srgbClr val="00ABAB"/>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9BADBF5A-F022-34F8-6C4E-E1D49B221522}"/>
              </a:ext>
            </a:extLst>
          </p:cNvPr>
          <p:cNvCxnSpPr/>
          <p:nvPr/>
        </p:nvCxnSpPr>
        <p:spPr>
          <a:xfrm>
            <a:off x="1003600" y="2864520"/>
            <a:ext cx="3239062" cy="0"/>
          </a:xfrm>
          <a:prstGeom prst="line">
            <a:avLst/>
          </a:prstGeom>
          <a:ln w="9525" cmpd="sng">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079E33DA-086C-2A8A-77C1-69DD99329EAB}"/>
              </a:ext>
            </a:extLst>
          </p:cNvPr>
          <p:cNvCxnSpPr>
            <a:cxnSpLocks/>
          </p:cNvCxnSpPr>
          <p:nvPr/>
        </p:nvCxnSpPr>
        <p:spPr>
          <a:xfrm>
            <a:off x="968948" y="3952497"/>
            <a:ext cx="4225747" cy="0"/>
          </a:xfrm>
          <a:prstGeom prst="line">
            <a:avLst/>
          </a:prstGeom>
          <a:ln w="28575" cmpd="sng">
            <a:solidFill>
              <a:srgbClr val="00ABAB"/>
            </a:solidFill>
          </a:ln>
        </p:spPr>
        <p:style>
          <a:lnRef idx="1">
            <a:schemeClr val="accent1"/>
          </a:lnRef>
          <a:fillRef idx="0">
            <a:schemeClr val="accent1"/>
          </a:fillRef>
          <a:effectRef idx="0">
            <a:schemeClr val="accent1"/>
          </a:effectRef>
          <a:fontRef idx="minor">
            <a:schemeClr val="tx1"/>
          </a:fontRef>
        </p:style>
      </p:cxnSp>
      <p:sp>
        <p:nvSpPr>
          <p:cNvPr id="259" name="Rectangle 258">
            <a:extLst>
              <a:ext uri="{FF2B5EF4-FFF2-40B4-BE49-F238E27FC236}">
                <a16:creationId xmlns:a16="http://schemas.microsoft.com/office/drawing/2014/main" id="{54BF1E62-A500-A42C-445A-3BB7D84A53F4}"/>
              </a:ext>
            </a:extLst>
          </p:cNvPr>
          <p:cNvSpPr/>
          <p:nvPr/>
        </p:nvSpPr>
        <p:spPr>
          <a:xfrm>
            <a:off x="993906" y="1370039"/>
            <a:ext cx="3076964" cy="184618"/>
          </a:xfrm>
          <a:prstGeom prst="rect">
            <a:avLst/>
          </a:prstGeom>
        </p:spPr>
        <p:txBody>
          <a:bodyPr wrap="none" lIns="0" tIns="0" rIns="0" bIns="0">
            <a:spAutoFit/>
          </a:bodyPr>
          <a:lstStyle/>
          <a:p>
            <a:pPr defTabSz="913852" fontAlgn="ctr">
              <a:defRPr/>
            </a:pPr>
            <a:r>
              <a:rPr lang="en-US" sz="1200" b="1" spc="150">
                <a:solidFill>
                  <a:srgbClr val="000000"/>
                </a:solidFill>
                <a:latin typeface="Open Sans" panose="020B0606030504020204" pitchFamily="34" charset="0"/>
                <a:ea typeface="Open Sans" panose="020B0606030504020204" pitchFamily="34" charset="0"/>
                <a:cs typeface="Open Sans" panose="020B0606030504020204" pitchFamily="34" charset="0"/>
              </a:rPr>
              <a:t>PERSONALIZED USER EXPERIENCE</a:t>
            </a:r>
          </a:p>
        </p:txBody>
      </p:sp>
      <p:cxnSp>
        <p:nvCxnSpPr>
          <p:cNvPr id="260" name="Straight Connector 259">
            <a:extLst>
              <a:ext uri="{FF2B5EF4-FFF2-40B4-BE49-F238E27FC236}">
                <a16:creationId xmlns:a16="http://schemas.microsoft.com/office/drawing/2014/main" id="{B14EB799-8A2F-5AD2-BE61-8AF83439F833}"/>
              </a:ext>
            </a:extLst>
          </p:cNvPr>
          <p:cNvCxnSpPr/>
          <p:nvPr/>
        </p:nvCxnSpPr>
        <p:spPr>
          <a:xfrm flipH="1">
            <a:off x="993907" y="2856981"/>
            <a:ext cx="3472910" cy="0"/>
          </a:xfrm>
          <a:prstGeom prst="line">
            <a:avLst/>
          </a:prstGeom>
          <a:ln w="28575" cmpd="sng">
            <a:solidFill>
              <a:srgbClr val="00ABAB"/>
            </a:solidFill>
          </a:ln>
        </p:spPr>
        <p:style>
          <a:lnRef idx="1">
            <a:schemeClr val="accent1"/>
          </a:lnRef>
          <a:fillRef idx="0">
            <a:schemeClr val="accent1"/>
          </a:fillRef>
          <a:effectRef idx="0">
            <a:schemeClr val="accent1"/>
          </a:effectRef>
          <a:fontRef idx="minor">
            <a:schemeClr val="tx1"/>
          </a:fontRef>
        </p:style>
      </p:cxnSp>
      <p:sp>
        <p:nvSpPr>
          <p:cNvPr id="261" name="Rectangle 260">
            <a:extLst>
              <a:ext uri="{FF2B5EF4-FFF2-40B4-BE49-F238E27FC236}">
                <a16:creationId xmlns:a16="http://schemas.microsoft.com/office/drawing/2014/main" id="{3F6793F9-F21D-D275-BA02-DCC5E05B742A}"/>
              </a:ext>
            </a:extLst>
          </p:cNvPr>
          <p:cNvSpPr/>
          <p:nvPr/>
        </p:nvSpPr>
        <p:spPr>
          <a:xfrm>
            <a:off x="993907" y="2639293"/>
            <a:ext cx="2620932" cy="184618"/>
          </a:xfrm>
          <a:prstGeom prst="rect">
            <a:avLst/>
          </a:prstGeom>
        </p:spPr>
        <p:txBody>
          <a:bodyPr wrap="none" lIns="0" tIns="0" rIns="0" bIns="0">
            <a:spAutoFit/>
          </a:bodyPr>
          <a:lstStyle/>
          <a:p>
            <a:pPr defTabSz="913852" fontAlgn="ctr">
              <a:defRPr/>
            </a:pPr>
            <a:r>
              <a:rPr lang="en-US" sz="1200" b="1" spc="150">
                <a:solidFill>
                  <a:srgbClr val="000000"/>
                </a:solidFill>
                <a:latin typeface="Open Sans" panose="020B0606030504020204" pitchFamily="34" charset="0"/>
                <a:ea typeface="Open Sans" panose="020B0606030504020204" pitchFamily="34" charset="0"/>
                <a:cs typeface="Open Sans" panose="020B0606030504020204" pitchFamily="34" charset="0"/>
              </a:rPr>
              <a:t>DATA &amp; ANALYTICS CATALOG</a:t>
            </a:r>
          </a:p>
        </p:txBody>
      </p:sp>
      <p:sp>
        <p:nvSpPr>
          <p:cNvPr id="262" name="Rectangle 261">
            <a:extLst>
              <a:ext uri="{FF2B5EF4-FFF2-40B4-BE49-F238E27FC236}">
                <a16:creationId xmlns:a16="http://schemas.microsoft.com/office/drawing/2014/main" id="{66663029-E8D5-1D1C-0615-BD5A86DD3D6B}"/>
              </a:ext>
            </a:extLst>
          </p:cNvPr>
          <p:cNvSpPr/>
          <p:nvPr/>
        </p:nvSpPr>
        <p:spPr>
          <a:xfrm>
            <a:off x="993906" y="3726752"/>
            <a:ext cx="2250287" cy="184618"/>
          </a:xfrm>
          <a:prstGeom prst="rect">
            <a:avLst/>
          </a:prstGeom>
        </p:spPr>
        <p:txBody>
          <a:bodyPr wrap="none" lIns="0" tIns="0" rIns="0" bIns="0">
            <a:spAutoFit/>
          </a:bodyPr>
          <a:lstStyle/>
          <a:p>
            <a:pPr defTabSz="913852" fontAlgn="ctr">
              <a:defRPr/>
            </a:pPr>
            <a:r>
              <a:rPr lang="en-US" sz="1200" b="1" spc="150">
                <a:solidFill>
                  <a:srgbClr val="000000"/>
                </a:solidFill>
                <a:latin typeface="Open Sans" panose="020B0606030504020204" pitchFamily="34" charset="0"/>
                <a:ea typeface="Open Sans" panose="020B0606030504020204" pitchFamily="34" charset="0"/>
                <a:cs typeface="Open Sans" panose="020B0606030504020204" pitchFamily="34" charset="0"/>
              </a:rPr>
              <a:t>SEARCH AND DISCOVERY</a:t>
            </a:r>
          </a:p>
        </p:txBody>
      </p:sp>
      <p:sp>
        <p:nvSpPr>
          <p:cNvPr id="263" name="Rectangle 262">
            <a:extLst>
              <a:ext uri="{FF2B5EF4-FFF2-40B4-BE49-F238E27FC236}">
                <a16:creationId xmlns:a16="http://schemas.microsoft.com/office/drawing/2014/main" id="{E5C11D8D-DF36-0A98-0A30-9FED86183973}"/>
              </a:ext>
            </a:extLst>
          </p:cNvPr>
          <p:cNvSpPr/>
          <p:nvPr/>
        </p:nvSpPr>
        <p:spPr>
          <a:xfrm>
            <a:off x="993907" y="1633815"/>
            <a:ext cx="3619492" cy="692317"/>
          </a:xfrm>
          <a:prstGeom prst="rect">
            <a:avLst/>
          </a:prstGeom>
        </p:spPr>
        <p:txBody>
          <a:bodyPr wrap="square" lIns="0" tIns="0" rIns="0" bIns="0">
            <a:spAutoFit/>
          </a:bodyPr>
          <a:lstStyle/>
          <a:p>
            <a:pPr marL="171348" indent="-171348" defTabSz="913852"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Dynamic cataloging capabilities to house diverse knowledge entities (e.g., data products, analytics products etc.) in one central location</a:t>
            </a:r>
          </a:p>
          <a:p>
            <a:pPr marL="171348" indent="-171348" defTabSz="913852"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Business friendly user experience designed for a broad set of users</a:t>
            </a:r>
          </a:p>
          <a:p>
            <a:pPr marL="171399" indent="-171399"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Clients can apply their branding and color schemes   </a:t>
            </a:r>
          </a:p>
          <a:p>
            <a:pPr marL="171348" indent="-171348" defTabSz="913852"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Configurable personas and user permissions on platform</a:t>
            </a:r>
          </a:p>
        </p:txBody>
      </p:sp>
      <p:sp>
        <p:nvSpPr>
          <p:cNvPr id="264" name="Rectangle 263">
            <a:extLst>
              <a:ext uri="{FF2B5EF4-FFF2-40B4-BE49-F238E27FC236}">
                <a16:creationId xmlns:a16="http://schemas.microsoft.com/office/drawing/2014/main" id="{E9B3F4C9-8761-B287-1E3D-C9DFE597910D}"/>
              </a:ext>
            </a:extLst>
          </p:cNvPr>
          <p:cNvSpPr/>
          <p:nvPr/>
        </p:nvSpPr>
        <p:spPr>
          <a:xfrm>
            <a:off x="993907" y="4050413"/>
            <a:ext cx="3293635" cy="553854"/>
          </a:xfrm>
          <a:prstGeom prst="rect">
            <a:avLst/>
          </a:prstGeom>
        </p:spPr>
        <p:txBody>
          <a:bodyPr wrap="square" lIns="0" tIns="0" rIns="0" bIns="0">
            <a:spAutoFit/>
          </a:bodyPr>
          <a:lstStyle/>
          <a:p>
            <a:pPr marL="171348" indent="-171348" defTabSz="913852"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Google like search across the knowledge entities </a:t>
            </a:r>
          </a:p>
          <a:p>
            <a:pPr marL="171348" indent="-171348" defTabSz="913852"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Knowledge graph, association-based search</a:t>
            </a:r>
          </a:p>
          <a:p>
            <a:pPr marL="171399" indent="-171399"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Search documents (txt, PDF, excel, word, ppt etc.)        uploaded on the platform </a:t>
            </a:r>
          </a:p>
        </p:txBody>
      </p:sp>
      <p:sp>
        <p:nvSpPr>
          <p:cNvPr id="265" name="Text Placeholder 5">
            <a:extLst>
              <a:ext uri="{FF2B5EF4-FFF2-40B4-BE49-F238E27FC236}">
                <a16:creationId xmlns:a16="http://schemas.microsoft.com/office/drawing/2014/main" id="{9F9A082E-3FC8-ED37-B205-8EA11E192FB1}"/>
              </a:ext>
            </a:extLst>
          </p:cNvPr>
          <p:cNvSpPr txBox="1">
            <a:spLocks/>
          </p:cNvSpPr>
          <p:nvPr/>
        </p:nvSpPr>
        <p:spPr>
          <a:xfrm>
            <a:off x="4989519" y="2101922"/>
            <a:ext cx="1929837" cy="1192082"/>
          </a:xfrm>
          <a:prstGeom prst="rect">
            <a:avLst/>
          </a:prstGeom>
        </p:spPr>
        <p:txBody>
          <a:bodyPr vert="horz"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52">
              <a:defRPr/>
            </a:pPr>
            <a:r>
              <a:rPr lang="en-US" sz="1798">
                <a:solidFill>
                  <a:srgbClr val="000000"/>
                </a:solidFill>
                <a:latin typeface="Open Sans" panose="020B0606030504020204" pitchFamily="34" charset="0"/>
                <a:ea typeface="Open Sans" panose="020B0606030504020204" pitchFamily="34" charset="0"/>
                <a:cs typeface="Open Sans" panose="020B0606030504020204" pitchFamily="34" charset="0"/>
              </a:rPr>
              <a:t> DMP</a:t>
            </a:r>
            <a:endParaRPr lang="en-US" sz="1798" b="1">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72" name="Group 271">
            <a:extLst>
              <a:ext uri="{FF2B5EF4-FFF2-40B4-BE49-F238E27FC236}">
                <a16:creationId xmlns:a16="http://schemas.microsoft.com/office/drawing/2014/main" id="{A2A0F3B2-291C-E400-72DF-8D1B10796A91}"/>
              </a:ext>
            </a:extLst>
          </p:cNvPr>
          <p:cNvGrpSpPr/>
          <p:nvPr/>
        </p:nvGrpSpPr>
        <p:grpSpPr>
          <a:xfrm>
            <a:off x="346820" y="5807610"/>
            <a:ext cx="3048062" cy="707702"/>
            <a:chOff x="918421" y="5733911"/>
            <a:chExt cx="3048857" cy="707886"/>
          </a:xfrm>
        </p:grpSpPr>
        <p:grpSp>
          <p:nvGrpSpPr>
            <p:cNvPr id="273" name="Group 272">
              <a:extLst>
                <a:ext uri="{FF2B5EF4-FFF2-40B4-BE49-F238E27FC236}">
                  <a16:creationId xmlns:a16="http://schemas.microsoft.com/office/drawing/2014/main" id="{02CC5A36-673B-8BB6-F89E-6465938CB739}"/>
                </a:ext>
              </a:extLst>
            </p:cNvPr>
            <p:cNvGrpSpPr/>
            <p:nvPr/>
          </p:nvGrpSpPr>
          <p:grpSpPr>
            <a:xfrm>
              <a:off x="918421" y="5901598"/>
              <a:ext cx="449519" cy="372512"/>
              <a:chOff x="4953000" y="152400"/>
              <a:chExt cx="509588" cy="422275"/>
            </a:xfrm>
            <a:solidFill>
              <a:schemeClr val="accent2">
                <a:lumMod val="75000"/>
              </a:schemeClr>
            </a:solidFill>
          </p:grpSpPr>
          <p:sp>
            <p:nvSpPr>
              <p:cNvPr id="275" name="Freeform 179">
                <a:extLst>
                  <a:ext uri="{FF2B5EF4-FFF2-40B4-BE49-F238E27FC236}">
                    <a16:creationId xmlns:a16="http://schemas.microsoft.com/office/drawing/2014/main" id="{8BC46368-5C17-A00D-600A-DE56DF35E561}"/>
                  </a:ext>
                </a:extLst>
              </p:cNvPr>
              <p:cNvSpPr>
                <a:spLocks/>
              </p:cNvSpPr>
              <p:nvPr/>
            </p:nvSpPr>
            <p:spPr bwMode="auto">
              <a:xfrm>
                <a:off x="5011738" y="312738"/>
                <a:ext cx="144463" cy="19050"/>
              </a:xfrm>
              <a:custGeom>
                <a:avLst/>
                <a:gdLst>
                  <a:gd name="T0" fmla="*/ 62 w 67"/>
                  <a:gd name="T1" fmla="*/ 0 h 9"/>
                  <a:gd name="T2" fmla="*/ 5 w 67"/>
                  <a:gd name="T3" fmla="*/ 0 h 9"/>
                  <a:gd name="T4" fmla="*/ 0 w 67"/>
                  <a:gd name="T5" fmla="*/ 4 h 9"/>
                  <a:gd name="T6" fmla="*/ 5 w 67"/>
                  <a:gd name="T7" fmla="*/ 9 h 9"/>
                  <a:gd name="T8" fmla="*/ 62 w 67"/>
                  <a:gd name="T9" fmla="*/ 9 h 9"/>
                  <a:gd name="T10" fmla="*/ 67 w 67"/>
                  <a:gd name="T11" fmla="*/ 4 h 9"/>
                  <a:gd name="T12" fmla="*/ 62 w 67"/>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67" h="9">
                    <a:moveTo>
                      <a:pt x="62" y="0"/>
                    </a:moveTo>
                    <a:cubicBezTo>
                      <a:pt x="5" y="0"/>
                      <a:pt x="5" y="0"/>
                      <a:pt x="5" y="0"/>
                    </a:cubicBezTo>
                    <a:cubicBezTo>
                      <a:pt x="3" y="0"/>
                      <a:pt x="0" y="2"/>
                      <a:pt x="0" y="4"/>
                    </a:cubicBezTo>
                    <a:cubicBezTo>
                      <a:pt x="0" y="7"/>
                      <a:pt x="3" y="9"/>
                      <a:pt x="5" y="9"/>
                    </a:cubicBezTo>
                    <a:cubicBezTo>
                      <a:pt x="62" y="9"/>
                      <a:pt x="62" y="9"/>
                      <a:pt x="62" y="9"/>
                    </a:cubicBezTo>
                    <a:cubicBezTo>
                      <a:pt x="65" y="9"/>
                      <a:pt x="67" y="7"/>
                      <a:pt x="67" y="4"/>
                    </a:cubicBezTo>
                    <a:cubicBezTo>
                      <a:pt x="67" y="2"/>
                      <a:pt x="65" y="0"/>
                      <a:pt x="62" y="0"/>
                    </a:cubicBez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6" name="Freeform 180">
                <a:extLst>
                  <a:ext uri="{FF2B5EF4-FFF2-40B4-BE49-F238E27FC236}">
                    <a16:creationId xmlns:a16="http://schemas.microsoft.com/office/drawing/2014/main" id="{758F19B3-7919-BA73-FB82-38D445A470C5}"/>
                  </a:ext>
                </a:extLst>
              </p:cNvPr>
              <p:cNvSpPr>
                <a:spLocks/>
              </p:cNvSpPr>
              <p:nvPr/>
            </p:nvSpPr>
            <p:spPr bwMode="auto">
              <a:xfrm>
                <a:off x="5011738" y="371475"/>
                <a:ext cx="144463" cy="22225"/>
              </a:xfrm>
              <a:custGeom>
                <a:avLst/>
                <a:gdLst>
                  <a:gd name="T0" fmla="*/ 62 w 67"/>
                  <a:gd name="T1" fmla="*/ 0 h 10"/>
                  <a:gd name="T2" fmla="*/ 5 w 67"/>
                  <a:gd name="T3" fmla="*/ 0 h 10"/>
                  <a:gd name="T4" fmla="*/ 0 w 67"/>
                  <a:gd name="T5" fmla="*/ 5 h 10"/>
                  <a:gd name="T6" fmla="*/ 5 w 67"/>
                  <a:gd name="T7" fmla="*/ 10 h 10"/>
                  <a:gd name="T8" fmla="*/ 62 w 67"/>
                  <a:gd name="T9" fmla="*/ 10 h 10"/>
                  <a:gd name="T10" fmla="*/ 67 w 67"/>
                  <a:gd name="T11" fmla="*/ 5 h 10"/>
                  <a:gd name="T12" fmla="*/ 62 w 67"/>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67" h="10">
                    <a:moveTo>
                      <a:pt x="62" y="0"/>
                    </a:moveTo>
                    <a:cubicBezTo>
                      <a:pt x="5" y="0"/>
                      <a:pt x="5" y="0"/>
                      <a:pt x="5" y="0"/>
                    </a:cubicBezTo>
                    <a:cubicBezTo>
                      <a:pt x="3" y="0"/>
                      <a:pt x="0" y="3"/>
                      <a:pt x="0" y="5"/>
                    </a:cubicBezTo>
                    <a:cubicBezTo>
                      <a:pt x="0" y="8"/>
                      <a:pt x="3" y="10"/>
                      <a:pt x="5" y="10"/>
                    </a:cubicBezTo>
                    <a:cubicBezTo>
                      <a:pt x="62" y="10"/>
                      <a:pt x="62" y="10"/>
                      <a:pt x="62" y="10"/>
                    </a:cubicBezTo>
                    <a:cubicBezTo>
                      <a:pt x="65" y="10"/>
                      <a:pt x="67" y="8"/>
                      <a:pt x="67" y="5"/>
                    </a:cubicBezTo>
                    <a:cubicBezTo>
                      <a:pt x="67" y="3"/>
                      <a:pt x="65" y="0"/>
                      <a:pt x="62" y="0"/>
                    </a:cubicBez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7" name="Freeform 181">
                <a:extLst>
                  <a:ext uri="{FF2B5EF4-FFF2-40B4-BE49-F238E27FC236}">
                    <a16:creationId xmlns:a16="http://schemas.microsoft.com/office/drawing/2014/main" id="{CB8FB86A-6039-56C8-77A6-38DADC458939}"/>
                  </a:ext>
                </a:extLst>
              </p:cNvPr>
              <p:cNvSpPr>
                <a:spLocks/>
              </p:cNvSpPr>
              <p:nvPr/>
            </p:nvSpPr>
            <p:spPr bwMode="auto">
              <a:xfrm>
                <a:off x="5011738" y="431800"/>
                <a:ext cx="144463" cy="22225"/>
              </a:xfrm>
              <a:custGeom>
                <a:avLst/>
                <a:gdLst>
                  <a:gd name="T0" fmla="*/ 62 w 67"/>
                  <a:gd name="T1" fmla="*/ 0 h 10"/>
                  <a:gd name="T2" fmla="*/ 5 w 67"/>
                  <a:gd name="T3" fmla="*/ 0 h 10"/>
                  <a:gd name="T4" fmla="*/ 0 w 67"/>
                  <a:gd name="T5" fmla="*/ 5 h 10"/>
                  <a:gd name="T6" fmla="*/ 5 w 67"/>
                  <a:gd name="T7" fmla="*/ 10 h 10"/>
                  <a:gd name="T8" fmla="*/ 62 w 67"/>
                  <a:gd name="T9" fmla="*/ 10 h 10"/>
                  <a:gd name="T10" fmla="*/ 67 w 67"/>
                  <a:gd name="T11" fmla="*/ 5 h 10"/>
                  <a:gd name="T12" fmla="*/ 62 w 67"/>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67" h="10">
                    <a:moveTo>
                      <a:pt x="62" y="0"/>
                    </a:moveTo>
                    <a:cubicBezTo>
                      <a:pt x="5" y="0"/>
                      <a:pt x="5" y="0"/>
                      <a:pt x="5" y="0"/>
                    </a:cubicBezTo>
                    <a:cubicBezTo>
                      <a:pt x="3" y="0"/>
                      <a:pt x="0" y="2"/>
                      <a:pt x="0" y="5"/>
                    </a:cubicBezTo>
                    <a:cubicBezTo>
                      <a:pt x="0" y="7"/>
                      <a:pt x="3" y="10"/>
                      <a:pt x="5" y="10"/>
                    </a:cubicBezTo>
                    <a:cubicBezTo>
                      <a:pt x="62" y="10"/>
                      <a:pt x="62" y="10"/>
                      <a:pt x="62" y="10"/>
                    </a:cubicBezTo>
                    <a:cubicBezTo>
                      <a:pt x="65" y="10"/>
                      <a:pt x="67" y="7"/>
                      <a:pt x="67" y="5"/>
                    </a:cubicBezTo>
                    <a:cubicBezTo>
                      <a:pt x="67" y="2"/>
                      <a:pt x="65" y="0"/>
                      <a:pt x="62" y="0"/>
                    </a:cubicBez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8" name="Freeform 182">
                <a:extLst>
                  <a:ext uri="{FF2B5EF4-FFF2-40B4-BE49-F238E27FC236}">
                    <a16:creationId xmlns:a16="http://schemas.microsoft.com/office/drawing/2014/main" id="{32515F08-491E-558C-EAA2-29FF68C6A050}"/>
                  </a:ext>
                </a:extLst>
              </p:cNvPr>
              <p:cNvSpPr>
                <a:spLocks noEditPoints="1"/>
              </p:cNvSpPr>
              <p:nvPr/>
            </p:nvSpPr>
            <p:spPr bwMode="auto">
              <a:xfrm>
                <a:off x="4953000" y="152400"/>
                <a:ext cx="509588" cy="422275"/>
              </a:xfrm>
              <a:custGeom>
                <a:avLst/>
                <a:gdLst>
                  <a:gd name="T0" fmla="*/ 205 w 235"/>
                  <a:gd name="T1" fmla="*/ 25 h 195"/>
                  <a:gd name="T2" fmla="*/ 205 w 235"/>
                  <a:gd name="T3" fmla="*/ 8 h 195"/>
                  <a:gd name="T4" fmla="*/ 202 w 235"/>
                  <a:gd name="T5" fmla="*/ 2 h 195"/>
                  <a:gd name="T6" fmla="*/ 197 w 235"/>
                  <a:gd name="T7" fmla="*/ 0 h 195"/>
                  <a:gd name="T8" fmla="*/ 151 w 235"/>
                  <a:gd name="T9" fmla="*/ 0 h 195"/>
                  <a:gd name="T10" fmla="*/ 143 w 235"/>
                  <a:gd name="T11" fmla="*/ 8 h 195"/>
                  <a:gd name="T12" fmla="*/ 143 w 235"/>
                  <a:gd name="T13" fmla="*/ 24 h 195"/>
                  <a:gd name="T14" fmla="*/ 117 w 235"/>
                  <a:gd name="T15" fmla="*/ 34 h 195"/>
                  <a:gd name="T16" fmla="*/ 61 w 235"/>
                  <a:gd name="T17" fmla="*/ 22 h 195"/>
                  <a:gd name="T18" fmla="*/ 0 w 235"/>
                  <a:gd name="T19" fmla="*/ 43 h 195"/>
                  <a:gd name="T20" fmla="*/ 0 w 235"/>
                  <a:gd name="T21" fmla="*/ 190 h 195"/>
                  <a:gd name="T22" fmla="*/ 2 w 235"/>
                  <a:gd name="T23" fmla="*/ 194 h 195"/>
                  <a:gd name="T24" fmla="*/ 5 w 235"/>
                  <a:gd name="T25" fmla="*/ 195 h 195"/>
                  <a:gd name="T26" fmla="*/ 6 w 235"/>
                  <a:gd name="T27" fmla="*/ 195 h 195"/>
                  <a:gd name="T28" fmla="*/ 117 w 235"/>
                  <a:gd name="T29" fmla="*/ 195 h 195"/>
                  <a:gd name="T30" fmla="*/ 117 w 235"/>
                  <a:gd name="T31" fmla="*/ 195 h 195"/>
                  <a:gd name="T32" fmla="*/ 118 w 235"/>
                  <a:gd name="T33" fmla="*/ 195 h 195"/>
                  <a:gd name="T34" fmla="*/ 229 w 235"/>
                  <a:gd name="T35" fmla="*/ 195 h 195"/>
                  <a:gd name="T36" fmla="*/ 230 w 235"/>
                  <a:gd name="T37" fmla="*/ 195 h 195"/>
                  <a:gd name="T38" fmla="*/ 233 w 235"/>
                  <a:gd name="T39" fmla="*/ 194 h 195"/>
                  <a:gd name="T40" fmla="*/ 235 w 235"/>
                  <a:gd name="T41" fmla="*/ 190 h 195"/>
                  <a:gd name="T42" fmla="*/ 235 w 235"/>
                  <a:gd name="T43" fmla="*/ 43 h 195"/>
                  <a:gd name="T44" fmla="*/ 205 w 235"/>
                  <a:gd name="T45" fmla="*/ 25 h 195"/>
                  <a:gd name="T46" fmla="*/ 113 w 235"/>
                  <a:gd name="T47" fmla="*/ 184 h 195"/>
                  <a:gd name="T48" fmla="*/ 61 w 235"/>
                  <a:gd name="T49" fmla="*/ 181 h 195"/>
                  <a:gd name="T50" fmla="*/ 10 w 235"/>
                  <a:gd name="T51" fmla="*/ 184 h 195"/>
                  <a:gd name="T52" fmla="*/ 10 w 235"/>
                  <a:gd name="T53" fmla="*/ 43 h 195"/>
                  <a:gd name="T54" fmla="*/ 61 w 235"/>
                  <a:gd name="T55" fmla="*/ 31 h 195"/>
                  <a:gd name="T56" fmla="*/ 113 w 235"/>
                  <a:gd name="T57" fmla="*/ 43 h 195"/>
                  <a:gd name="T58" fmla="*/ 113 w 235"/>
                  <a:gd name="T59" fmla="*/ 184 h 195"/>
                  <a:gd name="T60" fmla="*/ 153 w 235"/>
                  <a:gd name="T61" fmla="*/ 9 h 195"/>
                  <a:gd name="T62" fmla="*/ 195 w 235"/>
                  <a:gd name="T63" fmla="*/ 9 h 195"/>
                  <a:gd name="T64" fmla="*/ 195 w 235"/>
                  <a:gd name="T65" fmla="*/ 122 h 195"/>
                  <a:gd name="T66" fmla="*/ 174 w 235"/>
                  <a:gd name="T67" fmla="*/ 101 h 195"/>
                  <a:gd name="T68" fmla="*/ 153 w 235"/>
                  <a:gd name="T69" fmla="*/ 122 h 195"/>
                  <a:gd name="T70" fmla="*/ 153 w 235"/>
                  <a:gd name="T71" fmla="*/ 9 h 195"/>
                  <a:gd name="T72" fmla="*/ 225 w 235"/>
                  <a:gd name="T73" fmla="*/ 184 h 195"/>
                  <a:gd name="T74" fmla="*/ 122 w 235"/>
                  <a:gd name="T75" fmla="*/ 184 h 195"/>
                  <a:gd name="T76" fmla="*/ 122 w 235"/>
                  <a:gd name="T77" fmla="*/ 43 h 195"/>
                  <a:gd name="T78" fmla="*/ 143 w 235"/>
                  <a:gd name="T79" fmla="*/ 34 h 195"/>
                  <a:gd name="T80" fmla="*/ 143 w 235"/>
                  <a:gd name="T81" fmla="*/ 125 h 195"/>
                  <a:gd name="T82" fmla="*/ 148 w 235"/>
                  <a:gd name="T83" fmla="*/ 133 h 195"/>
                  <a:gd name="T84" fmla="*/ 151 w 235"/>
                  <a:gd name="T85" fmla="*/ 133 h 195"/>
                  <a:gd name="T86" fmla="*/ 157 w 235"/>
                  <a:gd name="T87" fmla="*/ 131 h 195"/>
                  <a:gd name="T88" fmla="*/ 174 w 235"/>
                  <a:gd name="T89" fmla="*/ 114 h 195"/>
                  <a:gd name="T90" fmla="*/ 191 w 235"/>
                  <a:gd name="T91" fmla="*/ 131 h 195"/>
                  <a:gd name="T92" fmla="*/ 200 w 235"/>
                  <a:gd name="T93" fmla="*/ 133 h 195"/>
                  <a:gd name="T94" fmla="*/ 202 w 235"/>
                  <a:gd name="T95" fmla="*/ 131 h 195"/>
                  <a:gd name="T96" fmla="*/ 205 w 235"/>
                  <a:gd name="T97" fmla="*/ 125 h 195"/>
                  <a:gd name="T98" fmla="*/ 205 w 235"/>
                  <a:gd name="T99" fmla="*/ 34 h 195"/>
                  <a:gd name="T100" fmla="*/ 225 w 235"/>
                  <a:gd name="T101" fmla="*/ 43 h 195"/>
                  <a:gd name="T102" fmla="*/ 225 w 235"/>
                  <a:gd name="T103" fmla="*/ 18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5" h="195">
                    <a:moveTo>
                      <a:pt x="205" y="25"/>
                    </a:moveTo>
                    <a:cubicBezTo>
                      <a:pt x="205" y="8"/>
                      <a:pt x="205" y="8"/>
                      <a:pt x="205" y="8"/>
                    </a:cubicBezTo>
                    <a:cubicBezTo>
                      <a:pt x="205" y="6"/>
                      <a:pt x="204" y="4"/>
                      <a:pt x="202" y="2"/>
                    </a:cubicBezTo>
                    <a:cubicBezTo>
                      <a:pt x="201" y="1"/>
                      <a:pt x="199" y="0"/>
                      <a:pt x="197" y="0"/>
                    </a:cubicBezTo>
                    <a:cubicBezTo>
                      <a:pt x="151" y="0"/>
                      <a:pt x="151" y="0"/>
                      <a:pt x="151" y="0"/>
                    </a:cubicBezTo>
                    <a:cubicBezTo>
                      <a:pt x="147" y="0"/>
                      <a:pt x="143" y="3"/>
                      <a:pt x="143" y="8"/>
                    </a:cubicBezTo>
                    <a:cubicBezTo>
                      <a:pt x="143" y="24"/>
                      <a:pt x="143" y="24"/>
                      <a:pt x="143" y="24"/>
                    </a:cubicBezTo>
                    <a:cubicBezTo>
                      <a:pt x="132" y="26"/>
                      <a:pt x="123" y="30"/>
                      <a:pt x="117" y="34"/>
                    </a:cubicBezTo>
                    <a:cubicBezTo>
                      <a:pt x="107" y="26"/>
                      <a:pt x="84" y="22"/>
                      <a:pt x="61" y="22"/>
                    </a:cubicBezTo>
                    <a:cubicBezTo>
                      <a:pt x="32" y="22"/>
                      <a:pt x="0" y="29"/>
                      <a:pt x="0" y="43"/>
                    </a:cubicBezTo>
                    <a:cubicBezTo>
                      <a:pt x="0" y="190"/>
                      <a:pt x="0" y="190"/>
                      <a:pt x="0" y="190"/>
                    </a:cubicBezTo>
                    <a:cubicBezTo>
                      <a:pt x="0" y="191"/>
                      <a:pt x="1" y="193"/>
                      <a:pt x="2" y="194"/>
                    </a:cubicBezTo>
                    <a:cubicBezTo>
                      <a:pt x="3" y="194"/>
                      <a:pt x="4" y="195"/>
                      <a:pt x="5" y="195"/>
                    </a:cubicBezTo>
                    <a:cubicBezTo>
                      <a:pt x="5" y="195"/>
                      <a:pt x="5" y="195"/>
                      <a:pt x="6" y="195"/>
                    </a:cubicBezTo>
                    <a:cubicBezTo>
                      <a:pt x="39" y="189"/>
                      <a:pt x="83" y="189"/>
                      <a:pt x="117" y="195"/>
                    </a:cubicBezTo>
                    <a:cubicBezTo>
                      <a:pt x="117" y="195"/>
                      <a:pt x="117" y="195"/>
                      <a:pt x="117" y="195"/>
                    </a:cubicBezTo>
                    <a:cubicBezTo>
                      <a:pt x="118" y="195"/>
                      <a:pt x="118" y="195"/>
                      <a:pt x="118" y="195"/>
                    </a:cubicBezTo>
                    <a:cubicBezTo>
                      <a:pt x="152" y="189"/>
                      <a:pt x="196" y="189"/>
                      <a:pt x="229" y="195"/>
                    </a:cubicBezTo>
                    <a:cubicBezTo>
                      <a:pt x="229" y="195"/>
                      <a:pt x="230" y="195"/>
                      <a:pt x="230" y="195"/>
                    </a:cubicBezTo>
                    <a:cubicBezTo>
                      <a:pt x="231" y="195"/>
                      <a:pt x="232" y="194"/>
                      <a:pt x="233" y="194"/>
                    </a:cubicBezTo>
                    <a:cubicBezTo>
                      <a:pt x="234" y="193"/>
                      <a:pt x="235" y="191"/>
                      <a:pt x="235" y="190"/>
                    </a:cubicBezTo>
                    <a:cubicBezTo>
                      <a:pt x="235" y="43"/>
                      <a:pt x="235" y="43"/>
                      <a:pt x="235" y="43"/>
                    </a:cubicBezTo>
                    <a:cubicBezTo>
                      <a:pt x="235" y="34"/>
                      <a:pt x="222" y="28"/>
                      <a:pt x="205" y="25"/>
                    </a:cubicBezTo>
                    <a:close/>
                    <a:moveTo>
                      <a:pt x="113" y="184"/>
                    </a:moveTo>
                    <a:cubicBezTo>
                      <a:pt x="97" y="182"/>
                      <a:pt x="79" y="181"/>
                      <a:pt x="61" y="181"/>
                    </a:cubicBezTo>
                    <a:cubicBezTo>
                      <a:pt x="43" y="181"/>
                      <a:pt x="26" y="182"/>
                      <a:pt x="10" y="184"/>
                    </a:cubicBezTo>
                    <a:cubicBezTo>
                      <a:pt x="10" y="43"/>
                      <a:pt x="10" y="43"/>
                      <a:pt x="10" y="43"/>
                    </a:cubicBezTo>
                    <a:cubicBezTo>
                      <a:pt x="10" y="40"/>
                      <a:pt x="28" y="31"/>
                      <a:pt x="61" y="31"/>
                    </a:cubicBezTo>
                    <a:cubicBezTo>
                      <a:pt x="95" y="31"/>
                      <a:pt x="113" y="40"/>
                      <a:pt x="113" y="43"/>
                    </a:cubicBezTo>
                    <a:lnTo>
                      <a:pt x="113" y="184"/>
                    </a:lnTo>
                    <a:close/>
                    <a:moveTo>
                      <a:pt x="153" y="9"/>
                    </a:moveTo>
                    <a:cubicBezTo>
                      <a:pt x="195" y="9"/>
                      <a:pt x="195" y="9"/>
                      <a:pt x="195" y="9"/>
                    </a:cubicBezTo>
                    <a:cubicBezTo>
                      <a:pt x="195" y="122"/>
                      <a:pt x="195" y="122"/>
                      <a:pt x="195" y="122"/>
                    </a:cubicBezTo>
                    <a:cubicBezTo>
                      <a:pt x="174" y="101"/>
                      <a:pt x="174" y="101"/>
                      <a:pt x="174" y="101"/>
                    </a:cubicBezTo>
                    <a:cubicBezTo>
                      <a:pt x="153" y="122"/>
                      <a:pt x="153" y="122"/>
                      <a:pt x="153" y="122"/>
                    </a:cubicBezTo>
                    <a:lnTo>
                      <a:pt x="153" y="9"/>
                    </a:lnTo>
                    <a:close/>
                    <a:moveTo>
                      <a:pt x="225" y="184"/>
                    </a:moveTo>
                    <a:cubicBezTo>
                      <a:pt x="193" y="179"/>
                      <a:pt x="154" y="179"/>
                      <a:pt x="122" y="184"/>
                    </a:cubicBezTo>
                    <a:cubicBezTo>
                      <a:pt x="122" y="43"/>
                      <a:pt x="122" y="43"/>
                      <a:pt x="122" y="43"/>
                    </a:cubicBezTo>
                    <a:cubicBezTo>
                      <a:pt x="122" y="41"/>
                      <a:pt x="129" y="37"/>
                      <a:pt x="143" y="34"/>
                    </a:cubicBezTo>
                    <a:cubicBezTo>
                      <a:pt x="143" y="125"/>
                      <a:pt x="143" y="125"/>
                      <a:pt x="143" y="125"/>
                    </a:cubicBezTo>
                    <a:cubicBezTo>
                      <a:pt x="143" y="128"/>
                      <a:pt x="145" y="131"/>
                      <a:pt x="148" y="133"/>
                    </a:cubicBezTo>
                    <a:cubicBezTo>
                      <a:pt x="149" y="133"/>
                      <a:pt x="150" y="133"/>
                      <a:pt x="151" y="133"/>
                    </a:cubicBezTo>
                    <a:cubicBezTo>
                      <a:pt x="154" y="133"/>
                      <a:pt x="156" y="132"/>
                      <a:pt x="157" y="131"/>
                    </a:cubicBezTo>
                    <a:cubicBezTo>
                      <a:pt x="174" y="114"/>
                      <a:pt x="174" y="114"/>
                      <a:pt x="174" y="114"/>
                    </a:cubicBezTo>
                    <a:cubicBezTo>
                      <a:pt x="191" y="131"/>
                      <a:pt x="191" y="131"/>
                      <a:pt x="191" y="131"/>
                    </a:cubicBezTo>
                    <a:cubicBezTo>
                      <a:pt x="193" y="133"/>
                      <a:pt x="197" y="134"/>
                      <a:pt x="200" y="133"/>
                    </a:cubicBezTo>
                    <a:cubicBezTo>
                      <a:pt x="201" y="132"/>
                      <a:pt x="202" y="131"/>
                      <a:pt x="202" y="131"/>
                    </a:cubicBezTo>
                    <a:cubicBezTo>
                      <a:pt x="204" y="129"/>
                      <a:pt x="205" y="127"/>
                      <a:pt x="205" y="125"/>
                    </a:cubicBezTo>
                    <a:cubicBezTo>
                      <a:pt x="205" y="34"/>
                      <a:pt x="205" y="34"/>
                      <a:pt x="205" y="34"/>
                    </a:cubicBezTo>
                    <a:cubicBezTo>
                      <a:pt x="218" y="37"/>
                      <a:pt x="225" y="41"/>
                      <a:pt x="225" y="43"/>
                    </a:cubicBezTo>
                    <a:lnTo>
                      <a:pt x="225" y="184"/>
                    </a:ln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274" name="TextBox 273">
              <a:extLst>
                <a:ext uri="{FF2B5EF4-FFF2-40B4-BE49-F238E27FC236}">
                  <a16:creationId xmlns:a16="http://schemas.microsoft.com/office/drawing/2014/main" id="{B374C479-6685-C783-8738-93A82D5788D1}"/>
                </a:ext>
              </a:extLst>
            </p:cNvPr>
            <p:cNvSpPr txBox="1"/>
            <p:nvPr/>
          </p:nvSpPr>
          <p:spPr>
            <a:xfrm>
              <a:off x="1499041" y="5733911"/>
              <a:ext cx="2468237" cy="707886"/>
            </a:xfrm>
            <a:prstGeom prst="rect">
              <a:avLst/>
            </a:prstGeom>
            <a:noFill/>
          </p:spPr>
          <p:txBody>
            <a:bodyPr wrap="square" rtlCol="0" anchor="t">
              <a:spAutoFit/>
            </a:bodyPr>
            <a:lstStyle/>
            <a:p>
              <a:pPr defTabSz="913852">
                <a:defRPr/>
              </a:pPr>
              <a:r>
                <a:rPr lang="en-US" sz="1000" b="1">
                  <a:solidFill>
                    <a:srgbClr val="000000"/>
                  </a:solidFill>
                  <a:latin typeface="Open Sans" panose="020B0606030504020204" pitchFamily="34" charset="0"/>
                  <a:ea typeface="Open Sans" panose="020B0606030504020204" pitchFamily="34" charset="0"/>
                  <a:cs typeface="Open Sans" panose="020B0606030504020204" pitchFamily="34" charset="0"/>
                </a:rPr>
                <a:t>STANDARD VOCABULARY</a:t>
              </a:r>
            </a:p>
            <a:p>
              <a:pPr defTabSz="913852">
                <a:defRPr/>
              </a:pPr>
              <a:r>
                <a:rPr lang="en-US" sz="1000">
                  <a:solidFill>
                    <a:srgbClr val="000000"/>
                  </a:solidFill>
                  <a:latin typeface="Open Sans" panose="020B0606030504020204" pitchFamily="34" charset="0"/>
                  <a:ea typeface="Open Sans" panose="020B0606030504020204" pitchFamily="34" charset="0"/>
                  <a:cs typeface="Open Sans" panose="020B0606030504020204" pitchFamily="34" charset="0"/>
                </a:rPr>
                <a:t>Built in vocabulary service that can be integrated with client’s existing master and reference metadata services</a:t>
              </a:r>
            </a:p>
          </p:txBody>
        </p:sp>
      </p:grpSp>
      <p:grpSp>
        <p:nvGrpSpPr>
          <p:cNvPr id="19" name="Group 18">
            <a:extLst>
              <a:ext uri="{FF2B5EF4-FFF2-40B4-BE49-F238E27FC236}">
                <a16:creationId xmlns:a16="http://schemas.microsoft.com/office/drawing/2014/main" id="{2F6C8146-5225-3475-4215-DEDB1D1BA3F9}"/>
              </a:ext>
            </a:extLst>
          </p:cNvPr>
          <p:cNvGrpSpPr/>
          <p:nvPr/>
        </p:nvGrpSpPr>
        <p:grpSpPr>
          <a:xfrm>
            <a:off x="4991906" y="1390333"/>
            <a:ext cx="484380" cy="484380"/>
            <a:chOff x="4991906" y="1390333"/>
            <a:chExt cx="484380" cy="484380"/>
          </a:xfrm>
        </p:grpSpPr>
        <p:sp>
          <p:nvSpPr>
            <p:cNvPr id="266" name="Oval 265">
              <a:extLst>
                <a:ext uri="{FF2B5EF4-FFF2-40B4-BE49-F238E27FC236}">
                  <a16:creationId xmlns:a16="http://schemas.microsoft.com/office/drawing/2014/main" id="{67DC9B0A-0120-77DF-D873-199F52AFCD54}"/>
                </a:ext>
              </a:extLst>
            </p:cNvPr>
            <p:cNvSpPr/>
            <p:nvPr/>
          </p:nvSpPr>
          <p:spPr>
            <a:xfrm>
              <a:off x="4991906" y="1390333"/>
              <a:ext cx="484380" cy="484380"/>
            </a:xfrm>
            <a:prstGeom prst="ellipse">
              <a:avLst/>
            </a:prstGeom>
            <a:solidFill>
              <a:schemeClr val="bg1"/>
            </a:solidFill>
            <a:ln w="28575">
              <a:solidFill>
                <a:srgbClr val="00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2">
                <a:defRPr/>
              </a:pPr>
              <a:endParaRPr lang="en-US" sz="1798">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79" name="Group 278">
              <a:extLst>
                <a:ext uri="{FF2B5EF4-FFF2-40B4-BE49-F238E27FC236}">
                  <a16:creationId xmlns:a16="http://schemas.microsoft.com/office/drawing/2014/main" id="{CEC214CD-4662-D2F4-66D9-323E6CD09A7B}"/>
                </a:ext>
              </a:extLst>
            </p:cNvPr>
            <p:cNvGrpSpPr>
              <a:grpSpLocks noChangeAspect="1"/>
            </p:cNvGrpSpPr>
            <p:nvPr/>
          </p:nvGrpSpPr>
          <p:grpSpPr>
            <a:xfrm>
              <a:off x="5104286" y="1495434"/>
              <a:ext cx="259620" cy="274178"/>
              <a:chOff x="1584325" y="5254625"/>
              <a:chExt cx="650875" cy="650875"/>
            </a:xfrm>
          </p:grpSpPr>
          <p:sp>
            <p:nvSpPr>
              <p:cNvPr id="280" name="Freeform 36">
                <a:extLst>
                  <a:ext uri="{FF2B5EF4-FFF2-40B4-BE49-F238E27FC236}">
                    <a16:creationId xmlns:a16="http://schemas.microsoft.com/office/drawing/2014/main" id="{07401065-421C-4A84-4A06-8FC8BC9954A3}"/>
                  </a:ext>
                </a:extLst>
              </p:cNvPr>
              <p:cNvSpPr>
                <a:spLocks noEditPoints="1"/>
              </p:cNvSpPr>
              <p:nvPr/>
            </p:nvSpPr>
            <p:spPr bwMode="auto">
              <a:xfrm>
                <a:off x="1584325" y="5254625"/>
                <a:ext cx="650875" cy="650875"/>
              </a:xfrm>
              <a:custGeom>
                <a:avLst/>
                <a:gdLst>
                  <a:gd name="T0" fmla="*/ 188 w 213"/>
                  <a:gd name="T1" fmla="*/ 0 h 213"/>
                  <a:gd name="T2" fmla="*/ 26 w 213"/>
                  <a:gd name="T3" fmla="*/ 0 h 213"/>
                  <a:gd name="T4" fmla="*/ 0 w 213"/>
                  <a:gd name="T5" fmla="*/ 25 h 213"/>
                  <a:gd name="T6" fmla="*/ 0 w 213"/>
                  <a:gd name="T7" fmla="*/ 188 h 213"/>
                  <a:gd name="T8" fmla="*/ 26 w 213"/>
                  <a:gd name="T9" fmla="*/ 213 h 213"/>
                  <a:gd name="T10" fmla="*/ 188 w 213"/>
                  <a:gd name="T11" fmla="*/ 213 h 213"/>
                  <a:gd name="T12" fmla="*/ 213 w 213"/>
                  <a:gd name="T13" fmla="*/ 188 h 213"/>
                  <a:gd name="T14" fmla="*/ 213 w 213"/>
                  <a:gd name="T15" fmla="*/ 25 h 213"/>
                  <a:gd name="T16" fmla="*/ 188 w 213"/>
                  <a:gd name="T17" fmla="*/ 0 h 213"/>
                  <a:gd name="T18" fmla="*/ 205 w 213"/>
                  <a:gd name="T19" fmla="*/ 188 h 213"/>
                  <a:gd name="T20" fmla="*/ 188 w 213"/>
                  <a:gd name="T21" fmla="*/ 204 h 213"/>
                  <a:gd name="T22" fmla="*/ 26 w 213"/>
                  <a:gd name="T23" fmla="*/ 204 h 213"/>
                  <a:gd name="T24" fmla="*/ 9 w 213"/>
                  <a:gd name="T25" fmla="*/ 188 h 213"/>
                  <a:gd name="T26" fmla="*/ 9 w 213"/>
                  <a:gd name="T27" fmla="*/ 25 h 213"/>
                  <a:gd name="T28" fmla="*/ 26 w 213"/>
                  <a:gd name="T29" fmla="*/ 8 h 213"/>
                  <a:gd name="T30" fmla="*/ 188 w 213"/>
                  <a:gd name="T31" fmla="*/ 8 h 213"/>
                  <a:gd name="T32" fmla="*/ 205 w 213"/>
                  <a:gd name="T33" fmla="*/ 25 h 213"/>
                  <a:gd name="T34" fmla="*/ 205 w 213"/>
                  <a:gd name="T35" fmla="*/ 18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3" h="213">
                    <a:moveTo>
                      <a:pt x="188" y="0"/>
                    </a:moveTo>
                    <a:cubicBezTo>
                      <a:pt x="26" y="0"/>
                      <a:pt x="26" y="0"/>
                      <a:pt x="26" y="0"/>
                    </a:cubicBezTo>
                    <a:cubicBezTo>
                      <a:pt x="12" y="0"/>
                      <a:pt x="0" y="11"/>
                      <a:pt x="0" y="25"/>
                    </a:cubicBezTo>
                    <a:cubicBezTo>
                      <a:pt x="0" y="188"/>
                      <a:pt x="0" y="188"/>
                      <a:pt x="0" y="188"/>
                    </a:cubicBezTo>
                    <a:cubicBezTo>
                      <a:pt x="0" y="202"/>
                      <a:pt x="12" y="213"/>
                      <a:pt x="26" y="213"/>
                    </a:cubicBezTo>
                    <a:cubicBezTo>
                      <a:pt x="188" y="213"/>
                      <a:pt x="188" y="213"/>
                      <a:pt x="188" y="213"/>
                    </a:cubicBezTo>
                    <a:cubicBezTo>
                      <a:pt x="202" y="213"/>
                      <a:pt x="213" y="202"/>
                      <a:pt x="213" y="188"/>
                    </a:cubicBezTo>
                    <a:cubicBezTo>
                      <a:pt x="213" y="25"/>
                      <a:pt x="213" y="25"/>
                      <a:pt x="213" y="25"/>
                    </a:cubicBezTo>
                    <a:cubicBezTo>
                      <a:pt x="213" y="11"/>
                      <a:pt x="202" y="0"/>
                      <a:pt x="188" y="0"/>
                    </a:cubicBezTo>
                    <a:close/>
                    <a:moveTo>
                      <a:pt x="205" y="188"/>
                    </a:moveTo>
                    <a:cubicBezTo>
                      <a:pt x="205" y="197"/>
                      <a:pt x="197" y="204"/>
                      <a:pt x="188" y="204"/>
                    </a:cubicBezTo>
                    <a:cubicBezTo>
                      <a:pt x="26" y="204"/>
                      <a:pt x="26" y="204"/>
                      <a:pt x="26" y="204"/>
                    </a:cubicBezTo>
                    <a:cubicBezTo>
                      <a:pt x="17" y="204"/>
                      <a:pt x="9" y="197"/>
                      <a:pt x="9" y="188"/>
                    </a:cubicBezTo>
                    <a:cubicBezTo>
                      <a:pt x="9" y="25"/>
                      <a:pt x="9" y="25"/>
                      <a:pt x="9" y="25"/>
                    </a:cubicBezTo>
                    <a:cubicBezTo>
                      <a:pt x="9" y="16"/>
                      <a:pt x="17" y="8"/>
                      <a:pt x="26" y="8"/>
                    </a:cubicBezTo>
                    <a:cubicBezTo>
                      <a:pt x="188" y="8"/>
                      <a:pt x="188" y="8"/>
                      <a:pt x="188" y="8"/>
                    </a:cubicBezTo>
                    <a:cubicBezTo>
                      <a:pt x="197" y="8"/>
                      <a:pt x="205" y="16"/>
                      <a:pt x="205" y="25"/>
                    </a:cubicBezTo>
                    <a:lnTo>
                      <a:pt x="205" y="188"/>
                    </a:ln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1" name="Freeform 37">
                <a:extLst>
                  <a:ext uri="{FF2B5EF4-FFF2-40B4-BE49-F238E27FC236}">
                    <a16:creationId xmlns:a16="http://schemas.microsoft.com/office/drawing/2014/main" id="{9840D70D-16CB-3919-AF62-64AE7FD84FDE}"/>
                  </a:ext>
                </a:extLst>
              </p:cNvPr>
              <p:cNvSpPr>
                <a:spLocks noEditPoints="1"/>
              </p:cNvSpPr>
              <p:nvPr/>
            </p:nvSpPr>
            <p:spPr bwMode="auto">
              <a:xfrm>
                <a:off x="1684338" y="5349875"/>
                <a:ext cx="138112" cy="463550"/>
              </a:xfrm>
              <a:custGeom>
                <a:avLst/>
                <a:gdLst>
                  <a:gd name="T0" fmla="*/ 27 w 45"/>
                  <a:gd name="T1" fmla="*/ 11 h 152"/>
                  <a:gd name="T2" fmla="*/ 27 w 45"/>
                  <a:gd name="T3" fmla="*/ 5 h 152"/>
                  <a:gd name="T4" fmla="*/ 23 w 45"/>
                  <a:gd name="T5" fmla="*/ 0 h 152"/>
                  <a:gd name="T6" fmla="*/ 18 w 45"/>
                  <a:gd name="T7" fmla="*/ 5 h 152"/>
                  <a:gd name="T8" fmla="*/ 18 w 45"/>
                  <a:gd name="T9" fmla="*/ 11 h 152"/>
                  <a:gd name="T10" fmla="*/ 0 w 45"/>
                  <a:gd name="T11" fmla="*/ 33 h 152"/>
                  <a:gd name="T12" fmla="*/ 18 w 45"/>
                  <a:gd name="T13" fmla="*/ 56 h 152"/>
                  <a:gd name="T14" fmla="*/ 18 w 45"/>
                  <a:gd name="T15" fmla="*/ 147 h 152"/>
                  <a:gd name="T16" fmla="*/ 23 w 45"/>
                  <a:gd name="T17" fmla="*/ 152 h 152"/>
                  <a:gd name="T18" fmla="*/ 27 w 45"/>
                  <a:gd name="T19" fmla="*/ 147 h 152"/>
                  <a:gd name="T20" fmla="*/ 27 w 45"/>
                  <a:gd name="T21" fmla="*/ 56 h 152"/>
                  <a:gd name="T22" fmla="*/ 45 w 45"/>
                  <a:gd name="T23" fmla="*/ 33 h 152"/>
                  <a:gd name="T24" fmla="*/ 27 w 45"/>
                  <a:gd name="T25" fmla="*/ 11 h 152"/>
                  <a:gd name="T26" fmla="*/ 23 w 45"/>
                  <a:gd name="T27" fmla="*/ 47 h 152"/>
                  <a:gd name="T28" fmla="*/ 9 w 45"/>
                  <a:gd name="T29" fmla="*/ 33 h 152"/>
                  <a:gd name="T30" fmla="*/ 23 w 45"/>
                  <a:gd name="T31" fmla="*/ 19 h 152"/>
                  <a:gd name="T32" fmla="*/ 37 w 45"/>
                  <a:gd name="T33" fmla="*/ 33 h 152"/>
                  <a:gd name="T34" fmla="*/ 23 w 45"/>
                  <a:gd name="T35" fmla="*/ 4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152">
                    <a:moveTo>
                      <a:pt x="27" y="11"/>
                    </a:moveTo>
                    <a:cubicBezTo>
                      <a:pt x="27" y="5"/>
                      <a:pt x="27" y="5"/>
                      <a:pt x="27" y="5"/>
                    </a:cubicBezTo>
                    <a:cubicBezTo>
                      <a:pt x="27" y="2"/>
                      <a:pt x="25" y="0"/>
                      <a:pt x="23" y="0"/>
                    </a:cubicBezTo>
                    <a:cubicBezTo>
                      <a:pt x="20" y="0"/>
                      <a:pt x="18" y="2"/>
                      <a:pt x="18" y="5"/>
                    </a:cubicBezTo>
                    <a:cubicBezTo>
                      <a:pt x="18" y="11"/>
                      <a:pt x="18" y="11"/>
                      <a:pt x="18" y="11"/>
                    </a:cubicBezTo>
                    <a:cubicBezTo>
                      <a:pt x="8" y="13"/>
                      <a:pt x="0" y="22"/>
                      <a:pt x="0" y="33"/>
                    </a:cubicBezTo>
                    <a:cubicBezTo>
                      <a:pt x="0" y="44"/>
                      <a:pt x="8" y="54"/>
                      <a:pt x="18" y="56"/>
                    </a:cubicBezTo>
                    <a:cubicBezTo>
                      <a:pt x="18" y="147"/>
                      <a:pt x="18" y="147"/>
                      <a:pt x="18" y="147"/>
                    </a:cubicBezTo>
                    <a:cubicBezTo>
                      <a:pt x="18" y="150"/>
                      <a:pt x="20" y="152"/>
                      <a:pt x="23" y="152"/>
                    </a:cubicBezTo>
                    <a:cubicBezTo>
                      <a:pt x="25" y="152"/>
                      <a:pt x="27" y="150"/>
                      <a:pt x="27" y="147"/>
                    </a:cubicBezTo>
                    <a:cubicBezTo>
                      <a:pt x="27" y="56"/>
                      <a:pt x="27" y="56"/>
                      <a:pt x="27" y="56"/>
                    </a:cubicBezTo>
                    <a:cubicBezTo>
                      <a:pt x="37" y="54"/>
                      <a:pt x="45" y="44"/>
                      <a:pt x="45" y="33"/>
                    </a:cubicBezTo>
                    <a:cubicBezTo>
                      <a:pt x="45" y="22"/>
                      <a:pt x="37" y="13"/>
                      <a:pt x="27" y="11"/>
                    </a:cubicBezTo>
                    <a:close/>
                    <a:moveTo>
                      <a:pt x="23" y="47"/>
                    </a:moveTo>
                    <a:cubicBezTo>
                      <a:pt x="15" y="47"/>
                      <a:pt x="9" y="41"/>
                      <a:pt x="9" y="33"/>
                    </a:cubicBezTo>
                    <a:cubicBezTo>
                      <a:pt x="9" y="26"/>
                      <a:pt x="15" y="19"/>
                      <a:pt x="23" y="19"/>
                    </a:cubicBezTo>
                    <a:cubicBezTo>
                      <a:pt x="30" y="19"/>
                      <a:pt x="37" y="26"/>
                      <a:pt x="37" y="33"/>
                    </a:cubicBezTo>
                    <a:cubicBezTo>
                      <a:pt x="37" y="41"/>
                      <a:pt x="30" y="47"/>
                      <a:pt x="23" y="47"/>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2" name="Freeform 38">
                <a:extLst>
                  <a:ext uri="{FF2B5EF4-FFF2-40B4-BE49-F238E27FC236}">
                    <a16:creationId xmlns:a16="http://schemas.microsoft.com/office/drawing/2014/main" id="{D42E0ED6-1B93-F61A-2DB1-6CFF2A83959B}"/>
                  </a:ext>
                </a:extLst>
              </p:cNvPr>
              <p:cNvSpPr>
                <a:spLocks noEditPoints="1"/>
              </p:cNvSpPr>
              <p:nvPr/>
            </p:nvSpPr>
            <p:spPr bwMode="auto">
              <a:xfrm>
                <a:off x="1843088" y="5349875"/>
                <a:ext cx="138112" cy="463550"/>
              </a:xfrm>
              <a:custGeom>
                <a:avLst/>
                <a:gdLst>
                  <a:gd name="T0" fmla="*/ 27 w 45"/>
                  <a:gd name="T1" fmla="*/ 89 h 152"/>
                  <a:gd name="T2" fmla="*/ 27 w 45"/>
                  <a:gd name="T3" fmla="*/ 5 h 152"/>
                  <a:gd name="T4" fmla="*/ 23 w 45"/>
                  <a:gd name="T5" fmla="*/ 0 h 152"/>
                  <a:gd name="T6" fmla="*/ 18 w 45"/>
                  <a:gd name="T7" fmla="*/ 5 h 152"/>
                  <a:gd name="T8" fmla="*/ 18 w 45"/>
                  <a:gd name="T9" fmla="*/ 89 h 152"/>
                  <a:gd name="T10" fmla="*/ 0 w 45"/>
                  <a:gd name="T11" fmla="*/ 111 h 152"/>
                  <a:gd name="T12" fmla="*/ 18 w 45"/>
                  <a:gd name="T13" fmla="*/ 133 h 152"/>
                  <a:gd name="T14" fmla="*/ 18 w 45"/>
                  <a:gd name="T15" fmla="*/ 147 h 152"/>
                  <a:gd name="T16" fmla="*/ 23 w 45"/>
                  <a:gd name="T17" fmla="*/ 152 h 152"/>
                  <a:gd name="T18" fmla="*/ 27 w 45"/>
                  <a:gd name="T19" fmla="*/ 147 h 152"/>
                  <a:gd name="T20" fmla="*/ 27 w 45"/>
                  <a:gd name="T21" fmla="*/ 133 h 152"/>
                  <a:gd name="T22" fmla="*/ 45 w 45"/>
                  <a:gd name="T23" fmla="*/ 111 h 152"/>
                  <a:gd name="T24" fmla="*/ 27 w 45"/>
                  <a:gd name="T25" fmla="*/ 89 h 152"/>
                  <a:gd name="T26" fmla="*/ 23 w 45"/>
                  <a:gd name="T27" fmla="*/ 125 h 152"/>
                  <a:gd name="T28" fmla="*/ 9 w 45"/>
                  <a:gd name="T29" fmla="*/ 111 h 152"/>
                  <a:gd name="T30" fmla="*/ 23 w 45"/>
                  <a:gd name="T31" fmla="*/ 97 h 152"/>
                  <a:gd name="T32" fmla="*/ 37 w 45"/>
                  <a:gd name="T33" fmla="*/ 111 h 152"/>
                  <a:gd name="T34" fmla="*/ 23 w 45"/>
                  <a:gd name="T35" fmla="*/ 125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152">
                    <a:moveTo>
                      <a:pt x="27" y="89"/>
                    </a:moveTo>
                    <a:cubicBezTo>
                      <a:pt x="27" y="5"/>
                      <a:pt x="27" y="5"/>
                      <a:pt x="27" y="5"/>
                    </a:cubicBezTo>
                    <a:cubicBezTo>
                      <a:pt x="27" y="2"/>
                      <a:pt x="25" y="0"/>
                      <a:pt x="23" y="0"/>
                    </a:cubicBezTo>
                    <a:cubicBezTo>
                      <a:pt x="20" y="0"/>
                      <a:pt x="18" y="2"/>
                      <a:pt x="18" y="5"/>
                    </a:cubicBezTo>
                    <a:cubicBezTo>
                      <a:pt x="18" y="89"/>
                      <a:pt x="18" y="89"/>
                      <a:pt x="18" y="89"/>
                    </a:cubicBezTo>
                    <a:cubicBezTo>
                      <a:pt x="8" y="91"/>
                      <a:pt x="0" y="100"/>
                      <a:pt x="0" y="111"/>
                    </a:cubicBezTo>
                    <a:cubicBezTo>
                      <a:pt x="0" y="122"/>
                      <a:pt x="8" y="131"/>
                      <a:pt x="18" y="133"/>
                    </a:cubicBezTo>
                    <a:cubicBezTo>
                      <a:pt x="18" y="147"/>
                      <a:pt x="18" y="147"/>
                      <a:pt x="18" y="147"/>
                    </a:cubicBezTo>
                    <a:cubicBezTo>
                      <a:pt x="18" y="150"/>
                      <a:pt x="20" y="152"/>
                      <a:pt x="23" y="152"/>
                    </a:cubicBezTo>
                    <a:cubicBezTo>
                      <a:pt x="25" y="152"/>
                      <a:pt x="27" y="150"/>
                      <a:pt x="27" y="147"/>
                    </a:cubicBezTo>
                    <a:cubicBezTo>
                      <a:pt x="27" y="133"/>
                      <a:pt x="27" y="133"/>
                      <a:pt x="27" y="133"/>
                    </a:cubicBezTo>
                    <a:cubicBezTo>
                      <a:pt x="38" y="131"/>
                      <a:pt x="45" y="122"/>
                      <a:pt x="45" y="111"/>
                    </a:cubicBezTo>
                    <a:cubicBezTo>
                      <a:pt x="45" y="100"/>
                      <a:pt x="38" y="91"/>
                      <a:pt x="27" y="89"/>
                    </a:cubicBezTo>
                    <a:close/>
                    <a:moveTo>
                      <a:pt x="23" y="125"/>
                    </a:moveTo>
                    <a:cubicBezTo>
                      <a:pt x="15" y="125"/>
                      <a:pt x="9" y="119"/>
                      <a:pt x="9" y="111"/>
                    </a:cubicBezTo>
                    <a:cubicBezTo>
                      <a:pt x="9" y="103"/>
                      <a:pt x="15" y="97"/>
                      <a:pt x="23" y="97"/>
                    </a:cubicBezTo>
                    <a:cubicBezTo>
                      <a:pt x="30" y="97"/>
                      <a:pt x="37" y="103"/>
                      <a:pt x="37" y="111"/>
                    </a:cubicBezTo>
                    <a:cubicBezTo>
                      <a:pt x="37" y="119"/>
                      <a:pt x="30" y="125"/>
                      <a:pt x="23" y="125"/>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3" name="Freeform 39">
                <a:extLst>
                  <a:ext uri="{FF2B5EF4-FFF2-40B4-BE49-F238E27FC236}">
                    <a16:creationId xmlns:a16="http://schemas.microsoft.com/office/drawing/2014/main" id="{DF9C8267-51E5-281F-AD9B-C9D4B87B1469}"/>
                  </a:ext>
                </a:extLst>
              </p:cNvPr>
              <p:cNvSpPr>
                <a:spLocks noEditPoints="1"/>
              </p:cNvSpPr>
              <p:nvPr/>
            </p:nvSpPr>
            <p:spPr bwMode="auto">
              <a:xfrm>
                <a:off x="2003425" y="5349875"/>
                <a:ext cx="139700" cy="463550"/>
              </a:xfrm>
              <a:custGeom>
                <a:avLst/>
                <a:gdLst>
                  <a:gd name="T0" fmla="*/ 27 w 46"/>
                  <a:gd name="T1" fmla="*/ 33 h 152"/>
                  <a:gd name="T2" fmla="*/ 27 w 46"/>
                  <a:gd name="T3" fmla="*/ 5 h 152"/>
                  <a:gd name="T4" fmla="*/ 23 w 46"/>
                  <a:gd name="T5" fmla="*/ 0 h 152"/>
                  <a:gd name="T6" fmla="*/ 19 w 46"/>
                  <a:gd name="T7" fmla="*/ 5 h 152"/>
                  <a:gd name="T8" fmla="*/ 19 w 46"/>
                  <a:gd name="T9" fmla="*/ 33 h 152"/>
                  <a:gd name="T10" fmla="*/ 0 w 46"/>
                  <a:gd name="T11" fmla="*/ 56 h 152"/>
                  <a:gd name="T12" fmla="*/ 19 w 46"/>
                  <a:gd name="T13" fmla="*/ 78 h 152"/>
                  <a:gd name="T14" fmla="*/ 19 w 46"/>
                  <a:gd name="T15" fmla="*/ 147 h 152"/>
                  <a:gd name="T16" fmla="*/ 23 w 46"/>
                  <a:gd name="T17" fmla="*/ 152 h 152"/>
                  <a:gd name="T18" fmla="*/ 27 w 46"/>
                  <a:gd name="T19" fmla="*/ 147 h 152"/>
                  <a:gd name="T20" fmla="*/ 27 w 46"/>
                  <a:gd name="T21" fmla="*/ 78 h 152"/>
                  <a:gd name="T22" fmla="*/ 46 w 46"/>
                  <a:gd name="T23" fmla="*/ 56 h 152"/>
                  <a:gd name="T24" fmla="*/ 27 w 46"/>
                  <a:gd name="T25" fmla="*/ 33 h 152"/>
                  <a:gd name="T26" fmla="*/ 27 w 46"/>
                  <a:gd name="T27" fmla="*/ 69 h 152"/>
                  <a:gd name="T28" fmla="*/ 23 w 46"/>
                  <a:gd name="T29" fmla="*/ 70 h 152"/>
                  <a:gd name="T30" fmla="*/ 23 w 46"/>
                  <a:gd name="T31" fmla="*/ 70 h 152"/>
                  <a:gd name="T32" fmla="*/ 19 w 46"/>
                  <a:gd name="T33" fmla="*/ 69 h 152"/>
                  <a:gd name="T34" fmla="*/ 9 w 46"/>
                  <a:gd name="T35" fmla="*/ 56 h 152"/>
                  <a:gd name="T36" fmla="*/ 19 w 46"/>
                  <a:gd name="T37" fmla="*/ 42 h 152"/>
                  <a:gd name="T38" fmla="*/ 23 w 46"/>
                  <a:gd name="T39" fmla="*/ 42 h 152"/>
                  <a:gd name="T40" fmla="*/ 23 w 46"/>
                  <a:gd name="T41" fmla="*/ 42 h 152"/>
                  <a:gd name="T42" fmla="*/ 27 w 46"/>
                  <a:gd name="T43" fmla="*/ 42 h 152"/>
                  <a:gd name="T44" fmla="*/ 37 w 46"/>
                  <a:gd name="T45" fmla="*/ 56 h 152"/>
                  <a:gd name="T46" fmla="*/ 27 w 46"/>
                  <a:gd name="T47" fmla="*/ 69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152">
                    <a:moveTo>
                      <a:pt x="27" y="33"/>
                    </a:moveTo>
                    <a:cubicBezTo>
                      <a:pt x="27" y="5"/>
                      <a:pt x="27" y="5"/>
                      <a:pt x="27" y="5"/>
                    </a:cubicBezTo>
                    <a:cubicBezTo>
                      <a:pt x="27" y="2"/>
                      <a:pt x="25" y="0"/>
                      <a:pt x="23" y="0"/>
                    </a:cubicBezTo>
                    <a:cubicBezTo>
                      <a:pt x="20" y="0"/>
                      <a:pt x="19" y="2"/>
                      <a:pt x="19" y="5"/>
                    </a:cubicBezTo>
                    <a:cubicBezTo>
                      <a:pt x="19" y="33"/>
                      <a:pt x="19" y="33"/>
                      <a:pt x="19" y="33"/>
                    </a:cubicBezTo>
                    <a:cubicBezTo>
                      <a:pt x="8" y="35"/>
                      <a:pt x="0" y="45"/>
                      <a:pt x="0" y="56"/>
                    </a:cubicBezTo>
                    <a:cubicBezTo>
                      <a:pt x="0" y="67"/>
                      <a:pt x="8" y="76"/>
                      <a:pt x="19" y="78"/>
                    </a:cubicBezTo>
                    <a:cubicBezTo>
                      <a:pt x="19" y="147"/>
                      <a:pt x="19" y="147"/>
                      <a:pt x="19" y="147"/>
                    </a:cubicBezTo>
                    <a:cubicBezTo>
                      <a:pt x="19" y="150"/>
                      <a:pt x="20" y="152"/>
                      <a:pt x="23" y="152"/>
                    </a:cubicBezTo>
                    <a:cubicBezTo>
                      <a:pt x="25" y="152"/>
                      <a:pt x="27" y="150"/>
                      <a:pt x="27" y="147"/>
                    </a:cubicBezTo>
                    <a:cubicBezTo>
                      <a:pt x="27" y="78"/>
                      <a:pt x="27" y="78"/>
                      <a:pt x="27" y="78"/>
                    </a:cubicBezTo>
                    <a:cubicBezTo>
                      <a:pt x="38" y="76"/>
                      <a:pt x="46" y="67"/>
                      <a:pt x="46" y="56"/>
                    </a:cubicBezTo>
                    <a:cubicBezTo>
                      <a:pt x="46" y="45"/>
                      <a:pt x="38" y="35"/>
                      <a:pt x="27" y="33"/>
                    </a:cubicBezTo>
                    <a:close/>
                    <a:moveTo>
                      <a:pt x="27" y="69"/>
                    </a:moveTo>
                    <a:cubicBezTo>
                      <a:pt x="26" y="69"/>
                      <a:pt x="24" y="70"/>
                      <a:pt x="23" y="70"/>
                    </a:cubicBezTo>
                    <a:cubicBezTo>
                      <a:pt x="23" y="70"/>
                      <a:pt x="23" y="70"/>
                      <a:pt x="23" y="70"/>
                    </a:cubicBezTo>
                    <a:cubicBezTo>
                      <a:pt x="21" y="70"/>
                      <a:pt x="20" y="69"/>
                      <a:pt x="19" y="69"/>
                    </a:cubicBezTo>
                    <a:cubicBezTo>
                      <a:pt x="13" y="67"/>
                      <a:pt x="9" y="62"/>
                      <a:pt x="9" y="56"/>
                    </a:cubicBezTo>
                    <a:cubicBezTo>
                      <a:pt x="9" y="49"/>
                      <a:pt x="13" y="44"/>
                      <a:pt x="19" y="42"/>
                    </a:cubicBezTo>
                    <a:cubicBezTo>
                      <a:pt x="20" y="42"/>
                      <a:pt x="21" y="42"/>
                      <a:pt x="23" y="42"/>
                    </a:cubicBezTo>
                    <a:cubicBezTo>
                      <a:pt x="23" y="42"/>
                      <a:pt x="23" y="42"/>
                      <a:pt x="23" y="42"/>
                    </a:cubicBezTo>
                    <a:cubicBezTo>
                      <a:pt x="24" y="42"/>
                      <a:pt x="26" y="42"/>
                      <a:pt x="27" y="42"/>
                    </a:cubicBezTo>
                    <a:cubicBezTo>
                      <a:pt x="33" y="44"/>
                      <a:pt x="37" y="49"/>
                      <a:pt x="37" y="56"/>
                    </a:cubicBezTo>
                    <a:cubicBezTo>
                      <a:pt x="37" y="62"/>
                      <a:pt x="33" y="67"/>
                      <a:pt x="27" y="69"/>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grpSp>
      <p:grpSp>
        <p:nvGrpSpPr>
          <p:cNvPr id="16" name="Group 15">
            <a:extLst>
              <a:ext uri="{FF2B5EF4-FFF2-40B4-BE49-F238E27FC236}">
                <a16:creationId xmlns:a16="http://schemas.microsoft.com/office/drawing/2014/main" id="{7E368E0A-004D-4553-B147-425B2476CC5F}"/>
              </a:ext>
            </a:extLst>
          </p:cNvPr>
          <p:cNvGrpSpPr/>
          <p:nvPr/>
        </p:nvGrpSpPr>
        <p:grpSpPr>
          <a:xfrm>
            <a:off x="6613648" y="3527620"/>
            <a:ext cx="484380" cy="484380"/>
            <a:chOff x="6613648" y="3527620"/>
            <a:chExt cx="484380" cy="484380"/>
          </a:xfrm>
        </p:grpSpPr>
        <p:sp>
          <p:nvSpPr>
            <p:cNvPr id="271" name="Oval 270">
              <a:extLst>
                <a:ext uri="{FF2B5EF4-FFF2-40B4-BE49-F238E27FC236}">
                  <a16:creationId xmlns:a16="http://schemas.microsoft.com/office/drawing/2014/main" id="{C8D24360-AFD1-A8DF-7378-715B8EF5044F}"/>
                </a:ext>
              </a:extLst>
            </p:cNvPr>
            <p:cNvSpPr/>
            <p:nvPr/>
          </p:nvSpPr>
          <p:spPr>
            <a:xfrm>
              <a:off x="6613648" y="3527620"/>
              <a:ext cx="484380" cy="484380"/>
            </a:xfrm>
            <a:prstGeom prst="ellipse">
              <a:avLst/>
            </a:prstGeom>
            <a:solidFill>
              <a:schemeClr val="bg1"/>
            </a:solidFill>
            <a:ln w="28575">
              <a:solidFill>
                <a:srgbClr val="00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2">
                <a:defRPr/>
              </a:pPr>
              <a:endParaRPr lang="en-US" sz="1798">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84" name="Group 283">
              <a:extLst>
                <a:ext uri="{FF2B5EF4-FFF2-40B4-BE49-F238E27FC236}">
                  <a16:creationId xmlns:a16="http://schemas.microsoft.com/office/drawing/2014/main" id="{1730BB6E-3A93-C97C-F02F-7B06FE069109}"/>
                </a:ext>
              </a:extLst>
            </p:cNvPr>
            <p:cNvGrpSpPr>
              <a:grpSpLocks noChangeAspect="1"/>
            </p:cNvGrpSpPr>
            <p:nvPr/>
          </p:nvGrpSpPr>
          <p:grpSpPr>
            <a:xfrm>
              <a:off x="6757479" y="3632721"/>
              <a:ext cx="196762" cy="274178"/>
              <a:chOff x="8191500" y="149226"/>
              <a:chExt cx="387350" cy="539750"/>
            </a:xfrm>
          </p:grpSpPr>
          <p:sp>
            <p:nvSpPr>
              <p:cNvPr id="285" name="Freeform 361">
                <a:extLst>
                  <a:ext uri="{FF2B5EF4-FFF2-40B4-BE49-F238E27FC236}">
                    <a16:creationId xmlns:a16="http://schemas.microsoft.com/office/drawing/2014/main" id="{DD0D1983-F763-07B1-FEA4-29F2AC349C12}"/>
                  </a:ext>
                </a:extLst>
              </p:cNvPr>
              <p:cNvSpPr>
                <a:spLocks noEditPoints="1"/>
              </p:cNvSpPr>
              <p:nvPr/>
            </p:nvSpPr>
            <p:spPr bwMode="auto">
              <a:xfrm>
                <a:off x="8274050" y="149226"/>
                <a:ext cx="222250" cy="136525"/>
              </a:xfrm>
              <a:custGeom>
                <a:avLst/>
                <a:gdLst>
                  <a:gd name="T0" fmla="*/ 18 w 97"/>
                  <a:gd name="T1" fmla="*/ 59 h 59"/>
                  <a:gd name="T2" fmla="*/ 79 w 97"/>
                  <a:gd name="T3" fmla="*/ 59 h 59"/>
                  <a:gd name="T4" fmla="*/ 97 w 97"/>
                  <a:gd name="T5" fmla="*/ 40 h 59"/>
                  <a:gd name="T6" fmla="*/ 97 w 97"/>
                  <a:gd name="T7" fmla="*/ 39 h 59"/>
                  <a:gd name="T8" fmla="*/ 79 w 97"/>
                  <a:gd name="T9" fmla="*/ 21 h 59"/>
                  <a:gd name="T10" fmla="*/ 71 w 97"/>
                  <a:gd name="T11" fmla="*/ 21 h 59"/>
                  <a:gd name="T12" fmla="*/ 71 w 97"/>
                  <a:gd name="T13" fmla="*/ 19 h 59"/>
                  <a:gd name="T14" fmla="*/ 52 w 97"/>
                  <a:gd name="T15" fmla="*/ 0 h 59"/>
                  <a:gd name="T16" fmla="*/ 45 w 97"/>
                  <a:gd name="T17" fmla="*/ 0 h 59"/>
                  <a:gd name="T18" fmla="*/ 27 w 97"/>
                  <a:gd name="T19" fmla="*/ 19 h 59"/>
                  <a:gd name="T20" fmla="*/ 27 w 97"/>
                  <a:gd name="T21" fmla="*/ 21 h 59"/>
                  <a:gd name="T22" fmla="*/ 18 w 97"/>
                  <a:gd name="T23" fmla="*/ 21 h 59"/>
                  <a:gd name="T24" fmla="*/ 0 w 97"/>
                  <a:gd name="T25" fmla="*/ 39 h 59"/>
                  <a:gd name="T26" fmla="*/ 0 w 97"/>
                  <a:gd name="T27" fmla="*/ 40 h 59"/>
                  <a:gd name="T28" fmla="*/ 18 w 97"/>
                  <a:gd name="T29" fmla="*/ 59 h 59"/>
                  <a:gd name="T30" fmla="*/ 9 w 97"/>
                  <a:gd name="T31" fmla="*/ 39 h 59"/>
                  <a:gd name="T32" fmla="*/ 18 w 97"/>
                  <a:gd name="T33" fmla="*/ 30 h 59"/>
                  <a:gd name="T34" fmla="*/ 32 w 97"/>
                  <a:gd name="T35" fmla="*/ 30 h 59"/>
                  <a:gd name="T36" fmla="*/ 36 w 97"/>
                  <a:gd name="T37" fmla="*/ 25 h 59"/>
                  <a:gd name="T38" fmla="*/ 36 w 97"/>
                  <a:gd name="T39" fmla="*/ 19 h 59"/>
                  <a:gd name="T40" fmla="*/ 45 w 97"/>
                  <a:gd name="T41" fmla="*/ 10 h 59"/>
                  <a:gd name="T42" fmla="*/ 52 w 97"/>
                  <a:gd name="T43" fmla="*/ 10 h 59"/>
                  <a:gd name="T44" fmla="*/ 61 w 97"/>
                  <a:gd name="T45" fmla="*/ 19 h 59"/>
                  <a:gd name="T46" fmla="*/ 61 w 97"/>
                  <a:gd name="T47" fmla="*/ 25 h 59"/>
                  <a:gd name="T48" fmla="*/ 66 w 97"/>
                  <a:gd name="T49" fmla="*/ 30 h 59"/>
                  <a:gd name="T50" fmla="*/ 79 w 97"/>
                  <a:gd name="T51" fmla="*/ 30 h 59"/>
                  <a:gd name="T52" fmla="*/ 88 w 97"/>
                  <a:gd name="T53" fmla="*/ 39 h 59"/>
                  <a:gd name="T54" fmla="*/ 88 w 97"/>
                  <a:gd name="T55" fmla="*/ 40 h 59"/>
                  <a:gd name="T56" fmla="*/ 79 w 97"/>
                  <a:gd name="T57" fmla="*/ 49 h 59"/>
                  <a:gd name="T58" fmla="*/ 18 w 97"/>
                  <a:gd name="T59" fmla="*/ 49 h 59"/>
                  <a:gd name="T60" fmla="*/ 9 w 97"/>
                  <a:gd name="T61" fmla="*/ 40 h 59"/>
                  <a:gd name="T62" fmla="*/ 9 w 97"/>
                  <a:gd name="T63" fmla="*/ 3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 h="59">
                    <a:moveTo>
                      <a:pt x="18" y="59"/>
                    </a:moveTo>
                    <a:cubicBezTo>
                      <a:pt x="79" y="59"/>
                      <a:pt x="79" y="59"/>
                      <a:pt x="79" y="59"/>
                    </a:cubicBezTo>
                    <a:cubicBezTo>
                      <a:pt x="89" y="59"/>
                      <a:pt x="97" y="50"/>
                      <a:pt x="97" y="40"/>
                    </a:cubicBezTo>
                    <a:cubicBezTo>
                      <a:pt x="97" y="39"/>
                      <a:pt x="97" y="39"/>
                      <a:pt x="97" y="39"/>
                    </a:cubicBezTo>
                    <a:cubicBezTo>
                      <a:pt x="97" y="29"/>
                      <a:pt x="89" y="21"/>
                      <a:pt x="79" y="21"/>
                    </a:cubicBezTo>
                    <a:cubicBezTo>
                      <a:pt x="71" y="21"/>
                      <a:pt x="71" y="21"/>
                      <a:pt x="71" y="21"/>
                    </a:cubicBezTo>
                    <a:cubicBezTo>
                      <a:pt x="71" y="19"/>
                      <a:pt x="71" y="19"/>
                      <a:pt x="71" y="19"/>
                    </a:cubicBezTo>
                    <a:cubicBezTo>
                      <a:pt x="71" y="9"/>
                      <a:pt x="62" y="0"/>
                      <a:pt x="52" y="0"/>
                    </a:cubicBezTo>
                    <a:cubicBezTo>
                      <a:pt x="45" y="0"/>
                      <a:pt x="45" y="0"/>
                      <a:pt x="45" y="0"/>
                    </a:cubicBezTo>
                    <a:cubicBezTo>
                      <a:pt x="35" y="0"/>
                      <a:pt x="27" y="9"/>
                      <a:pt x="27" y="19"/>
                    </a:cubicBezTo>
                    <a:cubicBezTo>
                      <a:pt x="27" y="21"/>
                      <a:pt x="27" y="21"/>
                      <a:pt x="27" y="21"/>
                    </a:cubicBezTo>
                    <a:cubicBezTo>
                      <a:pt x="18" y="21"/>
                      <a:pt x="18" y="21"/>
                      <a:pt x="18" y="21"/>
                    </a:cubicBezTo>
                    <a:cubicBezTo>
                      <a:pt x="8" y="21"/>
                      <a:pt x="0" y="29"/>
                      <a:pt x="0" y="39"/>
                    </a:cubicBezTo>
                    <a:cubicBezTo>
                      <a:pt x="0" y="40"/>
                      <a:pt x="0" y="40"/>
                      <a:pt x="0" y="40"/>
                    </a:cubicBezTo>
                    <a:cubicBezTo>
                      <a:pt x="0" y="50"/>
                      <a:pt x="8" y="59"/>
                      <a:pt x="18" y="59"/>
                    </a:cubicBezTo>
                    <a:close/>
                    <a:moveTo>
                      <a:pt x="9" y="39"/>
                    </a:moveTo>
                    <a:cubicBezTo>
                      <a:pt x="9" y="34"/>
                      <a:pt x="13" y="30"/>
                      <a:pt x="18" y="30"/>
                    </a:cubicBezTo>
                    <a:cubicBezTo>
                      <a:pt x="32" y="30"/>
                      <a:pt x="32" y="30"/>
                      <a:pt x="32" y="30"/>
                    </a:cubicBezTo>
                    <a:cubicBezTo>
                      <a:pt x="34" y="30"/>
                      <a:pt x="36" y="28"/>
                      <a:pt x="36" y="25"/>
                    </a:cubicBezTo>
                    <a:cubicBezTo>
                      <a:pt x="36" y="19"/>
                      <a:pt x="36" y="19"/>
                      <a:pt x="36" y="19"/>
                    </a:cubicBezTo>
                    <a:cubicBezTo>
                      <a:pt x="36" y="14"/>
                      <a:pt x="40" y="10"/>
                      <a:pt x="45" y="10"/>
                    </a:cubicBezTo>
                    <a:cubicBezTo>
                      <a:pt x="52" y="10"/>
                      <a:pt x="52" y="10"/>
                      <a:pt x="52" y="10"/>
                    </a:cubicBezTo>
                    <a:cubicBezTo>
                      <a:pt x="57" y="10"/>
                      <a:pt x="61" y="14"/>
                      <a:pt x="61" y="19"/>
                    </a:cubicBezTo>
                    <a:cubicBezTo>
                      <a:pt x="61" y="25"/>
                      <a:pt x="61" y="25"/>
                      <a:pt x="61" y="25"/>
                    </a:cubicBezTo>
                    <a:cubicBezTo>
                      <a:pt x="61" y="28"/>
                      <a:pt x="63" y="30"/>
                      <a:pt x="66" y="30"/>
                    </a:cubicBezTo>
                    <a:cubicBezTo>
                      <a:pt x="79" y="30"/>
                      <a:pt x="79" y="30"/>
                      <a:pt x="79" y="30"/>
                    </a:cubicBezTo>
                    <a:cubicBezTo>
                      <a:pt x="84" y="30"/>
                      <a:pt x="88" y="34"/>
                      <a:pt x="88" y="39"/>
                    </a:cubicBezTo>
                    <a:cubicBezTo>
                      <a:pt x="88" y="40"/>
                      <a:pt x="88" y="40"/>
                      <a:pt x="88" y="40"/>
                    </a:cubicBezTo>
                    <a:cubicBezTo>
                      <a:pt x="88" y="45"/>
                      <a:pt x="84" y="49"/>
                      <a:pt x="79" y="49"/>
                    </a:cubicBezTo>
                    <a:cubicBezTo>
                      <a:pt x="18" y="49"/>
                      <a:pt x="18" y="49"/>
                      <a:pt x="18" y="49"/>
                    </a:cubicBezTo>
                    <a:cubicBezTo>
                      <a:pt x="13" y="49"/>
                      <a:pt x="9" y="45"/>
                      <a:pt x="9" y="40"/>
                    </a:cubicBezTo>
                    <a:lnTo>
                      <a:pt x="9" y="39"/>
                    </a:ln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6" name="Oval 362">
                <a:extLst>
                  <a:ext uri="{FF2B5EF4-FFF2-40B4-BE49-F238E27FC236}">
                    <a16:creationId xmlns:a16="http://schemas.microsoft.com/office/drawing/2014/main" id="{C395EA82-EE1B-317B-7D58-727D551B13B6}"/>
                  </a:ext>
                </a:extLst>
              </p:cNvPr>
              <p:cNvSpPr>
                <a:spLocks noChangeArrowheads="1"/>
              </p:cNvSpPr>
              <p:nvPr/>
            </p:nvSpPr>
            <p:spPr bwMode="auto">
              <a:xfrm>
                <a:off x="8377238" y="190501"/>
                <a:ext cx="17463" cy="19050"/>
              </a:xfrm>
              <a:prstGeom prst="ellipse">
                <a:avLst/>
              </a:pr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7" name="Freeform 363">
                <a:extLst>
                  <a:ext uri="{FF2B5EF4-FFF2-40B4-BE49-F238E27FC236}">
                    <a16:creationId xmlns:a16="http://schemas.microsoft.com/office/drawing/2014/main" id="{2D024CE2-D40D-5150-3422-450503532075}"/>
                  </a:ext>
                </a:extLst>
              </p:cNvPr>
              <p:cNvSpPr>
                <a:spLocks/>
              </p:cNvSpPr>
              <p:nvPr/>
            </p:nvSpPr>
            <p:spPr bwMode="auto">
              <a:xfrm>
                <a:off x="8191500" y="209551"/>
                <a:ext cx="387350" cy="479425"/>
              </a:xfrm>
              <a:custGeom>
                <a:avLst/>
                <a:gdLst>
                  <a:gd name="T0" fmla="*/ 165 w 169"/>
                  <a:gd name="T1" fmla="*/ 0 h 209"/>
                  <a:gd name="T2" fmla="*/ 143 w 169"/>
                  <a:gd name="T3" fmla="*/ 0 h 209"/>
                  <a:gd name="T4" fmla="*/ 138 w 169"/>
                  <a:gd name="T5" fmla="*/ 5 h 209"/>
                  <a:gd name="T6" fmla="*/ 143 w 169"/>
                  <a:gd name="T7" fmla="*/ 9 h 209"/>
                  <a:gd name="T8" fmla="*/ 160 w 169"/>
                  <a:gd name="T9" fmla="*/ 9 h 209"/>
                  <a:gd name="T10" fmla="*/ 160 w 169"/>
                  <a:gd name="T11" fmla="*/ 200 h 209"/>
                  <a:gd name="T12" fmla="*/ 10 w 169"/>
                  <a:gd name="T13" fmla="*/ 200 h 209"/>
                  <a:gd name="T14" fmla="*/ 10 w 169"/>
                  <a:gd name="T15" fmla="*/ 9 h 209"/>
                  <a:gd name="T16" fmla="*/ 27 w 169"/>
                  <a:gd name="T17" fmla="*/ 9 h 209"/>
                  <a:gd name="T18" fmla="*/ 31 w 169"/>
                  <a:gd name="T19" fmla="*/ 5 h 209"/>
                  <a:gd name="T20" fmla="*/ 27 w 169"/>
                  <a:gd name="T21" fmla="*/ 0 h 209"/>
                  <a:gd name="T22" fmla="*/ 5 w 169"/>
                  <a:gd name="T23" fmla="*/ 0 h 209"/>
                  <a:gd name="T24" fmla="*/ 0 w 169"/>
                  <a:gd name="T25" fmla="*/ 5 h 209"/>
                  <a:gd name="T26" fmla="*/ 0 w 169"/>
                  <a:gd name="T27" fmla="*/ 205 h 209"/>
                  <a:gd name="T28" fmla="*/ 5 w 169"/>
                  <a:gd name="T29" fmla="*/ 209 h 209"/>
                  <a:gd name="T30" fmla="*/ 165 w 169"/>
                  <a:gd name="T31" fmla="*/ 209 h 209"/>
                  <a:gd name="T32" fmla="*/ 169 w 169"/>
                  <a:gd name="T33" fmla="*/ 205 h 209"/>
                  <a:gd name="T34" fmla="*/ 169 w 169"/>
                  <a:gd name="T35" fmla="*/ 5 h 209"/>
                  <a:gd name="T36" fmla="*/ 165 w 169"/>
                  <a:gd name="T37" fmla="*/ 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9" h="209">
                    <a:moveTo>
                      <a:pt x="165" y="0"/>
                    </a:moveTo>
                    <a:cubicBezTo>
                      <a:pt x="143" y="0"/>
                      <a:pt x="143" y="0"/>
                      <a:pt x="143" y="0"/>
                    </a:cubicBezTo>
                    <a:cubicBezTo>
                      <a:pt x="140" y="0"/>
                      <a:pt x="138" y="2"/>
                      <a:pt x="138" y="5"/>
                    </a:cubicBezTo>
                    <a:cubicBezTo>
                      <a:pt x="138" y="7"/>
                      <a:pt x="140" y="9"/>
                      <a:pt x="143" y="9"/>
                    </a:cubicBezTo>
                    <a:cubicBezTo>
                      <a:pt x="160" y="9"/>
                      <a:pt x="160" y="9"/>
                      <a:pt x="160" y="9"/>
                    </a:cubicBezTo>
                    <a:cubicBezTo>
                      <a:pt x="160" y="200"/>
                      <a:pt x="160" y="200"/>
                      <a:pt x="160" y="200"/>
                    </a:cubicBezTo>
                    <a:cubicBezTo>
                      <a:pt x="10" y="200"/>
                      <a:pt x="10" y="200"/>
                      <a:pt x="10" y="200"/>
                    </a:cubicBezTo>
                    <a:cubicBezTo>
                      <a:pt x="10" y="9"/>
                      <a:pt x="10" y="9"/>
                      <a:pt x="10" y="9"/>
                    </a:cubicBezTo>
                    <a:cubicBezTo>
                      <a:pt x="27" y="9"/>
                      <a:pt x="27" y="9"/>
                      <a:pt x="27" y="9"/>
                    </a:cubicBezTo>
                    <a:cubicBezTo>
                      <a:pt x="29" y="9"/>
                      <a:pt x="31" y="7"/>
                      <a:pt x="31" y="5"/>
                    </a:cubicBezTo>
                    <a:cubicBezTo>
                      <a:pt x="31" y="2"/>
                      <a:pt x="29" y="0"/>
                      <a:pt x="27" y="0"/>
                    </a:cubicBezTo>
                    <a:cubicBezTo>
                      <a:pt x="5" y="0"/>
                      <a:pt x="5" y="0"/>
                      <a:pt x="5" y="0"/>
                    </a:cubicBezTo>
                    <a:cubicBezTo>
                      <a:pt x="2" y="0"/>
                      <a:pt x="0" y="2"/>
                      <a:pt x="0" y="5"/>
                    </a:cubicBezTo>
                    <a:cubicBezTo>
                      <a:pt x="0" y="205"/>
                      <a:pt x="0" y="205"/>
                      <a:pt x="0" y="205"/>
                    </a:cubicBezTo>
                    <a:cubicBezTo>
                      <a:pt x="0" y="207"/>
                      <a:pt x="2" y="209"/>
                      <a:pt x="5" y="209"/>
                    </a:cubicBezTo>
                    <a:cubicBezTo>
                      <a:pt x="165" y="209"/>
                      <a:pt x="165" y="209"/>
                      <a:pt x="165" y="209"/>
                    </a:cubicBezTo>
                    <a:cubicBezTo>
                      <a:pt x="167" y="209"/>
                      <a:pt x="169" y="207"/>
                      <a:pt x="169" y="205"/>
                    </a:cubicBezTo>
                    <a:cubicBezTo>
                      <a:pt x="169" y="5"/>
                      <a:pt x="169" y="5"/>
                      <a:pt x="169" y="5"/>
                    </a:cubicBezTo>
                    <a:cubicBezTo>
                      <a:pt x="169" y="2"/>
                      <a:pt x="167" y="0"/>
                      <a:pt x="165" y="0"/>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8" name="Freeform 364">
                <a:extLst>
                  <a:ext uri="{FF2B5EF4-FFF2-40B4-BE49-F238E27FC236}">
                    <a16:creationId xmlns:a16="http://schemas.microsoft.com/office/drawing/2014/main" id="{99ACE7D7-3687-4DA0-523B-DE98900886F0}"/>
                  </a:ext>
                </a:extLst>
              </p:cNvPr>
              <p:cNvSpPr>
                <a:spLocks/>
              </p:cNvSpPr>
              <p:nvPr/>
            </p:nvSpPr>
            <p:spPr bwMode="auto">
              <a:xfrm>
                <a:off x="8278813" y="374651"/>
                <a:ext cx="219075" cy="192088"/>
              </a:xfrm>
              <a:custGeom>
                <a:avLst/>
                <a:gdLst>
                  <a:gd name="T0" fmla="*/ 87 w 96"/>
                  <a:gd name="T1" fmla="*/ 2 h 84"/>
                  <a:gd name="T2" fmla="*/ 29 w 96"/>
                  <a:gd name="T3" fmla="*/ 73 h 84"/>
                  <a:gd name="T4" fmla="*/ 9 w 96"/>
                  <a:gd name="T5" fmla="*/ 50 h 84"/>
                  <a:gd name="T6" fmla="*/ 2 w 96"/>
                  <a:gd name="T7" fmla="*/ 50 h 84"/>
                  <a:gd name="T8" fmla="*/ 2 w 96"/>
                  <a:gd name="T9" fmla="*/ 56 h 84"/>
                  <a:gd name="T10" fmla="*/ 26 w 96"/>
                  <a:gd name="T11" fmla="*/ 83 h 84"/>
                  <a:gd name="T12" fmla="*/ 29 w 96"/>
                  <a:gd name="T13" fmla="*/ 84 h 84"/>
                  <a:gd name="T14" fmla="*/ 29 w 96"/>
                  <a:gd name="T15" fmla="*/ 84 h 84"/>
                  <a:gd name="T16" fmla="*/ 33 w 96"/>
                  <a:gd name="T17" fmla="*/ 83 h 84"/>
                  <a:gd name="T18" fmla="*/ 94 w 96"/>
                  <a:gd name="T19" fmla="*/ 8 h 84"/>
                  <a:gd name="T20" fmla="*/ 94 w 96"/>
                  <a:gd name="T21" fmla="*/ 1 h 84"/>
                  <a:gd name="T22" fmla="*/ 87 w 96"/>
                  <a:gd name="T23" fmla="*/ 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6" h="84">
                    <a:moveTo>
                      <a:pt x="87" y="2"/>
                    </a:moveTo>
                    <a:cubicBezTo>
                      <a:pt x="29" y="73"/>
                      <a:pt x="29" y="73"/>
                      <a:pt x="29" y="73"/>
                    </a:cubicBezTo>
                    <a:cubicBezTo>
                      <a:pt x="9" y="50"/>
                      <a:pt x="9" y="50"/>
                      <a:pt x="9" y="50"/>
                    </a:cubicBezTo>
                    <a:cubicBezTo>
                      <a:pt x="7" y="48"/>
                      <a:pt x="4" y="48"/>
                      <a:pt x="2" y="50"/>
                    </a:cubicBezTo>
                    <a:cubicBezTo>
                      <a:pt x="1" y="52"/>
                      <a:pt x="0" y="55"/>
                      <a:pt x="2" y="56"/>
                    </a:cubicBezTo>
                    <a:cubicBezTo>
                      <a:pt x="26" y="83"/>
                      <a:pt x="26" y="83"/>
                      <a:pt x="26" y="83"/>
                    </a:cubicBezTo>
                    <a:cubicBezTo>
                      <a:pt x="27" y="84"/>
                      <a:pt x="28" y="84"/>
                      <a:pt x="29" y="84"/>
                    </a:cubicBezTo>
                    <a:cubicBezTo>
                      <a:pt x="29" y="84"/>
                      <a:pt x="29" y="84"/>
                      <a:pt x="29" y="84"/>
                    </a:cubicBezTo>
                    <a:cubicBezTo>
                      <a:pt x="31" y="84"/>
                      <a:pt x="32" y="84"/>
                      <a:pt x="33" y="83"/>
                    </a:cubicBezTo>
                    <a:cubicBezTo>
                      <a:pt x="94" y="8"/>
                      <a:pt x="94" y="8"/>
                      <a:pt x="94" y="8"/>
                    </a:cubicBezTo>
                    <a:cubicBezTo>
                      <a:pt x="96" y="6"/>
                      <a:pt x="96" y="3"/>
                      <a:pt x="94" y="1"/>
                    </a:cubicBezTo>
                    <a:cubicBezTo>
                      <a:pt x="92" y="0"/>
                      <a:pt x="89" y="0"/>
                      <a:pt x="87" y="2"/>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grpSp>
      <p:grpSp>
        <p:nvGrpSpPr>
          <p:cNvPr id="289" name="Group 288">
            <a:extLst>
              <a:ext uri="{FF2B5EF4-FFF2-40B4-BE49-F238E27FC236}">
                <a16:creationId xmlns:a16="http://schemas.microsoft.com/office/drawing/2014/main" id="{1EA71BFA-1E25-031F-DB18-8220C2A1326E}"/>
              </a:ext>
            </a:extLst>
          </p:cNvPr>
          <p:cNvGrpSpPr/>
          <p:nvPr/>
        </p:nvGrpSpPr>
        <p:grpSpPr>
          <a:xfrm>
            <a:off x="8786165" y="5807610"/>
            <a:ext cx="3055838" cy="707702"/>
            <a:chOff x="8412974" y="5733911"/>
            <a:chExt cx="3056634" cy="707886"/>
          </a:xfrm>
        </p:grpSpPr>
        <p:sp>
          <p:nvSpPr>
            <p:cNvPr id="290" name="TextBox 289">
              <a:extLst>
                <a:ext uri="{FF2B5EF4-FFF2-40B4-BE49-F238E27FC236}">
                  <a16:creationId xmlns:a16="http://schemas.microsoft.com/office/drawing/2014/main" id="{B51D1FFF-C696-4534-34DF-34984C41D8FC}"/>
                </a:ext>
              </a:extLst>
            </p:cNvPr>
            <p:cNvSpPr txBox="1"/>
            <p:nvPr/>
          </p:nvSpPr>
          <p:spPr>
            <a:xfrm>
              <a:off x="9001371" y="5733911"/>
              <a:ext cx="2468237" cy="707886"/>
            </a:xfrm>
            <a:prstGeom prst="rect">
              <a:avLst/>
            </a:prstGeom>
            <a:noFill/>
          </p:spPr>
          <p:txBody>
            <a:bodyPr wrap="square" rtlCol="0" anchor="t">
              <a:spAutoFit/>
            </a:bodyPr>
            <a:lstStyle/>
            <a:p>
              <a:pPr defTabSz="913852">
                <a:defRPr/>
              </a:pPr>
              <a:r>
                <a:rPr lang="en-US" sz="1000" b="1">
                  <a:solidFill>
                    <a:srgbClr val="000000"/>
                  </a:solidFill>
                  <a:latin typeface="Open Sans" panose="020B0606030504020204" pitchFamily="34" charset="0"/>
                  <a:ea typeface="Open Sans" panose="020B0606030504020204" pitchFamily="34" charset="0"/>
                  <a:cs typeface="Open Sans" panose="020B0606030504020204" pitchFamily="34" charset="0"/>
                </a:rPr>
                <a:t>META DATA AGGREGATOR</a:t>
              </a:r>
            </a:p>
            <a:p>
              <a:pPr defTabSz="913852">
                <a:defRPr/>
              </a:pPr>
              <a:r>
                <a:rPr lang="en-US" sz="1000">
                  <a:solidFill>
                    <a:srgbClr val="000000"/>
                  </a:solidFill>
                  <a:latin typeface="Open Sans" panose="020B0606030504020204" pitchFamily="34" charset="0"/>
                  <a:ea typeface="Open Sans" panose="020B0606030504020204" pitchFamily="34" charset="0"/>
                  <a:cs typeface="Open Sans" panose="020B0606030504020204" pitchFamily="34" charset="0"/>
                </a:rPr>
                <a:t>Auto-Discovery- metadata Aggregator allows for automatic discovery and collection of metadata</a:t>
              </a:r>
            </a:p>
          </p:txBody>
        </p:sp>
        <p:grpSp>
          <p:nvGrpSpPr>
            <p:cNvPr id="291" name="Group 290">
              <a:extLst>
                <a:ext uri="{FF2B5EF4-FFF2-40B4-BE49-F238E27FC236}">
                  <a16:creationId xmlns:a16="http://schemas.microsoft.com/office/drawing/2014/main" id="{5977D1FD-B882-6E8D-4B52-46BBD191ECDC}"/>
                </a:ext>
              </a:extLst>
            </p:cNvPr>
            <p:cNvGrpSpPr/>
            <p:nvPr/>
          </p:nvGrpSpPr>
          <p:grpSpPr>
            <a:xfrm>
              <a:off x="8412974" y="5876398"/>
              <a:ext cx="406106" cy="422913"/>
              <a:chOff x="9147175" y="1971675"/>
              <a:chExt cx="460375" cy="479425"/>
            </a:xfrm>
            <a:solidFill>
              <a:schemeClr val="accent2">
                <a:lumMod val="75000"/>
              </a:schemeClr>
            </a:solidFill>
          </p:grpSpPr>
          <p:sp>
            <p:nvSpPr>
              <p:cNvPr id="292" name="Freeform 377">
                <a:extLst>
                  <a:ext uri="{FF2B5EF4-FFF2-40B4-BE49-F238E27FC236}">
                    <a16:creationId xmlns:a16="http://schemas.microsoft.com/office/drawing/2014/main" id="{F9DEC37E-E654-3BBC-1531-F0E0AF25EF0A}"/>
                  </a:ext>
                </a:extLst>
              </p:cNvPr>
              <p:cNvSpPr>
                <a:spLocks/>
              </p:cNvSpPr>
              <p:nvPr/>
            </p:nvSpPr>
            <p:spPr bwMode="auto">
              <a:xfrm>
                <a:off x="9275763" y="1971675"/>
                <a:ext cx="203200" cy="388938"/>
              </a:xfrm>
              <a:custGeom>
                <a:avLst/>
                <a:gdLst>
                  <a:gd name="T0" fmla="*/ 45 w 97"/>
                  <a:gd name="T1" fmla="*/ 183 h 185"/>
                  <a:gd name="T2" fmla="*/ 47 w 97"/>
                  <a:gd name="T3" fmla="*/ 184 h 185"/>
                  <a:gd name="T4" fmla="*/ 49 w 97"/>
                  <a:gd name="T5" fmla="*/ 185 h 185"/>
                  <a:gd name="T6" fmla="*/ 50 w 97"/>
                  <a:gd name="T7" fmla="*/ 184 h 185"/>
                  <a:gd name="T8" fmla="*/ 52 w 97"/>
                  <a:gd name="T9" fmla="*/ 183 h 185"/>
                  <a:gd name="T10" fmla="*/ 95 w 97"/>
                  <a:gd name="T11" fmla="*/ 140 h 185"/>
                  <a:gd name="T12" fmla="*/ 95 w 97"/>
                  <a:gd name="T13" fmla="*/ 134 h 185"/>
                  <a:gd name="T14" fmla="*/ 88 w 97"/>
                  <a:gd name="T15" fmla="*/ 134 h 185"/>
                  <a:gd name="T16" fmla="*/ 53 w 97"/>
                  <a:gd name="T17" fmla="*/ 169 h 185"/>
                  <a:gd name="T18" fmla="*/ 53 w 97"/>
                  <a:gd name="T19" fmla="*/ 5 h 185"/>
                  <a:gd name="T20" fmla="*/ 49 w 97"/>
                  <a:gd name="T21" fmla="*/ 0 h 185"/>
                  <a:gd name="T22" fmla="*/ 44 w 97"/>
                  <a:gd name="T23" fmla="*/ 5 h 185"/>
                  <a:gd name="T24" fmla="*/ 44 w 97"/>
                  <a:gd name="T25" fmla="*/ 169 h 185"/>
                  <a:gd name="T26" fmla="*/ 9 w 97"/>
                  <a:gd name="T27" fmla="*/ 134 h 185"/>
                  <a:gd name="T28" fmla="*/ 2 w 97"/>
                  <a:gd name="T29" fmla="*/ 134 h 185"/>
                  <a:gd name="T30" fmla="*/ 2 w 97"/>
                  <a:gd name="T31" fmla="*/ 140 h 185"/>
                  <a:gd name="T32" fmla="*/ 45 w 97"/>
                  <a:gd name="T33" fmla="*/ 18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 h="185">
                    <a:moveTo>
                      <a:pt x="45" y="183"/>
                    </a:moveTo>
                    <a:cubicBezTo>
                      <a:pt x="46" y="184"/>
                      <a:pt x="46" y="184"/>
                      <a:pt x="47" y="184"/>
                    </a:cubicBezTo>
                    <a:cubicBezTo>
                      <a:pt x="47" y="185"/>
                      <a:pt x="48" y="185"/>
                      <a:pt x="49" y="185"/>
                    </a:cubicBezTo>
                    <a:cubicBezTo>
                      <a:pt x="49" y="185"/>
                      <a:pt x="50" y="185"/>
                      <a:pt x="50" y="184"/>
                    </a:cubicBezTo>
                    <a:cubicBezTo>
                      <a:pt x="51" y="184"/>
                      <a:pt x="51" y="184"/>
                      <a:pt x="52" y="183"/>
                    </a:cubicBezTo>
                    <a:cubicBezTo>
                      <a:pt x="95" y="140"/>
                      <a:pt x="95" y="140"/>
                      <a:pt x="95" y="140"/>
                    </a:cubicBezTo>
                    <a:cubicBezTo>
                      <a:pt x="97" y="138"/>
                      <a:pt x="97" y="135"/>
                      <a:pt x="95" y="134"/>
                    </a:cubicBezTo>
                    <a:cubicBezTo>
                      <a:pt x="93" y="132"/>
                      <a:pt x="90" y="132"/>
                      <a:pt x="88" y="134"/>
                    </a:cubicBezTo>
                    <a:cubicBezTo>
                      <a:pt x="53" y="169"/>
                      <a:pt x="53" y="169"/>
                      <a:pt x="53" y="169"/>
                    </a:cubicBezTo>
                    <a:cubicBezTo>
                      <a:pt x="53" y="5"/>
                      <a:pt x="53" y="5"/>
                      <a:pt x="53" y="5"/>
                    </a:cubicBezTo>
                    <a:cubicBezTo>
                      <a:pt x="53" y="2"/>
                      <a:pt x="51" y="0"/>
                      <a:pt x="49" y="0"/>
                    </a:cubicBezTo>
                    <a:cubicBezTo>
                      <a:pt x="46" y="0"/>
                      <a:pt x="44" y="2"/>
                      <a:pt x="44" y="5"/>
                    </a:cubicBezTo>
                    <a:cubicBezTo>
                      <a:pt x="44" y="169"/>
                      <a:pt x="44" y="169"/>
                      <a:pt x="44" y="169"/>
                    </a:cubicBezTo>
                    <a:cubicBezTo>
                      <a:pt x="9" y="134"/>
                      <a:pt x="9" y="134"/>
                      <a:pt x="9" y="134"/>
                    </a:cubicBezTo>
                    <a:cubicBezTo>
                      <a:pt x="7" y="132"/>
                      <a:pt x="4" y="132"/>
                      <a:pt x="2" y="134"/>
                    </a:cubicBezTo>
                    <a:cubicBezTo>
                      <a:pt x="0" y="135"/>
                      <a:pt x="0" y="138"/>
                      <a:pt x="2" y="140"/>
                    </a:cubicBezTo>
                    <a:lnTo>
                      <a:pt x="45" y="183"/>
                    </a:ln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3" name="Freeform 378">
                <a:extLst>
                  <a:ext uri="{FF2B5EF4-FFF2-40B4-BE49-F238E27FC236}">
                    <a16:creationId xmlns:a16="http://schemas.microsoft.com/office/drawing/2014/main" id="{47460C5B-EB9E-002D-BA0B-3C89F987ABFB}"/>
                  </a:ext>
                </a:extLst>
              </p:cNvPr>
              <p:cNvSpPr>
                <a:spLocks/>
              </p:cNvSpPr>
              <p:nvPr/>
            </p:nvSpPr>
            <p:spPr bwMode="auto">
              <a:xfrm>
                <a:off x="9147175" y="2295525"/>
                <a:ext cx="460375" cy="155575"/>
              </a:xfrm>
              <a:custGeom>
                <a:avLst/>
                <a:gdLst>
                  <a:gd name="T0" fmla="*/ 215 w 219"/>
                  <a:gd name="T1" fmla="*/ 0 h 74"/>
                  <a:gd name="T2" fmla="*/ 210 w 219"/>
                  <a:gd name="T3" fmla="*/ 5 h 74"/>
                  <a:gd name="T4" fmla="*/ 210 w 219"/>
                  <a:gd name="T5" fmla="*/ 65 h 74"/>
                  <a:gd name="T6" fmla="*/ 9 w 219"/>
                  <a:gd name="T7" fmla="*/ 65 h 74"/>
                  <a:gd name="T8" fmla="*/ 9 w 219"/>
                  <a:gd name="T9" fmla="*/ 5 h 74"/>
                  <a:gd name="T10" fmla="*/ 4 w 219"/>
                  <a:gd name="T11" fmla="*/ 0 h 74"/>
                  <a:gd name="T12" fmla="*/ 0 w 219"/>
                  <a:gd name="T13" fmla="*/ 5 h 74"/>
                  <a:gd name="T14" fmla="*/ 0 w 219"/>
                  <a:gd name="T15" fmla="*/ 70 h 74"/>
                  <a:gd name="T16" fmla="*/ 4 w 219"/>
                  <a:gd name="T17" fmla="*/ 74 h 74"/>
                  <a:gd name="T18" fmla="*/ 215 w 219"/>
                  <a:gd name="T19" fmla="*/ 74 h 74"/>
                  <a:gd name="T20" fmla="*/ 219 w 219"/>
                  <a:gd name="T21" fmla="*/ 70 h 74"/>
                  <a:gd name="T22" fmla="*/ 219 w 219"/>
                  <a:gd name="T23" fmla="*/ 5 h 74"/>
                  <a:gd name="T24" fmla="*/ 215 w 219"/>
                  <a:gd name="T2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74">
                    <a:moveTo>
                      <a:pt x="215" y="0"/>
                    </a:moveTo>
                    <a:cubicBezTo>
                      <a:pt x="212" y="0"/>
                      <a:pt x="210" y="2"/>
                      <a:pt x="210" y="5"/>
                    </a:cubicBezTo>
                    <a:cubicBezTo>
                      <a:pt x="210" y="65"/>
                      <a:pt x="210" y="65"/>
                      <a:pt x="210" y="65"/>
                    </a:cubicBezTo>
                    <a:cubicBezTo>
                      <a:pt x="9" y="65"/>
                      <a:pt x="9" y="65"/>
                      <a:pt x="9" y="65"/>
                    </a:cubicBezTo>
                    <a:cubicBezTo>
                      <a:pt x="9" y="5"/>
                      <a:pt x="9" y="5"/>
                      <a:pt x="9" y="5"/>
                    </a:cubicBezTo>
                    <a:cubicBezTo>
                      <a:pt x="9" y="2"/>
                      <a:pt x="7" y="0"/>
                      <a:pt x="4" y="0"/>
                    </a:cubicBezTo>
                    <a:cubicBezTo>
                      <a:pt x="2" y="0"/>
                      <a:pt x="0" y="2"/>
                      <a:pt x="0" y="5"/>
                    </a:cubicBezTo>
                    <a:cubicBezTo>
                      <a:pt x="0" y="70"/>
                      <a:pt x="0" y="70"/>
                      <a:pt x="0" y="70"/>
                    </a:cubicBezTo>
                    <a:cubicBezTo>
                      <a:pt x="0" y="72"/>
                      <a:pt x="2" y="74"/>
                      <a:pt x="4" y="74"/>
                    </a:cubicBezTo>
                    <a:cubicBezTo>
                      <a:pt x="215" y="74"/>
                      <a:pt x="215" y="74"/>
                      <a:pt x="215" y="74"/>
                    </a:cubicBezTo>
                    <a:cubicBezTo>
                      <a:pt x="217" y="74"/>
                      <a:pt x="219" y="72"/>
                      <a:pt x="219" y="70"/>
                    </a:cubicBezTo>
                    <a:cubicBezTo>
                      <a:pt x="219" y="5"/>
                      <a:pt x="219" y="5"/>
                      <a:pt x="219" y="5"/>
                    </a:cubicBezTo>
                    <a:cubicBezTo>
                      <a:pt x="219" y="2"/>
                      <a:pt x="217" y="0"/>
                      <a:pt x="215" y="0"/>
                    </a:cubicBez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grpSp>
      <p:grpSp>
        <p:nvGrpSpPr>
          <p:cNvPr id="18" name="Group 17">
            <a:extLst>
              <a:ext uri="{FF2B5EF4-FFF2-40B4-BE49-F238E27FC236}">
                <a16:creationId xmlns:a16="http://schemas.microsoft.com/office/drawing/2014/main" id="{D8D7AD99-8524-0CFB-9C2C-3669A1C06110}"/>
              </a:ext>
            </a:extLst>
          </p:cNvPr>
          <p:cNvGrpSpPr/>
          <p:nvPr/>
        </p:nvGrpSpPr>
        <p:grpSpPr>
          <a:xfrm>
            <a:off x="6538317" y="1386559"/>
            <a:ext cx="484380" cy="484380"/>
            <a:chOff x="6538317" y="1386559"/>
            <a:chExt cx="484380" cy="484380"/>
          </a:xfrm>
        </p:grpSpPr>
        <p:sp>
          <p:nvSpPr>
            <p:cNvPr id="267" name="Oval 266">
              <a:extLst>
                <a:ext uri="{FF2B5EF4-FFF2-40B4-BE49-F238E27FC236}">
                  <a16:creationId xmlns:a16="http://schemas.microsoft.com/office/drawing/2014/main" id="{55651466-BBE3-931C-79C0-58586AB48BD6}"/>
                </a:ext>
              </a:extLst>
            </p:cNvPr>
            <p:cNvSpPr/>
            <p:nvPr/>
          </p:nvSpPr>
          <p:spPr>
            <a:xfrm>
              <a:off x="6538317" y="1386559"/>
              <a:ext cx="484380" cy="484380"/>
            </a:xfrm>
            <a:prstGeom prst="ellipse">
              <a:avLst/>
            </a:prstGeom>
            <a:solidFill>
              <a:schemeClr val="bg1"/>
            </a:solidFill>
            <a:ln w="28575">
              <a:solidFill>
                <a:srgbClr val="00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2">
                <a:defRPr/>
              </a:pPr>
              <a:endParaRPr lang="en-US" sz="1798">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94" name="Group 293">
              <a:extLst>
                <a:ext uri="{FF2B5EF4-FFF2-40B4-BE49-F238E27FC236}">
                  <a16:creationId xmlns:a16="http://schemas.microsoft.com/office/drawing/2014/main" id="{0FD38794-FC11-56FC-CCB1-E18D8DBE240B}"/>
                </a:ext>
              </a:extLst>
            </p:cNvPr>
            <p:cNvGrpSpPr>
              <a:grpSpLocks noChangeAspect="1"/>
            </p:cNvGrpSpPr>
            <p:nvPr/>
          </p:nvGrpSpPr>
          <p:grpSpPr>
            <a:xfrm>
              <a:off x="6642898" y="1491657"/>
              <a:ext cx="275219" cy="274177"/>
              <a:chOff x="11353800" y="960438"/>
              <a:chExt cx="419100" cy="417512"/>
            </a:xfrm>
          </p:grpSpPr>
          <p:sp>
            <p:nvSpPr>
              <p:cNvPr id="295" name="Freeform 513">
                <a:extLst>
                  <a:ext uri="{FF2B5EF4-FFF2-40B4-BE49-F238E27FC236}">
                    <a16:creationId xmlns:a16="http://schemas.microsoft.com/office/drawing/2014/main" id="{5C5653D0-EB36-B55D-37EA-C3D5D61C8263}"/>
                  </a:ext>
                </a:extLst>
              </p:cNvPr>
              <p:cNvSpPr>
                <a:spLocks noEditPoints="1"/>
              </p:cNvSpPr>
              <p:nvPr/>
            </p:nvSpPr>
            <p:spPr bwMode="auto">
              <a:xfrm>
                <a:off x="11406188" y="1187450"/>
                <a:ext cx="317500" cy="190500"/>
              </a:xfrm>
              <a:custGeom>
                <a:avLst/>
                <a:gdLst>
                  <a:gd name="T0" fmla="*/ 138 w 178"/>
                  <a:gd name="T1" fmla="*/ 34 h 107"/>
                  <a:gd name="T2" fmla="*/ 102 w 178"/>
                  <a:gd name="T3" fmla="*/ 10 h 107"/>
                  <a:gd name="T4" fmla="*/ 97 w 178"/>
                  <a:gd name="T5" fmla="*/ 10 h 107"/>
                  <a:gd name="T6" fmla="*/ 67 w 178"/>
                  <a:gd name="T7" fmla="*/ 0 h 107"/>
                  <a:gd name="T8" fmla="*/ 17 w 178"/>
                  <a:gd name="T9" fmla="*/ 41 h 107"/>
                  <a:gd name="T10" fmla="*/ 0 w 178"/>
                  <a:gd name="T11" fmla="*/ 71 h 107"/>
                  <a:gd name="T12" fmla="*/ 38 w 178"/>
                  <a:gd name="T13" fmla="*/ 107 h 107"/>
                  <a:gd name="T14" fmla="*/ 139 w 178"/>
                  <a:gd name="T15" fmla="*/ 107 h 107"/>
                  <a:gd name="T16" fmla="*/ 178 w 178"/>
                  <a:gd name="T17" fmla="*/ 71 h 107"/>
                  <a:gd name="T18" fmla="*/ 138 w 178"/>
                  <a:gd name="T19" fmla="*/ 34 h 107"/>
                  <a:gd name="T20" fmla="*/ 139 w 178"/>
                  <a:gd name="T21" fmla="*/ 98 h 107"/>
                  <a:gd name="T22" fmla="*/ 38 w 178"/>
                  <a:gd name="T23" fmla="*/ 98 h 107"/>
                  <a:gd name="T24" fmla="*/ 10 w 178"/>
                  <a:gd name="T25" fmla="*/ 71 h 107"/>
                  <a:gd name="T26" fmla="*/ 24 w 178"/>
                  <a:gd name="T27" fmla="*/ 48 h 107"/>
                  <a:gd name="T28" fmla="*/ 26 w 178"/>
                  <a:gd name="T29" fmla="*/ 47 h 107"/>
                  <a:gd name="T30" fmla="*/ 26 w 178"/>
                  <a:gd name="T31" fmla="*/ 45 h 107"/>
                  <a:gd name="T32" fmla="*/ 67 w 178"/>
                  <a:gd name="T33" fmla="*/ 9 h 107"/>
                  <a:gd name="T34" fmla="*/ 92 w 178"/>
                  <a:gd name="T35" fmla="*/ 19 h 107"/>
                  <a:gd name="T36" fmla="*/ 94 w 178"/>
                  <a:gd name="T37" fmla="*/ 20 h 107"/>
                  <a:gd name="T38" fmla="*/ 96 w 178"/>
                  <a:gd name="T39" fmla="*/ 20 h 107"/>
                  <a:gd name="T40" fmla="*/ 102 w 178"/>
                  <a:gd name="T41" fmla="*/ 20 h 107"/>
                  <a:gd name="T42" fmla="*/ 130 w 178"/>
                  <a:gd name="T43" fmla="*/ 40 h 107"/>
                  <a:gd name="T44" fmla="*/ 131 w 178"/>
                  <a:gd name="T45" fmla="*/ 44 h 107"/>
                  <a:gd name="T46" fmla="*/ 135 w 178"/>
                  <a:gd name="T47" fmla="*/ 44 h 107"/>
                  <a:gd name="T48" fmla="*/ 139 w 178"/>
                  <a:gd name="T49" fmla="*/ 44 h 107"/>
                  <a:gd name="T50" fmla="*/ 168 w 178"/>
                  <a:gd name="T51" fmla="*/ 71 h 107"/>
                  <a:gd name="T52" fmla="*/ 139 w 178"/>
                  <a:gd name="T53" fmla="*/ 9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8" h="107">
                    <a:moveTo>
                      <a:pt x="138" y="34"/>
                    </a:moveTo>
                    <a:cubicBezTo>
                      <a:pt x="132" y="20"/>
                      <a:pt x="118" y="10"/>
                      <a:pt x="102" y="10"/>
                    </a:cubicBezTo>
                    <a:cubicBezTo>
                      <a:pt x="100" y="10"/>
                      <a:pt x="99" y="10"/>
                      <a:pt x="97" y="10"/>
                    </a:cubicBezTo>
                    <a:cubicBezTo>
                      <a:pt x="88" y="3"/>
                      <a:pt x="78" y="0"/>
                      <a:pt x="67" y="0"/>
                    </a:cubicBezTo>
                    <a:cubicBezTo>
                      <a:pt x="42" y="0"/>
                      <a:pt x="22" y="17"/>
                      <a:pt x="17" y="41"/>
                    </a:cubicBezTo>
                    <a:cubicBezTo>
                      <a:pt x="7" y="48"/>
                      <a:pt x="0" y="60"/>
                      <a:pt x="0" y="71"/>
                    </a:cubicBezTo>
                    <a:cubicBezTo>
                      <a:pt x="0" y="91"/>
                      <a:pt x="17" y="107"/>
                      <a:pt x="38" y="107"/>
                    </a:cubicBezTo>
                    <a:cubicBezTo>
                      <a:pt x="139" y="107"/>
                      <a:pt x="139" y="107"/>
                      <a:pt x="139" y="107"/>
                    </a:cubicBezTo>
                    <a:cubicBezTo>
                      <a:pt x="160" y="107"/>
                      <a:pt x="178" y="90"/>
                      <a:pt x="178" y="71"/>
                    </a:cubicBezTo>
                    <a:cubicBezTo>
                      <a:pt x="178" y="51"/>
                      <a:pt x="159" y="34"/>
                      <a:pt x="138" y="34"/>
                    </a:cubicBezTo>
                    <a:close/>
                    <a:moveTo>
                      <a:pt x="139" y="98"/>
                    </a:moveTo>
                    <a:cubicBezTo>
                      <a:pt x="38" y="98"/>
                      <a:pt x="38" y="98"/>
                      <a:pt x="38" y="98"/>
                    </a:cubicBezTo>
                    <a:cubicBezTo>
                      <a:pt x="22" y="98"/>
                      <a:pt x="10" y="86"/>
                      <a:pt x="10" y="71"/>
                    </a:cubicBezTo>
                    <a:cubicBezTo>
                      <a:pt x="10" y="62"/>
                      <a:pt x="15" y="53"/>
                      <a:pt x="24" y="48"/>
                    </a:cubicBezTo>
                    <a:cubicBezTo>
                      <a:pt x="26" y="47"/>
                      <a:pt x="26" y="47"/>
                      <a:pt x="26" y="47"/>
                    </a:cubicBezTo>
                    <a:cubicBezTo>
                      <a:pt x="26" y="45"/>
                      <a:pt x="26" y="45"/>
                      <a:pt x="26" y="45"/>
                    </a:cubicBezTo>
                    <a:cubicBezTo>
                      <a:pt x="29" y="24"/>
                      <a:pt x="46" y="9"/>
                      <a:pt x="67" y="9"/>
                    </a:cubicBezTo>
                    <a:cubicBezTo>
                      <a:pt x="76" y="9"/>
                      <a:pt x="85" y="12"/>
                      <a:pt x="92" y="19"/>
                    </a:cubicBezTo>
                    <a:cubicBezTo>
                      <a:pt x="94" y="20"/>
                      <a:pt x="94" y="20"/>
                      <a:pt x="94" y="20"/>
                    </a:cubicBezTo>
                    <a:cubicBezTo>
                      <a:pt x="96" y="20"/>
                      <a:pt x="96" y="20"/>
                      <a:pt x="96" y="20"/>
                    </a:cubicBezTo>
                    <a:cubicBezTo>
                      <a:pt x="98" y="20"/>
                      <a:pt x="100" y="20"/>
                      <a:pt x="102" y="20"/>
                    </a:cubicBezTo>
                    <a:cubicBezTo>
                      <a:pt x="115" y="20"/>
                      <a:pt x="126" y="28"/>
                      <a:pt x="130" y="40"/>
                    </a:cubicBezTo>
                    <a:cubicBezTo>
                      <a:pt x="131" y="44"/>
                      <a:pt x="131" y="44"/>
                      <a:pt x="131" y="44"/>
                    </a:cubicBezTo>
                    <a:cubicBezTo>
                      <a:pt x="135" y="44"/>
                      <a:pt x="135" y="44"/>
                      <a:pt x="135" y="44"/>
                    </a:cubicBezTo>
                    <a:cubicBezTo>
                      <a:pt x="136" y="44"/>
                      <a:pt x="137" y="44"/>
                      <a:pt x="139" y="44"/>
                    </a:cubicBezTo>
                    <a:cubicBezTo>
                      <a:pt x="155" y="44"/>
                      <a:pt x="168" y="56"/>
                      <a:pt x="168" y="71"/>
                    </a:cubicBezTo>
                    <a:cubicBezTo>
                      <a:pt x="168" y="85"/>
                      <a:pt x="155" y="98"/>
                      <a:pt x="139" y="98"/>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6" name="Freeform 514">
                <a:extLst>
                  <a:ext uri="{FF2B5EF4-FFF2-40B4-BE49-F238E27FC236}">
                    <a16:creationId xmlns:a16="http://schemas.microsoft.com/office/drawing/2014/main" id="{2903A594-F7A5-42A3-C402-A65CA20FA608}"/>
                  </a:ext>
                </a:extLst>
              </p:cNvPr>
              <p:cNvSpPr>
                <a:spLocks noEditPoints="1"/>
              </p:cNvSpPr>
              <p:nvPr/>
            </p:nvSpPr>
            <p:spPr bwMode="auto">
              <a:xfrm>
                <a:off x="11353800" y="960438"/>
                <a:ext cx="419100" cy="357187"/>
              </a:xfrm>
              <a:custGeom>
                <a:avLst/>
                <a:gdLst>
                  <a:gd name="T0" fmla="*/ 221 w 235"/>
                  <a:gd name="T1" fmla="*/ 24 h 200"/>
                  <a:gd name="T2" fmla="*/ 67 w 235"/>
                  <a:gd name="T3" fmla="*/ 24 h 200"/>
                  <a:gd name="T4" fmla="*/ 49 w 235"/>
                  <a:gd name="T5" fmla="*/ 0 h 200"/>
                  <a:gd name="T6" fmla="*/ 14 w 235"/>
                  <a:gd name="T7" fmla="*/ 0 h 200"/>
                  <a:gd name="T8" fmla="*/ 0 w 235"/>
                  <a:gd name="T9" fmla="*/ 14 h 200"/>
                  <a:gd name="T10" fmla="*/ 0 w 235"/>
                  <a:gd name="T11" fmla="*/ 186 h 200"/>
                  <a:gd name="T12" fmla="*/ 14 w 235"/>
                  <a:gd name="T13" fmla="*/ 200 h 200"/>
                  <a:gd name="T14" fmla="*/ 19 w 235"/>
                  <a:gd name="T15" fmla="*/ 195 h 200"/>
                  <a:gd name="T16" fmla="*/ 14 w 235"/>
                  <a:gd name="T17" fmla="*/ 190 h 200"/>
                  <a:gd name="T18" fmla="*/ 10 w 235"/>
                  <a:gd name="T19" fmla="*/ 186 h 200"/>
                  <a:gd name="T20" fmla="*/ 10 w 235"/>
                  <a:gd name="T21" fmla="*/ 66 h 200"/>
                  <a:gd name="T22" fmla="*/ 226 w 235"/>
                  <a:gd name="T23" fmla="*/ 66 h 200"/>
                  <a:gd name="T24" fmla="*/ 226 w 235"/>
                  <a:gd name="T25" fmla="*/ 186 h 200"/>
                  <a:gd name="T26" fmla="*/ 221 w 235"/>
                  <a:gd name="T27" fmla="*/ 190 h 200"/>
                  <a:gd name="T28" fmla="*/ 216 w 235"/>
                  <a:gd name="T29" fmla="*/ 195 h 200"/>
                  <a:gd name="T30" fmla="*/ 221 w 235"/>
                  <a:gd name="T31" fmla="*/ 200 h 200"/>
                  <a:gd name="T32" fmla="*/ 235 w 235"/>
                  <a:gd name="T33" fmla="*/ 186 h 200"/>
                  <a:gd name="T34" fmla="*/ 235 w 235"/>
                  <a:gd name="T35" fmla="*/ 38 h 200"/>
                  <a:gd name="T36" fmla="*/ 221 w 235"/>
                  <a:gd name="T37" fmla="*/ 24 h 200"/>
                  <a:gd name="T38" fmla="*/ 14 w 235"/>
                  <a:gd name="T39" fmla="*/ 10 h 200"/>
                  <a:gd name="T40" fmla="*/ 49 w 235"/>
                  <a:gd name="T41" fmla="*/ 10 h 200"/>
                  <a:gd name="T42" fmla="*/ 59 w 235"/>
                  <a:gd name="T43" fmla="*/ 30 h 200"/>
                  <a:gd name="T44" fmla="*/ 63 w 235"/>
                  <a:gd name="T45" fmla="*/ 34 h 200"/>
                  <a:gd name="T46" fmla="*/ 221 w 235"/>
                  <a:gd name="T47" fmla="*/ 34 h 200"/>
                  <a:gd name="T48" fmla="*/ 226 w 235"/>
                  <a:gd name="T49" fmla="*/ 38 h 200"/>
                  <a:gd name="T50" fmla="*/ 226 w 235"/>
                  <a:gd name="T51" fmla="*/ 56 h 200"/>
                  <a:gd name="T52" fmla="*/ 10 w 235"/>
                  <a:gd name="T53" fmla="*/ 56 h 200"/>
                  <a:gd name="T54" fmla="*/ 10 w 235"/>
                  <a:gd name="T55" fmla="*/ 14 h 200"/>
                  <a:gd name="T56" fmla="*/ 14 w 235"/>
                  <a:gd name="T57" fmla="*/ 1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5" h="200">
                    <a:moveTo>
                      <a:pt x="221" y="24"/>
                    </a:moveTo>
                    <a:cubicBezTo>
                      <a:pt x="67" y="24"/>
                      <a:pt x="67" y="24"/>
                      <a:pt x="67" y="24"/>
                    </a:cubicBezTo>
                    <a:cubicBezTo>
                      <a:pt x="57" y="0"/>
                      <a:pt x="52" y="0"/>
                      <a:pt x="49" y="0"/>
                    </a:cubicBezTo>
                    <a:cubicBezTo>
                      <a:pt x="14" y="0"/>
                      <a:pt x="14" y="0"/>
                      <a:pt x="14" y="0"/>
                    </a:cubicBezTo>
                    <a:cubicBezTo>
                      <a:pt x="7" y="0"/>
                      <a:pt x="0" y="7"/>
                      <a:pt x="0" y="14"/>
                    </a:cubicBezTo>
                    <a:cubicBezTo>
                      <a:pt x="0" y="186"/>
                      <a:pt x="0" y="186"/>
                      <a:pt x="0" y="186"/>
                    </a:cubicBezTo>
                    <a:cubicBezTo>
                      <a:pt x="0" y="194"/>
                      <a:pt x="7" y="200"/>
                      <a:pt x="14" y="200"/>
                    </a:cubicBezTo>
                    <a:cubicBezTo>
                      <a:pt x="17" y="200"/>
                      <a:pt x="19" y="198"/>
                      <a:pt x="19" y="195"/>
                    </a:cubicBezTo>
                    <a:cubicBezTo>
                      <a:pt x="19" y="192"/>
                      <a:pt x="17" y="190"/>
                      <a:pt x="14" y="190"/>
                    </a:cubicBezTo>
                    <a:cubicBezTo>
                      <a:pt x="12" y="190"/>
                      <a:pt x="10" y="188"/>
                      <a:pt x="10" y="186"/>
                    </a:cubicBezTo>
                    <a:cubicBezTo>
                      <a:pt x="10" y="66"/>
                      <a:pt x="10" y="66"/>
                      <a:pt x="10" y="66"/>
                    </a:cubicBezTo>
                    <a:cubicBezTo>
                      <a:pt x="226" y="66"/>
                      <a:pt x="226" y="66"/>
                      <a:pt x="226" y="66"/>
                    </a:cubicBezTo>
                    <a:cubicBezTo>
                      <a:pt x="226" y="186"/>
                      <a:pt x="226" y="186"/>
                      <a:pt x="226" y="186"/>
                    </a:cubicBezTo>
                    <a:cubicBezTo>
                      <a:pt x="226" y="188"/>
                      <a:pt x="224" y="190"/>
                      <a:pt x="221" y="190"/>
                    </a:cubicBezTo>
                    <a:cubicBezTo>
                      <a:pt x="218" y="190"/>
                      <a:pt x="216" y="192"/>
                      <a:pt x="216" y="195"/>
                    </a:cubicBezTo>
                    <a:cubicBezTo>
                      <a:pt x="216" y="198"/>
                      <a:pt x="218" y="200"/>
                      <a:pt x="221" y="200"/>
                    </a:cubicBezTo>
                    <a:cubicBezTo>
                      <a:pt x="229" y="200"/>
                      <a:pt x="235" y="194"/>
                      <a:pt x="235" y="186"/>
                    </a:cubicBezTo>
                    <a:cubicBezTo>
                      <a:pt x="235" y="38"/>
                      <a:pt x="235" y="38"/>
                      <a:pt x="235" y="38"/>
                    </a:cubicBezTo>
                    <a:cubicBezTo>
                      <a:pt x="235" y="30"/>
                      <a:pt x="229" y="24"/>
                      <a:pt x="221" y="24"/>
                    </a:cubicBezTo>
                    <a:close/>
                    <a:moveTo>
                      <a:pt x="14" y="10"/>
                    </a:moveTo>
                    <a:cubicBezTo>
                      <a:pt x="49" y="10"/>
                      <a:pt x="49" y="10"/>
                      <a:pt x="49" y="10"/>
                    </a:cubicBezTo>
                    <a:cubicBezTo>
                      <a:pt x="51" y="12"/>
                      <a:pt x="56" y="21"/>
                      <a:pt x="59" y="30"/>
                    </a:cubicBezTo>
                    <a:cubicBezTo>
                      <a:pt x="60" y="32"/>
                      <a:pt x="62" y="34"/>
                      <a:pt x="63" y="34"/>
                    </a:cubicBezTo>
                    <a:cubicBezTo>
                      <a:pt x="221" y="34"/>
                      <a:pt x="221" y="34"/>
                      <a:pt x="221" y="34"/>
                    </a:cubicBezTo>
                    <a:cubicBezTo>
                      <a:pt x="224" y="34"/>
                      <a:pt x="226" y="36"/>
                      <a:pt x="226" y="38"/>
                    </a:cubicBezTo>
                    <a:cubicBezTo>
                      <a:pt x="226" y="56"/>
                      <a:pt x="226" y="56"/>
                      <a:pt x="226" y="56"/>
                    </a:cubicBezTo>
                    <a:cubicBezTo>
                      <a:pt x="10" y="56"/>
                      <a:pt x="10" y="56"/>
                      <a:pt x="10" y="56"/>
                    </a:cubicBezTo>
                    <a:cubicBezTo>
                      <a:pt x="10" y="14"/>
                      <a:pt x="10" y="14"/>
                      <a:pt x="10" y="14"/>
                    </a:cubicBezTo>
                    <a:cubicBezTo>
                      <a:pt x="10" y="12"/>
                      <a:pt x="12" y="10"/>
                      <a:pt x="14" y="10"/>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grpSp>
      <p:grpSp>
        <p:nvGrpSpPr>
          <p:cNvPr id="13" name="Group 12">
            <a:extLst>
              <a:ext uri="{FF2B5EF4-FFF2-40B4-BE49-F238E27FC236}">
                <a16:creationId xmlns:a16="http://schemas.microsoft.com/office/drawing/2014/main" id="{54E8B365-2246-45BC-D375-CCECA4FFBC71}"/>
              </a:ext>
            </a:extLst>
          </p:cNvPr>
          <p:cNvGrpSpPr/>
          <p:nvPr/>
        </p:nvGrpSpPr>
        <p:grpSpPr>
          <a:xfrm>
            <a:off x="4390364" y="2592189"/>
            <a:ext cx="484380" cy="484380"/>
            <a:chOff x="4390364" y="2592189"/>
            <a:chExt cx="484380" cy="484380"/>
          </a:xfrm>
        </p:grpSpPr>
        <p:sp>
          <p:nvSpPr>
            <p:cNvPr id="269" name="Oval 268">
              <a:extLst>
                <a:ext uri="{FF2B5EF4-FFF2-40B4-BE49-F238E27FC236}">
                  <a16:creationId xmlns:a16="http://schemas.microsoft.com/office/drawing/2014/main" id="{9DE92AB8-8EAD-0FA3-3E23-2482986E4D96}"/>
                </a:ext>
              </a:extLst>
            </p:cNvPr>
            <p:cNvSpPr/>
            <p:nvPr/>
          </p:nvSpPr>
          <p:spPr>
            <a:xfrm>
              <a:off x="4390364" y="2592189"/>
              <a:ext cx="484380" cy="484380"/>
            </a:xfrm>
            <a:prstGeom prst="ellipse">
              <a:avLst/>
            </a:prstGeom>
            <a:solidFill>
              <a:schemeClr val="bg1"/>
            </a:solidFill>
            <a:ln w="28575">
              <a:solidFill>
                <a:srgbClr val="00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2">
                <a:defRPr/>
              </a:pPr>
              <a:endParaRPr lang="en-US" sz="1798">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97" name="Group 296">
              <a:extLst>
                <a:ext uri="{FF2B5EF4-FFF2-40B4-BE49-F238E27FC236}">
                  <a16:creationId xmlns:a16="http://schemas.microsoft.com/office/drawing/2014/main" id="{9360F0BF-73B0-EAFE-58BE-C4F9A7516F02}"/>
                </a:ext>
              </a:extLst>
            </p:cNvPr>
            <p:cNvGrpSpPr>
              <a:grpSpLocks noChangeAspect="1"/>
            </p:cNvGrpSpPr>
            <p:nvPr/>
          </p:nvGrpSpPr>
          <p:grpSpPr>
            <a:xfrm>
              <a:off x="4449769" y="2651077"/>
              <a:ext cx="365570" cy="366605"/>
              <a:chOff x="1708150" y="2720975"/>
              <a:chExt cx="560388" cy="561975"/>
            </a:xfrm>
          </p:grpSpPr>
          <p:sp>
            <p:nvSpPr>
              <p:cNvPr id="298" name="Freeform 110">
                <a:extLst>
                  <a:ext uri="{FF2B5EF4-FFF2-40B4-BE49-F238E27FC236}">
                    <a16:creationId xmlns:a16="http://schemas.microsoft.com/office/drawing/2014/main" id="{363450B0-3BFC-9588-054D-ACF0FE1A64FA}"/>
                  </a:ext>
                </a:extLst>
              </p:cNvPr>
              <p:cNvSpPr>
                <a:spLocks noEditPoints="1"/>
              </p:cNvSpPr>
              <p:nvPr/>
            </p:nvSpPr>
            <p:spPr bwMode="auto">
              <a:xfrm>
                <a:off x="1708150" y="2720975"/>
                <a:ext cx="560388" cy="561975"/>
              </a:xfrm>
              <a:custGeom>
                <a:avLst/>
                <a:gdLst>
                  <a:gd name="T0" fmla="*/ 124 w 247"/>
                  <a:gd name="T1" fmla="*/ 0 h 248"/>
                  <a:gd name="T2" fmla="*/ 0 w 247"/>
                  <a:gd name="T3" fmla="*/ 124 h 248"/>
                  <a:gd name="T4" fmla="*/ 124 w 247"/>
                  <a:gd name="T5" fmla="*/ 248 h 248"/>
                  <a:gd name="T6" fmla="*/ 247 w 247"/>
                  <a:gd name="T7" fmla="*/ 124 h 248"/>
                  <a:gd name="T8" fmla="*/ 124 w 247"/>
                  <a:gd name="T9" fmla="*/ 0 h 248"/>
                  <a:gd name="T10" fmla="*/ 124 w 247"/>
                  <a:gd name="T11" fmla="*/ 238 h 248"/>
                  <a:gd name="T12" fmla="*/ 10 w 247"/>
                  <a:gd name="T13" fmla="*/ 124 h 248"/>
                  <a:gd name="T14" fmla="*/ 124 w 247"/>
                  <a:gd name="T15" fmla="*/ 10 h 248"/>
                  <a:gd name="T16" fmla="*/ 237 w 247"/>
                  <a:gd name="T17" fmla="*/ 124 h 248"/>
                  <a:gd name="T18" fmla="*/ 124 w 247"/>
                  <a:gd name="T19" fmla="*/ 23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7" h="248">
                    <a:moveTo>
                      <a:pt x="124" y="0"/>
                    </a:moveTo>
                    <a:cubicBezTo>
                      <a:pt x="55" y="0"/>
                      <a:pt x="0" y="56"/>
                      <a:pt x="0" y="124"/>
                    </a:cubicBezTo>
                    <a:cubicBezTo>
                      <a:pt x="0" y="192"/>
                      <a:pt x="55" y="248"/>
                      <a:pt x="124" y="248"/>
                    </a:cubicBezTo>
                    <a:cubicBezTo>
                      <a:pt x="192" y="248"/>
                      <a:pt x="247" y="192"/>
                      <a:pt x="247" y="124"/>
                    </a:cubicBezTo>
                    <a:cubicBezTo>
                      <a:pt x="247" y="56"/>
                      <a:pt x="192" y="0"/>
                      <a:pt x="124" y="0"/>
                    </a:cubicBezTo>
                    <a:close/>
                    <a:moveTo>
                      <a:pt x="124" y="238"/>
                    </a:moveTo>
                    <a:cubicBezTo>
                      <a:pt x="61" y="238"/>
                      <a:pt x="10" y="187"/>
                      <a:pt x="10" y="124"/>
                    </a:cubicBezTo>
                    <a:cubicBezTo>
                      <a:pt x="10" y="61"/>
                      <a:pt x="61" y="10"/>
                      <a:pt x="124" y="10"/>
                    </a:cubicBezTo>
                    <a:cubicBezTo>
                      <a:pt x="186" y="10"/>
                      <a:pt x="237" y="61"/>
                      <a:pt x="237" y="124"/>
                    </a:cubicBezTo>
                    <a:cubicBezTo>
                      <a:pt x="237" y="187"/>
                      <a:pt x="186" y="238"/>
                      <a:pt x="124" y="238"/>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9" name="Freeform 111">
                <a:extLst>
                  <a:ext uri="{FF2B5EF4-FFF2-40B4-BE49-F238E27FC236}">
                    <a16:creationId xmlns:a16="http://schemas.microsoft.com/office/drawing/2014/main" id="{D2173A47-454D-37D8-AFE2-1366294D53C3}"/>
                  </a:ext>
                </a:extLst>
              </p:cNvPr>
              <p:cNvSpPr>
                <a:spLocks/>
              </p:cNvSpPr>
              <p:nvPr/>
            </p:nvSpPr>
            <p:spPr bwMode="auto">
              <a:xfrm>
                <a:off x="1778000" y="2830513"/>
                <a:ext cx="442913" cy="336550"/>
              </a:xfrm>
              <a:custGeom>
                <a:avLst/>
                <a:gdLst>
                  <a:gd name="T0" fmla="*/ 184 w 195"/>
                  <a:gd name="T1" fmla="*/ 38 h 149"/>
                  <a:gd name="T2" fmla="*/ 163 w 195"/>
                  <a:gd name="T3" fmla="*/ 82 h 149"/>
                  <a:gd name="T4" fmla="*/ 133 w 195"/>
                  <a:gd name="T5" fmla="*/ 123 h 149"/>
                  <a:gd name="T6" fmla="*/ 131 w 195"/>
                  <a:gd name="T7" fmla="*/ 93 h 149"/>
                  <a:gd name="T8" fmla="*/ 127 w 195"/>
                  <a:gd name="T9" fmla="*/ 79 h 149"/>
                  <a:gd name="T10" fmla="*/ 115 w 195"/>
                  <a:gd name="T11" fmla="*/ 65 h 149"/>
                  <a:gd name="T12" fmla="*/ 81 w 195"/>
                  <a:gd name="T13" fmla="*/ 53 h 149"/>
                  <a:gd name="T14" fmla="*/ 86 w 195"/>
                  <a:gd name="T15" fmla="*/ 37 h 149"/>
                  <a:gd name="T16" fmla="*/ 99 w 195"/>
                  <a:gd name="T17" fmla="*/ 35 h 149"/>
                  <a:gd name="T18" fmla="*/ 94 w 195"/>
                  <a:gd name="T19" fmla="*/ 5 h 149"/>
                  <a:gd name="T20" fmla="*/ 70 w 195"/>
                  <a:gd name="T21" fmla="*/ 2 h 149"/>
                  <a:gd name="T22" fmla="*/ 51 w 195"/>
                  <a:gd name="T23" fmla="*/ 33 h 149"/>
                  <a:gd name="T24" fmla="*/ 50 w 195"/>
                  <a:gd name="T25" fmla="*/ 33 h 149"/>
                  <a:gd name="T26" fmla="*/ 44 w 195"/>
                  <a:gd name="T27" fmla="*/ 7 h 149"/>
                  <a:gd name="T28" fmla="*/ 30 w 195"/>
                  <a:gd name="T29" fmla="*/ 24 h 149"/>
                  <a:gd name="T30" fmla="*/ 17 w 195"/>
                  <a:gd name="T31" fmla="*/ 32 h 149"/>
                  <a:gd name="T32" fmla="*/ 20 w 195"/>
                  <a:gd name="T33" fmla="*/ 9 h 149"/>
                  <a:gd name="T34" fmla="*/ 11 w 195"/>
                  <a:gd name="T35" fmla="*/ 5 h 149"/>
                  <a:gd name="T36" fmla="*/ 20 w 195"/>
                  <a:gd name="T37" fmla="*/ 42 h 149"/>
                  <a:gd name="T38" fmla="*/ 39 w 195"/>
                  <a:gd name="T39" fmla="*/ 28 h 149"/>
                  <a:gd name="T40" fmla="*/ 53 w 195"/>
                  <a:gd name="T41" fmla="*/ 45 h 149"/>
                  <a:gd name="T42" fmla="*/ 62 w 195"/>
                  <a:gd name="T43" fmla="*/ 32 h 149"/>
                  <a:gd name="T44" fmla="*/ 75 w 195"/>
                  <a:gd name="T45" fmla="*/ 12 h 149"/>
                  <a:gd name="T46" fmla="*/ 91 w 195"/>
                  <a:gd name="T47" fmla="*/ 20 h 149"/>
                  <a:gd name="T48" fmla="*/ 81 w 195"/>
                  <a:gd name="T49" fmla="*/ 28 h 149"/>
                  <a:gd name="T50" fmla="*/ 79 w 195"/>
                  <a:gd name="T51" fmla="*/ 62 h 149"/>
                  <a:gd name="T52" fmla="*/ 118 w 195"/>
                  <a:gd name="T53" fmla="*/ 83 h 149"/>
                  <a:gd name="T54" fmla="*/ 123 w 195"/>
                  <a:gd name="T55" fmla="*/ 109 h 149"/>
                  <a:gd name="T56" fmla="*/ 131 w 195"/>
                  <a:gd name="T57" fmla="*/ 148 h 149"/>
                  <a:gd name="T58" fmla="*/ 140 w 195"/>
                  <a:gd name="T59" fmla="*/ 147 h 149"/>
                  <a:gd name="T60" fmla="*/ 175 w 195"/>
                  <a:gd name="T61" fmla="*/ 62 h 149"/>
                  <a:gd name="T62" fmla="*/ 189 w 195"/>
                  <a:gd name="T63" fmla="*/ 3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5" h="149">
                    <a:moveTo>
                      <a:pt x="189" y="33"/>
                    </a:moveTo>
                    <a:cubicBezTo>
                      <a:pt x="186" y="33"/>
                      <a:pt x="184" y="35"/>
                      <a:pt x="184" y="38"/>
                    </a:cubicBezTo>
                    <a:cubicBezTo>
                      <a:pt x="184" y="43"/>
                      <a:pt x="179" y="48"/>
                      <a:pt x="170" y="53"/>
                    </a:cubicBezTo>
                    <a:cubicBezTo>
                      <a:pt x="156" y="61"/>
                      <a:pt x="158" y="66"/>
                      <a:pt x="163" y="82"/>
                    </a:cubicBezTo>
                    <a:cubicBezTo>
                      <a:pt x="168" y="94"/>
                      <a:pt x="145" y="131"/>
                      <a:pt x="135" y="138"/>
                    </a:cubicBezTo>
                    <a:cubicBezTo>
                      <a:pt x="134" y="136"/>
                      <a:pt x="133" y="129"/>
                      <a:pt x="133" y="123"/>
                    </a:cubicBezTo>
                    <a:cubicBezTo>
                      <a:pt x="133" y="109"/>
                      <a:pt x="133" y="109"/>
                      <a:pt x="133" y="109"/>
                    </a:cubicBezTo>
                    <a:cubicBezTo>
                      <a:pt x="133" y="109"/>
                      <a:pt x="133" y="108"/>
                      <a:pt x="131" y="93"/>
                    </a:cubicBezTo>
                    <a:cubicBezTo>
                      <a:pt x="130" y="93"/>
                      <a:pt x="130" y="92"/>
                      <a:pt x="130" y="92"/>
                    </a:cubicBezTo>
                    <a:cubicBezTo>
                      <a:pt x="127" y="79"/>
                      <a:pt x="127" y="79"/>
                      <a:pt x="127" y="79"/>
                    </a:cubicBezTo>
                    <a:cubicBezTo>
                      <a:pt x="127" y="78"/>
                      <a:pt x="126" y="78"/>
                      <a:pt x="126" y="77"/>
                    </a:cubicBezTo>
                    <a:cubicBezTo>
                      <a:pt x="115" y="65"/>
                      <a:pt x="115" y="65"/>
                      <a:pt x="115" y="65"/>
                    </a:cubicBezTo>
                    <a:cubicBezTo>
                      <a:pt x="115" y="64"/>
                      <a:pt x="114" y="64"/>
                      <a:pt x="113" y="64"/>
                    </a:cubicBezTo>
                    <a:cubicBezTo>
                      <a:pt x="112" y="63"/>
                      <a:pt x="91" y="55"/>
                      <a:pt x="81" y="53"/>
                    </a:cubicBezTo>
                    <a:cubicBezTo>
                      <a:pt x="81" y="53"/>
                      <a:pt x="79" y="52"/>
                      <a:pt x="79" y="50"/>
                    </a:cubicBezTo>
                    <a:cubicBezTo>
                      <a:pt x="79" y="45"/>
                      <a:pt x="81" y="40"/>
                      <a:pt x="86" y="37"/>
                    </a:cubicBezTo>
                    <a:cubicBezTo>
                      <a:pt x="88" y="36"/>
                      <a:pt x="90" y="36"/>
                      <a:pt x="91" y="37"/>
                    </a:cubicBezTo>
                    <a:cubicBezTo>
                      <a:pt x="93" y="37"/>
                      <a:pt x="96" y="37"/>
                      <a:pt x="99" y="35"/>
                    </a:cubicBezTo>
                    <a:cubicBezTo>
                      <a:pt x="101" y="32"/>
                      <a:pt x="101" y="28"/>
                      <a:pt x="100" y="19"/>
                    </a:cubicBezTo>
                    <a:cubicBezTo>
                      <a:pt x="100" y="13"/>
                      <a:pt x="98" y="8"/>
                      <a:pt x="94" y="5"/>
                    </a:cubicBezTo>
                    <a:cubicBezTo>
                      <a:pt x="88" y="0"/>
                      <a:pt x="80" y="1"/>
                      <a:pt x="74" y="2"/>
                    </a:cubicBezTo>
                    <a:cubicBezTo>
                      <a:pt x="72" y="2"/>
                      <a:pt x="71" y="2"/>
                      <a:pt x="70" y="2"/>
                    </a:cubicBezTo>
                    <a:cubicBezTo>
                      <a:pt x="58" y="2"/>
                      <a:pt x="56" y="11"/>
                      <a:pt x="52" y="30"/>
                    </a:cubicBezTo>
                    <a:cubicBezTo>
                      <a:pt x="51" y="33"/>
                      <a:pt x="51" y="33"/>
                      <a:pt x="51" y="33"/>
                    </a:cubicBezTo>
                    <a:cubicBezTo>
                      <a:pt x="51" y="34"/>
                      <a:pt x="51" y="34"/>
                      <a:pt x="51" y="34"/>
                    </a:cubicBezTo>
                    <a:cubicBezTo>
                      <a:pt x="51" y="34"/>
                      <a:pt x="50" y="33"/>
                      <a:pt x="50" y="33"/>
                    </a:cubicBezTo>
                    <a:cubicBezTo>
                      <a:pt x="49" y="31"/>
                      <a:pt x="48" y="20"/>
                      <a:pt x="47" y="11"/>
                    </a:cubicBezTo>
                    <a:cubicBezTo>
                      <a:pt x="47" y="9"/>
                      <a:pt x="46" y="7"/>
                      <a:pt x="44" y="7"/>
                    </a:cubicBezTo>
                    <a:cubicBezTo>
                      <a:pt x="41" y="6"/>
                      <a:pt x="39" y="7"/>
                      <a:pt x="38" y="9"/>
                    </a:cubicBezTo>
                    <a:cubicBezTo>
                      <a:pt x="30" y="24"/>
                      <a:pt x="30" y="24"/>
                      <a:pt x="30" y="24"/>
                    </a:cubicBezTo>
                    <a:cubicBezTo>
                      <a:pt x="30" y="24"/>
                      <a:pt x="29" y="24"/>
                      <a:pt x="29" y="25"/>
                    </a:cubicBezTo>
                    <a:cubicBezTo>
                      <a:pt x="29" y="25"/>
                      <a:pt x="28" y="29"/>
                      <a:pt x="17" y="32"/>
                    </a:cubicBezTo>
                    <a:cubicBezTo>
                      <a:pt x="15" y="33"/>
                      <a:pt x="15" y="33"/>
                      <a:pt x="14" y="33"/>
                    </a:cubicBezTo>
                    <a:cubicBezTo>
                      <a:pt x="13" y="30"/>
                      <a:pt x="16" y="19"/>
                      <a:pt x="20" y="9"/>
                    </a:cubicBezTo>
                    <a:cubicBezTo>
                      <a:pt x="21" y="7"/>
                      <a:pt x="20" y="4"/>
                      <a:pt x="17" y="3"/>
                    </a:cubicBezTo>
                    <a:cubicBezTo>
                      <a:pt x="15" y="2"/>
                      <a:pt x="12" y="3"/>
                      <a:pt x="11" y="5"/>
                    </a:cubicBezTo>
                    <a:cubicBezTo>
                      <a:pt x="7" y="13"/>
                      <a:pt x="0" y="32"/>
                      <a:pt x="7" y="40"/>
                    </a:cubicBezTo>
                    <a:cubicBezTo>
                      <a:pt x="9" y="42"/>
                      <a:pt x="13" y="44"/>
                      <a:pt x="20" y="42"/>
                    </a:cubicBezTo>
                    <a:cubicBezTo>
                      <a:pt x="34" y="37"/>
                      <a:pt x="38" y="31"/>
                      <a:pt x="39" y="28"/>
                    </a:cubicBezTo>
                    <a:cubicBezTo>
                      <a:pt x="39" y="28"/>
                      <a:pt x="39" y="28"/>
                      <a:pt x="39" y="28"/>
                    </a:cubicBezTo>
                    <a:cubicBezTo>
                      <a:pt x="40" y="33"/>
                      <a:pt x="40" y="36"/>
                      <a:pt x="41" y="37"/>
                    </a:cubicBezTo>
                    <a:cubicBezTo>
                      <a:pt x="42" y="39"/>
                      <a:pt x="47" y="46"/>
                      <a:pt x="53" y="45"/>
                    </a:cubicBezTo>
                    <a:cubicBezTo>
                      <a:pt x="57" y="45"/>
                      <a:pt x="60" y="42"/>
                      <a:pt x="61" y="36"/>
                    </a:cubicBezTo>
                    <a:cubicBezTo>
                      <a:pt x="62" y="32"/>
                      <a:pt x="62" y="32"/>
                      <a:pt x="62" y="32"/>
                    </a:cubicBezTo>
                    <a:cubicBezTo>
                      <a:pt x="66" y="13"/>
                      <a:pt x="67" y="12"/>
                      <a:pt x="70" y="12"/>
                    </a:cubicBezTo>
                    <a:cubicBezTo>
                      <a:pt x="71" y="12"/>
                      <a:pt x="73" y="12"/>
                      <a:pt x="75" y="12"/>
                    </a:cubicBezTo>
                    <a:cubicBezTo>
                      <a:pt x="80" y="11"/>
                      <a:pt x="85" y="10"/>
                      <a:pt x="88" y="13"/>
                    </a:cubicBezTo>
                    <a:cubicBezTo>
                      <a:pt x="89" y="14"/>
                      <a:pt x="90" y="17"/>
                      <a:pt x="91" y="20"/>
                    </a:cubicBezTo>
                    <a:cubicBezTo>
                      <a:pt x="91" y="23"/>
                      <a:pt x="91" y="25"/>
                      <a:pt x="91" y="26"/>
                    </a:cubicBezTo>
                    <a:cubicBezTo>
                      <a:pt x="89" y="26"/>
                      <a:pt x="85" y="26"/>
                      <a:pt x="81" y="28"/>
                    </a:cubicBezTo>
                    <a:cubicBezTo>
                      <a:pt x="72" y="33"/>
                      <a:pt x="68" y="43"/>
                      <a:pt x="69" y="51"/>
                    </a:cubicBezTo>
                    <a:cubicBezTo>
                      <a:pt x="70" y="57"/>
                      <a:pt x="74" y="61"/>
                      <a:pt x="79" y="62"/>
                    </a:cubicBezTo>
                    <a:cubicBezTo>
                      <a:pt x="87" y="64"/>
                      <a:pt x="104" y="71"/>
                      <a:pt x="108" y="73"/>
                    </a:cubicBezTo>
                    <a:cubicBezTo>
                      <a:pt x="118" y="83"/>
                      <a:pt x="118" y="83"/>
                      <a:pt x="118" y="83"/>
                    </a:cubicBezTo>
                    <a:cubicBezTo>
                      <a:pt x="121" y="94"/>
                      <a:pt x="121" y="94"/>
                      <a:pt x="121" y="94"/>
                    </a:cubicBezTo>
                    <a:cubicBezTo>
                      <a:pt x="122" y="101"/>
                      <a:pt x="123" y="108"/>
                      <a:pt x="123" y="109"/>
                    </a:cubicBezTo>
                    <a:cubicBezTo>
                      <a:pt x="123" y="123"/>
                      <a:pt x="123" y="123"/>
                      <a:pt x="123" y="123"/>
                    </a:cubicBezTo>
                    <a:cubicBezTo>
                      <a:pt x="123" y="129"/>
                      <a:pt x="124" y="144"/>
                      <a:pt x="131" y="148"/>
                    </a:cubicBezTo>
                    <a:cubicBezTo>
                      <a:pt x="132" y="148"/>
                      <a:pt x="133" y="149"/>
                      <a:pt x="135" y="149"/>
                    </a:cubicBezTo>
                    <a:cubicBezTo>
                      <a:pt x="136" y="149"/>
                      <a:pt x="138" y="148"/>
                      <a:pt x="140" y="147"/>
                    </a:cubicBezTo>
                    <a:cubicBezTo>
                      <a:pt x="150" y="141"/>
                      <a:pt x="180" y="97"/>
                      <a:pt x="173" y="78"/>
                    </a:cubicBezTo>
                    <a:cubicBezTo>
                      <a:pt x="168" y="65"/>
                      <a:pt x="168" y="65"/>
                      <a:pt x="175" y="62"/>
                    </a:cubicBezTo>
                    <a:cubicBezTo>
                      <a:pt x="188" y="55"/>
                      <a:pt x="195" y="47"/>
                      <a:pt x="194" y="38"/>
                    </a:cubicBezTo>
                    <a:cubicBezTo>
                      <a:pt x="194" y="35"/>
                      <a:pt x="192" y="33"/>
                      <a:pt x="189" y="33"/>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0" name="Freeform 112">
                <a:extLst>
                  <a:ext uri="{FF2B5EF4-FFF2-40B4-BE49-F238E27FC236}">
                    <a16:creationId xmlns:a16="http://schemas.microsoft.com/office/drawing/2014/main" id="{F7F925C3-3422-9454-3E79-4499D7054658}"/>
                  </a:ext>
                </a:extLst>
              </p:cNvPr>
              <p:cNvSpPr>
                <a:spLocks/>
              </p:cNvSpPr>
              <p:nvPr/>
            </p:nvSpPr>
            <p:spPr bwMode="auto">
              <a:xfrm>
                <a:off x="1755775" y="2992438"/>
                <a:ext cx="136525" cy="179387"/>
              </a:xfrm>
              <a:custGeom>
                <a:avLst/>
                <a:gdLst>
                  <a:gd name="T0" fmla="*/ 44 w 60"/>
                  <a:gd name="T1" fmla="*/ 18 h 79"/>
                  <a:gd name="T2" fmla="*/ 34 w 60"/>
                  <a:gd name="T3" fmla="*/ 14 h 79"/>
                  <a:gd name="T4" fmla="*/ 25 w 60"/>
                  <a:gd name="T5" fmla="*/ 7 h 79"/>
                  <a:gd name="T6" fmla="*/ 18 w 60"/>
                  <a:gd name="T7" fmla="*/ 2 h 79"/>
                  <a:gd name="T8" fmla="*/ 11 w 60"/>
                  <a:gd name="T9" fmla="*/ 1 h 79"/>
                  <a:gd name="T10" fmla="*/ 1 w 60"/>
                  <a:gd name="T11" fmla="*/ 33 h 79"/>
                  <a:gd name="T12" fmla="*/ 5 w 60"/>
                  <a:gd name="T13" fmla="*/ 39 h 79"/>
                  <a:gd name="T14" fmla="*/ 11 w 60"/>
                  <a:gd name="T15" fmla="*/ 34 h 79"/>
                  <a:gd name="T16" fmla="*/ 15 w 60"/>
                  <a:gd name="T17" fmla="*/ 12 h 79"/>
                  <a:gd name="T18" fmla="*/ 20 w 60"/>
                  <a:gd name="T19" fmla="*/ 15 h 79"/>
                  <a:gd name="T20" fmla="*/ 27 w 60"/>
                  <a:gd name="T21" fmla="*/ 21 h 79"/>
                  <a:gd name="T22" fmla="*/ 41 w 60"/>
                  <a:gd name="T23" fmla="*/ 28 h 79"/>
                  <a:gd name="T24" fmla="*/ 49 w 60"/>
                  <a:gd name="T25" fmla="*/ 31 h 79"/>
                  <a:gd name="T26" fmla="*/ 48 w 60"/>
                  <a:gd name="T27" fmla="*/ 32 h 79"/>
                  <a:gd name="T28" fmla="*/ 35 w 60"/>
                  <a:gd name="T29" fmla="*/ 48 h 79"/>
                  <a:gd name="T30" fmla="*/ 26 w 60"/>
                  <a:gd name="T31" fmla="*/ 73 h 79"/>
                  <a:gd name="T32" fmla="*/ 29 w 60"/>
                  <a:gd name="T33" fmla="*/ 79 h 79"/>
                  <a:gd name="T34" fmla="*/ 30 w 60"/>
                  <a:gd name="T35" fmla="*/ 79 h 79"/>
                  <a:gd name="T36" fmla="*/ 35 w 60"/>
                  <a:gd name="T37" fmla="*/ 76 h 79"/>
                  <a:gd name="T38" fmla="*/ 44 w 60"/>
                  <a:gd name="T39" fmla="*/ 52 h 79"/>
                  <a:gd name="T40" fmla="*/ 55 w 60"/>
                  <a:gd name="T41" fmla="*/ 39 h 79"/>
                  <a:gd name="T42" fmla="*/ 57 w 60"/>
                  <a:gd name="T43" fmla="*/ 38 h 79"/>
                  <a:gd name="T44" fmla="*/ 60 w 60"/>
                  <a:gd name="T45" fmla="*/ 30 h 79"/>
                  <a:gd name="T46" fmla="*/ 44 w 60"/>
                  <a:gd name="T47" fmla="*/ 1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0" h="79">
                    <a:moveTo>
                      <a:pt x="44" y="18"/>
                    </a:moveTo>
                    <a:cubicBezTo>
                      <a:pt x="41" y="17"/>
                      <a:pt x="36" y="15"/>
                      <a:pt x="34" y="14"/>
                    </a:cubicBezTo>
                    <a:cubicBezTo>
                      <a:pt x="30" y="10"/>
                      <a:pt x="28" y="8"/>
                      <a:pt x="25" y="7"/>
                    </a:cubicBezTo>
                    <a:cubicBezTo>
                      <a:pt x="23" y="5"/>
                      <a:pt x="21" y="4"/>
                      <a:pt x="18" y="2"/>
                    </a:cubicBezTo>
                    <a:cubicBezTo>
                      <a:pt x="16" y="0"/>
                      <a:pt x="14" y="0"/>
                      <a:pt x="11" y="1"/>
                    </a:cubicBezTo>
                    <a:cubicBezTo>
                      <a:pt x="9" y="2"/>
                      <a:pt x="3" y="4"/>
                      <a:pt x="1" y="33"/>
                    </a:cubicBezTo>
                    <a:cubicBezTo>
                      <a:pt x="0" y="36"/>
                      <a:pt x="2" y="39"/>
                      <a:pt x="5" y="39"/>
                    </a:cubicBezTo>
                    <a:cubicBezTo>
                      <a:pt x="8" y="39"/>
                      <a:pt x="10" y="37"/>
                      <a:pt x="11" y="34"/>
                    </a:cubicBezTo>
                    <a:cubicBezTo>
                      <a:pt x="11" y="25"/>
                      <a:pt x="13" y="16"/>
                      <a:pt x="15" y="12"/>
                    </a:cubicBezTo>
                    <a:cubicBezTo>
                      <a:pt x="17" y="13"/>
                      <a:pt x="18" y="14"/>
                      <a:pt x="20" y="15"/>
                    </a:cubicBezTo>
                    <a:cubicBezTo>
                      <a:pt x="22" y="17"/>
                      <a:pt x="24" y="18"/>
                      <a:pt x="27" y="21"/>
                    </a:cubicBezTo>
                    <a:cubicBezTo>
                      <a:pt x="30" y="24"/>
                      <a:pt x="35" y="26"/>
                      <a:pt x="41" y="28"/>
                    </a:cubicBezTo>
                    <a:cubicBezTo>
                      <a:pt x="43" y="29"/>
                      <a:pt x="47" y="30"/>
                      <a:pt x="49" y="31"/>
                    </a:cubicBezTo>
                    <a:cubicBezTo>
                      <a:pt x="48" y="32"/>
                      <a:pt x="48" y="32"/>
                      <a:pt x="48" y="32"/>
                    </a:cubicBezTo>
                    <a:cubicBezTo>
                      <a:pt x="41" y="38"/>
                      <a:pt x="39" y="40"/>
                      <a:pt x="35" y="48"/>
                    </a:cubicBezTo>
                    <a:cubicBezTo>
                      <a:pt x="32" y="55"/>
                      <a:pt x="26" y="72"/>
                      <a:pt x="26" y="73"/>
                    </a:cubicBezTo>
                    <a:cubicBezTo>
                      <a:pt x="25" y="75"/>
                      <a:pt x="26" y="78"/>
                      <a:pt x="29" y="79"/>
                    </a:cubicBezTo>
                    <a:cubicBezTo>
                      <a:pt x="29" y="79"/>
                      <a:pt x="30" y="79"/>
                      <a:pt x="30" y="79"/>
                    </a:cubicBezTo>
                    <a:cubicBezTo>
                      <a:pt x="32" y="79"/>
                      <a:pt x="34" y="78"/>
                      <a:pt x="35" y="76"/>
                    </a:cubicBezTo>
                    <a:cubicBezTo>
                      <a:pt x="35" y="76"/>
                      <a:pt x="41" y="59"/>
                      <a:pt x="44" y="52"/>
                    </a:cubicBezTo>
                    <a:cubicBezTo>
                      <a:pt x="47" y="46"/>
                      <a:pt x="48" y="45"/>
                      <a:pt x="55" y="39"/>
                    </a:cubicBezTo>
                    <a:cubicBezTo>
                      <a:pt x="57" y="38"/>
                      <a:pt x="57" y="38"/>
                      <a:pt x="57" y="38"/>
                    </a:cubicBezTo>
                    <a:cubicBezTo>
                      <a:pt x="60" y="35"/>
                      <a:pt x="60" y="32"/>
                      <a:pt x="60" y="30"/>
                    </a:cubicBezTo>
                    <a:cubicBezTo>
                      <a:pt x="59" y="24"/>
                      <a:pt x="52" y="21"/>
                      <a:pt x="44" y="18"/>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grpSp>
      <p:grpSp>
        <p:nvGrpSpPr>
          <p:cNvPr id="17" name="Group 16">
            <a:extLst>
              <a:ext uri="{FF2B5EF4-FFF2-40B4-BE49-F238E27FC236}">
                <a16:creationId xmlns:a16="http://schemas.microsoft.com/office/drawing/2014/main" id="{EC3BD4A9-934C-4413-F1FB-51CBFE068638}"/>
              </a:ext>
            </a:extLst>
          </p:cNvPr>
          <p:cNvGrpSpPr/>
          <p:nvPr/>
        </p:nvGrpSpPr>
        <p:grpSpPr>
          <a:xfrm>
            <a:off x="7130724" y="2466012"/>
            <a:ext cx="484380" cy="484380"/>
            <a:chOff x="7130724" y="2466012"/>
            <a:chExt cx="484380" cy="484380"/>
          </a:xfrm>
        </p:grpSpPr>
        <p:sp>
          <p:nvSpPr>
            <p:cNvPr id="268" name="Oval 267">
              <a:extLst>
                <a:ext uri="{FF2B5EF4-FFF2-40B4-BE49-F238E27FC236}">
                  <a16:creationId xmlns:a16="http://schemas.microsoft.com/office/drawing/2014/main" id="{F5BC51CA-13DB-3E54-47FE-9AC8AB8FD99F}"/>
                </a:ext>
              </a:extLst>
            </p:cNvPr>
            <p:cNvSpPr/>
            <p:nvPr/>
          </p:nvSpPr>
          <p:spPr>
            <a:xfrm>
              <a:off x="7130724" y="2466012"/>
              <a:ext cx="484380" cy="484380"/>
            </a:xfrm>
            <a:prstGeom prst="ellipse">
              <a:avLst/>
            </a:prstGeom>
            <a:solidFill>
              <a:schemeClr val="bg1"/>
            </a:solidFill>
            <a:ln w="28575">
              <a:solidFill>
                <a:srgbClr val="00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2">
                <a:defRPr/>
              </a:pPr>
              <a:endParaRPr lang="en-US" sz="1798">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01" name="Group 300">
              <a:extLst>
                <a:ext uri="{FF2B5EF4-FFF2-40B4-BE49-F238E27FC236}">
                  <a16:creationId xmlns:a16="http://schemas.microsoft.com/office/drawing/2014/main" id="{3D6DAFC6-1A54-C3C8-C469-56BF02718624}"/>
                </a:ext>
              </a:extLst>
            </p:cNvPr>
            <p:cNvGrpSpPr>
              <a:grpSpLocks noChangeAspect="1"/>
            </p:cNvGrpSpPr>
            <p:nvPr/>
          </p:nvGrpSpPr>
          <p:grpSpPr>
            <a:xfrm>
              <a:off x="7182973" y="2571113"/>
              <a:ext cx="379883" cy="274178"/>
              <a:chOff x="7635876" y="1039813"/>
              <a:chExt cx="547687" cy="395288"/>
            </a:xfrm>
          </p:grpSpPr>
          <p:sp>
            <p:nvSpPr>
              <p:cNvPr id="302" name="Freeform 371">
                <a:extLst>
                  <a:ext uri="{FF2B5EF4-FFF2-40B4-BE49-F238E27FC236}">
                    <a16:creationId xmlns:a16="http://schemas.microsoft.com/office/drawing/2014/main" id="{949B7103-9FAB-DB19-9F3E-AD8E71E3DA8F}"/>
                  </a:ext>
                </a:extLst>
              </p:cNvPr>
              <p:cNvSpPr>
                <a:spLocks noEditPoints="1"/>
              </p:cNvSpPr>
              <p:nvPr/>
            </p:nvSpPr>
            <p:spPr bwMode="auto">
              <a:xfrm>
                <a:off x="7635876" y="1039813"/>
                <a:ext cx="398463" cy="395288"/>
              </a:xfrm>
              <a:custGeom>
                <a:avLst/>
                <a:gdLst>
                  <a:gd name="T0" fmla="*/ 166 w 173"/>
                  <a:gd name="T1" fmla="*/ 131 h 172"/>
                  <a:gd name="T2" fmla="*/ 111 w 173"/>
                  <a:gd name="T3" fmla="*/ 104 h 172"/>
                  <a:gd name="T4" fmla="*/ 111 w 173"/>
                  <a:gd name="T5" fmla="*/ 99 h 172"/>
                  <a:gd name="T6" fmla="*/ 123 w 173"/>
                  <a:gd name="T7" fmla="*/ 77 h 172"/>
                  <a:gd name="T8" fmla="*/ 129 w 173"/>
                  <a:gd name="T9" fmla="*/ 63 h 172"/>
                  <a:gd name="T10" fmla="*/ 126 w 173"/>
                  <a:gd name="T11" fmla="*/ 53 h 172"/>
                  <a:gd name="T12" fmla="*/ 126 w 173"/>
                  <a:gd name="T13" fmla="*/ 37 h 172"/>
                  <a:gd name="T14" fmla="*/ 86 w 173"/>
                  <a:gd name="T15" fmla="*/ 0 h 172"/>
                  <a:gd name="T16" fmla="*/ 47 w 173"/>
                  <a:gd name="T17" fmla="*/ 37 h 172"/>
                  <a:gd name="T18" fmla="*/ 47 w 173"/>
                  <a:gd name="T19" fmla="*/ 53 h 172"/>
                  <a:gd name="T20" fmla="*/ 44 w 173"/>
                  <a:gd name="T21" fmla="*/ 63 h 172"/>
                  <a:gd name="T22" fmla="*/ 50 w 173"/>
                  <a:gd name="T23" fmla="*/ 77 h 172"/>
                  <a:gd name="T24" fmla="*/ 62 w 173"/>
                  <a:gd name="T25" fmla="*/ 99 h 172"/>
                  <a:gd name="T26" fmla="*/ 62 w 173"/>
                  <a:gd name="T27" fmla="*/ 104 h 172"/>
                  <a:gd name="T28" fmla="*/ 7 w 173"/>
                  <a:gd name="T29" fmla="*/ 131 h 172"/>
                  <a:gd name="T30" fmla="*/ 0 w 173"/>
                  <a:gd name="T31" fmla="*/ 141 h 172"/>
                  <a:gd name="T32" fmla="*/ 0 w 173"/>
                  <a:gd name="T33" fmla="*/ 162 h 172"/>
                  <a:gd name="T34" fmla="*/ 11 w 173"/>
                  <a:gd name="T35" fmla="*/ 172 h 172"/>
                  <a:gd name="T36" fmla="*/ 162 w 173"/>
                  <a:gd name="T37" fmla="*/ 172 h 172"/>
                  <a:gd name="T38" fmla="*/ 173 w 173"/>
                  <a:gd name="T39" fmla="*/ 162 h 172"/>
                  <a:gd name="T40" fmla="*/ 173 w 173"/>
                  <a:gd name="T41" fmla="*/ 141 h 172"/>
                  <a:gd name="T42" fmla="*/ 166 w 173"/>
                  <a:gd name="T43" fmla="*/ 131 h 172"/>
                  <a:gd name="T44" fmla="*/ 163 w 173"/>
                  <a:gd name="T45" fmla="*/ 162 h 172"/>
                  <a:gd name="T46" fmla="*/ 162 w 173"/>
                  <a:gd name="T47" fmla="*/ 163 h 172"/>
                  <a:gd name="T48" fmla="*/ 11 w 173"/>
                  <a:gd name="T49" fmla="*/ 163 h 172"/>
                  <a:gd name="T50" fmla="*/ 10 w 173"/>
                  <a:gd name="T51" fmla="*/ 162 h 172"/>
                  <a:gd name="T52" fmla="*/ 10 w 173"/>
                  <a:gd name="T53" fmla="*/ 141 h 172"/>
                  <a:gd name="T54" fmla="*/ 10 w 173"/>
                  <a:gd name="T55" fmla="*/ 140 h 172"/>
                  <a:gd name="T56" fmla="*/ 71 w 173"/>
                  <a:gd name="T57" fmla="*/ 106 h 172"/>
                  <a:gd name="T58" fmla="*/ 71 w 173"/>
                  <a:gd name="T59" fmla="*/ 105 h 172"/>
                  <a:gd name="T60" fmla="*/ 71 w 173"/>
                  <a:gd name="T61" fmla="*/ 97 h 172"/>
                  <a:gd name="T62" fmla="*/ 70 w 173"/>
                  <a:gd name="T63" fmla="*/ 93 h 172"/>
                  <a:gd name="T64" fmla="*/ 59 w 173"/>
                  <a:gd name="T65" fmla="*/ 73 h 172"/>
                  <a:gd name="T66" fmla="*/ 57 w 173"/>
                  <a:gd name="T67" fmla="*/ 70 h 172"/>
                  <a:gd name="T68" fmla="*/ 53 w 173"/>
                  <a:gd name="T69" fmla="*/ 63 h 172"/>
                  <a:gd name="T70" fmla="*/ 55 w 173"/>
                  <a:gd name="T71" fmla="*/ 58 h 172"/>
                  <a:gd name="T72" fmla="*/ 56 w 173"/>
                  <a:gd name="T73" fmla="*/ 55 h 172"/>
                  <a:gd name="T74" fmla="*/ 56 w 173"/>
                  <a:gd name="T75" fmla="*/ 37 h 172"/>
                  <a:gd name="T76" fmla="*/ 86 w 173"/>
                  <a:gd name="T77" fmla="*/ 9 h 172"/>
                  <a:gd name="T78" fmla="*/ 116 w 173"/>
                  <a:gd name="T79" fmla="*/ 37 h 172"/>
                  <a:gd name="T80" fmla="*/ 116 w 173"/>
                  <a:gd name="T81" fmla="*/ 55 h 172"/>
                  <a:gd name="T82" fmla="*/ 118 w 173"/>
                  <a:gd name="T83" fmla="*/ 58 h 172"/>
                  <a:gd name="T84" fmla="*/ 119 w 173"/>
                  <a:gd name="T85" fmla="*/ 63 h 172"/>
                  <a:gd name="T86" fmla="*/ 116 w 173"/>
                  <a:gd name="T87" fmla="*/ 70 h 172"/>
                  <a:gd name="T88" fmla="*/ 114 w 173"/>
                  <a:gd name="T89" fmla="*/ 73 h 172"/>
                  <a:gd name="T90" fmla="*/ 103 w 173"/>
                  <a:gd name="T91" fmla="*/ 93 h 172"/>
                  <a:gd name="T92" fmla="*/ 102 w 173"/>
                  <a:gd name="T93" fmla="*/ 97 h 172"/>
                  <a:gd name="T94" fmla="*/ 102 w 173"/>
                  <a:gd name="T95" fmla="*/ 105 h 172"/>
                  <a:gd name="T96" fmla="*/ 102 w 173"/>
                  <a:gd name="T97" fmla="*/ 106 h 172"/>
                  <a:gd name="T98" fmla="*/ 162 w 173"/>
                  <a:gd name="T99" fmla="*/ 140 h 172"/>
                  <a:gd name="T100" fmla="*/ 163 w 173"/>
                  <a:gd name="T101" fmla="*/ 141 h 172"/>
                  <a:gd name="T102" fmla="*/ 163 w 173"/>
                  <a:gd name="T103" fmla="*/ 16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3" h="172">
                    <a:moveTo>
                      <a:pt x="166" y="131"/>
                    </a:moveTo>
                    <a:cubicBezTo>
                      <a:pt x="121" y="114"/>
                      <a:pt x="113" y="106"/>
                      <a:pt x="111" y="104"/>
                    </a:cubicBezTo>
                    <a:cubicBezTo>
                      <a:pt x="111" y="99"/>
                      <a:pt x="111" y="99"/>
                      <a:pt x="111" y="99"/>
                    </a:cubicBezTo>
                    <a:cubicBezTo>
                      <a:pt x="116" y="93"/>
                      <a:pt x="120" y="86"/>
                      <a:pt x="123" y="77"/>
                    </a:cubicBezTo>
                    <a:cubicBezTo>
                      <a:pt x="127" y="74"/>
                      <a:pt x="129" y="69"/>
                      <a:pt x="129" y="63"/>
                    </a:cubicBezTo>
                    <a:cubicBezTo>
                      <a:pt x="129" y="60"/>
                      <a:pt x="128" y="56"/>
                      <a:pt x="126" y="53"/>
                    </a:cubicBezTo>
                    <a:cubicBezTo>
                      <a:pt x="126" y="37"/>
                      <a:pt x="126" y="37"/>
                      <a:pt x="126" y="37"/>
                    </a:cubicBezTo>
                    <a:cubicBezTo>
                      <a:pt x="126" y="13"/>
                      <a:pt x="112" y="0"/>
                      <a:pt x="86" y="0"/>
                    </a:cubicBezTo>
                    <a:cubicBezTo>
                      <a:pt x="62" y="0"/>
                      <a:pt x="47" y="14"/>
                      <a:pt x="47" y="37"/>
                    </a:cubicBezTo>
                    <a:cubicBezTo>
                      <a:pt x="47" y="53"/>
                      <a:pt x="47" y="53"/>
                      <a:pt x="47" y="53"/>
                    </a:cubicBezTo>
                    <a:cubicBezTo>
                      <a:pt x="45" y="56"/>
                      <a:pt x="44" y="60"/>
                      <a:pt x="44" y="63"/>
                    </a:cubicBezTo>
                    <a:cubicBezTo>
                      <a:pt x="44" y="69"/>
                      <a:pt x="46" y="74"/>
                      <a:pt x="50" y="77"/>
                    </a:cubicBezTo>
                    <a:cubicBezTo>
                      <a:pt x="53" y="86"/>
                      <a:pt x="57" y="93"/>
                      <a:pt x="62" y="99"/>
                    </a:cubicBezTo>
                    <a:cubicBezTo>
                      <a:pt x="62" y="104"/>
                      <a:pt x="62" y="104"/>
                      <a:pt x="62" y="104"/>
                    </a:cubicBezTo>
                    <a:cubicBezTo>
                      <a:pt x="60" y="106"/>
                      <a:pt x="52" y="114"/>
                      <a:pt x="7" y="131"/>
                    </a:cubicBezTo>
                    <a:cubicBezTo>
                      <a:pt x="3" y="133"/>
                      <a:pt x="0" y="137"/>
                      <a:pt x="0" y="141"/>
                    </a:cubicBezTo>
                    <a:cubicBezTo>
                      <a:pt x="0" y="162"/>
                      <a:pt x="0" y="162"/>
                      <a:pt x="0" y="162"/>
                    </a:cubicBezTo>
                    <a:cubicBezTo>
                      <a:pt x="0" y="168"/>
                      <a:pt x="5" y="172"/>
                      <a:pt x="11" y="172"/>
                    </a:cubicBezTo>
                    <a:cubicBezTo>
                      <a:pt x="162" y="172"/>
                      <a:pt x="162" y="172"/>
                      <a:pt x="162" y="172"/>
                    </a:cubicBezTo>
                    <a:cubicBezTo>
                      <a:pt x="168" y="172"/>
                      <a:pt x="173" y="168"/>
                      <a:pt x="173" y="162"/>
                    </a:cubicBezTo>
                    <a:cubicBezTo>
                      <a:pt x="173" y="141"/>
                      <a:pt x="173" y="141"/>
                      <a:pt x="173" y="141"/>
                    </a:cubicBezTo>
                    <a:cubicBezTo>
                      <a:pt x="173" y="137"/>
                      <a:pt x="170" y="133"/>
                      <a:pt x="166" y="131"/>
                    </a:cubicBezTo>
                    <a:close/>
                    <a:moveTo>
                      <a:pt x="163" y="162"/>
                    </a:moveTo>
                    <a:cubicBezTo>
                      <a:pt x="163" y="162"/>
                      <a:pt x="163" y="163"/>
                      <a:pt x="162" y="163"/>
                    </a:cubicBezTo>
                    <a:cubicBezTo>
                      <a:pt x="11" y="163"/>
                      <a:pt x="11" y="163"/>
                      <a:pt x="11" y="163"/>
                    </a:cubicBezTo>
                    <a:cubicBezTo>
                      <a:pt x="10" y="163"/>
                      <a:pt x="10" y="162"/>
                      <a:pt x="10" y="162"/>
                    </a:cubicBezTo>
                    <a:cubicBezTo>
                      <a:pt x="10" y="141"/>
                      <a:pt x="10" y="141"/>
                      <a:pt x="10" y="141"/>
                    </a:cubicBezTo>
                    <a:cubicBezTo>
                      <a:pt x="10" y="141"/>
                      <a:pt x="10" y="140"/>
                      <a:pt x="10" y="140"/>
                    </a:cubicBezTo>
                    <a:cubicBezTo>
                      <a:pt x="61" y="121"/>
                      <a:pt x="69" y="112"/>
                      <a:pt x="71" y="106"/>
                    </a:cubicBezTo>
                    <a:cubicBezTo>
                      <a:pt x="71" y="106"/>
                      <a:pt x="71" y="106"/>
                      <a:pt x="71" y="105"/>
                    </a:cubicBezTo>
                    <a:cubicBezTo>
                      <a:pt x="71" y="97"/>
                      <a:pt x="71" y="97"/>
                      <a:pt x="71" y="97"/>
                    </a:cubicBezTo>
                    <a:cubicBezTo>
                      <a:pt x="71" y="96"/>
                      <a:pt x="71" y="94"/>
                      <a:pt x="70" y="93"/>
                    </a:cubicBezTo>
                    <a:cubicBezTo>
                      <a:pt x="65" y="88"/>
                      <a:pt x="61" y="81"/>
                      <a:pt x="59" y="73"/>
                    </a:cubicBezTo>
                    <a:cubicBezTo>
                      <a:pt x="59" y="72"/>
                      <a:pt x="58" y="71"/>
                      <a:pt x="57" y="70"/>
                    </a:cubicBezTo>
                    <a:cubicBezTo>
                      <a:pt x="55" y="69"/>
                      <a:pt x="53" y="66"/>
                      <a:pt x="53" y="63"/>
                    </a:cubicBezTo>
                    <a:cubicBezTo>
                      <a:pt x="53" y="61"/>
                      <a:pt x="54" y="59"/>
                      <a:pt x="55" y="58"/>
                    </a:cubicBezTo>
                    <a:cubicBezTo>
                      <a:pt x="56" y="57"/>
                      <a:pt x="56" y="56"/>
                      <a:pt x="56" y="55"/>
                    </a:cubicBezTo>
                    <a:cubicBezTo>
                      <a:pt x="56" y="37"/>
                      <a:pt x="56" y="37"/>
                      <a:pt x="56" y="37"/>
                    </a:cubicBezTo>
                    <a:cubicBezTo>
                      <a:pt x="56" y="19"/>
                      <a:pt x="67" y="9"/>
                      <a:pt x="86" y="9"/>
                    </a:cubicBezTo>
                    <a:cubicBezTo>
                      <a:pt x="106" y="9"/>
                      <a:pt x="116" y="19"/>
                      <a:pt x="116" y="37"/>
                    </a:cubicBezTo>
                    <a:cubicBezTo>
                      <a:pt x="116" y="55"/>
                      <a:pt x="116" y="55"/>
                      <a:pt x="116" y="55"/>
                    </a:cubicBezTo>
                    <a:cubicBezTo>
                      <a:pt x="116" y="56"/>
                      <a:pt x="117" y="57"/>
                      <a:pt x="118" y="58"/>
                    </a:cubicBezTo>
                    <a:cubicBezTo>
                      <a:pt x="118" y="59"/>
                      <a:pt x="119" y="61"/>
                      <a:pt x="119" y="63"/>
                    </a:cubicBezTo>
                    <a:cubicBezTo>
                      <a:pt x="119" y="66"/>
                      <a:pt x="118" y="69"/>
                      <a:pt x="116" y="70"/>
                    </a:cubicBezTo>
                    <a:cubicBezTo>
                      <a:pt x="115" y="71"/>
                      <a:pt x="114" y="72"/>
                      <a:pt x="114" y="73"/>
                    </a:cubicBezTo>
                    <a:cubicBezTo>
                      <a:pt x="112" y="81"/>
                      <a:pt x="108" y="88"/>
                      <a:pt x="103" y="93"/>
                    </a:cubicBezTo>
                    <a:cubicBezTo>
                      <a:pt x="102" y="94"/>
                      <a:pt x="102" y="96"/>
                      <a:pt x="102" y="97"/>
                    </a:cubicBezTo>
                    <a:cubicBezTo>
                      <a:pt x="102" y="105"/>
                      <a:pt x="102" y="105"/>
                      <a:pt x="102" y="105"/>
                    </a:cubicBezTo>
                    <a:cubicBezTo>
                      <a:pt x="102" y="106"/>
                      <a:pt x="102" y="106"/>
                      <a:pt x="102" y="106"/>
                    </a:cubicBezTo>
                    <a:cubicBezTo>
                      <a:pt x="104" y="112"/>
                      <a:pt x="112" y="121"/>
                      <a:pt x="162" y="140"/>
                    </a:cubicBezTo>
                    <a:cubicBezTo>
                      <a:pt x="163" y="140"/>
                      <a:pt x="163" y="141"/>
                      <a:pt x="163" y="141"/>
                    </a:cubicBezTo>
                    <a:lnTo>
                      <a:pt x="163" y="162"/>
                    </a:ln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3" name="Freeform 372">
                <a:extLst>
                  <a:ext uri="{FF2B5EF4-FFF2-40B4-BE49-F238E27FC236}">
                    <a16:creationId xmlns:a16="http://schemas.microsoft.com/office/drawing/2014/main" id="{AC303141-FF54-A7EF-6E15-D6466E45BE95}"/>
                  </a:ext>
                </a:extLst>
              </p:cNvPr>
              <p:cNvSpPr>
                <a:spLocks/>
              </p:cNvSpPr>
              <p:nvPr/>
            </p:nvSpPr>
            <p:spPr bwMode="auto">
              <a:xfrm>
                <a:off x="7932738" y="1062038"/>
                <a:ext cx="250825" cy="373063"/>
              </a:xfrm>
              <a:custGeom>
                <a:avLst/>
                <a:gdLst>
                  <a:gd name="T0" fmla="*/ 102 w 109"/>
                  <a:gd name="T1" fmla="*/ 123 h 162"/>
                  <a:gd name="T2" fmla="*/ 69 w 109"/>
                  <a:gd name="T3" fmla="*/ 115 h 162"/>
                  <a:gd name="T4" fmla="*/ 51 w 109"/>
                  <a:gd name="T5" fmla="*/ 110 h 162"/>
                  <a:gd name="T6" fmla="*/ 51 w 109"/>
                  <a:gd name="T7" fmla="*/ 105 h 162"/>
                  <a:gd name="T8" fmla="*/ 84 w 109"/>
                  <a:gd name="T9" fmla="*/ 96 h 162"/>
                  <a:gd name="T10" fmla="*/ 85 w 109"/>
                  <a:gd name="T11" fmla="*/ 92 h 162"/>
                  <a:gd name="T12" fmla="*/ 83 w 109"/>
                  <a:gd name="T13" fmla="*/ 89 h 162"/>
                  <a:gd name="T14" fmla="*/ 72 w 109"/>
                  <a:gd name="T15" fmla="*/ 47 h 162"/>
                  <a:gd name="T16" fmla="*/ 57 w 109"/>
                  <a:gd name="T17" fmla="*/ 12 h 162"/>
                  <a:gd name="T18" fmla="*/ 43 w 109"/>
                  <a:gd name="T19" fmla="*/ 3 h 162"/>
                  <a:gd name="T20" fmla="*/ 13 w 109"/>
                  <a:gd name="T21" fmla="*/ 4 h 162"/>
                  <a:gd name="T22" fmla="*/ 2 w 109"/>
                  <a:gd name="T23" fmla="*/ 9 h 162"/>
                  <a:gd name="T24" fmla="*/ 2 w 109"/>
                  <a:gd name="T25" fmla="*/ 16 h 162"/>
                  <a:gd name="T26" fmla="*/ 8 w 109"/>
                  <a:gd name="T27" fmla="*/ 17 h 162"/>
                  <a:gd name="T28" fmla="*/ 16 w 109"/>
                  <a:gd name="T29" fmla="*/ 13 h 162"/>
                  <a:gd name="T30" fmla="*/ 40 w 109"/>
                  <a:gd name="T31" fmla="*/ 12 h 162"/>
                  <a:gd name="T32" fmla="*/ 50 w 109"/>
                  <a:gd name="T33" fmla="*/ 19 h 162"/>
                  <a:gd name="T34" fmla="*/ 51 w 109"/>
                  <a:gd name="T35" fmla="*/ 19 h 162"/>
                  <a:gd name="T36" fmla="*/ 62 w 109"/>
                  <a:gd name="T37" fmla="*/ 47 h 162"/>
                  <a:gd name="T38" fmla="*/ 73 w 109"/>
                  <a:gd name="T39" fmla="*/ 91 h 162"/>
                  <a:gd name="T40" fmla="*/ 47 w 109"/>
                  <a:gd name="T41" fmla="*/ 96 h 162"/>
                  <a:gd name="T42" fmla="*/ 42 w 109"/>
                  <a:gd name="T43" fmla="*/ 101 h 162"/>
                  <a:gd name="T44" fmla="*/ 42 w 109"/>
                  <a:gd name="T45" fmla="*/ 112 h 162"/>
                  <a:gd name="T46" fmla="*/ 42 w 109"/>
                  <a:gd name="T47" fmla="*/ 113 h 162"/>
                  <a:gd name="T48" fmla="*/ 67 w 109"/>
                  <a:gd name="T49" fmla="*/ 124 h 162"/>
                  <a:gd name="T50" fmla="*/ 99 w 109"/>
                  <a:gd name="T51" fmla="*/ 132 h 162"/>
                  <a:gd name="T52" fmla="*/ 99 w 109"/>
                  <a:gd name="T53" fmla="*/ 133 h 162"/>
                  <a:gd name="T54" fmla="*/ 99 w 109"/>
                  <a:gd name="T55" fmla="*/ 152 h 162"/>
                  <a:gd name="T56" fmla="*/ 98 w 109"/>
                  <a:gd name="T57" fmla="*/ 153 h 162"/>
                  <a:gd name="T58" fmla="*/ 57 w 109"/>
                  <a:gd name="T59" fmla="*/ 153 h 162"/>
                  <a:gd name="T60" fmla="*/ 53 w 109"/>
                  <a:gd name="T61" fmla="*/ 158 h 162"/>
                  <a:gd name="T62" fmla="*/ 57 w 109"/>
                  <a:gd name="T63" fmla="*/ 162 h 162"/>
                  <a:gd name="T64" fmla="*/ 98 w 109"/>
                  <a:gd name="T65" fmla="*/ 162 h 162"/>
                  <a:gd name="T66" fmla="*/ 109 w 109"/>
                  <a:gd name="T67" fmla="*/ 152 h 162"/>
                  <a:gd name="T68" fmla="*/ 109 w 109"/>
                  <a:gd name="T69" fmla="*/ 133 h 162"/>
                  <a:gd name="T70" fmla="*/ 102 w 109"/>
                  <a:gd name="T71" fmla="*/ 12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9" h="162">
                    <a:moveTo>
                      <a:pt x="102" y="123"/>
                    </a:moveTo>
                    <a:cubicBezTo>
                      <a:pt x="91" y="119"/>
                      <a:pt x="79" y="117"/>
                      <a:pt x="69" y="115"/>
                    </a:cubicBezTo>
                    <a:cubicBezTo>
                      <a:pt x="62" y="114"/>
                      <a:pt x="53" y="112"/>
                      <a:pt x="51" y="110"/>
                    </a:cubicBezTo>
                    <a:cubicBezTo>
                      <a:pt x="51" y="105"/>
                      <a:pt x="51" y="105"/>
                      <a:pt x="51" y="105"/>
                    </a:cubicBezTo>
                    <a:cubicBezTo>
                      <a:pt x="74" y="104"/>
                      <a:pt x="83" y="97"/>
                      <a:pt x="84" y="96"/>
                    </a:cubicBezTo>
                    <a:cubicBezTo>
                      <a:pt x="85" y="95"/>
                      <a:pt x="86" y="94"/>
                      <a:pt x="85" y="92"/>
                    </a:cubicBezTo>
                    <a:cubicBezTo>
                      <a:pt x="85" y="91"/>
                      <a:pt x="84" y="89"/>
                      <a:pt x="83" y="89"/>
                    </a:cubicBezTo>
                    <a:cubicBezTo>
                      <a:pt x="78" y="86"/>
                      <a:pt x="73" y="65"/>
                      <a:pt x="72" y="47"/>
                    </a:cubicBezTo>
                    <a:cubicBezTo>
                      <a:pt x="72" y="34"/>
                      <a:pt x="67" y="21"/>
                      <a:pt x="57" y="12"/>
                    </a:cubicBezTo>
                    <a:cubicBezTo>
                      <a:pt x="54" y="8"/>
                      <a:pt x="49" y="5"/>
                      <a:pt x="43" y="3"/>
                    </a:cubicBezTo>
                    <a:cubicBezTo>
                      <a:pt x="33" y="0"/>
                      <a:pt x="22" y="0"/>
                      <a:pt x="13" y="4"/>
                    </a:cubicBezTo>
                    <a:cubicBezTo>
                      <a:pt x="9" y="5"/>
                      <a:pt x="5" y="7"/>
                      <a:pt x="2" y="9"/>
                    </a:cubicBezTo>
                    <a:cubicBezTo>
                      <a:pt x="0" y="11"/>
                      <a:pt x="0" y="14"/>
                      <a:pt x="2" y="16"/>
                    </a:cubicBezTo>
                    <a:cubicBezTo>
                      <a:pt x="3" y="18"/>
                      <a:pt x="6" y="18"/>
                      <a:pt x="8" y="17"/>
                    </a:cubicBezTo>
                    <a:cubicBezTo>
                      <a:pt x="10" y="15"/>
                      <a:pt x="13" y="14"/>
                      <a:pt x="16" y="13"/>
                    </a:cubicBezTo>
                    <a:cubicBezTo>
                      <a:pt x="24" y="10"/>
                      <a:pt x="31" y="9"/>
                      <a:pt x="40" y="12"/>
                    </a:cubicBezTo>
                    <a:cubicBezTo>
                      <a:pt x="44" y="14"/>
                      <a:pt x="48" y="16"/>
                      <a:pt x="50" y="19"/>
                    </a:cubicBezTo>
                    <a:cubicBezTo>
                      <a:pt x="50" y="19"/>
                      <a:pt x="50" y="19"/>
                      <a:pt x="51" y="19"/>
                    </a:cubicBezTo>
                    <a:cubicBezTo>
                      <a:pt x="58" y="26"/>
                      <a:pt x="62" y="36"/>
                      <a:pt x="62" y="47"/>
                    </a:cubicBezTo>
                    <a:cubicBezTo>
                      <a:pt x="63" y="55"/>
                      <a:pt x="66" y="80"/>
                      <a:pt x="73" y="91"/>
                    </a:cubicBezTo>
                    <a:cubicBezTo>
                      <a:pt x="68" y="93"/>
                      <a:pt x="60" y="96"/>
                      <a:pt x="47" y="96"/>
                    </a:cubicBezTo>
                    <a:cubicBezTo>
                      <a:pt x="44" y="96"/>
                      <a:pt x="42" y="98"/>
                      <a:pt x="42" y="101"/>
                    </a:cubicBezTo>
                    <a:cubicBezTo>
                      <a:pt x="42" y="112"/>
                      <a:pt x="42" y="112"/>
                      <a:pt x="42" y="112"/>
                    </a:cubicBezTo>
                    <a:cubicBezTo>
                      <a:pt x="42" y="112"/>
                      <a:pt x="42" y="113"/>
                      <a:pt x="42" y="113"/>
                    </a:cubicBezTo>
                    <a:cubicBezTo>
                      <a:pt x="44" y="120"/>
                      <a:pt x="53" y="122"/>
                      <a:pt x="67" y="124"/>
                    </a:cubicBezTo>
                    <a:cubicBezTo>
                      <a:pt x="76" y="126"/>
                      <a:pt x="88" y="128"/>
                      <a:pt x="99" y="132"/>
                    </a:cubicBezTo>
                    <a:cubicBezTo>
                      <a:pt x="99" y="132"/>
                      <a:pt x="99" y="133"/>
                      <a:pt x="99" y="133"/>
                    </a:cubicBezTo>
                    <a:cubicBezTo>
                      <a:pt x="99" y="152"/>
                      <a:pt x="99" y="152"/>
                      <a:pt x="99" y="152"/>
                    </a:cubicBezTo>
                    <a:cubicBezTo>
                      <a:pt x="99" y="152"/>
                      <a:pt x="99" y="153"/>
                      <a:pt x="98" y="153"/>
                    </a:cubicBezTo>
                    <a:cubicBezTo>
                      <a:pt x="57" y="153"/>
                      <a:pt x="57" y="153"/>
                      <a:pt x="57" y="153"/>
                    </a:cubicBezTo>
                    <a:cubicBezTo>
                      <a:pt x="55" y="153"/>
                      <a:pt x="53" y="155"/>
                      <a:pt x="53" y="158"/>
                    </a:cubicBezTo>
                    <a:cubicBezTo>
                      <a:pt x="53" y="160"/>
                      <a:pt x="55" y="162"/>
                      <a:pt x="57" y="162"/>
                    </a:cubicBezTo>
                    <a:cubicBezTo>
                      <a:pt x="98" y="162"/>
                      <a:pt x="98" y="162"/>
                      <a:pt x="98" y="162"/>
                    </a:cubicBezTo>
                    <a:cubicBezTo>
                      <a:pt x="104" y="162"/>
                      <a:pt x="109" y="158"/>
                      <a:pt x="109" y="152"/>
                    </a:cubicBezTo>
                    <a:cubicBezTo>
                      <a:pt x="109" y="133"/>
                      <a:pt x="109" y="133"/>
                      <a:pt x="109" y="133"/>
                    </a:cubicBezTo>
                    <a:cubicBezTo>
                      <a:pt x="109" y="129"/>
                      <a:pt x="106" y="125"/>
                      <a:pt x="102" y="123"/>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grpSp>
      <p:grpSp>
        <p:nvGrpSpPr>
          <p:cNvPr id="14" name="Group 13">
            <a:extLst>
              <a:ext uri="{FF2B5EF4-FFF2-40B4-BE49-F238E27FC236}">
                <a16:creationId xmlns:a16="http://schemas.microsoft.com/office/drawing/2014/main" id="{4439B878-F6DC-16BE-A5BB-24852B46960A}"/>
              </a:ext>
            </a:extLst>
          </p:cNvPr>
          <p:cNvGrpSpPr/>
          <p:nvPr/>
        </p:nvGrpSpPr>
        <p:grpSpPr>
          <a:xfrm>
            <a:off x="4802739" y="3505806"/>
            <a:ext cx="484380" cy="484380"/>
            <a:chOff x="4802739" y="3505806"/>
            <a:chExt cx="484380" cy="484380"/>
          </a:xfrm>
        </p:grpSpPr>
        <p:sp>
          <p:nvSpPr>
            <p:cNvPr id="270" name="Oval 269">
              <a:extLst>
                <a:ext uri="{FF2B5EF4-FFF2-40B4-BE49-F238E27FC236}">
                  <a16:creationId xmlns:a16="http://schemas.microsoft.com/office/drawing/2014/main" id="{E25F7A3E-1220-934E-54B5-B5B3DA35CD7B}"/>
                </a:ext>
              </a:extLst>
            </p:cNvPr>
            <p:cNvSpPr/>
            <p:nvPr/>
          </p:nvSpPr>
          <p:spPr>
            <a:xfrm>
              <a:off x="4802739" y="3505806"/>
              <a:ext cx="484380" cy="484380"/>
            </a:xfrm>
            <a:prstGeom prst="ellipse">
              <a:avLst/>
            </a:prstGeom>
            <a:solidFill>
              <a:schemeClr val="bg1"/>
            </a:solidFill>
            <a:ln w="28575">
              <a:solidFill>
                <a:srgbClr val="00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2">
                <a:defRPr/>
              </a:pPr>
              <a:endParaRPr lang="en-US" sz="1798">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04" name="Group 303">
              <a:extLst>
                <a:ext uri="{FF2B5EF4-FFF2-40B4-BE49-F238E27FC236}">
                  <a16:creationId xmlns:a16="http://schemas.microsoft.com/office/drawing/2014/main" id="{7B19CE69-70A0-32E7-D79B-C19136EA2CF8}"/>
                </a:ext>
              </a:extLst>
            </p:cNvPr>
            <p:cNvGrpSpPr>
              <a:grpSpLocks noChangeAspect="1"/>
            </p:cNvGrpSpPr>
            <p:nvPr/>
          </p:nvGrpSpPr>
          <p:grpSpPr>
            <a:xfrm>
              <a:off x="4907840" y="3634287"/>
              <a:ext cx="274179" cy="227162"/>
              <a:chOff x="12530138" y="6573838"/>
              <a:chExt cx="444500" cy="368301"/>
            </a:xfrm>
          </p:grpSpPr>
          <p:sp>
            <p:nvSpPr>
              <p:cNvPr id="305" name="Freeform 595">
                <a:extLst>
                  <a:ext uri="{FF2B5EF4-FFF2-40B4-BE49-F238E27FC236}">
                    <a16:creationId xmlns:a16="http://schemas.microsoft.com/office/drawing/2014/main" id="{3ACFB966-0217-F606-5E7C-539062B689E2}"/>
                  </a:ext>
                </a:extLst>
              </p:cNvPr>
              <p:cNvSpPr>
                <a:spLocks/>
              </p:cNvSpPr>
              <p:nvPr/>
            </p:nvSpPr>
            <p:spPr bwMode="auto">
              <a:xfrm>
                <a:off x="12666663" y="6899276"/>
                <a:ext cx="307975" cy="22225"/>
              </a:xfrm>
              <a:custGeom>
                <a:avLst/>
                <a:gdLst>
                  <a:gd name="T0" fmla="*/ 130 w 135"/>
                  <a:gd name="T1" fmla="*/ 0 h 10"/>
                  <a:gd name="T2" fmla="*/ 5 w 135"/>
                  <a:gd name="T3" fmla="*/ 0 h 10"/>
                  <a:gd name="T4" fmla="*/ 0 w 135"/>
                  <a:gd name="T5" fmla="*/ 5 h 10"/>
                  <a:gd name="T6" fmla="*/ 5 w 135"/>
                  <a:gd name="T7" fmla="*/ 10 h 10"/>
                  <a:gd name="T8" fmla="*/ 130 w 135"/>
                  <a:gd name="T9" fmla="*/ 10 h 10"/>
                  <a:gd name="T10" fmla="*/ 135 w 135"/>
                  <a:gd name="T11" fmla="*/ 5 h 10"/>
                  <a:gd name="T12" fmla="*/ 130 w 135"/>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35" h="10">
                    <a:moveTo>
                      <a:pt x="130" y="0"/>
                    </a:moveTo>
                    <a:cubicBezTo>
                      <a:pt x="5" y="0"/>
                      <a:pt x="5" y="0"/>
                      <a:pt x="5" y="0"/>
                    </a:cubicBezTo>
                    <a:cubicBezTo>
                      <a:pt x="2" y="0"/>
                      <a:pt x="0" y="3"/>
                      <a:pt x="0" y="5"/>
                    </a:cubicBezTo>
                    <a:cubicBezTo>
                      <a:pt x="0" y="8"/>
                      <a:pt x="2" y="10"/>
                      <a:pt x="5" y="10"/>
                    </a:cubicBezTo>
                    <a:cubicBezTo>
                      <a:pt x="130" y="10"/>
                      <a:pt x="130" y="10"/>
                      <a:pt x="130" y="10"/>
                    </a:cubicBezTo>
                    <a:cubicBezTo>
                      <a:pt x="133" y="10"/>
                      <a:pt x="135" y="8"/>
                      <a:pt x="135" y="5"/>
                    </a:cubicBezTo>
                    <a:cubicBezTo>
                      <a:pt x="135" y="3"/>
                      <a:pt x="133" y="0"/>
                      <a:pt x="130" y="0"/>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6" name="Freeform 596">
                <a:extLst>
                  <a:ext uri="{FF2B5EF4-FFF2-40B4-BE49-F238E27FC236}">
                    <a16:creationId xmlns:a16="http://schemas.microsoft.com/office/drawing/2014/main" id="{808770D0-7C3F-D899-AFCE-49C27CE93773}"/>
                  </a:ext>
                </a:extLst>
              </p:cNvPr>
              <p:cNvSpPr>
                <a:spLocks/>
              </p:cNvSpPr>
              <p:nvPr/>
            </p:nvSpPr>
            <p:spPr bwMode="auto">
              <a:xfrm>
                <a:off x="12666663" y="6748463"/>
                <a:ext cx="307975" cy="22225"/>
              </a:xfrm>
              <a:custGeom>
                <a:avLst/>
                <a:gdLst>
                  <a:gd name="T0" fmla="*/ 130 w 135"/>
                  <a:gd name="T1" fmla="*/ 0 h 10"/>
                  <a:gd name="T2" fmla="*/ 5 w 135"/>
                  <a:gd name="T3" fmla="*/ 0 h 10"/>
                  <a:gd name="T4" fmla="*/ 0 w 135"/>
                  <a:gd name="T5" fmla="*/ 5 h 10"/>
                  <a:gd name="T6" fmla="*/ 5 w 135"/>
                  <a:gd name="T7" fmla="*/ 10 h 10"/>
                  <a:gd name="T8" fmla="*/ 130 w 135"/>
                  <a:gd name="T9" fmla="*/ 10 h 10"/>
                  <a:gd name="T10" fmla="*/ 135 w 135"/>
                  <a:gd name="T11" fmla="*/ 5 h 10"/>
                  <a:gd name="T12" fmla="*/ 130 w 135"/>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35" h="10">
                    <a:moveTo>
                      <a:pt x="130" y="0"/>
                    </a:moveTo>
                    <a:cubicBezTo>
                      <a:pt x="5" y="0"/>
                      <a:pt x="5" y="0"/>
                      <a:pt x="5" y="0"/>
                    </a:cubicBezTo>
                    <a:cubicBezTo>
                      <a:pt x="2" y="0"/>
                      <a:pt x="0" y="2"/>
                      <a:pt x="0" y="5"/>
                    </a:cubicBezTo>
                    <a:cubicBezTo>
                      <a:pt x="0" y="7"/>
                      <a:pt x="2" y="10"/>
                      <a:pt x="5" y="10"/>
                    </a:cubicBezTo>
                    <a:cubicBezTo>
                      <a:pt x="130" y="10"/>
                      <a:pt x="130" y="10"/>
                      <a:pt x="130" y="10"/>
                    </a:cubicBezTo>
                    <a:cubicBezTo>
                      <a:pt x="133" y="10"/>
                      <a:pt x="135" y="7"/>
                      <a:pt x="135" y="5"/>
                    </a:cubicBezTo>
                    <a:cubicBezTo>
                      <a:pt x="135" y="2"/>
                      <a:pt x="133" y="0"/>
                      <a:pt x="130" y="0"/>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7" name="Freeform 597">
                <a:extLst>
                  <a:ext uri="{FF2B5EF4-FFF2-40B4-BE49-F238E27FC236}">
                    <a16:creationId xmlns:a16="http://schemas.microsoft.com/office/drawing/2014/main" id="{DAE9B893-4BAF-2720-14CD-5548A9DD4AD1}"/>
                  </a:ext>
                </a:extLst>
              </p:cNvPr>
              <p:cNvSpPr>
                <a:spLocks/>
              </p:cNvSpPr>
              <p:nvPr/>
            </p:nvSpPr>
            <p:spPr bwMode="auto">
              <a:xfrm>
                <a:off x="12666663" y="6594476"/>
                <a:ext cx="307975" cy="22225"/>
              </a:xfrm>
              <a:custGeom>
                <a:avLst/>
                <a:gdLst>
                  <a:gd name="T0" fmla="*/ 5 w 135"/>
                  <a:gd name="T1" fmla="*/ 10 h 10"/>
                  <a:gd name="T2" fmla="*/ 130 w 135"/>
                  <a:gd name="T3" fmla="*/ 10 h 10"/>
                  <a:gd name="T4" fmla="*/ 135 w 135"/>
                  <a:gd name="T5" fmla="*/ 5 h 10"/>
                  <a:gd name="T6" fmla="*/ 130 w 135"/>
                  <a:gd name="T7" fmla="*/ 0 h 10"/>
                  <a:gd name="T8" fmla="*/ 5 w 135"/>
                  <a:gd name="T9" fmla="*/ 0 h 10"/>
                  <a:gd name="T10" fmla="*/ 0 w 135"/>
                  <a:gd name="T11" fmla="*/ 5 h 10"/>
                  <a:gd name="T12" fmla="*/ 5 w 135"/>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35" h="10">
                    <a:moveTo>
                      <a:pt x="5" y="10"/>
                    </a:moveTo>
                    <a:cubicBezTo>
                      <a:pt x="130" y="10"/>
                      <a:pt x="130" y="10"/>
                      <a:pt x="130" y="10"/>
                    </a:cubicBezTo>
                    <a:cubicBezTo>
                      <a:pt x="133" y="10"/>
                      <a:pt x="135" y="8"/>
                      <a:pt x="135" y="5"/>
                    </a:cubicBezTo>
                    <a:cubicBezTo>
                      <a:pt x="135" y="2"/>
                      <a:pt x="133" y="0"/>
                      <a:pt x="130" y="0"/>
                    </a:cubicBezTo>
                    <a:cubicBezTo>
                      <a:pt x="5" y="0"/>
                      <a:pt x="5" y="0"/>
                      <a:pt x="5" y="0"/>
                    </a:cubicBezTo>
                    <a:cubicBezTo>
                      <a:pt x="2" y="0"/>
                      <a:pt x="0" y="2"/>
                      <a:pt x="0" y="5"/>
                    </a:cubicBezTo>
                    <a:cubicBezTo>
                      <a:pt x="0" y="8"/>
                      <a:pt x="2" y="10"/>
                      <a:pt x="5" y="10"/>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8" name="Freeform 598">
                <a:extLst>
                  <a:ext uri="{FF2B5EF4-FFF2-40B4-BE49-F238E27FC236}">
                    <a16:creationId xmlns:a16="http://schemas.microsoft.com/office/drawing/2014/main" id="{750F605F-714B-2508-14F6-81EAFEC25315}"/>
                  </a:ext>
                </a:extLst>
              </p:cNvPr>
              <p:cNvSpPr>
                <a:spLocks/>
              </p:cNvSpPr>
              <p:nvPr/>
            </p:nvSpPr>
            <p:spPr bwMode="auto">
              <a:xfrm>
                <a:off x="12530138" y="6573838"/>
                <a:ext cx="61913" cy="61913"/>
              </a:xfrm>
              <a:custGeom>
                <a:avLst/>
                <a:gdLst>
                  <a:gd name="T0" fmla="*/ 23 w 27"/>
                  <a:gd name="T1" fmla="*/ 0 h 27"/>
                  <a:gd name="T2" fmla="*/ 5 w 27"/>
                  <a:gd name="T3" fmla="*/ 0 h 27"/>
                  <a:gd name="T4" fmla="*/ 0 w 27"/>
                  <a:gd name="T5" fmla="*/ 5 h 27"/>
                  <a:gd name="T6" fmla="*/ 0 w 27"/>
                  <a:gd name="T7" fmla="*/ 23 h 27"/>
                  <a:gd name="T8" fmla="*/ 5 w 27"/>
                  <a:gd name="T9" fmla="*/ 27 h 27"/>
                  <a:gd name="T10" fmla="*/ 23 w 27"/>
                  <a:gd name="T11" fmla="*/ 27 h 27"/>
                  <a:gd name="T12" fmla="*/ 27 w 27"/>
                  <a:gd name="T13" fmla="*/ 23 h 27"/>
                  <a:gd name="T14" fmla="*/ 27 w 27"/>
                  <a:gd name="T15" fmla="*/ 5 h 27"/>
                  <a:gd name="T16" fmla="*/ 23 w 27"/>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7">
                    <a:moveTo>
                      <a:pt x="23" y="0"/>
                    </a:moveTo>
                    <a:cubicBezTo>
                      <a:pt x="5" y="0"/>
                      <a:pt x="5" y="0"/>
                      <a:pt x="5" y="0"/>
                    </a:cubicBezTo>
                    <a:cubicBezTo>
                      <a:pt x="3" y="0"/>
                      <a:pt x="0" y="3"/>
                      <a:pt x="0" y="5"/>
                    </a:cubicBezTo>
                    <a:cubicBezTo>
                      <a:pt x="0" y="23"/>
                      <a:pt x="0" y="23"/>
                      <a:pt x="0" y="23"/>
                    </a:cubicBezTo>
                    <a:cubicBezTo>
                      <a:pt x="0" y="25"/>
                      <a:pt x="3" y="27"/>
                      <a:pt x="5" y="27"/>
                    </a:cubicBezTo>
                    <a:cubicBezTo>
                      <a:pt x="23" y="27"/>
                      <a:pt x="23" y="27"/>
                      <a:pt x="23" y="27"/>
                    </a:cubicBezTo>
                    <a:cubicBezTo>
                      <a:pt x="25" y="27"/>
                      <a:pt x="27" y="25"/>
                      <a:pt x="27" y="23"/>
                    </a:cubicBezTo>
                    <a:cubicBezTo>
                      <a:pt x="27" y="5"/>
                      <a:pt x="27" y="5"/>
                      <a:pt x="27" y="5"/>
                    </a:cubicBezTo>
                    <a:cubicBezTo>
                      <a:pt x="27" y="3"/>
                      <a:pt x="25" y="0"/>
                      <a:pt x="23" y="0"/>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9" name="Freeform 599">
                <a:extLst>
                  <a:ext uri="{FF2B5EF4-FFF2-40B4-BE49-F238E27FC236}">
                    <a16:creationId xmlns:a16="http://schemas.microsoft.com/office/drawing/2014/main" id="{3A1526C9-9DA9-87ED-7CD2-17828DB2506F}"/>
                  </a:ext>
                </a:extLst>
              </p:cNvPr>
              <p:cNvSpPr>
                <a:spLocks/>
              </p:cNvSpPr>
              <p:nvPr/>
            </p:nvSpPr>
            <p:spPr bwMode="auto">
              <a:xfrm>
                <a:off x="12530138" y="6727826"/>
                <a:ext cx="61913" cy="60325"/>
              </a:xfrm>
              <a:custGeom>
                <a:avLst/>
                <a:gdLst>
                  <a:gd name="T0" fmla="*/ 23 w 27"/>
                  <a:gd name="T1" fmla="*/ 0 h 27"/>
                  <a:gd name="T2" fmla="*/ 5 w 27"/>
                  <a:gd name="T3" fmla="*/ 0 h 27"/>
                  <a:gd name="T4" fmla="*/ 0 w 27"/>
                  <a:gd name="T5" fmla="*/ 5 h 27"/>
                  <a:gd name="T6" fmla="*/ 0 w 27"/>
                  <a:gd name="T7" fmla="*/ 22 h 27"/>
                  <a:gd name="T8" fmla="*/ 5 w 27"/>
                  <a:gd name="T9" fmla="*/ 27 h 27"/>
                  <a:gd name="T10" fmla="*/ 23 w 27"/>
                  <a:gd name="T11" fmla="*/ 27 h 27"/>
                  <a:gd name="T12" fmla="*/ 27 w 27"/>
                  <a:gd name="T13" fmla="*/ 22 h 27"/>
                  <a:gd name="T14" fmla="*/ 27 w 27"/>
                  <a:gd name="T15" fmla="*/ 5 h 27"/>
                  <a:gd name="T16" fmla="*/ 23 w 27"/>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7">
                    <a:moveTo>
                      <a:pt x="23" y="0"/>
                    </a:moveTo>
                    <a:cubicBezTo>
                      <a:pt x="5" y="0"/>
                      <a:pt x="5" y="0"/>
                      <a:pt x="5" y="0"/>
                    </a:cubicBezTo>
                    <a:cubicBezTo>
                      <a:pt x="3" y="0"/>
                      <a:pt x="0" y="2"/>
                      <a:pt x="0" y="5"/>
                    </a:cubicBezTo>
                    <a:cubicBezTo>
                      <a:pt x="0" y="22"/>
                      <a:pt x="0" y="22"/>
                      <a:pt x="0" y="22"/>
                    </a:cubicBezTo>
                    <a:cubicBezTo>
                      <a:pt x="0" y="25"/>
                      <a:pt x="3" y="27"/>
                      <a:pt x="5" y="27"/>
                    </a:cubicBezTo>
                    <a:cubicBezTo>
                      <a:pt x="23" y="27"/>
                      <a:pt x="23" y="27"/>
                      <a:pt x="23" y="27"/>
                    </a:cubicBezTo>
                    <a:cubicBezTo>
                      <a:pt x="25" y="27"/>
                      <a:pt x="27" y="25"/>
                      <a:pt x="27" y="22"/>
                    </a:cubicBezTo>
                    <a:cubicBezTo>
                      <a:pt x="27" y="5"/>
                      <a:pt x="27" y="5"/>
                      <a:pt x="27" y="5"/>
                    </a:cubicBezTo>
                    <a:cubicBezTo>
                      <a:pt x="27" y="2"/>
                      <a:pt x="25" y="0"/>
                      <a:pt x="23" y="0"/>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0" name="Freeform 600">
                <a:extLst>
                  <a:ext uri="{FF2B5EF4-FFF2-40B4-BE49-F238E27FC236}">
                    <a16:creationId xmlns:a16="http://schemas.microsoft.com/office/drawing/2014/main" id="{CAF1B03D-2345-6B2E-95BF-3D82E0C91837}"/>
                  </a:ext>
                </a:extLst>
              </p:cNvPr>
              <p:cNvSpPr>
                <a:spLocks/>
              </p:cNvSpPr>
              <p:nvPr/>
            </p:nvSpPr>
            <p:spPr bwMode="auto">
              <a:xfrm>
                <a:off x="12530138" y="6880226"/>
                <a:ext cx="61913" cy="61913"/>
              </a:xfrm>
              <a:custGeom>
                <a:avLst/>
                <a:gdLst>
                  <a:gd name="T0" fmla="*/ 23 w 27"/>
                  <a:gd name="T1" fmla="*/ 0 h 27"/>
                  <a:gd name="T2" fmla="*/ 5 w 27"/>
                  <a:gd name="T3" fmla="*/ 0 h 27"/>
                  <a:gd name="T4" fmla="*/ 0 w 27"/>
                  <a:gd name="T5" fmla="*/ 5 h 27"/>
                  <a:gd name="T6" fmla="*/ 0 w 27"/>
                  <a:gd name="T7" fmla="*/ 22 h 27"/>
                  <a:gd name="T8" fmla="*/ 5 w 27"/>
                  <a:gd name="T9" fmla="*/ 27 h 27"/>
                  <a:gd name="T10" fmla="*/ 23 w 27"/>
                  <a:gd name="T11" fmla="*/ 27 h 27"/>
                  <a:gd name="T12" fmla="*/ 27 w 27"/>
                  <a:gd name="T13" fmla="*/ 22 h 27"/>
                  <a:gd name="T14" fmla="*/ 27 w 27"/>
                  <a:gd name="T15" fmla="*/ 5 h 27"/>
                  <a:gd name="T16" fmla="*/ 23 w 27"/>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7">
                    <a:moveTo>
                      <a:pt x="23" y="0"/>
                    </a:moveTo>
                    <a:cubicBezTo>
                      <a:pt x="5" y="0"/>
                      <a:pt x="5" y="0"/>
                      <a:pt x="5" y="0"/>
                    </a:cubicBezTo>
                    <a:cubicBezTo>
                      <a:pt x="3" y="0"/>
                      <a:pt x="0" y="2"/>
                      <a:pt x="0" y="5"/>
                    </a:cubicBezTo>
                    <a:cubicBezTo>
                      <a:pt x="0" y="22"/>
                      <a:pt x="0" y="22"/>
                      <a:pt x="0" y="22"/>
                    </a:cubicBezTo>
                    <a:cubicBezTo>
                      <a:pt x="0" y="25"/>
                      <a:pt x="3" y="27"/>
                      <a:pt x="5" y="27"/>
                    </a:cubicBezTo>
                    <a:cubicBezTo>
                      <a:pt x="23" y="27"/>
                      <a:pt x="23" y="27"/>
                      <a:pt x="23" y="27"/>
                    </a:cubicBezTo>
                    <a:cubicBezTo>
                      <a:pt x="25" y="27"/>
                      <a:pt x="27" y="25"/>
                      <a:pt x="27" y="22"/>
                    </a:cubicBezTo>
                    <a:cubicBezTo>
                      <a:pt x="27" y="5"/>
                      <a:pt x="27" y="5"/>
                      <a:pt x="27" y="5"/>
                    </a:cubicBezTo>
                    <a:cubicBezTo>
                      <a:pt x="27" y="2"/>
                      <a:pt x="25" y="0"/>
                      <a:pt x="23" y="0"/>
                    </a:cubicBezTo>
                    <a:close/>
                  </a:path>
                </a:pathLst>
              </a:custGeom>
              <a:solidFill>
                <a:srgbClr val="231F2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grpSp>
      <p:grpSp>
        <p:nvGrpSpPr>
          <p:cNvPr id="311" name="Group 310">
            <a:extLst>
              <a:ext uri="{FF2B5EF4-FFF2-40B4-BE49-F238E27FC236}">
                <a16:creationId xmlns:a16="http://schemas.microsoft.com/office/drawing/2014/main" id="{83970379-0B7B-02BA-B2FD-8334D24CC1AE}"/>
              </a:ext>
            </a:extLst>
          </p:cNvPr>
          <p:cNvGrpSpPr/>
          <p:nvPr/>
        </p:nvGrpSpPr>
        <p:grpSpPr>
          <a:xfrm>
            <a:off x="4529732" y="5807610"/>
            <a:ext cx="3121587" cy="707702"/>
            <a:chOff x="4613024" y="5733911"/>
            <a:chExt cx="3122400" cy="707886"/>
          </a:xfrm>
        </p:grpSpPr>
        <p:sp>
          <p:nvSpPr>
            <p:cNvPr id="312" name="TextBox 311">
              <a:extLst>
                <a:ext uri="{FF2B5EF4-FFF2-40B4-BE49-F238E27FC236}">
                  <a16:creationId xmlns:a16="http://schemas.microsoft.com/office/drawing/2014/main" id="{5F7AFA7F-E946-6466-00D3-9EE024351B37}"/>
                </a:ext>
              </a:extLst>
            </p:cNvPr>
            <p:cNvSpPr txBox="1"/>
            <p:nvPr/>
          </p:nvSpPr>
          <p:spPr>
            <a:xfrm>
              <a:off x="5267187" y="5733911"/>
              <a:ext cx="2468237" cy="707886"/>
            </a:xfrm>
            <a:prstGeom prst="rect">
              <a:avLst/>
            </a:prstGeom>
            <a:noFill/>
          </p:spPr>
          <p:txBody>
            <a:bodyPr wrap="square" rtlCol="0" anchor="t">
              <a:spAutoFit/>
            </a:bodyPr>
            <a:lstStyle/>
            <a:p>
              <a:pPr defTabSz="913852">
                <a:defRPr/>
              </a:pPr>
              <a:r>
                <a:rPr lang="en-US" sz="1000" b="1">
                  <a:solidFill>
                    <a:srgbClr val="000000"/>
                  </a:solidFill>
                  <a:latin typeface="Open Sans" panose="020B0606030504020204" pitchFamily="34" charset="0"/>
                  <a:ea typeface="Open Sans" panose="020B0606030504020204" pitchFamily="34" charset="0"/>
                  <a:cs typeface="Open Sans" panose="020B0606030504020204" pitchFamily="34" charset="0"/>
                </a:rPr>
                <a:t>KNOWLEDGE GRAPH BASED RECOMMENDATION</a:t>
              </a:r>
            </a:p>
            <a:p>
              <a:pPr defTabSz="913852">
                <a:defRPr/>
              </a:pPr>
              <a:r>
                <a:rPr lang="en-US" sz="1000">
                  <a:solidFill>
                    <a:srgbClr val="000000"/>
                  </a:solidFill>
                  <a:latin typeface="Open Sans" panose="020B0606030504020204" pitchFamily="34" charset="0"/>
                  <a:ea typeface="Open Sans" panose="020B0606030504020204" pitchFamily="34" charset="0"/>
                  <a:cs typeface="Open Sans" panose="020B0606030504020204" pitchFamily="34" charset="0"/>
                </a:rPr>
                <a:t>Recommends related entities utilizing auto generated knowledge graph</a:t>
              </a:r>
            </a:p>
          </p:txBody>
        </p:sp>
        <p:grpSp>
          <p:nvGrpSpPr>
            <p:cNvPr id="313" name="Group 312">
              <a:extLst>
                <a:ext uri="{FF2B5EF4-FFF2-40B4-BE49-F238E27FC236}">
                  <a16:creationId xmlns:a16="http://schemas.microsoft.com/office/drawing/2014/main" id="{EB203A4B-5E92-93C6-F478-C9C4AB7C1F33}"/>
                </a:ext>
              </a:extLst>
            </p:cNvPr>
            <p:cNvGrpSpPr/>
            <p:nvPr/>
          </p:nvGrpSpPr>
          <p:grpSpPr>
            <a:xfrm>
              <a:off x="4613024" y="5850613"/>
              <a:ext cx="499933" cy="473329"/>
              <a:chOff x="11415713" y="7085013"/>
              <a:chExt cx="566737" cy="536576"/>
            </a:xfrm>
            <a:solidFill>
              <a:schemeClr val="accent2">
                <a:lumMod val="75000"/>
              </a:schemeClr>
            </a:solidFill>
          </p:grpSpPr>
          <p:sp>
            <p:nvSpPr>
              <p:cNvPr id="314" name="Freeform 619">
                <a:extLst>
                  <a:ext uri="{FF2B5EF4-FFF2-40B4-BE49-F238E27FC236}">
                    <a16:creationId xmlns:a16="http://schemas.microsoft.com/office/drawing/2014/main" id="{BD3F31BA-9AFE-9E09-37B6-A2DA2A1980C1}"/>
                  </a:ext>
                </a:extLst>
              </p:cNvPr>
              <p:cNvSpPr>
                <a:spLocks noEditPoints="1"/>
              </p:cNvSpPr>
              <p:nvPr/>
            </p:nvSpPr>
            <p:spPr bwMode="auto">
              <a:xfrm>
                <a:off x="11415713" y="7466013"/>
                <a:ext cx="160337" cy="155575"/>
              </a:xfrm>
              <a:custGeom>
                <a:avLst/>
                <a:gdLst>
                  <a:gd name="T0" fmla="*/ 58 w 70"/>
                  <a:gd name="T1" fmla="*/ 0 h 68"/>
                  <a:gd name="T2" fmla="*/ 12 w 70"/>
                  <a:gd name="T3" fmla="*/ 0 h 68"/>
                  <a:gd name="T4" fmla="*/ 0 w 70"/>
                  <a:gd name="T5" fmla="*/ 12 h 68"/>
                  <a:gd name="T6" fmla="*/ 0 w 70"/>
                  <a:gd name="T7" fmla="*/ 56 h 68"/>
                  <a:gd name="T8" fmla="*/ 12 w 70"/>
                  <a:gd name="T9" fmla="*/ 68 h 68"/>
                  <a:gd name="T10" fmla="*/ 58 w 70"/>
                  <a:gd name="T11" fmla="*/ 68 h 68"/>
                  <a:gd name="T12" fmla="*/ 70 w 70"/>
                  <a:gd name="T13" fmla="*/ 56 h 68"/>
                  <a:gd name="T14" fmla="*/ 70 w 70"/>
                  <a:gd name="T15" fmla="*/ 12 h 68"/>
                  <a:gd name="T16" fmla="*/ 58 w 70"/>
                  <a:gd name="T17" fmla="*/ 0 h 68"/>
                  <a:gd name="T18" fmla="*/ 60 w 70"/>
                  <a:gd name="T19" fmla="*/ 56 h 68"/>
                  <a:gd name="T20" fmla="*/ 58 w 70"/>
                  <a:gd name="T21" fmla="*/ 58 h 68"/>
                  <a:gd name="T22" fmla="*/ 12 w 70"/>
                  <a:gd name="T23" fmla="*/ 58 h 68"/>
                  <a:gd name="T24" fmla="*/ 10 w 70"/>
                  <a:gd name="T25" fmla="*/ 56 h 68"/>
                  <a:gd name="T26" fmla="*/ 10 w 70"/>
                  <a:gd name="T27" fmla="*/ 12 h 68"/>
                  <a:gd name="T28" fmla="*/ 12 w 70"/>
                  <a:gd name="T29" fmla="*/ 10 h 68"/>
                  <a:gd name="T30" fmla="*/ 58 w 70"/>
                  <a:gd name="T31" fmla="*/ 10 h 68"/>
                  <a:gd name="T32" fmla="*/ 60 w 70"/>
                  <a:gd name="T33" fmla="*/ 12 h 68"/>
                  <a:gd name="T34" fmla="*/ 60 w 70"/>
                  <a:gd name="T35" fmla="*/ 5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0" h="68">
                    <a:moveTo>
                      <a:pt x="58" y="0"/>
                    </a:moveTo>
                    <a:cubicBezTo>
                      <a:pt x="12" y="0"/>
                      <a:pt x="12" y="0"/>
                      <a:pt x="12" y="0"/>
                    </a:cubicBezTo>
                    <a:cubicBezTo>
                      <a:pt x="6" y="0"/>
                      <a:pt x="0" y="6"/>
                      <a:pt x="0" y="12"/>
                    </a:cubicBezTo>
                    <a:cubicBezTo>
                      <a:pt x="0" y="56"/>
                      <a:pt x="0" y="56"/>
                      <a:pt x="0" y="56"/>
                    </a:cubicBezTo>
                    <a:cubicBezTo>
                      <a:pt x="0" y="63"/>
                      <a:pt x="6" y="68"/>
                      <a:pt x="12" y="68"/>
                    </a:cubicBezTo>
                    <a:cubicBezTo>
                      <a:pt x="58" y="68"/>
                      <a:pt x="58" y="68"/>
                      <a:pt x="58" y="68"/>
                    </a:cubicBezTo>
                    <a:cubicBezTo>
                      <a:pt x="65" y="68"/>
                      <a:pt x="70" y="63"/>
                      <a:pt x="70" y="56"/>
                    </a:cubicBezTo>
                    <a:cubicBezTo>
                      <a:pt x="70" y="12"/>
                      <a:pt x="70" y="12"/>
                      <a:pt x="70" y="12"/>
                    </a:cubicBezTo>
                    <a:cubicBezTo>
                      <a:pt x="70" y="6"/>
                      <a:pt x="65" y="0"/>
                      <a:pt x="58" y="0"/>
                    </a:cubicBezTo>
                    <a:close/>
                    <a:moveTo>
                      <a:pt x="60" y="56"/>
                    </a:moveTo>
                    <a:cubicBezTo>
                      <a:pt x="60" y="57"/>
                      <a:pt x="59" y="58"/>
                      <a:pt x="58" y="58"/>
                    </a:cubicBezTo>
                    <a:cubicBezTo>
                      <a:pt x="12" y="58"/>
                      <a:pt x="12" y="58"/>
                      <a:pt x="12" y="58"/>
                    </a:cubicBezTo>
                    <a:cubicBezTo>
                      <a:pt x="11" y="58"/>
                      <a:pt x="10" y="57"/>
                      <a:pt x="10" y="56"/>
                    </a:cubicBezTo>
                    <a:cubicBezTo>
                      <a:pt x="10" y="12"/>
                      <a:pt x="10" y="12"/>
                      <a:pt x="10" y="12"/>
                    </a:cubicBezTo>
                    <a:cubicBezTo>
                      <a:pt x="10" y="11"/>
                      <a:pt x="11" y="10"/>
                      <a:pt x="12" y="10"/>
                    </a:cubicBezTo>
                    <a:cubicBezTo>
                      <a:pt x="58" y="10"/>
                      <a:pt x="58" y="10"/>
                      <a:pt x="58" y="10"/>
                    </a:cubicBezTo>
                    <a:cubicBezTo>
                      <a:pt x="59" y="10"/>
                      <a:pt x="60" y="11"/>
                      <a:pt x="60" y="12"/>
                    </a:cubicBezTo>
                    <a:lnTo>
                      <a:pt x="60" y="56"/>
                    </a:ln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5" name="Freeform 620">
                <a:extLst>
                  <a:ext uri="{FF2B5EF4-FFF2-40B4-BE49-F238E27FC236}">
                    <a16:creationId xmlns:a16="http://schemas.microsoft.com/office/drawing/2014/main" id="{2639C81B-CFB2-A38C-5B76-37EB647CE046}"/>
                  </a:ext>
                </a:extLst>
              </p:cNvPr>
              <p:cNvSpPr>
                <a:spLocks noEditPoints="1"/>
              </p:cNvSpPr>
              <p:nvPr/>
            </p:nvSpPr>
            <p:spPr bwMode="auto">
              <a:xfrm>
                <a:off x="11618913" y="7337426"/>
                <a:ext cx="158750" cy="284163"/>
              </a:xfrm>
              <a:custGeom>
                <a:avLst/>
                <a:gdLst>
                  <a:gd name="T0" fmla="*/ 57 w 69"/>
                  <a:gd name="T1" fmla="*/ 0 h 124"/>
                  <a:gd name="T2" fmla="*/ 12 w 69"/>
                  <a:gd name="T3" fmla="*/ 0 h 124"/>
                  <a:gd name="T4" fmla="*/ 0 w 69"/>
                  <a:gd name="T5" fmla="*/ 12 h 124"/>
                  <a:gd name="T6" fmla="*/ 0 w 69"/>
                  <a:gd name="T7" fmla="*/ 112 h 124"/>
                  <a:gd name="T8" fmla="*/ 12 w 69"/>
                  <a:gd name="T9" fmla="*/ 124 h 124"/>
                  <a:gd name="T10" fmla="*/ 57 w 69"/>
                  <a:gd name="T11" fmla="*/ 124 h 124"/>
                  <a:gd name="T12" fmla="*/ 69 w 69"/>
                  <a:gd name="T13" fmla="*/ 112 h 124"/>
                  <a:gd name="T14" fmla="*/ 69 w 69"/>
                  <a:gd name="T15" fmla="*/ 12 h 124"/>
                  <a:gd name="T16" fmla="*/ 57 w 69"/>
                  <a:gd name="T17" fmla="*/ 0 h 124"/>
                  <a:gd name="T18" fmla="*/ 59 w 69"/>
                  <a:gd name="T19" fmla="*/ 112 h 124"/>
                  <a:gd name="T20" fmla="*/ 57 w 69"/>
                  <a:gd name="T21" fmla="*/ 114 h 124"/>
                  <a:gd name="T22" fmla="*/ 12 w 69"/>
                  <a:gd name="T23" fmla="*/ 114 h 124"/>
                  <a:gd name="T24" fmla="*/ 10 w 69"/>
                  <a:gd name="T25" fmla="*/ 112 h 124"/>
                  <a:gd name="T26" fmla="*/ 10 w 69"/>
                  <a:gd name="T27" fmla="*/ 12 h 124"/>
                  <a:gd name="T28" fmla="*/ 12 w 69"/>
                  <a:gd name="T29" fmla="*/ 10 h 124"/>
                  <a:gd name="T30" fmla="*/ 57 w 69"/>
                  <a:gd name="T31" fmla="*/ 10 h 124"/>
                  <a:gd name="T32" fmla="*/ 59 w 69"/>
                  <a:gd name="T33" fmla="*/ 12 h 124"/>
                  <a:gd name="T34" fmla="*/ 59 w 69"/>
                  <a:gd name="T35" fmla="*/ 11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124">
                    <a:moveTo>
                      <a:pt x="57" y="0"/>
                    </a:moveTo>
                    <a:cubicBezTo>
                      <a:pt x="12" y="0"/>
                      <a:pt x="12" y="0"/>
                      <a:pt x="12" y="0"/>
                    </a:cubicBezTo>
                    <a:cubicBezTo>
                      <a:pt x="5" y="0"/>
                      <a:pt x="0" y="6"/>
                      <a:pt x="0" y="12"/>
                    </a:cubicBezTo>
                    <a:cubicBezTo>
                      <a:pt x="0" y="112"/>
                      <a:pt x="0" y="112"/>
                      <a:pt x="0" y="112"/>
                    </a:cubicBezTo>
                    <a:cubicBezTo>
                      <a:pt x="0" y="119"/>
                      <a:pt x="5" y="124"/>
                      <a:pt x="12" y="124"/>
                    </a:cubicBezTo>
                    <a:cubicBezTo>
                      <a:pt x="57" y="124"/>
                      <a:pt x="57" y="124"/>
                      <a:pt x="57" y="124"/>
                    </a:cubicBezTo>
                    <a:cubicBezTo>
                      <a:pt x="64" y="124"/>
                      <a:pt x="69" y="119"/>
                      <a:pt x="69" y="112"/>
                    </a:cubicBezTo>
                    <a:cubicBezTo>
                      <a:pt x="69" y="12"/>
                      <a:pt x="69" y="12"/>
                      <a:pt x="69" y="12"/>
                    </a:cubicBezTo>
                    <a:cubicBezTo>
                      <a:pt x="69" y="6"/>
                      <a:pt x="64" y="0"/>
                      <a:pt x="57" y="0"/>
                    </a:cubicBezTo>
                    <a:close/>
                    <a:moveTo>
                      <a:pt x="59" y="112"/>
                    </a:moveTo>
                    <a:cubicBezTo>
                      <a:pt x="59" y="113"/>
                      <a:pt x="59" y="114"/>
                      <a:pt x="57" y="114"/>
                    </a:cubicBezTo>
                    <a:cubicBezTo>
                      <a:pt x="12" y="114"/>
                      <a:pt x="12" y="114"/>
                      <a:pt x="12" y="114"/>
                    </a:cubicBezTo>
                    <a:cubicBezTo>
                      <a:pt x="10" y="114"/>
                      <a:pt x="10" y="113"/>
                      <a:pt x="10" y="112"/>
                    </a:cubicBezTo>
                    <a:cubicBezTo>
                      <a:pt x="10" y="12"/>
                      <a:pt x="10" y="12"/>
                      <a:pt x="10" y="12"/>
                    </a:cubicBezTo>
                    <a:cubicBezTo>
                      <a:pt x="10" y="11"/>
                      <a:pt x="10" y="10"/>
                      <a:pt x="12" y="10"/>
                    </a:cubicBezTo>
                    <a:cubicBezTo>
                      <a:pt x="57" y="10"/>
                      <a:pt x="57" y="10"/>
                      <a:pt x="57" y="10"/>
                    </a:cubicBezTo>
                    <a:cubicBezTo>
                      <a:pt x="59" y="10"/>
                      <a:pt x="59" y="11"/>
                      <a:pt x="59" y="12"/>
                    </a:cubicBezTo>
                    <a:lnTo>
                      <a:pt x="59" y="112"/>
                    </a:ln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6" name="Freeform 621">
                <a:extLst>
                  <a:ext uri="{FF2B5EF4-FFF2-40B4-BE49-F238E27FC236}">
                    <a16:creationId xmlns:a16="http://schemas.microsoft.com/office/drawing/2014/main" id="{9CBE330B-0E78-0937-78A0-45B6E55105CB}"/>
                  </a:ext>
                </a:extLst>
              </p:cNvPr>
              <p:cNvSpPr>
                <a:spLocks noEditPoints="1"/>
              </p:cNvSpPr>
              <p:nvPr/>
            </p:nvSpPr>
            <p:spPr bwMode="auto">
              <a:xfrm>
                <a:off x="11822113" y="7116763"/>
                <a:ext cx="160337" cy="504825"/>
              </a:xfrm>
              <a:custGeom>
                <a:avLst/>
                <a:gdLst>
                  <a:gd name="T0" fmla="*/ 58 w 70"/>
                  <a:gd name="T1" fmla="*/ 0 h 220"/>
                  <a:gd name="T2" fmla="*/ 12 w 70"/>
                  <a:gd name="T3" fmla="*/ 0 h 220"/>
                  <a:gd name="T4" fmla="*/ 0 w 70"/>
                  <a:gd name="T5" fmla="*/ 12 h 220"/>
                  <a:gd name="T6" fmla="*/ 0 w 70"/>
                  <a:gd name="T7" fmla="*/ 208 h 220"/>
                  <a:gd name="T8" fmla="*/ 12 w 70"/>
                  <a:gd name="T9" fmla="*/ 220 h 220"/>
                  <a:gd name="T10" fmla="*/ 58 w 70"/>
                  <a:gd name="T11" fmla="*/ 220 h 220"/>
                  <a:gd name="T12" fmla="*/ 70 w 70"/>
                  <a:gd name="T13" fmla="*/ 208 h 220"/>
                  <a:gd name="T14" fmla="*/ 70 w 70"/>
                  <a:gd name="T15" fmla="*/ 12 h 220"/>
                  <a:gd name="T16" fmla="*/ 58 w 70"/>
                  <a:gd name="T17" fmla="*/ 0 h 220"/>
                  <a:gd name="T18" fmla="*/ 60 w 70"/>
                  <a:gd name="T19" fmla="*/ 208 h 220"/>
                  <a:gd name="T20" fmla="*/ 58 w 70"/>
                  <a:gd name="T21" fmla="*/ 210 h 220"/>
                  <a:gd name="T22" fmla="*/ 12 w 70"/>
                  <a:gd name="T23" fmla="*/ 210 h 220"/>
                  <a:gd name="T24" fmla="*/ 10 w 70"/>
                  <a:gd name="T25" fmla="*/ 208 h 220"/>
                  <a:gd name="T26" fmla="*/ 10 w 70"/>
                  <a:gd name="T27" fmla="*/ 12 h 220"/>
                  <a:gd name="T28" fmla="*/ 12 w 70"/>
                  <a:gd name="T29" fmla="*/ 10 h 220"/>
                  <a:gd name="T30" fmla="*/ 58 w 70"/>
                  <a:gd name="T31" fmla="*/ 10 h 220"/>
                  <a:gd name="T32" fmla="*/ 60 w 70"/>
                  <a:gd name="T33" fmla="*/ 12 h 220"/>
                  <a:gd name="T34" fmla="*/ 60 w 70"/>
                  <a:gd name="T35" fmla="*/ 20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0" h="220">
                    <a:moveTo>
                      <a:pt x="58" y="0"/>
                    </a:moveTo>
                    <a:cubicBezTo>
                      <a:pt x="12" y="0"/>
                      <a:pt x="12" y="0"/>
                      <a:pt x="12" y="0"/>
                    </a:cubicBezTo>
                    <a:cubicBezTo>
                      <a:pt x="5" y="0"/>
                      <a:pt x="0" y="5"/>
                      <a:pt x="0" y="12"/>
                    </a:cubicBezTo>
                    <a:cubicBezTo>
                      <a:pt x="0" y="208"/>
                      <a:pt x="0" y="208"/>
                      <a:pt x="0" y="208"/>
                    </a:cubicBezTo>
                    <a:cubicBezTo>
                      <a:pt x="0" y="215"/>
                      <a:pt x="5" y="220"/>
                      <a:pt x="12" y="220"/>
                    </a:cubicBezTo>
                    <a:cubicBezTo>
                      <a:pt x="58" y="220"/>
                      <a:pt x="58" y="220"/>
                      <a:pt x="58" y="220"/>
                    </a:cubicBezTo>
                    <a:cubicBezTo>
                      <a:pt x="64" y="220"/>
                      <a:pt x="70" y="215"/>
                      <a:pt x="70" y="208"/>
                    </a:cubicBezTo>
                    <a:cubicBezTo>
                      <a:pt x="70" y="12"/>
                      <a:pt x="70" y="12"/>
                      <a:pt x="70" y="12"/>
                    </a:cubicBezTo>
                    <a:cubicBezTo>
                      <a:pt x="70" y="5"/>
                      <a:pt x="64" y="0"/>
                      <a:pt x="58" y="0"/>
                    </a:cubicBezTo>
                    <a:close/>
                    <a:moveTo>
                      <a:pt x="60" y="208"/>
                    </a:moveTo>
                    <a:cubicBezTo>
                      <a:pt x="60" y="209"/>
                      <a:pt x="59" y="210"/>
                      <a:pt x="58" y="210"/>
                    </a:cubicBezTo>
                    <a:cubicBezTo>
                      <a:pt x="12" y="210"/>
                      <a:pt x="12" y="210"/>
                      <a:pt x="12" y="210"/>
                    </a:cubicBezTo>
                    <a:cubicBezTo>
                      <a:pt x="11" y="210"/>
                      <a:pt x="10" y="209"/>
                      <a:pt x="10" y="208"/>
                    </a:cubicBezTo>
                    <a:cubicBezTo>
                      <a:pt x="10" y="12"/>
                      <a:pt x="10" y="12"/>
                      <a:pt x="10" y="12"/>
                    </a:cubicBezTo>
                    <a:cubicBezTo>
                      <a:pt x="10" y="11"/>
                      <a:pt x="11" y="10"/>
                      <a:pt x="12" y="10"/>
                    </a:cubicBezTo>
                    <a:cubicBezTo>
                      <a:pt x="58" y="10"/>
                      <a:pt x="58" y="10"/>
                      <a:pt x="58" y="10"/>
                    </a:cubicBezTo>
                    <a:cubicBezTo>
                      <a:pt x="59" y="10"/>
                      <a:pt x="60" y="11"/>
                      <a:pt x="60" y="12"/>
                    </a:cubicBezTo>
                    <a:lnTo>
                      <a:pt x="60" y="208"/>
                    </a:ln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7" name="Freeform 622">
                <a:extLst>
                  <a:ext uri="{FF2B5EF4-FFF2-40B4-BE49-F238E27FC236}">
                    <a16:creationId xmlns:a16="http://schemas.microsoft.com/office/drawing/2014/main" id="{CDF40F7C-B9C8-03D6-764B-5FC59A93EB2F}"/>
                  </a:ext>
                </a:extLst>
              </p:cNvPr>
              <p:cNvSpPr>
                <a:spLocks/>
              </p:cNvSpPr>
              <p:nvPr/>
            </p:nvSpPr>
            <p:spPr bwMode="auto">
              <a:xfrm>
                <a:off x="11466513" y="7085013"/>
                <a:ext cx="242887" cy="242888"/>
              </a:xfrm>
              <a:custGeom>
                <a:avLst/>
                <a:gdLst>
                  <a:gd name="T0" fmla="*/ 5 w 106"/>
                  <a:gd name="T1" fmla="*/ 106 h 106"/>
                  <a:gd name="T2" fmla="*/ 9 w 106"/>
                  <a:gd name="T3" fmla="*/ 105 h 106"/>
                  <a:gd name="T4" fmla="*/ 96 w 106"/>
                  <a:gd name="T5" fmla="*/ 17 h 106"/>
                  <a:gd name="T6" fmla="*/ 96 w 106"/>
                  <a:gd name="T7" fmla="*/ 51 h 106"/>
                  <a:gd name="T8" fmla="*/ 101 w 106"/>
                  <a:gd name="T9" fmla="*/ 56 h 106"/>
                  <a:gd name="T10" fmla="*/ 106 w 106"/>
                  <a:gd name="T11" fmla="*/ 51 h 106"/>
                  <a:gd name="T12" fmla="*/ 106 w 106"/>
                  <a:gd name="T13" fmla="*/ 5 h 106"/>
                  <a:gd name="T14" fmla="*/ 106 w 106"/>
                  <a:gd name="T15" fmla="*/ 3 h 106"/>
                  <a:gd name="T16" fmla="*/ 103 w 106"/>
                  <a:gd name="T17" fmla="*/ 0 h 106"/>
                  <a:gd name="T18" fmla="*/ 101 w 106"/>
                  <a:gd name="T19" fmla="*/ 0 h 106"/>
                  <a:gd name="T20" fmla="*/ 55 w 106"/>
                  <a:gd name="T21" fmla="*/ 0 h 106"/>
                  <a:gd name="T22" fmla="*/ 50 w 106"/>
                  <a:gd name="T23" fmla="*/ 5 h 106"/>
                  <a:gd name="T24" fmla="*/ 55 w 106"/>
                  <a:gd name="T25" fmla="*/ 10 h 106"/>
                  <a:gd name="T26" fmla="*/ 89 w 106"/>
                  <a:gd name="T27" fmla="*/ 10 h 106"/>
                  <a:gd name="T28" fmla="*/ 2 w 106"/>
                  <a:gd name="T29" fmla="*/ 98 h 106"/>
                  <a:gd name="T30" fmla="*/ 2 w 106"/>
                  <a:gd name="T31" fmla="*/ 105 h 106"/>
                  <a:gd name="T32" fmla="*/ 5 w 106"/>
                  <a:gd name="T33"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106">
                    <a:moveTo>
                      <a:pt x="5" y="106"/>
                    </a:moveTo>
                    <a:cubicBezTo>
                      <a:pt x="6" y="106"/>
                      <a:pt x="8" y="106"/>
                      <a:pt x="9" y="105"/>
                    </a:cubicBezTo>
                    <a:cubicBezTo>
                      <a:pt x="96" y="17"/>
                      <a:pt x="96" y="17"/>
                      <a:pt x="96" y="17"/>
                    </a:cubicBezTo>
                    <a:cubicBezTo>
                      <a:pt x="96" y="51"/>
                      <a:pt x="96" y="51"/>
                      <a:pt x="96" y="51"/>
                    </a:cubicBezTo>
                    <a:cubicBezTo>
                      <a:pt x="96" y="54"/>
                      <a:pt x="98" y="56"/>
                      <a:pt x="101" y="56"/>
                    </a:cubicBezTo>
                    <a:cubicBezTo>
                      <a:pt x="104" y="56"/>
                      <a:pt x="106" y="54"/>
                      <a:pt x="106" y="51"/>
                    </a:cubicBezTo>
                    <a:cubicBezTo>
                      <a:pt x="106" y="5"/>
                      <a:pt x="106" y="5"/>
                      <a:pt x="106" y="5"/>
                    </a:cubicBezTo>
                    <a:cubicBezTo>
                      <a:pt x="106" y="4"/>
                      <a:pt x="106" y="4"/>
                      <a:pt x="106" y="3"/>
                    </a:cubicBezTo>
                    <a:cubicBezTo>
                      <a:pt x="105" y="2"/>
                      <a:pt x="104" y="1"/>
                      <a:pt x="103" y="0"/>
                    </a:cubicBezTo>
                    <a:cubicBezTo>
                      <a:pt x="102" y="0"/>
                      <a:pt x="102" y="0"/>
                      <a:pt x="101" y="0"/>
                    </a:cubicBezTo>
                    <a:cubicBezTo>
                      <a:pt x="55" y="0"/>
                      <a:pt x="55" y="0"/>
                      <a:pt x="55" y="0"/>
                    </a:cubicBezTo>
                    <a:cubicBezTo>
                      <a:pt x="52" y="0"/>
                      <a:pt x="50" y="2"/>
                      <a:pt x="50" y="5"/>
                    </a:cubicBezTo>
                    <a:cubicBezTo>
                      <a:pt x="50" y="8"/>
                      <a:pt x="52" y="10"/>
                      <a:pt x="55" y="10"/>
                    </a:cubicBezTo>
                    <a:cubicBezTo>
                      <a:pt x="89" y="10"/>
                      <a:pt x="89" y="10"/>
                      <a:pt x="89" y="10"/>
                    </a:cubicBezTo>
                    <a:cubicBezTo>
                      <a:pt x="2" y="98"/>
                      <a:pt x="2" y="98"/>
                      <a:pt x="2" y="98"/>
                    </a:cubicBezTo>
                    <a:cubicBezTo>
                      <a:pt x="0" y="100"/>
                      <a:pt x="0" y="103"/>
                      <a:pt x="2" y="105"/>
                    </a:cubicBezTo>
                    <a:cubicBezTo>
                      <a:pt x="3" y="106"/>
                      <a:pt x="4" y="106"/>
                      <a:pt x="5" y="106"/>
                    </a:cubicBezTo>
                    <a:close/>
                  </a:path>
                </a:pathLst>
              </a:custGeom>
              <a:solidFill>
                <a:srgbClr val="11768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0640" tIns="40319" rIns="80640" bIns="40319" numCol="1" anchor="t" anchorCtr="0" compatLnSpc="1">
                <a:prstTxWarp prst="textNoShape">
                  <a:avLst/>
                </a:prstTxWarp>
              </a:bodyPr>
              <a:lstStyle/>
              <a:p>
                <a:pPr defTabSz="913852">
                  <a:defRPr/>
                </a:pPr>
                <a:endParaRPr lang="en-US" sz="1588">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318" name="Rectangle 317">
            <a:extLst>
              <a:ext uri="{FF2B5EF4-FFF2-40B4-BE49-F238E27FC236}">
                <a16:creationId xmlns:a16="http://schemas.microsoft.com/office/drawing/2014/main" id="{90C90982-0521-374E-629F-F97F2B179DD2}"/>
              </a:ext>
            </a:extLst>
          </p:cNvPr>
          <p:cNvSpPr/>
          <p:nvPr/>
        </p:nvSpPr>
        <p:spPr>
          <a:xfrm>
            <a:off x="993906" y="2881432"/>
            <a:ext cx="3342287" cy="846166"/>
          </a:xfrm>
          <a:prstGeom prst="rect">
            <a:avLst/>
          </a:prstGeom>
        </p:spPr>
        <p:txBody>
          <a:bodyPr wrap="square" lIns="0" tIns="0" rIns="0" bIns="0">
            <a:spAutoFit/>
          </a:bodyPr>
          <a:lstStyle/>
          <a:p>
            <a:pPr marL="171348" indent="-171348" defTabSz="913852"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Industry standard pre-defined baseline metadata models for multiple LS data domains for data &amp; analytics product</a:t>
            </a:r>
          </a:p>
          <a:p>
            <a:pPr marL="171348" indent="-171348" defTabSz="913852"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Data Stewards can easily manage metadata (upload, edit etc.) from the UI (bulk upload also supported)</a:t>
            </a:r>
          </a:p>
          <a:p>
            <a:pPr marL="171348" indent="-171348" defTabSz="913852" fontAlgn="ctr">
              <a:buFont typeface="Arial" panose="020B0604020202020204" pitchFamily="34" charset="0"/>
              <a:buChar char="•"/>
              <a:defRPr/>
            </a:pPr>
            <a:r>
              <a:rPr lang="en-US" sz="900" i="1">
                <a:solidFill>
                  <a:srgbClr val="000000"/>
                </a:solidFill>
                <a:latin typeface="Open Sans" panose="020B0606030504020204" pitchFamily="34" charset="0"/>
                <a:ea typeface="Open Sans" panose="020B0606030504020204" pitchFamily="34" charset="0"/>
                <a:cs typeface="Open Sans" panose="020B0606030504020204" pitchFamily="34" charset="0"/>
              </a:rPr>
              <a:t>Track metadata version history through UI</a:t>
            </a:r>
          </a:p>
          <a:p>
            <a:pPr marL="171348" indent="-171348" defTabSz="913852" fontAlgn="ctr">
              <a:buFont typeface="Arial" panose="020B0604020202020204" pitchFamily="34" charset="0"/>
              <a:buChar char="•"/>
              <a:defRPr/>
            </a:pPr>
            <a:endParaRPr lang="en-US" sz="1000" i="1">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0" name="Rectangle 319">
            <a:extLst>
              <a:ext uri="{FF2B5EF4-FFF2-40B4-BE49-F238E27FC236}">
                <a16:creationId xmlns:a16="http://schemas.microsoft.com/office/drawing/2014/main" id="{D0D208EB-55A6-7A12-65D9-803225BC936C}"/>
              </a:ext>
            </a:extLst>
          </p:cNvPr>
          <p:cNvSpPr/>
          <p:nvPr/>
        </p:nvSpPr>
        <p:spPr>
          <a:xfrm>
            <a:off x="3863162" y="4350488"/>
            <a:ext cx="4146017" cy="184618"/>
          </a:xfrm>
          <a:prstGeom prst="rect">
            <a:avLst/>
          </a:prstGeom>
        </p:spPr>
        <p:txBody>
          <a:bodyPr wrap="none" lIns="0" tIns="0" rIns="0" bIns="0">
            <a:spAutoFit/>
          </a:bodyPr>
          <a:lstStyle/>
          <a:p>
            <a:pPr algn="r" defTabSz="913852" fontAlgn="ctr">
              <a:defRPr/>
            </a:pPr>
            <a:r>
              <a:rPr lang="en-US" sz="1200" b="1" spc="150">
                <a:solidFill>
                  <a:srgbClr val="000000"/>
                </a:solidFill>
                <a:latin typeface="Open Sans" panose="020B0606030504020204" pitchFamily="34" charset="0"/>
                <a:ea typeface="Open Sans" panose="020B0606030504020204" pitchFamily="34" charset="0"/>
                <a:cs typeface="Open Sans" panose="020B0606030504020204" pitchFamily="34" charset="0"/>
              </a:rPr>
              <a:t>ACCELERATORS FOR PLATFORM INTEGRATION</a:t>
            </a:r>
          </a:p>
        </p:txBody>
      </p:sp>
      <p:cxnSp>
        <p:nvCxnSpPr>
          <p:cNvPr id="321" name="Straight Connector 320">
            <a:extLst>
              <a:ext uri="{FF2B5EF4-FFF2-40B4-BE49-F238E27FC236}">
                <a16:creationId xmlns:a16="http://schemas.microsoft.com/office/drawing/2014/main" id="{C4BFF34A-8CEC-BDF7-5E96-F59163594CFE}"/>
              </a:ext>
            </a:extLst>
          </p:cNvPr>
          <p:cNvCxnSpPr>
            <a:cxnSpLocks/>
          </p:cNvCxnSpPr>
          <p:nvPr/>
        </p:nvCxnSpPr>
        <p:spPr>
          <a:xfrm flipH="1">
            <a:off x="4033645" y="4638423"/>
            <a:ext cx="3841588" cy="0"/>
          </a:xfrm>
          <a:prstGeom prst="line">
            <a:avLst/>
          </a:prstGeom>
          <a:ln w="28575" cmpd="sng">
            <a:solidFill>
              <a:srgbClr val="00ABAB"/>
            </a:solidFill>
          </a:ln>
        </p:spPr>
        <p:style>
          <a:lnRef idx="1">
            <a:schemeClr val="accent1"/>
          </a:lnRef>
          <a:fillRef idx="0">
            <a:schemeClr val="accent1"/>
          </a:fillRef>
          <a:effectRef idx="0">
            <a:schemeClr val="accent1"/>
          </a:effectRef>
          <a:fontRef idx="minor">
            <a:schemeClr val="tx1"/>
          </a:fontRef>
        </p:style>
      </p:cxnSp>
      <p:sp>
        <p:nvSpPr>
          <p:cNvPr id="322" name="Rectangle 321">
            <a:extLst>
              <a:ext uri="{FF2B5EF4-FFF2-40B4-BE49-F238E27FC236}">
                <a16:creationId xmlns:a16="http://schemas.microsoft.com/office/drawing/2014/main" id="{C8B5A5A5-9CB4-12F1-FD77-6AB57221F503}"/>
              </a:ext>
            </a:extLst>
          </p:cNvPr>
          <p:cNvSpPr/>
          <p:nvPr/>
        </p:nvSpPr>
        <p:spPr>
          <a:xfrm>
            <a:off x="3790803" y="4741742"/>
            <a:ext cx="5467679" cy="307697"/>
          </a:xfrm>
          <a:prstGeom prst="rect">
            <a:avLst/>
          </a:prstGeom>
        </p:spPr>
        <p:txBody>
          <a:bodyPr wrap="square" lIns="0" tIns="0" rIns="0" bIns="0">
            <a:spAutoFit/>
          </a:bodyPr>
          <a:lstStyle/>
          <a:p>
            <a:pPr marL="171348" indent="-171348" defTabSz="913852" fontAlgn="ctr">
              <a:buFont typeface="Arial" panose="020B0604020202020204" pitchFamily="34" charset="0"/>
              <a:buChar char="•"/>
              <a:defRPr/>
            </a:pPr>
            <a:r>
              <a:rPr lang="en-US" sz="1000" i="1">
                <a:solidFill>
                  <a:srgbClr val="000000"/>
                </a:solidFill>
                <a:latin typeface="Open Sans" panose="020B0606030504020204" pitchFamily="34" charset="0"/>
                <a:ea typeface="Open Sans" panose="020B0606030504020204" pitchFamily="34" charset="0"/>
                <a:cs typeface="Open Sans" panose="020B0606030504020204" pitchFamily="34" charset="0"/>
              </a:rPr>
              <a:t>DAE follows API first design enabling easy integration with enterprise systems</a:t>
            </a:r>
          </a:p>
          <a:p>
            <a:pPr marL="171348" indent="-171348" defTabSz="913852" fontAlgn="ctr">
              <a:buFont typeface="Arial" panose="020B0604020202020204" pitchFamily="34" charset="0"/>
              <a:buChar char="•"/>
              <a:defRPr/>
            </a:pPr>
            <a:r>
              <a:rPr lang="en-US" sz="1000" i="1">
                <a:solidFill>
                  <a:srgbClr val="000000"/>
                </a:solidFill>
                <a:latin typeface="Open Sans" panose="020B0606030504020204" pitchFamily="34" charset="0"/>
                <a:ea typeface="Open Sans" panose="020B0606030504020204" pitchFamily="34" charset="0"/>
                <a:cs typeface="Open Sans" panose="020B0606030504020204" pitchFamily="34" charset="0"/>
              </a:rPr>
              <a:t>Accelerators available to enable integration with enterprise services e.g., Alation, </a:t>
            </a:r>
            <a:r>
              <a:rPr lang="en-US" sz="1000" i="1" err="1">
                <a:solidFill>
                  <a:srgbClr val="000000"/>
                </a:solidFill>
                <a:latin typeface="Open Sans" panose="020B0606030504020204" pitchFamily="34" charset="0"/>
                <a:ea typeface="Open Sans" panose="020B0606030504020204" pitchFamily="34" charset="0"/>
                <a:cs typeface="Open Sans" panose="020B0606030504020204" pitchFamily="34" charset="0"/>
              </a:rPr>
              <a:t>Immuta</a:t>
            </a:r>
            <a:r>
              <a:rPr lang="en-US" sz="1000" i="1">
                <a:solidFill>
                  <a:srgbClr val="000000"/>
                </a:solidFill>
                <a:latin typeface="Open Sans" panose="020B0606030504020204" pitchFamily="34" charset="0"/>
                <a:ea typeface="Open Sans" panose="020B0606030504020204" pitchFamily="34" charset="0"/>
                <a:cs typeface="Open Sans" panose="020B0606030504020204" pitchFamily="34" charset="0"/>
              </a:rPr>
              <a:t> etc.</a:t>
            </a:r>
          </a:p>
        </p:txBody>
      </p:sp>
      <p:grpSp>
        <p:nvGrpSpPr>
          <p:cNvPr id="15" name="Group 14">
            <a:extLst>
              <a:ext uri="{FF2B5EF4-FFF2-40B4-BE49-F238E27FC236}">
                <a16:creationId xmlns:a16="http://schemas.microsoft.com/office/drawing/2014/main" id="{5D3E9FB8-0862-13AD-A77D-EE33F2419580}"/>
              </a:ext>
            </a:extLst>
          </p:cNvPr>
          <p:cNvGrpSpPr/>
          <p:nvPr/>
        </p:nvGrpSpPr>
        <p:grpSpPr>
          <a:xfrm>
            <a:off x="5712379" y="3821164"/>
            <a:ext cx="484380" cy="484380"/>
            <a:chOff x="5712379" y="3821164"/>
            <a:chExt cx="484380" cy="484380"/>
          </a:xfrm>
        </p:grpSpPr>
        <p:sp>
          <p:nvSpPr>
            <p:cNvPr id="319" name="Oval 318">
              <a:extLst>
                <a:ext uri="{FF2B5EF4-FFF2-40B4-BE49-F238E27FC236}">
                  <a16:creationId xmlns:a16="http://schemas.microsoft.com/office/drawing/2014/main" id="{CF4256AE-4C0B-D776-F97E-9E07AC47D808}"/>
                </a:ext>
              </a:extLst>
            </p:cNvPr>
            <p:cNvSpPr/>
            <p:nvPr/>
          </p:nvSpPr>
          <p:spPr>
            <a:xfrm>
              <a:off x="5712379" y="3821164"/>
              <a:ext cx="484380" cy="484380"/>
            </a:xfrm>
            <a:prstGeom prst="ellipse">
              <a:avLst/>
            </a:prstGeom>
            <a:solidFill>
              <a:schemeClr val="bg1"/>
            </a:solidFill>
            <a:ln w="28575">
              <a:solidFill>
                <a:srgbClr val="00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852">
                <a:defRPr/>
              </a:pPr>
              <a:endParaRPr lang="en-US" sz="1798">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323" name="Graphic 322" descr="Business Growth outline">
              <a:extLst>
                <a:ext uri="{FF2B5EF4-FFF2-40B4-BE49-F238E27FC236}">
                  <a16:creationId xmlns:a16="http://schemas.microsoft.com/office/drawing/2014/main" id="{A543A82D-E402-EE8D-FE46-E5A180F520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8666" y="3857451"/>
              <a:ext cx="411807" cy="411807"/>
            </a:xfrm>
            <a:prstGeom prst="rect">
              <a:avLst/>
            </a:prstGeom>
          </p:spPr>
        </p:pic>
      </p:grpSp>
      <p:sp>
        <p:nvSpPr>
          <p:cNvPr id="324" name="Slide Number Placeholder 2">
            <a:extLst>
              <a:ext uri="{FF2B5EF4-FFF2-40B4-BE49-F238E27FC236}">
                <a16:creationId xmlns:a16="http://schemas.microsoft.com/office/drawing/2014/main" id="{3E421D88-AD21-1266-364D-E3678AAFC4F2}"/>
              </a:ext>
            </a:extLst>
          </p:cNvPr>
          <p:cNvSpPr txBox="1">
            <a:spLocks/>
          </p:cNvSpPr>
          <p:nvPr/>
        </p:nvSpPr>
        <p:spPr>
          <a:xfrm>
            <a:off x="10969066" y="6372863"/>
            <a:ext cx="677707" cy="25760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1B775FDA-45B6-274B-B88A-FB9550FAB2EB}" type="slidenum">
              <a:rPr lang="en-US" sz="800">
                <a:solidFill>
                  <a:prstClr val="black"/>
                </a:solidFill>
                <a:latin typeface="Open Sans" panose="020B0606030504020204" pitchFamily="34" charset="0"/>
                <a:ea typeface="Open Sans" panose="020B0606030504020204" pitchFamily="34" charset="0"/>
                <a:cs typeface="Open Sans" panose="020B0606030504020204" pitchFamily="34" charset="0"/>
              </a:rPr>
              <a:pPr algn="r">
                <a:defRPr/>
              </a:pPr>
              <a:t>4</a:t>
            </a:fld>
            <a:endParaRPr lang="en-US" sz="8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Oval 1">
            <a:extLst>
              <a:ext uri="{FF2B5EF4-FFF2-40B4-BE49-F238E27FC236}">
                <a16:creationId xmlns:a16="http://schemas.microsoft.com/office/drawing/2014/main" id="{FA12CB8E-AAF6-281C-DB33-198B12EEC2E3}"/>
              </a:ext>
            </a:extLst>
          </p:cNvPr>
          <p:cNvSpPr/>
          <p:nvPr/>
        </p:nvSpPr>
        <p:spPr bwMode="gray">
          <a:xfrm>
            <a:off x="11198711" y="2471623"/>
            <a:ext cx="247425" cy="254121"/>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 name="Oval 2">
            <a:extLst>
              <a:ext uri="{FF2B5EF4-FFF2-40B4-BE49-F238E27FC236}">
                <a16:creationId xmlns:a16="http://schemas.microsoft.com/office/drawing/2014/main" id="{A477B8F3-AF18-1AAD-FFBF-CA997075637E}"/>
              </a:ext>
            </a:extLst>
          </p:cNvPr>
          <p:cNvSpPr/>
          <p:nvPr/>
        </p:nvSpPr>
        <p:spPr bwMode="gray">
          <a:xfrm>
            <a:off x="11168228" y="3527670"/>
            <a:ext cx="247425" cy="254121"/>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 name="Oval 3">
            <a:extLst>
              <a:ext uri="{FF2B5EF4-FFF2-40B4-BE49-F238E27FC236}">
                <a16:creationId xmlns:a16="http://schemas.microsoft.com/office/drawing/2014/main" id="{691F7AF8-7A38-E09B-04B0-F7E9F278DD41}"/>
              </a:ext>
            </a:extLst>
          </p:cNvPr>
          <p:cNvSpPr/>
          <p:nvPr/>
        </p:nvSpPr>
        <p:spPr bwMode="gray">
          <a:xfrm>
            <a:off x="8319247" y="4368561"/>
            <a:ext cx="247425" cy="254121"/>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 name="Oval 4">
            <a:extLst>
              <a:ext uri="{FF2B5EF4-FFF2-40B4-BE49-F238E27FC236}">
                <a16:creationId xmlns:a16="http://schemas.microsoft.com/office/drawing/2014/main" id="{6E2D8A06-2612-C593-CFFE-A175E63F3B63}"/>
              </a:ext>
            </a:extLst>
          </p:cNvPr>
          <p:cNvSpPr/>
          <p:nvPr/>
        </p:nvSpPr>
        <p:spPr bwMode="gray">
          <a:xfrm>
            <a:off x="564738" y="1366133"/>
            <a:ext cx="247425" cy="254121"/>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 name="Oval 5">
            <a:extLst>
              <a:ext uri="{FF2B5EF4-FFF2-40B4-BE49-F238E27FC236}">
                <a16:creationId xmlns:a16="http://schemas.microsoft.com/office/drawing/2014/main" id="{43A96B07-5BB7-77F4-57EA-D58730D5CDFD}"/>
              </a:ext>
            </a:extLst>
          </p:cNvPr>
          <p:cNvSpPr/>
          <p:nvPr/>
        </p:nvSpPr>
        <p:spPr bwMode="gray">
          <a:xfrm>
            <a:off x="578004" y="2636761"/>
            <a:ext cx="247425" cy="254121"/>
          </a:xfrm>
          <a:prstGeom prst="ellipse">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 name="Oval 6">
            <a:extLst>
              <a:ext uri="{FF2B5EF4-FFF2-40B4-BE49-F238E27FC236}">
                <a16:creationId xmlns:a16="http://schemas.microsoft.com/office/drawing/2014/main" id="{A909D701-86E1-14BA-53F0-50C445FE4B1D}"/>
              </a:ext>
            </a:extLst>
          </p:cNvPr>
          <p:cNvSpPr/>
          <p:nvPr/>
        </p:nvSpPr>
        <p:spPr bwMode="gray">
          <a:xfrm>
            <a:off x="569628" y="3714296"/>
            <a:ext cx="247425" cy="254121"/>
          </a:xfrm>
          <a:prstGeom prst="ellipse">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 name="Oval 7">
            <a:extLst>
              <a:ext uri="{FF2B5EF4-FFF2-40B4-BE49-F238E27FC236}">
                <a16:creationId xmlns:a16="http://schemas.microsoft.com/office/drawing/2014/main" id="{B12E84A0-F6B3-8614-9C2B-48EF70432534}"/>
              </a:ext>
            </a:extLst>
          </p:cNvPr>
          <p:cNvSpPr/>
          <p:nvPr/>
        </p:nvSpPr>
        <p:spPr bwMode="gray">
          <a:xfrm>
            <a:off x="11195392" y="1368040"/>
            <a:ext cx="247425" cy="254121"/>
          </a:xfrm>
          <a:prstGeom prst="ellipse">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 name="Oval 8">
            <a:extLst>
              <a:ext uri="{FF2B5EF4-FFF2-40B4-BE49-F238E27FC236}">
                <a16:creationId xmlns:a16="http://schemas.microsoft.com/office/drawing/2014/main" id="{6DC2BE00-962C-66B4-DFC5-EDA9B0F65ABB}"/>
              </a:ext>
            </a:extLst>
          </p:cNvPr>
          <p:cNvSpPr/>
          <p:nvPr/>
        </p:nvSpPr>
        <p:spPr bwMode="gray">
          <a:xfrm>
            <a:off x="9318668" y="175380"/>
            <a:ext cx="247425" cy="254121"/>
          </a:xfrm>
          <a:prstGeom prst="ellipse">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 name="Rectangle 9">
            <a:extLst>
              <a:ext uri="{FF2B5EF4-FFF2-40B4-BE49-F238E27FC236}">
                <a16:creationId xmlns:a16="http://schemas.microsoft.com/office/drawing/2014/main" id="{D97A8DB1-0A2B-1FD5-2D8E-F8541D1E95C8}"/>
              </a:ext>
            </a:extLst>
          </p:cNvPr>
          <p:cNvSpPr/>
          <p:nvPr/>
        </p:nvSpPr>
        <p:spPr>
          <a:xfrm>
            <a:off x="9673541" y="237263"/>
            <a:ext cx="2256689" cy="138499"/>
          </a:xfrm>
          <a:prstGeom prst="rect">
            <a:avLst/>
          </a:prstGeom>
        </p:spPr>
        <p:txBody>
          <a:bodyPr wrap="square" lIns="0" tIns="0" rIns="0" bIns="0">
            <a:spAutoFit/>
          </a:bodyPr>
          <a:lstStyle/>
          <a:p>
            <a:pPr defTabSz="914126" fontAlgn="ctr">
              <a:spcAft>
                <a:spcPts val="600"/>
              </a:spcAft>
              <a:defRPr/>
            </a:pPr>
            <a:r>
              <a:rPr lang="en-US" sz="900">
                <a:solidFill>
                  <a:srgbClr val="000000"/>
                </a:solidFill>
                <a:latin typeface="Open Sans" panose="020B0606030504020204" pitchFamily="34" charset="0"/>
                <a:ea typeface="Open Sans" panose="020B0606030504020204" pitchFamily="34" charset="0"/>
                <a:cs typeface="Open Sans" panose="020B0606030504020204" pitchFamily="34" charset="0"/>
              </a:rPr>
              <a:t>MATURED Prudential capabilities exist</a:t>
            </a:r>
          </a:p>
        </p:txBody>
      </p:sp>
      <p:sp>
        <p:nvSpPr>
          <p:cNvPr id="11" name="Oval 10">
            <a:extLst>
              <a:ext uri="{FF2B5EF4-FFF2-40B4-BE49-F238E27FC236}">
                <a16:creationId xmlns:a16="http://schemas.microsoft.com/office/drawing/2014/main" id="{A440D522-3B1C-BC0D-DC1B-8B7FFBCB9A19}"/>
              </a:ext>
            </a:extLst>
          </p:cNvPr>
          <p:cNvSpPr/>
          <p:nvPr/>
        </p:nvSpPr>
        <p:spPr bwMode="gray">
          <a:xfrm>
            <a:off x="9318668" y="501673"/>
            <a:ext cx="247425" cy="254121"/>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2" name="Rectangle 11">
            <a:extLst>
              <a:ext uri="{FF2B5EF4-FFF2-40B4-BE49-F238E27FC236}">
                <a16:creationId xmlns:a16="http://schemas.microsoft.com/office/drawing/2014/main" id="{0F29FA72-AC87-1615-5AD5-27F9D95050BD}"/>
              </a:ext>
            </a:extLst>
          </p:cNvPr>
          <p:cNvSpPr/>
          <p:nvPr/>
        </p:nvSpPr>
        <p:spPr>
          <a:xfrm>
            <a:off x="9673542" y="563556"/>
            <a:ext cx="2467594" cy="138499"/>
          </a:xfrm>
          <a:prstGeom prst="rect">
            <a:avLst/>
          </a:prstGeom>
        </p:spPr>
        <p:txBody>
          <a:bodyPr wrap="square" lIns="0" tIns="0" rIns="0" bIns="0">
            <a:spAutoFit/>
          </a:bodyPr>
          <a:lstStyle/>
          <a:p>
            <a:pPr defTabSz="914126" fontAlgn="ctr">
              <a:spcAft>
                <a:spcPts val="600"/>
              </a:spcAft>
              <a:defRPr/>
            </a:pPr>
            <a:r>
              <a:rPr lang="en-US" sz="900">
                <a:solidFill>
                  <a:srgbClr val="000000"/>
                </a:solidFill>
                <a:latin typeface="Open Sans" panose="020B0606030504020204" pitchFamily="34" charset="0"/>
                <a:ea typeface="Open Sans" panose="020B0606030504020204" pitchFamily="34" charset="0"/>
                <a:cs typeface="Open Sans" panose="020B0606030504020204" pitchFamily="34" charset="0"/>
              </a:rPr>
              <a:t>Capabilities can be augmented by DELOITTE</a:t>
            </a:r>
          </a:p>
        </p:txBody>
      </p:sp>
    </p:spTree>
    <p:extLst>
      <p:ext uri="{BB962C8B-B14F-4D97-AF65-F5344CB8AC3E}">
        <p14:creationId xmlns:p14="http://schemas.microsoft.com/office/powerpoint/2010/main" val="363742935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dirty="0">
                <a:solidFill>
                  <a:srgbClr val="00B050"/>
                </a:solidFill>
                <a:ea typeface="Open Sans"/>
                <a:cs typeface="Open Sans"/>
              </a:rPr>
              <a:t>Our understanding </a:t>
            </a:r>
            <a:r>
              <a:rPr lang="en-US" sz="2200" b="0" dirty="0">
                <a:ea typeface="Open Sans"/>
                <a:cs typeface="Open Sans"/>
              </a:rPr>
              <a:t>&amp; Perspective</a:t>
            </a:r>
          </a:p>
        </p:txBody>
      </p:sp>
      <p:sp>
        <p:nvSpPr>
          <p:cNvPr id="53" name="Text Placeholder 3">
            <a:extLst>
              <a:ext uri="{FF2B5EF4-FFF2-40B4-BE49-F238E27FC236}">
                <a16:creationId xmlns:a16="http://schemas.microsoft.com/office/drawing/2014/main" id="{3AAC5803-8CC8-DE31-AE70-F633B90AB888}"/>
              </a:ext>
            </a:extLst>
          </p:cNvPr>
          <p:cNvSpPr>
            <a:spLocks noGrp="1"/>
          </p:cNvSpPr>
          <p:nvPr>
            <p:ph type="body" sz="quarter" idx="13"/>
          </p:nvPr>
        </p:nvSpPr>
        <p:spPr>
          <a:xfrm>
            <a:off x="469900" y="742155"/>
            <a:ext cx="11162349" cy="418079"/>
          </a:xfrm>
        </p:spPr>
        <p:txBody>
          <a:bodyPr/>
          <a:lstStyle/>
          <a:p>
            <a:r>
              <a:rPr lang="en-US" sz="1200" dirty="0"/>
              <a:t>Deloitte has worked with multiple clients to build tailored Enterprise Data Marketplace. We understand that your pain points unique to the industry. Deloitte can leverage learnings and reusable assets that we have built to expedite the enhancement of existing Data Marketplace solution at Prudential</a:t>
            </a:r>
          </a:p>
        </p:txBody>
      </p:sp>
      <p:cxnSp>
        <p:nvCxnSpPr>
          <p:cNvPr id="54" name="Elbow Connector 6">
            <a:extLst>
              <a:ext uri="{FF2B5EF4-FFF2-40B4-BE49-F238E27FC236}">
                <a16:creationId xmlns:a16="http://schemas.microsoft.com/office/drawing/2014/main" id="{7899DBD6-7228-D517-BD2B-45DDEC5B551F}"/>
              </a:ext>
            </a:extLst>
          </p:cNvPr>
          <p:cNvCxnSpPr>
            <a:stCxn id="60" idx="4"/>
            <a:endCxn id="130" idx="2"/>
          </p:cNvCxnSpPr>
          <p:nvPr/>
        </p:nvCxnSpPr>
        <p:spPr>
          <a:xfrm rot="5400000" flipH="1" flipV="1">
            <a:off x="5074160" y="739393"/>
            <a:ext cx="2880780" cy="5578876"/>
          </a:xfrm>
          <a:prstGeom prst="bentConnector4">
            <a:avLst>
              <a:gd name="adj1" fmla="val -7935"/>
              <a:gd name="adj2" fmla="val 77858"/>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
        <p:nvSpPr>
          <p:cNvPr id="55" name="Title 1">
            <a:extLst>
              <a:ext uri="{FF2B5EF4-FFF2-40B4-BE49-F238E27FC236}">
                <a16:creationId xmlns:a16="http://schemas.microsoft.com/office/drawing/2014/main" id="{730A5B0C-1379-4ED2-CB54-A845A95CD2F3}"/>
              </a:ext>
            </a:extLst>
          </p:cNvPr>
          <p:cNvSpPr txBox="1">
            <a:spLocks/>
          </p:cNvSpPr>
          <p:nvPr/>
        </p:nvSpPr>
        <p:spPr bwMode="gray">
          <a:xfrm>
            <a:off x="683145" y="1526806"/>
            <a:ext cx="2304206" cy="391427"/>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mn-lt"/>
                <a:ea typeface="+mj-ea"/>
                <a:cs typeface="+mj-cs"/>
              </a:rPr>
              <a:t>Current landscape…</a:t>
            </a:r>
          </a:p>
        </p:txBody>
      </p:sp>
      <p:sp>
        <p:nvSpPr>
          <p:cNvPr id="56" name="TextBox 55">
            <a:extLst>
              <a:ext uri="{FF2B5EF4-FFF2-40B4-BE49-F238E27FC236}">
                <a16:creationId xmlns:a16="http://schemas.microsoft.com/office/drawing/2014/main" id="{F50267DB-9D08-3C4A-941B-717BA4D3DD4F}"/>
              </a:ext>
            </a:extLst>
          </p:cNvPr>
          <p:cNvSpPr txBox="1"/>
          <p:nvPr/>
        </p:nvSpPr>
        <p:spPr>
          <a:xfrm>
            <a:off x="7874720" y="4299751"/>
            <a:ext cx="1589139" cy="353302"/>
          </a:xfrm>
          <a:prstGeom prst="rect">
            <a:avLst/>
          </a:prstGeom>
          <a:noFill/>
        </p:spPr>
        <p:txBody>
          <a:bodyPr wrap="square" rtlCol="0">
            <a:spAutoFit/>
          </a:bodyPr>
          <a:lstStyle/>
          <a:p>
            <a:pPr marL="0" marR="0" lvl="0" indent="0" algn="r" defTabSz="1219170" rtl="0" eaLnBrk="1" fontAlgn="auto" latinLnBrk="0" hangingPunct="1">
              <a:lnSpc>
                <a:spcPct val="80000"/>
              </a:lnSpc>
              <a:spcBef>
                <a:spcPts val="0"/>
              </a:spcBef>
              <a:spcAft>
                <a:spcPts val="300"/>
              </a:spcAft>
              <a:buClrTx/>
              <a:buSzTx/>
              <a:buFontTx/>
              <a:buNone/>
              <a:tabLst/>
              <a:defRPr/>
            </a:pPr>
            <a:r>
              <a:rPr kumimoji="0" lang="en-US" sz="1050" b="1" i="0" u="none" strike="noStrike" kern="1200" cap="none" spc="300" normalizeH="0" baseline="0" noProof="0">
                <a:ln>
                  <a:noFill/>
                </a:ln>
                <a:solidFill>
                  <a:srgbClr val="000000"/>
                </a:solidFill>
                <a:effectLst/>
                <a:uLnTx/>
                <a:uFillTx/>
                <a:ea typeface="Open Sans" charset="0"/>
                <a:cs typeface="Open Sans" charset="0"/>
              </a:rPr>
              <a:t>BUSINESS STRATEGIES</a:t>
            </a:r>
          </a:p>
        </p:txBody>
      </p:sp>
      <p:sp>
        <p:nvSpPr>
          <p:cNvPr id="57" name="TextBox 56">
            <a:extLst>
              <a:ext uri="{FF2B5EF4-FFF2-40B4-BE49-F238E27FC236}">
                <a16:creationId xmlns:a16="http://schemas.microsoft.com/office/drawing/2014/main" id="{5C7D1AA5-4E75-737F-735C-F30E950CBA4C}"/>
              </a:ext>
            </a:extLst>
          </p:cNvPr>
          <p:cNvSpPr txBox="1"/>
          <p:nvPr/>
        </p:nvSpPr>
        <p:spPr>
          <a:xfrm>
            <a:off x="8771937" y="3050847"/>
            <a:ext cx="1661141" cy="424732"/>
          </a:xfrm>
          <a:prstGeom prst="rect">
            <a:avLst/>
          </a:prstGeom>
          <a:noFill/>
        </p:spPr>
        <p:txBody>
          <a:bodyPr wrap="square" rtlCol="0">
            <a:spAutoFit/>
          </a:bodyPr>
          <a:lstStyle/>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ea typeface="Chronicle Display Light" charset="0"/>
                <a:cs typeface="Chronicle Display Light" charset="0"/>
              </a:rPr>
              <a:t>How does it benefit?</a:t>
            </a:r>
          </a:p>
        </p:txBody>
      </p:sp>
      <p:sp>
        <p:nvSpPr>
          <p:cNvPr id="58" name="Oval 57">
            <a:extLst>
              <a:ext uri="{FF2B5EF4-FFF2-40B4-BE49-F238E27FC236}">
                <a16:creationId xmlns:a16="http://schemas.microsoft.com/office/drawing/2014/main" id="{46BE48DB-26E5-2B5F-6E9A-1D666085E402}"/>
              </a:ext>
            </a:extLst>
          </p:cNvPr>
          <p:cNvSpPr/>
          <p:nvPr/>
        </p:nvSpPr>
        <p:spPr>
          <a:xfrm>
            <a:off x="2824711" y="1448613"/>
            <a:ext cx="1760304" cy="1760304"/>
          </a:xfrm>
          <a:prstGeom prst="ellipse">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59" name="TextBox 58">
            <a:extLst>
              <a:ext uri="{FF2B5EF4-FFF2-40B4-BE49-F238E27FC236}">
                <a16:creationId xmlns:a16="http://schemas.microsoft.com/office/drawing/2014/main" id="{72609350-28CA-8B67-451C-01E0454E3CC8}"/>
              </a:ext>
            </a:extLst>
          </p:cNvPr>
          <p:cNvSpPr txBox="1"/>
          <p:nvPr/>
        </p:nvSpPr>
        <p:spPr>
          <a:xfrm>
            <a:off x="2859437" y="3923641"/>
            <a:ext cx="1731350" cy="424732"/>
          </a:xfrm>
          <a:prstGeom prst="rect">
            <a:avLst/>
          </a:prstGeom>
          <a:noFill/>
        </p:spPr>
        <p:txBody>
          <a:bodyPr wrap="square" rtlCol="0">
            <a:spAutoFit/>
          </a:bodyPr>
          <a:lstStyle/>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ea typeface="Chronicle Display Light" charset="0"/>
                <a:cs typeface="Chronicle Display Light" charset="0"/>
              </a:rPr>
              <a:t>What do we implement?</a:t>
            </a:r>
          </a:p>
        </p:txBody>
      </p:sp>
      <p:sp>
        <p:nvSpPr>
          <p:cNvPr id="60" name="Oval 59">
            <a:extLst>
              <a:ext uri="{FF2B5EF4-FFF2-40B4-BE49-F238E27FC236}">
                <a16:creationId xmlns:a16="http://schemas.microsoft.com/office/drawing/2014/main" id="{07A0A84A-21AD-EF2B-033C-DE684969DC78}"/>
              </a:ext>
            </a:extLst>
          </p:cNvPr>
          <p:cNvSpPr/>
          <p:nvPr/>
        </p:nvSpPr>
        <p:spPr>
          <a:xfrm>
            <a:off x="2844960" y="3208917"/>
            <a:ext cx="1760304" cy="1760304"/>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61" name="Right Triangle 60">
            <a:extLst>
              <a:ext uri="{FF2B5EF4-FFF2-40B4-BE49-F238E27FC236}">
                <a16:creationId xmlns:a16="http://schemas.microsoft.com/office/drawing/2014/main" id="{23CB3B65-6E66-2102-B12E-FB1E17D3D860}"/>
              </a:ext>
            </a:extLst>
          </p:cNvPr>
          <p:cNvSpPr/>
          <p:nvPr/>
        </p:nvSpPr>
        <p:spPr>
          <a:xfrm rot="16370554">
            <a:off x="4131224" y="1530013"/>
            <a:ext cx="132640" cy="13264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62" name="Right Triangle 61">
            <a:extLst>
              <a:ext uri="{FF2B5EF4-FFF2-40B4-BE49-F238E27FC236}">
                <a16:creationId xmlns:a16="http://schemas.microsoft.com/office/drawing/2014/main" id="{2EF27DAA-62B7-F781-8A02-59CA90D2F811}"/>
              </a:ext>
            </a:extLst>
          </p:cNvPr>
          <p:cNvSpPr/>
          <p:nvPr/>
        </p:nvSpPr>
        <p:spPr>
          <a:xfrm rot="6755954">
            <a:off x="2781101" y="2364150"/>
            <a:ext cx="132640" cy="13264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63" name="Right Triangle 62">
            <a:extLst>
              <a:ext uri="{FF2B5EF4-FFF2-40B4-BE49-F238E27FC236}">
                <a16:creationId xmlns:a16="http://schemas.microsoft.com/office/drawing/2014/main" id="{FFB6C8B5-4EFB-F5C2-731D-79AA38068278}"/>
              </a:ext>
            </a:extLst>
          </p:cNvPr>
          <p:cNvSpPr/>
          <p:nvPr/>
        </p:nvSpPr>
        <p:spPr>
          <a:xfrm rot="2497468">
            <a:off x="3667757" y="3143779"/>
            <a:ext cx="132640" cy="13264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28" name="Right Triangle 127">
            <a:extLst>
              <a:ext uri="{FF2B5EF4-FFF2-40B4-BE49-F238E27FC236}">
                <a16:creationId xmlns:a16="http://schemas.microsoft.com/office/drawing/2014/main" id="{8C9DB2BC-0B36-C816-7FD0-A3FB79FAFD28}"/>
              </a:ext>
            </a:extLst>
          </p:cNvPr>
          <p:cNvSpPr/>
          <p:nvPr/>
        </p:nvSpPr>
        <p:spPr>
          <a:xfrm rot="10006866">
            <a:off x="4275823" y="4676146"/>
            <a:ext cx="132640" cy="13264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29" name="Arc 128">
            <a:extLst>
              <a:ext uri="{FF2B5EF4-FFF2-40B4-BE49-F238E27FC236}">
                <a16:creationId xmlns:a16="http://schemas.microsoft.com/office/drawing/2014/main" id="{FD341965-AB81-2EDC-43AC-5613C7E5388D}"/>
              </a:ext>
            </a:extLst>
          </p:cNvPr>
          <p:cNvSpPr/>
          <p:nvPr/>
        </p:nvSpPr>
        <p:spPr>
          <a:xfrm>
            <a:off x="8176837" y="1918233"/>
            <a:ext cx="2709842" cy="2709840"/>
          </a:xfrm>
          <a:prstGeom prst="arc">
            <a:avLst>
              <a:gd name="adj1" fmla="val 16200000"/>
              <a:gd name="adj2" fmla="val 20773722"/>
            </a:avLst>
          </a:prstGeom>
          <a:ln w="28575" cmpd="sng">
            <a:solidFill>
              <a:schemeClr val="accent2"/>
            </a:solidFill>
            <a:tailEnd type="ova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ea typeface="+mn-ea"/>
              <a:cs typeface="Open Sans"/>
            </a:endParaRPr>
          </a:p>
        </p:txBody>
      </p:sp>
      <p:sp>
        <p:nvSpPr>
          <p:cNvPr id="130" name="Oval 129">
            <a:extLst>
              <a:ext uri="{FF2B5EF4-FFF2-40B4-BE49-F238E27FC236}">
                <a16:creationId xmlns:a16="http://schemas.microsoft.com/office/drawing/2014/main" id="{8E19197A-39D6-8C63-0558-B68FA62B676F}"/>
              </a:ext>
            </a:extLst>
          </p:cNvPr>
          <p:cNvSpPr/>
          <p:nvPr/>
        </p:nvSpPr>
        <p:spPr>
          <a:xfrm>
            <a:off x="9303988" y="1867428"/>
            <a:ext cx="442026" cy="442026"/>
          </a:xfrm>
          <a:prstGeom prst="ellipse">
            <a:avLst/>
          </a:prstGeom>
          <a:solidFill>
            <a:schemeClr val="bg1"/>
          </a:solidFill>
          <a:ln w="28575" cmpd="sng">
            <a:solidFill>
              <a:schemeClr val="accent2"/>
            </a:solidFill>
            <a:tailEnd type="ova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ea typeface="+mn-ea"/>
              <a:cs typeface="Open Sans"/>
            </a:endParaRPr>
          </a:p>
        </p:txBody>
      </p:sp>
      <p:sp>
        <p:nvSpPr>
          <p:cNvPr id="131" name="Right Triangle 130">
            <a:extLst>
              <a:ext uri="{FF2B5EF4-FFF2-40B4-BE49-F238E27FC236}">
                <a16:creationId xmlns:a16="http://schemas.microsoft.com/office/drawing/2014/main" id="{17BA6F20-9478-7D6E-0641-422CFD9D673F}"/>
              </a:ext>
            </a:extLst>
          </p:cNvPr>
          <p:cNvSpPr/>
          <p:nvPr/>
        </p:nvSpPr>
        <p:spPr>
          <a:xfrm rot="13464349">
            <a:off x="9411339" y="2007182"/>
            <a:ext cx="158374" cy="158374"/>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32" name="Right Triangle 131">
            <a:extLst>
              <a:ext uri="{FF2B5EF4-FFF2-40B4-BE49-F238E27FC236}">
                <a16:creationId xmlns:a16="http://schemas.microsoft.com/office/drawing/2014/main" id="{8877B696-410D-04B6-0858-885EB93C4E5C}"/>
              </a:ext>
            </a:extLst>
          </p:cNvPr>
          <p:cNvSpPr/>
          <p:nvPr/>
        </p:nvSpPr>
        <p:spPr>
          <a:xfrm rot="8055343">
            <a:off x="8004573" y="3585143"/>
            <a:ext cx="132640" cy="13264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33" name="Right Triangle 132">
            <a:extLst>
              <a:ext uri="{FF2B5EF4-FFF2-40B4-BE49-F238E27FC236}">
                <a16:creationId xmlns:a16="http://schemas.microsoft.com/office/drawing/2014/main" id="{6AF04686-DBE6-DB11-E50D-6F05E534D202}"/>
              </a:ext>
            </a:extLst>
          </p:cNvPr>
          <p:cNvSpPr/>
          <p:nvPr/>
        </p:nvSpPr>
        <p:spPr>
          <a:xfrm rot="13506105">
            <a:off x="8406633" y="2023955"/>
            <a:ext cx="132640" cy="13264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34" name="Right Triangle 133">
            <a:extLst>
              <a:ext uri="{FF2B5EF4-FFF2-40B4-BE49-F238E27FC236}">
                <a16:creationId xmlns:a16="http://schemas.microsoft.com/office/drawing/2014/main" id="{5E4D970B-5BBD-0C69-34AA-114A3EEE6FD4}"/>
              </a:ext>
            </a:extLst>
          </p:cNvPr>
          <p:cNvSpPr/>
          <p:nvPr/>
        </p:nvSpPr>
        <p:spPr>
          <a:xfrm rot="13506105">
            <a:off x="1381180" y="1389487"/>
            <a:ext cx="132640" cy="13264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35" name="Freeform 33">
            <a:extLst>
              <a:ext uri="{FF2B5EF4-FFF2-40B4-BE49-F238E27FC236}">
                <a16:creationId xmlns:a16="http://schemas.microsoft.com/office/drawing/2014/main" id="{BB047C97-E7BC-1BA2-3DEA-43CFBB89AA8F}"/>
              </a:ext>
            </a:extLst>
          </p:cNvPr>
          <p:cNvSpPr/>
          <p:nvPr/>
        </p:nvSpPr>
        <p:spPr>
          <a:xfrm>
            <a:off x="689229" y="1441163"/>
            <a:ext cx="3017520" cy="45719"/>
          </a:xfrm>
          <a:custGeom>
            <a:avLst/>
            <a:gdLst>
              <a:gd name="connsiteX0" fmla="*/ 2861733 w 2861733"/>
              <a:gd name="connsiteY0" fmla="*/ 0 h 0"/>
              <a:gd name="connsiteX1" fmla="*/ 0 w 2861733"/>
              <a:gd name="connsiteY1" fmla="*/ 0 h 0"/>
            </a:gdLst>
            <a:ahLst/>
            <a:cxnLst>
              <a:cxn ang="0">
                <a:pos x="connsiteX0" y="connsiteY0"/>
              </a:cxn>
              <a:cxn ang="0">
                <a:pos x="connsiteX1" y="connsiteY1"/>
              </a:cxn>
            </a:cxnLst>
            <a:rect l="l" t="t" r="r" b="b"/>
            <a:pathLst>
              <a:path w="2861733">
                <a:moveTo>
                  <a:pt x="2861733" y="0"/>
                </a:moveTo>
                <a:lnTo>
                  <a:pt x="0" y="0"/>
                </a:lnTo>
              </a:path>
            </a:pathLst>
          </a:cu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36" name="Right Triangle 135">
            <a:extLst>
              <a:ext uri="{FF2B5EF4-FFF2-40B4-BE49-F238E27FC236}">
                <a16:creationId xmlns:a16="http://schemas.microsoft.com/office/drawing/2014/main" id="{6F807D0B-B30C-1EA7-AB46-DB8CEA714D7C}"/>
              </a:ext>
            </a:extLst>
          </p:cNvPr>
          <p:cNvSpPr/>
          <p:nvPr/>
        </p:nvSpPr>
        <p:spPr>
          <a:xfrm rot="13464349">
            <a:off x="534445" y="1369426"/>
            <a:ext cx="158374" cy="158374"/>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37" name="Right Triangle 136">
            <a:extLst>
              <a:ext uri="{FF2B5EF4-FFF2-40B4-BE49-F238E27FC236}">
                <a16:creationId xmlns:a16="http://schemas.microsoft.com/office/drawing/2014/main" id="{A3E595DD-F957-9D92-946E-AC88D6E51C96}"/>
              </a:ext>
            </a:extLst>
          </p:cNvPr>
          <p:cNvSpPr/>
          <p:nvPr/>
        </p:nvSpPr>
        <p:spPr>
          <a:xfrm rot="16560107">
            <a:off x="2966473" y="4550175"/>
            <a:ext cx="132640" cy="13264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38" name="Right Triangle 137">
            <a:extLst>
              <a:ext uri="{FF2B5EF4-FFF2-40B4-BE49-F238E27FC236}">
                <a16:creationId xmlns:a16="http://schemas.microsoft.com/office/drawing/2014/main" id="{0AA138A7-642F-8FF4-8D88-E046279F5AF1}"/>
              </a:ext>
            </a:extLst>
          </p:cNvPr>
          <p:cNvSpPr/>
          <p:nvPr/>
        </p:nvSpPr>
        <p:spPr>
          <a:xfrm rot="13506105">
            <a:off x="5737405" y="5147508"/>
            <a:ext cx="132640" cy="132640"/>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ea typeface="+mn-ea"/>
              <a:cs typeface="+mn-cs"/>
            </a:endParaRPr>
          </a:p>
        </p:txBody>
      </p:sp>
      <p:sp>
        <p:nvSpPr>
          <p:cNvPr id="139" name="Rectangle 138">
            <a:extLst>
              <a:ext uri="{FF2B5EF4-FFF2-40B4-BE49-F238E27FC236}">
                <a16:creationId xmlns:a16="http://schemas.microsoft.com/office/drawing/2014/main" id="{3F8AA92A-19AD-B9DE-110B-52EE77AD1665}"/>
              </a:ext>
            </a:extLst>
          </p:cNvPr>
          <p:cNvSpPr/>
          <p:nvPr/>
        </p:nvSpPr>
        <p:spPr>
          <a:xfrm>
            <a:off x="614562" y="1903063"/>
            <a:ext cx="1953317" cy="3931846"/>
          </a:xfrm>
          <a:prstGeom prst="rect">
            <a:avLst/>
          </a:prstGeom>
          <a:solidFill>
            <a:schemeClr val="accent3">
              <a:lumMod val="20000"/>
              <a:lumOff val="80000"/>
            </a:schemeClr>
          </a:solidFill>
          <a:ln w="28575">
            <a:solidFill>
              <a:schemeClr val="accent3"/>
            </a:solidFill>
          </a:ln>
        </p:spPr>
        <p:txBody>
          <a:bodyPr wrap="square">
            <a:spAutoFit/>
          </a:bodyPr>
          <a:lstStyle/>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kumimoji="0" lang="en-US" sz="1050" i="1" u="none" strike="noStrike" kern="1200" cap="none" spc="0" normalizeH="0" baseline="0" noProof="0" dirty="0">
                <a:ln>
                  <a:noFill/>
                </a:ln>
                <a:solidFill>
                  <a:srgbClr val="000000"/>
                </a:solidFill>
                <a:effectLst/>
                <a:uLnTx/>
                <a:uFillTx/>
                <a:ea typeface="Open Sans" charset="0"/>
                <a:cs typeface="Open Sans" charset="0"/>
              </a:rPr>
              <a:t>Initial </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Data Marketplace </a:t>
            </a:r>
            <a:r>
              <a:rPr kumimoji="0" lang="en-US" sz="1050" i="1" u="none" strike="noStrike" kern="1200" cap="none" spc="0" normalizeH="0" baseline="0" noProof="0" dirty="0">
                <a:ln>
                  <a:noFill/>
                </a:ln>
                <a:solidFill>
                  <a:srgbClr val="000000"/>
                </a:solidFill>
                <a:effectLst/>
                <a:uLnTx/>
                <a:uFillTx/>
                <a:ea typeface="Open Sans" charset="0"/>
                <a:cs typeface="Open Sans" charset="0"/>
              </a:rPr>
              <a:t>solution exists as of today at Prudential</a:t>
            </a:r>
            <a:endParaRPr kumimoji="0" lang="en-US" sz="1050" b="0" i="1" u="none" strike="noStrike" kern="1200" cap="none" spc="0" normalizeH="0" baseline="0" noProof="0" dirty="0">
              <a:ln>
                <a:noFill/>
              </a:ln>
              <a:solidFill>
                <a:srgbClr val="000000"/>
              </a:solidFill>
              <a:effectLst/>
              <a:uLnTx/>
              <a:uFillTx/>
              <a:ea typeface="Open Sans" charset="0"/>
              <a:cs typeface="Open Sans" charset="0"/>
            </a:endParaRP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endParaRPr kumimoji="0" lang="en-US" sz="1050" b="0" i="1" u="none" strike="noStrike" kern="1200" cap="none" spc="0" normalizeH="0" baseline="0" noProof="0" dirty="0">
              <a:ln>
                <a:noFill/>
              </a:ln>
              <a:solidFill>
                <a:srgbClr val="000000"/>
              </a:solidFill>
              <a:effectLst/>
              <a:uLnTx/>
              <a:uFillTx/>
              <a:ea typeface="Open Sans" charset="0"/>
              <a:cs typeface="Open Sans" charset="0"/>
            </a:endParaRP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lang="en-US" sz="1050" i="1" dirty="0">
                <a:solidFill>
                  <a:srgbClr val="000000"/>
                </a:solidFill>
                <a:ea typeface="Open Sans" charset="0"/>
                <a:cs typeface="Open Sans" charset="0"/>
              </a:rPr>
              <a:t>Data is </a:t>
            </a:r>
            <a:r>
              <a:rPr lang="en-US" sz="1050" b="1" i="1" dirty="0">
                <a:solidFill>
                  <a:srgbClr val="000000"/>
                </a:solidFill>
                <a:ea typeface="Open Sans" charset="0"/>
                <a:cs typeface="Open Sans" charset="0"/>
              </a:rPr>
              <a:t>hydrated in two distinct enterprise data platform </a:t>
            </a:r>
            <a:r>
              <a:rPr lang="en-US" sz="1050" i="1" dirty="0">
                <a:solidFill>
                  <a:srgbClr val="000000"/>
                </a:solidFill>
                <a:ea typeface="Open Sans" charset="0"/>
                <a:cs typeface="Open Sans" charset="0"/>
              </a:rPr>
              <a:t>in Prudential</a:t>
            </a:r>
          </a:p>
          <a:p>
            <a:pPr marL="548640" lvl="1" indent="-91440" defTabSz="1219170">
              <a:spcBef>
                <a:spcPts val="300"/>
              </a:spcBef>
              <a:spcAft>
                <a:spcPts val="300"/>
              </a:spcAft>
              <a:buFont typeface="Arial" charset="0"/>
              <a:buChar char="•"/>
              <a:defRPr/>
            </a:pPr>
            <a:r>
              <a:rPr lang="en-US" sz="1050" i="1" dirty="0">
                <a:solidFill>
                  <a:srgbClr val="000000"/>
                </a:solidFill>
                <a:ea typeface="Open Sans" charset="0"/>
                <a:cs typeface="Open Sans" charset="0"/>
              </a:rPr>
              <a:t>AWS</a:t>
            </a:r>
          </a:p>
          <a:p>
            <a:pPr marL="548640" lvl="1" indent="-91440" defTabSz="1219170">
              <a:spcBef>
                <a:spcPts val="300"/>
              </a:spcBef>
              <a:spcAft>
                <a:spcPts val="300"/>
              </a:spcAft>
              <a:buFont typeface="Arial" charset="0"/>
              <a:buChar char="•"/>
              <a:defRPr/>
            </a:pPr>
            <a:r>
              <a:rPr lang="en-US" sz="1050" i="1" dirty="0">
                <a:solidFill>
                  <a:srgbClr val="000000"/>
                </a:solidFill>
                <a:ea typeface="Open Sans" charset="0"/>
                <a:cs typeface="Open Sans" charset="0"/>
              </a:rPr>
              <a:t>Snowflake</a:t>
            </a: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endParaRPr lang="en-US" sz="1050" b="1" i="1" dirty="0">
              <a:solidFill>
                <a:srgbClr val="000000"/>
              </a:solidFill>
              <a:ea typeface="Open Sans" charset="0"/>
              <a:cs typeface="Open Sans" charset="0"/>
            </a:endParaRP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lang="en-US" sz="1050" b="1" i="1" dirty="0">
                <a:solidFill>
                  <a:srgbClr val="000000"/>
                </a:solidFill>
                <a:ea typeface="Open Sans" charset="0"/>
                <a:cs typeface="Open Sans" charset="0"/>
              </a:rPr>
              <a:t>Limited taxonomies &amp; Data products</a:t>
            </a:r>
            <a:r>
              <a:rPr lang="en-US" sz="1050" i="1" dirty="0">
                <a:solidFill>
                  <a:srgbClr val="000000"/>
                </a:solidFill>
                <a:ea typeface="Open Sans" charset="0"/>
                <a:cs typeface="Open Sans" charset="0"/>
              </a:rPr>
              <a:t> available as of today</a:t>
            </a: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endParaRPr lang="en-US" sz="1050" b="1" i="1" dirty="0">
              <a:solidFill>
                <a:srgbClr val="000000"/>
              </a:solidFill>
              <a:ea typeface="Open Sans" charset="0"/>
              <a:cs typeface="Open Sans" charset="0"/>
            </a:endParaRP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lang="en-US" sz="1050" i="1" dirty="0">
                <a:solidFill>
                  <a:srgbClr val="000000"/>
                </a:solidFill>
                <a:ea typeface="Open Sans" charset="0"/>
                <a:cs typeface="Open Sans" charset="0"/>
              </a:rPr>
              <a:t>Getting </a:t>
            </a:r>
            <a:r>
              <a:rPr lang="en-US" sz="1050" b="1" i="1" dirty="0">
                <a:solidFill>
                  <a:srgbClr val="000000"/>
                </a:solidFill>
                <a:ea typeface="Open Sans" charset="0"/>
                <a:cs typeface="Open Sans" charset="0"/>
              </a:rPr>
              <a:t>access to data or analytical output </a:t>
            </a:r>
            <a:r>
              <a:rPr lang="en-US" sz="1050" i="1" dirty="0">
                <a:solidFill>
                  <a:srgbClr val="000000"/>
                </a:solidFill>
                <a:ea typeface="Open Sans" charset="0"/>
                <a:cs typeface="Open Sans" charset="0"/>
              </a:rPr>
              <a:t>is time consuming for data scientists and reporting analysts</a:t>
            </a:r>
          </a:p>
          <a:p>
            <a:pPr marR="0" lvl="0" algn="l" defTabSz="1219170" rtl="0" eaLnBrk="1" fontAlgn="auto" latinLnBrk="0" hangingPunct="1">
              <a:lnSpc>
                <a:spcPct val="100000"/>
              </a:lnSpc>
              <a:spcBef>
                <a:spcPts val="300"/>
              </a:spcBef>
              <a:spcAft>
                <a:spcPts val="300"/>
              </a:spcAft>
              <a:buClrTx/>
              <a:buSzTx/>
              <a:tabLst/>
              <a:defRPr/>
            </a:pPr>
            <a:endParaRPr lang="en-US" sz="1050" i="1" dirty="0">
              <a:solidFill>
                <a:srgbClr val="000000"/>
              </a:solidFill>
              <a:ea typeface="Open Sans" charset="0"/>
              <a:cs typeface="Open Sans" charset="0"/>
            </a:endParaRPr>
          </a:p>
          <a:p>
            <a:pPr marR="0" lvl="0" algn="l" defTabSz="1219170" rtl="0" eaLnBrk="1" fontAlgn="auto" latinLnBrk="0" hangingPunct="1">
              <a:lnSpc>
                <a:spcPct val="100000"/>
              </a:lnSpc>
              <a:spcBef>
                <a:spcPts val="300"/>
              </a:spcBef>
              <a:spcAft>
                <a:spcPts val="300"/>
              </a:spcAft>
              <a:buClrTx/>
              <a:buSzTx/>
              <a:tabLst/>
              <a:defRPr/>
            </a:pPr>
            <a:endParaRPr lang="en-US" sz="1050" i="1" dirty="0">
              <a:solidFill>
                <a:srgbClr val="000000"/>
              </a:solidFill>
              <a:ea typeface="Open Sans" charset="0"/>
              <a:cs typeface="Open Sans" charset="0"/>
            </a:endParaRPr>
          </a:p>
        </p:txBody>
      </p:sp>
      <p:sp>
        <p:nvSpPr>
          <p:cNvPr id="140" name="TextBox 139">
            <a:extLst>
              <a:ext uri="{FF2B5EF4-FFF2-40B4-BE49-F238E27FC236}">
                <a16:creationId xmlns:a16="http://schemas.microsoft.com/office/drawing/2014/main" id="{FBB356BB-9824-2357-CD7F-BB83EFA0D4A4}"/>
              </a:ext>
            </a:extLst>
          </p:cNvPr>
          <p:cNvSpPr txBox="1"/>
          <p:nvPr/>
        </p:nvSpPr>
        <p:spPr>
          <a:xfrm>
            <a:off x="2862030" y="2086369"/>
            <a:ext cx="1731350" cy="424732"/>
          </a:xfrm>
          <a:prstGeom prst="rect">
            <a:avLst/>
          </a:prstGeom>
          <a:noFill/>
        </p:spPr>
        <p:txBody>
          <a:bodyPr wrap="square" rtlCol="0">
            <a:spAutoFit/>
          </a:bodyPr>
          <a:lstStyle/>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ea typeface="Chronicle Display Light" charset="0"/>
                <a:cs typeface="Chronicle Display Light" charset="0"/>
              </a:rPr>
              <a:t>Learning &amp; Recommendations</a:t>
            </a:r>
          </a:p>
        </p:txBody>
      </p:sp>
      <p:sp>
        <p:nvSpPr>
          <p:cNvPr id="141" name="TextBox 140">
            <a:extLst>
              <a:ext uri="{FF2B5EF4-FFF2-40B4-BE49-F238E27FC236}">
                <a16:creationId xmlns:a16="http://schemas.microsoft.com/office/drawing/2014/main" id="{E7A75FD5-ED70-44DD-9308-CC778300D06B}"/>
              </a:ext>
            </a:extLst>
          </p:cNvPr>
          <p:cNvSpPr txBox="1"/>
          <p:nvPr/>
        </p:nvSpPr>
        <p:spPr>
          <a:xfrm>
            <a:off x="10725809" y="3059314"/>
            <a:ext cx="1466191" cy="353302"/>
          </a:xfrm>
          <a:prstGeom prst="rect">
            <a:avLst/>
          </a:prstGeom>
          <a:solidFill>
            <a:schemeClr val="bg1"/>
          </a:solidFill>
        </p:spPr>
        <p:txBody>
          <a:bodyPr wrap="square" rtlCol="0">
            <a:spAutoFit/>
          </a:bodyPr>
          <a:lstStyle/>
          <a:p>
            <a:pPr marL="0" marR="0" lvl="0" indent="0" algn="l" defTabSz="1219170" rtl="0" eaLnBrk="1" fontAlgn="auto" latinLnBrk="0" hangingPunct="1">
              <a:lnSpc>
                <a:spcPct val="80000"/>
              </a:lnSpc>
              <a:spcBef>
                <a:spcPts val="0"/>
              </a:spcBef>
              <a:spcAft>
                <a:spcPts val="300"/>
              </a:spcAft>
              <a:buClrTx/>
              <a:buSzTx/>
              <a:buFontTx/>
              <a:buNone/>
              <a:tabLst/>
              <a:defRPr/>
            </a:pPr>
            <a:r>
              <a:rPr kumimoji="0" lang="en-US" sz="1050" b="1" i="0" u="none" strike="noStrike" kern="1200" cap="none" spc="300" normalizeH="0" baseline="0" noProof="0">
                <a:ln>
                  <a:noFill/>
                </a:ln>
                <a:solidFill>
                  <a:srgbClr val="000000"/>
                </a:solidFill>
                <a:effectLst/>
                <a:uLnTx/>
                <a:uFillTx/>
                <a:ea typeface="Open Sans" charset="0"/>
                <a:cs typeface="Open Sans" charset="0"/>
              </a:rPr>
              <a:t>LEADING PRACTICES</a:t>
            </a:r>
          </a:p>
        </p:txBody>
      </p:sp>
      <p:sp>
        <p:nvSpPr>
          <p:cNvPr id="143" name="Rectangle 142">
            <a:extLst>
              <a:ext uri="{FF2B5EF4-FFF2-40B4-BE49-F238E27FC236}">
                <a16:creationId xmlns:a16="http://schemas.microsoft.com/office/drawing/2014/main" id="{7F026B0B-E261-BD55-4CE0-2AA5BB8E8ADE}"/>
              </a:ext>
            </a:extLst>
          </p:cNvPr>
          <p:cNvSpPr/>
          <p:nvPr/>
        </p:nvSpPr>
        <p:spPr>
          <a:xfrm>
            <a:off x="4825608" y="1867428"/>
            <a:ext cx="2859944" cy="3854901"/>
          </a:xfrm>
          <a:prstGeom prst="rect">
            <a:avLst/>
          </a:prstGeom>
          <a:solidFill>
            <a:schemeClr val="accent1">
              <a:lumMod val="20000"/>
              <a:lumOff val="80000"/>
            </a:schemeClr>
          </a:solidFill>
          <a:ln w="28575">
            <a:solidFill>
              <a:schemeClr val="accent1"/>
            </a:solidFill>
          </a:ln>
        </p:spPr>
        <p:txBody>
          <a:bodyPr wrap="square">
            <a:spAutoFit/>
          </a:bodyPr>
          <a:lstStyle/>
          <a:p>
            <a:pPr marR="0" lvl="0" algn="l" defTabSz="1219170" rtl="0" eaLnBrk="1" fontAlgn="auto" latinLnBrk="0" hangingPunct="1">
              <a:lnSpc>
                <a:spcPct val="100000"/>
              </a:lnSpc>
              <a:spcBef>
                <a:spcPts val="300"/>
              </a:spcBef>
              <a:spcAft>
                <a:spcPts val="300"/>
              </a:spcAft>
              <a:buClrTx/>
              <a:buSzTx/>
              <a:tabLst/>
              <a:defRPr/>
            </a:pPr>
            <a:endParaRPr lang="en-US" sz="1050" b="1" i="1" dirty="0">
              <a:solidFill>
                <a:srgbClr val="000000"/>
              </a:solidFill>
              <a:ea typeface="Open Sans" charset="0"/>
              <a:cs typeface="Open Sans" charset="0"/>
            </a:endParaRPr>
          </a:p>
          <a:p>
            <a:pPr marL="91440" indent="-91440" defTabSz="1219170">
              <a:spcBef>
                <a:spcPts val="300"/>
              </a:spcBef>
              <a:spcAft>
                <a:spcPts val="300"/>
              </a:spcAft>
              <a:buFont typeface="Arial" charset="0"/>
              <a:buChar char="•"/>
              <a:defRPr/>
            </a:pPr>
            <a:r>
              <a:rPr kumimoji="0" lang="en-US" sz="1050" b="0" i="1" u="none" strike="noStrike" kern="1200" cap="none" spc="0" normalizeH="0" baseline="0" noProof="0" dirty="0">
                <a:ln>
                  <a:noFill/>
                </a:ln>
                <a:solidFill>
                  <a:srgbClr val="000000"/>
                </a:solidFill>
                <a:effectLst/>
                <a:uLnTx/>
                <a:uFillTx/>
                <a:ea typeface="Open Sans" charset="0"/>
                <a:cs typeface="Open Sans" charset="0"/>
              </a:rPr>
              <a:t>Marketplace for </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different personas </a:t>
            </a:r>
            <a:r>
              <a:rPr kumimoji="0" lang="en-US" sz="1050" b="1" i="1" u="none" strike="noStrike" kern="1200" cap="none" spc="0" normalizeH="0" baseline="0" noProof="0" dirty="0" err="1">
                <a:ln>
                  <a:noFill/>
                </a:ln>
                <a:solidFill>
                  <a:srgbClr val="000000"/>
                </a:solidFill>
                <a:effectLst/>
                <a:uLnTx/>
                <a:uFillTx/>
                <a:ea typeface="Open Sans" charset="0"/>
                <a:cs typeface="Open Sans" charset="0"/>
              </a:rPr>
              <a:t>eg.</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 Data Scientists, ML </a:t>
            </a:r>
            <a:r>
              <a:rPr lang="en-US" sz="1050" b="1" i="1" dirty="0">
                <a:solidFill>
                  <a:srgbClr val="000000"/>
                </a:solidFill>
                <a:ea typeface="Open Sans" charset="0"/>
                <a:cs typeface="Open Sans" charset="0"/>
              </a:rPr>
              <a:t>Engineers, Report analysts etc</a:t>
            </a:r>
            <a:r>
              <a:rPr lang="en-US" sz="1050" i="1" dirty="0">
                <a:solidFill>
                  <a:srgbClr val="000000"/>
                </a:solidFill>
                <a:ea typeface="Open Sans" charset="0"/>
                <a:cs typeface="Open Sans" charset="0"/>
              </a:rPr>
              <a:t>. </a:t>
            </a:r>
            <a:r>
              <a:rPr kumimoji="0" lang="en-US" sz="1050" b="0" i="1" u="none" strike="noStrike" kern="1200" cap="none" spc="0" normalizeH="0" baseline="0" noProof="0" dirty="0">
                <a:ln>
                  <a:noFill/>
                </a:ln>
                <a:solidFill>
                  <a:srgbClr val="000000"/>
                </a:solidFill>
                <a:effectLst/>
                <a:uLnTx/>
                <a:uFillTx/>
                <a:ea typeface="Open Sans" charset="0"/>
                <a:cs typeface="Open Sans" charset="0"/>
              </a:rPr>
              <a:t>to seamlessly access </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data from EDP</a:t>
            </a:r>
          </a:p>
          <a:p>
            <a:pPr marR="0" lvl="0" algn="l" defTabSz="1219170" rtl="0" eaLnBrk="1" fontAlgn="auto" latinLnBrk="0" hangingPunct="1">
              <a:lnSpc>
                <a:spcPct val="100000"/>
              </a:lnSpc>
              <a:spcBef>
                <a:spcPts val="300"/>
              </a:spcBef>
              <a:spcAft>
                <a:spcPts val="300"/>
              </a:spcAft>
              <a:buClrTx/>
              <a:buSzTx/>
              <a:tabLst/>
              <a:defRPr/>
            </a:pPr>
            <a:endParaRPr kumimoji="0" lang="en-US" sz="1050" b="1" i="1" u="none" strike="noStrike" kern="1200" cap="none" spc="0" normalizeH="0" baseline="0" noProof="0" dirty="0">
              <a:ln>
                <a:noFill/>
              </a:ln>
              <a:solidFill>
                <a:srgbClr val="000000"/>
              </a:solidFill>
              <a:effectLst/>
              <a:uLnTx/>
              <a:uFillTx/>
              <a:ea typeface="Open Sans" charset="0"/>
              <a:cs typeface="Open Sans" charset="0"/>
            </a:endParaRP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kumimoji="0" lang="en-US" sz="1050" b="1" i="1" u="none" strike="noStrike" kern="1200" cap="none" spc="0" normalizeH="0" baseline="0" noProof="0" dirty="0">
                <a:ln>
                  <a:noFill/>
                </a:ln>
                <a:solidFill>
                  <a:srgbClr val="000000"/>
                </a:solidFill>
                <a:effectLst/>
                <a:uLnTx/>
                <a:uFillTx/>
                <a:ea typeface="Open Sans" charset="0"/>
                <a:cs typeface="Open Sans" charset="0"/>
              </a:rPr>
              <a:t>Integrations</a:t>
            </a:r>
            <a:r>
              <a:rPr kumimoji="0" lang="en-US" sz="1050" b="0" i="1" u="none" strike="noStrike" kern="1200" cap="none" spc="0" normalizeH="0" baseline="0" noProof="0" dirty="0">
                <a:ln>
                  <a:noFill/>
                </a:ln>
                <a:solidFill>
                  <a:srgbClr val="000000"/>
                </a:solidFill>
                <a:effectLst/>
                <a:uLnTx/>
                <a:uFillTx/>
                <a:ea typeface="Open Sans" charset="0"/>
                <a:cs typeface="Open Sans" charset="0"/>
              </a:rPr>
              <a:t> to various </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AI/ ML models, catalogs</a:t>
            </a:r>
            <a:r>
              <a:rPr kumimoji="0" lang="en-US" sz="1050" b="0" i="1" u="none" strike="noStrike" kern="1200" cap="none" spc="0" normalizeH="0" baseline="0" noProof="0" dirty="0">
                <a:ln>
                  <a:noFill/>
                </a:ln>
                <a:solidFill>
                  <a:srgbClr val="000000"/>
                </a:solidFill>
                <a:effectLst/>
                <a:uLnTx/>
                <a:uFillTx/>
                <a:ea typeface="Open Sans" charset="0"/>
                <a:cs typeface="Open Sans" charset="0"/>
              </a:rPr>
              <a:t>, </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metadata repos</a:t>
            </a:r>
            <a:r>
              <a:rPr kumimoji="0" lang="en-US" sz="1050" b="0" i="1" u="none" strike="noStrike" kern="1200" cap="none" spc="0" normalizeH="0" baseline="0" noProof="0" dirty="0">
                <a:ln>
                  <a:noFill/>
                </a:ln>
                <a:solidFill>
                  <a:srgbClr val="000000"/>
                </a:solidFill>
                <a:effectLst/>
                <a:uLnTx/>
                <a:uFillTx/>
                <a:ea typeface="Open Sans" charset="0"/>
                <a:cs typeface="Open Sans" charset="0"/>
              </a:rPr>
              <a:t>, </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access request processes</a:t>
            </a:r>
            <a:r>
              <a:rPr kumimoji="0" lang="en-US" sz="1050" b="0" i="1" u="none" strike="noStrike" kern="1200" cap="none" spc="0" normalizeH="0" baseline="0" noProof="0" dirty="0">
                <a:ln>
                  <a:noFill/>
                </a:ln>
                <a:solidFill>
                  <a:srgbClr val="000000"/>
                </a:solidFill>
                <a:effectLst/>
                <a:uLnTx/>
                <a:uFillTx/>
                <a:ea typeface="Open Sans" charset="0"/>
                <a:cs typeface="Open Sans" charset="0"/>
              </a:rPr>
              <a:t>/systems and </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data previews</a:t>
            </a: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endParaRPr kumimoji="0" lang="en-US" sz="1050" b="1" i="1" u="none" strike="noStrike" kern="1200" cap="none" spc="0" normalizeH="0" baseline="0" noProof="0" dirty="0">
              <a:ln>
                <a:noFill/>
              </a:ln>
              <a:solidFill>
                <a:srgbClr val="000000"/>
              </a:solidFill>
              <a:effectLst/>
              <a:uLnTx/>
              <a:uFillTx/>
              <a:ea typeface="Open Sans" charset="0"/>
              <a:cs typeface="Open Sans" charset="0"/>
            </a:endParaRPr>
          </a:p>
          <a:p>
            <a:pPr marL="91440" indent="-91440" defTabSz="1219170">
              <a:spcBef>
                <a:spcPts val="300"/>
              </a:spcBef>
              <a:spcAft>
                <a:spcPts val="300"/>
              </a:spcAft>
              <a:buFont typeface="Arial" charset="0"/>
              <a:buChar char="•"/>
              <a:defRPr/>
            </a:pPr>
            <a:r>
              <a:rPr lang="en-US" sz="1050" i="1" dirty="0">
                <a:solidFill>
                  <a:srgbClr val="000000"/>
                </a:solidFill>
                <a:ea typeface="Open Sans" charset="0"/>
                <a:cs typeface="Open Sans" charset="0"/>
              </a:rPr>
              <a:t>User friendly Marketplace UI to enable to </a:t>
            </a:r>
            <a:r>
              <a:rPr lang="en-US" sz="1050" b="1" i="1" dirty="0">
                <a:solidFill>
                  <a:srgbClr val="000000"/>
                </a:solidFill>
                <a:ea typeface="Open Sans" charset="0"/>
                <a:cs typeface="Open Sans" charset="0"/>
              </a:rPr>
              <a:t>share and reuse Data Products </a:t>
            </a:r>
            <a:r>
              <a:rPr kumimoji="0" lang="en-US" sz="1050" b="0" i="1" u="none" strike="noStrike" kern="1200" cap="none" spc="0" normalizeH="0" baseline="0" noProof="0" dirty="0">
                <a:ln>
                  <a:noFill/>
                </a:ln>
                <a:solidFill>
                  <a:srgbClr val="000000"/>
                </a:solidFill>
                <a:effectLst/>
                <a:uLnTx/>
                <a:uFillTx/>
                <a:ea typeface="Open Sans" charset="0"/>
                <a:cs typeface="Open Sans" charset="0"/>
              </a:rPr>
              <a:t>within </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Prudential’s privacy guidelines </a:t>
            </a:r>
            <a:r>
              <a:rPr kumimoji="0" lang="en-US" sz="1050" i="1" u="none" strike="noStrike" kern="1200" cap="none" spc="0" normalizeH="0" baseline="0" noProof="0" dirty="0">
                <a:ln>
                  <a:noFill/>
                </a:ln>
                <a:solidFill>
                  <a:srgbClr val="000000"/>
                </a:solidFill>
                <a:effectLst/>
                <a:uLnTx/>
                <a:uFillTx/>
                <a:ea typeface="Open Sans" charset="0"/>
                <a:cs typeface="Open Sans" charset="0"/>
              </a:rPr>
              <a:t>and</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 security controls</a:t>
            </a:r>
          </a:p>
          <a:p>
            <a:pPr marL="91440" indent="-91440" defTabSz="1219170">
              <a:spcBef>
                <a:spcPts val="300"/>
              </a:spcBef>
              <a:spcAft>
                <a:spcPts val="300"/>
              </a:spcAft>
              <a:buFont typeface="Arial" charset="0"/>
              <a:buChar char="•"/>
              <a:defRPr/>
            </a:pPr>
            <a:endParaRPr lang="en-US" sz="1050" i="1" dirty="0">
              <a:solidFill>
                <a:srgbClr val="000000"/>
              </a:solidFill>
              <a:ea typeface="Open Sans" charset="0"/>
              <a:cs typeface="Open Sans" charset="0"/>
            </a:endParaRP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kumimoji="0" lang="en-US" sz="1050" b="0" i="1" u="none" strike="noStrike" kern="1200" cap="none" spc="0" normalizeH="0" baseline="0" noProof="0" dirty="0">
                <a:ln>
                  <a:noFill/>
                </a:ln>
                <a:solidFill>
                  <a:srgbClr val="000000"/>
                </a:solidFill>
                <a:effectLst/>
                <a:uLnTx/>
                <a:uFillTx/>
                <a:ea typeface="Open Sans" charset="0"/>
                <a:cs typeface="Open Sans" charset="0"/>
              </a:rPr>
              <a:t>Facilitate data being “</a:t>
            </a:r>
            <a:r>
              <a:rPr kumimoji="0" lang="en-US" sz="1050" b="1" i="1" u="none" strike="noStrike" kern="1200" cap="none" spc="0" normalizeH="0" baseline="0" noProof="0" dirty="0">
                <a:ln>
                  <a:noFill/>
                </a:ln>
                <a:solidFill>
                  <a:srgbClr val="000000"/>
                </a:solidFill>
                <a:effectLst/>
                <a:uLnTx/>
                <a:uFillTx/>
                <a:ea typeface="Open Sans" charset="0"/>
                <a:cs typeface="Open Sans" charset="0"/>
              </a:rPr>
              <a:t>published</a:t>
            </a:r>
            <a:r>
              <a:rPr kumimoji="0" lang="en-US" sz="1050" b="0" i="1" u="none" strike="noStrike" kern="1200" cap="none" spc="0" normalizeH="0" baseline="0" noProof="0" dirty="0">
                <a:ln>
                  <a:noFill/>
                </a:ln>
                <a:solidFill>
                  <a:srgbClr val="000000"/>
                </a:solidFill>
                <a:effectLst/>
                <a:uLnTx/>
                <a:uFillTx/>
                <a:ea typeface="Open Sans" charset="0"/>
                <a:cs typeface="Open Sans" charset="0"/>
              </a:rPr>
              <a:t>” into Marketplace </a:t>
            </a: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endParaRPr lang="en-US" sz="1050" i="1" dirty="0">
              <a:solidFill>
                <a:srgbClr val="000000"/>
              </a:solidFill>
              <a:ea typeface="Open Sans" charset="0"/>
              <a:cs typeface="Open Sans" charset="0"/>
            </a:endParaRP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lang="en-US" sz="1050" b="1" i="1" dirty="0">
                <a:solidFill>
                  <a:srgbClr val="000000"/>
                </a:solidFill>
                <a:ea typeface="Open Sans" charset="0"/>
                <a:cs typeface="Open Sans" charset="0"/>
              </a:rPr>
              <a:t>Self-Service capabilities</a:t>
            </a:r>
            <a:r>
              <a:rPr lang="en-US" sz="1050" i="1" dirty="0">
                <a:solidFill>
                  <a:srgbClr val="000000"/>
                </a:solidFill>
                <a:ea typeface="Open Sans" charset="0"/>
                <a:cs typeface="Open Sans" charset="0"/>
              </a:rPr>
              <a:t> for users to obtain </a:t>
            </a:r>
            <a:r>
              <a:rPr lang="en-US" sz="1050" b="1" i="1" dirty="0">
                <a:solidFill>
                  <a:srgbClr val="000000"/>
                </a:solidFill>
                <a:ea typeface="Open Sans" charset="0"/>
                <a:cs typeface="Open Sans" charset="0"/>
              </a:rPr>
              <a:t>information and training</a:t>
            </a:r>
            <a:r>
              <a:rPr lang="en-US" sz="1050" i="1" dirty="0">
                <a:solidFill>
                  <a:srgbClr val="000000"/>
                </a:solidFill>
                <a:ea typeface="Open Sans" charset="0"/>
                <a:cs typeface="Open Sans" charset="0"/>
              </a:rPr>
              <a:t> and </a:t>
            </a:r>
            <a:r>
              <a:rPr lang="en-US" sz="1050" b="1" i="1" dirty="0">
                <a:solidFill>
                  <a:srgbClr val="000000"/>
                </a:solidFill>
                <a:ea typeface="Open Sans" charset="0"/>
                <a:cs typeface="Open Sans" charset="0"/>
              </a:rPr>
              <a:t>bring their own applications</a:t>
            </a:r>
          </a:p>
        </p:txBody>
      </p:sp>
      <p:cxnSp>
        <p:nvCxnSpPr>
          <p:cNvPr id="144" name="Straight Connector 143">
            <a:extLst>
              <a:ext uri="{FF2B5EF4-FFF2-40B4-BE49-F238E27FC236}">
                <a16:creationId xmlns:a16="http://schemas.microsoft.com/office/drawing/2014/main" id="{E992EAF3-3BCC-3E2E-D70D-1958F9A1DDC7}"/>
              </a:ext>
            </a:extLst>
          </p:cNvPr>
          <p:cNvCxnSpPr>
            <a:cxnSpLocks/>
            <a:stCxn id="143" idx="1"/>
            <a:endCxn id="60" idx="6"/>
          </p:cNvCxnSpPr>
          <p:nvPr/>
        </p:nvCxnSpPr>
        <p:spPr>
          <a:xfrm flipH="1">
            <a:off x="4605264" y="3794879"/>
            <a:ext cx="220344" cy="294190"/>
          </a:xfrm>
          <a:prstGeom prst="line">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cxnSp>
        <p:nvCxnSpPr>
          <p:cNvPr id="145" name="Straight Connector 144">
            <a:extLst>
              <a:ext uri="{FF2B5EF4-FFF2-40B4-BE49-F238E27FC236}">
                <a16:creationId xmlns:a16="http://schemas.microsoft.com/office/drawing/2014/main" id="{497BFF1F-2C66-0D8F-82E4-1F0206ACFA14}"/>
              </a:ext>
            </a:extLst>
          </p:cNvPr>
          <p:cNvCxnSpPr>
            <a:cxnSpLocks/>
            <a:stCxn id="58" idx="3"/>
            <a:endCxn id="139" idx="3"/>
          </p:cNvCxnSpPr>
          <p:nvPr/>
        </p:nvCxnSpPr>
        <p:spPr>
          <a:xfrm flipH="1">
            <a:off x="2567879" y="2951126"/>
            <a:ext cx="514623" cy="917860"/>
          </a:xfrm>
          <a:prstGeom prst="line">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sp>
        <p:nvSpPr>
          <p:cNvPr id="146" name="Arc 145">
            <a:extLst>
              <a:ext uri="{FF2B5EF4-FFF2-40B4-BE49-F238E27FC236}">
                <a16:creationId xmlns:a16="http://schemas.microsoft.com/office/drawing/2014/main" id="{AA5EF1F8-79EE-A1BE-7716-923CFF458EA0}"/>
              </a:ext>
            </a:extLst>
          </p:cNvPr>
          <p:cNvSpPr>
            <a:spLocks noChangeAspect="1"/>
          </p:cNvSpPr>
          <p:nvPr/>
        </p:nvSpPr>
        <p:spPr>
          <a:xfrm>
            <a:off x="8347046" y="2088441"/>
            <a:ext cx="2369426" cy="2369424"/>
          </a:xfrm>
          <a:prstGeom prst="arc">
            <a:avLst>
              <a:gd name="adj1" fmla="val 16200000"/>
              <a:gd name="adj2" fmla="val 5330918"/>
            </a:avLst>
          </a:prstGeom>
          <a:ln w="28575" cmpd="sng">
            <a:solidFill>
              <a:schemeClr val="accent2"/>
            </a:solidFill>
            <a:tailEnd type="ova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ea typeface="+mn-ea"/>
              <a:cs typeface="Open Sans"/>
            </a:endParaRPr>
          </a:p>
        </p:txBody>
      </p:sp>
      <p:sp>
        <p:nvSpPr>
          <p:cNvPr id="147" name="Arc 146">
            <a:extLst>
              <a:ext uri="{FF2B5EF4-FFF2-40B4-BE49-F238E27FC236}">
                <a16:creationId xmlns:a16="http://schemas.microsoft.com/office/drawing/2014/main" id="{8840A2BA-1FE1-BF2C-EBE3-451933F82555}"/>
              </a:ext>
            </a:extLst>
          </p:cNvPr>
          <p:cNvSpPr>
            <a:spLocks noChangeAspect="1"/>
          </p:cNvSpPr>
          <p:nvPr/>
        </p:nvSpPr>
        <p:spPr>
          <a:xfrm>
            <a:off x="8506917" y="2248311"/>
            <a:ext cx="2049684" cy="2049684"/>
          </a:xfrm>
          <a:prstGeom prst="arc">
            <a:avLst>
              <a:gd name="adj1" fmla="val 16200000"/>
              <a:gd name="adj2" fmla="val 11092377"/>
            </a:avLst>
          </a:prstGeom>
          <a:ln w="28575" cmpd="sng">
            <a:solidFill>
              <a:schemeClr val="accent2"/>
            </a:solidFill>
            <a:tailEnd type="ova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ea typeface="+mn-ea"/>
              <a:cs typeface="Open Sans"/>
            </a:endParaRPr>
          </a:p>
        </p:txBody>
      </p:sp>
      <p:cxnSp>
        <p:nvCxnSpPr>
          <p:cNvPr id="148" name="Straight Connector 147">
            <a:extLst>
              <a:ext uri="{FF2B5EF4-FFF2-40B4-BE49-F238E27FC236}">
                <a16:creationId xmlns:a16="http://schemas.microsoft.com/office/drawing/2014/main" id="{E22B95D3-C80F-2585-4765-6C409BBB15BC}"/>
              </a:ext>
            </a:extLst>
          </p:cNvPr>
          <p:cNvCxnSpPr>
            <a:cxnSpLocks/>
            <a:stCxn id="57" idx="2"/>
          </p:cNvCxnSpPr>
          <p:nvPr/>
        </p:nvCxnSpPr>
        <p:spPr>
          <a:xfrm>
            <a:off x="9602508" y="3475579"/>
            <a:ext cx="0" cy="1213807"/>
          </a:xfrm>
          <a:prstGeom prst="line">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sp>
        <p:nvSpPr>
          <p:cNvPr id="149" name="Rectangle 148">
            <a:extLst>
              <a:ext uri="{FF2B5EF4-FFF2-40B4-BE49-F238E27FC236}">
                <a16:creationId xmlns:a16="http://schemas.microsoft.com/office/drawing/2014/main" id="{37EBC8D0-D113-C325-BA23-27E660A47D7E}"/>
              </a:ext>
            </a:extLst>
          </p:cNvPr>
          <p:cNvSpPr/>
          <p:nvPr/>
        </p:nvSpPr>
        <p:spPr>
          <a:xfrm>
            <a:off x="8205475" y="4719659"/>
            <a:ext cx="3572868" cy="1615827"/>
          </a:xfrm>
          <a:prstGeom prst="rect">
            <a:avLst/>
          </a:prstGeom>
          <a:solidFill>
            <a:schemeClr val="accent2">
              <a:lumMod val="20000"/>
              <a:lumOff val="80000"/>
            </a:schemeClr>
          </a:solidFill>
          <a:ln w="28575">
            <a:solidFill>
              <a:schemeClr val="accent2"/>
            </a:solidFill>
          </a:ln>
        </p:spPr>
        <p:txBody>
          <a:bodyPr wrap="square">
            <a:spAutoFit/>
          </a:bodyPr>
          <a:lstStyle/>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lang="en-US" sz="1050" i="1" dirty="0">
                <a:solidFill>
                  <a:srgbClr val="000000"/>
                </a:solidFill>
                <a:ea typeface="Open Sans" charset="0"/>
                <a:cs typeface="Open Sans" charset="0"/>
              </a:rPr>
              <a:t>Accelerate</a:t>
            </a:r>
            <a:r>
              <a:rPr lang="en-US" sz="1050" b="1" i="1" dirty="0">
                <a:solidFill>
                  <a:srgbClr val="000000"/>
                </a:solidFill>
                <a:ea typeface="Open Sans" charset="0"/>
                <a:cs typeface="Open Sans" charset="0"/>
              </a:rPr>
              <a:t> time to insights </a:t>
            </a:r>
            <a:r>
              <a:rPr lang="en-US" sz="1050" i="1" dirty="0">
                <a:solidFill>
                  <a:srgbClr val="000000"/>
                </a:solidFill>
                <a:ea typeface="Open Sans" charset="0"/>
                <a:cs typeface="Open Sans" charset="0"/>
              </a:rPr>
              <a:t>by</a:t>
            </a:r>
            <a:r>
              <a:rPr lang="en-US" sz="1050" b="1" i="1" dirty="0">
                <a:solidFill>
                  <a:srgbClr val="000000"/>
                </a:solidFill>
                <a:ea typeface="Open Sans" charset="0"/>
                <a:cs typeface="Open Sans" charset="0"/>
              </a:rPr>
              <a:t> 20-25%</a:t>
            </a: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lang="en-US" sz="1050" i="1" dirty="0">
                <a:solidFill>
                  <a:srgbClr val="000000"/>
                </a:solidFill>
                <a:ea typeface="Open Sans" charset="0"/>
                <a:cs typeface="Open Sans" charset="0"/>
              </a:rPr>
              <a:t>Reduce</a:t>
            </a:r>
            <a:r>
              <a:rPr lang="en-US" sz="1050" b="1" i="1" dirty="0">
                <a:solidFill>
                  <a:srgbClr val="000000"/>
                </a:solidFill>
                <a:ea typeface="Open Sans" charset="0"/>
                <a:cs typeface="Open Sans" charset="0"/>
              </a:rPr>
              <a:t> time from ingestion to availability </a:t>
            </a:r>
            <a:r>
              <a:rPr lang="en-US" sz="1050" i="1" dirty="0">
                <a:solidFill>
                  <a:srgbClr val="000000"/>
                </a:solidFill>
                <a:ea typeface="Open Sans" charset="0"/>
                <a:cs typeface="Open Sans" charset="0"/>
              </a:rPr>
              <a:t>for new data products by</a:t>
            </a:r>
            <a:r>
              <a:rPr lang="en-US" sz="1050" b="1" i="1" dirty="0">
                <a:solidFill>
                  <a:srgbClr val="000000"/>
                </a:solidFill>
                <a:ea typeface="Open Sans" charset="0"/>
                <a:cs typeface="Open Sans" charset="0"/>
              </a:rPr>
              <a:t> &gt; 30%</a:t>
            </a: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lang="en-US" sz="1050" b="1" i="1" dirty="0">
                <a:solidFill>
                  <a:srgbClr val="000000"/>
                </a:solidFill>
                <a:ea typeface="Open Sans" charset="0"/>
                <a:cs typeface="Open Sans" charset="0"/>
              </a:rPr>
              <a:t>Intuitive user friendly UI </a:t>
            </a:r>
            <a:r>
              <a:rPr lang="en-US" sz="1050" i="1" dirty="0">
                <a:solidFill>
                  <a:srgbClr val="000000"/>
                </a:solidFill>
                <a:ea typeface="Open Sans" charset="0"/>
                <a:cs typeface="Open Sans" charset="0"/>
              </a:rPr>
              <a:t>to access and onboard data products, analytical tools, KPIs and Dashboards</a:t>
            </a:r>
          </a:p>
          <a:p>
            <a:pPr marL="91440" marR="0" lvl="0" indent="-91440" algn="l" defTabSz="1219170" rtl="0" eaLnBrk="1" fontAlgn="auto" latinLnBrk="0" hangingPunct="1">
              <a:lnSpc>
                <a:spcPct val="100000"/>
              </a:lnSpc>
              <a:spcBef>
                <a:spcPts val="300"/>
              </a:spcBef>
              <a:spcAft>
                <a:spcPts val="300"/>
              </a:spcAft>
              <a:buClrTx/>
              <a:buSzTx/>
              <a:buFont typeface="Arial" charset="0"/>
              <a:buChar char="•"/>
              <a:tabLst/>
              <a:defRPr/>
            </a:pPr>
            <a:r>
              <a:rPr lang="en-US" sz="1050" b="1" i="1" dirty="0">
                <a:solidFill>
                  <a:srgbClr val="000000"/>
                </a:solidFill>
                <a:ea typeface="Open Sans" charset="0"/>
                <a:cs typeface="Open Sans" charset="0"/>
              </a:rPr>
              <a:t>Scalable Architecture </a:t>
            </a:r>
            <a:r>
              <a:rPr lang="en-US" sz="1050" i="1" dirty="0">
                <a:solidFill>
                  <a:srgbClr val="000000"/>
                </a:solidFill>
                <a:ea typeface="Open Sans" charset="0"/>
                <a:cs typeface="Open Sans" charset="0"/>
              </a:rPr>
              <a:t>and </a:t>
            </a:r>
            <a:r>
              <a:rPr lang="en-US" sz="1050" b="1" i="1" dirty="0">
                <a:solidFill>
                  <a:srgbClr val="000000"/>
                </a:solidFill>
                <a:ea typeface="Open Sans" charset="0"/>
                <a:cs typeface="Open Sans" charset="0"/>
              </a:rPr>
              <a:t>Flexible solution</a:t>
            </a:r>
            <a:r>
              <a:rPr lang="en-US" sz="1050" i="1" dirty="0">
                <a:solidFill>
                  <a:srgbClr val="000000"/>
                </a:solidFill>
                <a:ea typeface="Open Sans" charset="0"/>
                <a:cs typeface="Open Sans" charset="0"/>
              </a:rPr>
              <a:t> tailored to technical and business needs, </a:t>
            </a:r>
            <a:r>
              <a:rPr lang="en-US" sz="1050" b="1" i="1" dirty="0">
                <a:solidFill>
                  <a:srgbClr val="000000"/>
                </a:solidFill>
                <a:ea typeface="Open Sans" charset="0"/>
                <a:cs typeface="Open Sans" charset="0"/>
              </a:rPr>
              <a:t>ability to bring your own tool </a:t>
            </a:r>
            <a:r>
              <a:rPr lang="en-US" sz="1050" i="1" dirty="0">
                <a:solidFill>
                  <a:srgbClr val="000000"/>
                </a:solidFill>
                <a:ea typeface="Open Sans" charset="0"/>
                <a:cs typeface="Open Sans" charset="0"/>
              </a:rPr>
              <a:t>to consume data in the format consumers want</a:t>
            </a:r>
          </a:p>
        </p:txBody>
      </p:sp>
    </p:spTree>
    <p:extLst>
      <p:ext uri="{BB962C8B-B14F-4D97-AF65-F5344CB8AC3E}">
        <p14:creationId xmlns:p14="http://schemas.microsoft.com/office/powerpoint/2010/main" val="389865550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b="0" dirty="0">
                <a:ea typeface="Open Sans"/>
                <a:cs typeface="Open Sans"/>
              </a:rPr>
              <a:t>Our </a:t>
            </a:r>
            <a:r>
              <a:rPr lang="en-US" sz="2200" dirty="0">
                <a:solidFill>
                  <a:srgbClr val="00B050"/>
                </a:solidFill>
                <a:ea typeface="Open Sans"/>
                <a:cs typeface="Open Sans"/>
              </a:rPr>
              <a:t>Approach</a:t>
            </a:r>
            <a:r>
              <a:rPr lang="en-US" sz="2200" b="0" dirty="0">
                <a:ea typeface="Open Sans"/>
                <a:cs typeface="Open Sans"/>
              </a:rPr>
              <a:t> to enable your Data Marketplace vision</a:t>
            </a:r>
          </a:p>
        </p:txBody>
      </p:sp>
      <p:sp>
        <p:nvSpPr>
          <p:cNvPr id="53" name="Text Placeholder 3">
            <a:extLst>
              <a:ext uri="{FF2B5EF4-FFF2-40B4-BE49-F238E27FC236}">
                <a16:creationId xmlns:a16="http://schemas.microsoft.com/office/drawing/2014/main" id="{3AAC5803-8CC8-DE31-AE70-F633B90AB888}"/>
              </a:ext>
            </a:extLst>
          </p:cNvPr>
          <p:cNvSpPr>
            <a:spLocks noGrp="1"/>
          </p:cNvSpPr>
          <p:nvPr>
            <p:ph type="body" sz="quarter" idx="13"/>
          </p:nvPr>
        </p:nvSpPr>
        <p:spPr>
          <a:xfrm>
            <a:off x="469900" y="742155"/>
            <a:ext cx="11162349" cy="418079"/>
          </a:xfrm>
        </p:spPr>
        <p:txBody>
          <a:bodyPr/>
          <a:lstStyle/>
          <a:p>
            <a:r>
              <a:rPr lang="en-US" sz="1200" dirty="0"/>
              <a:t>Upon high level analysis of your current ecosystem, we propose to bring in the right combination of people, process and technology aspects to help you realize your Data Marketplace vision.</a:t>
            </a:r>
          </a:p>
          <a:p>
            <a:endParaRPr lang="en-US" sz="1200" dirty="0"/>
          </a:p>
        </p:txBody>
      </p:sp>
      <p:sp>
        <p:nvSpPr>
          <p:cNvPr id="196" name="Rectangle 195">
            <a:extLst>
              <a:ext uri="{FF2B5EF4-FFF2-40B4-BE49-F238E27FC236}">
                <a16:creationId xmlns:a16="http://schemas.microsoft.com/office/drawing/2014/main" id="{9880BBD3-915F-E292-2C50-D9B6FD32E92A}"/>
              </a:ext>
            </a:extLst>
          </p:cNvPr>
          <p:cNvSpPr/>
          <p:nvPr/>
        </p:nvSpPr>
        <p:spPr>
          <a:xfrm rot="16200000">
            <a:off x="-1130453" y="3535393"/>
            <a:ext cx="4265969" cy="307777"/>
          </a:xfrm>
          <a:prstGeom prst="rect">
            <a:avLst/>
          </a:prstGeom>
        </p:spPr>
        <p:txBody>
          <a:bodyPr wrap="square" lIns="0" r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0" normalizeH="0" baseline="0" noProof="0">
                <a:ln>
                  <a:noFill/>
                </a:ln>
                <a:solidFill>
                  <a:srgbClr val="000000">
                    <a:lumMod val="75000"/>
                  </a:srgbClr>
                </a:solidFill>
                <a:effectLst/>
                <a:uLnTx/>
                <a:uFillTx/>
                <a:latin typeface="Open Sans"/>
                <a:ea typeface="Open Sans" charset="0"/>
                <a:cs typeface="Arial" panose="020B0604020202020204" pitchFamily="34" charset="0"/>
              </a:rPr>
              <a:t>Data Marketplace Capabilities Enhancements</a:t>
            </a:r>
          </a:p>
        </p:txBody>
      </p:sp>
      <p:sp>
        <p:nvSpPr>
          <p:cNvPr id="197" name="Freeform 5">
            <a:extLst>
              <a:ext uri="{FF2B5EF4-FFF2-40B4-BE49-F238E27FC236}">
                <a16:creationId xmlns:a16="http://schemas.microsoft.com/office/drawing/2014/main" id="{64510D76-B78F-02F9-B614-AF01AEF60E73}"/>
              </a:ext>
            </a:extLst>
          </p:cNvPr>
          <p:cNvSpPr>
            <a:spLocks/>
          </p:cNvSpPr>
          <p:nvPr/>
        </p:nvSpPr>
        <p:spPr bwMode="blackWhite">
          <a:xfrm>
            <a:off x="1219326" y="3237655"/>
            <a:ext cx="3474720" cy="3136160"/>
          </a:xfrm>
          <a:custGeom>
            <a:avLst/>
            <a:gdLst>
              <a:gd name="T0" fmla="*/ 0 w 647"/>
              <a:gd name="T1" fmla="*/ 2147483647 h 548"/>
              <a:gd name="T2" fmla="*/ 0 w 647"/>
              <a:gd name="T3" fmla="*/ 2147483647 h 548"/>
              <a:gd name="T4" fmla="*/ 2147483647 w 647"/>
              <a:gd name="T5" fmla="*/ 2147483647 h 548"/>
              <a:gd name="T6" fmla="*/ 2147483647 w 647"/>
              <a:gd name="T7" fmla="*/ 0 h 548"/>
              <a:gd name="T8" fmla="*/ 2147483647 w 647"/>
              <a:gd name="T9" fmla="*/ 2147483647 h 548"/>
              <a:gd name="T10" fmla="*/ 2147483647 w 647"/>
              <a:gd name="T11" fmla="*/ 2147483647 h 548"/>
              <a:gd name="T12" fmla="*/ 2147483647 w 647"/>
              <a:gd name="T13" fmla="*/ 2147483647 h 548"/>
              <a:gd name="T14" fmla="*/ 2147483647 w 647"/>
              <a:gd name="T15" fmla="*/ 2147483647 h 548"/>
              <a:gd name="T16" fmla="*/ 2147483647 w 647"/>
              <a:gd name="T17" fmla="*/ 2147483647 h 548"/>
              <a:gd name="T18" fmla="*/ 2147483647 w 647"/>
              <a:gd name="T19" fmla="*/ 2147483647 h 548"/>
              <a:gd name="T20" fmla="*/ 2147483647 w 647"/>
              <a:gd name="T21" fmla="*/ 2147483647 h 548"/>
              <a:gd name="T22" fmla="*/ 0 w 647"/>
              <a:gd name="T23" fmla="*/ 2147483647 h 5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7"/>
              <a:gd name="T37" fmla="*/ 0 h 548"/>
              <a:gd name="T38" fmla="*/ 647 w 647"/>
              <a:gd name="T39" fmla="*/ 548 h 5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7" h="548">
                <a:moveTo>
                  <a:pt x="0" y="78"/>
                </a:moveTo>
                <a:lnTo>
                  <a:pt x="0" y="547"/>
                </a:lnTo>
                <a:lnTo>
                  <a:pt x="646" y="546"/>
                </a:lnTo>
                <a:lnTo>
                  <a:pt x="646" y="0"/>
                </a:lnTo>
                <a:lnTo>
                  <a:pt x="582" y="10"/>
                </a:lnTo>
                <a:lnTo>
                  <a:pt x="490" y="24"/>
                </a:lnTo>
                <a:lnTo>
                  <a:pt x="414" y="34"/>
                </a:lnTo>
                <a:lnTo>
                  <a:pt x="348" y="42"/>
                </a:lnTo>
                <a:lnTo>
                  <a:pt x="278" y="50"/>
                </a:lnTo>
                <a:lnTo>
                  <a:pt x="192" y="58"/>
                </a:lnTo>
                <a:lnTo>
                  <a:pt x="82" y="70"/>
                </a:lnTo>
                <a:lnTo>
                  <a:pt x="0" y="78"/>
                </a:lnTo>
              </a:path>
            </a:pathLst>
          </a:custGeom>
          <a:solidFill>
            <a:schemeClr val="accent3">
              <a:lumMod val="20000"/>
              <a:lumOff val="80000"/>
            </a:schemeClr>
          </a:solidFill>
          <a:ln w="9525" cap="rnd">
            <a:noFill/>
            <a:round/>
            <a:headEnd/>
            <a:tailEnd/>
          </a:ln>
        </p:spPr>
        <p:txBody>
          <a:bodyPr lIns="91440" tIns="320040" rIns="72000" bIns="72000" anchor="t">
            <a:noAutofit/>
          </a:bodyPr>
          <a:lstStyle/>
          <a:p>
            <a:pPr>
              <a:spcAft>
                <a:spcPts val="600"/>
              </a:spcAft>
              <a:defRPr/>
            </a:pPr>
            <a:endParaRPr lang="en-US" sz="1300" b="1" i="1" dirty="0">
              <a:ea typeface="Open Sans" panose="020B0606030504020204" pitchFamily="34" charset="0"/>
              <a:cs typeface="Open Sans" panose="020B0606030504020204" pitchFamily="34" charset="0"/>
            </a:endParaRPr>
          </a:p>
          <a:p>
            <a:pPr algn="ctr">
              <a:spcAft>
                <a:spcPts val="600"/>
              </a:spcAft>
              <a:defRPr/>
            </a:pPr>
            <a:r>
              <a:rPr lang="en-US" sz="1400" b="1" dirty="0">
                <a:ea typeface="Open Sans" panose="020B0606030504020204" pitchFamily="34" charset="0"/>
                <a:cs typeface="Open Sans" panose="020B0606030504020204" pitchFamily="34" charset="0"/>
              </a:rPr>
              <a:t>Foundational capabilities </a:t>
            </a:r>
            <a:r>
              <a:rPr lang="en-US" sz="1100" b="1" i="1" dirty="0">
                <a:ea typeface="Open Sans" panose="020B0606030504020204" pitchFamily="34" charset="0"/>
                <a:cs typeface="Open Sans" panose="020B0606030504020204" pitchFamily="34" charset="0"/>
              </a:rPr>
              <a:t>to enhance                  and access data through the marketplace</a:t>
            </a:r>
          </a:p>
        </p:txBody>
      </p:sp>
      <p:sp>
        <p:nvSpPr>
          <p:cNvPr id="198" name="Freeform 4">
            <a:extLst>
              <a:ext uri="{FF2B5EF4-FFF2-40B4-BE49-F238E27FC236}">
                <a16:creationId xmlns:a16="http://schemas.microsoft.com/office/drawing/2014/main" id="{2BE9A164-A6A2-9D06-B9B9-C38C19EE1C35}"/>
              </a:ext>
            </a:extLst>
          </p:cNvPr>
          <p:cNvSpPr>
            <a:spLocks/>
          </p:cNvSpPr>
          <p:nvPr/>
        </p:nvSpPr>
        <p:spPr bwMode="blackWhite">
          <a:xfrm>
            <a:off x="4700719" y="2334727"/>
            <a:ext cx="3474720" cy="4039088"/>
          </a:xfrm>
          <a:custGeom>
            <a:avLst/>
            <a:gdLst>
              <a:gd name="T0" fmla="*/ 0 w 640"/>
              <a:gd name="T1" fmla="*/ 2147483647 h 705"/>
              <a:gd name="T2" fmla="*/ 0 w 640"/>
              <a:gd name="T3" fmla="*/ 2147483647 h 705"/>
              <a:gd name="T4" fmla="*/ 2147483647 w 640"/>
              <a:gd name="T5" fmla="*/ 2147483647 h 705"/>
              <a:gd name="T6" fmla="*/ 2147483647 w 640"/>
              <a:gd name="T7" fmla="*/ 0 h 705"/>
              <a:gd name="T8" fmla="*/ 2147483647 w 640"/>
              <a:gd name="T9" fmla="*/ 2147483647 h 705"/>
              <a:gd name="T10" fmla="*/ 2147483647 w 640"/>
              <a:gd name="T11" fmla="*/ 2147483647 h 705"/>
              <a:gd name="T12" fmla="*/ 2147483647 w 640"/>
              <a:gd name="T13" fmla="*/ 2147483647 h 705"/>
              <a:gd name="T14" fmla="*/ 2147483647 w 640"/>
              <a:gd name="T15" fmla="*/ 2147483647 h 705"/>
              <a:gd name="T16" fmla="*/ 2147483647 w 640"/>
              <a:gd name="T17" fmla="*/ 2147483647 h 705"/>
              <a:gd name="T18" fmla="*/ 2147483647 w 640"/>
              <a:gd name="T19" fmla="*/ 2147483647 h 705"/>
              <a:gd name="T20" fmla="*/ 2147483647 w 640"/>
              <a:gd name="T21" fmla="*/ 2147483647 h 705"/>
              <a:gd name="T22" fmla="*/ 0 w 640"/>
              <a:gd name="T23" fmla="*/ 2147483647 h 7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0"/>
              <a:gd name="T37" fmla="*/ 0 h 705"/>
              <a:gd name="T38" fmla="*/ 640 w 640"/>
              <a:gd name="T39" fmla="*/ 705 h 7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0" h="705">
                <a:moveTo>
                  <a:pt x="0" y="159"/>
                </a:moveTo>
                <a:lnTo>
                  <a:pt x="0" y="704"/>
                </a:lnTo>
                <a:lnTo>
                  <a:pt x="639" y="704"/>
                </a:lnTo>
                <a:lnTo>
                  <a:pt x="639" y="0"/>
                </a:lnTo>
                <a:lnTo>
                  <a:pt x="599" y="16"/>
                </a:lnTo>
                <a:lnTo>
                  <a:pt x="556" y="33"/>
                </a:lnTo>
                <a:lnTo>
                  <a:pt x="493" y="54"/>
                </a:lnTo>
                <a:lnTo>
                  <a:pt x="403" y="78"/>
                </a:lnTo>
                <a:lnTo>
                  <a:pt x="308" y="101"/>
                </a:lnTo>
                <a:lnTo>
                  <a:pt x="218" y="119"/>
                </a:lnTo>
                <a:lnTo>
                  <a:pt x="112" y="138"/>
                </a:lnTo>
                <a:lnTo>
                  <a:pt x="0" y="159"/>
                </a:lnTo>
              </a:path>
            </a:pathLst>
          </a:custGeom>
          <a:solidFill>
            <a:schemeClr val="accent3">
              <a:lumMod val="40000"/>
              <a:lumOff val="60000"/>
            </a:schemeClr>
          </a:solidFill>
          <a:ln w="9525" cap="rnd">
            <a:noFill/>
            <a:round/>
            <a:headEnd/>
            <a:tailEnd/>
          </a:ln>
        </p:spPr>
        <p:txBody>
          <a:bodyPr lIns="91440" tIns="731520" rIns="72000" bIns="72000" anchor="t">
            <a:noAutofit/>
          </a:bodyPr>
          <a:lstStyle/>
          <a:p>
            <a:pPr>
              <a:spcAft>
                <a:spcPts val="600"/>
              </a:spcAft>
              <a:defRPr/>
            </a:pPr>
            <a:r>
              <a:rPr lang="en-US" sz="1300" b="1" i="1">
                <a:ea typeface="Open Sans" panose="020B0606030504020204" pitchFamily="34" charset="0"/>
                <a:cs typeface="Open Sans" panose="020B0606030504020204" pitchFamily="34" charset="0"/>
              </a:rPr>
              <a:t>     </a:t>
            </a:r>
          </a:p>
          <a:p>
            <a:pPr algn="ctr">
              <a:spcAft>
                <a:spcPts val="600"/>
              </a:spcAft>
              <a:defRPr/>
            </a:pPr>
            <a:r>
              <a:rPr lang="en-US" sz="1400" b="1">
                <a:ea typeface="Open Sans" panose="020B0606030504020204" pitchFamily="34" charset="0"/>
                <a:cs typeface="Open Sans" panose="020B0606030504020204" pitchFamily="34" charset="0"/>
              </a:rPr>
              <a:t>Advanced capabilities </a:t>
            </a:r>
            <a:r>
              <a:rPr lang="en-US" sz="1200" b="1">
                <a:ea typeface="Open Sans" panose="020B0606030504020204" pitchFamily="34" charset="0"/>
                <a:cs typeface="Open Sans" panose="020B0606030504020204" pitchFamily="34" charset="0"/>
              </a:rPr>
              <a:t> </a:t>
            </a:r>
            <a:r>
              <a:rPr lang="en-US" sz="1100" b="1" i="1">
                <a:ea typeface="Open Sans" panose="020B0606030504020204" pitchFamily="34" charset="0"/>
                <a:cs typeface="Open Sans" panose="020B0606030504020204" pitchFamily="34" charset="0"/>
              </a:rPr>
              <a:t>enabled by automation  and artificial intelligence</a:t>
            </a:r>
          </a:p>
        </p:txBody>
      </p:sp>
      <p:sp>
        <p:nvSpPr>
          <p:cNvPr id="199" name="Freeform 3">
            <a:extLst>
              <a:ext uri="{FF2B5EF4-FFF2-40B4-BE49-F238E27FC236}">
                <a16:creationId xmlns:a16="http://schemas.microsoft.com/office/drawing/2014/main" id="{44C8AA4D-B72B-80C4-400F-79E0BAD91F84}"/>
              </a:ext>
            </a:extLst>
          </p:cNvPr>
          <p:cNvSpPr>
            <a:spLocks/>
          </p:cNvSpPr>
          <p:nvPr/>
        </p:nvSpPr>
        <p:spPr bwMode="blackWhite">
          <a:xfrm>
            <a:off x="8175961" y="1197749"/>
            <a:ext cx="3474720" cy="5176066"/>
          </a:xfrm>
          <a:custGeom>
            <a:avLst/>
            <a:gdLst>
              <a:gd name="T0" fmla="*/ 0 w 634"/>
              <a:gd name="T1" fmla="*/ 555217 h 1246"/>
              <a:gd name="T2" fmla="*/ 0 w 634"/>
              <a:gd name="T3" fmla="*/ 2569686 h 1246"/>
              <a:gd name="T4" fmla="*/ 1778721 w 634"/>
              <a:gd name="T5" fmla="*/ 2569686 h 1246"/>
              <a:gd name="T6" fmla="*/ 1781536 w 634"/>
              <a:gd name="T7" fmla="*/ 0 h 1246"/>
              <a:gd name="T8" fmla="*/ 1607041 w 634"/>
              <a:gd name="T9" fmla="*/ 70176 h 1246"/>
              <a:gd name="T10" fmla="*/ 1432546 w 634"/>
              <a:gd name="T11" fmla="*/ 136224 h 1246"/>
              <a:gd name="T12" fmla="*/ 1224278 w 634"/>
              <a:gd name="T13" fmla="*/ 206400 h 1246"/>
              <a:gd name="T14" fmla="*/ 1010381 w 634"/>
              <a:gd name="T15" fmla="*/ 276577 h 1246"/>
              <a:gd name="T16" fmla="*/ 723309 w 634"/>
              <a:gd name="T17" fmla="*/ 363265 h 1246"/>
              <a:gd name="T18" fmla="*/ 470010 w 634"/>
              <a:gd name="T19" fmla="*/ 437569 h 1246"/>
              <a:gd name="T20" fmla="*/ 194196 w 634"/>
              <a:gd name="T21" fmla="*/ 507745 h 1246"/>
              <a:gd name="T22" fmla="*/ 0 w 634"/>
              <a:gd name="T23" fmla="*/ 555217 h 12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4"/>
              <a:gd name="T37" fmla="*/ 0 h 1246"/>
              <a:gd name="T38" fmla="*/ 634 w 634"/>
              <a:gd name="T39" fmla="*/ 1246 h 12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4" h="1246">
                <a:moveTo>
                  <a:pt x="0" y="269"/>
                </a:moveTo>
                <a:lnTo>
                  <a:pt x="0" y="1245"/>
                </a:lnTo>
                <a:lnTo>
                  <a:pt x="632" y="1245"/>
                </a:lnTo>
                <a:lnTo>
                  <a:pt x="633" y="0"/>
                </a:lnTo>
                <a:lnTo>
                  <a:pt x="571" y="34"/>
                </a:lnTo>
                <a:lnTo>
                  <a:pt x="509" y="66"/>
                </a:lnTo>
                <a:lnTo>
                  <a:pt x="435" y="100"/>
                </a:lnTo>
                <a:lnTo>
                  <a:pt x="359" y="134"/>
                </a:lnTo>
                <a:lnTo>
                  <a:pt x="257" y="176"/>
                </a:lnTo>
                <a:lnTo>
                  <a:pt x="167" y="212"/>
                </a:lnTo>
                <a:lnTo>
                  <a:pt x="69" y="246"/>
                </a:lnTo>
                <a:lnTo>
                  <a:pt x="0" y="269"/>
                </a:lnTo>
              </a:path>
            </a:pathLst>
          </a:custGeom>
          <a:solidFill>
            <a:schemeClr val="accent3">
              <a:lumMod val="60000"/>
              <a:lumOff val="40000"/>
            </a:schemeClr>
          </a:solidFill>
          <a:ln w="9525" cap="rnd">
            <a:noFill/>
            <a:round/>
            <a:headEnd/>
            <a:tailEnd/>
          </a:ln>
        </p:spPr>
        <p:txBody>
          <a:bodyPr lIns="91440" tIns="594360" rIns="72000" bIns="0" anchor="t">
            <a:noAutofit/>
          </a:bodyPr>
          <a:lstStyle/>
          <a:p>
            <a:pPr marL="171450" lvl="0" indent="-171450">
              <a:spcAft>
                <a:spcPts val="600"/>
              </a:spcAft>
              <a:buFont typeface="Arial" panose="020B0604020202020204" pitchFamily="34" charset="0"/>
              <a:buChar char="•"/>
              <a:defRPr/>
            </a:pPr>
            <a:endParaRPr lang="en-US" sz="1200" i="1" dirty="0">
              <a:solidFill>
                <a:schemeClr val="bg1"/>
              </a:solidFill>
              <a:ea typeface="Open Sans" panose="020B0606030504020204" pitchFamily="34" charset="0"/>
              <a:cs typeface="Open Sans" panose="020B0606030504020204" pitchFamily="34" charset="0"/>
            </a:endParaRPr>
          </a:p>
          <a:p>
            <a:pPr lvl="0">
              <a:spcBef>
                <a:spcPts val="600"/>
              </a:spcBef>
              <a:spcAft>
                <a:spcPts val="600"/>
              </a:spcAft>
              <a:defRPr/>
            </a:pPr>
            <a:r>
              <a:rPr lang="en-US" sz="1300" b="1" i="1" dirty="0">
                <a:ea typeface="Open Sans" panose="020B0606030504020204" pitchFamily="34" charset="0"/>
                <a:cs typeface="Open Sans" panose="020B0606030504020204" pitchFamily="34" charset="0"/>
              </a:rPr>
              <a:t>   </a:t>
            </a:r>
          </a:p>
          <a:p>
            <a:pPr lvl="0" algn="ctr">
              <a:spcBef>
                <a:spcPts val="600"/>
              </a:spcBef>
              <a:spcAft>
                <a:spcPts val="600"/>
              </a:spcAft>
              <a:defRPr/>
            </a:pPr>
            <a:r>
              <a:rPr lang="en-US" sz="1400" b="1" dirty="0">
                <a:ea typeface="Open Sans" panose="020B0606030504020204" pitchFamily="34" charset="0"/>
                <a:cs typeface="Open Sans" panose="020B0606030504020204" pitchFamily="34" charset="0"/>
              </a:rPr>
              <a:t>Self service capabilities </a:t>
            </a:r>
            <a:r>
              <a:rPr lang="en-US" sz="1100" b="1" i="1" dirty="0">
                <a:ea typeface="Open Sans" panose="020B0606030504020204" pitchFamily="34" charset="0"/>
                <a:cs typeface="Open Sans" panose="020B0606030504020204" pitchFamily="34" charset="0"/>
              </a:rPr>
              <a:t>that drive user       adoption and stickiness with marketplace</a:t>
            </a:r>
          </a:p>
          <a:p>
            <a:pPr marL="171450" lvl="0" indent="-171450">
              <a:spcAft>
                <a:spcPts val="600"/>
              </a:spcAft>
              <a:buFont typeface="Arial" panose="020B0604020202020204" pitchFamily="34" charset="0"/>
              <a:buChar char="•"/>
              <a:defRPr/>
            </a:pPr>
            <a:endParaRPr lang="en-US" sz="1300" i="1" dirty="0">
              <a:ea typeface="Open Sans" panose="020B0606030504020204" pitchFamily="34" charset="0"/>
              <a:cs typeface="Open Sans" panose="020B0606030504020204" pitchFamily="34" charset="0"/>
            </a:endParaRPr>
          </a:p>
        </p:txBody>
      </p:sp>
      <p:sp>
        <p:nvSpPr>
          <p:cNvPr id="200" name="Line 7">
            <a:extLst>
              <a:ext uri="{FF2B5EF4-FFF2-40B4-BE49-F238E27FC236}">
                <a16:creationId xmlns:a16="http://schemas.microsoft.com/office/drawing/2014/main" id="{996F4541-5E40-EA26-85E4-44BDC2D5EC04}"/>
              </a:ext>
            </a:extLst>
          </p:cNvPr>
          <p:cNvSpPr>
            <a:spLocks noChangeShapeType="1"/>
          </p:cNvSpPr>
          <p:nvPr/>
        </p:nvSpPr>
        <p:spPr bwMode="auto">
          <a:xfrm>
            <a:off x="1154957" y="6401537"/>
            <a:ext cx="10818138" cy="13028"/>
          </a:xfrm>
          <a:prstGeom prst="line">
            <a:avLst/>
          </a:prstGeom>
          <a:noFill/>
          <a:ln w="28575">
            <a:solidFill>
              <a:schemeClr val="accent6"/>
            </a:solidFill>
            <a:round/>
            <a:headEnd/>
            <a:tailEnd type="triangle" w="med" len="med"/>
          </a:ln>
          <a:effectLst/>
        </p:spPr>
        <p:txBody>
          <a:bodyPr wrap="none" anchor="ctr"/>
          <a:lstStyle/>
          <a:p>
            <a:pPr marL="0" marR="0" lvl="0" indent="0" algn="l" defTabSz="1219140" rtl="0" eaLnBrk="1" fontAlgn="auto" latinLnBrk="0" hangingPunct="1">
              <a:lnSpc>
                <a:spcPct val="100000"/>
              </a:lnSpc>
              <a:spcBef>
                <a:spcPct val="0"/>
              </a:spcBef>
              <a:spcAft>
                <a:spcPts val="0"/>
              </a:spcAft>
              <a:buClrTx/>
              <a:buSzTx/>
              <a:buFontTx/>
              <a:buNone/>
              <a:tabLst/>
              <a:defRPr/>
            </a:pPr>
            <a:endParaRPr kumimoji="0" lang="en-GB" sz="1900" b="0" i="0" u="none" strike="noStrike" kern="1200" cap="none" spc="0" normalizeH="0" baseline="0" noProof="0">
              <a:ln>
                <a:noFill/>
              </a:ln>
              <a:solidFill>
                <a:prstClr val="black"/>
              </a:solidFill>
              <a:effectLst/>
              <a:uLnTx/>
              <a:uFillTx/>
              <a:ea typeface="+mn-ea"/>
              <a:cs typeface="Arial" charset="0"/>
              <a:sym typeface="Arial"/>
            </a:endParaRPr>
          </a:p>
        </p:txBody>
      </p:sp>
      <p:sp>
        <p:nvSpPr>
          <p:cNvPr id="201" name="Line 8">
            <a:extLst>
              <a:ext uri="{FF2B5EF4-FFF2-40B4-BE49-F238E27FC236}">
                <a16:creationId xmlns:a16="http://schemas.microsoft.com/office/drawing/2014/main" id="{1CD7EDB9-2AB2-6C92-B3A1-29FCCCA69AE6}"/>
              </a:ext>
            </a:extLst>
          </p:cNvPr>
          <p:cNvSpPr>
            <a:spLocks noChangeShapeType="1"/>
          </p:cNvSpPr>
          <p:nvPr/>
        </p:nvSpPr>
        <p:spPr bwMode="auto">
          <a:xfrm rot="16200000" flipV="1">
            <a:off x="-1315668" y="3917801"/>
            <a:ext cx="4937760" cy="19951"/>
          </a:xfrm>
          <a:prstGeom prst="line">
            <a:avLst/>
          </a:prstGeom>
          <a:noFill/>
          <a:ln w="28575">
            <a:solidFill>
              <a:schemeClr val="accent6"/>
            </a:solidFill>
            <a:round/>
            <a:headEnd/>
            <a:tailEnd type="triangle" w="med" len="med"/>
          </a:ln>
          <a:effectLst/>
        </p:spPr>
        <p:txBody>
          <a:bodyPr wrap="none" anchor="ctr"/>
          <a:lstStyle/>
          <a:p>
            <a:pPr marL="0" marR="0" lvl="0" indent="0" algn="l" defTabSz="1219140" rtl="0" eaLnBrk="1" fontAlgn="auto" latinLnBrk="0" hangingPunct="1">
              <a:lnSpc>
                <a:spcPct val="100000"/>
              </a:lnSpc>
              <a:spcBef>
                <a:spcPct val="0"/>
              </a:spcBef>
              <a:spcAft>
                <a:spcPts val="0"/>
              </a:spcAft>
              <a:buClrTx/>
              <a:buSzTx/>
              <a:buFontTx/>
              <a:buNone/>
              <a:tabLst/>
              <a:defRPr/>
            </a:pPr>
            <a:endParaRPr kumimoji="0" lang="en-GB" sz="1900" b="0" i="0" u="none" strike="noStrike" kern="1200" cap="none" spc="0" normalizeH="0" baseline="0" noProof="0">
              <a:ln>
                <a:noFill/>
              </a:ln>
              <a:solidFill>
                <a:prstClr val="black"/>
              </a:solidFill>
              <a:effectLst/>
              <a:uLnTx/>
              <a:uFillTx/>
              <a:ea typeface="+mn-ea"/>
              <a:cs typeface="Arial" charset="0"/>
              <a:sym typeface="Arial"/>
            </a:endParaRPr>
          </a:p>
        </p:txBody>
      </p:sp>
      <p:sp>
        <p:nvSpPr>
          <p:cNvPr id="202" name="Rectangle 201">
            <a:extLst>
              <a:ext uri="{FF2B5EF4-FFF2-40B4-BE49-F238E27FC236}">
                <a16:creationId xmlns:a16="http://schemas.microsoft.com/office/drawing/2014/main" id="{041BD30D-5472-D218-B205-A7BE6ECFCF01}"/>
              </a:ext>
            </a:extLst>
          </p:cNvPr>
          <p:cNvSpPr/>
          <p:nvPr/>
        </p:nvSpPr>
        <p:spPr>
          <a:xfrm>
            <a:off x="8033902" y="6462285"/>
            <a:ext cx="571502" cy="246221"/>
          </a:xfrm>
          <a:prstGeom prst="rect">
            <a:avLst/>
          </a:prstGeom>
        </p:spPr>
        <p:txBody>
          <a:bodyPr wrap="square" lIns="0" rIns="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1000" i="1" u="none" strike="noStrike" kern="1200" cap="none" spc="-30" normalizeH="0" baseline="0" noProof="0">
                <a:ln>
                  <a:noFill/>
                </a:ln>
                <a:solidFill>
                  <a:srgbClr val="000000">
                    <a:lumMod val="75000"/>
                  </a:srgbClr>
                </a:solidFill>
                <a:effectLst/>
                <a:uLnTx/>
                <a:uFillTx/>
                <a:latin typeface="Open Sans"/>
                <a:ea typeface="Open Sans" charset="0"/>
                <a:cs typeface="Arial" panose="020B0604020202020204" pitchFamily="34" charset="0"/>
              </a:rPr>
              <a:t>People</a:t>
            </a:r>
          </a:p>
        </p:txBody>
      </p:sp>
      <p:sp>
        <p:nvSpPr>
          <p:cNvPr id="203" name="Rectangle 202">
            <a:extLst>
              <a:ext uri="{FF2B5EF4-FFF2-40B4-BE49-F238E27FC236}">
                <a16:creationId xmlns:a16="http://schemas.microsoft.com/office/drawing/2014/main" id="{C9BD5C8C-1C9C-B432-5812-0B86CA0A1776}"/>
              </a:ext>
            </a:extLst>
          </p:cNvPr>
          <p:cNvSpPr/>
          <p:nvPr/>
        </p:nvSpPr>
        <p:spPr>
          <a:xfrm>
            <a:off x="8955946" y="6462285"/>
            <a:ext cx="571502" cy="246221"/>
          </a:xfrm>
          <a:prstGeom prst="rect">
            <a:avLst/>
          </a:prstGeom>
        </p:spPr>
        <p:txBody>
          <a:bodyPr wrap="square" lIns="0" rIns="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1000" i="1" u="none" strike="noStrike" kern="1200" cap="none" spc="-30" normalizeH="0" baseline="0" noProof="0">
                <a:ln>
                  <a:noFill/>
                </a:ln>
                <a:solidFill>
                  <a:srgbClr val="000000">
                    <a:lumMod val="75000"/>
                  </a:srgbClr>
                </a:solidFill>
                <a:effectLst/>
                <a:uLnTx/>
                <a:uFillTx/>
                <a:latin typeface="Open Sans"/>
                <a:ea typeface="Open Sans" charset="0"/>
                <a:cs typeface="Arial" panose="020B0604020202020204" pitchFamily="34" charset="0"/>
              </a:rPr>
              <a:t>Process</a:t>
            </a:r>
          </a:p>
        </p:txBody>
      </p:sp>
      <p:sp>
        <p:nvSpPr>
          <p:cNvPr id="204" name="Rectangle 203">
            <a:extLst>
              <a:ext uri="{FF2B5EF4-FFF2-40B4-BE49-F238E27FC236}">
                <a16:creationId xmlns:a16="http://schemas.microsoft.com/office/drawing/2014/main" id="{C53E0E62-ABFD-AE8E-C2D8-9D3EEF888D2C}"/>
              </a:ext>
            </a:extLst>
          </p:cNvPr>
          <p:cNvSpPr/>
          <p:nvPr/>
        </p:nvSpPr>
        <p:spPr>
          <a:xfrm>
            <a:off x="9750661" y="6456164"/>
            <a:ext cx="1202756" cy="246221"/>
          </a:xfrm>
          <a:prstGeom prst="rect">
            <a:avLst/>
          </a:prstGeom>
        </p:spPr>
        <p:txBody>
          <a:bodyPr wrap="square" lIns="0" rIns="0">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1000" i="1" u="none" strike="noStrike" kern="1200" cap="none" spc="-30" normalizeH="0" baseline="0" noProof="0">
                <a:ln>
                  <a:noFill/>
                </a:ln>
                <a:solidFill>
                  <a:srgbClr val="000000">
                    <a:lumMod val="75000"/>
                  </a:srgbClr>
                </a:solidFill>
                <a:effectLst/>
                <a:uLnTx/>
                <a:uFillTx/>
                <a:latin typeface="Open Sans"/>
                <a:ea typeface="Open Sans" charset="0"/>
                <a:cs typeface="Arial" panose="020B0604020202020204" pitchFamily="34" charset="0"/>
              </a:rPr>
              <a:t>Technology</a:t>
            </a:r>
          </a:p>
        </p:txBody>
      </p:sp>
      <p:pic>
        <p:nvPicPr>
          <p:cNvPr id="205" name="Graphic 204" descr="Man and woman with solid fill">
            <a:extLst>
              <a:ext uri="{FF2B5EF4-FFF2-40B4-BE49-F238E27FC236}">
                <a16:creationId xmlns:a16="http://schemas.microsoft.com/office/drawing/2014/main" id="{01B19450-73EE-128A-654F-AC5981E770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27187" y="6479865"/>
            <a:ext cx="274320" cy="274320"/>
          </a:xfrm>
          <a:prstGeom prst="rect">
            <a:avLst/>
          </a:prstGeom>
        </p:spPr>
      </p:pic>
      <p:pic>
        <p:nvPicPr>
          <p:cNvPr id="206" name="Graphic 205" descr="Decision chart with solid fill">
            <a:extLst>
              <a:ext uri="{FF2B5EF4-FFF2-40B4-BE49-F238E27FC236}">
                <a16:creationId xmlns:a16="http://schemas.microsoft.com/office/drawing/2014/main" id="{CA06ECD4-3B7D-C6A4-B490-73866C24D0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37800" y="6472317"/>
            <a:ext cx="274320" cy="274320"/>
          </a:xfrm>
          <a:prstGeom prst="rect">
            <a:avLst/>
          </a:prstGeom>
        </p:spPr>
      </p:pic>
      <p:sp>
        <p:nvSpPr>
          <p:cNvPr id="207" name="Rectangle 206">
            <a:extLst>
              <a:ext uri="{FF2B5EF4-FFF2-40B4-BE49-F238E27FC236}">
                <a16:creationId xmlns:a16="http://schemas.microsoft.com/office/drawing/2014/main" id="{BAF29E53-B4AB-7D3E-75B3-94CA7B667C79}"/>
              </a:ext>
            </a:extLst>
          </p:cNvPr>
          <p:cNvSpPr/>
          <p:nvPr/>
        </p:nvSpPr>
        <p:spPr>
          <a:xfrm>
            <a:off x="7468620" y="988086"/>
            <a:ext cx="3295723" cy="461665"/>
          </a:xfrm>
          <a:prstGeom prst="rect">
            <a:avLst/>
          </a:prstGeom>
        </p:spPr>
        <p:txBody>
          <a:bodyPr wrap="square" lIns="0" r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spc="-30" dirty="0">
                <a:solidFill>
                  <a:srgbClr val="000000">
                    <a:lumMod val="75000"/>
                  </a:srgbClr>
                </a:solidFill>
                <a:latin typeface="Open Sans"/>
                <a:ea typeface="Open Sans" charset="0"/>
                <a:cs typeface="Arial" panose="020B0604020202020204" pitchFamily="34" charset="0"/>
              </a:rPr>
              <a:t>Release 3</a:t>
            </a:r>
          </a:p>
          <a:p>
            <a:pPr algn="ctr" fontAlgn="base">
              <a:spcBef>
                <a:spcPct val="0"/>
              </a:spcBef>
              <a:spcAft>
                <a:spcPct val="0"/>
              </a:spcAft>
              <a:defRPr/>
            </a:pPr>
            <a:r>
              <a:rPr lang="en-US" sz="1200" spc="-30" dirty="0">
                <a:solidFill>
                  <a:srgbClr val="000000">
                    <a:lumMod val="75000"/>
                  </a:srgbClr>
                </a:solidFill>
                <a:latin typeface="Open Sans"/>
                <a:ea typeface="Open Sans" charset="0"/>
                <a:cs typeface="Arial" panose="020B0604020202020204" pitchFamily="34" charset="0"/>
              </a:rPr>
              <a:t>(~4 months)</a:t>
            </a:r>
            <a:endParaRPr kumimoji="0" lang="en-US" sz="1200" i="0" u="none" strike="noStrike" kern="1200" cap="none" spc="-30" normalizeH="0" baseline="0" noProof="0" dirty="0">
              <a:ln>
                <a:noFill/>
              </a:ln>
              <a:solidFill>
                <a:srgbClr val="000000">
                  <a:lumMod val="75000"/>
                </a:srgbClr>
              </a:solidFill>
              <a:effectLst/>
              <a:uLnTx/>
              <a:uFillTx/>
              <a:latin typeface="Open Sans"/>
              <a:ea typeface="Open Sans" charset="0"/>
              <a:cs typeface="Arial" panose="020B0604020202020204" pitchFamily="34" charset="0"/>
            </a:endParaRPr>
          </a:p>
        </p:txBody>
      </p:sp>
      <p:sp>
        <p:nvSpPr>
          <p:cNvPr id="208" name="Rectangle 207">
            <a:extLst>
              <a:ext uri="{FF2B5EF4-FFF2-40B4-BE49-F238E27FC236}">
                <a16:creationId xmlns:a16="http://schemas.microsoft.com/office/drawing/2014/main" id="{616D4CEA-CBE8-FDAE-E910-36D0FF3D9A3D}"/>
              </a:ext>
            </a:extLst>
          </p:cNvPr>
          <p:cNvSpPr/>
          <p:nvPr/>
        </p:nvSpPr>
        <p:spPr>
          <a:xfrm>
            <a:off x="4071839" y="1959212"/>
            <a:ext cx="3697100" cy="461665"/>
          </a:xfrm>
          <a:prstGeom prst="rect">
            <a:avLst/>
          </a:prstGeom>
        </p:spPr>
        <p:txBody>
          <a:bodyPr wrap="square" lIns="0" r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30" normalizeH="0" baseline="0" noProof="0" dirty="0">
                <a:ln>
                  <a:noFill/>
                </a:ln>
                <a:solidFill>
                  <a:srgbClr val="000000">
                    <a:lumMod val="75000"/>
                  </a:srgbClr>
                </a:solidFill>
                <a:effectLst/>
                <a:uLnTx/>
                <a:uFillTx/>
                <a:latin typeface="Open Sans"/>
                <a:ea typeface="Open Sans" charset="0"/>
                <a:cs typeface="Arial" panose="020B0604020202020204" pitchFamily="34" charset="0"/>
              </a:rPr>
              <a:t>Release 2</a:t>
            </a:r>
          </a:p>
          <a:p>
            <a:pPr algn="ctr" fontAlgn="base">
              <a:spcBef>
                <a:spcPct val="0"/>
              </a:spcBef>
              <a:spcAft>
                <a:spcPct val="0"/>
              </a:spcAft>
              <a:defRPr/>
            </a:pPr>
            <a:r>
              <a:rPr lang="en-US" sz="1200" spc="-30" dirty="0">
                <a:solidFill>
                  <a:srgbClr val="000000">
                    <a:lumMod val="75000"/>
                  </a:srgbClr>
                </a:solidFill>
                <a:latin typeface="Open Sans"/>
                <a:ea typeface="Open Sans" charset="0"/>
                <a:cs typeface="Arial" panose="020B0604020202020204" pitchFamily="34" charset="0"/>
              </a:rPr>
              <a:t>(~4 months)</a:t>
            </a:r>
            <a:endParaRPr kumimoji="0" lang="en-US" sz="1200" i="0" u="none" strike="noStrike" kern="1200" cap="none" spc="-30" normalizeH="0" baseline="0" noProof="0" dirty="0">
              <a:ln>
                <a:noFill/>
              </a:ln>
              <a:solidFill>
                <a:srgbClr val="000000">
                  <a:lumMod val="75000"/>
                </a:srgbClr>
              </a:solidFill>
              <a:effectLst/>
              <a:uLnTx/>
              <a:uFillTx/>
              <a:latin typeface="Open Sans"/>
              <a:ea typeface="Open Sans" charset="0"/>
              <a:cs typeface="Arial" panose="020B0604020202020204" pitchFamily="34" charset="0"/>
            </a:endParaRPr>
          </a:p>
        </p:txBody>
      </p:sp>
      <p:sp>
        <p:nvSpPr>
          <p:cNvPr id="209" name="Rectangle 208">
            <a:extLst>
              <a:ext uri="{FF2B5EF4-FFF2-40B4-BE49-F238E27FC236}">
                <a16:creationId xmlns:a16="http://schemas.microsoft.com/office/drawing/2014/main" id="{7FFEC436-216F-4BBF-42F8-DCB9A0491BDD}"/>
              </a:ext>
            </a:extLst>
          </p:cNvPr>
          <p:cNvSpPr/>
          <p:nvPr/>
        </p:nvSpPr>
        <p:spPr>
          <a:xfrm>
            <a:off x="871373" y="2417565"/>
            <a:ext cx="3305017" cy="677108"/>
          </a:xfrm>
          <a:prstGeom prst="rect">
            <a:avLst/>
          </a:prstGeom>
        </p:spPr>
        <p:txBody>
          <a:bodyPr wrap="square" lIns="0" r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sngStrike" kern="1200" cap="none" spc="-30" normalizeH="0" baseline="0" noProof="0" dirty="0">
              <a:ln>
                <a:noFill/>
              </a:ln>
              <a:solidFill>
                <a:srgbClr val="000000">
                  <a:lumMod val="75000"/>
                </a:srgbClr>
              </a:solidFill>
              <a:effectLst/>
              <a:uLnTx/>
              <a:uFillTx/>
              <a:latin typeface="Open Sans"/>
              <a:ea typeface="Open Sans"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30" normalizeH="0" baseline="0" noProof="0" dirty="0">
                <a:ln>
                  <a:noFill/>
                </a:ln>
                <a:solidFill>
                  <a:srgbClr val="000000">
                    <a:lumMod val="75000"/>
                  </a:srgbClr>
                </a:solidFill>
                <a:effectLst/>
                <a:uLnTx/>
                <a:uFillTx/>
                <a:latin typeface="Open Sans"/>
                <a:ea typeface="Open Sans" charset="0"/>
                <a:cs typeface="Arial" panose="020B0604020202020204" pitchFamily="34" charset="0"/>
              </a:rPr>
              <a:t>Release 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pc="-30" dirty="0">
                <a:solidFill>
                  <a:srgbClr val="000000">
                    <a:lumMod val="75000"/>
                  </a:srgbClr>
                </a:solidFill>
                <a:latin typeface="Open Sans"/>
                <a:ea typeface="Open Sans" charset="0"/>
                <a:cs typeface="Arial" panose="020B0604020202020204" pitchFamily="34" charset="0"/>
              </a:rPr>
              <a:t>(~4 months)</a:t>
            </a:r>
            <a:endParaRPr kumimoji="0" lang="en-US" sz="1200" i="0" u="none" strike="noStrike" kern="1200" cap="none" spc="-30" normalizeH="0" baseline="0" noProof="0" dirty="0">
              <a:ln>
                <a:noFill/>
              </a:ln>
              <a:solidFill>
                <a:srgbClr val="000000">
                  <a:lumMod val="75000"/>
                </a:srgbClr>
              </a:solidFill>
              <a:effectLst/>
              <a:uLnTx/>
              <a:uFillTx/>
              <a:latin typeface="Open Sans"/>
              <a:ea typeface="Open Sans" charset="0"/>
              <a:cs typeface="Arial" panose="020B0604020202020204" pitchFamily="34" charset="0"/>
            </a:endParaRPr>
          </a:p>
        </p:txBody>
      </p:sp>
      <p:sp>
        <p:nvSpPr>
          <p:cNvPr id="210" name="TextBox 209">
            <a:extLst>
              <a:ext uri="{FF2B5EF4-FFF2-40B4-BE49-F238E27FC236}">
                <a16:creationId xmlns:a16="http://schemas.microsoft.com/office/drawing/2014/main" id="{3187B7B7-3DE6-AEDC-9947-E8E924F554DC}"/>
              </a:ext>
            </a:extLst>
          </p:cNvPr>
          <p:cNvSpPr txBox="1"/>
          <p:nvPr/>
        </p:nvSpPr>
        <p:spPr>
          <a:xfrm>
            <a:off x="1497690" y="4922612"/>
            <a:ext cx="2749032" cy="400110"/>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Demand driven data provisioning from AWS and Snowflake EDP into Data Marketplace</a:t>
            </a:r>
          </a:p>
        </p:txBody>
      </p:sp>
      <p:sp>
        <p:nvSpPr>
          <p:cNvPr id="211" name="TextBox 210">
            <a:extLst>
              <a:ext uri="{FF2B5EF4-FFF2-40B4-BE49-F238E27FC236}">
                <a16:creationId xmlns:a16="http://schemas.microsoft.com/office/drawing/2014/main" id="{ACD72A5D-7CF0-28EC-DB42-4E37A8744CA4}"/>
              </a:ext>
            </a:extLst>
          </p:cNvPr>
          <p:cNvSpPr txBox="1"/>
          <p:nvPr/>
        </p:nvSpPr>
        <p:spPr>
          <a:xfrm>
            <a:off x="1497690" y="5882401"/>
            <a:ext cx="2749032" cy="400110"/>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Define data taxonomy and ontology to organize data and map data assets to data products</a:t>
            </a:r>
          </a:p>
        </p:txBody>
      </p:sp>
      <p:sp>
        <p:nvSpPr>
          <p:cNvPr id="212" name="TextBox 211">
            <a:extLst>
              <a:ext uri="{FF2B5EF4-FFF2-40B4-BE49-F238E27FC236}">
                <a16:creationId xmlns:a16="http://schemas.microsoft.com/office/drawing/2014/main" id="{486909D7-A333-FA13-0BF1-092488F84509}"/>
              </a:ext>
            </a:extLst>
          </p:cNvPr>
          <p:cNvSpPr txBox="1"/>
          <p:nvPr/>
        </p:nvSpPr>
        <p:spPr>
          <a:xfrm>
            <a:off x="1497690" y="4362933"/>
            <a:ext cx="2749032" cy="400110"/>
          </a:xfrm>
          <a:prstGeom prst="rect">
            <a:avLst/>
          </a:prstGeom>
          <a:noFill/>
        </p:spPr>
        <p:txBody>
          <a:bodyPr wrap="square">
            <a:spAutoFit/>
          </a:bodyPr>
          <a:lstStyle/>
          <a:p>
            <a:pPr>
              <a:spcAft>
                <a:spcPts val="600"/>
              </a:spcAft>
              <a:defRPr/>
            </a:pPr>
            <a:r>
              <a:rPr lang="en-US" sz="1000" i="1" dirty="0">
                <a:ea typeface="Open Sans" panose="020B0606030504020204" pitchFamily="34" charset="0"/>
                <a:cs typeface="Open Sans" panose="020B0606030504020204" pitchFamily="34" charset="0"/>
              </a:rPr>
              <a:t>Define limited user-personas with roles &amp; responsibilities to access data marketplace</a:t>
            </a:r>
          </a:p>
        </p:txBody>
      </p:sp>
      <p:pic>
        <p:nvPicPr>
          <p:cNvPr id="213" name="Graphic 212" descr="Gears with solid fill">
            <a:extLst>
              <a:ext uri="{FF2B5EF4-FFF2-40B4-BE49-F238E27FC236}">
                <a16:creationId xmlns:a16="http://schemas.microsoft.com/office/drawing/2014/main" id="{F4B40FEF-5ADC-B8E3-0DAF-B3833A280A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76341" y="6462285"/>
            <a:ext cx="274320" cy="274320"/>
          </a:xfrm>
          <a:prstGeom prst="rect">
            <a:avLst/>
          </a:prstGeom>
        </p:spPr>
      </p:pic>
      <p:pic>
        <p:nvPicPr>
          <p:cNvPr id="214" name="Graphic 213" descr="Gears with solid fill">
            <a:extLst>
              <a:ext uri="{FF2B5EF4-FFF2-40B4-BE49-F238E27FC236}">
                <a16:creationId xmlns:a16="http://schemas.microsoft.com/office/drawing/2014/main" id="{F7929BE7-506E-E2FD-5280-F70E26BD3E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2309" y="5449309"/>
            <a:ext cx="274320" cy="274320"/>
          </a:xfrm>
          <a:prstGeom prst="rect">
            <a:avLst/>
          </a:prstGeom>
        </p:spPr>
      </p:pic>
      <p:pic>
        <p:nvPicPr>
          <p:cNvPr id="215" name="Graphic 214" descr="Man and woman with solid fill">
            <a:extLst>
              <a:ext uri="{FF2B5EF4-FFF2-40B4-BE49-F238E27FC236}">
                <a16:creationId xmlns:a16="http://schemas.microsoft.com/office/drawing/2014/main" id="{00DE7824-1441-EFF2-2D9F-415B8EA4A6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57083" y="4399472"/>
            <a:ext cx="274320" cy="274320"/>
          </a:xfrm>
          <a:prstGeom prst="rect">
            <a:avLst/>
          </a:prstGeom>
        </p:spPr>
      </p:pic>
      <p:pic>
        <p:nvPicPr>
          <p:cNvPr id="216" name="Graphic 215" descr="Decision chart with solid fill">
            <a:extLst>
              <a:ext uri="{FF2B5EF4-FFF2-40B4-BE49-F238E27FC236}">
                <a16:creationId xmlns:a16="http://schemas.microsoft.com/office/drawing/2014/main" id="{305784F6-0932-2B27-C550-D76A03A342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083" y="4904193"/>
            <a:ext cx="274320" cy="274320"/>
          </a:xfrm>
          <a:prstGeom prst="rect">
            <a:avLst/>
          </a:prstGeom>
        </p:spPr>
      </p:pic>
      <p:sp>
        <p:nvSpPr>
          <p:cNvPr id="217" name="TextBox 216">
            <a:extLst>
              <a:ext uri="{FF2B5EF4-FFF2-40B4-BE49-F238E27FC236}">
                <a16:creationId xmlns:a16="http://schemas.microsoft.com/office/drawing/2014/main" id="{83269C67-62B7-7BA5-D8B8-2DE970616F7A}"/>
              </a:ext>
            </a:extLst>
          </p:cNvPr>
          <p:cNvSpPr txBox="1"/>
          <p:nvPr/>
        </p:nvSpPr>
        <p:spPr>
          <a:xfrm>
            <a:off x="5165409" y="5333752"/>
            <a:ext cx="2749032" cy="400110"/>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Integrate data marketplace portal with newer data assets i.e. Tableau, model 365</a:t>
            </a:r>
          </a:p>
        </p:txBody>
      </p:sp>
      <p:sp>
        <p:nvSpPr>
          <p:cNvPr id="219" name="TextBox 218">
            <a:extLst>
              <a:ext uri="{FF2B5EF4-FFF2-40B4-BE49-F238E27FC236}">
                <a16:creationId xmlns:a16="http://schemas.microsoft.com/office/drawing/2014/main" id="{463D2602-E1CB-89E6-520D-E04A82E00384}"/>
              </a:ext>
            </a:extLst>
          </p:cNvPr>
          <p:cNvSpPr txBox="1"/>
          <p:nvPr/>
        </p:nvSpPr>
        <p:spPr>
          <a:xfrm>
            <a:off x="5179843" y="3742858"/>
            <a:ext cx="2749032" cy="246221"/>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Increase user adoption (create ~50 user base)</a:t>
            </a:r>
          </a:p>
        </p:txBody>
      </p:sp>
      <p:sp>
        <p:nvSpPr>
          <p:cNvPr id="220" name="TextBox 219">
            <a:extLst>
              <a:ext uri="{FF2B5EF4-FFF2-40B4-BE49-F238E27FC236}">
                <a16:creationId xmlns:a16="http://schemas.microsoft.com/office/drawing/2014/main" id="{BC74E497-0FB4-815A-8793-BEBF027F2A8F}"/>
              </a:ext>
            </a:extLst>
          </p:cNvPr>
          <p:cNvSpPr txBox="1"/>
          <p:nvPr/>
        </p:nvSpPr>
        <p:spPr>
          <a:xfrm>
            <a:off x="5165409" y="4180626"/>
            <a:ext cx="2749032" cy="553998"/>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Define domain, sub domains and governance policies including rules/policies and enhance data taxonomy for data products</a:t>
            </a:r>
          </a:p>
        </p:txBody>
      </p:sp>
      <p:sp>
        <p:nvSpPr>
          <p:cNvPr id="221" name="TextBox 220">
            <a:extLst>
              <a:ext uri="{FF2B5EF4-FFF2-40B4-BE49-F238E27FC236}">
                <a16:creationId xmlns:a16="http://schemas.microsoft.com/office/drawing/2014/main" id="{6F27620B-7DDD-41E3-F237-3F4D472F7C92}"/>
              </a:ext>
            </a:extLst>
          </p:cNvPr>
          <p:cNvSpPr txBox="1"/>
          <p:nvPr/>
        </p:nvSpPr>
        <p:spPr>
          <a:xfrm>
            <a:off x="5172005" y="5890228"/>
            <a:ext cx="2749032" cy="400110"/>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Workflow based access provisioning mechanism to grant quick access to requested data asset </a:t>
            </a:r>
          </a:p>
        </p:txBody>
      </p:sp>
      <p:pic>
        <p:nvPicPr>
          <p:cNvPr id="222" name="Graphic 221" descr="Decision chart with solid fill">
            <a:extLst>
              <a:ext uri="{FF2B5EF4-FFF2-40B4-BE49-F238E27FC236}">
                <a16:creationId xmlns:a16="http://schemas.microsoft.com/office/drawing/2014/main" id="{1326DDDD-947D-31F3-8CBB-F747944240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05262" y="4247434"/>
            <a:ext cx="274320" cy="274320"/>
          </a:xfrm>
          <a:prstGeom prst="rect">
            <a:avLst/>
          </a:prstGeom>
        </p:spPr>
      </p:pic>
      <p:pic>
        <p:nvPicPr>
          <p:cNvPr id="223" name="Graphic 222" descr="Decision chart with solid fill">
            <a:extLst>
              <a:ext uri="{FF2B5EF4-FFF2-40B4-BE49-F238E27FC236}">
                <a16:creationId xmlns:a16="http://schemas.microsoft.com/office/drawing/2014/main" id="{3B69F3CC-5294-9779-B308-1B2C431A5C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97784" y="5365531"/>
            <a:ext cx="274320" cy="274320"/>
          </a:xfrm>
          <a:prstGeom prst="rect">
            <a:avLst/>
          </a:prstGeom>
        </p:spPr>
      </p:pic>
      <p:pic>
        <p:nvPicPr>
          <p:cNvPr id="224" name="Graphic 223" descr="Man and woman with solid fill">
            <a:extLst>
              <a:ext uri="{FF2B5EF4-FFF2-40B4-BE49-F238E27FC236}">
                <a16:creationId xmlns:a16="http://schemas.microsoft.com/office/drawing/2014/main" id="{4C802F27-459E-964A-120D-538446EB3A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27187" y="6472795"/>
            <a:ext cx="274320" cy="274320"/>
          </a:xfrm>
          <a:prstGeom prst="rect">
            <a:avLst/>
          </a:prstGeom>
        </p:spPr>
      </p:pic>
      <p:pic>
        <p:nvPicPr>
          <p:cNvPr id="225" name="Graphic 224" descr="Decision chart with solid fill">
            <a:extLst>
              <a:ext uri="{FF2B5EF4-FFF2-40B4-BE49-F238E27FC236}">
                <a16:creationId xmlns:a16="http://schemas.microsoft.com/office/drawing/2014/main" id="{BBD507D6-1518-41D9-61EC-1E6825222F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37800" y="6472795"/>
            <a:ext cx="274320" cy="274320"/>
          </a:xfrm>
          <a:prstGeom prst="rect">
            <a:avLst/>
          </a:prstGeom>
        </p:spPr>
      </p:pic>
      <p:pic>
        <p:nvPicPr>
          <p:cNvPr id="226" name="Graphic 225" descr="Gears with solid fill">
            <a:extLst>
              <a:ext uri="{FF2B5EF4-FFF2-40B4-BE49-F238E27FC236}">
                <a16:creationId xmlns:a16="http://schemas.microsoft.com/office/drawing/2014/main" id="{29414F04-0964-E5CE-EF0D-774C04E188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76341" y="6472795"/>
            <a:ext cx="274320" cy="274320"/>
          </a:xfrm>
          <a:prstGeom prst="rect">
            <a:avLst/>
          </a:prstGeom>
        </p:spPr>
      </p:pic>
      <p:pic>
        <p:nvPicPr>
          <p:cNvPr id="227" name="Graphic 226" descr="Man and woman with solid fill">
            <a:extLst>
              <a:ext uri="{FF2B5EF4-FFF2-40B4-BE49-F238E27FC236}">
                <a16:creationId xmlns:a16="http://schemas.microsoft.com/office/drawing/2014/main" id="{8D8A966F-E78D-BE11-B5F9-90D415D7A8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97163" y="3783273"/>
            <a:ext cx="274320" cy="274320"/>
          </a:xfrm>
          <a:prstGeom prst="rect">
            <a:avLst/>
          </a:prstGeom>
        </p:spPr>
      </p:pic>
      <p:sp>
        <p:nvSpPr>
          <p:cNvPr id="230" name="TextBox 229">
            <a:extLst>
              <a:ext uri="{FF2B5EF4-FFF2-40B4-BE49-F238E27FC236}">
                <a16:creationId xmlns:a16="http://schemas.microsoft.com/office/drawing/2014/main" id="{89D51055-8892-A201-7B11-43C72C0229B3}"/>
              </a:ext>
            </a:extLst>
          </p:cNvPr>
          <p:cNvSpPr txBox="1"/>
          <p:nvPr/>
        </p:nvSpPr>
        <p:spPr>
          <a:xfrm>
            <a:off x="8676231" y="3861156"/>
            <a:ext cx="2749032" cy="553998"/>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Provide data wrangling/ munging capabilities on marketplace to enable users to self-serve by combining data sets to meet their needs</a:t>
            </a:r>
          </a:p>
        </p:txBody>
      </p:sp>
      <p:sp>
        <p:nvSpPr>
          <p:cNvPr id="231" name="TextBox 230">
            <a:extLst>
              <a:ext uri="{FF2B5EF4-FFF2-40B4-BE49-F238E27FC236}">
                <a16:creationId xmlns:a16="http://schemas.microsoft.com/office/drawing/2014/main" id="{6DC75578-1689-DC90-4CFC-EB4CCDB19686}"/>
              </a:ext>
            </a:extLst>
          </p:cNvPr>
          <p:cNvSpPr txBox="1"/>
          <p:nvPr/>
        </p:nvSpPr>
        <p:spPr>
          <a:xfrm>
            <a:off x="8676231" y="3275262"/>
            <a:ext cx="2749032" cy="553998"/>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Enable cross functional and enterprise-wide usage by providing access to all consumers. Conduct roadshows to drive awareness</a:t>
            </a:r>
          </a:p>
        </p:txBody>
      </p:sp>
      <p:sp>
        <p:nvSpPr>
          <p:cNvPr id="232" name="TextBox 231">
            <a:extLst>
              <a:ext uri="{FF2B5EF4-FFF2-40B4-BE49-F238E27FC236}">
                <a16:creationId xmlns:a16="http://schemas.microsoft.com/office/drawing/2014/main" id="{F2BECBB7-7928-05EE-7421-3C8915E58CCA}"/>
              </a:ext>
            </a:extLst>
          </p:cNvPr>
          <p:cNvSpPr txBox="1"/>
          <p:nvPr/>
        </p:nvSpPr>
        <p:spPr>
          <a:xfrm>
            <a:off x="8676231" y="4491492"/>
            <a:ext cx="2749032" cy="553998"/>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Curated and consumable digital information derived from one or more datasets to support  generation of business insights and outcomes.</a:t>
            </a:r>
          </a:p>
        </p:txBody>
      </p:sp>
      <p:sp>
        <p:nvSpPr>
          <p:cNvPr id="233" name="TextBox 232">
            <a:extLst>
              <a:ext uri="{FF2B5EF4-FFF2-40B4-BE49-F238E27FC236}">
                <a16:creationId xmlns:a16="http://schemas.microsoft.com/office/drawing/2014/main" id="{5F75B4BA-3350-4FC0-324C-72648BE3D898}"/>
              </a:ext>
            </a:extLst>
          </p:cNvPr>
          <p:cNvSpPr txBox="1"/>
          <p:nvPr/>
        </p:nvSpPr>
        <p:spPr>
          <a:xfrm>
            <a:off x="8676231" y="5192444"/>
            <a:ext cx="2749032" cy="400110"/>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Establishing and publishing governance rules to marketplace for building trust</a:t>
            </a:r>
          </a:p>
        </p:txBody>
      </p:sp>
      <p:pic>
        <p:nvPicPr>
          <p:cNvPr id="234" name="Graphic 233" descr="Gears with solid fill">
            <a:extLst>
              <a:ext uri="{FF2B5EF4-FFF2-40B4-BE49-F238E27FC236}">
                <a16:creationId xmlns:a16="http://schemas.microsoft.com/office/drawing/2014/main" id="{08FE7829-C42E-80BD-226E-ED0D9B11D8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9052" y="5223696"/>
            <a:ext cx="274320" cy="274320"/>
          </a:xfrm>
          <a:prstGeom prst="rect">
            <a:avLst/>
          </a:prstGeom>
        </p:spPr>
      </p:pic>
      <p:pic>
        <p:nvPicPr>
          <p:cNvPr id="235" name="Graphic 234" descr="Gears with solid fill">
            <a:extLst>
              <a:ext uri="{FF2B5EF4-FFF2-40B4-BE49-F238E27FC236}">
                <a16:creationId xmlns:a16="http://schemas.microsoft.com/office/drawing/2014/main" id="{4DDCF047-DDB9-02B4-89B7-28EBFFDDE1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9853" y="5770151"/>
            <a:ext cx="274320" cy="274320"/>
          </a:xfrm>
          <a:prstGeom prst="rect">
            <a:avLst/>
          </a:prstGeom>
        </p:spPr>
      </p:pic>
      <p:pic>
        <p:nvPicPr>
          <p:cNvPr id="236" name="Graphic 235" descr="Man and woman with solid fill">
            <a:extLst>
              <a:ext uri="{FF2B5EF4-FFF2-40B4-BE49-F238E27FC236}">
                <a16:creationId xmlns:a16="http://schemas.microsoft.com/office/drawing/2014/main" id="{A44F146B-C7BE-A28A-3777-D105A073BC6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94158" y="3324482"/>
            <a:ext cx="274320" cy="274320"/>
          </a:xfrm>
          <a:prstGeom prst="rect">
            <a:avLst/>
          </a:prstGeom>
        </p:spPr>
      </p:pic>
      <p:pic>
        <p:nvPicPr>
          <p:cNvPr id="238" name="Graphic 237" descr="Decision chart with solid fill">
            <a:extLst>
              <a:ext uri="{FF2B5EF4-FFF2-40B4-BE49-F238E27FC236}">
                <a16:creationId xmlns:a16="http://schemas.microsoft.com/office/drawing/2014/main" id="{DE6363CD-3EF9-C3E9-4AF7-6323E89B69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7564" y="4619540"/>
            <a:ext cx="274320" cy="274320"/>
          </a:xfrm>
          <a:prstGeom prst="rect">
            <a:avLst/>
          </a:prstGeom>
        </p:spPr>
      </p:pic>
      <p:sp>
        <p:nvSpPr>
          <p:cNvPr id="239" name="Arc 238">
            <a:extLst>
              <a:ext uri="{FF2B5EF4-FFF2-40B4-BE49-F238E27FC236}">
                <a16:creationId xmlns:a16="http://schemas.microsoft.com/office/drawing/2014/main" id="{F7513695-1323-BDD4-D6F5-2A0E2D79C0B3}"/>
              </a:ext>
            </a:extLst>
          </p:cNvPr>
          <p:cNvSpPr/>
          <p:nvPr/>
        </p:nvSpPr>
        <p:spPr>
          <a:xfrm rot="20781349" flipV="1">
            <a:off x="836736" y="1853618"/>
            <a:ext cx="10874870" cy="718717"/>
          </a:xfrm>
          <a:prstGeom prst="arc">
            <a:avLst>
              <a:gd name="adj1" fmla="val 10864343"/>
              <a:gd name="adj2" fmla="val 5138"/>
            </a:avLst>
          </a:prstGeom>
          <a:noFill/>
          <a:ln w="152400" cap="flat" cmpd="sng" algn="ctr">
            <a:solidFill>
              <a:schemeClr val="accent3">
                <a:lumMod val="75000"/>
              </a:schemeClr>
            </a:solidFill>
            <a:prstDash val="solid"/>
            <a:miter lim="800000"/>
            <a:tailEnd type="triangle"/>
          </a:ln>
          <a:effectLst/>
        </p:spPr>
        <p:txBody>
          <a:bodyPr rtlCol="0" anchor="ctr"/>
          <a:lstStyle/>
          <a:p>
            <a:pPr algn="ctr"/>
            <a:endParaRPr lang="en-US"/>
          </a:p>
        </p:txBody>
      </p:sp>
      <p:sp>
        <p:nvSpPr>
          <p:cNvPr id="240" name="TextBox 239">
            <a:extLst>
              <a:ext uri="{FF2B5EF4-FFF2-40B4-BE49-F238E27FC236}">
                <a16:creationId xmlns:a16="http://schemas.microsoft.com/office/drawing/2014/main" id="{0752225D-8727-9034-B17C-D45D7172369B}"/>
              </a:ext>
            </a:extLst>
          </p:cNvPr>
          <p:cNvSpPr txBox="1"/>
          <p:nvPr/>
        </p:nvSpPr>
        <p:spPr>
          <a:xfrm>
            <a:off x="1497690" y="5427208"/>
            <a:ext cx="2749032" cy="400110"/>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Build access framework and configure rules to provide access to limited users</a:t>
            </a:r>
          </a:p>
        </p:txBody>
      </p:sp>
      <p:pic>
        <p:nvPicPr>
          <p:cNvPr id="241" name="Graphic 240" descr="Gears with solid fill">
            <a:extLst>
              <a:ext uri="{FF2B5EF4-FFF2-40B4-BE49-F238E27FC236}">
                <a16:creationId xmlns:a16="http://schemas.microsoft.com/office/drawing/2014/main" id="{ABFECFB8-0DE9-CFF5-7543-F7F1406DCB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2309" y="5968658"/>
            <a:ext cx="274320" cy="274320"/>
          </a:xfrm>
          <a:prstGeom prst="rect">
            <a:avLst/>
          </a:prstGeom>
        </p:spPr>
      </p:pic>
      <p:pic>
        <p:nvPicPr>
          <p:cNvPr id="242" name="Graphic 241" descr="Gears with solid fill">
            <a:extLst>
              <a:ext uri="{FF2B5EF4-FFF2-40B4-BE49-F238E27FC236}">
                <a16:creationId xmlns:a16="http://schemas.microsoft.com/office/drawing/2014/main" id="{BB4057FE-7566-6194-DFDB-27E8F45E88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97163" y="5902928"/>
            <a:ext cx="274320" cy="274320"/>
          </a:xfrm>
          <a:prstGeom prst="rect">
            <a:avLst/>
          </a:prstGeom>
        </p:spPr>
      </p:pic>
      <p:sp>
        <p:nvSpPr>
          <p:cNvPr id="243" name="TextBox 242">
            <a:extLst>
              <a:ext uri="{FF2B5EF4-FFF2-40B4-BE49-F238E27FC236}">
                <a16:creationId xmlns:a16="http://schemas.microsoft.com/office/drawing/2014/main" id="{89905497-5AC3-0CAB-10BF-036A5C9643EF}"/>
              </a:ext>
            </a:extLst>
          </p:cNvPr>
          <p:cNvSpPr txBox="1"/>
          <p:nvPr/>
        </p:nvSpPr>
        <p:spPr>
          <a:xfrm>
            <a:off x="8676231" y="5709225"/>
            <a:ext cx="2749032" cy="553998"/>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Self-service and personalization features allowing users to search data products based on tags, metadata and provide data preview</a:t>
            </a:r>
          </a:p>
        </p:txBody>
      </p:sp>
      <p:pic>
        <p:nvPicPr>
          <p:cNvPr id="244" name="Graphic 243" descr="Man and woman with solid fill">
            <a:extLst>
              <a:ext uri="{FF2B5EF4-FFF2-40B4-BE49-F238E27FC236}">
                <a16:creationId xmlns:a16="http://schemas.microsoft.com/office/drawing/2014/main" id="{51E5DE2B-BFAF-3F82-F4CD-0EB9212B6A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9853" y="3927776"/>
            <a:ext cx="274320" cy="274320"/>
          </a:xfrm>
          <a:prstGeom prst="rect">
            <a:avLst/>
          </a:prstGeom>
        </p:spPr>
      </p:pic>
      <p:sp>
        <p:nvSpPr>
          <p:cNvPr id="245" name="TextBox 244">
            <a:extLst>
              <a:ext uri="{FF2B5EF4-FFF2-40B4-BE49-F238E27FC236}">
                <a16:creationId xmlns:a16="http://schemas.microsoft.com/office/drawing/2014/main" id="{285C3E43-8589-A9FC-6020-8E9759CF6711}"/>
              </a:ext>
            </a:extLst>
          </p:cNvPr>
          <p:cNvSpPr txBox="1"/>
          <p:nvPr/>
        </p:nvSpPr>
        <p:spPr>
          <a:xfrm>
            <a:off x="5146750" y="4823272"/>
            <a:ext cx="2749032" cy="400110"/>
          </a:xfrm>
          <a:prstGeom prst="rect">
            <a:avLst/>
          </a:prstGeom>
          <a:noFill/>
        </p:spPr>
        <p:txBody>
          <a:bodyPr wrap="square">
            <a:spAutoFit/>
          </a:bodyPr>
          <a:lstStyle/>
          <a:p>
            <a:pPr>
              <a:spcAft>
                <a:spcPts val="600"/>
              </a:spcAft>
              <a:defRPr/>
            </a:pPr>
            <a:r>
              <a:rPr lang="en-US" sz="1000" i="1">
                <a:ea typeface="Open Sans" panose="020B0606030504020204" pitchFamily="34" charset="0"/>
                <a:cs typeface="Open Sans" panose="020B0606030504020204" pitchFamily="34" charset="0"/>
              </a:rPr>
              <a:t>Define consumption patterns i.e. API access, object storage, etc.</a:t>
            </a:r>
          </a:p>
        </p:txBody>
      </p:sp>
      <p:pic>
        <p:nvPicPr>
          <p:cNvPr id="246" name="Graphic 245" descr="Gears with solid fill">
            <a:extLst>
              <a:ext uri="{FF2B5EF4-FFF2-40B4-BE49-F238E27FC236}">
                <a16:creationId xmlns:a16="http://schemas.microsoft.com/office/drawing/2014/main" id="{7B0D2C06-85A4-A8FB-9D7A-E761AD01C8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86603" y="4845248"/>
            <a:ext cx="274320" cy="274320"/>
          </a:xfrm>
          <a:prstGeom prst="rect">
            <a:avLst/>
          </a:prstGeom>
        </p:spPr>
      </p:pic>
    </p:spTree>
    <p:extLst>
      <p:ext uri="{BB962C8B-B14F-4D97-AF65-F5344CB8AC3E}">
        <p14:creationId xmlns:p14="http://schemas.microsoft.com/office/powerpoint/2010/main" val="416030502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dirty="0">
                <a:solidFill>
                  <a:srgbClr val="00B050"/>
                </a:solidFill>
                <a:ea typeface="Open Sans"/>
                <a:cs typeface="Open Sans"/>
              </a:rPr>
              <a:t>Capability Map </a:t>
            </a:r>
            <a:r>
              <a:rPr lang="en-US" sz="2200" b="0" dirty="0">
                <a:ea typeface="Open Sans"/>
                <a:cs typeface="Open Sans"/>
              </a:rPr>
              <a:t>for a Data Marketplace</a:t>
            </a:r>
          </a:p>
        </p:txBody>
      </p:sp>
      <p:sp>
        <p:nvSpPr>
          <p:cNvPr id="53" name="Text Placeholder 3">
            <a:extLst>
              <a:ext uri="{FF2B5EF4-FFF2-40B4-BE49-F238E27FC236}">
                <a16:creationId xmlns:a16="http://schemas.microsoft.com/office/drawing/2014/main" id="{3AAC5803-8CC8-DE31-AE70-F633B90AB888}"/>
              </a:ext>
            </a:extLst>
          </p:cNvPr>
          <p:cNvSpPr>
            <a:spLocks noGrp="1"/>
          </p:cNvSpPr>
          <p:nvPr>
            <p:ph type="body" sz="quarter" idx="13"/>
          </p:nvPr>
        </p:nvSpPr>
        <p:spPr>
          <a:xfrm>
            <a:off x="469900" y="742155"/>
            <a:ext cx="11162349" cy="418079"/>
          </a:xfrm>
        </p:spPr>
        <p:txBody>
          <a:bodyPr/>
          <a:lstStyle/>
          <a:p>
            <a:r>
              <a:rPr lang="en-US" sz="1200"/>
              <a:t>Deloitte understands that Prudential has already invested in several of below capabilities in their data marketplace. We will work with you to assess current capabilities and either augment or develop new capabilities in collaborative manner using Deloitte automation and AI accelerators</a:t>
            </a:r>
          </a:p>
        </p:txBody>
      </p:sp>
      <p:sp>
        <p:nvSpPr>
          <p:cNvPr id="3" name="Rectangle 2">
            <a:extLst>
              <a:ext uri="{FF2B5EF4-FFF2-40B4-BE49-F238E27FC236}">
                <a16:creationId xmlns:a16="http://schemas.microsoft.com/office/drawing/2014/main" id="{F0709202-FEB2-AEC9-C76A-A3E67D4072CA}"/>
              </a:ext>
            </a:extLst>
          </p:cNvPr>
          <p:cNvSpPr/>
          <p:nvPr/>
        </p:nvSpPr>
        <p:spPr>
          <a:xfrm>
            <a:off x="466221" y="2009761"/>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Integrated Data Asset</a:t>
            </a:r>
          </a:p>
        </p:txBody>
      </p:sp>
      <p:sp>
        <p:nvSpPr>
          <p:cNvPr id="4" name="Rectangle 3">
            <a:extLst>
              <a:ext uri="{FF2B5EF4-FFF2-40B4-BE49-F238E27FC236}">
                <a16:creationId xmlns:a16="http://schemas.microsoft.com/office/drawing/2014/main" id="{D90E2D2F-5242-F775-F77B-027D5BF2BFC5}"/>
              </a:ext>
            </a:extLst>
          </p:cNvPr>
          <p:cNvSpPr/>
          <p:nvPr/>
        </p:nvSpPr>
        <p:spPr>
          <a:xfrm>
            <a:off x="466221" y="3216820"/>
            <a:ext cx="1615511" cy="440285"/>
          </a:xfrm>
          <a:prstGeom prst="rect">
            <a:avLst/>
          </a:prstGeom>
          <a:no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Source System Integrations</a:t>
            </a:r>
          </a:p>
        </p:txBody>
      </p:sp>
      <p:sp>
        <p:nvSpPr>
          <p:cNvPr id="5" name="Rectangle 4">
            <a:extLst>
              <a:ext uri="{FF2B5EF4-FFF2-40B4-BE49-F238E27FC236}">
                <a16:creationId xmlns:a16="http://schemas.microsoft.com/office/drawing/2014/main" id="{7491BB44-039C-2B1E-9A89-54E8199CC911}"/>
              </a:ext>
            </a:extLst>
          </p:cNvPr>
          <p:cNvSpPr/>
          <p:nvPr/>
        </p:nvSpPr>
        <p:spPr>
          <a:xfrm>
            <a:off x="466221" y="3836487"/>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Data Profiling and Sampling</a:t>
            </a:r>
          </a:p>
        </p:txBody>
      </p:sp>
      <p:sp>
        <p:nvSpPr>
          <p:cNvPr id="6" name="Rectangle 5">
            <a:extLst>
              <a:ext uri="{FF2B5EF4-FFF2-40B4-BE49-F238E27FC236}">
                <a16:creationId xmlns:a16="http://schemas.microsoft.com/office/drawing/2014/main" id="{8F5C51EE-E97E-3D01-AF5F-09C00EEA27AD}"/>
              </a:ext>
            </a:extLst>
          </p:cNvPr>
          <p:cNvSpPr/>
          <p:nvPr/>
        </p:nvSpPr>
        <p:spPr>
          <a:xfrm>
            <a:off x="466221" y="5086575"/>
            <a:ext cx="1615511" cy="440285"/>
          </a:xfrm>
          <a:prstGeom prst="rect">
            <a:avLst/>
          </a:prstGeom>
          <a:no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Metadata Onboarding Curation, &amp; Tagging</a:t>
            </a:r>
          </a:p>
        </p:txBody>
      </p:sp>
      <p:sp>
        <p:nvSpPr>
          <p:cNvPr id="7" name="Rectangle 6">
            <a:extLst>
              <a:ext uri="{FF2B5EF4-FFF2-40B4-BE49-F238E27FC236}">
                <a16:creationId xmlns:a16="http://schemas.microsoft.com/office/drawing/2014/main" id="{4BDD5889-1E13-136F-7A16-3C27C784A4B3}"/>
              </a:ext>
            </a:extLst>
          </p:cNvPr>
          <p:cNvSpPr/>
          <p:nvPr/>
        </p:nvSpPr>
        <p:spPr>
          <a:xfrm>
            <a:off x="466221" y="4456153"/>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Automated Data Classification</a:t>
            </a:r>
          </a:p>
        </p:txBody>
      </p:sp>
      <p:sp>
        <p:nvSpPr>
          <p:cNvPr id="8" name="TextBox 7">
            <a:extLst>
              <a:ext uri="{FF2B5EF4-FFF2-40B4-BE49-F238E27FC236}">
                <a16:creationId xmlns:a16="http://schemas.microsoft.com/office/drawing/2014/main" id="{73126917-50CE-38EB-CFA1-171E37CD9A28}"/>
              </a:ext>
            </a:extLst>
          </p:cNvPr>
          <p:cNvSpPr txBox="1"/>
          <p:nvPr/>
        </p:nvSpPr>
        <p:spPr>
          <a:xfrm>
            <a:off x="466221" y="1410153"/>
            <a:ext cx="1615511" cy="549278"/>
          </a:xfrm>
          <a:prstGeom prst="rect">
            <a:avLst/>
          </a:prstGeom>
          <a:solidFill>
            <a:schemeClr val="accent2">
              <a:lumMod val="75000"/>
            </a:schemeClr>
          </a:solidFill>
        </p:spPr>
        <p:txBody>
          <a:bodyPr wrap="square" rtlCol="0" anchor="ctr">
            <a:noAutofit/>
          </a:bodyPr>
          <a:lstStyle/>
          <a:p>
            <a:pPr algn="ctr"/>
            <a:r>
              <a:rPr lang="en-US" sz="1200" b="1">
                <a:solidFill>
                  <a:schemeClr val="bg1"/>
                </a:solidFill>
              </a:rPr>
              <a:t>PREPARATION AND INTERLINKING SERVICES</a:t>
            </a:r>
          </a:p>
        </p:txBody>
      </p:sp>
      <p:sp>
        <p:nvSpPr>
          <p:cNvPr id="9" name="TextBox 8">
            <a:extLst>
              <a:ext uri="{FF2B5EF4-FFF2-40B4-BE49-F238E27FC236}">
                <a16:creationId xmlns:a16="http://schemas.microsoft.com/office/drawing/2014/main" id="{79030D1A-4E49-073B-4401-140ADF2F12D8}"/>
              </a:ext>
            </a:extLst>
          </p:cNvPr>
          <p:cNvSpPr txBox="1"/>
          <p:nvPr/>
        </p:nvSpPr>
        <p:spPr>
          <a:xfrm>
            <a:off x="2392677" y="1410153"/>
            <a:ext cx="1615511" cy="549278"/>
          </a:xfrm>
          <a:prstGeom prst="rect">
            <a:avLst/>
          </a:prstGeom>
          <a:solidFill>
            <a:schemeClr val="accent2">
              <a:lumMod val="75000"/>
            </a:schemeClr>
          </a:solidFill>
        </p:spPr>
        <p:txBody>
          <a:bodyPr wrap="square" rtlCol="0" anchor="ctr">
            <a:noAutofit/>
          </a:bodyPr>
          <a:lstStyle/>
          <a:p>
            <a:pPr algn="ctr"/>
            <a:r>
              <a:rPr lang="en-US" sz="1200" b="1">
                <a:solidFill>
                  <a:schemeClr val="bg1"/>
                </a:solidFill>
              </a:rPr>
              <a:t>STEWARDSHIP AND PUBLISHING SERVICES</a:t>
            </a:r>
          </a:p>
        </p:txBody>
      </p:sp>
      <p:sp>
        <p:nvSpPr>
          <p:cNvPr id="10" name="Rectangle 9">
            <a:extLst>
              <a:ext uri="{FF2B5EF4-FFF2-40B4-BE49-F238E27FC236}">
                <a16:creationId xmlns:a16="http://schemas.microsoft.com/office/drawing/2014/main" id="{CB61483E-01A6-7908-5A66-7DF7DC030C52}"/>
              </a:ext>
            </a:extLst>
          </p:cNvPr>
          <p:cNvSpPr/>
          <p:nvPr/>
        </p:nvSpPr>
        <p:spPr>
          <a:xfrm>
            <a:off x="466221" y="2607912"/>
            <a:ext cx="1615511" cy="440285"/>
          </a:xfrm>
          <a:prstGeom prst="rect">
            <a:avLst/>
          </a:prstGeom>
          <a:solidFill>
            <a:srgbClr val="D7F4D1"/>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Enterprise Governance</a:t>
            </a:r>
          </a:p>
        </p:txBody>
      </p:sp>
      <p:sp>
        <p:nvSpPr>
          <p:cNvPr id="11" name="Rectangle 10">
            <a:extLst>
              <a:ext uri="{FF2B5EF4-FFF2-40B4-BE49-F238E27FC236}">
                <a16:creationId xmlns:a16="http://schemas.microsoft.com/office/drawing/2014/main" id="{67A45C91-754B-3310-C55A-DD7451009726}"/>
              </a:ext>
            </a:extLst>
          </p:cNvPr>
          <p:cNvSpPr/>
          <p:nvPr/>
        </p:nvSpPr>
        <p:spPr>
          <a:xfrm>
            <a:off x="2392680" y="2005326"/>
            <a:ext cx="1615511" cy="444740"/>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Community Collaboration</a:t>
            </a:r>
          </a:p>
        </p:txBody>
      </p:sp>
      <p:sp>
        <p:nvSpPr>
          <p:cNvPr id="12" name="Rectangle 11">
            <a:extLst>
              <a:ext uri="{FF2B5EF4-FFF2-40B4-BE49-F238E27FC236}">
                <a16:creationId xmlns:a16="http://schemas.microsoft.com/office/drawing/2014/main" id="{D01B2E87-5F16-445E-C08B-F348969C9A38}"/>
              </a:ext>
            </a:extLst>
          </p:cNvPr>
          <p:cNvSpPr/>
          <p:nvPr/>
        </p:nvSpPr>
        <p:spPr>
          <a:xfrm>
            <a:off x="2392680" y="3215931"/>
            <a:ext cx="1615511" cy="440285"/>
          </a:xfrm>
          <a:prstGeom prst="rect">
            <a:avLst/>
          </a:prstGeom>
          <a:solidFill>
            <a:srgbClr val="D7F4D1"/>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Data Lineage/Quality Certification</a:t>
            </a:r>
          </a:p>
        </p:txBody>
      </p:sp>
      <p:sp>
        <p:nvSpPr>
          <p:cNvPr id="13" name="Rectangle 12">
            <a:extLst>
              <a:ext uri="{FF2B5EF4-FFF2-40B4-BE49-F238E27FC236}">
                <a16:creationId xmlns:a16="http://schemas.microsoft.com/office/drawing/2014/main" id="{FCEEFA7A-9216-E2A3-0966-D6BB5026ADE2}"/>
              </a:ext>
            </a:extLst>
          </p:cNvPr>
          <p:cNvSpPr/>
          <p:nvPr/>
        </p:nvSpPr>
        <p:spPr>
          <a:xfrm>
            <a:off x="2392679" y="3837371"/>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Metadata Validation and Articulation</a:t>
            </a:r>
          </a:p>
        </p:txBody>
      </p:sp>
      <p:sp>
        <p:nvSpPr>
          <p:cNvPr id="14" name="Rectangle 13">
            <a:extLst>
              <a:ext uri="{FF2B5EF4-FFF2-40B4-BE49-F238E27FC236}">
                <a16:creationId xmlns:a16="http://schemas.microsoft.com/office/drawing/2014/main" id="{B52CDFFD-AE3B-892D-7166-D7333D0C21E7}"/>
              </a:ext>
            </a:extLst>
          </p:cNvPr>
          <p:cNvSpPr/>
          <p:nvPr/>
        </p:nvSpPr>
        <p:spPr>
          <a:xfrm>
            <a:off x="2392676" y="2611675"/>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Centralized Workflow</a:t>
            </a:r>
          </a:p>
        </p:txBody>
      </p:sp>
      <p:sp>
        <p:nvSpPr>
          <p:cNvPr id="15" name="TextBox 14">
            <a:extLst>
              <a:ext uri="{FF2B5EF4-FFF2-40B4-BE49-F238E27FC236}">
                <a16:creationId xmlns:a16="http://schemas.microsoft.com/office/drawing/2014/main" id="{552F280D-9232-4FBF-EA3C-796D143B5558}"/>
              </a:ext>
            </a:extLst>
          </p:cNvPr>
          <p:cNvSpPr txBox="1"/>
          <p:nvPr/>
        </p:nvSpPr>
        <p:spPr>
          <a:xfrm>
            <a:off x="4319139" y="1410153"/>
            <a:ext cx="1615511" cy="549278"/>
          </a:xfrm>
          <a:prstGeom prst="rect">
            <a:avLst/>
          </a:prstGeom>
          <a:solidFill>
            <a:schemeClr val="accent2">
              <a:lumMod val="75000"/>
            </a:schemeClr>
          </a:solidFill>
        </p:spPr>
        <p:txBody>
          <a:bodyPr wrap="square" rtlCol="0" anchor="ctr">
            <a:noAutofit/>
          </a:bodyPr>
          <a:lstStyle/>
          <a:p>
            <a:pPr algn="ctr"/>
            <a:r>
              <a:rPr lang="en-US" sz="1200" b="1">
                <a:solidFill>
                  <a:schemeClr val="bg1"/>
                </a:solidFill>
              </a:rPr>
              <a:t>EXPLORATION SERVICES</a:t>
            </a:r>
          </a:p>
        </p:txBody>
      </p:sp>
      <p:sp>
        <p:nvSpPr>
          <p:cNvPr id="16" name="Rectangle 15">
            <a:extLst>
              <a:ext uri="{FF2B5EF4-FFF2-40B4-BE49-F238E27FC236}">
                <a16:creationId xmlns:a16="http://schemas.microsoft.com/office/drawing/2014/main" id="{EF4AFD65-21ED-9326-0B39-2E08D744B492}"/>
              </a:ext>
            </a:extLst>
          </p:cNvPr>
          <p:cNvSpPr/>
          <p:nvPr/>
        </p:nvSpPr>
        <p:spPr>
          <a:xfrm>
            <a:off x="2392678" y="4458810"/>
            <a:ext cx="1615511" cy="440285"/>
          </a:xfrm>
          <a:prstGeom prst="rect">
            <a:avLst/>
          </a:prstGeom>
          <a:solidFill>
            <a:srgbClr val="D7F4D1"/>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Data Lineage Publishing</a:t>
            </a:r>
          </a:p>
        </p:txBody>
      </p:sp>
      <p:sp>
        <p:nvSpPr>
          <p:cNvPr id="17" name="Rectangle 16">
            <a:extLst>
              <a:ext uri="{FF2B5EF4-FFF2-40B4-BE49-F238E27FC236}">
                <a16:creationId xmlns:a16="http://schemas.microsoft.com/office/drawing/2014/main" id="{DAF07F48-11C5-B1CC-672C-593B7AC4AE23}"/>
              </a:ext>
            </a:extLst>
          </p:cNvPr>
          <p:cNvSpPr/>
          <p:nvPr/>
        </p:nvSpPr>
        <p:spPr>
          <a:xfrm>
            <a:off x="4319137" y="3216198"/>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Data Recommendations</a:t>
            </a:r>
          </a:p>
        </p:txBody>
      </p:sp>
      <p:sp>
        <p:nvSpPr>
          <p:cNvPr id="18" name="Rectangle 17">
            <a:extLst>
              <a:ext uri="{FF2B5EF4-FFF2-40B4-BE49-F238E27FC236}">
                <a16:creationId xmlns:a16="http://schemas.microsoft.com/office/drawing/2014/main" id="{629C4D44-15AD-6852-AA0C-023BD497A85E}"/>
              </a:ext>
            </a:extLst>
          </p:cNvPr>
          <p:cNvSpPr/>
          <p:nvPr/>
        </p:nvSpPr>
        <p:spPr>
          <a:xfrm>
            <a:off x="4318000" y="2008727"/>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Advanced Filtering</a:t>
            </a:r>
          </a:p>
        </p:txBody>
      </p:sp>
      <p:sp>
        <p:nvSpPr>
          <p:cNvPr id="19" name="Rectangle 18">
            <a:extLst>
              <a:ext uri="{FF2B5EF4-FFF2-40B4-BE49-F238E27FC236}">
                <a16:creationId xmlns:a16="http://schemas.microsoft.com/office/drawing/2014/main" id="{0EC1EEE2-A551-F34A-B620-A3FEF36B4D68}"/>
              </a:ext>
            </a:extLst>
          </p:cNvPr>
          <p:cNvSpPr/>
          <p:nvPr/>
        </p:nvSpPr>
        <p:spPr>
          <a:xfrm>
            <a:off x="4319137" y="4455943"/>
            <a:ext cx="1615511" cy="440285"/>
          </a:xfrm>
          <a:prstGeom prst="rect">
            <a:avLst/>
          </a:prstGeom>
          <a:no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Data Products</a:t>
            </a:r>
          </a:p>
        </p:txBody>
      </p:sp>
      <p:sp>
        <p:nvSpPr>
          <p:cNvPr id="20" name="Rectangle 19">
            <a:extLst>
              <a:ext uri="{FF2B5EF4-FFF2-40B4-BE49-F238E27FC236}">
                <a16:creationId xmlns:a16="http://schemas.microsoft.com/office/drawing/2014/main" id="{153483AC-B421-CCC1-E222-DFE073C15455}"/>
              </a:ext>
            </a:extLst>
          </p:cNvPr>
          <p:cNvSpPr/>
          <p:nvPr/>
        </p:nvSpPr>
        <p:spPr>
          <a:xfrm>
            <a:off x="4318000" y="3836071"/>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Ask the Expert</a:t>
            </a:r>
          </a:p>
        </p:txBody>
      </p:sp>
      <p:sp>
        <p:nvSpPr>
          <p:cNvPr id="21" name="Rectangle 20">
            <a:extLst>
              <a:ext uri="{FF2B5EF4-FFF2-40B4-BE49-F238E27FC236}">
                <a16:creationId xmlns:a16="http://schemas.microsoft.com/office/drawing/2014/main" id="{D2D77579-27F9-42C3-18D9-0AD4C0C9B027}"/>
              </a:ext>
            </a:extLst>
          </p:cNvPr>
          <p:cNvSpPr/>
          <p:nvPr/>
        </p:nvSpPr>
        <p:spPr>
          <a:xfrm>
            <a:off x="4319137" y="2607084"/>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Personalized Experience</a:t>
            </a:r>
          </a:p>
        </p:txBody>
      </p:sp>
      <p:sp>
        <p:nvSpPr>
          <p:cNvPr id="22" name="Rectangle 21">
            <a:extLst>
              <a:ext uri="{FF2B5EF4-FFF2-40B4-BE49-F238E27FC236}">
                <a16:creationId xmlns:a16="http://schemas.microsoft.com/office/drawing/2014/main" id="{B54B1423-9F57-0F82-5DC8-C03FF9A8C593}"/>
              </a:ext>
            </a:extLst>
          </p:cNvPr>
          <p:cNvSpPr/>
          <p:nvPr/>
        </p:nvSpPr>
        <p:spPr>
          <a:xfrm>
            <a:off x="4319139" y="5086575"/>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Cross-Platform Search</a:t>
            </a:r>
          </a:p>
        </p:txBody>
      </p:sp>
      <p:sp>
        <p:nvSpPr>
          <p:cNvPr id="23" name="TextBox 22">
            <a:extLst>
              <a:ext uri="{FF2B5EF4-FFF2-40B4-BE49-F238E27FC236}">
                <a16:creationId xmlns:a16="http://schemas.microsoft.com/office/drawing/2014/main" id="{5DF536A4-756A-9571-EDDE-1B6A7B6F56CD}"/>
              </a:ext>
            </a:extLst>
          </p:cNvPr>
          <p:cNvSpPr txBox="1"/>
          <p:nvPr/>
        </p:nvSpPr>
        <p:spPr>
          <a:xfrm>
            <a:off x="8166104" y="1410153"/>
            <a:ext cx="1615511" cy="549278"/>
          </a:xfrm>
          <a:prstGeom prst="rect">
            <a:avLst/>
          </a:prstGeom>
          <a:solidFill>
            <a:schemeClr val="accent2">
              <a:lumMod val="75000"/>
            </a:schemeClr>
          </a:solidFill>
        </p:spPr>
        <p:txBody>
          <a:bodyPr wrap="square" rtlCol="0" anchor="ctr">
            <a:noAutofit/>
          </a:bodyPr>
          <a:lstStyle/>
          <a:p>
            <a:pPr algn="ctr"/>
            <a:r>
              <a:rPr lang="en-US" sz="1200" b="1">
                <a:solidFill>
                  <a:schemeClr val="bg1"/>
                </a:solidFill>
              </a:rPr>
              <a:t>PROVISIONING WORKFLOW SERVICES</a:t>
            </a:r>
          </a:p>
        </p:txBody>
      </p:sp>
      <p:sp>
        <p:nvSpPr>
          <p:cNvPr id="24" name="Rectangle 23">
            <a:extLst>
              <a:ext uri="{FF2B5EF4-FFF2-40B4-BE49-F238E27FC236}">
                <a16:creationId xmlns:a16="http://schemas.microsoft.com/office/drawing/2014/main" id="{3FEA19BA-CF06-4A37-C4B8-F5C3578B7857}"/>
              </a:ext>
            </a:extLst>
          </p:cNvPr>
          <p:cNvSpPr/>
          <p:nvPr/>
        </p:nvSpPr>
        <p:spPr>
          <a:xfrm>
            <a:off x="8166100" y="2007092"/>
            <a:ext cx="1615511" cy="440285"/>
          </a:xfrm>
          <a:prstGeom prst="rect">
            <a:avLst/>
          </a:prstGeom>
          <a:solidFill>
            <a:srgbClr val="D7F4D1"/>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Marketplace Storefront UI </a:t>
            </a:r>
          </a:p>
        </p:txBody>
      </p:sp>
      <p:sp>
        <p:nvSpPr>
          <p:cNvPr id="25" name="Rectangle 24">
            <a:extLst>
              <a:ext uri="{FF2B5EF4-FFF2-40B4-BE49-F238E27FC236}">
                <a16:creationId xmlns:a16="http://schemas.microsoft.com/office/drawing/2014/main" id="{CF0889EF-E8DE-97DA-84B6-F681078FD985}"/>
              </a:ext>
            </a:extLst>
          </p:cNvPr>
          <p:cNvSpPr/>
          <p:nvPr/>
        </p:nvSpPr>
        <p:spPr>
          <a:xfrm>
            <a:off x="8166100" y="3215931"/>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Automated Provisioning</a:t>
            </a:r>
          </a:p>
        </p:txBody>
      </p:sp>
      <p:sp>
        <p:nvSpPr>
          <p:cNvPr id="26" name="Rectangle 25">
            <a:extLst>
              <a:ext uri="{FF2B5EF4-FFF2-40B4-BE49-F238E27FC236}">
                <a16:creationId xmlns:a16="http://schemas.microsoft.com/office/drawing/2014/main" id="{D0226A7D-48FE-7D88-DBDA-8E9A6528D79F}"/>
              </a:ext>
            </a:extLst>
          </p:cNvPr>
          <p:cNvSpPr/>
          <p:nvPr/>
        </p:nvSpPr>
        <p:spPr>
          <a:xfrm>
            <a:off x="8166100" y="2607084"/>
            <a:ext cx="1615511" cy="440285"/>
          </a:xfrm>
          <a:prstGeom prst="rect">
            <a:avLst/>
          </a:prstGeom>
          <a:solidFill>
            <a:srgbClr val="D7F4D1"/>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Access Provisioning</a:t>
            </a:r>
          </a:p>
        </p:txBody>
      </p:sp>
      <p:sp>
        <p:nvSpPr>
          <p:cNvPr id="27" name="TextBox 26">
            <a:extLst>
              <a:ext uri="{FF2B5EF4-FFF2-40B4-BE49-F238E27FC236}">
                <a16:creationId xmlns:a16="http://schemas.microsoft.com/office/drawing/2014/main" id="{9E172DFF-4BDD-9C9C-A750-7BDE10B13A83}"/>
              </a:ext>
            </a:extLst>
          </p:cNvPr>
          <p:cNvSpPr txBox="1"/>
          <p:nvPr/>
        </p:nvSpPr>
        <p:spPr>
          <a:xfrm>
            <a:off x="6257352" y="1410153"/>
            <a:ext cx="1615511" cy="549278"/>
          </a:xfrm>
          <a:prstGeom prst="rect">
            <a:avLst/>
          </a:prstGeom>
          <a:solidFill>
            <a:schemeClr val="accent2">
              <a:lumMod val="75000"/>
            </a:schemeClr>
          </a:solidFill>
        </p:spPr>
        <p:txBody>
          <a:bodyPr wrap="square" rtlCol="0" anchor="ctr">
            <a:noAutofit/>
          </a:bodyPr>
          <a:lstStyle/>
          <a:p>
            <a:pPr algn="ctr"/>
            <a:r>
              <a:rPr lang="en-US" sz="1200" b="1">
                <a:solidFill>
                  <a:schemeClr val="bg1"/>
                </a:solidFill>
              </a:rPr>
              <a:t>COLLABORATION / FEEDBACK</a:t>
            </a:r>
          </a:p>
        </p:txBody>
      </p:sp>
      <p:sp>
        <p:nvSpPr>
          <p:cNvPr id="28" name="Rectangle 27">
            <a:extLst>
              <a:ext uri="{FF2B5EF4-FFF2-40B4-BE49-F238E27FC236}">
                <a16:creationId xmlns:a16="http://schemas.microsoft.com/office/drawing/2014/main" id="{410CDA7B-47C8-AED0-41B0-432BA958DC58}"/>
              </a:ext>
            </a:extLst>
          </p:cNvPr>
          <p:cNvSpPr/>
          <p:nvPr/>
        </p:nvSpPr>
        <p:spPr>
          <a:xfrm>
            <a:off x="6248400" y="2608799"/>
            <a:ext cx="1615511" cy="440285"/>
          </a:xfrm>
          <a:prstGeom prst="rect">
            <a:avLst/>
          </a:prstGeom>
          <a:solidFill>
            <a:srgbClr val="D7F4D1"/>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Data Rating and Feedback</a:t>
            </a:r>
          </a:p>
        </p:txBody>
      </p:sp>
      <p:sp>
        <p:nvSpPr>
          <p:cNvPr id="29" name="Rectangle 28">
            <a:extLst>
              <a:ext uri="{FF2B5EF4-FFF2-40B4-BE49-F238E27FC236}">
                <a16:creationId xmlns:a16="http://schemas.microsoft.com/office/drawing/2014/main" id="{F61386DA-8542-1B46-8D5B-F2A4312C5F62}"/>
              </a:ext>
            </a:extLst>
          </p:cNvPr>
          <p:cNvSpPr/>
          <p:nvPr/>
        </p:nvSpPr>
        <p:spPr>
          <a:xfrm>
            <a:off x="6248400" y="2007092"/>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Sharing Between Colleagues</a:t>
            </a:r>
          </a:p>
        </p:txBody>
      </p:sp>
      <p:sp>
        <p:nvSpPr>
          <p:cNvPr id="30" name="Rectangle 29">
            <a:extLst>
              <a:ext uri="{FF2B5EF4-FFF2-40B4-BE49-F238E27FC236}">
                <a16:creationId xmlns:a16="http://schemas.microsoft.com/office/drawing/2014/main" id="{F5B4840D-8BDD-2CF7-37FA-910AE76F392C}"/>
              </a:ext>
            </a:extLst>
          </p:cNvPr>
          <p:cNvSpPr/>
          <p:nvPr/>
        </p:nvSpPr>
        <p:spPr>
          <a:xfrm>
            <a:off x="10098171" y="2007092"/>
            <a:ext cx="1615511" cy="440285"/>
          </a:xfrm>
          <a:prstGeom prst="rect">
            <a:avLst/>
          </a:prstGeom>
          <a:no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Persona based data access/authentication</a:t>
            </a:r>
          </a:p>
        </p:txBody>
      </p:sp>
      <p:sp>
        <p:nvSpPr>
          <p:cNvPr id="31" name="Rectangle 30">
            <a:extLst>
              <a:ext uri="{FF2B5EF4-FFF2-40B4-BE49-F238E27FC236}">
                <a16:creationId xmlns:a16="http://schemas.microsoft.com/office/drawing/2014/main" id="{1FAC50FD-6E11-0398-2F49-9F4CD49EA5EB}"/>
              </a:ext>
            </a:extLst>
          </p:cNvPr>
          <p:cNvSpPr/>
          <p:nvPr/>
        </p:nvSpPr>
        <p:spPr>
          <a:xfrm>
            <a:off x="2392677" y="5091006"/>
            <a:ext cx="1615511" cy="440285"/>
          </a:xfrm>
          <a:prstGeom prst="rect">
            <a:avLst/>
          </a:prstGeom>
          <a:no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Data Taxonomy</a:t>
            </a:r>
          </a:p>
        </p:txBody>
      </p:sp>
      <p:sp>
        <p:nvSpPr>
          <p:cNvPr id="32" name="Rectangle 31">
            <a:extLst>
              <a:ext uri="{FF2B5EF4-FFF2-40B4-BE49-F238E27FC236}">
                <a16:creationId xmlns:a16="http://schemas.microsoft.com/office/drawing/2014/main" id="{734CDD73-1562-FE80-5D33-3560DBAF9A6D}"/>
              </a:ext>
            </a:extLst>
          </p:cNvPr>
          <p:cNvSpPr/>
          <p:nvPr/>
        </p:nvSpPr>
        <p:spPr>
          <a:xfrm>
            <a:off x="10098171" y="2608799"/>
            <a:ext cx="1615511" cy="440285"/>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a:solidFill>
                  <a:schemeClr val="tx1"/>
                </a:solidFill>
              </a:rPr>
              <a:t>Marketplace Analytics</a:t>
            </a:r>
          </a:p>
        </p:txBody>
      </p:sp>
      <p:sp>
        <p:nvSpPr>
          <p:cNvPr id="33" name="Rectangle 32">
            <a:extLst>
              <a:ext uri="{FF2B5EF4-FFF2-40B4-BE49-F238E27FC236}">
                <a16:creationId xmlns:a16="http://schemas.microsoft.com/office/drawing/2014/main" id="{4F2490B6-D6D3-0811-4234-3DBA3F42D9B2}"/>
              </a:ext>
            </a:extLst>
          </p:cNvPr>
          <p:cNvSpPr/>
          <p:nvPr/>
        </p:nvSpPr>
        <p:spPr>
          <a:xfrm>
            <a:off x="10098171" y="3215931"/>
            <a:ext cx="1615511" cy="440285"/>
          </a:xfrm>
          <a:prstGeom prst="rect">
            <a:avLst/>
          </a:prstGeom>
          <a:solidFill>
            <a:srgbClr val="D7F4D1"/>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r>
              <a:rPr lang="en-US" sz="1200" b="1" i="1" dirty="0">
                <a:solidFill>
                  <a:schemeClr val="tx1"/>
                </a:solidFill>
              </a:rPr>
              <a:t>Self Service/BYOT</a:t>
            </a:r>
          </a:p>
        </p:txBody>
      </p:sp>
      <p:sp>
        <p:nvSpPr>
          <p:cNvPr id="34" name="TextBox 33">
            <a:extLst>
              <a:ext uri="{FF2B5EF4-FFF2-40B4-BE49-F238E27FC236}">
                <a16:creationId xmlns:a16="http://schemas.microsoft.com/office/drawing/2014/main" id="{640A2EB5-8783-C162-B1C9-0A889B43022E}"/>
              </a:ext>
            </a:extLst>
          </p:cNvPr>
          <p:cNvSpPr txBox="1"/>
          <p:nvPr/>
        </p:nvSpPr>
        <p:spPr>
          <a:xfrm>
            <a:off x="10098171" y="1388641"/>
            <a:ext cx="1618488" cy="549278"/>
          </a:xfrm>
          <a:prstGeom prst="rect">
            <a:avLst/>
          </a:prstGeom>
          <a:solidFill>
            <a:schemeClr val="accent2">
              <a:lumMod val="75000"/>
            </a:schemeClr>
          </a:solidFill>
        </p:spPr>
        <p:txBody>
          <a:bodyPr wrap="square" rtlCol="0" anchor="ctr">
            <a:noAutofit/>
          </a:bodyPr>
          <a:lstStyle/>
          <a:p>
            <a:pPr algn="ctr"/>
            <a:r>
              <a:rPr lang="en-US" sz="1200" b="1">
                <a:solidFill>
                  <a:schemeClr val="bg1"/>
                </a:solidFill>
              </a:rPr>
              <a:t>OPERATIONAL SERVICES &amp; ANALYTICS</a:t>
            </a:r>
          </a:p>
        </p:txBody>
      </p:sp>
      <p:sp>
        <p:nvSpPr>
          <p:cNvPr id="46" name="Oval 45">
            <a:extLst>
              <a:ext uri="{FF2B5EF4-FFF2-40B4-BE49-F238E27FC236}">
                <a16:creationId xmlns:a16="http://schemas.microsoft.com/office/drawing/2014/main" id="{01297889-53E2-FF6A-2A7C-C3E8D58DEAD2}"/>
              </a:ext>
            </a:extLst>
          </p:cNvPr>
          <p:cNvSpPr/>
          <p:nvPr/>
        </p:nvSpPr>
        <p:spPr bwMode="gray">
          <a:xfrm>
            <a:off x="387545" y="3148763"/>
            <a:ext cx="181546" cy="179141"/>
          </a:xfrm>
          <a:prstGeom prst="ellipse">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7" name="Oval 46">
            <a:extLst>
              <a:ext uri="{FF2B5EF4-FFF2-40B4-BE49-F238E27FC236}">
                <a16:creationId xmlns:a16="http://schemas.microsoft.com/office/drawing/2014/main" id="{0D4C62E0-CB9E-3098-5880-19748BB0E76C}"/>
              </a:ext>
            </a:extLst>
          </p:cNvPr>
          <p:cNvSpPr/>
          <p:nvPr/>
        </p:nvSpPr>
        <p:spPr bwMode="gray">
          <a:xfrm>
            <a:off x="593140" y="3148763"/>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8" name="Oval 47">
            <a:extLst>
              <a:ext uri="{FF2B5EF4-FFF2-40B4-BE49-F238E27FC236}">
                <a16:creationId xmlns:a16="http://schemas.microsoft.com/office/drawing/2014/main" id="{1FE9616E-1998-EFF2-6790-AF3AA5AB818A}"/>
              </a:ext>
            </a:extLst>
          </p:cNvPr>
          <p:cNvSpPr/>
          <p:nvPr/>
        </p:nvSpPr>
        <p:spPr bwMode="gray">
          <a:xfrm>
            <a:off x="798735" y="3148763"/>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2" name="Oval 51">
            <a:extLst>
              <a:ext uri="{FF2B5EF4-FFF2-40B4-BE49-F238E27FC236}">
                <a16:creationId xmlns:a16="http://schemas.microsoft.com/office/drawing/2014/main" id="{58837B94-3CD9-7895-BC7C-6C0DA8A76B32}"/>
              </a:ext>
            </a:extLst>
          </p:cNvPr>
          <p:cNvSpPr/>
          <p:nvPr/>
        </p:nvSpPr>
        <p:spPr bwMode="gray">
          <a:xfrm>
            <a:off x="387545" y="3758556"/>
            <a:ext cx="181546" cy="179141"/>
          </a:xfrm>
          <a:prstGeom prst="ellipse">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4" name="Oval 53">
            <a:extLst>
              <a:ext uri="{FF2B5EF4-FFF2-40B4-BE49-F238E27FC236}">
                <a16:creationId xmlns:a16="http://schemas.microsoft.com/office/drawing/2014/main" id="{A0FA36CD-E654-0BB4-0B7D-BC6818FE9DDA}"/>
              </a:ext>
            </a:extLst>
          </p:cNvPr>
          <p:cNvSpPr/>
          <p:nvPr/>
        </p:nvSpPr>
        <p:spPr bwMode="gray">
          <a:xfrm>
            <a:off x="593140" y="3758556"/>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5" name="Oval 54">
            <a:extLst>
              <a:ext uri="{FF2B5EF4-FFF2-40B4-BE49-F238E27FC236}">
                <a16:creationId xmlns:a16="http://schemas.microsoft.com/office/drawing/2014/main" id="{C0B0E8EE-B635-9D3D-40C9-A0553FCB9F57}"/>
              </a:ext>
            </a:extLst>
          </p:cNvPr>
          <p:cNvSpPr/>
          <p:nvPr/>
        </p:nvSpPr>
        <p:spPr bwMode="gray">
          <a:xfrm>
            <a:off x="798735" y="3758556"/>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2" name="Oval 131">
            <a:extLst>
              <a:ext uri="{FF2B5EF4-FFF2-40B4-BE49-F238E27FC236}">
                <a16:creationId xmlns:a16="http://schemas.microsoft.com/office/drawing/2014/main" id="{08FE381F-AF1D-798E-AB1A-9D6DFCA609F7}"/>
              </a:ext>
            </a:extLst>
          </p:cNvPr>
          <p:cNvSpPr/>
          <p:nvPr/>
        </p:nvSpPr>
        <p:spPr bwMode="gray">
          <a:xfrm>
            <a:off x="4227227" y="3748480"/>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4" name="Oval 133">
            <a:extLst>
              <a:ext uri="{FF2B5EF4-FFF2-40B4-BE49-F238E27FC236}">
                <a16:creationId xmlns:a16="http://schemas.microsoft.com/office/drawing/2014/main" id="{F06B785A-E9D0-AED7-3293-39BCF5E578D1}"/>
              </a:ext>
            </a:extLst>
          </p:cNvPr>
          <p:cNvSpPr/>
          <p:nvPr/>
        </p:nvSpPr>
        <p:spPr bwMode="gray">
          <a:xfrm>
            <a:off x="4214885" y="2533809"/>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5" name="Oval 134">
            <a:extLst>
              <a:ext uri="{FF2B5EF4-FFF2-40B4-BE49-F238E27FC236}">
                <a16:creationId xmlns:a16="http://schemas.microsoft.com/office/drawing/2014/main" id="{3B775E20-01D9-299C-CE36-930CE78F0381}"/>
              </a:ext>
            </a:extLst>
          </p:cNvPr>
          <p:cNvSpPr/>
          <p:nvPr/>
        </p:nvSpPr>
        <p:spPr bwMode="gray">
          <a:xfrm>
            <a:off x="4420480" y="2533809"/>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8" name="Oval 137">
            <a:extLst>
              <a:ext uri="{FF2B5EF4-FFF2-40B4-BE49-F238E27FC236}">
                <a16:creationId xmlns:a16="http://schemas.microsoft.com/office/drawing/2014/main" id="{E775E33F-85CF-03F0-4D7A-7A3333DF686A}"/>
              </a:ext>
            </a:extLst>
          </p:cNvPr>
          <p:cNvSpPr/>
          <p:nvPr/>
        </p:nvSpPr>
        <p:spPr bwMode="gray">
          <a:xfrm>
            <a:off x="4238934" y="1947622"/>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0" name="Oval 139">
            <a:extLst>
              <a:ext uri="{FF2B5EF4-FFF2-40B4-BE49-F238E27FC236}">
                <a16:creationId xmlns:a16="http://schemas.microsoft.com/office/drawing/2014/main" id="{772C0BD7-EE05-8D45-BA57-6F9DF2941C33}"/>
              </a:ext>
            </a:extLst>
          </p:cNvPr>
          <p:cNvSpPr/>
          <p:nvPr/>
        </p:nvSpPr>
        <p:spPr bwMode="gray">
          <a:xfrm>
            <a:off x="6155790" y="1949778"/>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1" name="Oval 140">
            <a:extLst>
              <a:ext uri="{FF2B5EF4-FFF2-40B4-BE49-F238E27FC236}">
                <a16:creationId xmlns:a16="http://schemas.microsoft.com/office/drawing/2014/main" id="{20DA4E5D-61BD-7AF7-4CE5-A15BF1FD7E87}"/>
              </a:ext>
            </a:extLst>
          </p:cNvPr>
          <p:cNvSpPr/>
          <p:nvPr/>
        </p:nvSpPr>
        <p:spPr bwMode="gray">
          <a:xfrm>
            <a:off x="6361385" y="1949778"/>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5" name="Oval 144">
            <a:extLst>
              <a:ext uri="{FF2B5EF4-FFF2-40B4-BE49-F238E27FC236}">
                <a16:creationId xmlns:a16="http://schemas.microsoft.com/office/drawing/2014/main" id="{C3C5C2CE-D8FE-5779-C476-996BEBD4B51B}"/>
              </a:ext>
            </a:extLst>
          </p:cNvPr>
          <p:cNvSpPr/>
          <p:nvPr/>
        </p:nvSpPr>
        <p:spPr bwMode="gray">
          <a:xfrm>
            <a:off x="6179839" y="2524470"/>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8" name="Oval 147">
            <a:extLst>
              <a:ext uri="{FF2B5EF4-FFF2-40B4-BE49-F238E27FC236}">
                <a16:creationId xmlns:a16="http://schemas.microsoft.com/office/drawing/2014/main" id="{65813F69-BD42-541B-29E8-CA3AE50EC145}"/>
              </a:ext>
            </a:extLst>
          </p:cNvPr>
          <p:cNvSpPr/>
          <p:nvPr/>
        </p:nvSpPr>
        <p:spPr bwMode="gray">
          <a:xfrm>
            <a:off x="8086962" y="1935668"/>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0" name="Oval 149">
            <a:extLst>
              <a:ext uri="{FF2B5EF4-FFF2-40B4-BE49-F238E27FC236}">
                <a16:creationId xmlns:a16="http://schemas.microsoft.com/office/drawing/2014/main" id="{3710F7F1-5C74-7B0E-112F-010CF380383E}"/>
              </a:ext>
            </a:extLst>
          </p:cNvPr>
          <p:cNvSpPr/>
          <p:nvPr/>
        </p:nvSpPr>
        <p:spPr bwMode="gray">
          <a:xfrm>
            <a:off x="8078458" y="2526368"/>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1" name="Oval 150">
            <a:extLst>
              <a:ext uri="{FF2B5EF4-FFF2-40B4-BE49-F238E27FC236}">
                <a16:creationId xmlns:a16="http://schemas.microsoft.com/office/drawing/2014/main" id="{625206CC-E187-B6FF-21CF-939F17929176}"/>
              </a:ext>
            </a:extLst>
          </p:cNvPr>
          <p:cNvSpPr/>
          <p:nvPr/>
        </p:nvSpPr>
        <p:spPr bwMode="gray">
          <a:xfrm>
            <a:off x="8284053" y="2526368"/>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4" name="Oval 153">
            <a:extLst>
              <a:ext uri="{FF2B5EF4-FFF2-40B4-BE49-F238E27FC236}">
                <a16:creationId xmlns:a16="http://schemas.microsoft.com/office/drawing/2014/main" id="{8FFCBC52-87C2-7F8B-F3DA-6C659A33EF85}"/>
              </a:ext>
            </a:extLst>
          </p:cNvPr>
          <p:cNvSpPr/>
          <p:nvPr/>
        </p:nvSpPr>
        <p:spPr bwMode="gray">
          <a:xfrm>
            <a:off x="8096294" y="3138884"/>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5" name="Oval 154">
            <a:extLst>
              <a:ext uri="{FF2B5EF4-FFF2-40B4-BE49-F238E27FC236}">
                <a16:creationId xmlns:a16="http://schemas.microsoft.com/office/drawing/2014/main" id="{1B374B9B-4941-5B52-8537-F2E13EE5B04C}"/>
              </a:ext>
            </a:extLst>
          </p:cNvPr>
          <p:cNvSpPr/>
          <p:nvPr/>
        </p:nvSpPr>
        <p:spPr bwMode="gray">
          <a:xfrm>
            <a:off x="10008984" y="1929157"/>
            <a:ext cx="181546" cy="179141"/>
          </a:xfrm>
          <a:prstGeom prst="ellipse">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6" name="Oval 155">
            <a:extLst>
              <a:ext uri="{FF2B5EF4-FFF2-40B4-BE49-F238E27FC236}">
                <a16:creationId xmlns:a16="http://schemas.microsoft.com/office/drawing/2014/main" id="{ABB0745B-1162-96F3-DF21-D8656C69D065}"/>
              </a:ext>
            </a:extLst>
          </p:cNvPr>
          <p:cNvSpPr/>
          <p:nvPr/>
        </p:nvSpPr>
        <p:spPr bwMode="gray">
          <a:xfrm>
            <a:off x="10214579" y="1929157"/>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7" name="Oval 156">
            <a:extLst>
              <a:ext uri="{FF2B5EF4-FFF2-40B4-BE49-F238E27FC236}">
                <a16:creationId xmlns:a16="http://schemas.microsoft.com/office/drawing/2014/main" id="{D56B2860-1AB4-4D0A-2B49-36C670E515F8}"/>
              </a:ext>
            </a:extLst>
          </p:cNvPr>
          <p:cNvSpPr/>
          <p:nvPr/>
        </p:nvSpPr>
        <p:spPr bwMode="gray">
          <a:xfrm>
            <a:off x="10420174" y="1929157"/>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0" name="Oval 159">
            <a:extLst>
              <a:ext uri="{FF2B5EF4-FFF2-40B4-BE49-F238E27FC236}">
                <a16:creationId xmlns:a16="http://schemas.microsoft.com/office/drawing/2014/main" id="{78236E50-7610-29C9-A48A-74365BF63BF2}"/>
              </a:ext>
            </a:extLst>
          </p:cNvPr>
          <p:cNvSpPr/>
          <p:nvPr/>
        </p:nvSpPr>
        <p:spPr bwMode="gray">
          <a:xfrm>
            <a:off x="10033712" y="2533809"/>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6" name="Oval 165">
            <a:extLst>
              <a:ext uri="{FF2B5EF4-FFF2-40B4-BE49-F238E27FC236}">
                <a16:creationId xmlns:a16="http://schemas.microsoft.com/office/drawing/2014/main" id="{FEC3504A-6A9A-F550-F3F9-A309F17D1E0C}"/>
              </a:ext>
            </a:extLst>
          </p:cNvPr>
          <p:cNvSpPr/>
          <p:nvPr/>
        </p:nvSpPr>
        <p:spPr bwMode="gray">
          <a:xfrm>
            <a:off x="393428" y="4381485"/>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8" name="Oval 167">
            <a:extLst>
              <a:ext uri="{FF2B5EF4-FFF2-40B4-BE49-F238E27FC236}">
                <a16:creationId xmlns:a16="http://schemas.microsoft.com/office/drawing/2014/main" id="{B96FCB53-9BFB-7891-3868-FDFC3927C653}"/>
              </a:ext>
            </a:extLst>
          </p:cNvPr>
          <p:cNvSpPr/>
          <p:nvPr/>
        </p:nvSpPr>
        <p:spPr bwMode="gray">
          <a:xfrm>
            <a:off x="2327940" y="1947194"/>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9" name="Oval 168">
            <a:extLst>
              <a:ext uri="{FF2B5EF4-FFF2-40B4-BE49-F238E27FC236}">
                <a16:creationId xmlns:a16="http://schemas.microsoft.com/office/drawing/2014/main" id="{4B3941BB-E3F7-0365-A280-4B34F583B9AF}"/>
              </a:ext>
            </a:extLst>
          </p:cNvPr>
          <p:cNvSpPr/>
          <p:nvPr/>
        </p:nvSpPr>
        <p:spPr bwMode="gray">
          <a:xfrm>
            <a:off x="2533535" y="1947194"/>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4" name="Oval 173">
            <a:extLst>
              <a:ext uri="{FF2B5EF4-FFF2-40B4-BE49-F238E27FC236}">
                <a16:creationId xmlns:a16="http://schemas.microsoft.com/office/drawing/2014/main" id="{B78D21C1-BAC7-DD4B-E88A-6B2946D077D1}"/>
              </a:ext>
            </a:extLst>
          </p:cNvPr>
          <p:cNvSpPr/>
          <p:nvPr/>
        </p:nvSpPr>
        <p:spPr bwMode="gray">
          <a:xfrm>
            <a:off x="2321534" y="2520857"/>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5" name="Oval 174">
            <a:extLst>
              <a:ext uri="{FF2B5EF4-FFF2-40B4-BE49-F238E27FC236}">
                <a16:creationId xmlns:a16="http://schemas.microsoft.com/office/drawing/2014/main" id="{4F3E095F-4133-18ED-E3AC-B5F10C547BCA}"/>
              </a:ext>
            </a:extLst>
          </p:cNvPr>
          <p:cNvSpPr/>
          <p:nvPr/>
        </p:nvSpPr>
        <p:spPr bwMode="gray">
          <a:xfrm>
            <a:off x="2527129" y="2520857"/>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7" name="Oval 176">
            <a:extLst>
              <a:ext uri="{FF2B5EF4-FFF2-40B4-BE49-F238E27FC236}">
                <a16:creationId xmlns:a16="http://schemas.microsoft.com/office/drawing/2014/main" id="{190C72F1-42C9-C55A-78D7-E0109B400B8D}"/>
              </a:ext>
            </a:extLst>
          </p:cNvPr>
          <p:cNvSpPr/>
          <p:nvPr/>
        </p:nvSpPr>
        <p:spPr bwMode="gray">
          <a:xfrm>
            <a:off x="2300329" y="3148339"/>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8" name="Oval 177">
            <a:extLst>
              <a:ext uri="{FF2B5EF4-FFF2-40B4-BE49-F238E27FC236}">
                <a16:creationId xmlns:a16="http://schemas.microsoft.com/office/drawing/2014/main" id="{BB3E2E2E-5B24-14EF-A883-60E6BC94A0D6}"/>
              </a:ext>
            </a:extLst>
          </p:cNvPr>
          <p:cNvSpPr/>
          <p:nvPr/>
        </p:nvSpPr>
        <p:spPr bwMode="gray">
          <a:xfrm>
            <a:off x="2505924" y="3148339"/>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4" name="Oval 183">
            <a:extLst>
              <a:ext uri="{FF2B5EF4-FFF2-40B4-BE49-F238E27FC236}">
                <a16:creationId xmlns:a16="http://schemas.microsoft.com/office/drawing/2014/main" id="{EFF5F48B-FA15-BF1D-9327-2F829A5BDBC3}"/>
              </a:ext>
            </a:extLst>
          </p:cNvPr>
          <p:cNvSpPr/>
          <p:nvPr/>
        </p:nvSpPr>
        <p:spPr bwMode="gray">
          <a:xfrm>
            <a:off x="4233364" y="3148339"/>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8" name="Oval 187">
            <a:extLst>
              <a:ext uri="{FF2B5EF4-FFF2-40B4-BE49-F238E27FC236}">
                <a16:creationId xmlns:a16="http://schemas.microsoft.com/office/drawing/2014/main" id="{946B936E-A133-D79C-A26F-B816D515CF5A}"/>
              </a:ext>
            </a:extLst>
          </p:cNvPr>
          <p:cNvSpPr/>
          <p:nvPr/>
        </p:nvSpPr>
        <p:spPr bwMode="gray">
          <a:xfrm>
            <a:off x="4238934" y="5020873"/>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1" name="Oval 190">
            <a:extLst>
              <a:ext uri="{FF2B5EF4-FFF2-40B4-BE49-F238E27FC236}">
                <a16:creationId xmlns:a16="http://schemas.microsoft.com/office/drawing/2014/main" id="{4A97F072-B346-F648-85C8-27F6D8A4D55C}"/>
              </a:ext>
            </a:extLst>
          </p:cNvPr>
          <p:cNvSpPr/>
          <p:nvPr/>
        </p:nvSpPr>
        <p:spPr bwMode="gray">
          <a:xfrm>
            <a:off x="10029329" y="3148537"/>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dirty="0">
              <a:solidFill>
                <a:schemeClr val="bg1"/>
              </a:solidFill>
            </a:endParaRPr>
          </a:p>
        </p:txBody>
      </p:sp>
      <p:grpSp>
        <p:nvGrpSpPr>
          <p:cNvPr id="198" name="Group 197">
            <a:extLst>
              <a:ext uri="{FF2B5EF4-FFF2-40B4-BE49-F238E27FC236}">
                <a16:creationId xmlns:a16="http://schemas.microsoft.com/office/drawing/2014/main" id="{19F55A0D-D62C-AC3E-15ED-E9CC72E68CA4}"/>
              </a:ext>
            </a:extLst>
          </p:cNvPr>
          <p:cNvGrpSpPr/>
          <p:nvPr/>
        </p:nvGrpSpPr>
        <p:grpSpPr>
          <a:xfrm>
            <a:off x="9273548" y="4679155"/>
            <a:ext cx="2525024" cy="1036985"/>
            <a:chOff x="9388133" y="5326997"/>
            <a:chExt cx="2525024" cy="1036985"/>
          </a:xfrm>
        </p:grpSpPr>
        <p:sp>
          <p:nvSpPr>
            <p:cNvPr id="2" name="Rectangle 1">
              <a:extLst>
                <a:ext uri="{FF2B5EF4-FFF2-40B4-BE49-F238E27FC236}">
                  <a16:creationId xmlns:a16="http://schemas.microsoft.com/office/drawing/2014/main" id="{A012B576-04AA-6769-1600-454AFC8477B2}"/>
                </a:ext>
              </a:extLst>
            </p:cNvPr>
            <p:cNvSpPr/>
            <p:nvPr/>
          </p:nvSpPr>
          <p:spPr>
            <a:xfrm>
              <a:off x="9393967" y="6032019"/>
              <a:ext cx="181340" cy="126594"/>
            </a:xfrm>
            <a:prstGeom prst="rect">
              <a:avLst/>
            </a:prstGeom>
            <a:no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200" b="1" i="1" dirty="0">
                <a:solidFill>
                  <a:schemeClr val="tx1"/>
                </a:solidFill>
              </a:endParaRPr>
            </a:p>
          </p:txBody>
        </p:sp>
        <p:sp>
          <p:nvSpPr>
            <p:cNvPr id="35" name="Rectangle 34">
              <a:extLst>
                <a:ext uri="{FF2B5EF4-FFF2-40B4-BE49-F238E27FC236}">
                  <a16:creationId xmlns:a16="http://schemas.microsoft.com/office/drawing/2014/main" id="{8CE4E548-ECB6-94BD-D08F-FF28555B7FC7}"/>
                </a:ext>
              </a:extLst>
            </p:cNvPr>
            <p:cNvSpPr/>
            <p:nvPr/>
          </p:nvSpPr>
          <p:spPr>
            <a:xfrm>
              <a:off x="9388339" y="6237388"/>
              <a:ext cx="181340" cy="126594"/>
            </a:xfrm>
            <a:prstGeom prst="rect">
              <a:avLst/>
            </a:prstGeom>
            <a:solidFill>
              <a:schemeClr val="accent2">
                <a:lumMod val="20000"/>
                <a:lumOff val="80000"/>
              </a:schemeClr>
            </a:solidFill>
            <a:ln w="127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200" b="1" i="1" dirty="0">
                <a:solidFill>
                  <a:schemeClr val="tx1"/>
                </a:solidFill>
              </a:endParaRPr>
            </a:p>
          </p:txBody>
        </p:sp>
        <p:sp>
          <p:nvSpPr>
            <p:cNvPr id="36" name="TextBox 35">
              <a:extLst>
                <a:ext uri="{FF2B5EF4-FFF2-40B4-BE49-F238E27FC236}">
                  <a16:creationId xmlns:a16="http://schemas.microsoft.com/office/drawing/2014/main" id="{00A7FCCD-48C9-E4E6-AAF6-C7B44888402D}"/>
                </a:ext>
              </a:extLst>
            </p:cNvPr>
            <p:cNvSpPr txBox="1"/>
            <p:nvPr/>
          </p:nvSpPr>
          <p:spPr>
            <a:xfrm>
              <a:off x="9611245" y="6024670"/>
              <a:ext cx="2301912" cy="153888"/>
            </a:xfrm>
            <a:prstGeom prst="rect">
              <a:avLst/>
            </a:prstGeom>
            <a:noFill/>
          </p:spPr>
          <p:txBody>
            <a:bodyPr wrap="none" lIns="0" tIns="0" rIns="0" bIns="0" rtlCol="0">
              <a:spAutoFit/>
            </a:bodyPr>
            <a:lstStyle/>
            <a:p>
              <a:pPr>
                <a:spcBef>
                  <a:spcPts val="600"/>
                </a:spcBef>
                <a:buSzPct val="100000"/>
              </a:pPr>
              <a:r>
                <a:rPr lang="en-US" sz="1000" dirty="0">
                  <a:solidFill>
                    <a:srgbClr val="313131"/>
                  </a:solidFill>
                </a:rPr>
                <a:t>Capability exists but requires enhancements</a:t>
              </a:r>
            </a:p>
          </p:txBody>
        </p:sp>
        <p:sp>
          <p:nvSpPr>
            <p:cNvPr id="37" name="TextBox 36">
              <a:extLst>
                <a:ext uri="{FF2B5EF4-FFF2-40B4-BE49-F238E27FC236}">
                  <a16:creationId xmlns:a16="http://schemas.microsoft.com/office/drawing/2014/main" id="{782F4D6D-F7DE-4F47-E6C4-5085380F9E18}"/>
                </a:ext>
              </a:extLst>
            </p:cNvPr>
            <p:cNvSpPr txBox="1"/>
            <p:nvPr/>
          </p:nvSpPr>
          <p:spPr>
            <a:xfrm>
              <a:off x="9608295" y="6201493"/>
              <a:ext cx="766235" cy="153888"/>
            </a:xfrm>
            <a:prstGeom prst="rect">
              <a:avLst/>
            </a:prstGeom>
            <a:noFill/>
          </p:spPr>
          <p:txBody>
            <a:bodyPr wrap="none" lIns="0" tIns="0" rIns="0" bIns="0" rtlCol="0">
              <a:spAutoFit/>
            </a:bodyPr>
            <a:lstStyle/>
            <a:p>
              <a:pPr>
                <a:spcBef>
                  <a:spcPts val="600"/>
                </a:spcBef>
                <a:buSzPct val="100000"/>
              </a:pPr>
              <a:r>
                <a:rPr lang="en-US" sz="1000" dirty="0">
                  <a:solidFill>
                    <a:srgbClr val="313131"/>
                  </a:solidFill>
                </a:rPr>
                <a:t>New capability</a:t>
              </a:r>
            </a:p>
          </p:txBody>
        </p:sp>
        <p:sp>
          <p:nvSpPr>
            <p:cNvPr id="192" name="Oval 191">
              <a:extLst>
                <a:ext uri="{FF2B5EF4-FFF2-40B4-BE49-F238E27FC236}">
                  <a16:creationId xmlns:a16="http://schemas.microsoft.com/office/drawing/2014/main" id="{AC31E3C9-F101-65C4-BFBF-C2C8777925FA}"/>
                </a:ext>
              </a:extLst>
            </p:cNvPr>
            <p:cNvSpPr/>
            <p:nvPr/>
          </p:nvSpPr>
          <p:spPr bwMode="gray">
            <a:xfrm>
              <a:off x="9388133" y="5326997"/>
              <a:ext cx="181546" cy="179141"/>
            </a:xfrm>
            <a:prstGeom prst="ellipse">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3" name="Oval 192">
              <a:extLst>
                <a:ext uri="{FF2B5EF4-FFF2-40B4-BE49-F238E27FC236}">
                  <a16:creationId xmlns:a16="http://schemas.microsoft.com/office/drawing/2014/main" id="{B3C81E12-2318-EFA1-43C9-1B2DA73208D6}"/>
                </a:ext>
              </a:extLst>
            </p:cNvPr>
            <p:cNvSpPr/>
            <p:nvPr/>
          </p:nvSpPr>
          <p:spPr bwMode="gray">
            <a:xfrm>
              <a:off x="9388133" y="5554485"/>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4" name="Oval 193">
              <a:extLst>
                <a:ext uri="{FF2B5EF4-FFF2-40B4-BE49-F238E27FC236}">
                  <a16:creationId xmlns:a16="http://schemas.microsoft.com/office/drawing/2014/main" id="{BA89BEF8-AE49-7087-CC75-BE74D7F4EDB0}"/>
                </a:ext>
              </a:extLst>
            </p:cNvPr>
            <p:cNvSpPr/>
            <p:nvPr/>
          </p:nvSpPr>
          <p:spPr bwMode="gray">
            <a:xfrm>
              <a:off x="9388133" y="5768341"/>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5" name="TextBox 194">
              <a:extLst>
                <a:ext uri="{FF2B5EF4-FFF2-40B4-BE49-F238E27FC236}">
                  <a16:creationId xmlns:a16="http://schemas.microsoft.com/office/drawing/2014/main" id="{38D0A6D0-353F-7411-B23B-FD978AF865E6}"/>
                </a:ext>
              </a:extLst>
            </p:cNvPr>
            <p:cNvSpPr txBox="1"/>
            <p:nvPr/>
          </p:nvSpPr>
          <p:spPr>
            <a:xfrm>
              <a:off x="9610231" y="5330845"/>
              <a:ext cx="495328" cy="153888"/>
            </a:xfrm>
            <a:prstGeom prst="rect">
              <a:avLst/>
            </a:prstGeom>
            <a:noFill/>
          </p:spPr>
          <p:txBody>
            <a:bodyPr wrap="none" lIns="0" tIns="0" rIns="0" bIns="0" rtlCol="0">
              <a:spAutoFit/>
            </a:bodyPr>
            <a:lstStyle/>
            <a:p>
              <a:pPr>
                <a:spcBef>
                  <a:spcPts val="600"/>
                </a:spcBef>
                <a:buSzPct val="100000"/>
              </a:pPr>
              <a:r>
                <a:rPr lang="en-US" sz="1000" dirty="0">
                  <a:solidFill>
                    <a:srgbClr val="313131"/>
                  </a:solidFill>
                </a:rPr>
                <a:t>Release 1</a:t>
              </a:r>
            </a:p>
          </p:txBody>
        </p:sp>
        <p:sp>
          <p:nvSpPr>
            <p:cNvPr id="196" name="TextBox 195">
              <a:extLst>
                <a:ext uri="{FF2B5EF4-FFF2-40B4-BE49-F238E27FC236}">
                  <a16:creationId xmlns:a16="http://schemas.microsoft.com/office/drawing/2014/main" id="{125F583C-AEAF-AB5C-E6B6-C2BF185E7B42}"/>
                </a:ext>
              </a:extLst>
            </p:cNvPr>
            <p:cNvSpPr txBox="1"/>
            <p:nvPr/>
          </p:nvSpPr>
          <p:spPr>
            <a:xfrm>
              <a:off x="9608295" y="5567111"/>
              <a:ext cx="495328" cy="153888"/>
            </a:xfrm>
            <a:prstGeom prst="rect">
              <a:avLst/>
            </a:prstGeom>
            <a:noFill/>
          </p:spPr>
          <p:txBody>
            <a:bodyPr wrap="none" lIns="0" tIns="0" rIns="0" bIns="0" rtlCol="0">
              <a:spAutoFit/>
            </a:bodyPr>
            <a:lstStyle/>
            <a:p>
              <a:pPr>
                <a:spcBef>
                  <a:spcPts val="600"/>
                </a:spcBef>
                <a:buSzPct val="100000"/>
              </a:pPr>
              <a:r>
                <a:rPr lang="en-US" sz="1000" dirty="0">
                  <a:solidFill>
                    <a:srgbClr val="313131"/>
                  </a:solidFill>
                </a:rPr>
                <a:t>Release 2</a:t>
              </a:r>
            </a:p>
          </p:txBody>
        </p:sp>
        <p:sp>
          <p:nvSpPr>
            <p:cNvPr id="197" name="TextBox 196">
              <a:extLst>
                <a:ext uri="{FF2B5EF4-FFF2-40B4-BE49-F238E27FC236}">
                  <a16:creationId xmlns:a16="http://schemas.microsoft.com/office/drawing/2014/main" id="{A706FF2B-BD5A-3D7E-0A00-467E41B11F3C}"/>
                </a:ext>
              </a:extLst>
            </p:cNvPr>
            <p:cNvSpPr txBox="1"/>
            <p:nvPr/>
          </p:nvSpPr>
          <p:spPr>
            <a:xfrm>
              <a:off x="9611929" y="5780967"/>
              <a:ext cx="495328" cy="153888"/>
            </a:xfrm>
            <a:prstGeom prst="rect">
              <a:avLst/>
            </a:prstGeom>
            <a:noFill/>
          </p:spPr>
          <p:txBody>
            <a:bodyPr wrap="none" lIns="0" tIns="0" rIns="0" bIns="0" rtlCol="0">
              <a:spAutoFit/>
            </a:bodyPr>
            <a:lstStyle/>
            <a:p>
              <a:pPr>
                <a:spcBef>
                  <a:spcPts val="600"/>
                </a:spcBef>
                <a:buSzPct val="100000"/>
              </a:pPr>
              <a:r>
                <a:rPr lang="en-US" sz="1000" dirty="0">
                  <a:solidFill>
                    <a:srgbClr val="313131"/>
                  </a:solidFill>
                </a:rPr>
                <a:t>Release 3</a:t>
              </a:r>
            </a:p>
          </p:txBody>
        </p:sp>
      </p:grpSp>
      <p:sp>
        <p:nvSpPr>
          <p:cNvPr id="199" name="Rectangle 198">
            <a:extLst>
              <a:ext uri="{FF2B5EF4-FFF2-40B4-BE49-F238E27FC236}">
                <a16:creationId xmlns:a16="http://schemas.microsoft.com/office/drawing/2014/main" id="{9D83BC7E-24F1-7392-29BD-F29C8A92C970}"/>
              </a:ext>
            </a:extLst>
          </p:cNvPr>
          <p:cNvSpPr/>
          <p:nvPr/>
        </p:nvSpPr>
        <p:spPr bwMode="gray">
          <a:xfrm>
            <a:off x="0" y="6115845"/>
            <a:ext cx="12192000" cy="33956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We acknowledge that certain capabilities are already present within Prudential; however, there may be a need for enhancement through Release 1, 2 and 3</a:t>
            </a:r>
          </a:p>
        </p:txBody>
      </p:sp>
      <p:sp>
        <p:nvSpPr>
          <p:cNvPr id="201" name="Oval 200">
            <a:extLst>
              <a:ext uri="{FF2B5EF4-FFF2-40B4-BE49-F238E27FC236}">
                <a16:creationId xmlns:a16="http://schemas.microsoft.com/office/drawing/2014/main" id="{0A7A6020-E5B6-0A10-E652-9CD92A16721E}"/>
              </a:ext>
            </a:extLst>
          </p:cNvPr>
          <p:cNvSpPr/>
          <p:nvPr/>
        </p:nvSpPr>
        <p:spPr bwMode="gray">
          <a:xfrm>
            <a:off x="2339152" y="5018507"/>
            <a:ext cx="181546" cy="179141"/>
          </a:xfrm>
          <a:prstGeom prst="ellipse">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02" name="Oval 201">
            <a:extLst>
              <a:ext uri="{FF2B5EF4-FFF2-40B4-BE49-F238E27FC236}">
                <a16:creationId xmlns:a16="http://schemas.microsoft.com/office/drawing/2014/main" id="{B037D349-2544-B515-2CDB-6FA44C997AF9}"/>
              </a:ext>
            </a:extLst>
          </p:cNvPr>
          <p:cNvSpPr/>
          <p:nvPr/>
        </p:nvSpPr>
        <p:spPr bwMode="gray">
          <a:xfrm>
            <a:off x="2544747" y="5018507"/>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03" name="Oval 202">
            <a:extLst>
              <a:ext uri="{FF2B5EF4-FFF2-40B4-BE49-F238E27FC236}">
                <a16:creationId xmlns:a16="http://schemas.microsoft.com/office/drawing/2014/main" id="{A9ED0F8E-562B-1086-AD7F-5AA44874F372}"/>
              </a:ext>
            </a:extLst>
          </p:cNvPr>
          <p:cNvSpPr/>
          <p:nvPr/>
        </p:nvSpPr>
        <p:spPr bwMode="gray">
          <a:xfrm>
            <a:off x="2750342" y="5018507"/>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06" name="Oval 205">
            <a:extLst>
              <a:ext uri="{FF2B5EF4-FFF2-40B4-BE49-F238E27FC236}">
                <a16:creationId xmlns:a16="http://schemas.microsoft.com/office/drawing/2014/main" id="{04687428-8874-DBEB-473D-3CC2B823C91B}"/>
              </a:ext>
            </a:extLst>
          </p:cNvPr>
          <p:cNvSpPr/>
          <p:nvPr/>
        </p:nvSpPr>
        <p:spPr bwMode="gray">
          <a:xfrm>
            <a:off x="2315348" y="3734699"/>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07" name="Oval 206">
            <a:extLst>
              <a:ext uri="{FF2B5EF4-FFF2-40B4-BE49-F238E27FC236}">
                <a16:creationId xmlns:a16="http://schemas.microsoft.com/office/drawing/2014/main" id="{96AAE79A-896F-5939-C28F-48C2365A21C1}"/>
              </a:ext>
            </a:extLst>
          </p:cNvPr>
          <p:cNvSpPr/>
          <p:nvPr/>
        </p:nvSpPr>
        <p:spPr bwMode="gray">
          <a:xfrm>
            <a:off x="2520943" y="3734699"/>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09" name="Oval 208">
            <a:extLst>
              <a:ext uri="{FF2B5EF4-FFF2-40B4-BE49-F238E27FC236}">
                <a16:creationId xmlns:a16="http://schemas.microsoft.com/office/drawing/2014/main" id="{3C4299F6-654D-D476-0072-F787BEC7B9B7}"/>
              </a:ext>
            </a:extLst>
          </p:cNvPr>
          <p:cNvSpPr/>
          <p:nvPr/>
        </p:nvSpPr>
        <p:spPr bwMode="gray">
          <a:xfrm>
            <a:off x="2327940" y="4353506"/>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0" name="Oval 209">
            <a:extLst>
              <a:ext uri="{FF2B5EF4-FFF2-40B4-BE49-F238E27FC236}">
                <a16:creationId xmlns:a16="http://schemas.microsoft.com/office/drawing/2014/main" id="{C3AA8D08-18AF-4A83-1887-FBB1A7967373}"/>
              </a:ext>
            </a:extLst>
          </p:cNvPr>
          <p:cNvSpPr/>
          <p:nvPr/>
        </p:nvSpPr>
        <p:spPr bwMode="gray">
          <a:xfrm>
            <a:off x="2533535" y="4353506"/>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1" name="Oval 210">
            <a:extLst>
              <a:ext uri="{FF2B5EF4-FFF2-40B4-BE49-F238E27FC236}">
                <a16:creationId xmlns:a16="http://schemas.microsoft.com/office/drawing/2014/main" id="{2F5B5830-C75B-AA6D-9682-B894E960A9A0}"/>
              </a:ext>
            </a:extLst>
          </p:cNvPr>
          <p:cNvSpPr/>
          <p:nvPr/>
        </p:nvSpPr>
        <p:spPr bwMode="gray">
          <a:xfrm>
            <a:off x="393428" y="5011789"/>
            <a:ext cx="181546" cy="179141"/>
          </a:xfrm>
          <a:prstGeom prst="ellipse">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2" name="Oval 211">
            <a:extLst>
              <a:ext uri="{FF2B5EF4-FFF2-40B4-BE49-F238E27FC236}">
                <a16:creationId xmlns:a16="http://schemas.microsoft.com/office/drawing/2014/main" id="{12E1B309-3F0B-9BCD-C8B5-ECC94E27708D}"/>
              </a:ext>
            </a:extLst>
          </p:cNvPr>
          <p:cNvSpPr/>
          <p:nvPr/>
        </p:nvSpPr>
        <p:spPr bwMode="gray">
          <a:xfrm>
            <a:off x="599023" y="5011789"/>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3" name="Oval 212">
            <a:extLst>
              <a:ext uri="{FF2B5EF4-FFF2-40B4-BE49-F238E27FC236}">
                <a16:creationId xmlns:a16="http://schemas.microsoft.com/office/drawing/2014/main" id="{86226754-3D2D-7A92-C7B4-3C665C01046B}"/>
              </a:ext>
            </a:extLst>
          </p:cNvPr>
          <p:cNvSpPr/>
          <p:nvPr/>
        </p:nvSpPr>
        <p:spPr bwMode="gray">
          <a:xfrm>
            <a:off x="804618" y="5011789"/>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4" name="Oval 213">
            <a:extLst>
              <a:ext uri="{FF2B5EF4-FFF2-40B4-BE49-F238E27FC236}">
                <a16:creationId xmlns:a16="http://schemas.microsoft.com/office/drawing/2014/main" id="{D40C4201-B4A2-A866-28D5-FDADC4E666BC}"/>
              </a:ext>
            </a:extLst>
          </p:cNvPr>
          <p:cNvSpPr/>
          <p:nvPr/>
        </p:nvSpPr>
        <p:spPr bwMode="gray">
          <a:xfrm>
            <a:off x="4238934" y="4378198"/>
            <a:ext cx="181546" cy="179141"/>
          </a:xfrm>
          <a:prstGeom prst="ellipse">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5" name="Oval 214">
            <a:extLst>
              <a:ext uri="{FF2B5EF4-FFF2-40B4-BE49-F238E27FC236}">
                <a16:creationId xmlns:a16="http://schemas.microsoft.com/office/drawing/2014/main" id="{FE760B75-1A52-BDEC-B5BF-9902385DD604}"/>
              </a:ext>
            </a:extLst>
          </p:cNvPr>
          <p:cNvSpPr/>
          <p:nvPr/>
        </p:nvSpPr>
        <p:spPr bwMode="gray">
          <a:xfrm>
            <a:off x="4444529" y="4378198"/>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6" name="Oval 215">
            <a:extLst>
              <a:ext uri="{FF2B5EF4-FFF2-40B4-BE49-F238E27FC236}">
                <a16:creationId xmlns:a16="http://schemas.microsoft.com/office/drawing/2014/main" id="{4B621BB0-3B9C-41C3-1575-58D604AA9EE7}"/>
              </a:ext>
            </a:extLst>
          </p:cNvPr>
          <p:cNvSpPr/>
          <p:nvPr/>
        </p:nvSpPr>
        <p:spPr bwMode="gray">
          <a:xfrm>
            <a:off x="4650124" y="4378198"/>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7" name="Oval 216">
            <a:extLst>
              <a:ext uri="{FF2B5EF4-FFF2-40B4-BE49-F238E27FC236}">
                <a16:creationId xmlns:a16="http://schemas.microsoft.com/office/drawing/2014/main" id="{2C507051-371B-32DF-2B97-EEB324D1CEDF}"/>
              </a:ext>
            </a:extLst>
          </p:cNvPr>
          <p:cNvSpPr/>
          <p:nvPr/>
        </p:nvSpPr>
        <p:spPr bwMode="gray">
          <a:xfrm>
            <a:off x="387545" y="1940684"/>
            <a:ext cx="181546" cy="179141"/>
          </a:xfrm>
          <a:prstGeom prst="ellipse">
            <a:avLst/>
          </a:prstGeom>
          <a:solidFill>
            <a:srgbClr val="92D05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8" name="Oval 217">
            <a:extLst>
              <a:ext uri="{FF2B5EF4-FFF2-40B4-BE49-F238E27FC236}">
                <a16:creationId xmlns:a16="http://schemas.microsoft.com/office/drawing/2014/main" id="{B328C7D0-D6CD-9C5A-D083-7CC7E56C2F63}"/>
              </a:ext>
            </a:extLst>
          </p:cNvPr>
          <p:cNvSpPr/>
          <p:nvPr/>
        </p:nvSpPr>
        <p:spPr bwMode="gray">
          <a:xfrm>
            <a:off x="593140" y="1940684"/>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20" name="Oval 219">
            <a:extLst>
              <a:ext uri="{FF2B5EF4-FFF2-40B4-BE49-F238E27FC236}">
                <a16:creationId xmlns:a16="http://schemas.microsoft.com/office/drawing/2014/main" id="{16FA59C7-6998-6BBA-5D19-299885E37F24}"/>
              </a:ext>
            </a:extLst>
          </p:cNvPr>
          <p:cNvSpPr/>
          <p:nvPr/>
        </p:nvSpPr>
        <p:spPr bwMode="gray">
          <a:xfrm>
            <a:off x="393428" y="2524714"/>
            <a:ext cx="181546" cy="179141"/>
          </a:xfrm>
          <a:prstGeom prst="ellipse">
            <a:avLst/>
          </a:prstGeom>
          <a:solidFill>
            <a:srgbClr val="05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51013923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8A042-BEF4-E3DB-3C08-E39A2D8AE519}"/>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8E677FA-17F8-1622-DFB2-DDD4AC420F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22" imgH="623" progId="TCLayout.ActiveDocument.1">
                  <p:embed/>
                </p:oleObj>
              </mc:Choice>
              <mc:Fallback>
                <p:oleObj name="think-cell Slide" r:id="rId9" imgW="622" imgH="623" progId="TCLayout.ActiveDocument.1">
                  <p:embed/>
                  <p:pic>
                    <p:nvPicPr>
                      <p:cNvPr id="5" name="Object 4" hidden="1">
                        <a:extLst>
                          <a:ext uri="{FF2B5EF4-FFF2-40B4-BE49-F238E27FC236}">
                            <a16:creationId xmlns:a16="http://schemas.microsoft.com/office/drawing/2014/main" id="{48E677FA-17F8-1622-DFB2-DDD4AC420F01}"/>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13" name="Rectangle 12" hidden="1">
            <a:extLst>
              <a:ext uri="{FF2B5EF4-FFF2-40B4-BE49-F238E27FC236}">
                <a16:creationId xmlns:a16="http://schemas.microsoft.com/office/drawing/2014/main" id="{8499EA50-A1C2-B176-9EDF-FC292E3BA1D4}"/>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white"/>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sym typeface="Open Sans SemiBold" panose="020B0706030804020204" pitchFamily="34" charset="0"/>
            </a:endParaRPr>
          </a:p>
        </p:txBody>
      </p:sp>
      <p:sp>
        <p:nvSpPr>
          <p:cNvPr id="2" name="Rectangle 1" hidden="1">
            <a:extLst>
              <a:ext uri="{FF2B5EF4-FFF2-40B4-BE49-F238E27FC236}">
                <a16:creationId xmlns:a16="http://schemas.microsoft.com/office/drawing/2014/main" id="{96CD6263-644A-5B21-CF82-D99F0630752B}"/>
              </a:ext>
            </a:extLst>
          </p:cNvPr>
          <p:cNvSpPr/>
          <p:nvPr>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white"/>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sym typeface="Open Sans SemiBold" panose="020B0706030804020204" pitchFamily="34" charset="0"/>
            </a:endParaRPr>
          </a:p>
        </p:txBody>
      </p:sp>
      <p:sp>
        <p:nvSpPr>
          <p:cNvPr id="10" name="Rectangle 9" hidden="1">
            <a:extLst>
              <a:ext uri="{FF2B5EF4-FFF2-40B4-BE49-F238E27FC236}">
                <a16:creationId xmlns:a16="http://schemas.microsoft.com/office/drawing/2014/main" id="{9AF9476D-0C49-9A7C-B4BF-ED1DFB7364D3}"/>
              </a:ext>
            </a:extLst>
          </p:cNvPr>
          <p:cNvSpPr/>
          <p:nvPr>
            <p:custDataLst>
              <p:tags r:id="rId4"/>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white"/>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sym typeface="Open Sans SemiBold" panose="020B0706030804020204" pitchFamily="34" charset="0"/>
            </a:endParaRPr>
          </a:p>
        </p:txBody>
      </p:sp>
      <p:sp>
        <p:nvSpPr>
          <p:cNvPr id="7" name="Rectangle 6" hidden="1">
            <a:extLst>
              <a:ext uri="{FF2B5EF4-FFF2-40B4-BE49-F238E27FC236}">
                <a16:creationId xmlns:a16="http://schemas.microsoft.com/office/drawing/2014/main" id="{69AE537A-A74D-C267-A8AE-05AC86B926FF}"/>
              </a:ext>
            </a:extLst>
          </p:cNvPr>
          <p:cNvSpPr/>
          <p:nvPr>
            <p:custDataLst>
              <p:tags r:id="rId5"/>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white"/>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sym typeface="Open Sans SemiBold" panose="020B0706030804020204" pitchFamily="34" charset="0"/>
            </a:endParaRPr>
          </a:p>
        </p:txBody>
      </p:sp>
      <p:sp>
        <p:nvSpPr>
          <p:cNvPr id="4" name="Rectangle 3" hidden="1">
            <a:extLst>
              <a:ext uri="{FF2B5EF4-FFF2-40B4-BE49-F238E27FC236}">
                <a16:creationId xmlns:a16="http://schemas.microsoft.com/office/drawing/2014/main" id="{5955CB64-1BF9-E853-A287-2853C9979F36}"/>
              </a:ext>
            </a:extLst>
          </p:cNvPr>
          <p:cNvSpPr/>
          <p:nvPr>
            <p:custDataLst>
              <p:tags r:id="rId6"/>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white"/>
              </a:solidFill>
              <a:effectLst/>
              <a:uLnTx/>
              <a:uFillTx/>
              <a:latin typeface="Open Sans SemiBold" panose="020B0706030804020204" pitchFamily="34" charset="0"/>
              <a:ea typeface="Open Sans SemiBold" panose="020B0706030804020204" pitchFamily="34" charset="0"/>
              <a:cs typeface="Open Sans SemiBold" panose="020B0706030804020204" pitchFamily="34" charset="0"/>
              <a:sym typeface="Open Sans SemiBold" panose="020B0706030804020204" pitchFamily="34" charset="0"/>
            </a:endParaRPr>
          </a:p>
        </p:txBody>
      </p:sp>
      <p:sp>
        <p:nvSpPr>
          <p:cNvPr id="3" name="Title 2">
            <a:extLst>
              <a:ext uri="{FF2B5EF4-FFF2-40B4-BE49-F238E27FC236}">
                <a16:creationId xmlns:a16="http://schemas.microsoft.com/office/drawing/2014/main" id="{5163C3B1-D006-79CE-42A6-87861DBA13F7}"/>
              </a:ext>
            </a:extLst>
          </p:cNvPr>
          <p:cNvSpPr>
            <a:spLocks noGrp="1"/>
          </p:cNvSpPr>
          <p:nvPr>
            <p:ph type="title"/>
          </p:nvPr>
        </p:nvSpPr>
        <p:spPr>
          <a:xfrm>
            <a:off x="501650" y="365125"/>
            <a:ext cx="11188700" cy="334099"/>
          </a:xfrm>
        </p:spPr>
        <p:txBody>
          <a:bodyPr/>
          <a:lstStyle/>
          <a:p>
            <a:r>
              <a:rPr lang="en-US" sz="2400" b="1" dirty="0">
                <a:solidFill>
                  <a:prstClr val="black"/>
                </a:solidFill>
                <a:latin typeface="Open Sans"/>
                <a:ea typeface="Open Sans"/>
                <a:cs typeface="Open Sans"/>
                <a:sym typeface="Open Sans Extrabold"/>
              </a:rPr>
              <a:t>Data Marketplace – Tool Comparison</a:t>
            </a:r>
            <a:endParaRPr lang="en-US" sz="2400" b="1" dirty="0">
              <a:solidFill>
                <a:prstClr val="black"/>
              </a:solidFill>
              <a:sym typeface="Open Sans Extrabold"/>
            </a:endParaRPr>
          </a:p>
        </p:txBody>
      </p:sp>
      <p:sp>
        <p:nvSpPr>
          <p:cNvPr id="44" name="Text Placeholder 3">
            <a:extLst>
              <a:ext uri="{FF2B5EF4-FFF2-40B4-BE49-F238E27FC236}">
                <a16:creationId xmlns:a16="http://schemas.microsoft.com/office/drawing/2014/main" id="{7040ECEF-1AF3-9FD1-D9CF-395939431438}"/>
              </a:ext>
            </a:extLst>
          </p:cNvPr>
          <p:cNvSpPr txBox="1">
            <a:spLocks/>
          </p:cNvSpPr>
          <p:nvPr/>
        </p:nvSpPr>
        <p:spPr>
          <a:xfrm>
            <a:off x="469900" y="769912"/>
            <a:ext cx="11486748" cy="504118"/>
          </a:xfrm>
          <a:prstGeom prst="rect">
            <a:avLst/>
          </a:prstGeom>
        </p:spPr>
        <p:txBody>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Tx/>
              <a:buNone/>
              <a:tabLst/>
              <a:defRPr/>
            </a:pPr>
            <a:r>
              <a:rPr lang="en-US" sz="1600" b="0" i="0" dirty="0">
                <a:solidFill>
                  <a:srgbClr val="000000"/>
                </a:solidFill>
                <a:effectLst/>
                <a:latin typeface="Open Sans" panose="020B0606030504020204" pitchFamily="34" charset="0"/>
              </a:rPr>
              <a:t>Below is a comprehensive comparison of these platforms based on these critical parameters</a:t>
            </a:r>
            <a:endParaRPr kumimoji="0" lang="en-US" sz="1200" b="0" i="0" u="none" strike="noStrike" kern="1200" cap="none" spc="0" normalizeH="0" baseline="0" noProof="0" dirty="0">
              <a:ln>
                <a:noFill/>
              </a:ln>
              <a:solidFill>
                <a:prstClr val="black">
                  <a:lumMod val="85000"/>
                  <a:lumOff val="15000"/>
                </a:prstClr>
              </a:solidFill>
              <a:effectLst/>
              <a:uLnTx/>
              <a:uFillTx/>
              <a:latin typeface="Calibri (Headings)"/>
              <a:ea typeface="+mn-ea"/>
              <a:cs typeface="Calibri Light" panose="020F0302020204030204" pitchFamily="34" charset="0"/>
            </a:endParaRPr>
          </a:p>
        </p:txBody>
      </p:sp>
      <p:sp>
        <p:nvSpPr>
          <p:cNvPr id="56" name="Rectangle 55">
            <a:extLst>
              <a:ext uri="{FF2B5EF4-FFF2-40B4-BE49-F238E27FC236}">
                <a16:creationId xmlns:a16="http://schemas.microsoft.com/office/drawing/2014/main" id="{00690C73-B9BA-48D5-FA10-88FF6C368847}"/>
              </a:ext>
            </a:extLst>
          </p:cNvPr>
          <p:cNvSpPr/>
          <p:nvPr/>
        </p:nvSpPr>
        <p:spPr>
          <a:xfrm>
            <a:off x="424543" y="127180"/>
            <a:ext cx="1481496" cy="246221"/>
          </a:xfrm>
          <a:prstGeom prst="rect">
            <a:avLst/>
          </a:prstGeom>
        </p:spPr>
        <p:txBody>
          <a:bodyPr wrap="none">
            <a:spAutoFit/>
          </a:bodyPr>
          <a:lstStyle/>
          <a:p>
            <a:pPr marL="0" marR="0" lvl="0" indent="0" algn="l" defTabSz="914327" rtl="0" eaLnBrk="1" fontAlgn="auto" latinLnBrk="0" hangingPunct="1">
              <a:lnSpc>
                <a:spcPct val="100000"/>
              </a:lnSpc>
              <a:spcBef>
                <a:spcPts val="1000"/>
              </a:spcBef>
              <a:spcAft>
                <a:spcPts val="1000"/>
              </a:spcAft>
              <a:buClrTx/>
              <a:buSzTx/>
              <a:buFontTx/>
              <a:buNone/>
              <a:tabLst/>
              <a:defRPr/>
            </a:pPr>
            <a:r>
              <a:rPr kumimoji="0" lang="en-US" sz="1000" b="1" i="0" u="none" strike="noStrike" kern="1200" cap="none" spc="0" normalizeH="0" baseline="0" noProof="0" dirty="0">
                <a:ln>
                  <a:noFill/>
                </a:ln>
                <a:solidFill>
                  <a:srgbClr val="FFFFFF">
                    <a:lumMod val="75000"/>
                  </a:srgbClr>
                </a:solidFill>
                <a:effectLst/>
                <a:uLnTx/>
                <a:uFillTx/>
                <a:latin typeface="Open Sans"/>
                <a:ea typeface="+mn-ea"/>
                <a:cs typeface="+mn-cs"/>
              </a:rPr>
              <a:t>DATA MARKETPLACE</a:t>
            </a:r>
          </a:p>
        </p:txBody>
      </p:sp>
      <p:graphicFrame>
        <p:nvGraphicFramePr>
          <p:cNvPr id="8" name="Table 2">
            <a:extLst>
              <a:ext uri="{FF2B5EF4-FFF2-40B4-BE49-F238E27FC236}">
                <a16:creationId xmlns:a16="http://schemas.microsoft.com/office/drawing/2014/main" id="{0B157B3D-B74B-6908-47B8-4CB373DB63A8}"/>
              </a:ext>
            </a:extLst>
          </p:cNvPr>
          <p:cNvGraphicFramePr>
            <a:graphicFrameLocks noGrp="1"/>
          </p:cNvGraphicFramePr>
          <p:nvPr/>
        </p:nvGraphicFramePr>
        <p:xfrm>
          <a:off x="468861" y="1171659"/>
          <a:ext cx="11487787" cy="4939378"/>
        </p:xfrm>
        <a:graphic>
          <a:graphicData uri="http://schemas.openxmlformats.org/drawingml/2006/table">
            <a:tbl>
              <a:tblPr>
                <a:tableStyleId>{5C22544A-7EE6-4342-B048-85BDC9FD1C3A}</a:tableStyleId>
              </a:tblPr>
              <a:tblGrid>
                <a:gridCol w="2455564">
                  <a:extLst>
                    <a:ext uri="{9D8B030D-6E8A-4147-A177-3AD203B41FA5}">
                      <a16:colId xmlns:a16="http://schemas.microsoft.com/office/drawing/2014/main" val="2695555226"/>
                    </a:ext>
                  </a:extLst>
                </a:gridCol>
                <a:gridCol w="3010741">
                  <a:extLst>
                    <a:ext uri="{9D8B030D-6E8A-4147-A177-3AD203B41FA5}">
                      <a16:colId xmlns:a16="http://schemas.microsoft.com/office/drawing/2014/main" val="3277413587"/>
                    </a:ext>
                  </a:extLst>
                </a:gridCol>
                <a:gridCol w="3010741">
                  <a:extLst>
                    <a:ext uri="{9D8B030D-6E8A-4147-A177-3AD203B41FA5}">
                      <a16:colId xmlns:a16="http://schemas.microsoft.com/office/drawing/2014/main" val="2977010850"/>
                    </a:ext>
                  </a:extLst>
                </a:gridCol>
                <a:gridCol w="3010741">
                  <a:extLst>
                    <a:ext uri="{9D8B030D-6E8A-4147-A177-3AD203B41FA5}">
                      <a16:colId xmlns:a16="http://schemas.microsoft.com/office/drawing/2014/main" val="3509377880"/>
                    </a:ext>
                  </a:extLst>
                </a:gridCol>
              </a:tblGrid>
              <a:tr h="307527">
                <a:tc>
                  <a:txBody>
                    <a:bodyPr/>
                    <a:lstStyle/>
                    <a:p>
                      <a:pPr algn="ctr"/>
                      <a:r>
                        <a:rPr lang="en-US" sz="1200" b="1" dirty="0">
                          <a:solidFill>
                            <a:schemeClr val="bg1"/>
                          </a:solidFill>
                          <a:latin typeface="Calibri" panose="020F0502020204030204" pitchFamily="34" charset="0"/>
                          <a:cs typeface="Calibri" panose="020F0502020204030204" pitchFamily="34" charset="0"/>
                        </a:rPr>
                        <a:t>Feature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005587"/>
                    </a:solidFill>
                  </a:tcPr>
                </a:tc>
                <a:tc>
                  <a:txBody>
                    <a:bodyPr/>
                    <a:lstStyle/>
                    <a:p>
                      <a:pPr algn="ctr"/>
                      <a:r>
                        <a:rPr lang="en-US" sz="1200" b="1" dirty="0">
                          <a:solidFill>
                            <a:schemeClr val="bg1"/>
                          </a:solidFill>
                          <a:latin typeface="Calibri" panose="020F0502020204030204" pitchFamily="34" charset="0"/>
                          <a:cs typeface="Calibri" panose="020F0502020204030204" pitchFamily="34" charset="0"/>
                        </a:rPr>
                        <a:t>Microsoft Fabric</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005587"/>
                    </a:solidFill>
                  </a:tcPr>
                </a:tc>
                <a:tc>
                  <a:txBody>
                    <a:bodyPr/>
                    <a:lstStyle/>
                    <a:p>
                      <a:pPr algn="ctr"/>
                      <a:r>
                        <a:rPr lang="en-US" sz="1200" b="1" dirty="0">
                          <a:solidFill>
                            <a:schemeClr val="bg1"/>
                          </a:solidFill>
                          <a:latin typeface="Calibri" panose="020F0502020204030204" pitchFamily="34" charset="0"/>
                          <a:cs typeface="Calibri" panose="020F0502020204030204" pitchFamily="34" charset="0"/>
                        </a:rPr>
                        <a:t>Informatica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005587"/>
                    </a:solidFill>
                  </a:tcPr>
                </a:tc>
                <a:tc>
                  <a:txBody>
                    <a:bodyPr/>
                    <a:lstStyle/>
                    <a:p>
                      <a:pPr algn="ctr"/>
                      <a:r>
                        <a:rPr lang="en-US" sz="1200" b="1" dirty="0">
                          <a:solidFill>
                            <a:schemeClr val="bg1"/>
                          </a:solidFill>
                          <a:latin typeface="Calibri" panose="020F0502020204030204" pitchFamily="34" charset="0"/>
                          <a:cs typeface="Calibri" panose="020F0502020204030204" pitchFamily="34" charset="0"/>
                        </a:rPr>
                        <a:t>HARBR</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005587"/>
                    </a:solidFill>
                  </a:tcPr>
                </a:tc>
                <a:extLst>
                  <a:ext uri="{0D108BD9-81ED-4DB2-BD59-A6C34878D82A}">
                    <a16:rowId xmlns:a16="http://schemas.microsoft.com/office/drawing/2014/main" val="3911595225"/>
                  </a:ext>
                </a:extLst>
              </a:tr>
              <a:tr h="1056175">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1100" b="1" dirty="0">
                          <a:latin typeface="Calibri" panose="020F0502020204030204" pitchFamily="34" charset="0"/>
                          <a:cs typeface="Calibri" panose="020F0502020204030204" pitchFamily="34" charset="0"/>
                        </a:rPr>
                        <a:t>Access Control</a:t>
                      </a:r>
                      <a:endParaRPr lang="en-US" sz="1100" b="0" dirty="0">
                        <a:latin typeface="Calibri" panose="020F0502020204030204" pitchFamily="34" charset="0"/>
                        <a:cs typeface="Calibri" panose="020F0502020204030204" pitchFamily="34" charset="0"/>
                      </a:endParaRPr>
                    </a:p>
                  </a:txBody>
                  <a:tcPr marR="0" anchor="ctr">
                    <a:lnL w="12700" cap="flat" cmpd="sng" algn="ctr">
                      <a:solidFill>
                        <a:schemeClr val="bg1">
                          <a:lumMod val="65000"/>
                        </a:schemeClr>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rgbClr val="005587"/>
                      </a:solidFill>
                      <a:prstDash val="solid"/>
                      <a:round/>
                      <a:headEnd type="none" w="med" len="med"/>
                      <a:tailEnd type="none" w="med" len="med"/>
                    </a:lnB>
                    <a:solidFill>
                      <a:srgbClr val="BCEBFF"/>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dirty="0">
                          <a:solidFill>
                            <a:schemeClr val="tx1"/>
                          </a:solidFill>
                          <a:latin typeface="Calibri" panose="020F0502020204030204" pitchFamily="34" charset="0"/>
                          <a:ea typeface="+mn-ea"/>
                          <a:cs typeface="Calibri" panose="020F0502020204030204" pitchFamily="34" charset="0"/>
                        </a:rPr>
                        <a:t>Fabric provides role-based access control (RBAC) to manage who can perform operations on the Service Fabric cluster. Access to service applications can be managed at the microservice level, allowing for granular control</a:t>
                      </a: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dirty="0">
                          <a:solidFill>
                            <a:schemeClr val="tx1"/>
                          </a:solidFill>
                          <a:latin typeface="Calibri" panose="020F0502020204030204" pitchFamily="34" charset="0"/>
                          <a:ea typeface="+mn-ea"/>
                          <a:cs typeface="Calibri" panose="020F0502020204030204" pitchFamily="34" charset="0"/>
                        </a:rPr>
                        <a:t>Informatica provides comprehensive access control mechanisms at various levels—project, folder, and object. It uses both role-based and user-based access controls to finely tune who can see or manipulate data and data processes</a:t>
                      </a: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dirty="0" err="1">
                          <a:solidFill>
                            <a:schemeClr val="tx1"/>
                          </a:solidFill>
                          <a:latin typeface="Calibri" panose="020F0502020204030204" pitchFamily="34" charset="0"/>
                          <a:ea typeface="+mn-ea"/>
                          <a:cs typeface="Calibri" panose="020F0502020204030204" pitchFamily="34" charset="0"/>
                        </a:rPr>
                        <a:t>Harbr</a:t>
                      </a:r>
                      <a:r>
                        <a:rPr lang="en-US" sz="900" i="1" kern="1200" dirty="0">
                          <a:solidFill>
                            <a:schemeClr val="tx1"/>
                          </a:solidFill>
                          <a:latin typeface="Calibri" panose="020F0502020204030204" pitchFamily="34" charset="0"/>
                          <a:ea typeface="+mn-ea"/>
                          <a:cs typeface="Calibri" panose="020F0502020204030204" pitchFamily="34" charset="0"/>
                        </a:rPr>
                        <a:t> likely implements granular RBAC, allowing data owners to specify who can view, edit, or manage datasets and data products at a very detailed level. </a:t>
                      </a:r>
                    </a:p>
                    <a:p>
                      <a:pPr marL="0" marR="0" lvl="0" indent="0" algn="ctr" defTabSz="914354" rtl="0" eaLnBrk="1" fontAlgn="auto" latinLnBrk="0" hangingPunct="1">
                        <a:lnSpc>
                          <a:spcPct val="100000"/>
                        </a:lnSpc>
                        <a:spcBef>
                          <a:spcPts val="0"/>
                        </a:spcBef>
                        <a:spcAft>
                          <a:spcPts val="0"/>
                        </a:spcAft>
                        <a:buClrTx/>
                        <a:buSzTx/>
                        <a:buFontTx/>
                        <a:buNone/>
                        <a:tabLst/>
                        <a:defRPr/>
                      </a:pPr>
                      <a:endParaRPr lang="en-US" sz="900" i="1" kern="1200" dirty="0">
                        <a:solidFill>
                          <a:schemeClr val="tx1"/>
                        </a:solidFill>
                        <a:latin typeface="Calibri" panose="020F0502020204030204" pitchFamily="34" charset="0"/>
                        <a:ea typeface="+mn-ea"/>
                        <a:cs typeface="Calibri" panose="020F0502020204030204" pitchFamily="34" charset="0"/>
                      </a:endParaRP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extLst>
                  <a:ext uri="{0D108BD9-81ED-4DB2-BD59-A6C34878D82A}">
                    <a16:rowId xmlns:a16="http://schemas.microsoft.com/office/drawing/2014/main" val="664846802"/>
                  </a:ext>
                </a:extLst>
              </a:tr>
              <a:tr h="756562">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1100" b="1" kern="1200" dirty="0">
                          <a:solidFill>
                            <a:schemeClr val="dk1"/>
                          </a:solidFill>
                          <a:latin typeface="Calibri" panose="020F0502020204030204" pitchFamily="34" charset="0"/>
                          <a:ea typeface="+mn-ea"/>
                          <a:cs typeface="Calibri" panose="020F0502020204030204" pitchFamily="34" charset="0"/>
                        </a:rPr>
                        <a:t>Connectivity</a:t>
                      </a:r>
                    </a:p>
                  </a:txBody>
                  <a:tcPr anchor="ctr">
                    <a:lnL w="12700" cap="flat" cmpd="sng" algn="ctr">
                      <a:solidFill>
                        <a:schemeClr val="bg1">
                          <a:lumMod val="65000"/>
                        </a:schemeClr>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005587"/>
                      </a:solidFill>
                      <a:prstDash val="solid"/>
                      <a:round/>
                      <a:headEnd type="none" w="med" len="med"/>
                      <a:tailEnd type="none" w="med" len="med"/>
                    </a:lnT>
                    <a:lnB w="12700" cap="flat" cmpd="sng" algn="ctr">
                      <a:solidFill>
                        <a:srgbClr val="005587"/>
                      </a:solidFill>
                      <a:prstDash val="solid"/>
                      <a:round/>
                      <a:headEnd type="none" w="med" len="med"/>
                      <a:tailEnd type="none" w="med" len="med"/>
                    </a:lnB>
                    <a:solidFill>
                      <a:srgbClr val="BCEBFF"/>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dirty="0">
                          <a:solidFill>
                            <a:schemeClr val="tx1"/>
                          </a:solidFill>
                          <a:latin typeface="Calibri" panose="020F0502020204030204" pitchFamily="34" charset="0"/>
                          <a:ea typeface="+mn-ea"/>
                          <a:cs typeface="Calibri" panose="020F0502020204030204" pitchFamily="34" charset="0"/>
                        </a:rPr>
                        <a:t>It integrates with Azure Active Directory (AAD) for authentication, ensuring that only authenticated and authorized users can deploy and manage services.</a:t>
                      </a: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BCEBFF"/>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rPr>
                        <a:t>It integrates with enterprise authentication solutions like LDAP and SAML, providing secure and compliant access management within corporate environments.</a:t>
                      </a: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BCEBFF"/>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900" b="0" i="1"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900" b="0" i="1"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err="1">
                          <a:ln>
                            <a:noFill/>
                          </a:ln>
                          <a:solidFill>
                            <a:schemeClr val="tx1"/>
                          </a:solidFill>
                          <a:effectLst/>
                          <a:uLnTx/>
                          <a:uFillTx/>
                          <a:latin typeface="Calibri" panose="020F0502020204030204" pitchFamily="34" charset="0"/>
                          <a:ea typeface="+mn-ea"/>
                          <a:cs typeface="Calibri" panose="020F0502020204030204" pitchFamily="34" charset="0"/>
                        </a:rPr>
                        <a:t>Harbr</a:t>
                      </a:r>
                      <a:r>
                        <a:rPr kumimoji="0" lang="en-US" sz="900" b="0" i="1"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rPr>
                        <a:t> probably supports integration with various identity providers using OAuth, SAML, or similar protocols for secure authentication, similar to Informatica but more focused on data exchange environments.</a:t>
                      </a: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BCEBFF"/>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extLst>
                  <a:ext uri="{0D108BD9-81ED-4DB2-BD59-A6C34878D82A}">
                    <a16:rowId xmlns:a16="http://schemas.microsoft.com/office/drawing/2014/main" val="806089987"/>
                  </a:ext>
                </a:extLst>
              </a:tr>
              <a:tr h="1067767">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1100" b="1" dirty="0">
                          <a:latin typeface="Calibri" panose="020F0502020204030204" pitchFamily="34" charset="0"/>
                          <a:cs typeface="Calibri" panose="020F0502020204030204" pitchFamily="34" charset="0"/>
                        </a:rPr>
                        <a:t>Compliance and Standards</a:t>
                      </a:r>
                      <a:endParaRPr lang="en-US" sz="1100" b="0" dirty="0">
                        <a:latin typeface="Calibri" panose="020F0502020204030204" pitchFamily="34" charset="0"/>
                        <a:cs typeface="Calibri" panose="020F0502020204030204" pitchFamily="34" charset="0"/>
                      </a:endParaRPr>
                    </a:p>
                  </a:txBody>
                  <a:tcPr marR="0" anchor="ctr">
                    <a:lnL w="12700" cap="flat" cmpd="sng" algn="ctr">
                      <a:solidFill>
                        <a:schemeClr val="bg1">
                          <a:lumMod val="65000"/>
                        </a:schemeClr>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005587"/>
                      </a:solidFill>
                      <a:prstDash val="solid"/>
                      <a:round/>
                      <a:headEnd type="none" w="med" len="med"/>
                      <a:tailEnd type="none" w="med" len="med"/>
                    </a:lnT>
                    <a:lnB w="12700" cap="flat" cmpd="sng" algn="ctr">
                      <a:solidFill>
                        <a:srgbClr val="005587"/>
                      </a:solidFill>
                      <a:prstDash val="solid"/>
                      <a:round/>
                      <a:headEnd type="none" w="med" len="med"/>
                      <a:tailEnd type="none" w="med" len="med"/>
                    </a:lnB>
                    <a:solidFill>
                      <a:srgbClr val="BCEBFF"/>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dirty="0">
                          <a:solidFill>
                            <a:schemeClr val="tx1"/>
                          </a:solidFill>
                          <a:latin typeface="Calibri" panose="020F0502020204030204" pitchFamily="34" charset="0"/>
                          <a:ea typeface="+mn-ea"/>
                          <a:cs typeface="Calibri" panose="020F0502020204030204" pitchFamily="34" charset="0"/>
                        </a:rPr>
                        <a:t>Fabric supports the compliance standards provided by the Azure platform, which includes a broad set of compliance certifications like ISO, HIPAA, and more. </a:t>
                      </a:r>
                    </a:p>
                    <a:p>
                      <a:pPr marL="0" marR="0" lvl="0" indent="0" algn="ctr" defTabSz="914354" rtl="0" eaLnBrk="1" fontAlgn="auto" latinLnBrk="0" hangingPunct="1">
                        <a:lnSpc>
                          <a:spcPct val="100000"/>
                        </a:lnSpc>
                        <a:spcBef>
                          <a:spcPts val="0"/>
                        </a:spcBef>
                        <a:spcAft>
                          <a:spcPts val="0"/>
                        </a:spcAft>
                        <a:buClrTx/>
                        <a:buSzTx/>
                        <a:buFontTx/>
                        <a:buNone/>
                        <a:tabLst/>
                        <a:defRPr/>
                      </a:pPr>
                      <a:endParaRPr lang="en-US" sz="900" i="1" kern="1200" dirty="0">
                        <a:solidFill>
                          <a:schemeClr val="tx1"/>
                        </a:solidFill>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a:pPr>
                      <a:endParaRPr lang="en-US" sz="900" i="1" kern="1200" dirty="0">
                        <a:solidFill>
                          <a:schemeClr val="tx1"/>
                        </a:solidFill>
                        <a:latin typeface="Calibri" panose="020F0502020204030204" pitchFamily="34" charset="0"/>
                        <a:ea typeface="+mn-ea"/>
                        <a:cs typeface="Calibri" panose="020F0502020204030204" pitchFamily="34" charset="0"/>
                      </a:endParaRP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BCEBFF"/>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noProof="0" dirty="0">
                          <a:solidFill>
                            <a:schemeClr val="tx1"/>
                          </a:solidFill>
                          <a:latin typeface="Calibri" panose="020F0502020204030204" pitchFamily="34" charset="0"/>
                          <a:ea typeface="+mn-ea"/>
                          <a:cs typeface="Calibri" panose="020F0502020204030204" pitchFamily="34" charset="0"/>
                        </a:rPr>
                        <a:t>Informatica’s governance capabilities are geared towards ensuring that data handling and processing meet industry standards and regulatory requirements, such as GDPR, HIPAA, and others. It provides tools for data masking, data quality management, and compliance reporting, which are critical for data governance. </a:t>
                      </a: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BCEBFF"/>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lang="en-US" sz="900" i="1" kern="1200" dirty="0">
                        <a:solidFill>
                          <a:schemeClr val="tx1"/>
                        </a:solidFill>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a:pPr>
                      <a:endParaRPr lang="en-US" sz="900" i="1" kern="1200" dirty="0">
                        <a:solidFill>
                          <a:schemeClr val="tx1"/>
                        </a:solidFill>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dirty="0" err="1">
                          <a:solidFill>
                            <a:schemeClr val="tx1"/>
                          </a:solidFill>
                          <a:latin typeface="Calibri" panose="020F0502020204030204" pitchFamily="34" charset="0"/>
                          <a:ea typeface="+mn-ea"/>
                          <a:cs typeface="Calibri" panose="020F0502020204030204" pitchFamily="34" charset="0"/>
                        </a:rPr>
                        <a:t>Harbr</a:t>
                      </a:r>
                      <a:r>
                        <a:rPr lang="en-US" sz="900" i="1" kern="1200" dirty="0">
                          <a:solidFill>
                            <a:schemeClr val="tx1"/>
                          </a:solidFill>
                          <a:latin typeface="Calibri" panose="020F0502020204030204" pitchFamily="34" charset="0"/>
                          <a:ea typeface="+mn-ea"/>
                          <a:cs typeface="Calibri" panose="020F0502020204030204" pitchFamily="34" charset="0"/>
                        </a:rPr>
                        <a:t> is likely designed to comply with GDPR, which governs data protection and privacy in the European Union but applies to any organization dealing with the data of EU citizens. If </a:t>
                      </a:r>
                      <a:r>
                        <a:rPr lang="en-US" sz="900" i="1" kern="1200" dirty="0" err="1">
                          <a:solidFill>
                            <a:schemeClr val="tx1"/>
                          </a:solidFill>
                          <a:latin typeface="Calibri" panose="020F0502020204030204" pitchFamily="34" charset="0"/>
                          <a:ea typeface="+mn-ea"/>
                          <a:cs typeface="Calibri" panose="020F0502020204030204" pitchFamily="34" charset="0"/>
                        </a:rPr>
                        <a:t>Harbr</a:t>
                      </a:r>
                      <a:r>
                        <a:rPr lang="en-US" sz="900" i="1" kern="1200" dirty="0">
                          <a:solidFill>
                            <a:schemeClr val="tx1"/>
                          </a:solidFill>
                          <a:latin typeface="Calibri" panose="020F0502020204030204" pitchFamily="34" charset="0"/>
                          <a:ea typeface="+mn-ea"/>
                          <a:cs typeface="Calibri" panose="020F0502020204030204" pitchFamily="34" charset="0"/>
                        </a:rPr>
                        <a:t> is used within healthcare sectors in the United States, it would need to ensure compliance with HIPAA, which involves safeguarding personal health information (PHI) through administrative, physical, and technical safeguards. </a:t>
                      </a:r>
                      <a:endParaRPr lang="en-US" sz="900" i="1" kern="1200" noProof="0" dirty="0">
                        <a:solidFill>
                          <a:schemeClr val="tx1"/>
                        </a:solidFill>
                        <a:latin typeface="Calibri" panose="020F0502020204030204" pitchFamily="34" charset="0"/>
                        <a:ea typeface="+mn-ea"/>
                        <a:cs typeface="Calibri" panose="020F0502020204030204" pitchFamily="34" charset="0"/>
                      </a:endParaRP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BCEBFF"/>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extLst>
                  <a:ext uri="{0D108BD9-81ED-4DB2-BD59-A6C34878D82A}">
                    <a16:rowId xmlns:a16="http://schemas.microsoft.com/office/drawing/2014/main" val="2714533884"/>
                  </a:ext>
                </a:extLst>
              </a:tr>
              <a:tr h="1335396">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1100" b="1" kern="1200" dirty="0">
                          <a:solidFill>
                            <a:schemeClr val="dk1"/>
                          </a:solidFill>
                          <a:latin typeface="Calibri" panose="020F0502020204030204" pitchFamily="34" charset="0"/>
                          <a:ea typeface="+mn-ea"/>
                          <a:cs typeface="Calibri" panose="020F0502020204030204" pitchFamily="34" charset="0"/>
                        </a:rPr>
                        <a:t>Application Governance</a:t>
                      </a:r>
                      <a:endParaRPr lang="en-US" sz="1100" b="0" kern="1200" dirty="0">
                        <a:solidFill>
                          <a:schemeClr val="dk1"/>
                        </a:solidFill>
                        <a:latin typeface="Calibri" panose="020F0502020204030204" pitchFamily="34" charset="0"/>
                        <a:ea typeface="+mn-ea"/>
                        <a:cs typeface="Calibri" panose="020F0502020204030204"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005587"/>
                      </a:solidFill>
                      <a:prstDash val="solid"/>
                      <a:round/>
                      <a:headEnd type="none" w="med" len="med"/>
                      <a:tailEnd type="none" w="med" len="med"/>
                    </a:lnT>
                    <a:lnB w="12700" cap="flat" cmpd="sng" algn="ctr">
                      <a:solidFill>
                        <a:srgbClr val="005587"/>
                      </a:solidFill>
                      <a:prstDash val="solid"/>
                      <a:round/>
                      <a:headEnd type="none" w="med" len="med"/>
                      <a:tailEnd type="none" w="med" len="med"/>
                    </a:lnB>
                    <a:solidFill>
                      <a:srgbClr val="BCEBFF"/>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dirty="0">
                          <a:solidFill>
                            <a:schemeClr val="tx1"/>
                          </a:solidFill>
                          <a:latin typeface="Calibri" panose="020F0502020204030204" pitchFamily="34" charset="0"/>
                          <a:ea typeface="+mn-ea"/>
                          <a:cs typeface="Calibri" panose="020F0502020204030204" pitchFamily="34" charset="0"/>
                        </a:rPr>
                        <a:t>It offers features like service discovery, health monitoring, and dynamic service scaling, which are crucial for maintaining governance over distributed applications. Logging and monitoring are robust, allowing for detailed tracking and auditing of service behaviors and issues. </a:t>
                      </a:r>
                    </a:p>
                    <a:p>
                      <a:pPr marL="0" marR="0" lvl="0" indent="0" algn="ctr" defTabSz="914354" rtl="0" eaLnBrk="1" fontAlgn="auto" latinLnBrk="0" hangingPunct="1">
                        <a:lnSpc>
                          <a:spcPct val="100000"/>
                        </a:lnSpc>
                        <a:spcBef>
                          <a:spcPts val="0"/>
                        </a:spcBef>
                        <a:spcAft>
                          <a:spcPts val="0"/>
                        </a:spcAft>
                        <a:buClrTx/>
                        <a:buSzTx/>
                        <a:buFontTx/>
                        <a:buNone/>
                        <a:tabLst/>
                        <a:defRPr/>
                      </a:pPr>
                      <a:endParaRPr lang="en-US" sz="900" i="1" kern="1200" dirty="0">
                        <a:solidFill>
                          <a:schemeClr val="tx1"/>
                        </a:solidFill>
                        <a:latin typeface="Calibri" panose="020F0502020204030204" pitchFamily="34" charset="0"/>
                        <a:ea typeface="+mn-ea"/>
                        <a:cs typeface="Calibri" panose="020F0502020204030204" pitchFamily="34" charset="0"/>
                      </a:endParaRP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BCEBFF"/>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dirty="0">
                          <a:solidFill>
                            <a:schemeClr val="tx1"/>
                          </a:solidFill>
                          <a:latin typeface="Calibri" panose="020F0502020204030204" pitchFamily="34" charset="0"/>
                          <a:ea typeface="+mn-ea"/>
                          <a:cs typeface="Calibri" panose="020F0502020204030204" pitchFamily="34" charset="0"/>
                        </a:rPr>
                        <a:t>Informatica shines in data governance with its robust set of tools designed to ensure data quality, data lineage, metadata management, and secure data integration practices. </a:t>
                      </a:r>
                    </a:p>
                  </a:txBody>
                  <a:tcPr marL="0" marR="0" anchor="ctr">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BCEBFF"/>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lang="en-US" sz="900" i="1" kern="1200" noProof="0" dirty="0">
                        <a:solidFill>
                          <a:schemeClr val="tx1"/>
                        </a:solidFill>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a:pPr>
                      <a:r>
                        <a:rPr lang="en-US" sz="900" i="1" kern="1200" noProof="0" dirty="0" err="1">
                          <a:solidFill>
                            <a:schemeClr val="tx1"/>
                          </a:solidFill>
                          <a:latin typeface="Calibri" panose="020F0502020204030204" pitchFamily="34" charset="0"/>
                          <a:ea typeface="+mn-ea"/>
                          <a:cs typeface="Calibri" panose="020F0502020204030204" pitchFamily="34" charset="0"/>
                        </a:rPr>
                        <a:t>Harbr</a:t>
                      </a:r>
                      <a:r>
                        <a:rPr lang="en-US" sz="900" i="1" kern="1200" noProof="0" dirty="0">
                          <a:solidFill>
                            <a:schemeClr val="tx1"/>
                          </a:solidFill>
                          <a:latin typeface="Calibri" panose="020F0502020204030204" pitchFamily="34" charset="0"/>
                          <a:ea typeface="+mn-ea"/>
                          <a:cs typeface="Calibri" panose="020F0502020204030204" pitchFamily="34" charset="0"/>
                        </a:rPr>
                        <a:t> specializes in the governance of data products, including quality control, cataloging, and compliance tracking. It implements robust security protocols, including encryption and potentially data localization, to meet specific regulatory standards. </a:t>
                      </a:r>
                    </a:p>
                    <a:p>
                      <a:pPr marL="0" marR="0" lvl="0" indent="0" algn="ctr" defTabSz="914354" rtl="0" eaLnBrk="1" fontAlgn="auto" latinLnBrk="0" hangingPunct="1">
                        <a:lnSpc>
                          <a:spcPct val="100000"/>
                        </a:lnSpc>
                        <a:spcBef>
                          <a:spcPts val="0"/>
                        </a:spcBef>
                        <a:spcAft>
                          <a:spcPts val="0"/>
                        </a:spcAft>
                        <a:buClrTx/>
                        <a:buSzTx/>
                        <a:buFontTx/>
                        <a:buNone/>
                        <a:tabLst/>
                        <a:defRPr/>
                      </a:pPr>
                      <a:endParaRPr lang="en-US" sz="900" i="1" kern="1200" noProof="0" dirty="0">
                        <a:solidFill>
                          <a:schemeClr val="tx1"/>
                        </a:solidFill>
                        <a:latin typeface="Calibri" panose="020F0502020204030204" pitchFamily="34" charset="0"/>
                        <a:ea typeface="+mn-ea"/>
                        <a:cs typeface="Calibri" panose="020F0502020204030204" pitchFamily="34" charset="0"/>
                      </a:endParaRPr>
                    </a:p>
                  </a:txBody>
                  <a:tcPr marL="0" marR="0" anchor="b">
                    <a:lnL w="12700" cap="flat" cmpd="sng" algn="ctr">
                      <a:solidFill>
                        <a:srgbClr val="BCEBFF"/>
                      </a:solidFill>
                      <a:prstDash val="solid"/>
                      <a:round/>
                      <a:headEnd type="none" w="med" len="med"/>
                      <a:tailEnd type="none" w="med" len="med"/>
                    </a:lnL>
                    <a:lnR w="12700" cap="flat" cmpd="sng" algn="ctr">
                      <a:solidFill>
                        <a:srgbClr val="BCEBFF"/>
                      </a:solidFill>
                      <a:prstDash val="solid"/>
                      <a:round/>
                      <a:headEnd type="none" w="med" len="med"/>
                      <a:tailEnd type="none" w="med" len="med"/>
                    </a:lnR>
                    <a:lnT w="12700" cap="flat" cmpd="sng" algn="ctr">
                      <a:solidFill>
                        <a:srgbClr val="BCEBFF"/>
                      </a:solidFill>
                      <a:prstDash val="solid"/>
                      <a:round/>
                      <a:headEnd type="none" w="med" len="med"/>
                      <a:tailEnd type="none" w="med" len="med"/>
                    </a:lnT>
                    <a:lnB w="12700" cap="flat" cmpd="sng" algn="ctr">
                      <a:solidFill>
                        <a:srgbClr val="BCEBFF"/>
                      </a:solidFill>
                      <a:prstDash val="solid"/>
                      <a:round/>
                      <a:headEnd type="none" w="med" len="med"/>
                      <a:tailEnd type="none" w="med" len="med"/>
                    </a:lnB>
                    <a:solidFill>
                      <a:schemeClr val="bg1"/>
                    </a:solidFill>
                  </a:tcPr>
                </a:tc>
                <a:extLst>
                  <a:ext uri="{0D108BD9-81ED-4DB2-BD59-A6C34878D82A}">
                    <a16:rowId xmlns:a16="http://schemas.microsoft.com/office/drawing/2014/main" val="1391327420"/>
                  </a:ext>
                </a:extLst>
              </a:tr>
            </a:tbl>
          </a:graphicData>
        </a:graphic>
      </p:graphicFrame>
      <p:sp>
        <p:nvSpPr>
          <p:cNvPr id="53" name="TextBox 52">
            <a:extLst>
              <a:ext uri="{FF2B5EF4-FFF2-40B4-BE49-F238E27FC236}">
                <a16:creationId xmlns:a16="http://schemas.microsoft.com/office/drawing/2014/main" id="{B210F2C1-93CB-EFAB-8209-B0A6BE5A9D9A}"/>
              </a:ext>
            </a:extLst>
          </p:cNvPr>
          <p:cNvSpPr txBox="1"/>
          <p:nvPr/>
        </p:nvSpPr>
        <p:spPr>
          <a:xfrm>
            <a:off x="501650" y="6230988"/>
            <a:ext cx="11487273" cy="261610"/>
          </a:xfrm>
          <a:prstGeom prst="rect">
            <a:avLst/>
          </a:prstGeom>
          <a:noFill/>
        </p:spPr>
        <p:txBody>
          <a:bodyPr wrap="square" rtlCol="0">
            <a:spAutoFit/>
          </a:bodyPr>
          <a:lstStyle/>
          <a:p>
            <a:pPr algn="l"/>
            <a:r>
              <a:rPr lang="en-US" sz="1100" i="1" dirty="0">
                <a:latin typeface="Calibri" panose="020F0502020204030204" pitchFamily="34" charset="0"/>
                <a:cs typeface="Calibri" panose="020F0502020204030204" pitchFamily="34" charset="0"/>
              </a:rPr>
              <a:t>Disclaimer: Comparison provided is at very high level. Actual comparison may vary after discovery of Prudential applications, persona , data etc. </a:t>
            </a:r>
          </a:p>
        </p:txBody>
      </p:sp>
      <p:grpSp>
        <p:nvGrpSpPr>
          <p:cNvPr id="203" name="Group 202">
            <a:extLst>
              <a:ext uri="{FF2B5EF4-FFF2-40B4-BE49-F238E27FC236}">
                <a16:creationId xmlns:a16="http://schemas.microsoft.com/office/drawing/2014/main" id="{09A05C5E-7B1B-238C-1CA7-DB86C665FFB2}"/>
              </a:ext>
            </a:extLst>
          </p:cNvPr>
          <p:cNvGrpSpPr/>
          <p:nvPr/>
        </p:nvGrpSpPr>
        <p:grpSpPr>
          <a:xfrm>
            <a:off x="4220370" y="4938406"/>
            <a:ext cx="274320" cy="274320"/>
            <a:chOff x="2362200" y="1633472"/>
            <a:chExt cx="457200" cy="457202"/>
          </a:xfrm>
        </p:grpSpPr>
        <p:sp>
          <p:nvSpPr>
            <p:cNvPr id="204" name="Pie 100">
              <a:extLst>
                <a:ext uri="{FF2B5EF4-FFF2-40B4-BE49-F238E27FC236}">
                  <a16:creationId xmlns:a16="http://schemas.microsoft.com/office/drawing/2014/main" id="{793CE784-CCDD-723A-7743-09E64F3E226C}"/>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05" name="Pie 101">
              <a:extLst>
                <a:ext uri="{FF2B5EF4-FFF2-40B4-BE49-F238E27FC236}">
                  <a16:creationId xmlns:a16="http://schemas.microsoft.com/office/drawing/2014/main" id="{A212B503-EB36-9799-DD8E-70385FBBF7C6}"/>
                </a:ext>
              </a:extLst>
            </p:cNvPr>
            <p:cNvSpPr/>
            <p:nvPr/>
          </p:nvSpPr>
          <p:spPr bwMode="gray">
            <a:xfrm>
              <a:off x="2362200" y="1633472"/>
              <a:ext cx="457200" cy="457200"/>
            </a:xfrm>
            <a:prstGeom prst="pie">
              <a:avLst>
                <a:gd name="adj1" fmla="val 16200000"/>
                <a:gd name="adj2" fmla="val 13677745"/>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06" name="Group 205">
            <a:extLst>
              <a:ext uri="{FF2B5EF4-FFF2-40B4-BE49-F238E27FC236}">
                <a16:creationId xmlns:a16="http://schemas.microsoft.com/office/drawing/2014/main" id="{7D335A06-7674-C27E-6F0A-35064A16B520}"/>
              </a:ext>
            </a:extLst>
          </p:cNvPr>
          <p:cNvGrpSpPr/>
          <p:nvPr/>
        </p:nvGrpSpPr>
        <p:grpSpPr>
          <a:xfrm>
            <a:off x="10379624" y="4955452"/>
            <a:ext cx="274320" cy="274320"/>
            <a:chOff x="2362200" y="1633472"/>
            <a:chExt cx="457200" cy="457202"/>
          </a:xfrm>
        </p:grpSpPr>
        <p:sp>
          <p:nvSpPr>
            <p:cNvPr id="207" name="Pie 100">
              <a:extLst>
                <a:ext uri="{FF2B5EF4-FFF2-40B4-BE49-F238E27FC236}">
                  <a16:creationId xmlns:a16="http://schemas.microsoft.com/office/drawing/2014/main" id="{A37737DC-7603-90B9-64B1-1F0B197BD550}"/>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08" name="Pie 101">
              <a:extLst>
                <a:ext uri="{FF2B5EF4-FFF2-40B4-BE49-F238E27FC236}">
                  <a16:creationId xmlns:a16="http://schemas.microsoft.com/office/drawing/2014/main" id="{78D2D651-2015-4BFB-DC87-799E73F582F8}"/>
                </a:ext>
              </a:extLst>
            </p:cNvPr>
            <p:cNvSpPr/>
            <p:nvPr/>
          </p:nvSpPr>
          <p:spPr bwMode="gray">
            <a:xfrm>
              <a:off x="2362200" y="1633472"/>
              <a:ext cx="457200" cy="457200"/>
            </a:xfrm>
            <a:prstGeom prst="pie">
              <a:avLst>
                <a:gd name="adj1" fmla="val 16200000"/>
                <a:gd name="adj2" fmla="val 10701588"/>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09" name="Group 208">
            <a:extLst>
              <a:ext uri="{FF2B5EF4-FFF2-40B4-BE49-F238E27FC236}">
                <a16:creationId xmlns:a16="http://schemas.microsoft.com/office/drawing/2014/main" id="{DCA84F22-6250-F8C8-221B-F584086DF733}"/>
              </a:ext>
            </a:extLst>
          </p:cNvPr>
          <p:cNvGrpSpPr/>
          <p:nvPr/>
        </p:nvGrpSpPr>
        <p:grpSpPr>
          <a:xfrm>
            <a:off x="4220370" y="2662881"/>
            <a:ext cx="274320" cy="274320"/>
            <a:chOff x="2362200" y="1633472"/>
            <a:chExt cx="457200" cy="457202"/>
          </a:xfrm>
        </p:grpSpPr>
        <p:sp>
          <p:nvSpPr>
            <p:cNvPr id="210" name="Pie 100">
              <a:extLst>
                <a:ext uri="{FF2B5EF4-FFF2-40B4-BE49-F238E27FC236}">
                  <a16:creationId xmlns:a16="http://schemas.microsoft.com/office/drawing/2014/main" id="{7A557DAE-D4E9-66F2-2A0C-F1FBD1D627D0}"/>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11" name="Pie 101">
              <a:extLst>
                <a:ext uri="{FF2B5EF4-FFF2-40B4-BE49-F238E27FC236}">
                  <a16:creationId xmlns:a16="http://schemas.microsoft.com/office/drawing/2014/main" id="{E8CFBE16-492D-4708-CE1B-F1AC8E98FEE5}"/>
                </a:ext>
              </a:extLst>
            </p:cNvPr>
            <p:cNvSpPr/>
            <p:nvPr/>
          </p:nvSpPr>
          <p:spPr bwMode="gray">
            <a:xfrm>
              <a:off x="2362200" y="1633472"/>
              <a:ext cx="457200" cy="457200"/>
            </a:xfrm>
            <a:prstGeom prst="pie">
              <a:avLst>
                <a:gd name="adj1" fmla="val 16200000"/>
                <a:gd name="adj2" fmla="val 8730608"/>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12" name="Group 211">
            <a:extLst>
              <a:ext uri="{FF2B5EF4-FFF2-40B4-BE49-F238E27FC236}">
                <a16:creationId xmlns:a16="http://schemas.microsoft.com/office/drawing/2014/main" id="{D200F015-5FE4-BE5F-AB1A-4F311A695E61}"/>
              </a:ext>
            </a:extLst>
          </p:cNvPr>
          <p:cNvGrpSpPr/>
          <p:nvPr/>
        </p:nvGrpSpPr>
        <p:grpSpPr>
          <a:xfrm>
            <a:off x="7249165" y="4955452"/>
            <a:ext cx="274320" cy="274320"/>
            <a:chOff x="2362200" y="1633472"/>
            <a:chExt cx="457200" cy="457202"/>
          </a:xfrm>
        </p:grpSpPr>
        <p:sp>
          <p:nvSpPr>
            <p:cNvPr id="213" name="Pie 100">
              <a:extLst>
                <a:ext uri="{FF2B5EF4-FFF2-40B4-BE49-F238E27FC236}">
                  <a16:creationId xmlns:a16="http://schemas.microsoft.com/office/drawing/2014/main" id="{8F319545-F177-9CA2-1E89-8C533405374A}"/>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14" name="Pie 101">
              <a:extLst>
                <a:ext uri="{FF2B5EF4-FFF2-40B4-BE49-F238E27FC236}">
                  <a16:creationId xmlns:a16="http://schemas.microsoft.com/office/drawing/2014/main" id="{7AAA8180-8E15-E2A0-49F6-81ECADCBE154}"/>
                </a:ext>
              </a:extLst>
            </p:cNvPr>
            <p:cNvSpPr/>
            <p:nvPr/>
          </p:nvSpPr>
          <p:spPr bwMode="gray">
            <a:xfrm>
              <a:off x="2362200" y="1633472"/>
              <a:ext cx="457200" cy="457200"/>
            </a:xfrm>
            <a:prstGeom prst="pie">
              <a:avLst>
                <a:gd name="adj1" fmla="val 16200000"/>
                <a:gd name="adj2" fmla="val 12329003"/>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15" name="Group 214">
            <a:extLst>
              <a:ext uri="{FF2B5EF4-FFF2-40B4-BE49-F238E27FC236}">
                <a16:creationId xmlns:a16="http://schemas.microsoft.com/office/drawing/2014/main" id="{F59498C2-F2C8-22F6-BE06-D13305E2EE3C}"/>
              </a:ext>
            </a:extLst>
          </p:cNvPr>
          <p:cNvGrpSpPr/>
          <p:nvPr/>
        </p:nvGrpSpPr>
        <p:grpSpPr>
          <a:xfrm>
            <a:off x="4220370" y="3598684"/>
            <a:ext cx="274320" cy="274320"/>
            <a:chOff x="2362200" y="1633472"/>
            <a:chExt cx="457200" cy="457202"/>
          </a:xfrm>
        </p:grpSpPr>
        <p:sp>
          <p:nvSpPr>
            <p:cNvPr id="216" name="Pie 100">
              <a:extLst>
                <a:ext uri="{FF2B5EF4-FFF2-40B4-BE49-F238E27FC236}">
                  <a16:creationId xmlns:a16="http://schemas.microsoft.com/office/drawing/2014/main" id="{6B4BDA74-0B87-D5F9-C4C6-C0CE8AA4A34D}"/>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17" name="Pie 101">
              <a:extLst>
                <a:ext uri="{FF2B5EF4-FFF2-40B4-BE49-F238E27FC236}">
                  <a16:creationId xmlns:a16="http://schemas.microsoft.com/office/drawing/2014/main" id="{C1D4931C-43A5-EA8F-BDC3-7C7A06F1F0B9}"/>
                </a:ext>
              </a:extLst>
            </p:cNvPr>
            <p:cNvSpPr/>
            <p:nvPr/>
          </p:nvSpPr>
          <p:spPr bwMode="gray">
            <a:xfrm>
              <a:off x="2362200" y="1633472"/>
              <a:ext cx="457200" cy="457200"/>
            </a:xfrm>
            <a:prstGeom prst="pie">
              <a:avLst>
                <a:gd name="adj1" fmla="val 16200000"/>
                <a:gd name="adj2" fmla="val 13677745"/>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18" name="Group 217">
            <a:extLst>
              <a:ext uri="{FF2B5EF4-FFF2-40B4-BE49-F238E27FC236}">
                <a16:creationId xmlns:a16="http://schemas.microsoft.com/office/drawing/2014/main" id="{EAB7EE44-C568-E58A-76EF-476973BE00D7}"/>
              </a:ext>
            </a:extLst>
          </p:cNvPr>
          <p:cNvGrpSpPr/>
          <p:nvPr/>
        </p:nvGrpSpPr>
        <p:grpSpPr>
          <a:xfrm>
            <a:off x="7249165" y="3529505"/>
            <a:ext cx="274320" cy="274320"/>
            <a:chOff x="2362200" y="1633472"/>
            <a:chExt cx="457200" cy="457202"/>
          </a:xfrm>
        </p:grpSpPr>
        <p:sp>
          <p:nvSpPr>
            <p:cNvPr id="219" name="Pie 100">
              <a:extLst>
                <a:ext uri="{FF2B5EF4-FFF2-40B4-BE49-F238E27FC236}">
                  <a16:creationId xmlns:a16="http://schemas.microsoft.com/office/drawing/2014/main" id="{3A86B4A6-ECF2-C8B4-7295-BCDE7D9EEBCE}"/>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20" name="Pie 101">
              <a:extLst>
                <a:ext uri="{FF2B5EF4-FFF2-40B4-BE49-F238E27FC236}">
                  <a16:creationId xmlns:a16="http://schemas.microsoft.com/office/drawing/2014/main" id="{0D88E049-3C89-D4B4-4F2F-1BDEC081A0C0}"/>
                </a:ext>
              </a:extLst>
            </p:cNvPr>
            <p:cNvSpPr/>
            <p:nvPr/>
          </p:nvSpPr>
          <p:spPr bwMode="gray">
            <a:xfrm>
              <a:off x="2362200" y="1633472"/>
              <a:ext cx="457200" cy="457200"/>
            </a:xfrm>
            <a:prstGeom prst="pie">
              <a:avLst>
                <a:gd name="adj1" fmla="val 16200000"/>
                <a:gd name="adj2" fmla="val 12329003"/>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21" name="Group 220">
            <a:extLst>
              <a:ext uri="{FF2B5EF4-FFF2-40B4-BE49-F238E27FC236}">
                <a16:creationId xmlns:a16="http://schemas.microsoft.com/office/drawing/2014/main" id="{CF4FCAAB-C02E-8134-9AAB-559EA7B780E5}"/>
              </a:ext>
            </a:extLst>
          </p:cNvPr>
          <p:cNvGrpSpPr/>
          <p:nvPr/>
        </p:nvGrpSpPr>
        <p:grpSpPr>
          <a:xfrm>
            <a:off x="10379624" y="3461525"/>
            <a:ext cx="274320" cy="274320"/>
            <a:chOff x="2362200" y="1633472"/>
            <a:chExt cx="457200" cy="457202"/>
          </a:xfrm>
        </p:grpSpPr>
        <p:sp>
          <p:nvSpPr>
            <p:cNvPr id="222" name="Pie 100">
              <a:extLst>
                <a:ext uri="{FF2B5EF4-FFF2-40B4-BE49-F238E27FC236}">
                  <a16:creationId xmlns:a16="http://schemas.microsoft.com/office/drawing/2014/main" id="{D16AC524-AB94-883B-7872-093A6773B7C0}"/>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23" name="Pie 101">
              <a:extLst>
                <a:ext uri="{FF2B5EF4-FFF2-40B4-BE49-F238E27FC236}">
                  <a16:creationId xmlns:a16="http://schemas.microsoft.com/office/drawing/2014/main" id="{B11C0105-E827-FECD-606A-FE12C9D6D742}"/>
                </a:ext>
              </a:extLst>
            </p:cNvPr>
            <p:cNvSpPr/>
            <p:nvPr/>
          </p:nvSpPr>
          <p:spPr bwMode="gray">
            <a:xfrm>
              <a:off x="2362200" y="1633472"/>
              <a:ext cx="457200" cy="457200"/>
            </a:xfrm>
            <a:prstGeom prst="pie">
              <a:avLst>
                <a:gd name="adj1" fmla="val 16200000"/>
                <a:gd name="adj2" fmla="val 10701588"/>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24" name="Group 223">
            <a:extLst>
              <a:ext uri="{FF2B5EF4-FFF2-40B4-BE49-F238E27FC236}">
                <a16:creationId xmlns:a16="http://schemas.microsoft.com/office/drawing/2014/main" id="{6B3E20CA-E84D-5236-3A25-00E34F5F3657}"/>
              </a:ext>
            </a:extLst>
          </p:cNvPr>
          <p:cNvGrpSpPr/>
          <p:nvPr/>
        </p:nvGrpSpPr>
        <p:grpSpPr>
          <a:xfrm>
            <a:off x="4220370" y="1602349"/>
            <a:ext cx="274320" cy="274320"/>
            <a:chOff x="2362200" y="1633472"/>
            <a:chExt cx="457200" cy="457202"/>
          </a:xfrm>
        </p:grpSpPr>
        <p:sp>
          <p:nvSpPr>
            <p:cNvPr id="225" name="Pie 100">
              <a:extLst>
                <a:ext uri="{FF2B5EF4-FFF2-40B4-BE49-F238E27FC236}">
                  <a16:creationId xmlns:a16="http://schemas.microsoft.com/office/drawing/2014/main" id="{D1BD2CD5-53E3-EB8F-49D0-6C1CD66EBDDE}"/>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26" name="Pie 101">
              <a:extLst>
                <a:ext uri="{FF2B5EF4-FFF2-40B4-BE49-F238E27FC236}">
                  <a16:creationId xmlns:a16="http://schemas.microsoft.com/office/drawing/2014/main" id="{849F3558-7D4D-7DA0-D41A-0BCB4B516624}"/>
                </a:ext>
              </a:extLst>
            </p:cNvPr>
            <p:cNvSpPr/>
            <p:nvPr/>
          </p:nvSpPr>
          <p:spPr bwMode="gray">
            <a:xfrm>
              <a:off x="2362200" y="1633472"/>
              <a:ext cx="457200" cy="457200"/>
            </a:xfrm>
            <a:prstGeom prst="pie">
              <a:avLst>
                <a:gd name="adj1" fmla="val 16200000"/>
                <a:gd name="adj2" fmla="val 10701588"/>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27" name="Group 226">
            <a:extLst>
              <a:ext uri="{FF2B5EF4-FFF2-40B4-BE49-F238E27FC236}">
                <a16:creationId xmlns:a16="http://schemas.microsoft.com/office/drawing/2014/main" id="{73B5B82D-F136-BE7D-E90F-16D850C24DA4}"/>
              </a:ext>
            </a:extLst>
          </p:cNvPr>
          <p:cNvGrpSpPr/>
          <p:nvPr/>
        </p:nvGrpSpPr>
        <p:grpSpPr>
          <a:xfrm>
            <a:off x="7249165" y="1589918"/>
            <a:ext cx="274320" cy="274320"/>
            <a:chOff x="2362200" y="1633472"/>
            <a:chExt cx="457200" cy="457202"/>
          </a:xfrm>
        </p:grpSpPr>
        <p:sp>
          <p:nvSpPr>
            <p:cNvPr id="228" name="Pie 100">
              <a:extLst>
                <a:ext uri="{FF2B5EF4-FFF2-40B4-BE49-F238E27FC236}">
                  <a16:creationId xmlns:a16="http://schemas.microsoft.com/office/drawing/2014/main" id="{AB06FAE0-9FFB-4CDC-CABF-77CD2EEA98B3}"/>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29" name="Pie 101">
              <a:extLst>
                <a:ext uri="{FF2B5EF4-FFF2-40B4-BE49-F238E27FC236}">
                  <a16:creationId xmlns:a16="http://schemas.microsoft.com/office/drawing/2014/main" id="{40B3C29B-F17D-84A4-DFF0-E9B9C3770D2A}"/>
                </a:ext>
              </a:extLst>
            </p:cNvPr>
            <p:cNvSpPr/>
            <p:nvPr/>
          </p:nvSpPr>
          <p:spPr bwMode="gray">
            <a:xfrm>
              <a:off x="2362200" y="1633472"/>
              <a:ext cx="457200" cy="457200"/>
            </a:xfrm>
            <a:prstGeom prst="pie">
              <a:avLst>
                <a:gd name="adj1" fmla="val 16200000"/>
                <a:gd name="adj2" fmla="val 12329003"/>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30" name="Group 229">
            <a:extLst>
              <a:ext uri="{FF2B5EF4-FFF2-40B4-BE49-F238E27FC236}">
                <a16:creationId xmlns:a16="http://schemas.microsoft.com/office/drawing/2014/main" id="{C4A0A121-ED6B-08D3-8B39-9AF0A4A0C6B5}"/>
              </a:ext>
            </a:extLst>
          </p:cNvPr>
          <p:cNvGrpSpPr/>
          <p:nvPr/>
        </p:nvGrpSpPr>
        <p:grpSpPr>
          <a:xfrm>
            <a:off x="10375772" y="1602349"/>
            <a:ext cx="274320" cy="274320"/>
            <a:chOff x="2362200" y="1633472"/>
            <a:chExt cx="457200" cy="457202"/>
          </a:xfrm>
        </p:grpSpPr>
        <p:sp>
          <p:nvSpPr>
            <p:cNvPr id="231" name="Pie 100">
              <a:extLst>
                <a:ext uri="{FF2B5EF4-FFF2-40B4-BE49-F238E27FC236}">
                  <a16:creationId xmlns:a16="http://schemas.microsoft.com/office/drawing/2014/main" id="{129C28C7-FA3F-CCF9-B3D8-9DA4A8D2424C}"/>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32" name="Pie 101">
              <a:extLst>
                <a:ext uri="{FF2B5EF4-FFF2-40B4-BE49-F238E27FC236}">
                  <a16:creationId xmlns:a16="http://schemas.microsoft.com/office/drawing/2014/main" id="{0F67ABE6-1AAD-6935-1794-E3BAB3949C4F}"/>
                </a:ext>
              </a:extLst>
            </p:cNvPr>
            <p:cNvSpPr/>
            <p:nvPr/>
          </p:nvSpPr>
          <p:spPr bwMode="gray">
            <a:xfrm>
              <a:off x="2362200" y="1633472"/>
              <a:ext cx="457200" cy="457200"/>
            </a:xfrm>
            <a:prstGeom prst="pie">
              <a:avLst>
                <a:gd name="adj1" fmla="val 16200000"/>
                <a:gd name="adj2" fmla="val 11711287"/>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33" name="Group 232">
            <a:extLst>
              <a:ext uri="{FF2B5EF4-FFF2-40B4-BE49-F238E27FC236}">
                <a16:creationId xmlns:a16="http://schemas.microsoft.com/office/drawing/2014/main" id="{240AE8B5-98DA-27D4-58F8-4DB947D43DDE}"/>
              </a:ext>
            </a:extLst>
          </p:cNvPr>
          <p:cNvGrpSpPr/>
          <p:nvPr/>
        </p:nvGrpSpPr>
        <p:grpSpPr>
          <a:xfrm>
            <a:off x="7249165" y="2627361"/>
            <a:ext cx="274320" cy="274320"/>
            <a:chOff x="2362200" y="1633472"/>
            <a:chExt cx="457200" cy="457202"/>
          </a:xfrm>
        </p:grpSpPr>
        <p:sp>
          <p:nvSpPr>
            <p:cNvPr id="234" name="Pie 100">
              <a:extLst>
                <a:ext uri="{FF2B5EF4-FFF2-40B4-BE49-F238E27FC236}">
                  <a16:creationId xmlns:a16="http://schemas.microsoft.com/office/drawing/2014/main" id="{5CC92EF9-97EE-AC18-828A-0BBCBA81117E}"/>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35" name="Pie 101">
              <a:extLst>
                <a:ext uri="{FF2B5EF4-FFF2-40B4-BE49-F238E27FC236}">
                  <a16:creationId xmlns:a16="http://schemas.microsoft.com/office/drawing/2014/main" id="{7F1C6CBF-409B-A101-097F-2BA620CB210F}"/>
                </a:ext>
              </a:extLst>
            </p:cNvPr>
            <p:cNvSpPr/>
            <p:nvPr/>
          </p:nvSpPr>
          <p:spPr bwMode="gray">
            <a:xfrm>
              <a:off x="2362200" y="1633472"/>
              <a:ext cx="457200" cy="457200"/>
            </a:xfrm>
            <a:prstGeom prst="pie">
              <a:avLst>
                <a:gd name="adj1" fmla="val 16200000"/>
                <a:gd name="adj2" fmla="val 12329003"/>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grpSp>
        <p:nvGrpSpPr>
          <p:cNvPr id="236" name="Group 235">
            <a:extLst>
              <a:ext uri="{FF2B5EF4-FFF2-40B4-BE49-F238E27FC236}">
                <a16:creationId xmlns:a16="http://schemas.microsoft.com/office/drawing/2014/main" id="{E3037F80-57AE-6FA4-B529-D5CA58D275F2}"/>
              </a:ext>
            </a:extLst>
          </p:cNvPr>
          <p:cNvGrpSpPr/>
          <p:nvPr/>
        </p:nvGrpSpPr>
        <p:grpSpPr>
          <a:xfrm>
            <a:off x="10375772" y="2525721"/>
            <a:ext cx="274320" cy="274320"/>
            <a:chOff x="2362200" y="1633472"/>
            <a:chExt cx="457200" cy="457202"/>
          </a:xfrm>
        </p:grpSpPr>
        <p:sp>
          <p:nvSpPr>
            <p:cNvPr id="237" name="Pie 100">
              <a:extLst>
                <a:ext uri="{FF2B5EF4-FFF2-40B4-BE49-F238E27FC236}">
                  <a16:creationId xmlns:a16="http://schemas.microsoft.com/office/drawing/2014/main" id="{A6E3AFC9-847B-5DDE-F3E6-99C5C4FA3A7B}"/>
                </a:ext>
              </a:extLst>
            </p:cNvPr>
            <p:cNvSpPr/>
            <p:nvPr/>
          </p:nvSpPr>
          <p:spPr bwMode="gray">
            <a:xfrm>
              <a:off x="2362200" y="1633474"/>
              <a:ext cx="457200" cy="457200"/>
            </a:xfrm>
            <a:prstGeom prst="pie">
              <a:avLst>
                <a:gd name="adj1" fmla="val 8558580"/>
                <a:gd name="adj2" fmla="val 16200000"/>
              </a:avLst>
            </a:prstGeom>
            <a:no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sp>
          <p:nvSpPr>
            <p:cNvPr id="238" name="Pie 101">
              <a:extLst>
                <a:ext uri="{FF2B5EF4-FFF2-40B4-BE49-F238E27FC236}">
                  <a16:creationId xmlns:a16="http://schemas.microsoft.com/office/drawing/2014/main" id="{D1F0FA23-7060-7174-AE3B-E903EA5B8E35}"/>
                </a:ext>
              </a:extLst>
            </p:cNvPr>
            <p:cNvSpPr/>
            <p:nvPr/>
          </p:nvSpPr>
          <p:spPr bwMode="gray">
            <a:xfrm>
              <a:off x="2362200" y="1633472"/>
              <a:ext cx="457200" cy="457200"/>
            </a:xfrm>
            <a:prstGeom prst="pie">
              <a:avLst>
                <a:gd name="adj1" fmla="val 16200000"/>
                <a:gd name="adj2" fmla="val 11711287"/>
              </a:avLst>
            </a:prstGeom>
            <a:solidFill>
              <a:srgbClr val="25A9E0"/>
            </a:solidFill>
            <a:ln w="6350" cmpd="sng" algn="ctr">
              <a:solidFill>
                <a:srgbClr val="000000"/>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srgbClr val="F7F5F3"/>
                </a:solidFill>
                <a:effectLst/>
                <a:uLnTx/>
                <a:uFillTx/>
                <a:latin typeface="Open Sans"/>
              </a:endParaRPr>
            </a:p>
          </p:txBody>
        </p:sp>
      </p:grpSp>
      <p:sp>
        <p:nvSpPr>
          <p:cNvPr id="239" name="Rectangle 238">
            <a:extLst>
              <a:ext uri="{FF2B5EF4-FFF2-40B4-BE49-F238E27FC236}">
                <a16:creationId xmlns:a16="http://schemas.microsoft.com/office/drawing/2014/main" id="{F3463504-A7E2-D8C9-783F-20F364DDE12F}"/>
              </a:ext>
            </a:extLst>
          </p:cNvPr>
          <p:cNvSpPr/>
          <p:nvPr/>
        </p:nvSpPr>
        <p:spPr bwMode="gray">
          <a:xfrm>
            <a:off x="1906039" y="10375"/>
            <a:ext cx="8744053" cy="334099"/>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We had ratings out of 5 for each of these parameter which were converted to Harvey ball. Next set of slides are detailed in nature.</a:t>
            </a:r>
          </a:p>
          <a:p>
            <a:pPr algn="ctr">
              <a:lnSpc>
                <a:spcPct val="106000"/>
              </a:lnSpc>
              <a:buFont typeface="Wingdings 2" pitchFamily="18" charset="2"/>
              <a:buNone/>
            </a:pPr>
            <a:r>
              <a:rPr lang="en-US" sz="1050" b="1" dirty="0">
                <a:solidFill>
                  <a:schemeClr val="bg1"/>
                </a:solidFill>
              </a:rPr>
              <a:t>Proper tool selection can be obtained post clear requirement discovery by Prudential</a:t>
            </a:r>
          </a:p>
        </p:txBody>
      </p:sp>
    </p:spTree>
    <p:extLst>
      <p:ext uri="{BB962C8B-B14F-4D97-AF65-F5344CB8AC3E}">
        <p14:creationId xmlns:p14="http://schemas.microsoft.com/office/powerpoint/2010/main" val="221540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4AB38-6526-47F8-9405-93BB813AF519}"/>
              </a:ext>
            </a:extLst>
          </p:cNvPr>
          <p:cNvSpPr txBox="1">
            <a:spLocks/>
          </p:cNvSpPr>
          <p:nvPr/>
        </p:nvSpPr>
        <p:spPr>
          <a:xfrm>
            <a:off x="382527" y="4785691"/>
            <a:ext cx="5095421" cy="1592403"/>
          </a:xfrm>
          <a:prstGeom prst="rect">
            <a:avLst/>
          </a:prstGeom>
        </p:spPr>
        <p:txBody>
          <a:bodyPr/>
          <a:lstStyle>
            <a:lvl1pPr algn="l" defTabSz="685800" rtl="0" eaLnBrk="1" latinLnBrk="0" hangingPunct="1">
              <a:spcBef>
                <a:spcPct val="0"/>
              </a:spcBef>
              <a:buNone/>
              <a:defRPr sz="2100" b="1" kern="1200">
                <a:solidFill>
                  <a:schemeClr val="tx1"/>
                </a:solidFill>
                <a:latin typeface="+mn-lt"/>
                <a:ea typeface="+mj-ea"/>
                <a:cs typeface="Calibri Light" panose="020F0302020204030204" pitchFamily="34" charset="0"/>
              </a:defRPr>
            </a:lvl1pPr>
          </a:lstStyle>
          <a:p>
            <a:r>
              <a:rPr lang="en-US" sz="3600" dirty="0">
                <a:solidFill>
                  <a:schemeClr val="bg1"/>
                </a:solidFill>
              </a:rPr>
              <a:t>Appendix</a:t>
            </a:r>
            <a:endParaRPr lang="en-US" dirty="0">
              <a:solidFill>
                <a:schemeClr val="bg1"/>
              </a:solidFill>
            </a:endParaRPr>
          </a:p>
        </p:txBody>
      </p:sp>
    </p:spTree>
    <p:extLst>
      <p:ext uri="{BB962C8B-B14F-4D97-AF65-F5344CB8AC3E}">
        <p14:creationId xmlns:p14="http://schemas.microsoft.com/office/powerpoint/2010/main" val="340247357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b="0" dirty="0">
                <a:ea typeface="Open Sans"/>
                <a:cs typeface="Open Sans"/>
              </a:rPr>
              <a:t>High level </a:t>
            </a:r>
            <a:r>
              <a:rPr lang="en-US" sz="2200" dirty="0">
                <a:solidFill>
                  <a:srgbClr val="00B050"/>
                </a:solidFill>
                <a:ea typeface="Open Sans"/>
                <a:cs typeface="Open Sans"/>
              </a:rPr>
              <a:t>activities</a:t>
            </a:r>
            <a:r>
              <a:rPr lang="en-US" sz="2200" b="0" dirty="0">
                <a:ea typeface="Open Sans"/>
                <a:cs typeface="Open Sans"/>
              </a:rPr>
              <a:t> by each release</a:t>
            </a:r>
          </a:p>
        </p:txBody>
      </p:sp>
      <p:graphicFrame>
        <p:nvGraphicFramePr>
          <p:cNvPr id="4" name="Table 3">
            <a:extLst>
              <a:ext uri="{FF2B5EF4-FFF2-40B4-BE49-F238E27FC236}">
                <a16:creationId xmlns:a16="http://schemas.microsoft.com/office/drawing/2014/main" id="{D1457A27-5303-F5BA-35D4-0C9891AF75A3}"/>
              </a:ext>
            </a:extLst>
          </p:cNvPr>
          <p:cNvGraphicFramePr>
            <a:graphicFrameLocks noGrp="1"/>
          </p:cNvGraphicFramePr>
          <p:nvPr/>
        </p:nvGraphicFramePr>
        <p:xfrm>
          <a:off x="597147" y="949879"/>
          <a:ext cx="11359577" cy="4892040"/>
        </p:xfrm>
        <a:graphic>
          <a:graphicData uri="http://schemas.openxmlformats.org/drawingml/2006/table">
            <a:tbl>
              <a:tblPr firstRow="1" bandRow="1">
                <a:tableStyleId>{5C22544A-7EE6-4342-B048-85BDC9FD1C3A}</a:tableStyleId>
              </a:tblPr>
              <a:tblGrid>
                <a:gridCol w="5143589">
                  <a:extLst>
                    <a:ext uri="{9D8B030D-6E8A-4147-A177-3AD203B41FA5}">
                      <a16:colId xmlns:a16="http://schemas.microsoft.com/office/drawing/2014/main" val="1513864576"/>
                    </a:ext>
                  </a:extLst>
                </a:gridCol>
                <a:gridCol w="517999">
                  <a:extLst>
                    <a:ext uri="{9D8B030D-6E8A-4147-A177-3AD203B41FA5}">
                      <a16:colId xmlns:a16="http://schemas.microsoft.com/office/drawing/2014/main" val="1569098066"/>
                    </a:ext>
                  </a:extLst>
                </a:gridCol>
                <a:gridCol w="517999">
                  <a:extLst>
                    <a:ext uri="{9D8B030D-6E8A-4147-A177-3AD203B41FA5}">
                      <a16:colId xmlns:a16="http://schemas.microsoft.com/office/drawing/2014/main" val="2556691916"/>
                    </a:ext>
                  </a:extLst>
                </a:gridCol>
                <a:gridCol w="517999">
                  <a:extLst>
                    <a:ext uri="{9D8B030D-6E8A-4147-A177-3AD203B41FA5}">
                      <a16:colId xmlns:a16="http://schemas.microsoft.com/office/drawing/2014/main" val="3959318924"/>
                    </a:ext>
                  </a:extLst>
                </a:gridCol>
                <a:gridCol w="517999">
                  <a:extLst>
                    <a:ext uri="{9D8B030D-6E8A-4147-A177-3AD203B41FA5}">
                      <a16:colId xmlns:a16="http://schemas.microsoft.com/office/drawing/2014/main" val="770214799"/>
                    </a:ext>
                  </a:extLst>
                </a:gridCol>
                <a:gridCol w="517999">
                  <a:extLst>
                    <a:ext uri="{9D8B030D-6E8A-4147-A177-3AD203B41FA5}">
                      <a16:colId xmlns:a16="http://schemas.microsoft.com/office/drawing/2014/main" val="3108044421"/>
                    </a:ext>
                  </a:extLst>
                </a:gridCol>
                <a:gridCol w="517999">
                  <a:extLst>
                    <a:ext uri="{9D8B030D-6E8A-4147-A177-3AD203B41FA5}">
                      <a16:colId xmlns:a16="http://schemas.microsoft.com/office/drawing/2014/main" val="810010294"/>
                    </a:ext>
                  </a:extLst>
                </a:gridCol>
                <a:gridCol w="517999">
                  <a:extLst>
                    <a:ext uri="{9D8B030D-6E8A-4147-A177-3AD203B41FA5}">
                      <a16:colId xmlns:a16="http://schemas.microsoft.com/office/drawing/2014/main" val="1285395092"/>
                    </a:ext>
                  </a:extLst>
                </a:gridCol>
                <a:gridCol w="517999">
                  <a:extLst>
                    <a:ext uri="{9D8B030D-6E8A-4147-A177-3AD203B41FA5}">
                      <a16:colId xmlns:a16="http://schemas.microsoft.com/office/drawing/2014/main" val="4085027434"/>
                    </a:ext>
                  </a:extLst>
                </a:gridCol>
                <a:gridCol w="517999">
                  <a:extLst>
                    <a:ext uri="{9D8B030D-6E8A-4147-A177-3AD203B41FA5}">
                      <a16:colId xmlns:a16="http://schemas.microsoft.com/office/drawing/2014/main" val="3944331230"/>
                    </a:ext>
                  </a:extLst>
                </a:gridCol>
                <a:gridCol w="517999">
                  <a:extLst>
                    <a:ext uri="{9D8B030D-6E8A-4147-A177-3AD203B41FA5}">
                      <a16:colId xmlns:a16="http://schemas.microsoft.com/office/drawing/2014/main" val="3289465556"/>
                    </a:ext>
                  </a:extLst>
                </a:gridCol>
                <a:gridCol w="517999">
                  <a:extLst>
                    <a:ext uri="{9D8B030D-6E8A-4147-A177-3AD203B41FA5}">
                      <a16:colId xmlns:a16="http://schemas.microsoft.com/office/drawing/2014/main" val="4140158680"/>
                    </a:ext>
                  </a:extLst>
                </a:gridCol>
                <a:gridCol w="517999">
                  <a:extLst>
                    <a:ext uri="{9D8B030D-6E8A-4147-A177-3AD203B41FA5}">
                      <a16:colId xmlns:a16="http://schemas.microsoft.com/office/drawing/2014/main" val="198639958"/>
                    </a:ext>
                  </a:extLst>
                </a:gridCol>
              </a:tblGrid>
              <a:tr h="208913">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900" b="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800">
                          <a:solidFill>
                            <a:schemeClr val="tx1"/>
                          </a:solidFill>
                        </a:rPr>
                        <a:t>M1</a:t>
                      </a:r>
                    </a:p>
                  </a:txBody>
                  <a:tcPr>
                    <a:lnL w="12700" cap="flat" cmpd="sng" algn="ctr">
                      <a:noFill/>
                      <a:prstDash val="solid"/>
                      <a:round/>
                      <a:headEnd type="none" w="med" len="med"/>
                      <a:tailEnd type="none" w="med" len="med"/>
                    </a:lnL>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M2</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M3</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M4</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M5</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M6</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M7</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M8</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M9</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M10</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M11</a:t>
                      </a:r>
                    </a:p>
                  </a:txBody>
                  <a:tcPr>
                    <a:lnB w="6350" cap="flat" cmpd="sng" algn="ctr">
                      <a:solidFill>
                        <a:schemeClr val="bg1">
                          <a:lumMod val="50000"/>
                        </a:schemeClr>
                      </a:solidFill>
                      <a:prstDash val="solid"/>
                      <a:round/>
                      <a:headEnd type="none" w="med" len="med"/>
                      <a:tailEnd type="none" w="med" len="med"/>
                    </a:lnB>
                    <a:noFill/>
                  </a:tcPr>
                </a:tc>
                <a:tc>
                  <a:txBody>
                    <a:bodyPr/>
                    <a:lstStyle/>
                    <a:p>
                      <a:pPr algn="ctr"/>
                      <a:r>
                        <a:rPr lang="en-US" sz="800">
                          <a:solidFill>
                            <a:schemeClr val="tx1"/>
                          </a:solidFill>
                        </a:rPr>
                        <a:t>M12</a:t>
                      </a:r>
                    </a:p>
                  </a:txBody>
                  <a:tcPr>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298974"/>
                  </a:ext>
                </a:extLst>
              </a:tr>
              <a:tr h="208913">
                <a:tc>
                  <a:txBody>
                    <a:bodyPr/>
                    <a:lstStyle/>
                    <a:p>
                      <a:pPr>
                        <a:spcAft>
                          <a:spcPts val="600"/>
                        </a:spcAft>
                        <a:defRPr/>
                      </a:pPr>
                      <a:r>
                        <a:rPr lang="en-US" sz="1000" i="1">
                          <a:ea typeface="Open Sans" panose="020B0606030504020204" pitchFamily="34" charset="0"/>
                          <a:cs typeface="Open Sans" panose="020B0606030504020204" pitchFamily="34" charset="0"/>
                        </a:rPr>
                        <a:t>Define limited user-personas with roles &amp; responsibilities to access data marketplace</a:t>
                      </a:r>
                    </a:p>
                  </a:txBody>
                  <a:tcPr anchor="ctr">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alpha val="56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17561339"/>
                  </a:ext>
                </a:extLst>
              </a:tr>
              <a:tr h="208913">
                <a:tc>
                  <a:txBody>
                    <a:bodyPr/>
                    <a:lstStyle/>
                    <a:p>
                      <a:pPr>
                        <a:spcAft>
                          <a:spcPts val="600"/>
                        </a:spcAft>
                        <a:defRPr/>
                      </a:pPr>
                      <a:r>
                        <a:rPr lang="en-US" sz="1000" i="1">
                          <a:ea typeface="Open Sans" panose="020B0606030504020204" pitchFamily="34" charset="0"/>
                          <a:cs typeface="Open Sans" panose="020B0606030504020204" pitchFamily="34" charset="0"/>
                        </a:rPr>
                        <a:t>Demand driven data provisioning from AWS and Snowflake EDP into Data Marketplace</a:t>
                      </a:r>
                    </a:p>
                  </a:txBody>
                  <a:tcPr anchor="ctr">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alpha val="56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82181538"/>
                  </a:ext>
                </a:extLst>
              </a:tr>
              <a:tr h="243567">
                <a:tc>
                  <a:txBody>
                    <a:bodyPr/>
                    <a:lstStyle/>
                    <a:p>
                      <a:pPr>
                        <a:spcAft>
                          <a:spcPts val="600"/>
                        </a:spcAft>
                        <a:defRPr/>
                      </a:pPr>
                      <a:r>
                        <a:rPr lang="en-US" sz="1000" i="1">
                          <a:ea typeface="Open Sans" panose="020B0606030504020204" pitchFamily="34" charset="0"/>
                          <a:cs typeface="Open Sans" panose="020B0606030504020204" pitchFamily="34" charset="0"/>
                        </a:rPr>
                        <a:t>Build access framework and configure rules to provide access to limited users</a:t>
                      </a:r>
                    </a:p>
                  </a:txBody>
                  <a:tcPr anchor="ctr">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alpha val="56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17043092"/>
                  </a:ext>
                </a:extLst>
              </a:tr>
              <a:tr h="208913">
                <a:tc>
                  <a:txBody>
                    <a:bodyPr/>
                    <a:lstStyle/>
                    <a:p>
                      <a:pPr>
                        <a:spcAft>
                          <a:spcPts val="600"/>
                        </a:spcAft>
                        <a:defRPr/>
                      </a:pPr>
                      <a:r>
                        <a:rPr lang="en-US" sz="1000" i="1">
                          <a:ea typeface="Open Sans" panose="020B0606030504020204" pitchFamily="34" charset="0"/>
                          <a:cs typeface="Open Sans" panose="020B0606030504020204" pitchFamily="34" charset="0"/>
                        </a:rPr>
                        <a:t>Define data taxonomy and ontology to organize data and map data assets to defined taxonomy</a:t>
                      </a:r>
                    </a:p>
                  </a:txBody>
                  <a:tcPr anchor="ctr">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alpha val="56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7991464"/>
                  </a:ext>
                </a:extLst>
              </a:tr>
              <a:tr h="208913">
                <a:tc>
                  <a:txBody>
                    <a:bodyPr/>
                    <a:lstStyle/>
                    <a:p>
                      <a:pPr>
                        <a:spcAft>
                          <a:spcPts val="600"/>
                        </a:spcAft>
                        <a:defRPr/>
                      </a:pPr>
                      <a:r>
                        <a:rPr lang="en-US" sz="1000" i="1" dirty="0">
                          <a:ea typeface="Open Sans" panose="020B0606030504020204" pitchFamily="34" charset="0"/>
                          <a:cs typeface="Open Sans" panose="020B0606030504020204" pitchFamily="34" charset="0"/>
                        </a:rPr>
                        <a:t>Increase user adoption (create ~50 user base)</a:t>
                      </a:r>
                    </a:p>
                  </a:txBody>
                  <a:tcPr anchor="ctr">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alpha val="56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76830179"/>
                  </a:ext>
                </a:extLst>
              </a:tr>
              <a:tr h="236750">
                <a:tc>
                  <a:txBody>
                    <a:bodyPr/>
                    <a:lstStyle/>
                    <a:p>
                      <a:pPr>
                        <a:spcAft>
                          <a:spcPts val="600"/>
                        </a:spcAft>
                        <a:defRPr/>
                      </a:pPr>
                      <a:r>
                        <a:rPr lang="en-US" sz="1000" i="1">
                          <a:ea typeface="Open Sans" panose="020B0606030504020204" pitchFamily="34" charset="0"/>
                          <a:cs typeface="Open Sans" panose="020B0606030504020204" pitchFamily="34" charset="0"/>
                        </a:rPr>
                        <a:t>Define domain, sub domains and governance policies including rules/policies and enhance data taxonomy for new data assets</a:t>
                      </a:r>
                    </a:p>
                  </a:txBody>
                  <a:tcPr anchor="ctr">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alpha val="56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8261212"/>
                  </a:ext>
                </a:extLst>
              </a:tr>
              <a:tr h="209959">
                <a:tc>
                  <a:txBody>
                    <a:bodyPr/>
                    <a:lstStyle/>
                    <a:p>
                      <a:pPr>
                        <a:spcAft>
                          <a:spcPts val="600"/>
                        </a:spcAft>
                        <a:defRPr/>
                      </a:pPr>
                      <a:r>
                        <a:rPr lang="en-US" sz="1000" i="1">
                          <a:ea typeface="Open Sans" panose="020B0606030504020204" pitchFamily="34" charset="0"/>
                          <a:cs typeface="Open Sans" panose="020B0606030504020204" pitchFamily="34" charset="0"/>
                        </a:rPr>
                        <a:t>Define consumption patterns i.e. API access, object storage, etc.</a:t>
                      </a:r>
                    </a:p>
                  </a:txBody>
                  <a:tcPr anchor="ctr">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alpha val="56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17091030"/>
                  </a:ext>
                </a:extLst>
              </a:tr>
              <a:tr h="208913">
                <a:tc>
                  <a:txBody>
                    <a:bodyPr/>
                    <a:lstStyle/>
                    <a:p>
                      <a:pPr>
                        <a:spcAft>
                          <a:spcPts val="600"/>
                        </a:spcAft>
                        <a:defRPr/>
                      </a:pPr>
                      <a:r>
                        <a:rPr lang="en-US" sz="1000" i="1" dirty="0">
                          <a:ea typeface="Open Sans" panose="020B0606030504020204" pitchFamily="34" charset="0"/>
                          <a:cs typeface="Open Sans" panose="020B0606030504020204" pitchFamily="34" charset="0"/>
                        </a:rPr>
                        <a:t>Integrate data marketplace portal with newer data assets i.e. Tableau, model 365</a:t>
                      </a:r>
                    </a:p>
                  </a:txBody>
                  <a:tcPr anchor="ctr">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20000"/>
                        <a:lumOff val="80000"/>
                        <a:alpha val="56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7714287"/>
                  </a:ext>
                </a:extLst>
              </a:tr>
              <a:tr h="208913">
                <a:tc>
                  <a:txBody>
                    <a:bodyPr/>
                    <a:lstStyle/>
                    <a:p>
                      <a:pPr marL="0" marR="0" lvl="0" indent="0" algn="l" defTabSz="685800" rtl="0" eaLnBrk="1" fontAlgn="auto" latinLnBrk="0" hangingPunct="1">
                        <a:lnSpc>
                          <a:spcPct val="100000"/>
                        </a:lnSpc>
                        <a:spcBef>
                          <a:spcPts val="0"/>
                        </a:spcBef>
                        <a:spcAft>
                          <a:spcPts val="600"/>
                        </a:spcAft>
                        <a:buClrTx/>
                        <a:buSzTx/>
                        <a:buFontTx/>
                        <a:buNone/>
                        <a:tabLst/>
                        <a:defRPr/>
                      </a:pPr>
                      <a:r>
                        <a:rPr lang="en-US" sz="1000" i="1">
                          <a:ea typeface="Open Sans" panose="020B0606030504020204" pitchFamily="34" charset="0"/>
                          <a:cs typeface="Open Sans" panose="020B0606030504020204" pitchFamily="34" charset="0"/>
                        </a:rPr>
                        <a:t>Workflow based access provisioning mechanism to grant quick access to requested data asset </a:t>
                      </a:r>
                    </a:p>
                  </a:txBody>
                  <a:tcPr anchor="ctr">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20000"/>
                        <a:lumOff val="80000"/>
                        <a:alpha val="56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71189677"/>
                  </a:ext>
                </a:extLst>
              </a:tr>
              <a:tr h="208913">
                <a:tc>
                  <a:txBody>
                    <a:bodyPr/>
                    <a:lstStyle/>
                    <a:p>
                      <a:pPr marL="0" marR="0" lvl="0" indent="0" algn="l" defTabSz="685800" rtl="0" eaLnBrk="1" fontAlgn="auto" latinLnBrk="0" hangingPunct="1">
                        <a:lnSpc>
                          <a:spcPct val="100000"/>
                        </a:lnSpc>
                        <a:spcBef>
                          <a:spcPts val="0"/>
                        </a:spcBef>
                        <a:spcAft>
                          <a:spcPts val="600"/>
                        </a:spcAft>
                        <a:buClrTx/>
                        <a:buSzTx/>
                        <a:buFontTx/>
                        <a:buNone/>
                        <a:tabLst/>
                        <a:defRPr/>
                      </a:pPr>
                      <a:r>
                        <a:rPr lang="en-US" sz="1000" i="1" dirty="0">
                          <a:ea typeface="Open Sans" panose="020B0606030504020204" pitchFamily="34" charset="0"/>
                          <a:cs typeface="Open Sans" panose="020B0606030504020204" pitchFamily="34" charset="0"/>
                        </a:rPr>
                        <a:t>Elevate user utilization(advance user onboarding)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alpha val="50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09461"/>
                  </a:ext>
                </a:extLst>
              </a:tr>
              <a:tr h="208913">
                <a:tc>
                  <a:txBody>
                    <a:bodyPr/>
                    <a:lstStyle/>
                    <a:p>
                      <a:pPr>
                        <a:spcAft>
                          <a:spcPts val="600"/>
                        </a:spcAft>
                        <a:defRPr/>
                      </a:pPr>
                      <a:r>
                        <a:rPr lang="en-US" sz="1000" i="1" dirty="0">
                          <a:ea typeface="Open Sans" panose="020B0606030504020204" pitchFamily="34" charset="0"/>
                          <a:cs typeface="Open Sans" panose="020B0606030504020204" pitchFamily="34" charset="0"/>
                        </a:rPr>
                        <a:t>Enabling cross functional and enterprise-wide usage by providing access to all consumers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alpha val="50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8538954"/>
                  </a:ext>
                </a:extLst>
              </a:tr>
              <a:tr h="208913">
                <a:tc>
                  <a:txBody>
                    <a:bodyPr/>
                    <a:lstStyle/>
                    <a:p>
                      <a:pPr>
                        <a:spcAft>
                          <a:spcPts val="600"/>
                        </a:spcAft>
                        <a:defRPr/>
                      </a:pPr>
                      <a:r>
                        <a:rPr lang="en-US" sz="1000" i="1">
                          <a:ea typeface="Open Sans" panose="020B0606030504020204" pitchFamily="34" charset="0"/>
                          <a:cs typeface="Open Sans" panose="020B0606030504020204" pitchFamily="34" charset="0"/>
                        </a:rPr>
                        <a:t>Provide data wrangling/ munging capabilities on marketplace to enable users to self-serve by combining data sets to meet their needs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alpha val="50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93647387"/>
                  </a:ext>
                </a:extLst>
              </a:tr>
              <a:tr h="208913">
                <a:tc>
                  <a:txBody>
                    <a:bodyPr/>
                    <a:lstStyle/>
                    <a:p>
                      <a:pPr>
                        <a:spcAft>
                          <a:spcPts val="600"/>
                        </a:spcAft>
                        <a:defRPr/>
                      </a:pPr>
                      <a:r>
                        <a:rPr lang="en-US" sz="1000" i="1" dirty="0">
                          <a:ea typeface="Open Sans" panose="020B0606030504020204" pitchFamily="34" charset="0"/>
                          <a:cs typeface="Open Sans" panose="020B0606030504020204" pitchFamily="34" charset="0"/>
                        </a:rPr>
                        <a:t>Curated and consumable digital information derived from one or more datasets to support  generation of business insights and outcomes.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alpha val="50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8076378"/>
                  </a:ext>
                </a:extLst>
              </a:tr>
              <a:tr h="208913">
                <a:tc>
                  <a:txBody>
                    <a:bodyPr/>
                    <a:lstStyle/>
                    <a:p>
                      <a:pPr>
                        <a:spcAft>
                          <a:spcPts val="600"/>
                        </a:spcAft>
                        <a:defRPr/>
                      </a:pPr>
                      <a:r>
                        <a:rPr lang="en-US" sz="1000" i="1" dirty="0">
                          <a:ea typeface="Open Sans" panose="020B0606030504020204" pitchFamily="34" charset="0"/>
                          <a:cs typeface="Open Sans" panose="020B0606030504020204" pitchFamily="34" charset="0"/>
                        </a:rPr>
                        <a:t>Further integrate the data marketplace portal with additional data assets to ensure ongoing optimization and expansion.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alpha val="50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56526724"/>
                  </a:ext>
                </a:extLst>
              </a:tr>
              <a:tr h="208913">
                <a:tc>
                  <a:txBody>
                    <a:bodyPr/>
                    <a:lstStyle/>
                    <a:p>
                      <a:pPr>
                        <a:spcAft>
                          <a:spcPts val="600"/>
                        </a:spcAft>
                        <a:defRPr/>
                      </a:pPr>
                      <a:r>
                        <a:rPr lang="en-US" sz="1000" i="1" dirty="0">
                          <a:ea typeface="Open Sans" panose="020B0606030504020204" pitchFamily="34" charset="0"/>
                          <a:cs typeface="Open Sans" panose="020B0606030504020204" pitchFamily="34" charset="0"/>
                        </a:rPr>
                        <a:t>Establishing and publishing governance rules to marketplace for building trust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alpha val="50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66616115"/>
                  </a:ext>
                </a:extLst>
              </a:tr>
              <a:tr h="208913">
                <a:tc>
                  <a:txBody>
                    <a:bodyPr/>
                    <a:lstStyle/>
                    <a:p>
                      <a:pPr>
                        <a:spcAft>
                          <a:spcPts val="600"/>
                        </a:spcAft>
                        <a:defRPr/>
                      </a:pPr>
                      <a:r>
                        <a:rPr lang="en-US" sz="1000" i="1">
                          <a:ea typeface="Open Sans" panose="020B0606030504020204" pitchFamily="34" charset="0"/>
                          <a:cs typeface="Open Sans" panose="020B0606030504020204" pitchFamily="34" charset="0"/>
                        </a:rPr>
                        <a:t>Self-service and personalization features allowing users to search data products based on tags, metadata and provide data preview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alpha val="50000"/>
                      </a:schemeClr>
                    </a:solidFill>
                  </a:tcPr>
                </a:tc>
                <a:tc>
                  <a:txBody>
                    <a:bodyPr/>
                    <a:lstStyle/>
                    <a:p>
                      <a:endParaRPr lang="en-US" sz="900">
                        <a:solidFill>
                          <a:schemeClr val="tx1"/>
                        </a:solidFill>
                      </a:endParaRPr>
                    </a:p>
                  </a:txBody>
                  <a:tcPr>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6350" cap="flat" cmpd="sng" algn="ctr">
                      <a:solidFill>
                        <a:schemeClr val="bg1">
                          <a:lumMod val="50000"/>
                        </a:schemeClr>
                      </a:solidFill>
                      <a:prstDash val="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US" sz="900" dirty="0">
                        <a:solidFill>
                          <a:schemeClr val="tx1"/>
                        </a:solidFill>
                      </a:endParaRPr>
                    </a:p>
                  </a:txBody>
                  <a:tcP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13477345"/>
                  </a:ext>
                </a:extLst>
              </a:tr>
            </a:tbl>
          </a:graphicData>
        </a:graphic>
      </p:graphicFrame>
      <p:sp>
        <p:nvSpPr>
          <p:cNvPr id="5" name="TextBox 4">
            <a:extLst>
              <a:ext uri="{FF2B5EF4-FFF2-40B4-BE49-F238E27FC236}">
                <a16:creationId xmlns:a16="http://schemas.microsoft.com/office/drawing/2014/main" id="{30688492-CE47-6672-8BCC-03D6E98E9987}"/>
              </a:ext>
            </a:extLst>
          </p:cNvPr>
          <p:cNvSpPr txBox="1"/>
          <p:nvPr/>
        </p:nvSpPr>
        <p:spPr>
          <a:xfrm rot="16200000">
            <a:off x="-60680" y="1600886"/>
            <a:ext cx="1030724" cy="153888"/>
          </a:xfrm>
          <a:prstGeom prst="rect">
            <a:avLst/>
          </a:prstGeom>
          <a:noFill/>
        </p:spPr>
        <p:txBody>
          <a:bodyPr wrap="square" lIns="0" tIns="0" rIns="0" bIns="0" rtlCol="0" anchor="t" anchorCtr="0">
            <a:spAutoFit/>
          </a:bodyPr>
          <a:lstStyle/>
          <a:p>
            <a:pPr algn="ctr"/>
            <a:r>
              <a:rPr lang="en-GB" sz="1000" b="1" kern="600" spc="30"/>
              <a:t>Release 1</a:t>
            </a:r>
          </a:p>
        </p:txBody>
      </p:sp>
      <p:sp>
        <p:nvSpPr>
          <p:cNvPr id="6" name="TextBox 5">
            <a:extLst>
              <a:ext uri="{FF2B5EF4-FFF2-40B4-BE49-F238E27FC236}">
                <a16:creationId xmlns:a16="http://schemas.microsoft.com/office/drawing/2014/main" id="{B9763482-193B-E5BB-4D2D-BF61A2F8EF08}"/>
              </a:ext>
            </a:extLst>
          </p:cNvPr>
          <p:cNvSpPr txBox="1"/>
          <p:nvPr/>
        </p:nvSpPr>
        <p:spPr>
          <a:xfrm rot="16200000">
            <a:off x="-109286" y="4199183"/>
            <a:ext cx="1127937" cy="153888"/>
          </a:xfrm>
          <a:prstGeom prst="rect">
            <a:avLst/>
          </a:prstGeom>
          <a:noFill/>
        </p:spPr>
        <p:txBody>
          <a:bodyPr wrap="square" lIns="0" tIns="0" rIns="0" bIns="0" rtlCol="0" anchor="t" anchorCtr="0">
            <a:spAutoFit/>
          </a:bodyPr>
          <a:lstStyle/>
          <a:p>
            <a:pPr algn="ctr"/>
            <a:r>
              <a:rPr lang="en-GB" sz="1000" b="1" kern="600" spc="30"/>
              <a:t>Release 3</a:t>
            </a:r>
          </a:p>
        </p:txBody>
      </p:sp>
      <p:sp>
        <p:nvSpPr>
          <p:cNvPr id="9" name="Rectangle 8">
            <a:extLst>
              <a:ext uri="{FF2B5EF4-FFF2-40B4-BE49-F238E27FC236}">
                <a16:creationId xmlns:a16="http://schemas.microsoft.com/office/drawing/2014/main" id="{97A6FB74-9BCA-CE92-B9D3-6C0D97FA8312}"/>
              </a:ext>
            </a:extLst>
          </p:cNvPr>
          <p:cNvSpPr>
            <a:spLocks/>
          </p:cNvSpPr>
          <p:nvPr/>
        </p:nvSpPr>
        <p:spPr>
          <a:xfrm>
            <a:off x="5762707" y="1235885"/>
            <a:ext cx="1069600" cy="15262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F564628-A287-BFA1-E87D-2319C045D748}"/>
              </a:ext>
            </a:extLst>
          </p:cNvPr>
          <p:cNvSpPr>
            <a:spLocks/>
          </p:cNvSpPr>
          <p:nvPr/>
        </p:nvSpPr>
        <p:spPr>
          <a:xfrm>
            <a:off x="5999971" y="1466753"/>
            <a:ext cx="909502" cy="15262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B6E13CC9-C222-5E57-5738-47B939959DE7}"/>
              </a:ext>
            </a:extLst>
          </p:cNvPr>
          <p:cNvSpPr>
            <a:spLocks/>
          </p:cNvSpPr>
          <p:nvPr/>
        </p:nvSpPr>
        <p:spPr>
          <a:xfrm>
            <a:off x="6013217" y="1718397"/>
            <a:ext cx="1116000" cy="15262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29824AA7-0373-6729-C2D2-0DB75622F91F}"/>
              </a:ext>
            </a:extLst>
          </p:cNvPr>
          <p:cNvSpPr>
            <a:spLocks/>
          </p:cNvSpPr>
          <p:nvPr/>
        </p:nvSpPr>
        <p:spPr>
          <a:xfrm>
            <a:off x="9758436" y="3569099"/>
            <a:ext cx="1116000" cy="142858"/>
          </a:xfrm>
          <a:prstGeom prst="rect">
            <a:avLst/>
          </a:prstGeom>
          <a:solidFill>
            <a:schemeClr val="accent3">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79DCF395-174E-5252-0152-D0A0B3F1817A}"/>
              </a:ext>
            </a:extLst>
          </p:cNvPr>
          <p:cNvSpPr>
            <a:spLocks/>
          </p:cNvSpPr>
          <p:nvPr/>
        </p:nvSpPr>
        <p:spPr>
          <a:xfrm>
            <a:off x="9758436" y="3811381"/>
            <a:ext cx="2157106" cy="159617"/>
          </a:xfrm>
          <a:prstGeom prst="rect">
            <a:avLst/>
          </a:prstGeom>
          <a:solidFill>
            <a:schemeClr val="accent3">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4FD3C825-9C42-3AAE-8C6E-D32581197E82}"/>
              </a:ext>
            </a:extLst>
          </p:cNvPr>
          <p:cNvSpPr>
            <a:spLocks/>
          </p:cNvSpPr>
          <p:nvPr/>
        </p:nvSpPr>
        <p:spPr>
          <a:xfrm>
            <a:off x="10655081" y="5582988"/>
            <a:ext cx="1260461" cy="152629"/>
          </a:xfrm>
          <a:prstGeom prst="rect">
            <a:avLst/>
          </a:prstGeom>
          <a:solidFill>
            <a:schemeClr val="accent3">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9A5B2148-6457-49F3-D141-69CF3E97531C}"/>
              </a:ext>
            </a:extLst>
          </p:cNvPr>
          <p:cNvSpPr>
            <a:spLocks/>
          </p:cNvSpPr>
          <p:nvPr/>
        </p:nvSpPr>
        <p:spPr>
          <a:xfrm>
            <a:off x="5796679" y="1964242"/>
            <a:ext cx="2019431" cy="15262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E4BE266C-CCE1-EA38-F067-FDEB6B2E6621}"/>
              </a:ext>
            </a:extLst>
          </p:cNvPr>
          <p:cNvSpPr>
            <a:spLocks/>
          </p:cNvSpPr>
          <p:nvPr/>
        </p:nvSpPr>
        <p:spPr>
          <a:xfrm>
            <a:off x="9758436" y="4145091"/>
            <a:ext cx="1409758" cy="159617"/>
          </a:xfrm>
          <a:prstGeom prst="rect">
            <a:avLst/>
          </a:prstGeom>
          <a:solidFill>
            <a:schemeClr val="accent3">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03C19260-F0E4-B540-9E9E-C409689AF790}"/>
              </a:ext>
            </a:extLst>
          </p:cNvPr>
          <p:cNvSpPr txBox="1"/>
          <p:nvPr/>
        </p:nvSpPr>
        <p:spPr>
          <a:xfrm rot="16200000">
            <a:off x="-109287" y="2680217"/>
            <a:ext cx="1127937" cy="153888"/>
          </a:xfrm>
          <a:prstGeom prst="rect">
            <a:avLst/>
          </a:prstGeom>
          <a:noFill/>
        </p:spPr>
        <p:txBody>
          <a:bodyPr wrap="square" lIns="0" tIns="0" rIns="0" bIns="0" rtlCol="0" anchor="t" anchorCtr="0">
            <a:spAutoFit/>
          </a:bodyPr>
          <a:lstStyle/>
          <a:p>
            <a:pPr algn="ctr"/>
            <a:r>
              <a:rPr lang="en-GB" sz="1000" b="1" kern="600" spc="30"/>
              <a:t>Release 2</a:t>
            </a:r>
          </a:p>
        </p:txBody>
      </p:sp>
      <p:sp>
        <p:nvSpPr>
          <p:cNvPr id="36" name="Rectangle 35">
            <a:extLst>
              <a:ext uri="{FF2B5EF4-FFF2-40B4-BE49-F238E27FC236}">
                <a16:creationId xmlns:a16="http://schemas.microsoft.com/office/drawing/2014/main" id="{722EE0D2-583B-BF86-5C1C-475FA83412BA}"/>
              </a:ext>
            </a:extLst>
          </p:cNvPr>
          <p:cNvSpPr>
            <a:spLocks/>
          </p:cNvSpPr>
          <p:nvPr/>
        </p:nvSpPr>
        <p:spPr>
          <a:xfrm>
            <a:off x="7828974" y="2845834"/>
            <a:ext cx="1072550" cy="139019"/>
          </a:xfrm>
          <a:prstGeom prst="rect">
            <a:avLst/>
          </a:prstGeom>
          <a:solidFill>
            <a:schemeClr val="accent1">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7235DAD1-4960-BB6D-E140-F007F0BE2538}"/>
              </a:ext>
            </a:extLst>
          </p:cNvPr>
          <p:cNvSpPr>
            <a:spLocks/>
          </p:cNvSpPr>
          <p:nvPr/>
        </p:nvSpPr>
        <p:spPr>
          <a:xfrm>
            <a:off x="7734236" y="2199173"/>
            <a:ext cx="1116000" cy="152629"/>
          </a:xfrm>
          <a:prstGeom prst="rect">
            <a:avLst/>
          </a:prstGeom>
          <a:solidFill>
            <a:schemeClr val="accent1">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973999F5-14A6-DC3B-EF7A-0AF924BB1CB1}"/>
              </a:ext>
            </a:extLst>
          </p:cNvPr>
          <p:cNvSpPr>
            <a:spLocks/>
          </p:cNvSpPr>
          <p:nvPr/>
        </p:nvSpPr>
        <p:spPr>
          <a:xfrm>
            <a:off x="8123129" y="2524510"/>
            <a:ext cx="1019298" cy="152629"/>
          </a:xfrm>
          <a:prstGeom prst="rect">
            <a:avLst/>
          </a:prstGeom>
          <a:solidFill>
            <a:schemeClr val="accent1">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8318CC0A-ED00-5F8A-2590-AFF184F30973}"/>
              </a:ext>
            </a:extLst>
          </p:cNvPr>
          <p:cNvSpPr>
            <a:spLocks/>
          </p:cNvSpPr>
          <p:nvPr/>
        </p:nvSpPr>
        <p:spPr>
          <a:xfrm>
            <a:off x="8338110" y="3084855"/>
            <a:ext cx="1512000" cy="159617"/>
          </a:xfrm>
          <a:prstGeom prst="rect">
            <a:avLst/>
          </a:prstGeom>
          <a:solidFill>
            <a:schemeClr val="accent1">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EAF1592D-EB67-6526-0628-F80F2292CDEC}"/>
              </a:ext>
            </a:extLst>
          </p:cNvPr>
          <p:cNvSpPr>
            <a:spLocks/>
          </p:cNvSpPr>
          <p:nvPr/>
        </p:nvSpPr>
        <p:spPr>
          <a:xfrm>
            <a:off x="8850236" y="3317442"/>
            <a:ext cx="999874" cy="159617"/>
          </a:xfrm>
          <a:prstGeom prst="rect">
            <a:avLst/>
          </a:prstGeom>
          <a:solidFill>
            <a:schemeClr val="accent1">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extLst>
              <a:ext uri="{FF2B5EF4-FFF2-40B4-BE49-F238E27FC236}">
                <a16:creationId xmlns:a16="http://schemas.microsoft.com/office/drawing/2014/main" id="{CA704678-6E4F-5701-FC86-2FDA96F348C7}"/>
              </a:ext>
            </a:extLst>
          </p:cNvPr>
          <p:cNvSpPr>
            <a:spLocks/>
          </p:cNvSpPr>
          <p:nvPr/>
        </p:nvSpPr>
        <p:spPr>
          <a:xfrm>
            <a:off x="10142367" y="4967429"/>
            <a:ext cx="1260461" cy="159617"/>
          </a:xfrm>
          <a:prstGeom prst="rect">
            <a:avLst/>
          </a:prstGeom>
          <a:solidFill>
            <a:schemeClr val="accent3">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D6420EBA-AFC3-5665-F691-94281665FC7A}"/>
              </a:ext>
            </a:extLst>
          </p:cNvPr>
          <p:cNvSpPr>
            <a:spLocks/>
          </p:cNvSpPr>
          <p:nvPr/>
        </p:nvSpPr>
        <p:spPr>
          <a:xfrm>
            <a:off x="10142478" y="4567070"/>
            <a:ext cx="1025716" cy="153962"/>
          </a:xfrm>
          <a:prstGeom prst="rect">
            <a:avLst/>
          </a:prstGeom>
          <a:solidFill>
            <a:schemeClr val="accent3">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6" name="Connector: Elbow 45">
            <a:extLst>
              <a:ext uri="{FF2B5EF4-FFF2-40B4-BE49-F238E27FC236}">
                <a16:creationId xmlns:a16="http://schemas.microsoft.com/office/drawing/2014/main" id="{A507E798-2822-EE8A-5619-15334BE004C4}"/>
              </a:ext>
            </a:extLst>
          </p:cNvPr>
          <p:cNvCxnSpPr>
            <a:cxnSpLocks/>
            <a:stCxn id="37" idx="3"/>
            <a:endCxn id="15" idx="1"/>
          </p:cNvCxnSpPr>
          <p:nvPr/>
        </p:nvCxnSpPr>
        <p:spPr>
          <a:xfrm>
            <a:off x="8850236" y="2275488"/>
            <a:ext cx="908200" cy="1365040"/>
          </a:xfrm>
          <a:prstGeom prst="bentConnector3">
            <a:avLst/>
          </a:prstGeom>
          <a:ln w="9525" cap="flat" cmpd="sng" algn="ctr">
            <a:solidFill>
              <a:srgbClr val="ED8B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Connector: Elbow 48">
            <a:extLst>
              <a:ext uri="{FF2B5EF4-FFF2-40B4-BE49-F238E27FC236}">
                <a16:creationId xmlns:a16="http://schemas.microsoft.com/office/drawing/2014/main" id="{B7A8B7A8-3976-9675-CAC8-F99A4280CDA5}"/>
              </a:ext>
            </a:extLst>
          </p:cNvPr>
          <p:cNvCxnSpPr>
            <a:cxnSpLocks/>
            <a:stCxn id="9" idx="3"/>
            <a:endCxn id="37" idx="1"/>
          </p:cNvCxnSpPr>
          <p:nvPr/>
        </p:nvCxnSpPr>
        <p:spPr>
          <a:xfrm>
            <a:off x="6832307" y="1312200"/>
            <a:ext cx="901929" cy="963288"/>
          </a:xfrm>
          <a:prstGeom prst="bentConnector3">
            <a:avLst/>
          </a:prstGeom>
          <a:ln w="9525" cap="flat" cmpd="sng" algn="ctr">
            <a:solidFill>
              <a:srgbClr val="ED8B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Rectangle 50">
            <a:extLst>
              <a:ext uri="{FF2B5EF4-FFF2-40B4-BE49-F238E27FC236}">
                <a16:creationId xmlns:a16="http://schemas.microsoft.com/office/drawing/2014/main" id="{0A7E9BFC-A337-CB2B-6BBD-8CEA6C419D9C}"/>
              </a:ext>
            </a:extLst>
          </p:cNvPr>
          <p:cNvSpPr>
            <a:spLocks/>
          </p:cNvSpPr>
          <p:nvPr/>
        </p:nvSpPr>
        <p:spPr>
          <a:xfrm>
            <a:off x="10142368" y="5260277"/>
            <a:ext cx="1260461" cy="152629"/>
          </a:xfrm>
          <a:prstGeom prst="rect">
            <a:avLst/>
          </a:prstGeom>
          <a:solidFill>
            <a:schemeClr val="accent3">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3" name="Connector: Elbow 52">
            <a:extLst>
              <a:ext uri="{FF2B5EF4-FFF2-40B4-BE49-F238E27FC236}">
                <a16:creationId xmlns:a16="http://schemas.microsoft.com/office/drawing/2014/main" id="{D48D78A0-2ADA-7A99-5A2C-556F8DAF2EF0}"/>
              </a:ext>
            </a:extLst>
          </p:cNvPr>
          <p:cNvCxnSpPr>
            <a:stCxn id="39" idx="3"/>
            <a:endCxn id="2" idx="1"/>
          </p:cNvCxnSpPr>
          <p:nvPr/>
        </p:nvCxnSpPr>
        <p:spPr>
          <a:xfrm>
            <a:off x="9850110" y="3164664"/>
            <a:ext cx="292257" cy="1882574"/>
          </a:xfrm>
          <a:prstGeom prst="bentConnector3">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5" name="Connector: Elbow 54">
            <a:extLst>
              <a:ext uri="{FF2B5EF4-FFF2-40B4-BE49-F238E27FC236}">
                <a16:creationId xmlns:a16="http://schemas.microsoft.com/office/drawing/2014/main" id="{A7EBCD96-D1A6-011F-A2C3-F348F43D3815}"/>
              </a:ext>
            </a:extLst>
          </p:cNvPr>
          <p:cNvCxnSpPr>
            <a:cxnSpLocks/>
            <a:stCxn id="12" idx="3"/>
            <a:endCxn id="16" idx="1"/>
          </p:cNvCxnSpPr>
          <p:nvPr/>
        </p:nvCxnSpPr>
        <p:spPr>
          <a:xfrm>
            <a:off x="7129217" y="1794712"/>
            <a:ext cx="2629219" cy="2096478"/>
          </a:xfrm>
          <a:prstGeom prst="bentConnector3">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Connector: Elbow 60">
            <a:extLst>
              <a:ext uri="{FF2B5EF4-FFF2-40B4-BE49-F238E27FC236}">
                <a16:creationId xmlns:a16="http://schemas.microsoft.com/office/drawing/2014/main" id="{F43A67D8-19E3-6FBC-1ABD-14F184958349}"/>
              </a:ext>
            </a:extLst>
          </p:cNvPr>
          <p:cNvCxnSpPr>
            <a:cxnSpLocks/>
            <a:stCxn id="40" idx="3"/>
            <a:endCxn id="18" idx="1"/>
          </p:cNvCxnSpPr>
          <p:nvPr/>
        </p:nvCxnSpPr>
        <p:spPr>
          <a:xfrm>
            <a:off x="9850110" y="3397251"/>
            <a:ext cx="804971" cy="2262052"/>
          </a:xfrm>
          <a:prstGeom prst="bentConnector3">
            <a:avLst>
              <a:gd name="adj1" fmla="val 50000"/>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1" name="Connector: Elbow 130">
            <a:extLst>
              <a:ext uri="{FF2B5EF4-FFF2-40B4-BE49-F238E27FC236}">
                <a16:creationId xmlns:a16="http://schemas.microsoft.com/office/drawing/2014/main" id="{F00FB062-8CBA-BAAB-B738-CFCCA105ECF3}"/>
              </a:ext>
            </a:extLst>
          </p:cNvPr>
          <p:cNvCxnSpPr>
            <a:cxnSpLocks/>
            <a:stCxn id="26" idx="3"/>
            <a:endCxn id="38" idx="1"/>
          </p:cNvCxnSpPr>
          <p:nvPr/>
        </p:nvCxnSpPr>
        <p:spPr>
          <a:xfrm>
            <a:off x="7816110" y="2040557"/>
            <a:ext cx="307019" cy="560268"/>
          </a:xfrm>
          <a:prstGeom prst="bentConnector3">
            <a:avLst>
              <a:gd name="adj1" fmla="val 50000"/>
            </a:avLst>
          </a:prstGeom>
          <a:ln w="9525" cap="flat" cmpd="sng" algn="ctr">
            <a:solidFill>
              <a:srgbClr val="00206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6193252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dirty="0">
                <a:solidFill>
                  <a:srgbClr val="00B050"/>
                </a:solidFill>
                <a:ea typeface="Open Sans"/>
                <a:cs typeface="Open Sans"/>
              </a:rPr>
              <a:t>Capabilities, deliverables</a:t>
            </a:r>
            <a:r>
              <a:rPr lang="en-US" sz="2200" b="0" dirty="0">
                <a:ea typeface="Open Sans"/>
                <a:cs typeface="Open Sans"/>
              </a:rPr>
              <a:t> and </a:t>
            </a:r>
            <a:r>
              <a:rPr lang="en-US" sz="2200" dirty="0">
                <a:solidFill>
                  <a:srgbClr val="00B050"/>
                </a:solidFill>
                <a:ea typeface="Open Sans"/>
                <a:cs typeface="Open Sans"/>
              </a:rPr>
              <a:t>business outcomes </a:t>
            </a:r>
            <a:r>
              <a:rPr lang="en-US" sz="2200" b="0" dirty="0">
                <a:ea typeface="Open Sans"/>
                <a:cs typeface="Open Sans"/>
              </a:rPr>
              <a:t>enabled in each release</a:t>
            </a:r>
          </a:p>
        </p:txBody>
      </p:sp>
      <p:sp>
        <p:nvSpPr>
          <p:cNvPr id="2" name="Rounded Rectangle 1">
            <a:extLst>
              <a:ext uri="{FF2B5EF4-FFF2-40B4-BE49-F238E27FC236}">
                <a16:creationId xmlns:a16="http://schemas.microsoft.com/office/drawing/2014/main" id="{0515364F-41F3-034B-E2E3-6FD6BA15B267}"/>
              </a:ext>
            </a:extLst>
          </p:cNvPr>
          <p:cNvSpPr/>
          <p:nvPr/>
        </p:nvSpPr>
        <p:spPr bwMode="gray">
          <a:xfrm>
            <a:off x="516366" y="1495310"/>
            <a:ext cx="1040291" cy="623944"/>
          </a:xfrm>
          <a:prstGeom prst="roundRect">
            <a:avLst/>
          </a:prstGeom>
          <a:solidFill>
            <a:schemeClr val="bg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Release 1</a:t>
            </a:r>
          </a:p>
        </p:txBody>
      </p:sp>
      <p:sp>
        <p:nvSpPr>
          <p:cNvPr id="3" name="Rounded Rectangle 2">
            <a:extLst>
              <a:ext uri="{FF2B5EF4-FFF2-40B4-BE49-F238E27FC236}">
                <a16:creationId xmlns:a16="http://schemas.microsoft.com/office/drawing/2014/main" id="{E8B45CA8-F3D7-2D36-65D5-6CDDDF874F78}"/>
              </a:ext>
            </a:extLst>
          </p:cNvPr>
          <p:cNvSpPr/>
          <p:nvPr/>
        </p:nvSpPr>
        <p:spPr bwMode="gray">
          <a:xfrm>
            <a:off x="516366" y="2632931"/>
            <a:ext cx="1040291" cy="623944"/>
          </a:xfrm>
          <a:prstGeom prst="round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Release 2</a:t>
            </a:r>
          </a:p>
        </p:txBody>
      </p:sp>
      <p:sp>
        <p:nvSpPr>
          <p:cNvPr id="7" name="Rounded Rectangle 6">
            <a:extLst>
              <a:ext uri="{FF2B5EF4-FFF2-40B4-BE49-F238E27FC236}">
                <a16:creationId xmlns:a16="http://schemas.microsoft.com/office/drawing/2014/main" id="{5D228753-D9C4-E534-B5CB-EB02F01F3A2A}"/>
              </a:ext>
            </a:extLst>
          </p:cNvPr>
          <p:cNvSpPr/>
          <p:nvPr/>
        </p:nvSpPr>
        <p:spPr bwMode="gray">
          <a:xfrm>
            <a:off x="516366" y="4174737"/>
            <a:ext cx="1040291" cy="623944"/>
          </a:xfrm>
          <a:prstGeom prst="round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Release 3</a:t>
            </a:r>
          </a:p>
        </p:txBody>
      </p:sp>
      <p:sp>
        <p:nvSpPr>
          <p:cNvPr id="8" name="Rectangle 7">
            <a:extLst>
              <a:ext uri="{FF2B5EF4-FFF2-40B4-BE49-F238E27FC236}">
                <a16:creationId xmlns:a16="http://schemas.microsoft.com/office/drawing/2014/main" id="{B01D7D55-FB5B-F94F-24BB-52982A41551E}"/>
              </a:ext>
            </a:extLst>
          </p:cNvPr>
          <p:cNvSpPr/>
          <p:nvPr/>
        </p:nvSpPr>
        <p:spPr bwMode="gray">
          <a:xfrm>
            <a:off x="1649267" y="1495310"/>
            <a:ext cx="1624404" cy="376518"/>
          </a:xfrm>
          <a:prstGeom prst="rect">
            <a:avLst/>
          </a:prstGeom>
          <a:solidFill>
            <a:schemeClr val="bg2">
              <a:lumMod val="75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solidFill>
                  <a:schemeClr val="bg1"/>
                </a:solidFill>
              </a:rPr>
              <a:t>Persona based data access/ auth.</a:t>
            </a:r>
          </a:p>
        </p:txBody>
      </p:sp>
      <p:sp>
        <p:nvSpPr>
          <p:cNvPr id="11" name="Rectangle 10">
            <a:extLst>
              <a:ext uri="{FF2B5EF4-FFF2-40B4-BE49-F238E27FC236}">
                <a16:creationId xmlns:a16="http://schemas.microsoft.com/office/drawing/2014/main" id="{B807E80D-B627-D0CD-34F2-EB539A772DD7}"/>
              </a:ext>
            </a:extLst>
          </p:cNvPr>
          <p:cNvSpPr/>
          <p:nvPr/>
        </p:nvSpPr>
        <p:spPr bwMode="gray">
          <a:xfrm>
            <a:off x="3316704" y="1495310"/>
            <a:ext cx="1624404" cy="376518"/>
          </a:xfrm>
          <a:prstGeom prst="rect">
            <a:avLst/>
          </a:prstGeom>
          <a:solidFill>
            <a:schemeClr val="bg2">
              <a:lumMod val="75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solidFill>
                  <a:schemeClr val="bg1"/>
                </a:solidFill>
              </a:rPr>
              <a:t>Standard data  taxonomy</a:t>
            </a:r>
          </a:p>
        </p:txBody>
      </p:sp>
      <p:sp>
        <p:nvSpPr>
          <p:cNvPr id="13" name="Rectangle 12">
            <a:extLst>
              <a:ext uri="{FF2B5EF4-FFF2-40B4-BE49-F238E27FC236}">
                <a16:creationId xmlns:a16="http://schemas.microsoft.com/office/drawing/2014/main" id="{44313EF8-20B5-070D-F18D-BA25CC9F0E92}"/>
              </a:ext>
            </a:extLst>
          </p:cNvPr>
          <p:cNvSpPr/>
          <p:nvPr/>
        </p:nvSpPr>
        <p:spPr bwMode="gray">
          <a:xfrm>
            <a:off x="3316704" y="1936374"/>
            <a:ext cx="1624404" cy="376518"/>
          </a:xfrm>
          <a:prstGeom prst="rect">
            <a:avLst/>
          </a:prstGeom>
          <a:solidFill>
            <a:schemeClr val="bg2">
              <a:lumMod val="75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solidFill>
                  <a:schemeClr val="bg1"/>
                </a:solidFill>
              </a:rPr>
              <a:t>Data products by domain</a:t>
            </a:r>
          </a:p>
        </p:txBody>
      </p:sp>
      <p:sp>
        <p:nvSpPr>
          <p:cNvPr id="14" name="Rectangle 13">
            <a:extLst>
              <a:ext uri="{FF2B5EF4-FFF2-40B4-BE49-F238E27FC236}">
                <a16:creationId xmlns:a16="http://schemas.microsoft.com/office/drawing/2014/main" id="{7D0E9221-3684-CFF5-F01C-4DC75774857F}"/>
              </a:ext>
            </a:extLst>
          </p:cNvPr>
          <p:cNvSpPr/>
          <p:nvPr/>
        </p:nvSpPr>
        <p:spPr bwMode="gray">
          <a:xfrm>
            <a:off x="1649267" y="1936374"/>
            <a:ext cx="1624404" cy="376518"/>
          </a:xfrm>
          <a:prstGeom prst="rect">
            <a:avLst/>
          </a:prstGeom>
          <a:solidFill>
            <a:schemeClr val="bg2">
              <a:lumMod val="75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solidFill>
                  <a:schemeClr val="bg1"/>
                </a:solidFill>
              </a:rPr>
              <a:t>Metadata onboarding, curation, tagging</a:t>
            </a:r>
          </a:p>
        </p:txBody>
      </p:sp>
      <p:sp>
        <p:nvSpPr>
          <p:cNvPr id="19" name="Rectangle 18">
            <a:extLst>
              <a:ext uri="{FF2B5EF4-FFF2-40B4-BE49-F238E27FC236}">
                <a16:creationId xmlns:a16="http://schemas.microsoft.com/office/drawing/2014/main" id="{2F55E4B7-C907-3545-39AB-2F508A0B66D3}"/>
              </a:ext>
            </a:extLst>
          </p:cNvPr>
          <p:cNvSpPr/>
          <p:nvPr/>
        </p:nvSpPr>
        <p:spPr bwMode="gray">
          <a:xfrm>
            <a:off x="1656082" y="2627552"/>
            <a:ext cx="1624404" cy="376518"/>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Centralized workflow</a:t>
            </a:r>
          </a:p>
        </p:txBody>
      </p:sp>
      <p:sp>
        <p:nvSpPr>
          <p:cNvPr id="20" name="Rectangle 19">
            <a:extLst>
              <a:ext uri="{FF2B5EF4-FFF2-40B4-BE49-F238E27FC236}">
                <a16:creationId xmlns:a16="http://schemas.microsoft.com/office/drawing/2014/main" id="{4AFEA796-A36D-A2E1-01EF-A3856C400F03}"/>
              </a:ext>
            </a:extLst>
          </p:cNvPr>
          <p:cNvSpPr/>
          <p:nvPr/>
        </p:nvSpPr>
        <p:spPr bwMode="gray">
          <a:xfrm>
            <a:off x="3323519" y="2627552"/>
            <a:ext cx="1624404" cy="376518"/>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Standard search &amp; discovery</a:t>
            </a:r>
          </a:p>
        </p:txBody>
      </p:sp>
      <p:sp>
        <p:nvSpPr>
          <p:cNvPr id="21" name="Rectangle 20">
            <a:extLst>
              <a:ext uri="{FF2B5EF4-FFF2-40B4-BE49-F238E27FC236}">
                <a16:creationId xmlns:a16="http://schemas.microsoft.com/office/drawing/2014/main" id="{3C4F4E84-22E9-D8F1-9A32-E0DF830D6D89}"/>
              </a:ext>
            </a:extLst>
          </p:cNvPr>
          <p:cNvSpPr/>
          <p:nvPr/>
        </p:nvSpPr>
        <p:spPr bwMode="gray">
          <a:xfrm>
            <a:off x="3323519" y="3068616"/>
            <a:ext cx="1624404" cy="376518"/>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Data products expanded by domains | subdomains</a:t>
            </a:r>
          </a:p>
        </p:txBody>
      </p:sp>
      <p:sp>
        <p:nvSpPr>
          <p:cNvPr id="22" name="Rectangle 21">
            <a:extLst>
              <a:ext uri="{FF2B5EF4-FFF2-40B4-BE49-F238E27FC236}">
                <a16:creationId xmlns:a16="http://schemas.microsoft.com/office/drawing/2014/main" id="{1123B3C9-0DE1-3B45-7E8D-718783FEDC4C}"/>
              </a:ext>
            </a:extLst>
          </p:cNvPr>
          <p:cNvSpPr/>
          <p:nvPr/>
        </p:nvSpPr>
        <p:spPr bwMode="gray">
          <a:xfrm>
            <a:off x="1656082" y="3068616"/>
            <a:ext cx="1624404" cy="376518"/>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Metadata validation &amp; articulation</a:t>
            </a:r>
          </a:p>
        </p:txBody>
      </p:sp>
      <p:sp>
        <p:nvSpPr>
          <p:cNvPr id="23" name="Rectangle 22">
            <a:extLst>
              <a:ext uri="{FF2B5EF4-FFF2-40B4-BE49-F238E27FC236}">
                <a16:creationId xmlns:a16="http://schemas.microsoft.com/office/drawing/2014/main" id="{F6267CA8-A1D8-2D67-60EE-02208EABE792}"/>
              </a:ext>
            </a:extLst>
          </p:cNvPr>
          <p:cNvSpPr/>
          <p:nvPr/>
        </p:nvSpPr>
        <p:spPr bwMode="gray">
          <a:xfrm>
            <a:off x="3323519" y="3512077"/>
            <a:ext cx="1624404" cy="376518"/>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Integrated data assets for data products, reporting</a:t>
            </a:r>
          </a:p>
        </p:txBody>
      </p:sp>
      <p:sp>
        <p:nvSpPr>
          <p:cNvPr id="24" name="Rectangle 23">
            <a:extLst>
              <a:ext uri="{FF2B5EF4-FFF2-40B4-BE49-F238E27FC236}">
                <a16:creationId xmlns:a16="http://schemas.microsoft.com/office/drawing/2014/main" id="{FE784B75-5FE9-3BDC-C9A1-F58DDA43F534}"/>
              </a:ext>
            </a:extLst>
          </p:cNvPr>
          <p:cNvSpPr/>
          <p:nvPr/>
        </p:nvSpPr>
        <p:spPr bwMode="gray">
          <a:xfrm>
            <a:off x="1656082" y="3512077"/>
            <a:ext cx="1624404" cy="376518"/>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Data lineage | Data quality certification</a:t>
            </a:r>
          </a:p>
        </p:txBody>
      </p:sp>
      <p:sp>
        <p:nvSpPr>
          <p:cNvPr id="25" name="Rectangle 24">
            <a:extLst>
              <a:ext uri="{FF2B5EF4-FFF2-40B4-BE49-F238E27FC236}">
                <a16:creationId xmlns:a16="http://schemas.microsoft.com/office/drawing/2014/main" id="{482579F7-23B4-F504-D69D-981C120A5659}"/>
              </a:ext>
            </a:extLst>
          </p:cNvPr>
          <p:cNvSpPr/>
          <p:nvPr/>
        </p:nvSpPr>
        <p:spPr bwMode="gray">
          <a:xfrm>
            <a:off x="1649267" y="4185495"/>
            <a:ext cx="1624404" cy="376518"/>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Optimized workflows</a:t>
            </a:r>
          </a:p>
        </p:txBody>
      </p:sp>
      <p:sp>
        <p:nvSpPr>
          <p:cNvPr id="27" name="Rectangle 26">
            <a:extLst>
              <a:ext uri="{FF2B5EF4-FFF2-40B4-BE49-F238E27FC236}">
                <a16:creationId xmlns:a16="http://schemas.microsoft.com/office/drawing/2014/main" id="{E4521453-5774-5C59-91CB-D755DD342A13}"/>
              </a:ext>
            </a:extLst>
          </p:cNvPr>
          <p:cNvSpPr/>
          <p:nvPr/>
        </p:nvSpPr>
        <p:spPr bwMode="gray">
          <a:xfrm>
            <a:off x="3316704" y="4174737"/>
            <a:ext cx="1624404" cy="376518"/>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Advanced filters</a:t>
            </a:r>
          </a:p>
        </p:txBody>
      </p:sp>
      <p:sp>
        <p:nvSpPr>
          <p:cNvPr id="28" name="Rectangle 27">
            <a:extLst>
              <a:ext uri="{FF2B5EF4-FFF2-40B4-BE49-F238E27FC236}">
                <a16:creationId xmlns:a16="http://schemas.microsoft.com/office/drawing/2014/main" id="{9D73B6F7-687F-155A-8E4C-3E3DF49EB974}"/>
              </a:ext>
            </a:extLst>
          </p:cNvPr>
          <p:cNvSpPr/>
          <p:nvPr/>
        </p:nvSpPr>
        <p:spPr bwMode="gray">
          <a:xfrm>
            <a:off x="3316704" y="4615801"/>
            <a:ext cx="1624404" cy="376518"/>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Self-service enablement | Bring your own tool</a:t>
            </a:r>
          </a:p>
        </p:txBody>
      </p:sp>
      <p:sp>
        <p:nvSpPr>
          <p:cNvPr id="29" name="Rectangle 28">
            <a:extLst>
              <a:ext uri="{FF2B5EF4-FFF2-40B4-BE49-F238E27FC236}">
                <a16:creationId xmlns:a16="http://schemas.microsoft.com/office/drawing/2014/main" id="{45D16EF8-F4D2-32C9-55D3-D6B8DA7106BD}"/>
              </a:ext>
            </a:extLst>
          </p:cNvPr>
          <p:cNvSpPr/>
          <p:nvPr/>
        </p:nvSpPr>
        <p:spPr bwMode="gray">
          <a:xfrm>
            <a:off x="1649267" y="4615801"/>
            <a:ext cx="1624404" cy="376518"/>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Metadata aggregator with auto-discovery</a:t>
            </a:r>
          </a:p>
        </p:txBody>
      </p:sp>
      <p:sp>
        <p:nvSpPr>
          <p:cNvPr id="31" name="Rectangle 30">
            <a:extLst>
              <a:ext uri="{FF2B5EF4-FFF2-40B4-BE49-F238E27FC236}">
                <a16:creationId xmlns:a16="http://schemas.microsoft.com/office/drawing/2014/main" id="{36F8F1AD-21AA-6DEF-4BC6-CAAE55BE65D9}"/>
              </a:ext>
            </a:extLst>
          </p:cNvPr>
          <p:cNvSpPr/>
          <p:nvPr/>
        </p:nvSpPr>
        <p:spPr bwMode="gray">
          <a:xfrm>
            <a:off x="3316704" y="5059262"/>
            <a:ext cx="1624404" cy="376518"/>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Integrated data assets for analytics</a:t>
            </a:r>
          </a:p>
        </p:txBody>
      </p:sp>
      <p:sp>
        <p:nvSpPr>
          <p:cNvPr id="32" name="Rectangle 31">
            <a:extLst>
              <a:ext uri="{FF2B5EF4-FFF2-40B4-BE49-F238E27FC236}">
                <a16:creationId xmlns:a16="http://schemas.microsoft.com/office/drawing/2014/main" id="{788BD916-3742-428A-91AC-4AF001528CBD}"/>
              </a:ext>
            </a:extLst>
          </p:cNvPr>
          <p:cNvSpPr/>
          <p:nvPr/>
        </p:nvSpPr>
        <p:spPr bwMode="gray">
          <a:xfrm>
            <a:off x="1649267" y="5059262"/>
            <a:ext cx="1624404" cy="376518"/>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Enterprise governance</a:t>
            </a:r>
          </a:p>
        </p:txBody>
      </p:sp>
      <p:sp>
        <p:nvSpPr>
          <p:cNvPr id="33" name="Rectangle 32">
            <a:extLst>
              <a:ext uri="{FF2B5EF4-FFF2-40B4-BE49-F238E27FC236}">
                <a16:creationId xmlns:a16="http://schemas.microsoft.com/office/drawing/2014/main" id="{2ECE0BBA-9EE8-5A4F-E7BB-628841D9659B}"/>
              </a:ext>
            </a:extLst>
          </p:cNvPr>
          <p:cNvSpPr/>
          <p:nvPr/>
        </p:nvSpPr>
        <p:spPr bwMode="gray">
          <a:xfrm>
            <a:off x="3316704" y="5502723"/>
            <a:ext cx="1624404" cy="376518"/>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Ratings &amp; feedbacks</a:t>
            </a:r>
          </a:p>
        </p:txBody>
      </p:sp>
      <p:sp>
        <p:nvSpPr>
          <p:cNvPr id="34" name="Rectangle 33">
            <a:extLst>
              <a:ext uri="{FF2B5EF4-FFF2-40B4-BE49-F238E27FC236}">
                <a16:creationId xmlns:a16="http://schemas.microsoft.com/office/drawing/2014/main" id="{39EC89C8-C2F9-B42C-1C6E-37968787C74D}"/>
              </a:ext>
            </a:extLst>
          </p:cNvPr>
          <p:cNvSpPr/>
          <p:nvPr/>
        </p:nvSpPr>
        <p:spPr bwMode="gray">
          <a:xfrm>
            <a:off x="1649267" y="5502723"/>
            <a:ext cx="1624404" cy="376518"/>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sz="1000" b="1" dirty="0"/>
              <a:t>Marketplace storefront UI enablement </a:t>
            </a:r>
          </a:p>
        </p:txBody>
      </p:sp>
      <p:sp>
        <p:nvSpPr>
          <p:cNvPr id="41" name="Rounded Rectangle 40">
            <a:extLst>
              <a:ext uri="{FF2B5EF4-FFF2-40B4-BE49-F238E27FC236}">
                <a16:creationId xmlns:a16="http://schemas.microsoft.com/office/drawing/2014/main" id="{A07A9780-E9DA-B393-244E-864BEE714DF3}"/>
              </a:ext>
            </a:extLst>
          </p:cNvPr>
          <p:cNvSpPr/>
          <p:nvPr/>
        </p:nvSpPr>
        <p:spPr bwMode="gray">
          <a:xfrm>
            <a:off x="5061466" y="1495310"/>
            <a:ext cx="419548" cy="817582"/>
          </a:xfrm>
          <a:prstGeom prst="roundRect">
            <a:avLst/>
          </a:prstGeom>
          <a:noFill/>
          <a:ln w="19050" algn="ctr">
            <a:solidFill>
              <a:srgbClr val="0076A8"/>
            </a:solidFill>
            <a:miter lim="800000"/>
            <a:headEnd/>
            <a:tailEnd/>
          </a:ln>
        </p:spPr>
        <p:txBody>
          <a:bodyPr vert="vert270" wrap="square" lIns="88900" tIns="88900" rIns="88900" bIns="88900" rtlCol="0" anchor="ctr"/>
          <a:lstStyle/>
          <a:p>
            <a:pPr algn="ctr">
              <a:buFont typeface="Wingdings 2" pitchFamily="18" charset="2"/>
              <a:buNone/>
            </a:pPr>
            <a:r>
              <a:rPr lang="en-US" sz="1000" b="1" dirty="0"/>
              <a:t>Data Products</a:t>
            </a:r>
          </a:p>
        </p:txBody>
      </p:sp>
      <p:sp>
        <p:nvSpPr>
          <p:cNvPr id="42" name="Rounded Rectangle 41">
            <a:extLst>
              <a:ext uri="{FF2B5EF4-FFF2-40B4-BE49-F238E27FC236}">
                <a16:creationId xmlns:a16="http://schemas.microsoft.com/office/drawing/2014/main" id="{83698202-3B47-76DC-1984-55DE00A97EF8}"/>
              </a:ext>
            </a:extLst>
          </p:cNvPr>
          <p:cNvSpPr/>
          <p:nvPr/>
        </p:nvSpPr>
        <p:spPr bwMode="gray">
          <a:xfrm>
            <a:off x="5061466" y="2595279"/>
            <a:ext cx="290456" cy="1289000"/>
          </a:xfrm>
          <a:prstGeom prst="roundRect">
            <a:avLst/>
          </a:prstGeom>
          <a:noFill/>
          <a:ln w="19050" algn="ctr">
            <a:solidFill>
              <a:srgbClr val="0076A8"/>
            </a:solidFill>
            <a:miter lim="800000"/>
            <a:headEnd/>
            <a:tailEnd/>
          </a:ln>
        </p:spPr>
        <p:txBody>
          <a:bodyPr vert="vert270" wrap="square" lIns="88900" tIns="88900" rIns="88900" bIns="88900" rtlCol="0" anchor="ctr"/>
          <a:lstStyle/>
          <a:p>
            <a:pPr algn="ctr">
              <a:buFont typeface="Wingdings 2" pitchFamily="18" charset="2"/>
              <a:buNone/>
            </a:pPr>
            <a:r>
              <a:rPr lang="en-US" sz="1000" b="1" dirty="0"/>
              <a:t>Data Products</a:t>
            </a:r>
          </a:p>
        </p:txBody>
      </p:sp>
      <p:sp>
        <p:nvSpPr>
          <p:cNvPr id="43" name="Rounded Rectangle 42">
            <a:extLst>
              <a:ext uri="{FF2B5EF4-FFF2-40B4-BE49-F238E27FC236}">
                <a16:creationId xmlns:a16="http://schemas.microsoft.com/office/drawing/2014/main" id="{3DE881F7-2181-C560-7834-81BC3E0AE10F}"/>
              </a:ext>
            </a:extLst>
          </p:cNvPr>
          <p:cNvSpPr/>
          <p:nvPr/>
        </p:nvSpPr>
        <p:spPr bwMode="gray">
          <a:xfrm>
            <a:off x="5472049" y="2595279"/>
            <a:ext cx="290456" cy="1289000"/>
          </a:xfrm>
          <a:prstGeom prst="roundRect">
            <a:avLst/>
          </a:prstGeom>
          <a:noFill/>
          <a:ln w="19050" algn="ctr">
            <a:solidFill>
              <a:srgbClr val="0076A8"/>
            </a:solidFill>
            <a:miter lim="800000"/>
            <a:headEnd/>
            <a:tailEnd/>
          </a:ln>
        </p:spPr>
        <p:txBody>
          <a:bodyPr vert="vert270" wrap="square" lIns="88900" tIns="88900" rIns="88900" bIns="88900" rtlCol="0" anchor="ctr"/>
          <a:lstStyle/>
          <a:p>
            <a:pPr algn="ctr">
              <a:buFont typeface="Wingdings 2" pitchFamily="18" charset="2"/>
              <a:buNone/>
            </a:pPr>
            <a:r>
              <a:rPr lang="en-US" sz="1000" b="1" dirty="0"/>
              <a:t>Reporting DB</a:t>
            </a:r>
          </a:p>
        </p:txBody>
      </p:sp>
      <p:sp>
        <p:nvSpPr>
          <p:cNvPr id="44" name="Rounded Rectangle 43">
            <a:extLst>
              <a:ext uri="{FF2B5EF4-FFF2-40B4-BE49-F238E27FC236}">
                <a16:creationId xmlns:a16="http://schemas.microsoft.com/office/drawing/2014/main" id="{C6493FD6-C24D-FBE4-4240-C25E36CDCE12}"/>
              </a:ext>
            </a:extLst>
          </p:cNvPr>
          <p:cNvSpPr/>
          <p:nvPr/>
        </p:nvSpPr>
        <p:spPr bwMode="gray">
          <a:xfrm>
            <a:off x="5070431" y="4166665"/>
            <a:ext cx="290456" cy="1712575"/>
          </a:xfrm>
          <a:prstGeom prst="roundRect">
            <a:avLst/>
          </a:prstGeom>
          <a:noFill/>
          <a:ln w="19050" algn="ctr">
            <a:solidFill>
              <a:srgbClr val="0076A8"/>
            </a:solidFill>
            <a:miter lim="800000"/>
            <a:headEnd/>
            <a:tailEnd/>
          </a:ln>
        </p:spPr>
        <p:txBody>
          <a:bodyPr vert="vert270" wrap="square" lIns="88900" tIns="88900" rIns="88900" bIns="88900" rtlCol="0" anchor="ctr"/>
          <a:lstStyle/>
          <a:p>
            <a:pPr algn="ctr">
              <a:buFont typeface="Wingdings 2" pitchFamily="18" charset="2"/>
              <a:buNone/>
            </a:pPr>
            <a:r>
              <a:rPr lang="en-US" sz="1000" b="1" dirty="0"/>
              <a:t>Data Products</a:t>
            </a:r>
          </a:p>
        </p:txBody>
      </p:sp>
      <p:sp>
        <p:nvSpPr>
          <p:cNvPr id="45" name="Rounded Rectangle 44">
            <a:extLst>
              <a:ext uri="{FF2B5EF4-FFF2-40B4-BE49-F238E27FC236}">
                <a16:creationId xmlns:a16="http://schemas.microsoft.com/office/drawing/2014/main" id="{327EFA1A-3AEB-322E-76A8-6A71D54A11C9}"/>
              </a:ext>
            </a:extLst>
          </p:cNvPr>
          <p:cNvSpPr/>
          <p:nvPr/>
        </p:nvSpPr>
        <p:spPr bwMode="gray">
          <a:xfrm>
            <a:off x="5481014" y="4166665"/>
            <a:ext cx="290456" cy="1712575"/>
          </a:xfrm>
          <a:prstGeom prst="roundRect">
            <a:avLst/>
          </a:prstGeom>
          <a:noFill/>
          <a:ln w="19050" algn="ctr">
            <a:solidFill>
              <a:srgbClr val="0076A8"/>
            </a:solidFill>
            <a:miter lim="800000"/>
            <a:headEnd/>
            <a:tailEnd/>
          </a:ln>
        </p:spPr>
        <p:txBody>
          <a:bodyPr vert="vert270" wrap="square" lIns="88900" tIns="88900" rIns="88900" bIns="88900" rtlCol="0" anchor="ctr"/>
          <a:lstStyle/>
          <a:p>
            <a:pPr algn="ctr">
              <a:buFont typeface="Wingdings 2" pitchFamily="18" charset="2"/>
              <a:buNone/>
            </a:pPr>
            <a:r>
              <a:rPr lang="en-US" sz="1000" b="1" dirty="0"/>
              <a:t>Reporting DB</a:t>
            </a:r>
          </a:p>
        </p:txBody>
      </p:sp>
      <p:sp>
        <p:nvSpPr>
          <p:cNvPr id="46" name="Rounded Rectangle 45">
            <a:extLst>
              <a:ext uri="{FF2B5EF4-FFF2-40B4-BE49-F238E27FC236}">
                <a16:creationId xmlns:a16="http://schemas.microsoft.com/office/drawing/2014/main" id="{2132EF3B-6B52-D0E8-EFAC-47BF0B6B6B44}"/>
              </a:ext>
            </a:extLst>
          </p:cNvPr>
          <p:cNvSpPr/>
          <p:nvPr/>
        </p:nvSpPr>
        <p:spPr bwMode="gray">
          <a:xfrm>
            <a:off x="5882632" y="4166665"/>
            <a:ext cx="290456" cy="1712575"/>
          </a:xfrm>
          <a:prstGeom prst="roundRect">
            <a:avLst/>
          </a:prstGeom>
          <a:noFill/>
          <a:ln w="19050" algn="ctr">
            <a:solidFill>
              <a:srgbClr val="0076A8"/>
            </a:solidFill>
            <a:miter lim="800000"/>
            <a:headEnd/>
            <a:tailEnd/>
          </a:ln>
        </p:spPr>
        <p:txBody>
          <a:bodyPr vert="vert270" wrap="square" lIns="88900" tIns="88900" rIns="88900" bIns="88900" rtlCol="0" anchor="ctr"/>
          <a:lstStyle/>
          <a:p>
            <a:pPr algn="ctr">
              <a:buFont typeface="Wingdings 2" pitchFamily="18" charset="2"/>
              <a:buNone/>
            </a:pPr>
            <a:r>
              <a:rPr lang="en-US" sz="1000" b="1" dirty="0"/>
              <a:t>Analytics Products</a:t>
            </a:r>
          </a:p>
        </p:txBody>
      </p:sp>
      <p:cxnSp>
        <p:nvCxnSpPr>
          <p:cNvPr id="48" name="Straight Connector 47">
            <a:extLst>
              <a:ext uri="{FF2B5EF4-FFF2-40B4-BE49-F238E27FC236}">
                <a16:creationId xmlns:a16="http://schemas.microsoft.com/office/drawing/2014/main" id="{ED73FFC3-8F77-C201-FE72-218E40DC1996}"/>
              </a:ext>
            </a:extLst>
          </p:cNvPr>
          <p:cNvCxnSpPr/>
          <p:nvPr/>
        </p:nvCxnSpPr>
        <p:spPr>
          <a:xfrm>
            <a:off x="516366" y="1376979"/>
            <a:ext cx="11198712"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2240808-6D12-7EC8-D247-0BBC482D6FDD}"/>
              </a:ext>
            </a:extLst>
          </p:cNvPr>
          <p:cNvCxnSpPr/>
          <p:nvPr/>
        </p:nvCxnSpPr>
        <p:spPr>
          <a:xfrm>
            <a:off x="469900" y="2454536"/>
            <a:ext cx="11198712" cy="0"/>
          </a:xfrm>
          <a:prstGeom prst="line">
            <a:avLst/>
          </a:prstGeom>
          <a:ln w="12700">
            <a:solidFill>
              <a:schemeClr val="tx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C97B062-37A2-7755-1A6A-D51DDA17CD4B}"/>
              </a:ext>
            </a:extLst>
          </p:cNvPr>
          <p:cNvCxnSpPr/>
          <p:nvPr/>
        </p:nvCxnSpPr>
        <p:spPr>
          <a:xfrm>
            <a:off x="326942" y="4026945"/>
            <a:ext cx="11198712" cy="0"/>
          </a:xfrm>
          <a:prstGeom prst="line">
            <a:avLst/>
          </a:prstGeom>
          <a:ln w="12700">
            <a:solidFill>
              <a:schemeClr val="tx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B3F2DD52-DCB8-5207-19F8-FF86C2C3BE3A}"/>
              </a:ext>
            </a:extLst>
          </p:cNvPr>
          <p:cNvSpPr txBox="1"/>
          <p:nvPr/>
        </p:nvSpPr>
        <p:spPr>
          <a:xfrm>
            <a:off x="516366" y="1079240"/>
            <a:ext cx="572849" cy="215444"/>
          </a:xfrm>
          <a:prstGeom prst="rect">
            <a:avLst/>
          </a:prstGeom>
          <a:noFill/>
        </p:spPr>
        <p:txBody>
          <a:bodyPr wrap="none" lIns="0" tIns="0" rIns="0" bIns="0" rtlCol="0">
            <a:spAutoFit/>
          </a:bodyPr>
          <a:lstStyle/>
          <a:p>
            <a:pPr>
              <a:spcBef>
                <a:spcPts val="600"/>
              </a:spcBef>
              <a:buSzPct val="100000"/>
            </a:pPr>
            <a:r>
              <a:rPr lang="en-US" sz="1400" b="1" dirty="0">
                <a:solidFill>
                  <a:srgbClr val="00B050"/>
                </a:solidFill>
              </a:rPr>
              <a:t>Release</a:t>
            </a:r>
          </a:p>
        </p:txBody>
      </p:sp>
      <p:sp>
        <p:nvSpPr>
          <p:cNvPr id="52" name="TextBox 51">
            <a:extLst>
              <a:ext uri="{FF2B5EF4-FFF2-40B4-BE49-F238E27FC236}">
                <a16:creationId xmlns:a16="http://schemas.microsoft.com/office/drawing/2014/main" id="{6DDA0E93-0EE5-0C54-1AAA-D8D32B91CEEC}"/>
              </a:ext>
            </a:extLst>
          </p:cNvPr>
          <p:cNvSpPr txBox="1"/>
          <p:nvPr/>
        </p:nvSpPr>
        <p:spPr>
          <a:xfrm>
            <a:off x="1656082" y="1092870"/>
            <a:ext cx="1635063" cy="215444"/>
          </a:xfrm>
          <a:prstGeom prst="rect">
            <a:avLst/>
          </a:prstGeom>
          <a:noFill/>
        </p:spPr>
        <p:txBody>
          <a:bodyPr wrap="none" lIns="0" tIns="0" rIns="0" bIns="0" rtlCol="0">
            <a:spAutoFit/>
          </a:bodyPr>
          <a:lstStyle/>
          <a:p>
            <a:pPr>
              <a:spcBef>
                <a:spcPts val="600"/>
              </a:spcBef>
              <a:buSzPct val="100000"/>
            </a:pPr>
            <a:r>
              <a:rPr lang="en-US" sz="1400" b="1" dirty="0">
                <a:solidFill>
                  <a:srgbClr val="00B050"/>
                </a:solidFill>
              </a:rPr>
              <a:t>Capabilities enhanced</a:t>
            </a:r>
          </a:p>
        </p:txBody>
      </p:sp>
      <p:sp>
        <p:nvSpPr>
          <p:cNvPr id="53" name="TextBox 52">
            <a:extLst>
              <a:ext uri="{FF2B5EF4-FFF2-40B4-BE49-F238E27FC236}">
                <a16:creationId xmlns:a16="http://schemas.microsoft.com/office/drawing/2014/main" id="{A9D949AC-624F-E6B7-E4B9-DD4CA76E40F7}"/>
              </a:ext>
            </a:extLst>
          </p:cNvPr>
          <p:cNvSpPr txBox="1"/>
          <p:nvPr/>
        </p:nvSpPr>
        <p:spPr>
          <a:xfrm>
            <a:off x="5061466" y="1101616"/>
            <a:ext cx="1297856" cy="215444"/>
          </a:xfrm>
          <a:prstGeom prst="rect">
            <a:avLst/>
          </a:prstGeom>
          <a:noFill/>
        </p:spPr>
        <p:txBody>
          <a:bodyPr wrap="none" lIns="0" tIns="0" rIns="0" bIns="0" rtlCol="0">
            <a:spAutoFit/>
          </a:bodyPr>
          <a:lstStyle/>
          <a:p>
            <a:pPr>
              <a:spcBef>
                <a:spcPts val="600"/>
              </a:spcBef>
              <a:buSzPct val="100000"/>
            </a:pPr>
            <a:r>
              <a:rPr lang="en-US" sz="1400" b="1" dirty="0">
                <a:solidFill>
                  <a:srgbClr val="00B050"/>
                </a:solidFill>
              </a:rPr>
              <a:t>Products enabled</a:t>
            </a:r>
          </a:p>
        </p:txBody>
      </p:sp>
      <p:sp>
        <p:nvSpPr>
          <p:cNvPr id="54" name="TextBox 53">
            <a:extLst>
              <a:ext uri="{FF2B5EF4-FFF2-40B4-BE49-F238E27FC236}">
                <a16:creationId xmlns:a16="http://schemas.microsoft.com/office/drawing/2014/main" id="{CA96B9BE-A9F1-B9F1-942A-900859F45F1B}"/>
              </a:ext>
            </a:extLst>
          </p:cNvPr>
          <p:cNvSpPr txBox="1"/>
          <p:nvPr/>
        </p:nvSpPr>
        <p:spPr>
          <a:xfrm>
            <a:off x="8967519" y="1084281"/>
            <a:ext cx="2152192" cy="215444"/>
          </a:xfrm>
          <a:prstGeom prst="rect">
            <a:avLst/>
          </a:prstGeom>
          <a:noFill/>
        </p:spPr>
        <p:txBody>
          <a:bodyPr wrap="none" lIns="0" tIns="0" rIns="0" bIns="0" rtlCol="0">
            <a:spAutoFit/>
          </a:bodyPr>
          <a:lstStyle/>
          <a:p>
            <a:pPr>
              <a:spcBef>
                <a:spcPts val="600"/>
              </a:spcBef>
              <a:buSzPct val="100000"/>
            </a:pPr>
            <a:r>
              <a:rPr lang="en-US" sz="1400" b="1" dirty="0">
                <a:solidFill>
                  <a:srgbClr val="00B050"/>
                </a:solidFill>
              </a:rPr>
              <a:t>Business outcomes impacted</a:t>
            </a:r>
          </a:p>
        </p:txBody>
      </p:sp>
      <p:sp>
        <p:nvSpPr>
          <p:cNvPr id="58" name="TextBox 57">
            <a:extLst>
              <a:ext uri="{FF2B5EF4-FFF2-40B4-BE49-F238E27FC236}">
                <a16:creationId xmlns:a16="http://schemas.microsoft.com/office/drawing/2014/main" id="{A16647DB-0CEB-F222-B2FE-635BACC08872}"/>
              </a:ext>
            </a:extLst>
          </p:cNvPr>
          <p:cNvSpPr txBox="1"/>
          <p:nvPr/>
        </p:nvSpPr>
        <p:spPr bwMode="gray">
          <a:xfrm>
            <a:off x="8928075" y="1483701"/>
            <a:ext cx="3139444" cy="728405"/>
          </a:xfrm>
          <a:prstGeom prst="rect">
            <a:avLst/>
          </a:prstGeom>
          <a:noFill/>
        </p:spPr>
        <p:txBody>
          <a:bodyPr vert="horz" wrap="square" lIns="0" tIns="0" rIns="0" bIns="0" rtlCol="0">
            <a:spAutoFit/>
          </a:bodyPr>
          <a:lstStyle/>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Decrease time to discover and access data</a:t>
            </a:r>
          </a:p>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Improve visibility to data for a broad group of stakeholders of varying skill levels via a centralized solution</a:t>
            </a:r>
          </a:p>
        </p:txBody>
      </p:sp>
      <p:sp>
        <p:nvSpPr>
          <p:cNvPr id="59" name="TextBox 58">
            <a:extLst>
              <a:ext uri="{FF2B5EF4-FFF2-40B4-BE49-F238E27FC236}">
                <a16:creationId xmlns:a16="http://schemas.microsoft.com/office/drawing/2014/main" id="{B729E9CD-3313-EEBE-B587-4256FD657ADB}"/>
              </a:ext>
            </a:extLst>
          </p:cNvPr>
          <p:cNvSpPr txBox="1"/>
          <p:nvPr/>
        </p:nvSpPr>
        <p:spPr bwMode="gray">
          <a:xfrm>
            <a:off x="8928075" y="2552890"/>
            <a:ext cx="3139444" cy="830997"/>
          </a:xfrm>
          <a:prstGeom prst="rect">
            <a:avLst/>
          </a:prstGeom>
          <a:noFill/>
        </p:spPr>
        <p:txBody>
          <a:bodyPr vert="horz" wrap="square" lIns="0" tIns="0" rIns="0" bIns="0" rtlCol="0">
            <a:spAutoFit/>
          </a:bodyPr>
          <a:lstStyle/>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Reduce redundant data acquisition </a:t>
            </a:r>
          </a:p>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Reduce time to onboard new resources </a:t>
            </a:r>
          </a:p>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Reduced time from ingestion to availability</a:t>
            </a:r>
          </a:p>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Improved data standards and collaboration</a:t>
            </a:r>
          </a:p>
        </p:txBody>
      </p:sp>
      <p:sp>
        <p:nvSpPr>
          <p:cNvPr id="60" name="TextBox 59">
            <a:extLst>
              <a:ext uri="{FF2B5EF4-FFF2-40B4-BE49-F238E27FC236}">
                <a16:creationId xmlns:a16="http://schemas.microsoft.com/office/drawing/2014/main" id="{DCA25D73-133B-BA43-1373-41500658930A}"/>
              </a:ext>
            </a:extLst>
          </p:cNvPr>
          <p:cNvSpPr txBox="1"/>
          <p:nvPr/>
        </p:nvSpPr>
        <p:spPr bwMode="gray">
          <a:xfrm>
            <a:off x="8928075" y="4175585"/>
            <a:ext cx="3139444" cy="1779974"/>
          </a:xfrm>
          <a:prstGeom prst="rect">
            <a:avLst/>
          </a:prstGeom>
          <a:noFill/>
        </p:spPr>
        <p:txBody>
          <a:bodyPr vert="horz" wrap="square" lIns="0" tIns="0" rIns="0" bIns="0" rtlCol="0">
            <a:spAutoFit/>
          </a:bodyPr>
          <a:lstStyle/>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Optimize investments in data</a:t>
            </a:r>
          </a:p>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Reduce time spent on data quality resolution </a:t>
            </a:r>
          </a:p>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Improved compliance with governance and data use rights</a:t>
            </a:r>
          </a:p>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Faster time to results with advanced search and filters</a:t>
            </a:r>
          </a:p>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Increased personalization and marketplace storefront features</a:t>
            </a:r>
          </a:p>
          <a:p>
            <a:pPr marL="285750" indent="-285750">
              <a:spcBef>
                <a:spcPts val="400"/>
              </a:spcBef>
              <a:buClr>
                <a:schemeClr val="tx1"/>
              </a:buClr>
              <a:buSzPct val="100000"/>
              <a:buFont typeface="Arial" panose="020B0604020202020204" pitchFamily="34" charset="0"/>
              <a:buChar char="•"/>
              <a:defRPr/>
            </a:pPr>
            <a:r>
              <a:rPr lang="en-US" sz="1100" dirty="0">
                <a:solidFill>
                  <a:srgbClr val="000000"/>
                </a:solidFill>
              </a:rPr>
              <a:t>Enhanced community collaborations</a:t>
            </a:r>
          </a:p>
        </p:txBody>
      </p:sp>
      <p:sp>
        <p:nvSpPr>
          <p:cNvPr id="4" name="TextBox 3">
            <a:extLst>
              <a:ext uri="{FF2B5EF4-FFF2-40B4-BE49-F238E27FC236}">
                <a16:creationId xmlns:a16="http://schemas.microsoft.com/office/drawing/2014/main" id="{568BEDCF-5530-283E-2B1B-2E277506A1E7}"/>
              </a:ext>
            </a:extLst>
          </p:cNvPr>
          <p:cNvSpPr txBox="1"/>
          <p:nvPr/>
        </p:nvSpPr>
        <p:spPr>
          <a:xfrm>
            <a:off x="6596353" y="1101616"/>
            <a:ext cx="917687" cy="215444"/>
          </a:xfrm>
          <a:prstGeom prst="rect">
            <a:avLst/>
          </a:prstGeom>
          <a:noFill/>
        </p:spPr>
        <p:txBody>
          <a:bodyPr wrap="none" lIns="0" tIns="0" rIns="0" bIns="0" rtlCol="0">
            <a:spAutoFit/>
          </a:bodyPr>
          <a:lstStyle/>
          <a:p>
            <a:pPr>
              <a:spcBef>
                <a:spcPts val="600"/>
              </a:spcBef>
              <a:buSzPct val="100000"/>
            </a:pPr>
            <a:r>
              <a:rPr lang="en-US" sz="1400" b="1" dirty="0">
                <a:solidFill>
                  <a:srgbClr val="00B050"/>
                </a:solidFill>
              </a:rPr>
              <a:t>Deliverables</a:t>
            </a:r>
          </a:p>
        </p:txBody>
      </p:sp>
      <p:sp>
        <p:nvSpPr>
          <p:cNvPr id="5" name="TextBox 4">
            <a:extLst>
              <a:ext uri="{FF2B5EF4-FFF2-40B4-BE49-F238E27FC236}">
                <a16:creationId xmlns:a16="http://schemas.microsoft.com/office/drawing/2014/main" id="{B1AF72FB-B736-6050-1D8B-653F60BB6B0B}"/>
              </a:ext>
            </a:extLst>
          </p:cNvPr>
          <p:cNvSpPr txBox="1"/>
          <p:nvPr/>
        </p:nvSpPr>
        <p:spPr bwMode="gray">
          <a:xfrm>
            <a:off x="6607516" y="1517333"/>
            <a:ext cx="1838402" cy="779701"/>
          </a:xfrm>
          <a:prstGeom prst="rect">
            <a:avLst/>
          </a:prstGeom>
          <a:noFill/>
        </p:spPr>
        <p:txBody>
          <a:bodyPr vert="horz" wrap="square" lIns="0" tIns="0" rIns="0" bIns="0" rtlCol="0">
            <a:spAutoFit/>
          </a:bodyPr>
          <a:lstStyle/>
          <a:p>
            <a:pPr marL="173038" indent="-173038">
              <a:spcBef>
                <a:spcPts val="400"/>
              </a:spcBef>
              <a:buClr>
                <a:schemeClr val="tx1"/>
              </a:buClr>
              <a:buSzPct val="100000"/>
              <a:buFont typeface="Arial" panose="020B0604020202020204" pitchFamily="34" charset="0"/>
              <a:buChar char="•"/>
              <a:defRPr/>
            </a:pPr>
            <a:r>
              <a:rPr lang="en-US" sz="1100" dirty="0">
                <a:solidFill>
                  <a:srgbClr val="000000"/>
                </a:solidFill>
              </a:rPr>
              <a:t>Data access framework. Workflow req.</a:t>
            </a:r>
          </a:p>
          <a:p>
            <a:pPr marL="173038" indent="-173038">
              <a:spcBef>
                <a:spcPts val="400"/>
              </a:spcBef>
              <a:buClr>
                <a:schemeClr val="tx1"/>
              </a:buClr>
              <a:buSzPct val="100000"/>
              <a:buFont typeface="Arial" panose="020B0604020202020204" pitchFamily="34" charset="0"/>
              <a:buChar char="•"/>
              <a:defRPr/>
            </a:pPr>
            <a:r>
              <a:rPr lang="en-US" sz="1100" dirty="0">
                <a:solidFill>
                  <a:srgbClr val="000000"/>
                </a:solidFill>
              </a:rPr>
              <a:t>Data product req. &amp; design</a:t>
            </a:r>
          </a:p>
          <a:p>
            <a:pPr marL="173038" indent="-173038">
              <a:spcBef>
                <a:spcPts val="400"/>
              </a:spcBef>
              <a:buClr>
                <a:schemeClr val="tx1"/>
              </a:buClr>
              <a:buSzPct val="100000"/>
              <a:buFont typeface="Arial" panose="020B0604020202020204" pitchFamily="34" charset="0"/>
              <a:buChar char="•"/>
              <a:defRPr/>
            </a:pPr>
            <a:r>
              <a:rPr lang="en-US" sz="1100" dirty="0">
                <a:solidFill>
                  <a:srgbClr val="000000"/>
                </a:solidFill>
              </a:rPr>
              <a:t>Standard data taxonomy</a:t>
            </a:r>
          </a:p>
        </p:txBody>
      </p:sp>
      <p:sp>
        <p:nvSpPr>
          <p:cNvPr id="6" name="TextBox 5">
            <a:extLst>
              <a:ext uri="{FF2B5EF4-FFF2-40B4-BE49-F238E27FC236}">
                <a16:creationId xmlns:a16="http://schemas.microsoft.com/office/drawing/2014/main" id="{41AA729F-DEC1-B802-32FC-5FD59C33A570}"/>
              </a:ext>
            </a:extLst>
          </p:cNvPr>
          <p:cNvSpPr txBox="1"/>
          <p:nvPr/>
        </p:nvSpPr>
        <p:spPr bwMode="gray">
          <a:xfrm>
            <a:off x="6596353" y="2658926"/>
            <a:ext cx="1838402" cy="779701"/>
          </a:xfrm>
          <a:prstGeom prst="rect">
            <a:avLst/>
          </a:prstGeom>
          <a:noFill/>
        </p:spPr>
        <p:txBody>
          <a:bodyPr vert="horz" wrap="square" lIns="0" tIns="0" rIns="0" bIns="0" rtlCol="0">
            <a:spAutoFit/>
          </a:bodyPr>
          <a:lstStyle/>
          <a:p>
            <a:pPr marL="173038" indent="-173038">
              <a:spcBef>
                <a:spcPts val="400"/>
              </a:spcBef>
              <a:buClr>
                <a:schemeClr val="tx1"/>
              </a:buClr>
              <a:buSzPct val="100000"/>
              <a:buFont typeface="Arial" panose="020B0604020202020204" pitchFamily="34" charset="0"/>
              <a:buChar char="•"/>
              <a:defRPr/>
            </a:pPr>
            <a:r>
              <a:rPr lang="en-US" sz="1100" dirty="0">
                <a:solidFill>
                  <a:srgbClr val="000000"/>
                </a:solidFill>
              </a:rPr>
              <a:t>Centralized workflows</a:t>
            </a:r>
          </a:p>
          <a:p>
            <a:pPr marL="173038" indent="-173038">
              <a:spcBef>
                <a:spcPts val="400"/>
              </a:spcBef>
              <a:buClr>
                <a:schemeClr val="tx1"/>
              </a:buClr>
              <a:buSzPct val="100000"/>
              <a:buFont typeface="Arial" panose="020B0604020202020204" pitchFamily="34" charset="0"/>
              <a:buChar char="•"/>
              <a:defRPr/>
            </a:pPr>
            <a:r>
              <a:rPr lang="en-US" sz="1100" dirty="0">
                <a:solidFill>
                  <a:srgbClr val="000000"/>
                </a:solidFill>
              </a:rPr>
              <a:t>1-2 data products enabled</a:t>
            </a:r>
          </a:p>
          <a:p>
            <a:pPr marL="173038" indent="-173038">
              <a:spcBef>
                <a:spcPts val="400"/>
              </a:spcBef>
              <a:buClr>
                <a:schemeClr val="tx1"/>
              </a:buClr>
              <a:buSzPct val="100000"/>
              <a:buFont typeface="Arial" panose="020B0604020202020204" pitchFamily="34" charset="0"/>
              <a:buChar char="•"/>
              <a:defRPr/>
            </a:pPr>
            <a:r>
              <a:rPr lang="en-US" sz="1100" dirty="0">
                <a:solidFill>
                  <a:srgbClr val="000000"/>
                </a:solidFill>
              </a:rPr>
              <a:t>Improved data management capabilities</a:t>
            </a:r>
          </a:p>
        </p:txBody>
      </p:sp>
      <p:sp>
        <p:nvSpPr>
          <p:cNvPr id="9" name="TextBox 8">
            <a:extLst>
              <a:ext uri="{FF2B5EF4-FFF2-40B4-BE49-F238E27FC236}">
                <a16:creationId xmlns:a16="http://schemas.microsoft.com/office/drawing/2014/main" id="{88AA5FA0-AE99-7BBA-5FA8-78D33FD5CC69}"/>
              </a:ext>
            </a:extLst>
          </p:cNvPr>
          <p:cNvSpPr txBox="1"/>
          <p:nvPr/>
        </p:nvSpPr>
        <p:spPr bwMode="gray">
          <a:xfrm>
            <a:off x="6596353" y="4172162"/>
            <a:ext cx="1838402" cy="779701"/>
          </a:xfrm>
          <a:prstGeom prst="rect">
            <a:avLst/>
          </a:prstGeom>
          <a:noFill/>
        </p:spPr>
        <p:txBody>
          <a:bodyPr vert="horz" wrap="square" lIns="0" tIns="0" rIns="0" bIns="0" rtlCol="0">
            <a:spAutoFit/>
          </a:bodyPr>
          <a:lstStyle/>
          <a:p>
            <a:pPr marL="173038" indent="-173038">
              <a:spcBef>
                <a:spcPts val="400"/>
              </a:spcBef>
              <a:buClr>
                <a:schemeClr val="tx1"/>
              </a:buClr>
              <a:buSzPct val="100000"/>
              <a:buFont typeface="Arial" panose="020B0604020202020204" pitchFamily="34" charset="0"/>
              <a:buChar char="•"/>
              <a:defRPr/>
            </a:pPr>
            <a:r>
              <a:rPr lang="en-US" sz="1100" dirty="0">
                <a:solidFill>
                  <a:srgbClr val="000000"/>
                </a:solidFill>
              </a:rPr>
              <a:t>Metadata aggregator </a:t>
            </a:r>
          </a:p>
          <a:p>
            <a:pPr marL="173038" indent="-173038">
              <a:spcBef>
                <a:spcPts val="400"/>
              </a:spcBef>
              <a:buClr>
                <a:schemeClr val="tx1"/>
              </a:buClr>
              <a:buSzPct val="100000"/>
              <a:buFont typeface="Arial" panose="020B0604020202020204" pitchFamily="34" charset="0"/>
              <a:buChar char="•"/>
              <a:defRPr/>
            </a:pPr>
            <a:r>
              <a:rPr lang="en-US" sz="1100" dirty="0">
                <a:solidFill>
                  <a:srgbClr val="000000"/>
                </a:solidFill>
              </a:rPr>
              <a:t>Additional data products</a:t>
            </a:r>
          </a:p>
          <a:p>
            <a:pPr marL="173038" indent="-173038">
              <a:spcBef>
                <a:spcPts val="400"/>
              </a:spcBef>
              <a:buClr>
                <a:schemeClr val="tx1"/>
              </a:buClr>
              <a:buSzPct val="100000"/>
              <a:buFont typeface="Arial" panose="020B0604020202020204" pitchFamily="34" charset="0"/>
              <a:buChar char="•"/>
              <a:defRPr/>
            </a:pPr>
            <a:r>
              <a:rPr lang="en-US" sz="1100" dirty="0">
                <a:solidFill>
                  <a:srgbClr val="000000"/>
                </a:solidFill>
              </a:rPr>
              <a:t>Marketplace storefront Features &amp; Functionalities</a:t>
            </a:r>
          </a:p>
        </p:txBody>
      </p:sp>
    </p:spTree>
    <p:extLst>
      <p:ext uri="{BB962C8B-B14F-4D97-AF65-F5344CB8AC3E}">
        <p14:creationId xmlns:p14="http://schemas.microsoft.com/office/powerpoint/2010/main" val="75946824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D7B4C-CC20-49EE-A503-055833F6CBBD}"/>
              </a:ext>
            </a:extLst>
          </p:cNvPr>
          <p:cNvSpPr>
            <a:spLocks noGrp="1"/>
          </p:cNvSpPr>
          <p:nvPr>
            <p:ph type="title"/>
          </p:nvPr>
        </p:nvSpPr>
        <p:spPr/>
        <p:txBody>
          <a:bodyPr/>
          <a:lstStyle/>
          <a:p>
            <a:pPr>
              <a:lnSpc>
                <a:spcPct val="90000"/>
              </a:lnSpc>
            </a:pPr>
            <a:r>
              <a:rPr lang="en-US" sz="2000" spc="-75" dirty="0">
                <a:solidFill>
                  <a:schemeClr val="tx1"/>
                </a:solidFill>
              </a:rPr>
              <a:t>Deloitte’s implementation of Data Marketplace at Global Pharmaceutical Company</a:t>
            </a:r>
          </a:p>
        </p:txBody>
      </p:sp>
      <p:sp>
        <p:nvSpPr>
          <p:cNvPr id="11" name="Text Placeholder 10">
            <a:extLst>
              <a:ext uri="{FF2B5EF4-FFF2-40B4-BE49-F238E27FC236}">
                <a16:creationId xmlns:a16="http://schemas.microsoft.com/office/drawing/2014/main" id="{F5229FB9-1120-6B46-B38E-0D4E53B5EE92}"/>
              </a:ext>
            </a:extLst>
          </p:cNvPr>
          <p:cNvSpPr>
            <a:spLocks noGrp="1"/>
          </p:cNvSpPr>
          <p:nvPr>
            <p:ph type="body" sz="quarter" idx="14"/>
          </p:nvPr>
        </p:nvSpPr>
        <p:spPr>
          <a:noFill/>
        </p:spPr>
        <p:txBody>
          <a:bodyPr/>
          <a:lstStyle/>
          <a:p>
            <a:r>
              <a:rPr lang="en-US" sz="1050" b="1" kern="0" cap="all" spc="250" dirty="0">
                <a:solidFill>
                  <a:schemeClr val="bg1">
                    <a:lumMod val="50000"/>
                  </a:schemeClr>
                </a:solidFill>
                <a:latin typeface="+mj-lt"/>
                <a:ea typeface="+mn-ea"/>
                <a:cs typeface="+mn-cs"/>
              </a:rPr>
              <a:t>CASE STUDY</a:t>
            </a:r>
            <a:endParaRPr lang="en-GB" sz="1050" b="1" kern="0" cap="all" spc="250" dirty="0">
              <a:solidFill>
                <a:schemeClr val="bg1">
                  <a:lumMod val="50000"/>
                </a:schemeClr>
              </a:solidFill>
              <a:latin typeface="+mj-lt"/>
              <a:ea typeface="+mn-ea"/>
              <a:cs typeface="+mn-cs"/>
            </a:endParaRPr>
          </a:p>
        </p:txBody>
      </p:sp>
      <p:grpSp>
        <p:nvGrpSpPr>
          <p:cNvPr id="3" name="Group 2">
            <a:extLst>
              <a:ext uri="{FF2B5EF4-FFF2-40B4-BE49-F238E27FC236}">
                <a16:creationId xmlns:a16="http://schemas.microsoft.com/office/drawing/2014/main" id="{E6DB0A6C-8D93-DB47-6008-DF74E97B38C6}"/>
              </a:ext>
            </a:extLst>
          </p:cNvPr>
          <p:cNvGrpSpPr/>
          <p:nvPr/>
        </p:nvGrpSpPr>
        <p:grpSpPr>
          <a:xfrm>
            <a:off x="1129810" y="822960"/>
            <a:ext cx="9932380" cy="5358788"/>
            <a:chOff x="1316241" y="1042287"/>
            <a:chExt cx="9932380" cy="5358788"/>
          </a:xfrm>
        </p:grpSpPr>
        <p:sp>
          <p:nvSpPr>
            <p:cNvPr id="4" name="Text Placeholder 8">
              <a:extLst>
                <a:ext uri="{FF2B5EF4-FFF2-40B4-BE49-F238E27FC236}">
                  <a16:creationId xmlns:a16="http://schemas.microsoft.com/office/drawing/2014/main" id="{E35CE4B0-4BBB-B7B7-89D9-B4C2C4C7B391}"/>
                </a:ext>
              </a:extLst>
            </p:cNvPr>
            <p:cNvSpPr txBox="1">
              <a:spLocks/>
            </p:cNvSpPr>
            <p:nvPr/>
          </p:nvSpPr>
          <p:spPr>
            <a:xfrm>
              <a:off x="1379951" y="1042287"/>
              <a:ext cx="3463925" cy="228600"/>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chemeClr val="accent1"/>
                  </a:solidFill>
                </a:rPr>
                <a:t>Client use case</a:t>
              </a:r>
            </a:p>
          </p:txBody>
        </p:sp>
        <p:sp>
          <p:nvSpPr>
            <p:cNvPr id="5" name="Text Placeholder 5">
              <a:extLst>
                <a:ext uri="{FF2B5EF4-FFF2-40B4-BE49-F238E27FC236}">
                  <a16:creationId xmlns:a16="http://schemas.microsoft.com/office/drawing/2014/main" id="{4D189C60-D2C4-159F-B8A9-875E5CA3BA68}"/>
                </a:ext>
              </a:extLst>
            </p:cNvPr>
            <p:cNvSpPr txBox="1">
              <a:spLocks/>
            </p:cNvSpPr>
            <p:nvPr/>
          </p:nvSpPr>
          <p:spPr>
            <a:xfrm>
              <a:off x="1379950" y="1288032"/>
              <a:ext cx="9868671" cy="664797"/>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spcBef>
                  <a:spcPts val="0"/>
                </a:spcBef>
                <a:spcAft>
                  <a:spcPts val="600"/>
                </a:spcAft>
                <a:buNone/>
              </a:pPr>
              <a:r>
                <a:rPr lang="en-US" sz="1200" dirty="0">
                  <a:latin typeface="Open Sans" panose="020B0606030504020204" pitchFamily="34" charset="0"/>
                  <a:ea typeface="Open Sans" panose="020B0606030504020204" pitchFamily="34" charset="0"/>
                  <a:cs typeface="Open Sans" panose="020B0606030504020204" pitchFamily="34" charset="0"/>
                </a:rPr>
                <a:t>Multinational pharmaceutical company found its enterprise data </a:t>
              </a:r>
              <a:r>
                <a:rPr lang="en-US" sz="1200" b="1" dirty="0">
                  <a:latin typeface="Open Sans" panose="020B0606030504020204" pitchFamily="34" charset="0"/>
                  <a:ea typeface="Open Sans" panose="020B0606030504020204" pitchFamily="34" charset="0"/>
                  <a:cs typeface="Open Sans" panose="020B0606030504020204" pitchFamily="34" charset="0"/>
                </a:rPr>
                <a:t>fragmented and hard to find and trust</a:t>
              </a:r>
              <a:r>
                <a:rPr lang="en-US" sz="1200" dirty="0">
                  <a:latin typeface="Open Sans" panose="020B0606030504020204" pitchFamily="34" charset="0"/>
                  <a:ea typeface="Open Sans" panose="020B0606030504020204" pitchFamily="34" charset="0"/>
                  <a:cs typeface="Open Sans" panose="020B0606030504020204" pitchFamily="34" charset="0"/>
                </a:rPr>
                <a:t>, there by </a:t>
              </a:r>
              <a:r>
                <a:rPr lang="en-US" sz="1200" b="1" dirty="0">
                  <a:latin typeface="Open Sans" panose="020B0606030504020204" pitchFamily="34" charset="0"/>
                  <a:ea typeface="Open Sans" panose="020B0606030504020204" pitchFamily="34" charset="0"/>
                  <a:cs typeface="Open Sans" panose="020B0606030504020204" pitchFamily="34" charset="0"/>
                </a:rPr>
                <a:t>limiting potential for advanced analytics</a:t>
              </a:r>
              <a:r>
                <a:rPr lang="en-US" sz="1200" dirty="0">
                  <a:latin typeface="Open Sans" panose="020B0606030504020204" pitchFamily="34" charset="0"/>
                  <a:ea typeface="Open Sans" panose="020B0606030504020204" pitchFamily="34" charset="0"/>
                  <a:cs typeface="Open Sans" panose="020B0606030504020204" pitchFamily="34" charset="0"/>
                </a:rPr>
                <a:t>. Major pain points included:</a:t>
              </a:r>
            </a:p>
            <a:p>
              <a:pPr marL="171450" indent="-171450">
                <a:spcBef>
                  <a:spcPts val="0"/>
                </a:spcBef>
                <a:spcAft>
                  <a:spcPts val="600"/>
                </a:spcAft>
                <a:buFont typeface="Arial" panose="020B0604020202020204" pitchFamily="34" charset="0"/>
                <a:buChar char="•"/>
              </a:pPr>
              <a:r>
                <a:rPr lang="en-US" sz="1200" dirty="0">
                  <a:solidFill>
                    <a:srgbClr val="000000"/>
                  </a:solidFill>
                  <a:latin typeface="Open Sans" panose="020B0606030504020204" pitchFamily="34" charset="0"/>
                  <a:ea typeface="Open Sans" panose="020B0606030504020204" pitchFamily="34" charset="0"/>
                  <a:cs typeface="Open Sans" panose="020B0606030504020204" pitchFamily="34" charset="0"/>
                </a:rPr>
                <a:t>Voluminous data with proliferation of data systems / tools and inconsistent data models, making it </a:t>
              </a:r>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difficult to merge data sets</a:t>
              </a:r>
              <a:r>
                <a:rPr lang="en-US" sz="1200" dirty="0">
                  <a:solidFill>
                    <a:srgbClr val="000000"/>
                  </a:solidFill>
                  <a:latin typeface="Open Sans" panose="020B0606030504020204" pitchFamily="34" charset="0"/>
                  <a:ea typeface="Open Sans" panose="020B0606030504020204" pitchFamily="34" charset="0"/>
                  <a:cs typeface="Open Sans" panose="020B0606030504020204" pitchFamily="34" charset="0"/>
                </a:rPr>
                <a:t> and </a:t>
              </a:r>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limiting its cross-functional value</a:t>
              </a:r>
            </a:p>
            <a:p>
              <a:pPr marL="171450" indent="-171450">
                <a:spcBef>
                  <a:spcPts val="0"/>
                </a:spcBef>
                <a:spcAft>
                  <a:spcPts val="600"/>
                </a:spcAft>
                <a:buFont typeface="Arial" panose="020B0604020202020204" pitchFamily="34" charset="0"/>
                <a:buChar char="•"/>
              </a:pPr>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No central catalog</a:t>
              </a:r>
              <a:r>
                <a:rPr lang="en-US" sz="1200" dirty="0">
                  <a:solidFill>
                    <a:srgbClr val="000000"/>
                  </a:solidFill>
                  <a:latin typeface="Open Sans" panose="020B0606030504020204" pitchFamily="34" charset="0"/>
                  <a:ea typeface="Open Sans" panose="020B0606030504020204" pitchFamily="34" charset="0"/>
                  <a:cs typeface="Open Sans" panose="020B0606030504020204" pitchFamily="34" charset="0"/>
                </a:rPr>
                <a:t> for data assets, </a:t>
              </a:r>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lack of clear ownership</a:t>
              </a:r>
              <a:r>
                <a:rPr lang="en-US" sz="1200" dirty="0">
                  <a:solidFill>
                    <a:srgbClr val="000000"/>
                  </a:solidFill>
                  <a:latin typeface="Open Sans" panose="020B0606030504020204" pitchFamily="34" charset="0"/>
                  <a:ea typeface="Open Sans" panose="020B0606030504020204" pitchFamily="34" charset="0"/>
                  <a:cs typeface="Open Sans" panose="020B0606030504020204" pitchFamily="34" charset="0"/>
                </a:rPr>
                <a:t>, and </a:t>
              </a:r>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absence of </a:t>
              </a:r>
              <a:r>
                <a:rPr kumimoji="0" lang="en-US" sz="1200" b="1" i="0" u="none" strike="noStrike" kern="0" cap="none" spc="0" normalizeH="0" baseline="0" noProof="0" dirty="0">
                  <a:ln>
                    <a:noFill/>
                  </a:ln>
                  <a:effectLst/>
                  <a:uLnTx/>
                  <a:uFillTx/>
                  <a:cs typeface="Calibri"/>
                </a:rPr>
                <a:t>data access governance</a:t>
              </a:r>
            </a:p>
            <a:p>
              <a:pPr marL="171450" indent="-171450">
                <a:spcBef>
                  <a:spcPts val="0"/>
                </a:spcBef>
                <a:spcAft>
                  <a:spcPts val="600"/>
                </a:spcAft>
                <a:buFont typeface="Arial" panose="020B0604020202020204" pitchFamily="34" charset="0"/>
                <a:buChar char="•"/>
              </a:pP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Placeholder 3">
              <a:extLst>
                <a:ext uri="{FF2B5EF4-FFF2-40B4-BE49-F238E27FC236}">
                  <a16:creationId xmlns:a16="http://schemas.microsoft.com/office/drawing/2014/main" id="{1EE8467A-FB82-CF61-C5E9-6C7209D1E1B7}"/>
                </a:ext>
              </a:extLst>
            </p:cNvPr>
            <p:cNvSpPr txBox="1">
              <a:spLocks/>
            </p:cNvSpPr>
            <p:nvPr/>
          </p:nvSpPr>
          <p:spPr>
            <a:xfrm>
              <a:off x="1379951" y="2442462"/>
              <a:ext cx="3462337" cy="219678"/>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chemeClr val="accent1"/>
                  </a:solidFill>
                </a:rPr>
                <a:t>Approach</a:t>
              </a:r>
            </a:p>
          </p:txBody>
        </p:sp>
        <p:grpSp>
          <p:nvGrpSpPr>
            <p:cNvPr id="19" name="Group 18">
              <a:extLst>
                <a:ext uri="{FF2B5EF4-FFF2-40B4-BE49-F238E27FC236}">
                  <a16:creationId xmlns:a16="http://schemas.microsoft.com/office/drawing/2014/main" id="{70817D7D-E955-33AB-7F9B-4054AFA527E7}"/>
                </a:ext>
              </a:extLst>
            </p:cNvPr>
            <p:cNvGrpSpPr/>
            <p:nvPr/>
          </p:nvGrpSpPr>
          <p:grpSpPr>
            <a:xfrm>
              <a:off x="1316241" y="2819097"/>
              <a:ext cx="2710740" cy="2253851"/>
              <a:chOff x="1176823" y="2322231"/>
              <a:chExt cx="2710740" cy="2253851"/>
            </a:xfrm>
          </p:grpSpPr>
          <p:sp>
            <p:nvSpPr>
              <p:cNvPr id="31" name="Parallelogram 30">
                <a:extLst>
                  <a:ext uri="{FF2B5EF4-FFF2-40B4-BE49-F238E27FC236}">
                    <a16:creationId xmlns:a16="http://schemas.microsoft.com/office/drawing/2014/main" id="{55ADB3AB-C9B4-9438-F935-BF794ECDB495}"/>
                  </a:ext>
                </a:extLst>
              </p:cNvPr>
              <p:cNvSpPr/>
              <p:nvPr/>
            </p:nvSpPr>
            <p:spPr>
              <a:xfrm>
                <a:off x="1270493" y="2329785"/>
                <a:ext cx="2481890" cy="462201"/>
              </a:xfrm>
              <a:prstGeom prst="parallelogram">
                <a:avLst/>
              </a:prstGeom>
              <a:solidFill>
                <a:schemeClr val="accent1">
                  <a:lumMod val="20000"/>
                  <a:lumOff val="80000"/>
                </a:schemeClr>
              </a:solidFill>
            </p:spPr>
            <p:txBody>
              <a:bodyPr wrap="square" lIns="0" tIns="0" rIns="0" bIns="0"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r>
                  <a:rPr lang="en-US" sz="1200" b="1" dirty="0">
                    <a:solidFill>
                      <a:prstClr val="black"/>
                    </a:solidFill>
                    <a:ea typeface="Open Sans" panose="020B0606030504020204" pitchFamily="34" charset="0"/>
                    <a:cs typeface="Open Sans" panose="020B0606030504020204" pitchFamily="34" charset="0"/>
                  </a:rPr>
                  <a:t>Set up Data Marketplace Foundation</a:t>
                </a:r>
                <a:endParaRPr kumimoji="0" lang="en-US" sz="1200" b="0" i="0" u="none" strike="noStrike" kern="1200" cap="none" spc="0" normalizeH="0" baseline="0" noProof="0" dirty="0">
                  <a:ln>
                    <a:noFill/>
                  </a:ln>
                  <a:solidFill>
                    <a:prstClr val="black"/>
                  </a:solidFill>
                  <a:effectLst/>
                  <a:uLnTx/>
                  <a:uFillTx/>
                  <a:ea typeface="Open Sans" panose="020B0606030504020204" pitchFamily="34" charset="0"/>
                  <a:cs typeface="Open Sans" panose="020B0606030504020204" pitchFamily="34" charset="0"/>
                </a:endParaRPr>
              </a:p>
            </p:txBody>
          </p:sp>
          <p:sp>
            <p:nvSpPr>
              <p:cNvPr id="32" name="Oval 31">
                <a:extLst>
                  <a:ext uri="{FF2B5EF4-FFF2-40B4-BE49-F238E27FC236}">
                    <a16:creationId xmlns:a16="http://schemas.microsoft.com/office/drawing/2014/main" id="{B07A73F1-62D8-6A4C-6089-CA50EBDC57CF}"/>
                  </a:ext>
                </a:extLst>
              </p:cNvPr>
              <p:cNvSpPr/>
              <p:nvPr/>
            </p:nvSpPr>
            <p:spPr>
              <a:xfrm>
                <a:off x="1176823" y="2322231"/>
                <a:ext cx="245637" cy="388100"/>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lt1"/>
                    </a:solidFill>
                    <a:latin typeface="+mn-lt"/>
                    <a:ea typeface="+mn-ea"/>
                    <a:cs typeface="+mn-cs"/>
                  </a:defRPr>
                </a:lvl1pPr>
                <a:lvl2pPr marL="609585" algn="l" defTabSz="1219170" rtl="0" eaLnBrk="1" latinLnBrk="0" hangingPunct="1">
                  <a:defRPr sz="2400" kern="1200">
                    <a:solidFill>
                      <a:schemeClr val="lt1"/>
                    </a:solidFill>
                    <a:latin typeface="+mn-lt"/>
                    <a:ea typeface="+mn-ea"/>
                    <a:cs typeface="+mn-cs"/>
                  </a:defRPr>
                </a:lvl2pPr>
                <a:lvl3pPr marL="1219170" algn="l" defTabSz="1219170" rtl="0" eaLnBrk="1" latinLnBrk="0" hangingPunct="1">
                  <a:defRPr sz="2400" kern="1200">
                    <a:solidFill>
                      <a:schemeClr val="lt1"/>
                    </a:solidFill>
                    <a:latin typeface="+mn-lt"/>
                    <a:ea typeface="+mn-ea"/>
                    <a:cs typeface="+mn-cs"/>
                  </a:defRPr>
                </a:lvl3pPr>
                <a:lvl4pPr marL="1828754" algn="l" defTabSz="1219170" rtl="0" eaLnBrk="1" latinLnBrk="0" hangingPunct="1">
                  <a:defRPr sz="2400" kern="1200">
                    <a:solidFill>
                      <a:schemeClr val="lt1"/>
                    </a:solidFill>
                    <a:latin typeface="+mn-lt"/>
                    <a:ea typeface="+mn-ea"/>
                    <a:cs typeface="+mn-cs"/>
                  </a:defRPr>
                </a:lvl4pPr>
                <a:lvl5pPr marL="2438339" algn="l" defTabSz="1219170" rtl="0" eaLnBrk="1" latinLnBrk="0" hangingPunct="1">
                  <a:defRPr sz="2400" kern="1200">
                    <a:solidFill>
                      <a:schemeClr val="lt1"/>
                    </a:solidFill>
                    <a:latin typeface="+mn-lt"/>
                    <a:ea typeface="+mn-ea"/>
                    <a:cs typeface="+mn-cs"/>
                  </a:defRPr>
                </a:lvl5pPr>
                <a:lvl6pPr marL="3047924" algn="l" defTabSz="1219170" rtl="0" eaLnBrk="1" latinLnBrk="0" hangingPunct="1">
                  <a:defRPr sz="2400" kern="1200">
                    <a:solidFill>
                      <a:schemeClr val="lt1"/>
                    </a:solidFill>
                    <a:latin typeface="+mn-lt"/>
                    <a:ea typeface="+mn-ea"/>
                    <a:cs typeface="+mn-cs"/>
                  </a:defRPr>
                </a:lvl6pPr>
                <a:lvl7pPr marL="3657509" algn="l" defTabSz="1219170" rtl="0" eaLnBrk="1" latinLnBrk="0" hangingPunct="1">
                  <a:defRPr sz="2400" kern="1200">
                    <a:solidFill>
                      <a:schemeClr val="lt1"/>
                    </a:solidFill>
                    <a:latin typeface="+mn-lt"/>
                    <a:ea typeface="+mn-ea"/>
                    <a:cs typeface="+mn-cs"/>
                  </a:defRPr>
                </a:lvl7pPr>
                <a:lvl8pPr marL="4267093" algn="l" defTabSz="1219170" rtl="0" eaLnBrk="1" latinLnBrk="0" hangingPunct="1">
                  <a:defRPr sz="2400" kern="1200">
                    <a:solidFill>
                      <a:schemeClr val="lt1"/>
                    </a:solidFill>
                    <a:latin typeface="+mn-lt"/>
                    <a:ea typeface="+mn-ea"/>
                    <a:cs typeface="+mn-cs"/>
                  </a:defRPr>
                </a:lvl8pPr>
                <a:lvl9pPr marL="4876678" algn="l" defTabSz="1219170" rtl="0" eaLnBrk="1" latinLnBrk="0" hangingPunct="1">
                  <a:defRPr sz="24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chemeClr val="accent2"/>
                    </a:solidFill>
                    <a:effectLst/>
                    <a:uLnTx/>
                    <a:uFillTx/>
                    <a:latin typeface="Open Sans"/>
                    <a:ea typeface="+mn-ea"/>
                    <a:cs typeface="Arial" panose="020B0604020202020204" pitchFamily="34" charset="0"/>
                  </a:rPr>
                  <a:t>1</a:t>
                </a:r>
              </a:p>
            </p:txBody>
          </p:sp>
          <p:sp>
            <p:nvSpPr>
              <p:cNvPr id="33" name="TextBox 13">
                <a:extLst>
                  <a:ext uri="{FF2B5EF4-FFF2-40B4-BE49-F238E27FC236}">
                    <a16:creationId xmlns:a16="http://schemas.microsoft.com/office/drawing/2014/main" id="{25758F98-EC5B-674D-934E-D411196C5D41}"/>
                  </a:ext>
                </a:extLst>
              </p:cNvPr>
              <p:cNvSpPr txBox="1"/>
              <p:nvPr/>
            </p:nvSpPr>
            <p:spPr>
              <a:xfrm>
                <a:off x="1270492" y="2821756"/>
                <a:ext cx="2617071" cy="1754326"/>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sz="1200" dirty="0">
                    <a:solidFill>
                      <a:prstClr val="black"/>
                    </a:solidFill>
                    <a:latin typeface="Open Sans"/>
                    <a:cs typeface="Arial" panose="020B0604020202020204" pitchFamily="34" charset="0"/>
                  </a:rPr>
                  <a:t>Set up Data Catalog </a:t>
                </a:r>
                <a:r>
                  <a:rPr lang="en-US" sz="1200" b="1" dirty="0">
                    <a:solidFill>
                      <a:prstClr val="black"/>
                    </a:solidFill>
                    <a:latin typeface="Open Sans"/>
                    <a:cs typeface="Arial" panose="020B0604020202020204" pitchFamily="34" charset="0"/>
                  </a:rPr>
                  <a:t>infrastructure using Collibra</a:t>
                </a:r>
                <a:r>
                  <a:rPr lang="en-US" sz="1200" dirty="0">
                    <a:solidFill>
                      <a:prstClr val="black"/>
                    </a:solidFill>
                    <a:latin typeface="Open Sans"/>
                    <a:cs typeface="Arial" panose="020B0604020202020204" pitchFamily="34" charset="0"/>
                  </a:rPr>
                  <a:t> and metadata connectors for key data sources</a:t>
                </a:r>
              </a:p>
              <a:p>
                <a:pPr marL="171450" lvl="0" indent="-171450">
                  <a:buFont typeface="Arial" panose="020B0604020202020204" pitchFamily="34" charset="0"/>
                  <a:buChar char="•"/>
                  <a:defRPr/>
                </a:pPr>
                <a:r>
                  <a:rPr kumimoji="0" lang="en-US" sz="1200" b="0" i="0" u="none" strike="noStrike" kern="1200" cap="none" spc="0" normalizeH="0" baseline="0" noProof="0" dirty="0">
                    <a:ln>
                      <a:noFill/>
                    </a:ln>
                    <a:solidFill>
                      <a:prstClr val="black"/>
                    </a:solidFill>
                    <a:effectLst/>
                    <a:uLnTx/>
                    <a:uFillTx/>
                    <a:latin typeface="Open Sans"/>
                    <a:ea typeface="+mn-ea"/>
                    <a:cs typeface="Arial" panose="020B0604020202020204" pitchFamily="34" charset="0"/>
                  </a:rPr>
                  <a:t>Defined </a:t>
                </a:r>
                <a:r>
                  <a:rPr kumimoji="0" lang="en-US" sz="1200" b="1" i="0" u="none" strike="noStrike" kern="1200" cap="none" spc="0" normalizeH="0" baseline="0" noProof="0" dirty="0">
                    <a:ln>
                      <a:noFill/>
                    </a:ln>
                    <a:solidFill>
                      <a:prstClr val="black"/>
                    </a:solidFill>
                    <a:effectLst/>
                    <a:uLnTx/>
                    <a:uFillTx/>
                    <a:latin typeface="Open Sans"/>
                    <a:ea typeface="+mn-ea"/>
                    <a:cs typeface="Arial" panose="020B0604020202020204" pitchFamily="34" charset="0"/>
                  </a:rPr>
                  <a:t>target operating model</a:t>
                </a:r>
                <a:r>
                  <a:rPr kumimoji="0" lang="en-US" sz="1200" b="0" i="0" u="none" strike="noStrike" kern="1200" cap="none" spc="0" normalizeH="0" baseline="0" noProof="0" dirty="0">
                    <a:ln>
                      <a:noFill/>
                    </a:ln>
                    <a:solidFill>
                      <a:prstClr val="black"/>
                    </a:solidFill>
                    <a:effectLst/>
                    <a:uLnTx/>
                    <a:uFillTx/>
                    <a:latin typeface="Open Sans"/>
                    <a:ea typeface="+mn-ea"/>
                    <a:cs typeface="Arial" panose="020B0604020202020204" pitchFamily="34" charset="0"/>
                  </a:rPr>
                  <a:t> including taxonomies and data stewardship roles</a:t>
                </a:r>
              </a:p>
              <a:p>
                <a:pPr marL="171450" lvl="0" indent="-171450">
                  <a:buFont typeface="Arial" panose="020B0604020202020204" pitchFamily="34" charset="0"/>
                  <a:buChar char="•"/>
                  <a:defRPr/>
                </a:pPr>
                <a:r>
                  <a:rPr kumimoji="0" lang="en-US" sz="1200" b="0" i="0" u="none" strike="noStrike" kern="1200" cap="none" spc="0" normalizeH="0" baseline="0" noProof="0" dirty="0">
                    <a:ln>
                      <a:noFill/>
                    </a:ln>
                    <a:solidFill>
                      <a:prstClr val="black"/>
                    </a:solidFill>
                    <a:effectLst/>
                    <a:uLnTx/>
                    <a:uFillTx/>
                    <a:latin typeface="Open Sans"/>
                    <a:ea typeface="+mn-ea"/>
                    <a:cs typeface="Arial" panose="020B0604020202020204" pitchFamily="34" charset="0"/>
                  </a:rPr>
                  <a:t>Implemented process workflow for </a:t>
                </a:r>
                <a:r>
                  <a:rPr kumimoji="0" lang="en-US" sz="1200" b="1" i="0" u="none" strike="noStrike" kern="1200" cap="none" spc="0" normalizeH="0" baseline="0" noProof="0" dirty="0">
                    <a:ln>
                      <a:noFill/>
                    </a:ln>
                    <a:solidFill>
                      <a:prstClr val="black"/>
                    </a:solidFill>
                    <a:effectLst/>
                    <a:uLnTx/>
                    <a:uFillTx/>
                    <a:latin typeface="Open Sans"/>
                    <a:ea typeface="+mn-ea"/>
                    <a:cs typeface="Arial" panose="020B0604020202020204" pitchFamily="34" charset="0"/>
                  </a:rPr>
                  <a:t>data access </a:t>
                </a:r>
                <a:r>
                  <a:rPr lang="en-US" sz="1200" b="1" dirty="0">
                    <a:solidFill>
                      <a:prstClr val="black"/>
                    </a:solidFill>
                    <a:latin typeface="Open Sans"/>
                    <a:cs typeface="Arial" panose="020B0604020202020204" pitchFamily="34" charset="0"/>
                  </a:rPr>
                  <a:t>provisioning</a:t>
                </a:r>
                <a:endParaRPr kumimoji="0" lang="en-US" sz="1200" b="1" i="0" u="none" strike="noStrike" kern="1200" cap="none" spc="0" normalizeH="0" baseline="0" noProof="0" dirty="0">
                  <a:ln>
                    <a:noFill/>
                  </a:ln>
                  <a:solidFill>
                    <a:prstClr val="black"/>
                  </a:solidFill>
                  <a:effectLst/>
                  <a:uLnTx/>
                  <a:uFillTx/>
                  <a:latin typeface="Open Sans"/>
                  <a:ea typeface="+mn-ea"/>
                  <a:cs typeface="Arial" panose="020B0604020202020204" pitchFamily="34" charset="0"/>
                </a:endParaRPr>
              </a:p>
            </p:txBody>
          </p:sp>
        </p:grpSp>
        <p:grpSp>
          <p:nvGrpSpPr>
            <p:cNvPr id="20" name="Group 19">
              <a:extLst>
                <a:ext uri="{FF2B5EF4-FFF2-40B4-BE49-F238E27FC236}">
                  <a16:creationId xmlns:a16="http://schemas.microsoft.com/office/drawing/2014/main" id="{254830E2-31F7-2BBE-D832-F25DA89E2BEC}"/>
                </a:ext>
              </a:extLst>
            </p:cNvPr>
            <p:cNvGrpSpPr/>
            <p:nvPr/>
          </p:nvGrpSpPr>
          <p:grpSpPr>
            <a:xfrm>
              <a:off x="3891802" y="2815702"/>
              <a:ext cx="3758370" cy="2257247"/>
              <a:chOff x="3899138" y="2204774"/>
              <a:chExt cx="2604300" cy="2436245"/>
            </a:xfrm>
          </p:grpSpPr>
          <p:sp>
            <p:nvSpPr>
              <p:cNvPr id="28" name="Parallelogram 27">
                <a:extLst>
                  <a:ext uri="{FF2B5EF4-FFF2-40B4-BE49-F238E27FC236}">
                    <a16:creationId xmlns:a16="http://schemas.microsoft.com/office/drawing/2014/main" id="{1689F4D2-E959-63A7-29F5-68549394EEFC}"/>
                  </a:ext>
                </a:extLst>
              </p:cNvPr>
              <p:cNvSpPr/>
              <p:nvPr/>
            </p:nvSpPr>
            <p:spPr>
              <a:xfrm>
                <a:off x="3992809" y="2209612"/>
                <a:ext cx="2419360" cy="491143"/>
              </a:xfrm>
              <a:prstGeom prst="parallelogram">
                <a:avLst/>
              </a:prstGeom>
              <a:solidFill>
                <a:schemeClr val="accent1">
                  <a:lumMod val="20000"/>
                  <a:lumOff val="80000"/>
                </a:schemeClr>
              </a:solidFill>
            </p:spPr>
            <p:txBody>
              <a:bodyPr wrap="square" lIns="0" tIns="0" rIns="0" bIns="0"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spcAft>
                    <a:spcPts val="1200"/>
                  </a:spcAft>
                  <a:defRPr/>
                </a:pPr>
                <a:r>
                  <a:rPr lang="en-US" sz="1200" b="1" dirty="0">
                    <a:solidFill>
                      <a:prstClr val="black"/>
                    </a:solidFill>
                    <a:latin typeface="Open Sans" panose="020B0606030504020204" pitchFamily="34" charset="0"/>
                    <a:ea typeface="Open Sans" panose="020B0606030504020204" pitchFamily="34" charset="0"/>
                    <a:cs typeface="Open Sans" panose="020B0606030504020204" pitchFamily="34" charset="0"/>
                  </a:rPr>
                  <a:t>Pilot and socialize Data Marketplace for Key Business Function</a:t>
                </a:r>
              </a:p>
            </p:txBody>
          </p:sp>
          <p:sp>
            <p:nvSpPr>
              <p:cNvPr id="29" name="Oval 28">
                <a:extLst>
                  <a:ext uri="{FF2B5EF4-FFF2-40B4-BE49-F238E27FC236}">
                    <a16:creationId xmlns:a16="http://schemas.microsoft.com/office/drawing/2014/main" id="{63729255-BA67-4C8D-A0B7-2721379AE802}"/>
                  </a:ext>
                </a:extLst>
              </p:cNvPr>
              <p:cNvSpPr/>
              <p:nvPr/>
            </p:nvSpPr>
            <p:spPr>
              <a:xfrm>
                <a:off x="3899138" y="2204774"/>
                <a:ext cx="245637" cy="388100"/>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lt1"/>
                    </a:solidFill>
                    <a:latin typeface="+mn-lt"/>
                    <a:ea typeface="+mn-ea"/>
                    <a:cs typeface="+mn-cs"/>
                  </a:defRPr>
                </a:lvl1pPr>
                <a:lvl2pPr marL="609585" algn="l" defTabSz="1219170" rtl="0" eaLnBrk="1" latinLnBrk="0" hangingPunct="1">
                  <a:defRPr sz="2400" kern="1200">
                    <a:solidFill>
                      <a:schemeClr val="lt1"/>
                    </a:solidFill>
                    <a:latin typeface="+mn-lt"/>
                    <a:ea typeface="+mn-ea"/>
                    <a:cs typeface="+mn-cs"/>
                  </a:defRPr>
                </a:lvl2pPr>
                <a:lvl3pPr marL="1219170" algn="l" defTabSz="1219170" rtl="0" eaLnBrk="1" latinLnBrk="0" hangingPunct="1">
                  <a:defRPr sz="2400" kern="1200">
                    <a:solidFill>
                      <a:schemeClr val="lt1"/>
                    </a:solidFill>
                    <a:latin typeface="+mn-lt"/>
                    <a:ea typeface="+mn-ea"/>
                    <a:cs typeface="+mn-cs"/>
                  </a:defRPr>
                </a:lvl3pPr>
                <a:lvl4pPr marL="1828754" algn="l" defTabSz="1219170" rtl="0" eaLnBrk="1" latinLnBrk="0" hangingPunct="1">
                  <a:defRPr sz="2400" kern="1200">
                    <a:solidFill>
                      <a:schemeClr val="lt1"/>
                    </a:solidFill>
                    <a:latin typeface="+mn-lt"/>
                    <a:ea typeface="+mn-ea"/>
                    <a:cs typeface="+mn-cs"/>
                  </a:defRPr>
                </a:lvl4pPr>
                <a:lvl5pPr marL="2438339" algn="l" defTabSz="1219170" rtl="0" eaLnBrk="1" latinLnBrk="0" hangingPunct="1">
                  <a:defRPr sz="2400" kern="1200">
                    <a:solidFill>
                      <a:schemeClr val="lt1"/>
                    </a:solidFill>
                    <a:latin typeface="+mn-lt"/>
                    <a:ea typeface="+mn-ea"/>
                    <a:cs typeface="+mn-cs"/>
                  </a:defRPr>
                </a:lvl5pPr>
                <a:lvl6pPr marL="3047924" algn="l" defTabSz="1219170" rtl="0" eaLnBrk="1" latinLnBrk="0" hangingPunct="1">
                  <a:defRPr sz="2400" kern="1200">
                    <a:solidFill>
                      <a:schemeClr val="lt1"/>
                    </a:solidFill>
                    <a:latin typeface="+mn-lt"/>
                    <a:ea typeface="+mn-ea"/>
                    <a:cs typeface="+mn-cs"/>
                  </a:defRPr>
                </a:lvl6pPr>
                <a:lvl7pPr marL="3657509" algn="l" defTabSz="1219170" rtl="0" eaLnBrk="1" latinLnBrk="0" hangingPunct="1">
                  <a:defRPr sz="2400" kern="1200">
                    <a:solidFill>
                      <a:schemeClr val="lt1"/>
                    </a:solidFill>
                    <a:latin typeface="+mn-lt"/>
                    <a:ea typeface="+mn-ea"/>
                    <a:cs typeface="+mn-cs"/>
                  </a:defRPr>
                </a:lvl7pPr>
                <a:lvl8pPr marL="4267093" algn="l" defTabSz="1219170" rtl="0" eaLnBrk="1" latinLnBrk="0" hangingPunct="1">
                  <a:defRPr sz="2400" kern="1200">
                    <a:solidFill>
                      <a:schemeClr val="lt1"/>
                    </a:solidFill>
                    <a:latin typeface="+mn-lt"/>
                    <a:ea typeface="+mn-ea"/>
                    <a:cs typeface="+mn-cs"/>
                  </a:defRPr>
                </a:lvl8pPr>
                <a:lvl9pPr marL="4876678" algn="l" defTabSz="1219170" rtl="0" eaLnBrk="1" latinLnBrk="0" hangingPunct="1">
                  <a:defRPr sz="24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chemeClr val="accent2"/>
                    </a:solidFill>
                    <a:effectLst/>
                    <a:uLnTx/>
                    <a:uFillTx/>
                    <a:latin typeface="Open Sans"/>
                    <a:ea typeface="+mn-ea"/>
                    <a:cs typeface="Arial" panose="020B0604020202020204" pitchFamily="34" charset="0"/>
                  </a:rPr>
                  <a:t>2</a:t>
                </a:r>
              </a:p>
            </p:txBody>
          </p:sp>
          <p:sp>
            <p:nvSpPr>
              <p:cNvPr id="30" name="TextBox 17">
                <a:extLst>
                  <a:ext uri="{FF2B5EF4-FFF2-40B4-BE49-F238E27FC236}">
                    <a16:creationId xmlns:a16="http://schemas.microsoft.com/office/drawing/2014/main" id="{07CCA977-D2E3-7A8C-2EEC-C6EB49314DF4}"/>
                  </a:ext>
                </a:extLst>
              </p:cNvPr>
              <p:cNvSpPr txBox="1"/>
              <p:nvPr/>
            </p:nvSpPr>
            <p:spPr>
              <a:xfrm>
                <a:off x="3992809" y="2747574"/>
                <a:ext cx="2510629" cy="1893445"/>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sz="1200" b="1" dirty="0">
                    <a:solidFill>
                      <a:prstClr val="black"/>
                    </a:solidFill>
                    <a:latin typeface="Open Sans" panose="020B0606030504020204" pitchFamily="34" charset="0"/>
                    <a:ea typeface="Open Sans" panose="020B0606030504020204" pitchFamily="34" charset="0"/>
                    <a:cs typeface="Open Sans" panose="020B0606030504020204" pitchFamily="34" charset="0"/>
                  </a:rPr>
                  <a:t>Set up Data Marketplace </a:t>
                </a:r>
                <a:r>
                  <a:rPr lang="en-US" sz="1200" dirty="0">
                    <a:solidFill>
                      <a:prstClr val="black"/>
                    </a:solidFill>
                    <a:latin typeface="Open Sans" panose="020B0606030504020204" pitchFamily="34" charset="0"/>
                    <a:ea typeface="Open Sans" panose="020B0606030504020204" pitchFamily="34" charset="0"/>
                    <a:cs typeface="Open Sans" panose="020B0606030504020204" pitchFamily="34" charset="0"/>
                  </a:rPr>
                  <a:t>for pilot business function and data domain</a:t>
                </a:r>
              </a:p>
              <a:p>
                <a:pPr marL="171450" lvl="0" indent="-171450">
                  <a:buFont typeface="Arial" panose="020B0604020202020204" pitchFamily="34" charset="0"/>
                  <a:buChar char="•"/>
                  <a:defRPr/>
                </a:pPr>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Onboarded critical data elements</a:t>
                </a:r>
                <a:r>
                  <a:rPr lang="en-US" sz="1200" dirty="0">
                    <a:solidFill>
                      <a:prstClr val="black"/>
                    </a:solidFill>
                    <a:latin typeface="Open Sans" panose="020B0606030504020204" pitchFamily="34" charset="0"/>
                    <a:ea typeface="Open Sans" panose="020B0606030504020204" pitchFamily="34" charset="0"/>
                    <a:cs typeface="Open Sans" panose="020B0606030504020204" pitchFamily="34" charset="0"/>
                  </a:rPr>
                  <a:t> for pilot use case with their </a:t>
                </a:r>
                <a:r>
                  <a:rPr lang="en-US" sz="1200" b="1" dirty="0">
                    <a:solidFill>
                      <a:prstClr val="black"/>
                    </a:solidFill>
                    <a:latin typeface="Open Sans" panose="020B0606030504020204" pitchFamily="34" charset="0"/>
                    <a:ea typeface="Open Sans" panose="020B0606030504020204" pitchFamily="34" charset="0"/>
                    <a:cs typeface="Open Sans" panose="020B0606030504020204" pitchFamily="34" charset="0"/>
                  </a:rPr>
                  <a:t>lineage and glossaries</a:t>
                </a:r>
              </a:p>
              <a:p>
                <a:pPr marL="171450" lvl="0" indent="-171450">
                  <a:buFont typeface="Arial" panose="020B0604020202020204" pitchFamily="34" charset="0"/>
                  <a:buChar char="•"/>
                  <a:defRPr/>
                </a:pPr>
                <a:r>
                  <a:rPr lang="en-US" sz="1200" dirty="0">
                    <a:solidFill>
                      <a:prstClr val="black"/>
                    </a:solidFill>
                    <a:latin typeface="Open Sans" panose="020B0606030504020204" pitchFamily="34" charset="0"/>
                    <a:ea typeface="Open Sans" panose="020B0606030504020204" pitchFamily="34" charset="0"/>
                    <a:cs typeface="Open Sans" panose="020B0606030504020204" pitchFamily="34" charset="0"/>
                  </a:rPr>
                  <a:t>Set up </a:t>
                </a:r>
                <a:r>
                  <a:rPr lang="en-US" sz="1200" b="1" dirty="0">
                    <a:solidFill>
                      <a:prstClr val="black"/>
                    </a:solidFill>
                    <a:latin typeface="Open Sans" panose="020B0606030504020204" pitchFamily="34" charset="0"/>
                    <a:ea typeface="Open Sans" panose="020B0606030504020204" pitchFamily="34" charset="0"/>
                    <a:cs typeface="Open Sans" panose="020B0606030504020204" pitchFamily="34" charset="0"/>
                  </a:rPr>
                  <a:t>access governance for key data sources</a:t>
                </a:r>
                <a:r>
                  <a:rPr lang="en-US" sz="1200" dirty="0">
                    <a:solidFill>
                      <a:prstClr val="black"/>
                    </a:solidFill>
                    <a:latin typeface="Open Sans" panose="020B0606030504020204" pitchFamily="34" charset="0"/>
                    <a:ea typeface="Open Sans" panose="020B0606030504020204" pitchFamily="34" charset="0"/>
                    <a:cs typeface="Open Sans" panose="020B0606030504020204" pitchFamily="34" charset="0"/>
                  </a:rPr>
                  <a:t> to enable automated data access patterns</a:t>
                </a:r>
              </a:p>
              <a:p>
                <a:pPr marL="171450" lvl="0" indent="-171450">
                  <a:buFont typeface="Arial" panose="020B0604020202020204" pitchFamily="34" charset="0"/>
                  <a:buChar char="•"/>
                  <a:defRPr/>
                </a:pPr>
                <a:r>
                  <a:rPr lang="en-US" sz="1200" b="1" dirty="0">
                    <a:solidFill>
                      <a:prstClr val="black"/>
                    </a:solidFill>
                    <a:latin typeface="Open Sans" panose="020B0606030504020204" pitchFamily="34" charset="0"/>
                    <a:ea typeface="Open Sans" panose="020B0606030504020204" pitchFamily="34" charset="0"/>
                    <a:cs typeface="Open Sans" panose="020B0606030504020204" pitchFamily="34" charset="0"/>
                  </a:rPr>
                  <a:t>Socialized pilot effort</a:t>
                </a:r>
                <a:r>
                  <a:rPr lang="en-US" sz="1200" dirty="0">
                    <a:solidFill>
                      <a:prstClr val="black"/>
                    </a:solidFill>
                    <a:latin typeface="Open Sans" panose="020B0606030504020204" pitchFamily="34" charset="0"/>
                    <a:ea typeface="Open Sans" panose="020B0606030504020204" pitchFamily="34" charset="0"/>
                    <a:cs typeface="Open Sans" panose="020B0606030504020204" pitchFamily="34" charset="0"/>
                  </a:rPr>
                  <a:t> across enterprise through campaigns and roadshows</a:t>
                </a:r>
              </a:p>
            </p:txBody>
          </p:sp>
        </p:grpSp>
        <p:grpSp>
          <p:nvGrpSpPr>
            <p:cNvPr id="21" name="Group 20">
              <a:extLst>
                <a:ext uri="{FF2B5EF4-FFF2-40B4-BE49-F238E27FC236}">
                  <a16:creationId xmlns:a16="http://schemas.microsoft.com/office/drawing/2014/main" id="{DF6992E3-8E0A-60A4-9C76-0A26CD6FB70E}"/>
                </a:ext>
              </a:extLst>
            </p:cNvPr>
            <p:cNvGrpSpPr/>
            <p:nvPr/>
          </p:nvGrpSpPr>
          <p:grpSpPr>
            <a:xfrm>
              <a:off x="7518459" y="2815705"/>
              <a:ext cx="3474720" cy="2257243"/>
              <a:chOff x="6486057" y="2191460"/>
              <a:chExt cx="2471110" cy="2486575"/>
            </a:xfrm>
          </p:grpSpPr>
          <p:sp>
            <p:nvSpPr>
              <p:cNvPr id="25" name="Parallelogram 24">
                <a:extLst>
                  <a:ext uri="{FF2B5EF4-FFF2-40B4-BE49-F238E27FC236}">
                    <a16:creationId xmlns:a16="http://schemas.microsoft.com/office/drawing/2014/main" id="{8F2A1FB6-E8B3-FBFA-8954-19684DB0DCB5}"/>
                  </a:ext>
                </a:extLst>
              </p:cNvPr>
              <p:cNvSpPr/>
              <p:nvPr/>
            </p:nvSpPr>
            <p:spPr>
              <a:xfrm>
                <a:off x="6579727" y="2203520"/>
                <a:ext cx="2377440" cy="513724"/>
              </a:xfrm>
              <a:prstGeom prst="parallelogram">
                <a:avLst/>
              </a:prstGeom>
              <a:solidFill>
                <a:schemeClr val="accent1">
                  <a:lumMod val="20000"/>
                  <a:lumOff val="80000"/>
                </a:schemeClr>
              </a:solidFill>
            </p:spPr>
            <p:txBody>
              <a:bodyPr wrap="square" lIns="0" tIns="0" rIns="0" bIns="0"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a:pPr>
                <a:r>
                  <a:rPr lang="en-US" sz="1200" b="1" dirty="0">
                    <a:solidFill>
                      <a:prstClr val="black"/>
                    </a:solidFill>
                    <a:latin typeface="Open Sans"/>
                    <a:cs typeface="Arial" panose="020B0604020202020204" pitchFamily="34" charset="0"/>
                  </a:rPr>
                  <a:t>Leverage Improved User Engagement to Expand Footprint </a:t>
                </a:r>
                <a:endParaRPr kumimoji="0" lang="en-US" sz="1200" b="1" i="0" u="none" strike="noStrike" kern="1200" cap="none" spc="0" normalizeH="0" baseline="0" noProof="0" dirty="0">
                  <a:ln>
                    <a:noFill/>
                  </a:ln>
                  <a:solidFill>
                    <a:prstClr val="black"/>
                  </a:solidFill>
                  <a:effectLst/>
                  <a:uLnTx/>
                  <a:uFillTx/>
                  <a:latin typeface="Open Sans"/>
                  <a:ea typeface="+mn-ea"/>
                  <a:cs typeface="Arial" panose="020B0604020202020204" pitchFamily="34" charset="0"/>
                </a:endParaRPr>
              </a:p>
            </p:txBody>
          </p:sp>
          <p:sp>
            <p:nvSpPr>
              <p:cNvPr id="26" name="Oval 25">
                <a:extLst>
                  <a:ext uri="{FF2B5EF4-FFF2-40B4-BE49-F238E27FC236}">
                    <a16:creationId xmlns:a16="http://schemas.microsoft.com/office/drawing/2014/main" id="{35B17C68-4497-31F9-0260-E64EC8E2B200}"/>
                  </a:ext>
                </a:extLst>
              </p:cNvPr>
              <p:cNvSpPr/>
              <p:nvPr/>
            </p:nvSpPr>
            <p:spPr>
              <a:xfrm>
                <a:off x="6486057" y="2191460"/>
                <a:ext cx="245637" cy="388100"/>
              </a:xfrm>
              <a:prstGeom prst="ellips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lt1"/>
                    </a:solidFill>
                    <a:latin typeface="+mn-lt"/>
                    <a:ea typeface="+mn-ea"/>
                    <a:cs typeface="+mn-cs"/>
                  </a:defRPr>
                </a:lvl1pPr>
                <a:lvl2pPr marL="609585" algn="l" defTabSz="1219170" rtl="0" eaLnBrk="1" latinLnBrk="0" hangingPunct="1">
                  <a:defRPr sz="2400" kern="1200">
                    <a:solidFill>
                      <a:schemeClr val="lt1"/>
                    </a:solidFill>
                    <a:latin typeface="+mn-lt"/>
                    <a:ea typeface="+mn-ea"/>
                    <a:cs typeface="+mn-cs"/>
                  </a:defRPr>
                </a:lvl2pPr>
                <a:lvl3pPr marL="1219170" algn="l" defTabSz="1219170" rtl="0" eaLnBrk="1" latinLnBrk="0" hangingPunct="1">
                  <a:defRPr sz="2400" kern="1200">
                    <a:solidFill>
                      <a:schemeClr val="lt1"/>
                    </a:solidFill>
                    <a:latin typeface="+mn-lt"/>
                    <a:ea typeface="+mn-ea"/>
                    <a:cs typeface="+mn-cs"/>
                  </a:defRPr>
                </a:lvl3pPr>
                <a:lvl4pPr marL="1828754" algn="l" defTabSz="1219170" rtl="0" eaLnBrk="1" latinLnBrk="0" hangingPunct="1">
                  <a:defRPr sz="2400" kern="1200">
                    <a:solidFill>
                      <a:schemeClr val="lt1"/>
                    </a:solidFill>
                    <a:latin typeface="+mn-lt"/>
                    <a:ea typeface="+mn-ea"/>
                    <a:cs typeface="+mn-cs"/>
                  </a:defRPr>
                </a:lvl4pPr>
                <a:lvl5pPr marL="2438339" algn="l" defTabSz="1219170" rtl="0" eaLnBrk="1" latinLnBrk="0" hangingPunct="1">
                  <a:defRPr sz="2400" kern="1200">
                    <a:solidFill>
                      <a:schemeClr val="lt1"/>
                    </a:solidFill>
                    <a:latin typeface="+mn-lt"/>
                    <a:ea typeface="+mn-ea"/>
                    <a:cs typeface="+mn-cs"/>
                  </a:defRPr>
                </a:lvl5pPr>
                <a:lvl6pPr marL="3047924" algn="l" defTabSz="1219170" rtl="0" eaLnBrk="1" latinLnBrk="0" hangingPunct="1">
                  <a:defRPr sz="2400" kern="1200">
                    <a:solidFill>
                      <a:schemeClr val="lt1"/>
                    </a:solidFill>
                    <a:latin typeface="+mn-lt"/>
                    <a:ea typeface="+mn-ea"/>
                    <a:cs typeface="+mn-cs"/>
                  </a:defRPr>
                </a:lvl6pPr>
                <a:lvl7pPr marL="3657509" algn="l" defTabSz="1219170" rtl="0" eaLnBrk="1" latinLnBrk="0" hangingPunct="1">
                  <a:defRPr sz="2400" kern="1200">
                    <a:solidFill>
                      <a:schemeClr val="lt1"/>
                    </a:solidFill>
                    <a:latin typeface="+mn-lt"/>
                    <a:ea typeface="+mn-ea"/>
                    <a:cs typeface="+mn-cs"/>
                  </a:defRPr>
                </a:lvl7pPr>
                <a:lvl8pPr marL="4267093" algn="l" defTabSz="1219170" rtl="0" eaLnBrk="1" latinLnBrk="0" hangingPunct="1">
                  <a:defRPr sz="2400" kern="1200">
                    <a:solidFill>
                      <a:schemeClr val="lt1"/>
                    </a:solidFill>
                    <a:latin typeface="+mn-lt"/>
                    <a:ea typeface="+mn-ea"/>
                    <a:cs typeface="+mn-cs"/>
                  </a:defRPr>
                </a:lvl8pPr>
                <a:lvl9pPr marL="4876678" algn="l" defTabSz="1219170" rtl="0" eaLnBrk="1" latinLnBrk="0" hangingPunct="1">
                  <a:defRPr sz="24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chemeClr val="accent2"/>
                    </a:solidFill>
                    <a:effectLst/>
                    <a:uLnTx/>
                    <a:uFillTx/>
                    <a:latin typeface="Open Sans"/>
                    <a:ea typeface="+mn-ea"/>
                    <a:cs typeface="Arial" panose="020B0604020202020204" pitchFamily="34" charset="0"/>
                  </a:rPr>
                  <a:t>3</a:t>
                </a:r>
              </a:p>
            </p:txBody>
          </p:sp>
          <p:sp>
            <p:nvSpPr>
              <p:cNvPr id="27" name="TextBox 21">
                <a:extLst>
                  <a:ext uri="{FF2B5EF4-FFF2-40B4-BE49-F238E27FC236}">
                    <a16:creationId xmlns:a16="http://schemas.microsoft.com/office/drawing/2014/main" id="{2B493AEA-0B53-BB0A-931A-5AEE054A3F0F}"/>
                  </a:ext>
                </a:extLst>
              </p:cNvPr>
              <p:cNvSpPr txBox="1"/>
              <p:nvPr/>
            </p:nvSpPr>
            <p:spPr>
              <a:xfrm>
                <a:off x="6579727" y="2745473"/>
                <a:ext cx="2377440" cy="1932562"/>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sz="1200" b="1" dirty="0">
                    <a:solidFill>
                      <a:prstClr val="black"/>
                    </a:solidFill>
                    <a:latin typeface="Open Sans"/>
                    <a:cs typeface="Arial" panose="020B0604020202020204" pitchFamily="34" charset="0"/>
                  </a:rPr>
                  <a:t>Created operationalization template</a:t>
                </a:r>
                <a:r>
                  <a:rPr lang="en-US" sz="1200" dirty="0">
                    <a:solidFill>
                      <a:prstClr val="black"/>
                    </a:solidFill>
                    <a:latin typeface="Open Sans"/>
                    <a:cs typeface="Arial" panose="020B0604020202020204" pitchFamily="34" charset="0"/>
                  </a:rPr>
                  <a:t> for business functions and data domains based on outcome of pilot effort</a:t>
                </a:r>
              </a:p>
              <a:p>
                <a:pPr marL="171450" lvl="0" indent="-171450">
                  <a:buFont typeface="Arial" panose="020B0604020202020204" pitchFamily="34" charset="0"/>
                  <a:buChar char="•"/>
                  <a:defRPr/>
                </a:pPr>
                <a:r>
                  <a:rPr kumimoji="0" lang="en-US" sz="1200" b="1" i="0" u="none" strike="noStrike" kern="1200" cap="none" spc="0" normalizeH="0" baseline="0" noProof="0" dirty="0">
                    <a:ln>
                      <a:noFill/>
                    </a:ln>
                    <a:solidFill>
                      <a:prstClr val="black"/>
                    </a:solidFill>
                    <a:effectLst/>
                    <a:uLnTx/>
                    <a:uFillTx/>
                    <a:latin typeface="Open Sans"/>
                    <a:ea typeface="+mn-ea"/>
                    <a:cs typeface="Arial" panose="020B0604020202020204" pitchFamily="34" charset="0"/>
                  </a:rPr>
                  <a:t>Expanded </a:t>
                </a:r>
                <a:r>
                  <a:rPr lang="en-US" sz="1200" b="1" dirty="0">
                    <a:solidFill>
                      <a:prstClr val="black"/>
                    </a:solidFill>
                    <a:latin typeface="Open Sans"/>
                    <a:cs typeface="Arial" panose="020B0604020202020204" pitchFamily="34" charset="0"/>
                  </a:rPr>
                  <a:t>Data Marketplace</a:t>
                </a:r>
                <a:r>
                  <a:rPr kumimoji="0" lang="en-US" sz="1200" i="0" u="none" strike="noStrike" kern="1200" cap="none" spc="0" normalizeH="0" baseline="0" noProof="0" dirty="0">
                    <a:ln>
                      <a:noFill/>
                    </a:ln>
                    <a:solidFill>
                      <a:prstClr val="black"/>
                    </a:solidFill>
                    <a:effectLst/>
                    <a:uLnTx/>
                    <a:uFillTx/>
                    <a:latin typeface="Open Sans"/>
                    <a:ea typeface="+mn-ea"/>
                    <a:cs typeface="Arial" panose="020B0604020202020204" pitchFamily="34" charset="0"/>
                  </a:rPr>
                  <a:t> by onboarding assets for additional functions and domains</a:t>
                </a:r>
              </a:p>
              <a:p>
                <a:pPr marL="171450" indent="-171450">
                  <a:buFont typeface="Arial" panose="020B0604020202020204" pitchFamily="34" charset="0"/>
                  <a:buChar char="•"/>
                  <a:defRPr/>
                </a:pPr>
                <a:r>
                  <a:rPr lang="en-US" sz="1200" dirty="0">
                    <a:ea typeface="Open Sans Semibold" charset="0"/>
                    <a:cs typeface="Open Sans Semibold" charset="0"/>
                  </a:rPr>
                  <a:t>Set up </a:t>
                </a:r>
                <a:r>
                  <a:rPr lang="en-US" sz="1200" b="1" dirty="0">
                    <a:ea typeface="Open Sans SemiBold" charset="0"/>
                    <a:cs typeface="Open Sans SemiBold" charset="0"/>
                  </a:rPr>
                  <a:t>dashboarding and measurement of catalog usage</a:t>
                </a:r>
                <a:r>
                  <a:rPr lang="en-US" sz="1200" dirty="0">
                    <a:ea typeface="Open Sans Semibold" charset="0"/>
                    <a:cs typeface="Open Sans Semibold" charset="0"/>
                  </a:rPr>
                  <a:t> based on enterprise level KPIs to drive user adoption</a:t>
                </a:r>
                <a:endParaRPr lang="en-US" sz="1200" b="1" dirty="0">
                  <a:ea typeface="Open Sans SemiBold" charset="0"/>
                  <a:cs typeface="Open Sans SemiBold" charset="0"/>
                </a:endParaRPr>
              </a:p>
            </p:txBody>
          </p:sp>
        </p:grpSp>
        <p:sp>
          <p:nvSpPr>
            <p:cNvPr id="22" name="Text Placeholder 4">
              <a:extLst>
                <a:ext uri="{FF2B5EF4-FFF2-40B4-BE49-F238E27FC236}">
                  <a16:creationId xmlns:a16="http://schemas.microsoft.com/office/drawing/2014/main" id="{25EFF080-9084-47B4-4E31-589CABD32AF6}"/>
                </a:ext>
              </a:extLst>
            </p:cNvPr>
            <p:cNvSpPr txBox="1">
              <a:spLocks/>
            </p:cNvSpPr>
            <p:nvPr/>
          </p:nvSpPr>
          <p:spPr>
            <a:xfrm>
              <a:off x="1379950" y="5039560"/>
              <a:ext cx="3463925" cy="208097"/>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chemeClr val="accent1"/>
                  </a:solidFill>
                </a:rPr>
                <a:t>Outcome</a:t>
              </a:r>
            </a:p>
          </p:txBody>
        </p:sp>
        <p:sp>
          <p:nvSpPr>
            <p:cNvPr id="23" name="Text Placeholder 7">
              <a:extLst>
                <a:ext uri="{FF2B5EF4-FFF2-40B4-BE49-F238E27FC236}">
                  <a16:creationId xmlns:a16="http://schemas.microsoft.com/office/drawing/2014/main" id="{DBEFB301-0ED7-1FF5-5698-7E04644AC85A}"/>
                </a:ext>
              </a:extLst>
            </p:cNvPr>
            <p:cNvSpPr txBox="1">
              <a:spLocks/>
            </p:cNvSpPr>
            <p:nvPr/>
          </p:nvSpPr>
          <p:spPr>
            <a:xfrm>
              <a:off x="1379950" y="5323857"/>
              <a:ext cx="4813790" cy="1077218"/>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spcBef>
                  <a:spcPts val="0"/>
                </a:spcBef>
                <a:buNone/>
              </a:pPr>
              <a:r>
                <a:rPr lang="en-US" sz="1200" b="1" dirty="0">
                  <a:latin typeface="Open Sans" panose="020B0606030504020204" pitchFamily="34" charset="0"/>
                  <a:ea typeface="Open Sans" panose="020B0606030504020204" pitchFamily="34" charset="0"/>
                  <a:cs typeface="Open Sans" panose="020B0606030504020204" pitchFamily="34" charset="0"/>
                </a:rPr>
                <a:t>Enabled self-discovery, access, and trust of data with:</a:t>
              </a:r>
            </a:p>
            <a:p>
              <a:pPr marL="171450" indent="-171450">
                <a:spcBef>
                  <a:spcPts val="0"/>
                </a:spcBef>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Centralized </a:t>
              </a:r>
              <a:r>
                <a:rPr lang="en-US" sz="1200" b="1" dirty="0">
                  <a:latin typeface="Open Sans" panose="020B0606030504020204" pitchFamily="34" charset="0"/>
                  <a:ea typeface="Open Sans" panose="020B0606030504020204" pitchFamily="34" charset="0"/>
                  <a:cs typeface="Open Sans" panose="020B0606030504020204" pitchFamily="34" charset="0"/>
                </a:rPr>
                <a:t>catalog-enabled marketplace</a:t>
              </a:r>
              <a:r>
                <a:rPr lang="en-US" sz="1200" dirty="0">
                  <a:latin typeface="Open Sans" panose="020B0606030504020204" pitchFamily="34" charset="0"/>
                  <a:ea typeface="Open Sans" panose="020B0606030504020204" pitchFamily="34" charset="0"/>
                  <a:cs typeface="Open Sans" panose="020B0606030504020204" pitchFamily="34" charset="0"/>
                </a:rPr>
                <a:t> with search and lineage capabilities</a:t>
              </a:r>
            </a:p>
            <a:p>
              <a:pPr marL="171450" indent="-171450">
                <a:spcBef>
                  <a:spcPts val="0"/>
                </a:spcBef>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Standardized processes and procedures for </a:t>
              </a:r>
              <a:r>
                <a:rPr lang="en-US" sz="1200" b="1" dirty="0">
                  <a:latin typeface="Open Sans" panose="020B0606030504020204" pitchFamily="34" charset="0"/>
                  <a:ea typeface="Open Sans" panose="020B0606030504020204" pitchFamily="34" charset="0"/>
                  <a:cs typeface="Open Sans" panose="020B0606030504020204" pitchFamily="34" charset="0"/>
                </a:rPr>
                <a:t>data access and lifecycle management</a:t>
              </a:r>
            </a:p>
            <a:p>
              <a:pPr marL="171450" indent="-171450">
                <a:spcBef>
                  <a:spcPts val="0"/>
                </a:spcBef>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Defined roles and responsibilities for </a:t>
              </a:r>
              <a:r>
                <a:rPr lang="en-US" sz="1200" b="1" dirty="0">
                  <a:latin typeface="Open Sans" panose="020B0606030504020204" pitchFamily="34" charset="0"/>
                  <a:ea typeface="Open Sans" panose="020B0606030504020204" pitchFamily="34" charset="0"/>
                  <a:cs typeface="Open Sans" panose="020B0606030504020204" pitchFamily="34" charset="0"/>
                </a:rPr>
                <a:t>data ownership, access management, and metadata curation</a:t>
              </a:r>
            </a:p>
          </p:txBody>
        </p:sp>
        <p:sp>
          <p:nvSpPr>
            <p:cNvPr id="24" name="Text Placeholder 7">
              <a:extLst>
                <a:ext uri="{FF2B5EF4-FFF2-40B4-BE49-F238E27FC236}">
                  <a16:creationId xmlns:a16="http://schemas.microsoft.com/office/drawing/2014/main" id="{1CA1F85F-B140-0718-CD8E-97F1BCE09442}"/>
                </a:ext>
              </a:extLst>
            </p:cNvPr>
            <p:cNvSpPr txBox="1">
              <a:spLocks/>
            </p:cNvSpPr>
            <p:nvPr/>
          </p:nvSpPr>
          <p:spPr>
            <a:xfrm>
              <a:off x="6282430" y="5323857"/>
              <a:ext cx="4813790" cy="1077218"/>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spcBef>
                  <a:spcPts val="0"/>
                </a:spcBef>
                <a:buNone/>
              </a:pPr>
              <a:r>
                <a:rPr lang="en-US" sz="1200" b="1" dirty="0">
                  <a:latin typeface="Open Sans" panose="020B0606030504020204" pitchFamily="34" charset="0"/>
                  <a:ea typeface="Open Sans" panose="020B0606030504020204" pitchFamily="34" charset="0"/>
                  <a:cs typeface="Open Sans" panose="020B0606030504020204" pitchFamily="34" charset="0"/>
                </a:rPr>
                <a:t>…and enabled long term results by:</a:t>
              </a:r>
            </a:p>
            <a:p>
              <a:pPr marL="171450" indent="-171450">
                <a:spcBef>
                  <a:spcPts val="0"/>
                </a:spcBef>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Enabling, measuring, and reporting </a:t>
              </a:r>
              <a:r>
                <a:rPr lang="en-US" sz="1200" b="1" dirty="0">
                  <a:latin typeface="Open Sans" panose="020B0606030504020204" pitchFamily="34" charset="0"/>
                  <a:ea typeface="Open Sans" panose="020B0606030504020204" pitchFamily="34" charset="0"/>
                  <a:cs typeface="Open Sans" panose="020B0606030504020204" pitchFamily="34" charset="0"/>
                </a:rPr>
                <a:t>data and metadata quality metrics</a:t>
              </a:r>
            </a:p>
            <a:p>
              <a:pPr marL="171450" indent="-171450">
                <a:spcBef>
                  <a:spcPts val="0"/>
                </a:spcBef>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Removing fragmented siloes in data landscape and </a:t>
              </a:r>
              <a:r>
                <a:rPr lang="en-US" sz="1200" b="1" dirty="0">
                  <a:latin typeface="Open Sans" panose="020B0606030504020204" pitchFamily="34" charset="0"/>
                  <a:ea typeface="Open Sans" panose="020B0606030504020204" pitchFamily="34" charset="0"/>
                  <a:cs typeface="Open Sans" panose="020B0606030504020204" pitchFamily="34" charset="0"/>
                </a:rPr>
                <a:t>enabling cross-functional collaboration</a:t>
              </a:r>
              <a:r>
                <a:rPr lang="en-US" sz="1200" dirty="0">
                  <a:latin typeface="Open Sans" panose="020B0606030504020204" pitchFamily="34" charset="0"/>
                  <a:ea typeface="Open Sans" panose="020B0606030504020204" pitchFamily="34" charset="0"/>
                  <a:cs typeface="Open Sans" panose="020B0606030504020204" pitchFamily="34" charset="0"/>
                </a:rPr>
                <a:t> through improved enterprise data visibility</a:t>
              </a:r>
            </a:p>
          </p:txBody>
        </p:sp>
      </p:grpSp>
    </p:spTree>
    <p:extLst>
      <p:ext uri="{BB962C8B-B14F-4D97-AF65-F5344CB8AC3E}">
        <p14:creationId xmlns:p14="http://schemas.microsoft.com/office/powerpoint/2010/main" val="722211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a:ea typeface="Open Sans"/>
                <a:cs typeface="Open Sans"/>
              </a:rPr>
              <a:t>Key </a:t>
            </a:r>
            <a:r>
              <a:rPr lang="en-US" sz="2200">
                <a:solidFill>
                  <a:schemeClr val="accent2"/>
                </a:solidFill>
                <a:ea typeface="Open Sans"/>
                <a:cs typeface="Open Sans"/>
              </a:rPr>
              <a:t>user experiences </a:t>
            </a:r>
            <a:r>
              <a:rPr lang="en-US" sz="2200">
                <a:ea typeface="Open Sans"/>
                <a:cs typeface="Open Sans"/>
              </a:rPr>
              <a:t>enabled</a:t>
            </a:r>
          </a:p>
        </p:txBody>
      </p:sp>
      <p:sp>
        <p:nvSpPr>
          <p:cNvPr id="10" name="Rectangle 9">
            <a:extLst>
              <a:ext uri="{FF2B5EF4-FFF2-40B4-BE49-F238E27FC236}">
                <a16:creationId xmlns:a16="http://schemas.microsoft.com/office/drawing/2014/main" id="{F781969A-1048-B96F-B0CB-026C1047CF19}"/>
              </a:ext>
            </a:extLst>
          </p:cNvPr>
          <p:cNvSpPr/>
          <p:nvPr/>
        </p:nvSpPr>
        <p:spPr>
          <a:xfrm>
            <a:off x="458614" y="1076325"/>
            <a:ext cx="10980911" cy="3115933"/>
          </a:xfrm>
          <a:prstGeom prst="rect">
            <a:avLst/>
          </a:prstGeom>
          <a:noFill/>
          <a:ln w="2857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11" name="Slide Number Placeholder 4">
            <a:extLst>
              <a:ext uri="{FF2B5EF4-FFF2-40B4-BE49-F238E27FC236}">
                <a16:creationId xmlns:a16="http://schemas.microsoft.com/office/drawing/2014/main" id="{190BD240-89EB-74E5-1C01-E894CAE4BFE8}"/>
              </a:ext>
            </a:extLst>
          </p:cNvPr>
          <p:cNvSpPr txBox="1">
            <a:spLocks/>
          </p:cNvSpPr>
          <p:nvPr/>
        </p:nvSpPr>
        <p:spPr>
          <a:xfrm>
            <a:off x="311150" y="6523001"/>
            <a:ext cx="294928" cy="19613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810">
              <a:defRPr/>
            </a:pPr>
            <a:fld id="{E9B57936-92EF-4126-AE48-1D9D36D15E98}" type="slidenum">
              <a:rPr lang="ja-JP" altLang="en-US" sz="800" b="1" smtClean="0">
                <a:solidFill>
                  <a:srgbClr val="34373F"/>
                </a:solidFill>
                <a:latin typeface="Calibri" panose="020F0502020204030204" pitchFamily="34" charset="0"/>
                <a:ea typeface="メイリオ" pitchFamily="50" charset="-128"/>
                <a:cs typeface="Calibri" panose="020F0502020204030204" pitchFamily="34" charset="0"/>
              </a:rPr>
              <a:pPr defTabSz="1218810">
                <a:defRPr/>
              </a:pPr>
              <a:t>13</a:t>
            </a:fld>
            <a:endParaRPr lang="ja-JP" altLang="en-US" sz="800" b="1">
              <a:solidFill>
                <a:srgbClr val="34373F"/>
              </a:solidFill>
              <a:latin typeface="Calibri" panose="020F0502020204030204" pitchFamily="34" charset="0"/>
              <a:ea typeface="メイリオ" pitchFamily="50" charset="-128"/>
              <a:cs typeface="Calibri" panose="020F0502020204030204" pitchFamily="34" charset="0"/>
            </a:endParaRPr>
          </a:p>
        </p:txBody>
      </p:sp>
      <p:sp>
        <p:nvSpPr>
          <p:cNvPr id="12" name="Text Placeholder 9">
            <a:extLst>
              <a:ext uri="{FF2B5EF4-FFF2-40B4-BE49-F238E27FC236}">
                <a16:creationId xmlns:a16="http://schemas.microsoft.com/office/drawing/2014/main" id="{F3026F9A-85F5-6849-0FE9-02DD1012B581}"/>
              </a:ext>
            </a:extLst>
          </p:cNvPr>
          <p:cNvSpPr txBox="1">
            <a:spLocks/>
          </p:cNvSpPr>
          <p:nvPr/>
        </p:nvSpPr>
        <p:spPr>
          <a:xfrm>
            <a:off x="6345274" y="1770624"/>
            <a:ext cx="1876694" cy="144546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kumimoji="0" lang="en-US" sz="1600" b="1" i="0" u="none" strike="noStrike" kern="1200" cap="none" spc="0" normalizeH="0" baseline="0" noProof="0">
                <a:ln>
                  <a:noFill/>
                </a:ln>
                <a:solidFill>
                  <a:srgbClr val="00B050"/>
                </a:solidFill>
                <a:effectLst/>
                <a:uLnTx/>
                <a:uFillTx/>
                <a:latin typeface="Calibri" panose="020F0502020204030204"/>
                <a:ea typeface="Open Sans" panose="020B0606030504020204" pitchFamily="34" charset="0"/>
                <a:cs typeface="Open Sans" panose="020B0606030504020204" pitchFamily="34" charset="0"/>
              </a:rPr>
              <a:t>Experience 3: </a:t>
            </a:r>
          </a:p>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kumimoji="0" lang="en-US" sz="1600" b="1" i="0" u="none" strike="noStrike" kern="1200" cap="none" spc="0" normalizeH="0" baseline="0" noProof="0">
                <a:ln>
                  <a:noFill/>
                </a:ln>
                <a:solidFill>
                  <a:srgbClr val="00B050"/>
                </a:solidFill>
                <a:effectLst/>
                <a:uLnTx/>
                <a:uFillTx/>
                <a:latin typeface="Calibri" panose="020F0502020204030204"/>
                <a:ea typeface="Open Sans" panose="020B0606030504020204" pitchFamily="34" charset="0"/>
                <a:cs typeface="Open Sans" panose="020B0606030504020204" pitchFamily="34" charset="0"/>
              </a:rPr>
              <a:t>Trust data</a:t>
            </a:r>
          </a:p>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kumimoji="0" lang="en-US" sz="1200" b="1" i="0" u="none" strike="noStrike" kern="1200" cap="none" spc="0" normalizeH="0" baseline="0" noProof="0">
                <a:ln>
                  <a:noFill/>
                </a:ln>
                <a:solidFill>
                  <a:srgbClr val="34373F"/>
                </a:solidFill>
                <a:effectLst/>
                <a:uLnTx/>
                <a:uFillTx/>
                <a:latin typeface="Calibri" panose="020F0502020204030204"/>
                <a:ea typeface="Open Sans" panose="020B0606030504020204" pitchFamily="34" charset="0"/>
                <a:cs typeface="Open Sans" panose="020B0606030504020204" pitchFamily="34" charset="0"/>
              </a:rPr>
              <a:t>Data Profiling</a:t>
            </a:r>
          </a:p>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kumimoji="0" lang="en-US" sz="1200" b="1" i="0" u="none" strike="noStrike" kern="1200" cap="none" spc="0" normalizeH="0" baseline="0" noProof="0">
                <a:ln>
                  <a:noFill/>
                </a:ln>
                <a:solidFill>
                  <a:srgbClr val="34373F"/>
                </a:solidFill>
                <a:effectLst/>
                <a:uLnTx/>
                <a:uFillTx/>
                <a:latin typeface="Calibri" panose="020F0502020204030204"/>
                <a:ea typeface="Open Sans" panose="020B0606030504020204" pitchFamily="34" charset="0"/>
                <a:cs typeface="Open Sans" panose="020B0606030504020204" pitchFamily="34" charset="0"/>
              </a:rPr>
              <a:t>Data Quality Rules</a:t>
            </a:r>
          </a:p>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lang="en-US" sz="1200" b="1">
                <a:solidFill>
                  <a:srgbClr val="34373F"/>
                </a:solidFill>
                <a:latin typeface="Calibri" panose="020F0502020204030204"/>
                <a:ea typeface="Open Sans" panose="020B0606030504020204" pitchFamily="34" charset="0"/>
                <a:cs typeface="Open Sans" panose="020B0606030504020204" pitchFamily="34" charset="0"/>
              </a:rPr>
              <a:t>Thresholds &amp; Scorecards</a:t>
            </a:r>
            <a:endParaRPr kumimoji="0" lang="en-US" sz="1200" b="1" i="0" u="none" strike="noStrike" kern="1200" cap="none" spc="0" normalizeH="0" baseline="0" noProof="0">
              <a:ln>
                <a:noFill/>
              </a:ln>
              <a:solidFill>
                <a:srgbClr val="34373F"/>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169" name="Text Placeholder 9">
            <a:extLst>
              <a:ext uri="{FF2B5EF4-FFF2-40B4-BE49-F238E27FC236}">
                <a16:creationId xmlns:a16="http://schemas.microsoft.com/office/drawing/2014/main" id="{B8101692-16B4-24D1-85E8-72A957472423}"/>
              </a:ext>
            </a:extLst>
          </p:cNvPr>
          <p:cNvSpPr txBox="1">
            <a:spLocks/>
          </p:cNvSpPr>
          <p:nvPr/>
        </p:nvSpPr>
        <p:spPr>
          <a:xfrm>
            <a:off x="3748657" y="1939022"/>
            <a:ext cx="1876694" cy="1484028"/>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kumimoji="0" lang="en-US" sz="1600" b="1" i="0" u="none" strike="noStrike" kern="1200" cap="none" spc="0" normalizeH="0" baseline="0" noProof="0">
                <a:ln>
                  <a:noFill/>
                </a:ln>
                <a:solidFill>
                  <a:srgbClr val="00B050"/>
                </a:solidFill>
                <a:effectLst/>
                <a:uLnTx/>
                <a:uFillTx/>
                <a:latin typeface="Calibri" panose="020F0502020204030204"/>
                <a:ea typeface="Open Sans" panose="020B0606030504020204" pitchFamily="34" charset="0"/>
                <a:cs typeface="Open Sans" panose="020B0606030504020204" pitchFamily="34" charset="0"/>
              </a:rPr>
              <a:t>Experience 2: </a:t>
            </a:r>
          </a:p>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kumimoji="0" lang="en-US" sz="1600" b="1" i="0" u="none" strike="noStrike" kern="1200" cap="none" spc="0" normalizeH="0" baseline="0" noProof="0">
                <a:ln>
                  <a:noFill/>
                </a:ln>
                <a:solidFill>
                  <a:srgbClr val="00B050"/>
                </a:solidFill>
                <a:effectLst/>
                <a:uLnTx/>
                <a:uFillTx/>
                <a:latin typeface="Calibri" panose="020F0502020204030204"/>
                <a:ea typeface="Open Sans" panose="020B0606030504020204" pitchFamily="34" charset="0"/>
                <a:cs typeface="Open Sans" panose="020B0606030504020204" pitchFamily="34" charset="0"/>
              </a:rPr>
              <a:t>Understand data</a:t>
            </a:r>
          </a:p>
          <a:p>
            <a:pPr marL="0" lvl="0" indent="0" fontAlgn="base">
              <a:spcBef>
                <a:spcPts val="0"/>
              </a:spcBef>
              <a:spcAft>
                <a:spcPts val="400"/>
              </a:spcAft>
              <a:buClr>
                <a:srgbClr val="81BC00"/>
              </a:buClr>
              <a:buSzTx/>
              <a:buNone/>
              <a:defRPr/>
            </a:pPr>
            <a:r>
              <a:rPr lang="en-US" sz="1200" b="1">
                <a:ea typeface="Open Sans" panose="020B0606030504020204" pitchFamily="34" charset="0"/>
                <a:cs typeface="Open Sans" panose="020B0606030504020204" pitchFamily="34" charset="0"/>
              </a:rPr>
              <a:t>Business Glossary</a:t>
            </a:r>
          </a:p>
          <a:p>
            <a:pPr marL="0" indent="0">
              <a:spcBef>
                <a:spcPts val="0"/>
              </a:spcBef>
              <a:spcAft>
                <a:spcPts val="400"/>
              </a:spcAft>
              <a:buClr>
                <a:srgbClr val="81BC00"/>
              </a:buClr>
              <a:buSzTx/>
              <a:buNone/>
              <a:defRPr/>
            </a:pPr>
            <a:r>
              <a:rPr lang="en-US" sz="1200" b="1">
                <a:solidFill>
                  <a:srgbClr val="34373F"/>
                </a:solidFill>
                <a:ea typeface="Open Sans" panose="020B0606030504020204" pitchFamily="34" charset="0"/>
                <a:cs typeface="Open Sans" panose="020B0606030504020204" pitchFamily="34" charset="0"/>
              </a:rPr>
              <a:t>Relationships</a:t>
            </a:r>
          </a:p>
          <a:p>
            <a:pPr marL="0" indent="0">
              <a:spcBef>
                <a:spcPts val="0"/>
              </a:spcBef>
              <a:spcAft>
                <a:spcPts val="400"/>
              </a:spcAft>
              <a:buClr>
                <a:srgbClr val="81BC00"/>
              </a:buClr>
              <a:buSzTx/>
              <a:buNone/>
              <a:defRPr/>
            </a:pPr>
            <a:r>
              <a:rPr lang="en-US" sz="1200" b="1">
                <a:solidFill>
                  <a:srgbClr val="34373F"/>
                </a:solidFill>
                <a:ea typeface="Open Sans" panose="020B0606030504020204" pitchFamily="34" charset="0"/>
                <a:cs typeface="Open Sans" panose="020B0606030504020204" pitchFamily="34" charset="0"/>
              </a:rPr>
              <a:t>Lineage</a:t>
            </a:r>
          </a:p>
        </p:txBody>
      </p:sp>
      <p:sp>
        <p:nvSpPr>
          <p:cNvPr id="170" name="Text Placeholder 9">
            <a:extLst>
              <a:ext uri="{FF2B5EF4-FFF2-40B4-BE49-F238E27FC236}">
                <a16:creationId xmlns:a16="http://schemas.microsoft.com/office/drawing/2014/main" id="{311DADBC-B7C7-E80A-D2D9-08FDB72D13A5}"/>
              </a:ext>
            </a:extLst>
          </p:cNvPr>
          <p:cNvSpPr txBox="1">
            <a:spLocks/>
          </p:cNvSpPr>
          <p:nvPr/>
        </p:nvSpPr>
        <p:spPr>
          <a:xfrm>
            <a:off x="680253" y="1597967"/>
            <a:ext cx="2348481" cy="158018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kumimoji="0" lang="en-US" sz="1600" b="1" i="0" u="none" strike="noStrike" kern="1200" cap="none" spc="0" normalizeH="0" baseline="0" noProof="0">
                <a:ln>
                  <a:noFill/>
                </a:ln>
                <a:solidFill>
                  <a:srgbClr val="00B050"/>
                </a:solidFill>
                <a:effectLst/>
                <a:uLnTx/>
                <a:uFillTx/>
                <a:latin typeface="Calibri" panose="020F0502020204030204"/>
                <a:ea typeface="Open Sans" panose="020B0606030504020204" pitchFamily="34" charset="0"/>
                <a:cs typeface="Open Sans" panose="020B0606030504020204" pitchFamily="34" charset="0"/>
              </a:rPr>
              <a:t>Experience 1: Find data</a:t>
            </a:r>
          </a:p>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kumimoji="0" lang="en-US" sz="1200" b="1" i="0" u="none" strike="noStrike" kern="1200" cap="none" spc="0" normalizeH="0" baseline="0" noProof="0">
                <a:ln>
                  <a:noFill/>
                </a:ln>
                <a:solidFill>
                  <a:srgbClr val="34373F"/>
                </a:solidFill>
                <a:effectLst/>
                <a:uLnTx/>
                <a:uFillTx/>
                <a:latin typeface="Calibri" panose="020F0502020204030204"/>
                <a:ea typeface="Open Sans" panose="020B0606030504020204" pitchFamily="34" charset="0"/>
                <a:cs typeface="Open Sans" panose="020B0606030504020204" pitchFamily="34" charset="0"/>
              </a:rPr>
              <a:t>Taxonomy (domain hierarchy)</a:t>
            </a:r>
          </a:p>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lang="en-US" sz="1200" b="1">
                <a:solidFill>
                  <a:srgbClr val="34373F"/>
                </a:solidFill>
                <a:latin typeface="Calibri" panose="020F0502020204030204"/>
                <a:ea typeface="Open Sans" panose="020B0606030504020204" pitchFamily="34" charset="0"/>
                <a:cs typeface="Open Sans" panose="020B0606030504020204" pitchFamily="34" charset="0"/>
              </a:rPr>
              <a:t>Data Collections</a:t>
            </a:r>
          </a:p>
          <a:p>
            <a:pPr fontAlgn="base">
              <a:spcBef>
                <a:spcPts val="0"/>
              </a:spcBef>
              <a:spcAft>
                <a:spcPts val="400"/>
              </a:spcAft>
              <a:buClr>
                <a:srgbClr val="81BC00"/>
              </a:buClr>
              <a:buSzTx/>
              <a:defRPr/>
            </a:pPr>
            <a:r>
              <a:rPr lang="en-US" sz="1200" b="1">
                <a:solidFill>
                  <a:srgbClr val="34373F"/>
                </a:solidFill>
                <a:latin typeface="Calibri" panose="020F0502020204030204"/>
                <a:ea typeface="Open Sans" panose="020B0606030504020204" pitchFamily="34" charset="0"/>
                <a:cs typeface="Open Sans" panose="020B0606030504020204" pitchFamily="34" charset="0"/>
              </a:rPr>
              <a:t>Data Assets</a:t>
            </a:r>
          </a:p>
          <a:p>
            <a:pPr fontAlgn="base">
              <a:spcBef>
                <a:spcPts val="0"/>
              </a:spcBef>
              <a:spcAft>
                <a:spcPts val="400"/>
              </a:spcAft>
              <a:buClr>
                <a:srgbClr val="81BC00"/>
              </a:buClr>
              <a:buSzTx/>
              <a:defRPr/>
            </a:pPr>
            <a:r>
              <a:rPr lang="en-US" sz="1200" b="1">
                <a:solidFill>
                  <a:srgbClr val="34373F"/>
                </a:solidFill>
                <a:latin typeface="Calibri" panose="020F0502020204030204"/>
                <a:ea typeface="Open Sans" panose="020B0606030504020204" pitchFamily="34" charset="0"/>
                <a:cs typeface="Open Sans" panose="020B0606030504020204" pitchFamily="34" charset="0"/>
              </a:rPr>
              <a:t>Terms of Use</a:t>
            </a:r>
          </a:p>
          <a:p>
            <a:pPr fontAlgn="base">
              <a:spcBef>
                <a:spcPts val="0"/>
              </a:spcBef>
              <a:spcAft>
                <a:spcPts val="400"/>
              </a:spcAft>
              <a:buClr>
                <a:srgbClr val="81BC00"/>
              </a:buClr>
              <a:buSzTx/>
              <a:defRPr/>
            </a:pPr>
            <a:r>
              <a:rPr lang="en-US" sz="1200" b="1">
                <a:solidFill>
                  <a:srgbClr val="34373F"/>
                </a:solidFill>
                <a:latin typeface="Calibri" panose="020F0502020204030204"/>
                <a:ea typeface="Open Sans" panose="020B0606030504020204" pitchFamily="34" charset="0"/>
                <a:cs typeface="Open Sans" panose="020B0606030504020204" pitchFamily="34" charset="0"/>
              </a:rPr>
              <a:t>Usage Context</a:t>
            </a:r>
          </a:p>
        </p:txBody>
      </p:sp>
      <p:sp>
        <p:nvSpPr>
          <p:cNvPr id="171" name="Text Placeholder 9">
            <a:extLst>
              <a:ext uri="{FF2B5EF4-FFF2-40B4-BE49-F238E27FC236}">
                <a16:creationId xmlns:a16="http://schemas.microsoft.com/office/drawing/2014/main" id="{69D7061F-0AF7-2083-679E-2884DC2A86D3}"/>
              </a:ext>
            </a:extLst>
          </p:cNvPr>
          <p:cNvSpPr txBox="1">
            <a:spLocks/>
          </p:cNvSpPr>
          <p:nvPr/>
        </p:nvSpPr>
        <p:spPr>
          <a:xfrm>
            <a:off x="8941891" y="1723028"/>
            <a:ext cx="2345234" cy="1101540"/>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400"/>
              </a:spcAft>
              <a:buClr>
                <a:srgbClr val="81BC00"/>
              </a:buClr>
              <a:buSzTx/>
              <a:buFont typeface="Arial" panose="020B0604020202020204" pitchFamily="34" charset="0"/>
              <a:buNone/>
              <a:tabLst/>
              <a:defRPr/>
            </a:pPr>
            <a:r>
              <a:rPr kumimoji="0" lang="en-US" sz="1600" b="1" i="0" u="none" strike="noStrike" kern="1200" cap="none" spc="0" normalizeH="0" baseline="0" noProof="0">
                <a:ln>
                  <a:noFill/>
                </a:ln>
                <a:solidFill>
                  <a:srgbClr val="00B050"/>
                </a:solidFill>
                <a:effectLst/>
                <a:uLnTx/>
                <a:uFillTx/>
                <a:latin typeface="Calibri" panose="020F0502020204030204"/>
                <a:ea typeface="Open Sans" panose="020B0606030504020204" pitchFamily="34" charset="0"/>
                <a:cs typeface="Open Sans" panose="020B0606030504020204" pitchFamily="34" charset="0"/>
              </a:rPr>
              <a:t>Experience 4: Access</a:t>
            </a:r>
            <a:endParaRPr kumimoji="0" lang="en-US" b="1" i="0" u="none" strike="noStrike" kern="1200" cap="none" spc="0" normalizeH="0" baseline="0" noProof="0">
              <a:ln>
                <a:noFill/>
              </a:ln>
              <a:solidFill>
                <a:srgbClr val="00B050"/>
              </a:solidFill>
              <a:effectLst/>
              <a:uLnTx/>
              <a:uFillTx/>
              <a:latin typeface="Calibri" panose="020F0502020204030204"/>
              <a:ea typeface="Open Sans" panose="020B0606030504020204" pitchFamily="34" charset="0"/>
              <a:cs typeface="Open Sans" panose="020B0606030504020204" pitchFamily="34" charset="0"/>
            </a:endParaRPr>
          </a:p>
          <a:p>
            <a:pPr marL="0" lvl="0" indent="0" fontAlgn="base">
              <a:spcBef>
                <a:spcPts val="0"/>
              </a:spcBef>
              <a:spcAft>
                <a:spcPts val="400"/>
              </a:spcAft>
              <a:buClr>
                <a:srgbClr val="81BC00"/>
              </a:buClr>
              <a:buSzTx/>
              <a:buNone/>
              <a:defRPr/>
            </a:pPr>
            <a:r>
              <a:rPr lang="en-US" sz="1200" b="1">
                <a:solidFill>
                  <a:srgbClr val="34373F"/>
                </a:solidFill>
                <a:ea typeface="Open Sans" panose="020B0606030504020204" pitchFamily="34" charset="0"/>
                <a:cs typeface="Open Sans" panose="020B0606030504020204" pitchFamily="34" charset="0"/>
              </a:rPr>
              <a:t>Access workflows</a:t>
            </a:r>
          </a:p>
          <a:p>
            <a:pPr fontAlgn="base">
              <a:spcBef>
                <a:spcPts val="0"/>
              </a:spcBef>
              <a:spcAft>
                <a:spcPts val="400"/>
              </a:spcAft>
              <a:buClr>
                <a:srgbClr val="81BC00"/>
              </a:buClr>
              <a:buSzTx/>
              <a:defRPr/>
            </a:pPr>
            <a:r>
              <a:rPr lang="en-US" sz="1200" b="1">
                <a:solidFill>
                  <a:srgbClr val="34373F"/>
                </a:solidFill>
                <a:ea typeface="Open Sans" panose="020B0606030504020204" pitchFamily="34" charset="0"/>
                <a:cs typeface="Open Sans" panose="020B0606030504020204" pitchFamily="34" charset="0"/>
              </a:rPr>
              <a:t>Approval-based workflow</a:t>
            </a:r>
          </a:p>
          <a:p>
            <a:pPr fontAlgn="base">
              <a:spcBef>
                <a:spcPts val="0"/>
              </a:spcBef>
              <a:spcAft>
                <a:spcPts val="400"/>
              </a:spcAft>
              <a:buClr>
                <a:srgbClr val="81BC00"/>
              </a:buClr>
              <a:buSzTx/>
              <a:defRPr/>
            </a:pPr>
            <a:r>
              <a:rPr lang="en-US" sz="1200" b="1">
                <a:solidFill>
                  <a:srgbClr val="34373F"/>
                </a:solidFill>
                <a:ea typeface="Open Sans" panose="020B0606030504020204" pitchFamily="34" charset="0"/>
                <a:cs typeface="Open Sans" panose="020B0606030504020204" pitchFamily="34" charset="0"/>
              </a:rPr>
              <a:t>Qualification-based workflow</a:t>
            </a:r>
          </a:p>
        </p:txBody>
      </p:sp>
      <p:grpSp>
        <p:nvGrpSpPr>
          <p:cNvPr id="172" name="Group 171">
            <a:extLst>
              <a:ext uri="{FF2B5EF4-FFF2-40B4-BE49-F238E27FC236}">
                <a16:creationId xmlns:a16="http://schemas.microsoft.com/office/drawing/2014/main" id="{9940D766-B702-ED13-A781-850B89483E60}"/>
              </a:ext>
            </a:extLst>
          </p:cNvPr>
          <p:cNvGrpSpPr/>
          <p:nvPr/>
        </p:nvGrpSpPr>
        <p:grpSpPr>
          <a:xfrm>
            <a:off x="5361453" y="4420553"/>
            <a:ext cx="1207717" cy="633900"/>
            <a:chOff x="458614" y="4621253"/>
            <a:chExt cx="1207717" cy="633900"/>
          </a:xfrm>
        </p:grpSpPr>
        <p:grpSp>
          <p:nvGrpSpPr>
            <p:cNvPr id="173" name="Graphic 4">
              <a:extLst>
                <a:ext uri="{FF2B5EF4-FFF2-40B4-BE49-F238E27FC236}">
                  <a16:creationId xmlns:a16="http://schemas.microsoft.com/office/drawing/2014/main" id="{863A0A88-7989-C97C-0C0F-339EB3EBA696}"/>
                </a:ext>
              </a:extLst>
            </p:cNvPr>
            <p:cNvGrpSpPr/>
            <p:nvPr/>
          </p:nvGrpSpPr>
          <p:grpSpPr>
            <a:xfrm>
              <a:off x="881317" y="4621253"/>
              <a:ext cx="362309" cy="361971"/>
              <a:chOff x="6146480" y="4793256"/>
              <a:chExt cx="362309" cy="361971"/>
            </a:xfrm>
            <a:solidFill>
              <a:schemeClr val="accent3"/>
            </a:solidFill>
          </p:grpSpPr>
          <p:sp>
            <p:nvSpPr>
              <p:cNvPr id="175" name="Graphic 4">
                <a:extLst>
                  <a:ext uri="{FF2B5EF4-FFF2-40B4-BE49-F238E27FC236}">
                    <a16:creationId xmlns:a16="http://schemas.microsoft.com/office/drawing/2014/main" id="{2F734FEE-2DEF-4079-CACA-ADAFE4CB8E90}"/>
                  </a:ext>
                </a:extLst>
              </p:cNvPr>
              <p:cNvSpPr/>
              <p:nvPr/>
            </p:nvSpPr>
            <p:spPr>
              <a:xfrm>
                <a:off x="6299839" y="4883909"/>
                <a:ext cx="56231" cy="56178"/>
              </a:xfrm>
              <a:custGeom>
                <a:avLst/>
                <a:gdLst>
                  <a:gd name="connsiteX0" fmla="*/ 28115 w 56231"/>
                  <a:gd name="connsiteY0" fmla="*/ 56179 h 56178"/>
                  <a:gd name="connsiteX1" fmla="*/ 56231 w 56231"/>
                  <a:gd name="connsiteY1" fmla="*/ 28089 h 56178"/>
                  <a:gd name="connsiteX2" fmla="*/ 28115 w 56231"/>
                  <a:gd name="connsiteY2" fmla="*/ 0 h 56178"/>
                  <a:gd name="connsiteX3" fmla="*/ 0 w 56231"/>
                  <a:gd name="connsiteY3" fmla="*/ 28089 h 56178"/>
                  <a:gd name="connsiteX4" fmla="*/ 28115 w 56231"/>
                  <a:gd name="connsiteY4" fmla="*/ 56179 h 56178"/>
                  <a:gd name="connsiteX5" fmla="*/ 28115 w 56231"/>
                  <a:gd name="connsiteY5" fmla="*/ 56179 h 5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31" h="56178">
                    <a:moveTo>
                      <a:pt x="28115" y="56179"/>
                    </a:moveTo>
                    <a:cubicBezTo>
                      <a:pt x="43451" y="56179"/>
                      <a:pt x="56231" y="43411"/>
                      <a:pt x="56231" y="28089"/>
                    </a:cubicBezTo>
                    <a:cubicBezTo>
                      <a:pt x="56231" y="12768"/>
                      <a:pt x="43451" y="0"/>
                      <a:pt x="28115" y="0"/>
                    </a:cubicBezTo>
                    <a:cubicBezTo>
                      <a:pt x="12780" y="0"/>
                      <a:pt x="0" y="12768"/>
                      <a:pt x="0" y="28089"/>
                    </a:cubicBezTo>
                    <a:cubicBezTo>
                      <a:pt x="0" y="43411"/>
                      <a:pt x="12141" y="56179"/>
                      <a:pt x="28115" y="56179"/>
                    </a:cubicBezTo>
                    <a:lnTo>
                      <a:pt x="28115" y="56179"/>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sp>
            <p:nvSpPr>
              <p:cNvPr id="176" name="Graphic 4">
                <a:extLst>
                  <a:ext uri="{FF2B5EF4-FFF2-40B4-BE49-F238E27FC236}">
                    <a16:creationId xmlns:a16="http://schemas.microsoft.com/office/drawing/2014/main" id="{76A2876D-CA54-E015-F0EE-307F3E03EBC2}"/>
                  </a:ext>
                </a:extLst>
              </p:cNvPr>
              <p:cNvSpPr/>
              <p:nvPr/>
            </p:nvSpPr>
            <p:spPr>
              <a:xfrm>
                <a:off x="6146480" y="4793256"/>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181474 w 362309"/>
                  <a:gd name="connsiteY7" fmla="*/ 77885 h 361971"/>
                  <a:gd name="connsiteX8" fmla="*/ 222370 w 362309"/>
                  <a:gd name="connsiteY8" fmla="*/ 118742 h 361971"/>
                  <a:gd name="connsiteX9" fmla="*/ 181474 w 362309"/>
                  <a:gd name="connsiteY9" fmla="*/ 159600 h 361971"/>
                  <a:gd name="connsiteX10" fmla="*/ 140579 w 362309"/>
                  <a:gd name="connsiteY10" fmla="*/ 118742 h 361971"/>
                  <a:gd name="connsiteX11" fmla="*/ 140579 w 362309"/>
                  <a:gd name="connsiteY11" fmla="*/ 118742 h 361971"/>
                  <a:gd name="connsiteX12" fmla="*/ 181474 w 362309"/>
                  <a:gd name="connsiteY12" fmla="*/ 77885 h 361971"/>
                  <a:gd name="connsiteX13" fmla="*/ 263265 w 362309"/>
                  <a:gd name="connsiteY13" fmla="*/ 277065 h 361971"/>
                  <a:gd name="connsiteX14" fmla="*/ 256875 w 362309"/>
                  <a:gd name="connsiteY14" fmla="*/ 283449 h 361971"/>
                  <a:gd name="connsiteX15" fmla="*/ 250485 w 362309"/>
                  <a:gd name="connsiteY15" fmla="*/ 277065 h 361971"/>
                  <a:gd name="connsiteX16" fmla="*/ 250485 w 362309"/>
                  <a:gd name="connsiteY16" fmla="*/ 215140 h 361971"/>
                  <a:gd name="connsiteX17" fmla="*/ 222370 w 362309"/>
                  <a:gd name="connsiteY17" fmla="*/ 187051 h 361971"/>
                  <a:gd name="connsiteX18" fmla="*/ 139301 w 362309"/>
                  <a:gd name="connsiteY18" fmla="*/ 187051 h 361971"/>
                  <a:gd name="connsiteX19" fmla="*/ 111185 w 362309"/>
                  <a:gd name="connsiteY19" fmla="*/ 215140 h 361971"/>
                  <a:gd name="connsiteX20" fmla="*/ 111185 w 362309"/>
                  <a:gd name="connsiteY20" fmla="*/ 277065 h 361971"/>
                  <a:gd name="connsiteX21" fmla="*/ 104795 w 362309"/>
                  <a:gd name="connsiteY21" fmla="*/ 283449 h 361971"/>
                  <a:gd name="connsiteX22" fmla="*/ 98405 w 362309"/>
                  <a:gd name="connsiteY22" fmla="*/ 277065 h 361971"/>
                  <a:gd name="connsiteX23" fmla="*/ 98405 w 362309"/>
                  <a:gd name="connsiteY23" fmla="*/ 215140 h 361971"/>
                  <a:gd name="connsiteX24" fmla="*/ 139301 w 362309"/>
                  <a:gd name="connsiteY24" fmla="*/ 174283 h 361971"/>
                  <a:gd name="connsiteX25" fmla="*/ 222370 w 362309"/>
                  <a:gd name="connsiteY25" fmla="*/ 174283 h 361971"/>
                  <a:gd name="connsiteX26" fmla="*/ 263265 w 362309"/>
                  <a:gd name="connsiteY26" fmla="*/ 215140 h 361971"/>
                  <a:gd name="connsiteX27" fmla="*/ 263265 w 362309"/>
                  <a:gd name="connsiteY27" fmla="*/ 2770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181474" y="77885"/>
                    </a:moveTo>
                    <a:cubicBezTo>
                      <a:pt x="203839" y="77885"/>
                      <a:pt x="222370" y="96398"/>
                      <a:pt x="222370" y="118742"/>
                    </a:cubicBezTo>
                    <a:cubicBezTo>
                      <a:pt x="222370" y="141086"/>
                      <a:pt x="203839" y="159600"/>
                      <a:pt x="181474" y="159600"/>
                    </a:cubicBezTo>
                    <a:cubicBezTo>
                      <a:pt x="159109" y="159600"/>
                      <a:pt x="140579" y="141086"/>
                      <a:pt x="140579" y="118742"/>
                    </a:cubicBezTo>
                    <a:cubicBezTo>
                      <a:pt x="140579" y="118742"/>
                      <a:pt x="140579" y="118742"/>
                      <a:pt x="140579" y="118742"/>
                    </a:cubicBezTo>
                    <a:cubicBezTo>
                      <a:pt x="140579" y="95760"/>
                      <a:pt x="158470" y="77885"/>
                      <a:pt x="181474" y="77885"/>
                    </a:cubicBezTo>
                    <a:close/>
                    <a:moveTo>
                      <a:pt x="263265" y="277065"/>
                    </a:moveTo>
                    <a:cubicBezTo>
                      <a:pt x="263265" y="280895"/>
                      <a:pt x="260709" y="283449"/>
                      <a:pt x="256875" y="283449"/>
                    </a:cubicBezTo>
                    <a:cubicBezTo>
                      <a:pt x="253041" y="283449"/>
                      <a:pt x="250485" y="280895"/>
                      <a:pt x="250485" y="277065"/>
                    </a:cubicBezTo>
                    <a:lnTo>
                      <a:pt x="250485" y="215140"/>
                    </a:lnTo>
                    <a:cubicBezTo>
                      <a:pt x="250485" y="199819"/>
                      <a:pt x="237705" y="187051"/>
                      <a:pt x="222370" y="187051"/>
                    </a:cubicBezTo>
                    <a:lnTo>
                      <a:pt x="139301" y="187051"/>
                    </a:lnTo>
                    <a:cubicBezTo>
                      <a:pt x="123965" y="187051"/>
                      <a:pt x="111185" y="199819"/>
                      <a:pt x="111185" y="215140"/>
                    </a:cubicBezTo>
                    <a:lnTo>
                      <a:pt x="111185" y="277065"/>
                    </a:lnTo>
                    <a:cubicBezTo>
                      <a:pt x="111185" y="280895"/>
                      <a:pt x="108629" y="283449"/>
                      <a:pt x="104795" y="283449"/>
                    </a:cubicBezTo>
                    <a:cubicBezTo>
                      <a:pt x="100961" y="283449"/>
                      <a:pt x="98405" y="280895"/>
                      <a:pt x="98405" y="277065"/>
                    </a:cubicBezTo>
                    <a:lnTo>
                      <a:pt x="98405" y="215140"/>
                    </a:lnTo>
                    <a:cubicBezTo>
                      <a:pt x="98405" y="192796"/>
                      <a:pt x="116936" y="174283"/>
                      <a:pt x="139301" y="174283"/>
                    </a:cubicBezTo>
                    <a:lnTo>
                      <a:pt x="222370" y="174283"/>
                    </a:lnTo>
                    <a:cubicBezTo>
                      <a:pt x="244735" y="174283"/>
                      <a:pt x="263265" y="192796"/>
                      <a:pt x="263265" y="215140"/>
                    </a:cubicBezTo>
                    <a:lnTo>
                      <a:pt x="263265" y="277065"/>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grpSp>
        <p:sp>
          <p:nvSpPr>
            <p:cNvPr id="174" name="TextBox 173">
              <a:extLst>
                <a:ext uri="{FF2B5EF4-FFF2-40B4-BE49-F238E27FC236}">
                  <a16:creationId xmlns:a16="http://schemas.microsoft.com/office/drawing/2014/main" id="{A80FF4DA-6924-8F24-42C3-D8D5F54449F7}"/>
                </a:ext>
              </a:extLst>
            </p:cNvPr>
            <p:cNvSpPr txBox="1"/>
            <p:nvPr/>
          </p:nvSpPr>
          <p:spPr>
            <a:xfrm>
              <a:off x="458614" y="4978154"/>
              <a:ext cx="1207717"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34373F"/>
                  </a:solidFill>
                  <a:effectLst/>
                  <a:uLnTx/>
                  <a:uFillTx/>
                  <a:latin typeface="Arial" charset="0"/>
                  <a:ea typeface="ＭＳ Ｐゴシック" charset="-128"/>
                  <a:cs typeface="+mn-cs"/>
                </a:rPr>
                <a:t>Data Engineer</a:t>
              </a:r>
            </a:p>
          </p:txBody>
        </p:sp>
      </p:grpSp>
      <p:grpSp>
        <p:nvGrpSpPr>
          <p:cNvPr id="177" name="Group 176">
            <a:extLst>
              <a:ext uri="{FF2B5EF4-FFF2-40B4-BE49-F238E27FC236}">
                <a16:creationId xmlns:a16="http://schemas.microsoft.com/office/drawing/2014/main" id="{16C938F8-C026-4BBA-A3D2-FBF6DF73825C}"/>
              </a:ext>
            </a:extLst>
          </p:cNvPr>
          <p:cNvGrpSpPr/>
          <p:nvPr/>
        </p:nvGrpSpPr>
        <p:grpSpPr>
          <a:xfrm>
            <a:off x="2873236" y="4721479"/>
            <a:ext cx="1207717" cy="619188"/>
            <a:chOff x="5240281" y="4768197"/>
            <a:chExt cx="1207717" cy="619188"/>
          </a:xfrm>
        </p:grpSpPr>
        <p:grpSp>
          <p:nvGrpSpPr>
            <p:cNvPr id="178" name="Graphic 4">
              <a:extLst>
                <a:ext uri="{FF2B5EF4-FFF2-40B4-BE49-F238E27FC236}">
                  <a16:creationId xmlns:a16="http://schemas.microsoft.com/office/drawing/2014/main" id="{61D13A90-7978-8CF7-4B1B-D7352B234C6F}"/>
                </a:ext>
              </a:extLst>
            </p:cNvPr>
            <p:cNvGrpSpPr/>
            <p:nvPr/>
          </p:nvGrpSpPr>
          <p:grpSpPr>
            <a:xfrm>
              <a:off x="5622976" y="4768197"/>
              <a:ext cx="362309" cy="361971"/>
              <a:chOff x="6146480" y="4793256"/>
              <a:chExt cx="362309" cy="361971"/>
            </a:xfrm>
            <a:solidFill>
              <a:schemeClr val="accent3"/>
            </a:solidFill>
          </p:grpSpPr>
          <p:sp>
            <p:nvSpPr>
              <p:cNvPr id="180" name="Graphic 4">
                <a:extLst>
                  <a:ext uri="{FF2B5EF4-FFF2-40B4-BE49-F238E27FC236}">
                    <a16:creationId xmlns:a16="http://schemas.microsoft.com/office/drawing/2014/main" id="{8BD0A133-F1C0-5873-782C-2088B4724351}"/>
                  </a:ext>
                </a:extLst>
              </p:cNvPr>
              <p:cNvSpPr/>
              <p:nvPr/>
            </p:nvSpPr>
            <p:spPr>
              <a:xfrm>
                <a:off x="6299839" y="4883909"/>
                <a:ext cx="56231" cy="56178"/>
              </a:xfrm>
              <a:custGeom>
                <a:avLst/>
                <a:gdLst>
                  <a:gd name="connsiteX0" fmla="*/ 28115 w 56231"/>
                  <a:gd name="connsiteY0" fmla="*/ 56179 h 56178"/>
                  <a:gd name="connsiteX1" fmla="*/ 56231 w 56231"/>
                  <a:gd name="connsiteY1" fmla="*/ 28089 h 56178"/>
                  <a:gd name="connsiteX2" fmla="*/ 28115 w 56231"/>
                  <a:gd name="connsiteY2" fmla="*/ 0 h 56178"/>
                  <a:gd name="connsiteX3" fmla="*/ 0 w 56231"/>
                  <a:gd name="connsiteY3" fmla="*/ 28089 h 56178"/>
                  <a:gd name="connsiteX4" fmla="*/ 28115 w 56231"/>
                  <a:gd name="connsiteY4" fmla="*/ 56179 h 56178"/>
                  <a:gd name="connsiteX5" fmla="*/ 28115 w 56231"/>
                  <a:gd name="connsiteY5" fmla="*/ 56179 h 5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31" h="56178">
                    <a:moveTo>
                      <a:pt x="28115" y="56179"/>
                    </a:moveTo>
                    <a:cubicBezTo>
                      <a:pt x="43451" y="56179"/>
                      <a:pt x="56231" y="43411"/>
                      <a:pt x="56231" y="28089"/>
                    </a:cubicBezTo>
                    <a:cubicBezTo>
                      <a:pt x="56231" y="12768"/>
                      <a:pt x="43451" y="0"/>
                      <a:pt x="28115" y="0"/>
                    </a:cubicBezTo>
                    <a:cubicBezTo>
                      <a:pt x="12780" y="0"/>
                      <a:pt x="0" y="12768"/>
                      <a:pt x="0" y="28089"/>
                    </a:cubicBezTo>
                    <a:cubicBezTo>
                      <a:pt x="0" y="43411"/>
                      <a:pt x="12141" y="56179"/>
                      <a:pt x="28115" y="56179"/>
                    </a:cubicBezTo>
                    <a:lnTo>
                      <a:pt x="28115" y="56179"/>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sp>
            <p:nvSpPr>
              <p:cNvPr id="181" name="Graphic 4">
                <a:extLst>
                  <a:ext uri="{FF2B5EF4-FFF2-40B4-BE49-F238E27FC236}">
                    <a16:creationId xmlns:a16="http://schemas.microsoft.com/office/drawing/2014/main" id="{6CE42932-15FF-B753-7982-54A904264020}"/>
                  </a:ext>
                </a:extLst>
              </p:cNvPr>
              <p:cNvSpPr/>
              <p:nvPr/>
            </p:nvSpPr>
            <p:spPr>
              <a:xfrm>
                <a:off x="6146480" y="4793256"/>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181474 w 362309"/>
                  <a:gd name="connsiteY7" fmla="*/ 77885 h 361971"/>
                  <a:gd name="connsiteX8" fmla="*/ 222370 w 362309"/>
                  <a:gd name="connsiteY8" fmla="*/ 118742 h 361971"/>
                  <a:gd name="connsiteX9" fmla="*/ 181474 w 362309"/>
                  <a:gd name="connsiteY9" fmla="*/ 159600 h 361971"/>
                  <a:gd name="connsiteX10" fmla="*/ 140579 w 362309"/>
                  <a:gd name="connsiteY10" fmla="*/ 118742 h 361971"/>
                  <a:gd name="connsiteX11" fmla="*/ 140579 w 362309"/>
                  <a:gd name="connsiteY11" fmla="*/ 118742 h 361971"/>
                  <a:gd name="connsiteX12" fmla="*/ 181474 w 362309"/>
                  <a:gd name="connsiteY12" fmla="*/ 77885 h 361971"/>
                  <a:gd name="connsiteX13" fmla="*/ 263265 w 362309"/>
                  <a:gd name="connsiteY13" fmla="*/ 277065 h 361971"/>
                  <a:gd name="connsiteX14" fmla="*/ 256875 w 362309"/>
                  <a:gd name="connsiteY14" fmla="*/ 283449 h 361971"/>
                  <a:gd name="connsiteX15" fmla="*/ 250485 w 362309"/>
                  <a:gd name="connsiteY15" fmla="*/ 277065 h 361971"/>
                  <a:gd name="connsiteX16" fmla="*/ 250485 w 362309"/>
                  <a:gd name="connsiteY16" fmla="*/ 215140 h 361971"/>
                  <a:gd name="connsiteX17" fmla="*/ 222370 w 362309"/>
                  <a:gd name="connsiteY17" fmla="*/ 187051 h 361971"/>
                  <a:gd name="connsiteX18" fmla="*/ 139301 w 362309"/>
                  <a:gd name="connsiteY18" fmla="*/ 187051 h 361971"/>
                  <a:gd name="connsiteX19" fmla="*/ 111185 w 362309"/>
                  <a:gd name="connsiteY19" fmla="*/ 215140 h 361971"/>
                  <a:gd name="connsiteX20" fmla="*/ 111185 w 362309"/>
                  <a:gd name="connsiteY20" fmla="*/ 277065 h 361971"/>
                  <a:gd name="connsiteX21" fmla="*/ 104795 w 362309"/>
                  <a:gd name="connsiteY21" fmla="*/ 283449 h 361971"/>
                  <a:gd name="connsiteX22" fmla="*/ 98405 w 362309"/>
                  <a:gd name="connsiteY22" fmla="*/ 277065 h 361971"/>
                  <a:gd name="connsiteX23" fmla="*/ 98405 w 362309"/>
                  <a:gd name="connsiteY23" fmla="*/ 215140 h 361971"/>
                  <a:gd name="connsiteX24" fmla="*/ 139301 w 362309"/>
                  <a:gd name="connsiteY24" fmla="*/ 174283 h 361971"/>
                  <a:gd name="connsiteX25" fmla="*/ 222370 w 362309"/>
                  <a:gd name="connsiteY25" fmla="*/ 174283 h 361971"/>
                  <a:gd name="connsiteX26" fmla="*/ 263265 w 362309"/>
                  <a:gd name="connsiteY26" fmla="*/ 215140 h 361971"/>
                  <a:gd name="connsiteX27" fmla="*/ 263265 w 362309"/>
                  <a:gd name="connsiteY27" fmla="*/ 2770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181474" y="77885"/>
                    </a:moveTo>
                    <a:cubicBezTo>
                      <a:pt x="203839" y="77885"/>
                      <a:pt x="222370" y="96398"/>
                      <a:pt x="222370" y="118742"/>
                    </a:cubicBezTo>
                    <a:cubicBezTo>
                      <a:pt x="222370" y="141086"/>
                      <a:pt x="203839" y="159600"/>
                      <a:pt x="181474" y="159600"/>
                    </a:cubicBezTo>
                    <a:cubicBezTo>
                      <a:pt x="159109" y="159600"/>
                      <a:pt x="140579" y="141086"/>
                      <a:pt x="140579" y="118742"/>
                    </a:cubicBezTo>
                    <a:cubicBezTo>
                      <a:pt x="140579" y="118742"/>
                      <a:pt x="140579" y="118742"/>
                      <a:pt x="140579" y="118742"/>
                    </a:cubicBezTo>
                    <a:cubicBezTo>
                      <a:pt x="140579" y="95760"/>
                      <a:pt x="158470" y="77885"/>
                      <a:pt x="181474" y="77885"/>
                    </a:cubicBezTo>
                    <a:close/>
                    <a:moveTo>
                      <a:pt x="263265" y="277065"/>
                    </a:moveTo>
                    <a:cubicBezTo>
                      <a:pt x="263265" y="280895"/>
                      <a:pt x="260709" y="283449"/>
                      <a:pt x="256875" y="283449"/>
                    </a:cubicBezTo>
                    <a:cubicBezTo>
                      <a:pt x="253041" y="283449"/>
                      <a:pt x="250485" y="280895"/>
                      <a:pt x="250485" y="277065"/>
                    </a:cubicBezTo>
                    <a:lnTo>
                      <a:pt x="250485" y="215140"/>
                    </a:lnTo>
                    <a:cubicBezTo>
                      <a:pt x="250485" y="199819"/>
                      <a:pt x="237705" y="187051"/>
                      <a:pt x="222370" y="187051"/>
                    </a:cubicBezTo>
                    <a:lnTo>
                      <a:pt x="139301" y="187051"/>
                    </a:lnTo>
                    <a:cubicBezTo>
                      <a:pt x="123965" y="187051"/>
                      <a:pt x="111185" y="199819"/>
                      <a:pt x="111185" y="215140"/>
                    </a:cubicBezTo>
                    <a:lnTo>
                      <a:pt x="111185" y="277065"/>
                    </a:lnTo>
                    <a:cubicBezTo>
                      <a:pt x="111185" y="280895"/>
                      <a:pt x="108629" y="283449"/>
                      <a:pt x="104795" y="283449"/>
                    </a:cubicBezTo>
                    <a:cubicBezTo>
                      <a:pt x="100961" y="283449"/>
                      <a:pt x="98405" y="280895"/>
                      <a:pt x="98405" y="277065"/>
                    </a:cubicBezTo>
                    <a:lnTo>
                      <a:pt x="98405" y="215140"/>
                    </a:lnTo>
                    <a:cubicBezTo>
                      <a:pt x="98405" y="192796"/>
                      <a:pt x="116936" y="174283"/>
                      <a:pt x="139301" y="174283"/>
                    </a:cubicBezTo>
                    <a:lnTo>
                      <a:pt x="222370" y="174283"/>
                    </a:lnTo>
                    <a:cubicBezTo>
                      <a:pt x="244735" y="174283"/>
                      <a:pt x="263265" y="192796"/>
                      <a:pt x="263265" y="215140"/>
                    </a:cubicBezTo>
                    <a:lnTo>
                      <a:pt x="263265" y="277065"/>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grpSp>
        <p:sp>
          <p:nvSpPr>
            <p:cNvPr id="179" name="TextBox 178">
              <a:extLst>
                <a:ext uri="{FF2B5EF4-FFF2-40B4-BE49-F238E27FC236}">
                  <a16:creationId xmlns:a16="http://schemas.microsoft.com/office/drawing/2014/main" id="{6031D55C-0A9E-28DF-F960-F4961E693A48}"/>
                </a:ext>
              </a:extLst>
            </p:cNvPr>
            <p:cNvSpPr txBox="1"/>
            <p:nvPr/>
          </p:nvSpPr>
          <p:spPr>
            <a:xfrm>
              <a:off x="5240281" y="5110386"/>
              <a:ext cx="1207717"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34373F"/>
                  </a:solidFill>
                  <a:effectLst/>
                  <a:uLnTx/>
                  <a:uFillTx/>
                  <a:latin typeface="Arial" charset="0"/>
                  <a:ea typeface="ＭＳ Ｐゴシック" charset="-128"/>
                  <a:cs typeface="+mn-cs"/>
                </a:rPr>
                <a:t>Data Steward</a:t>
              </a:r>
            </a:p>
          </p:txBody>
        </p:sp>
      </p:grpSp>
      <p:grpSp>
        <p:nvGrpSpPr>
          <p:cNvPr id="182" name="Group 181">
            <a:extLst>
              <a:ext uri="{FF2B5EF4-FFF2-40B4-BE49-F238E27FC236}">
                <a16:creationId xmlns:a16="http://schemas.microsoft.com/office/drawing/2014/main" id="{F3935E24-3485-43CC-2CD8-34C17DC090FA}"/>
              </a:ext>
            </a:extLst>
          </p:cNvPr>
          <p:cNvGrpSpPr/>
          <p:nvPr/>
        </p:nvGrpSpPr>
        <p:grpSpPr>
          <a:xfrm>
            <a:off x="7666219" y="4680512"/>
            <a:ext cx="1293802" cy="666631"/>
            <a:chOff x="2369769" y="5433329"/>
            <a:chExt cx="1293802" cy="666631"/>
          </a:xfrm>
        </p:grpSpPr>
        <p:grpSp>
          <p:nvGrpSpPr>
            <p:cNvPr id="183" name="Graphic 4">
              <a:extLst>
                <a:ext uri="{FF2B5EF4-FFF2-40B4-BE49-F238E27FC236}">
                  <a16:creationId xmlns:a16="http://schemas.microsoft.com/office/drawing/2014/main" id="{26D6F9EA-8ED2-1329-DF29-431B6061AB8A}"/>
                </a:ext>
              </a:extLst>
            </p:cNvPr>
            <p:cNvGrpSpPr/>
            <p:nvPr/>
          </p:nvGrpSpPr>
          <p:grpSpPr>
            <a:xfrm>
              <a:off x="2759171" y="5433329"/>
              <a:ext cx="362309" cy="361971"/>
              <a:chOff x="6146480" y="4793256"/>
              <a:chExt cx="362309" cy="361971"/>
            </a:xfrm>
            <a:solidFill>
              <a:schemeClr val="accent3"/>
            </a:solidFill>
          </p:grpSpPr>
          <p:sp>
            <p:nvSpPr>
              <p:cNvPr id="185" name="Graphic 4">
                <a:extLst>
                  <a:ext uri="{FF2B5EF4-FFF2-40B4-BE49-F238E27FC236}">
                    <a16:creationId xmlns:a16="http://schemas.microsoft.com/office/drawing/2014/main" id="{54308C61-3F55-D603-65DF-79E6E196CC1A}"/>
                  </a:ext>
                </a:extLst>
              </p:cNvPr>
              <p:cNvSpPr/>
              <p:nvPr/>
            </p:nvSpPr>
            <p:spPr>
              <a:xfrm>
                <a:off x="6299839" y="4883909"/>
                <a:ext cx="56231" cy="56178"/>
              </a:xfrm>
              <a:custGeom>
                <a:avLst/>
                <a:gdLst>
                  <a:gd name="connsiteX0" fmla="*/ 28115 w 56231"/>
                  <a:gd name="connsiteY0" fmla="*/ 56179 h 56178"/>
                  <a:gd name="connsiteX1" fmla="*/ 56231 w 56231"/>
                  <a:gd name="connsiteY1" fmla="*/ 28089 h 56178"/>
                  <a:gd name="connsiteX2" fmla="*/ 28115 w 56231"/>
                  <a:gd name="connsiteY2" fmla="*/ 0 h 56178"/>
                  <a:gd name="connsiteX3" fmla="*/ 0 w 56231"/>
                  <a:gd name="connsiteY3" fmla="*/ 28089 h 56178"/>
                  <a:gd name="connsiteX4" fmla="*/ 28115 w 56231"/>
                  <a:gd name="connsiteY4" fmla="*/ 56179 h 56178"/>
                  <a:gd name="connsiteX5" fmla="*/ 28115 w 56231"/>
                  <a:gd name="connsiteY5" fmla="*/ 56179 h 5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31" h="56178">
                    <a:moveTo>
                      <a:pt x="28115" y="56179"/>
                    </a:moveTo>
                    <a:cubicBezTo>
                      <a:pt x="43451" y="56179"/>
                      <a:pt x="56231" y="43411"/>
                      <a:pt x="56231" y="28089"/>
                    </a:cubicBezTo>
                    <a:cubicBezTo>
                      <a:pt x="56231" y="12768"/>
                      <a:pt x="43451" y="0"/>
                      <a:pt x="28115" y="0"/>
                    </a:cubicBezTo>
                    <a:cubicBezTo>
                      <a:pt x="12780" y="0"/>
                      <a:pt x="0" y="12768"/>
                      <a:pt x="0" y="28089"/>
                    </a:cubicBezTo>
                    <a:cubicBezTo>
                      <a:pt x="0" y="43411"/>
                      <a:pt x="12141" y="56179"/>
                      <a:pt x="28115" y="56179"/>
                    </a:cubicBezTo>
                    <a:lnTo>
                      <a:pt x="28115" y="56179"/>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sp>
            <p:nvSpPr>
              <p:cNvPr id="186" name="Graphic 4">
                <a:extLst>
                  <a:ext uri="{FF2B5EF4-FFF2-40B4-BE49-F238E27FC236}">
                    <a16:creationId xmlns:a16="http://schemas.microsoft.com/office/drawing/2014/main" id="{37DFD6B9-ED1E-EEBA-3D7C-663E594E9767}"/>
                  </a:ext>
                </a:extLst>
              </p:cNvPr>
              <p:cNvSpPr/>
              <p:nvPr/>
            </p:nvSpPr>
            <p:spPr>
              <a:xfrm>
                <a:off x="6146480" y="4793256"/>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181474 w 362309"/>
                  <a:gd name="connsiteY7" fmla="*/ 77885 h 361971"/>
                  <a:gd name="connsiteX8" fmla="*/ 222370 w 362309"/>
                  <a:gd name="connsiteY8" fmla="*/ 118742 h 361971"/>
                  <a:gd name="connsiteX9" fmla="*/ 181474 w 362309"/>
                  <a:gd name="connsiteY9" fmla="*/ 159600 h 361971"/>
                  <a:gd name="connsiteX10" fmla="*/ 140579 w 362309"/>
                  <a:gd name="connsiteY10" fmla="*/ 118742 h 361971"/>
                  <a:gd name="connsiteX11" fmla="*/ 140579 w 362309"/>
                  <a:gd name="connsiteY11" fmla="*/ 118742 h 361971"/>
                  <a:gd name="connsiteX12" fmla="*/ 181474 w 362309"/>
                  <a:gd name="connsiteY12" fmla="*/ 77885 h 361971"/>
                  <a:gd name="connsiteX13" fmla="*/ 263265 w 362309"/>
                  <a:gd name="connsiteY13" fmla="*/ 277065 h 361971"/>
                  <a:gd name="connsiteX14" fmla="*/ 256875 w 362309"/>
                  <a:gd name="connsiteY14" fmla="*/ 283449 h 361971"/>
                  <a:gd name="connsiteX15" fmla="*/ 250485 w 362309"/>
                  <a:gd name="connsiteY15" fmla="*/ 277065 h 361971"/>
                  <a:gd name="connsiteX16" fmla="*/ 250485 w 362309"/>
                  <a:gd name="connsiteY16" fmla="*/ 215140 h 361971"/>
                  <a:gd name="connsiteX17" fmla="*/ 222370 w 362309"/>
                  <a:gd name="connsiteY17" fmla="*/ 187051 h 361971"/>
                  <a:gd name="connsiteX18" fmla="*/ 139301 w 362309"/>
                  <a:gd name="connsiteY18" fmla="*/ 187051 h 361971"/>
                  <a:gd name="connsiteX19" fmla="*/ 111185 w 362309"/>
                  <a:gd name="connsiteY19" fmla="*/ 215140 h 361971"/>
                  <a:gd name="connsiteX20" fmla="*/ 111185 w 362309"/>
                  <a:gd name="connsiteY20" fmla="*/ 277065 h 361971"/>
                  <a:gd name="connsiteX21" fmla="*/ 104795 w 362309"/>
                  <a:gd name="connsiteY21" fmla="*/ 283449 h 361971"/>
                  <a:gd name="connsiteX22" fmla="*/ 98405 w 362309"/>
                  <a:gd name="connsiteY22" fmla="*/ 277065 h 361971"/>
                  <a:gd name="connsiteX23" fmla="*/ 98405 w 362309"/>
                  <a:gd name="connsiteY23" fmla="*/ 215140 h 361971"/>
                  <a:gd name="connsiteX24" fmla="*/ 139301 w 362309"/>
                  <a:gd name="connsiteY24" fmla="*/ 174283 h 361971"/>
                  <a:gd name="connsiteX25" fmla="*/ 222370 w 362309"/>
                  <a:gd name="connsiteY25" fmla="*/ 174283 h 361971"/>
                  <a:gd name="connsiteX26" fmla="*/ 263265 w 362309"/>
                  <a:gd name="connsiteY26" fmla="*/ 215140 h 361971"/>
                  <a:gd name="connsiteX27" fmla="*/ 263265 w 362309"/>
                  <a:gd name="connsiteY27" fmla="*/ 2770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181474" y="77885"/>
                    </a:moveTo>
                    <a:cubicBezTo>
                      <a:pt x="203839" y="77885"/>
                      <a:pt x="222370" y="96398"/>
                      <a:pt x="222370" y="118742"/>
                    </a:cubicBezTo>
                    <a:cubicBezTo>
                      <a:pt x="222370" y="141086"/>
                      <a:pt x="203839" y="159600"/>
                      <a:pt x="181474" y="159600"/>
                    </a:cubicBezTo>
                    <a:cubicBezTo>
                      <a:pt x="159109" y="159600"/>
                      <a:pt x="140579" y="141086"/>
                      <a:pt x="140579" y="118742"/>
                    </a:cubicBezTo>
                    <a:cubicBezTo>
                      <a:pt x="140579" y="118742"/>
                      <a:pt x="140579" y="118742"/>
                      <a:pt x="140579" y="118742"/>
                    </a:cubicBezTo>
                    <a:cubicBezTo>
                      <a:pt x="140579" y="95760"/>
                      <a:pt x="158470" y="77885"/>
                      <a:pt x="181474" y="77885"/>
                    </a:cubicBezTo>
                    <a:close/>
                    <a:moveTo>
                      <a:pt x="263265" y="277065"/>
                    </a:moveTo>
                    <a:cubicBezTo>
                      <a:pt x="263265" y="280895"/>
                      <a:pt x="260709" y="283449"/>
                      <a:pt x="256875" y="283449"/>
                    </a:cubicBezTo>
                    <a:cubicBezTo>
                      <a:pt x="253041" y="283449"/>
                      <a:pt x="250485" y="280895"/>
                      <a:pt x="250485" y="277065"/>
                    </a:cubicBezTo>
                    <a:lnTo>
                      <a:pt x="250485" y="215140"/>
                    </a:lnTo>
                    <a:cubicBezTo>
                      <a:pt x="250485" y="199819"/>
                      <a:pt x="237705" y="187051"/>
                      <a:pt x="222370" y="187051"/>
                    </a:cubicBezTo>
                    <a:lnTo>
                      <a:pt x="139301" y="187051"/>
                    </a:lnTo>
                    <a:cubicBezTo>
                      <a:pt x="123965" y="187051"/>
                      <a:pt x="111185" y="199819"/>
                      <a:pt x="111185" y="215140"/>
                    </a:cubicBezTo>
                    <a:lnTo>
                      <a:pt x="111185" y="277065"/>
                    </a:lnTo>
                    <a:cubicBezTo>
                      <a:pt x="111185" y="280895"/>
                      <a:pt x="108629" y="283449"/>
                      <a:pt x="104795" y="283449"/>
                    </a:cubicBezTo>
                    <a:cubicBezTo>
                      <a:pt x="100961" y="283449"/>
                      <a:pt x="98405" y="280895"/>
                      <a:pt x="98405" y="277065"/>
                    </a:cubicBezTo>
                    <a:lnTo>
                      <a:pt x="98405" y="215140"/>
                    </a:lnTo>
                    <a:cubicBezTo>
                      <a:pt x="98405" y="192796"/>
                      <a:pt x="116936" y="174283"/>
                      <a:pt x="139301" y="174283"/>
                    </a:cubicBezTo>
                    <a:lnTo>
                      <a:pt x="222370" y="174283"/>
                    </a:lnTo>
                    <a:cubicBezTo>
                      <a:pt x="244735" y="174283"/>
                      <a:pt x="263265" y="192796"/>
                      <a:pt x="263265" y="215140"/>
                    </a:cubicBezTo>
                    <a:lnTo>
                      <a:pt x="263265" y="277065"/>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grpSp>
        <p:sp>
          <p:nvSpPr>
            <p:cNvPr id="184" name="TextBox 183">
              <a:extLst>
                <a:ext uri="{FF2B5EF4-FFF2-40B4-BE49-F238E27FC236}">
                  <a16:creationId xmlns:a16="http://schemas.microsoft.com/office/drawing/2014/main" id="{79743DE2-8F59-9EEC-9183-0C5999A6D931}"/>
                </a:ext>
              </a:extLst>
            </p:cNvPr>
            <p:cNvSpPr txBox="1"/>
            <p:nvPr/>
          </p:nvSpPr>
          <p:spPr>
            <a:xfrm>
              <a:off x="2369769" y="5822961"/>
              <a:ext cx="1293802"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34373F"/>
                  </a:solidFill>
                  <a:effectLst/>
                  <a:uLnTx/>
                  <a:uFillTx/>
                  <a:latin typeface="Arial" charset="0"/>
                  <a:ea typeface="ＭＳ Ｐゴシック" charset="-128"/>
                  <a:cs typeface="+mn-cs"/>
                </a:rPr>
                <a:t>Data Scientist</a:t>
              </a:r>
            </a:p>
          </p:txBody>
        </p:sp>
      </p:grpSp>
      <p:grpSp>
        <p:nvGrpSpPr>
          <p:cNvPr id="187" name="Group 186">
            <a:extLst>
              <a:ext uri="{FF2B5EF4-FFF2-40B4-BE49-F238E27FC236}">
                <a16:creationId xmlns:a16="http://schemas.microsoft.com/office/drawing/2014/main" id="{477D13F8-DA40-38E0-B9E5-D86F782A8AD2}"/>
              </a:ext>
            </a:extLst>
          </p:cNvPr>
          <p:cNvGrpSpPr/>
          <p:nvPr/>
        </p:nvGrpSpPr>
        <p:grpSpPr>
          <a:xfrm>
            <a:off x="942543" y="4391677"/>
            <a:ext cx="1579552" cy="684297"/>
            <a:chOff x="2091772" y="4294628"/>
            <a:chExt cx="1579552" cy="684297"/>
          </a:xfrm>
        </p:grpSpPr>
        <p:grpSp>
          <p:nvGrpSpPr>
            <p:cNvPr id="188" name="Graphic 4">
              <a:extLst>
                <a:ext uri="{FF2B5EF4-FFF2-40B4-BE49-F238E27FC236}">
                  <a16:creationId xmlns:a16="http://schemas.microsoft.com/office/drawing/2014/main" id="{B4BBA4F6-AFCF-4AFD-1428-2E566A32B897}"/>
                </a:ext>
              </a:extLst>
            </p:cNvPr>
            <p:cNvGrpSpPr/>
            <p:nvPr/>
          </p:nvGrpSpPr>
          <p:grpSpPr>
            <a:xfrm>
              <a:off x="2700393" y="4294628"/>
              <a:ext cx="362309" cy="361971"/>
              <a:chOff x="6146480" y="4793256"/>
              <a:chExt cx="362309" cy="361971"/>
            </a:xfrm>
            <a:solidFill>
              <a:schemeClr val="accent3"/>
            </a:solidFill>
          </p:grpSpPr>
          <p:sp>
            <p:nvSpPr>
              <p:cNvPr id="190" name="Graphic 4">
                <a:extLst>
                  <a:ext uri="{FF2B5EF4-FFF2-40B4-BE49-F238E27FC236}">
                    <a16:creationId xmlns:a16="http://schemas.microsoft.com/office/drawing/2014/main" id="{B77608AB-1EBF-64AB-C5F7-89E7AB8749A9}"/>
                  </a:ext>
                </a:extLst>
              </p:cNvPr>
              <p:cNvSpPr/>
              <p:nvPr/>
            </p:nvSpPr>
            <p:spPr>
              <a:xfrm>
                <a:off x="6299839" y="4883909"/>
                <a:ext cx="56231" cy="56178"/>
              </a:xfrm>
              <a:custGeom>
                <a:avLst/>
                <a:gdLst>
                  <a:gd name="connsiteX0" fmla="*/ 28115 w 56231"/>
                  <a:gd name="connsiteY0" fmla="*/ 56179 h 56178"/>
                  <a:gd name="connsiteX1" fmla="*/ 56231 w 56231"/>
                  <a:gd name="connsiteY1" fmla="*/ 28089 h 56178"/>
                  <a:gd name="connsiteX2" fmla="*/ 28115 w 56231"/>
                  <a:gd name="connsiteY2" fmla="*/ 0 h 56178"/>
                  <a:gd name="connsiteX3" fmla="*/ 0 w 56231"/>
                  <a:gd name="connsiteY3" fmla="*/ 28089 h 56178"/>
                  <a:gd name="connsiteX4" fmla="*/ 28115 w 56231"/>
                  <a:gd name="connsiteY4" fmla="*/ 56179 h 56178"/>
                  <a:gd name="connsiteX5" fmla="*/ 28115 w 56231"/>
                  <a:gd name="connsiteY5" fmla="*/ 56179 h 5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31" h="56178">
                    <a:moveTo>
                      <a:pt x="28115" y="56179"/>
                    </a:moveTo>
                    <a:cubicBezTo>
                      <a:pt x="43451" y="56179"/>
                      <a:pt x="56231" y="43411"/>
                      <a:pt x="56231" y="28089"/>
                    </a:cubicBezTo>
                    <a:cubicBezTo>
                      <a:pt x="56231" y="12768"/>
                      <a:pt x="43451" y="0"/>
                      <a:pt x="28115" y="0"/>
                    </a:cubicBezTo>
                    <a:cubicBezTo>
                      <a:pt x="12780" y="0"/>
                      <a:pt x="0" y="12768"/>
                      <a:pt x="0" y="28089"/>
                    </a:cubicBezTo>
                    <a:cubicBezTo>
                      <a:pt x="0" y="43411"/>
                      <a:pt x="12141" y="56179"/>
                      <a:pt x="28115" y="56179"/>
                    </a:cubicBezTo>
                    <a:lnTo>
                      <a:pt x="28115" y="56179"/>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sp>
            <p:nvSpPr>
              <p:cNvPr id="191" name="Graphic 4">
                <a:extLst>
                  <a:ext uri="{FF2B5EF4-FFF2-40B4-BE49-F238E27FC236}">
                    <a16:creationId xmlns:a16="http://schemas.microsoft.com/office/drawing/2014/main" id="{1D788881-BF8A-1892-614F-6F222146BA3D}"/>
                  </a:ext>
                </a:extLst>
              </p:cNvPr>
              <p:cNvSpPr/>
              <p:nvPr/>
            </p:nvSpPr>
            <p:spPr>
              <a:xfrm>
                <a:off x="6146480" y="4793256"/>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181474 w 362309"/>
                  <a:gd name="connsiteY7" fmla="*/ 77885 h 361971"/>
                  <a:gd name="connsiteX8" fmla="*/ 222370 w 362309"/>
                  <a:gd name="connsiteY8" fmla="*/ 118742 h 361971"/>
                  <a:gd name="connsiteX9" fmla="*/ 181474 w 362309"/>
                  <a:gd name="connsiteY9" fmla="*/ 159600 h 361971"/>
                  <a:gd name="connsiteX10" fmla="*/ 140579 w 362309"/>
                  <a:gd name="connsiteY10" fmla="*/ 118742 h 361971"/>
                  <a:gd name="connsiteX11" fmla="*/ 140579 w 362309"/>
                  <a:gd name="connsiteY11" fmla="*/ 118742 h 361971"/>
                  <a:gd name="connsiteX12" fmla="*/ 181474 w 362309"/>
                  <a:gd name="connsiteY12" fmla="*/ 77885 h 361971"/>
                  <a:gd name="connsiteX13" fmla="*/ 263265 w 362309"/>
                  <a:gd name="connsiteY13" fmla="*/ 277065 h 361971"/>
                  <a:gd name="connsiteX14" fmla="*/ 256875 w 362309"/>
                  <a:gd name="connsiteY14" fmla="*/ 283449 h 361971"/>
                  <a:gd name="connsiteX15" fmla="*/ 250485 w 362309"/>
                  <a:gd name="connsiteY15" fmla="*/ 277065 h 361971"/>
                  <a:gd name="connsiteX16" fmla="*/ 250485 w 362309"/>
                  <a:gd name="connsiteY16" fmla="*/ 215140 h 361971"/>
                  <a:gd name="connsiteX17" fmla="*/ 222370 w 362309"/>
                  <a:gd name="connsiteY17" fmla="*/ 187051 h 361971"/>
                  <a:gd name="connsiteX18" fmla="*/ 139301 w 362309"/>
                  <a:gd name="connsiteY18" fmla="*/ 187051 h 361971"/>
                  <a:gd name="connsiteX19" fmla="*/ 111185 w 362309"/>
                  <a:gd name="connsiteY19" fmla="*/ 215140 h 361971"/>
                  <a:gd name="connsiteX20" fmla="*/ 111185 w 362309"/>
                  <a:gd name="connsiteY20" fmla="*/ 277065 h 361971"/>
                  <a:gd name="connsiteX21" fmla="*/ 104795 w 362309"/>
                  <a:gd name="connsiteY21" fmla="*/ 283449 h 361971"/>
                  <a:gd name="connsiteX22" fmla="*/ 98405 w 362309"/>
                  <a:gd name="connsiteY22" fmla="*/ 277065 h 361971"/>
                  <a:gd name="connsiteX23" fmla="*/ 98405 w 362309"/>
                  <a:gd name="connsiteY23" fmla="*/ 215140 h 361971"/>
                  <a:gd name="connsiteX24" fmla="*/ 139301 w 362309"/>
                  <a:gd name="connsiteY24" fmla="*/ 174283 h 361971"/>
                  <a:gd name="connsiteX25" fmla="*/ 222370 w 362309"/>
                  <a:gd name="connsiteY25" fmla="*/ 174283 h 361971"/>
                  <a:gd name="connsiteX26" fmla="*/ 263265 w 362309"/>
                  <a:gd name="connsiteY26" fmla="*/ 215140 h 361971"/>
                  <a:gd name="connsiteX27" fmla="*/ 263265 w 362309"/>
                  <a:gd name="connsiteY27" fmla="*/ 2770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181474" y="77885"/>
                    </a:moveTo>
                    <a:cubicBezTo>
                      <a:pt x="203839" y="77885"/>
                      <a:pt x="222370" y="96398"/>
                      <a:pt x="222370" y="118742"/>
                    </a:cubicBezTo>
                    <a:cubicBezTo>
                      <a:pt x="222370" y="141086"/>
                      <a:pt x="203839" y="159600"/>
                      <a:pt x="181474" y="159600"/>
                    </a:cubicBezTo>
                    <a:cubicBezTo>
                      <a:pt x="159109" y="159600"/>
                      <a:pt x="140579" y="141086"/>
                      <a:pt x="140579" y="118742"/>
                    </a:cubicBezTo>
                    <a:cubicBezTo>
                      <a:pt x="140579" y="118742"/>
                      <a:pt x="140579" y="118742"/>
                      <a:pt x="140579" y="118742"/>
                    </a:cubicBezTo>
                    <a:cubicBezTo>
                      <a:pt x="140579" y="95760"/>
                      <a:pt x="158470" y="77885"/>
                      <a:pt x="181474" y="77885"/>
                    </a:cubicBezTo>
                    <a:close/>
                    <a:moveTo>
                      <a:pt x="263265" y="277065"/>
                    </a:moveTo>
                    <a:cubicBezTo>
                      <a:pt x="263265" y="280895"/>
                      <a:pt x="260709" y="283449"/>
                      <a:pt x="256875" y="283449"/>
                    </a:cubicBezTo>
                    <a:cubicBezTo>
                      <a:pt x="253041" y="283449"/>
                      <a:pt x="250485" y="280895"/>
                      <a:pt x="250485" y="277065"/>
                    </a:cubicBezTo>
                    <a:lnTo>
                      <a:pt x="250485" y="215140"/>
                    </a:lnTo>
                    <a:cubicBezTo>
                      <a:pt x="250485" y="199819"/>
                      <a:pt x="237705" y="187051"/>
                      <a:pt x="222370" y="187051"/>
                    </a:cubicBezTo>
                    <a:lnTo>
                      <a:pt x="139301" y="187051"/>
                    </a:lnTo>
                    <a:cubicBezTo>
                      <a:pt x="123965" y="187051"/>
                      <a:pt x="111185" y="199819"/>
                      <a:pt x="111185" y="215140"/>
                    </a:cubicBezTo>
                    <a:lnTo>
                      <a:pt x="111185" y="277065"/>
                    </a:lnTo>
                    <a:cubicBezTo>
                      <a:pt x="111185" y="280895"/>
                      <a:pt x="108629" y="283449"/>
                      <a:pt x="104795" y="283449"/>
                    </a:cubicBezTo>
                    <a:cubicBezTo>
                      <a:pt x="100961" y="283449"/>
                      <a:pt x="98405" y="280895"/>
                      <a:pt x="98405" y="277065"/>
                    </a:cubicBezTo>
                    <a:lnTo>
                      <a:pt x="98405" y="215140"/>
                    </a:lnTo>
                    <a:cubicBezTo>
                      <a:pt x="98405" y="192796"/>
                      <a:pt x="116936" y="174283"/>
                      <a:pt x="139301" y="174283"/>
                    </a:cubicBezTo>
                    <a:lnTo>
                      <a:pt x="222370" y="174283"/>
                    </a:lnTo>
                    <a:cubicBezTo>
                      <a:pt x="244735" y="174283"/>
                      <a:pt x="263265" y="192796"/>
                      <a:pt x="263265" y="215140"/>
                    </a:cubicBezTo>
                    <a:lnTo>
                      <a:pt x="263265" y="277065"/>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grpSp>
        <p:sp>
          <p:nvSpPr>
            <p:cNvPr id="189" name="TextBox 188">
              <a:extLst>
                <a:ext uri="{FF2B5EF4-FFF2-40B4-BE49-F238E27FC236}">
                  <a16:creationId xmlns:a16="http://schemas.microsoft.com/office/drawing/2014/main" id="{A006F723-4A70-A89D-A625-685DD7BC263B}"/>
                </a:ext>
              </a:extLst>
            </p:cNvPr>
            <p:cNvSpPr txBox="1"/>
            <p:nvPr/>
          </p:nvSpPr>
          <p:spPr>
            <a:xfrm>
              <a:off x="2091772" y="4701926"/>
              <a:ext cx="1579552"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34373F"/>
                  </a:solidFill>
                  <a:effectLst/>
                  <a:uLnTx/>
                  <a:uFillTx/>
                  <a:latin typeface="Arial" charset="0"/>
                  <a:ea typeface="ＭＳ Ｐゴシック" charset="-128"/>
                  <a:cs typeface="+mn-cs"/>
                </a:rPr>
                <a:t>Data Domain Owner</a:t>
              </a:r>
            </a:p>
          </p:txBody>
        </p:sp>
      </p:grpSp>
      <p:grpSp>
        <p:nvGrpSpPr>
          <p:cNvPr id="192" name="Group 191">
            <a:extLst>
              <a:ext uri="{FF2B5EF4-FFF2-40B4-BE49-F238E27FC236}">
                <a16:creationId xmlns:a16="http://schemas.microsoft.com/office/drawing/2014/main" id="{08C09AE3-B277-5D09-AA72-5A7147285CD5}"/>
              </a:ext>
            </a:extLst>
          </p:cNvPr>
          <p:cNvGrpSpPr/>
          <p:nvPr/>
        </p:nvGrpSpPr>
        <p:grpSpPr>
          <a:xfrm>
            <a:off x="1887880" y="5462256"/>
            <a:ext cx="1207717" cy="672840"/>
            <a:chOff x="8545155" y="4698795"/>
            <a:chExt cx="1207717" cy="672840"/>
          </a:xfrm>
        </p:grpSpPr>
        <p:grpSp>
          <p:nvGrpSpPr>
            <p:cNvPr id="193" name="Graphic 4">
              <a:extLst>
                <a:ext uri="{FF2B5EF4-FFF2-40B4-BE49-F238E27FC236}">
                  <a16:creationId xmlns:a16="http://schemas.microsoft.com/office/drawing/2014/main" id="{A926A3B5-089F-2F36-DD50-930FC078CBF7}"/>
                </a:ext>
              </a:extLst>
            </p:cNvPr>
            <p:cNvGrpSpPr/>
            <p:nvPr/>
          </p:nvGrpSpPr>
          <p:grpSpPr>
            <a:xfrm>
              <a:off x="8967860" y="4698795"/>
              <a:ext cx="362309" cy="361971"/>
              <a:chOff x="6146480" y="4793256"/>
              <a:chExt cx="362309" cy="361971"/>
            </a:xfrm>
            <a:solidFill>
              <a:schemeClr val="accent3"/>
            </a:solidFill>
          </p:grpSpPr>
          <p:sp>
            <p:nvSpPr>
              <p:cNvPr id="195" name="Graphic 4">
                <a:extLst>
                  <a:ext uri="{FF2B5EF4-FFF2-40B4-BE49-F238E27FC236}">
                    <a16:creationId xmlns:a16="http://schemas.microsoft.com/office/drawing/2014/main" id="{4CE51516-498E-7638-B441-C79BD418D7F4}"/>
                  </a:ext>
                </a:extLst>
              </p:cNvPr>
              <p:cNvSpPr/>
              <p:nvPr/>
            </p:nvSpPr>
            <p:spPr>
              <a:xfrm>
                <a:off x="6299839" y="4883909"/>
                <a:ext cx="56231" cy="56178"/>
              </a:xfrm>
              <a:custGeom>
                <a:avLst/>
                <a:gdLst>
                  <a:gd name="connsiteX0" fmla="*/ 28115 w 56231"/>
                  <a:gd name="connsiteY0" fmla="*/ 56179 h 56178"/>
                  <a:gd name="connsiteX1" fmla="*/ 56231 w 56231"/>
                  <a:gd name="connsiteY1" fmla="*/ 28089 h 56178"/>
                  <a:gd name="connsiteX2" fmla="*/ 28115 w 56231"/>
                  <a:gd name="connsiteY2" fmla="*/ 0 h 56178"/>
                  <a:gd name="connsiteX3" fmla="*/ 0 w 56231"/>
                  <a:gd name="connsiteY3" fmla="*/ 28089 h 56178"/>
                  <a:gd name="connsiteX4" fmla="*/ 28115 w 56231"/>
                  <a:gd name="connsiteY4" fmla="*/ 56179 h 56178"/>
                  <a:gd name="connsiteX5" fmla="*/ 28115 w 56231"/>
                  <a:gd name="connsiteY5" fmla="*/ 56179 h 5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31" h="56178">
                    <a:moveTo>
                      <a:pt x="28115" y="56179"/>
                    </a:moveTo>
                    <a:cubicBezTo>
                      <a:pt x="43451" y="56179"/>
                      <a:pt x="56231" y="43411"/>
                      <a:pt x="56231" y="28089"/>
                    </a:cubicBezTo>
                    <a:cubicBezTo>
                      <a:pt x="56231" y="12768"/>
                      <a:pt x="43451" y="0"/>
                      <a:pt x="28115" y="0"/>
                    </a:cubicBezTo>
                    <a:cubicBezTo>
                      <a:pt x="12780" y="0"/>
                      <a:pt x="0" y="12768"/>
                      <a:pt x="0" y="28089"/>
                    </a:cubicBezTo>
                    <a:cubicBezTo>
                      <a:pt x="0" y="43411"/>
                      <a:pt x="12141" y="56179"/>
                      <a:pt x="28115" y="56179"/>
                    </a:cubicBezTo>
                    <a:lnTo>
                      <a:pt x="28115" y="56179"/>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sp>
            <p:nvSpPr>
              <p:cNvPr id="196" name="Graphic 4">
                <a:extLst>
                  <a:ext uri="{FF2B5EF4-FFF2-40B4-BE49-F238E27FC236}">
                    <a16:creationId xmlns:a16="http://schemas.microsoft.com/office/drawing/2014/main" id="{0F010978-143F-915F-F692-AE4CE736AA4A}"/>
                  </a:ext>
                </a:extLst>
              </p:cNvPr>
              <p:cNvSpPr/>
              <p:nvPr/>
            </p:nvSpPr>
            <p:spPr>
              <a:xfrm>
                <a:off x="6146480" y="4793256"/>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181474 w 362309"/>
                  <a:gd name="connsiteY7" fmla="*/ 77885 h 361971"/>
                  <a:gd name="connsiteX8" fmla="*/ 222370 w 362309"/>
                  <a:gd name="connsiteY8" fmla="*/ 118742 h 361971"/>
                  <a:gd name="connsiteX9" fmla="*/ 181474 w 362309"/>
                  <a:gd name="connsiteY9" fmla="*/ 159600 h 361971"/>
                  <a:gd name="connsiteX10" fmla="*/ 140579 w 362309"/>
                  <a:gd name="connsiteY10" fmla="*/ 118742 h 361971"/>
                  <a:gd name="connsiteX11" fmla="*/ 140579 w 362309"/>
                  <a:gd name="connsiteY11" fmla="*/ 118742 h 361971"/>
                  <a:gd name="connsiteX12" fmla="*/ 181474 w 362309"/>
                  <a:gd name="connsiteY12" fmla="*/ 77885 h 361971"/>
                  <a:gd name="connsiteX13" fmla="*/ 263265 w 362309"/>
                  <a:gd name="connsiteY13" fmla="*/ 277065 h 361971"/>
                  <a:gd name="connsiteX14" fmla="*/ 256875 w 362309"/>
                  <a:gd name="connsiteY14" fmla="*/ 283449 h 361971"/>
                  <a:gd name="connsiteX15" fmla="*/ 250485 w 362309"/>
                  <a:gd name="connsiteY15" fmla="*/ 277065 h 361971"/>
                  <a:gd name="connsiteX16" fmla="*/ 250485 w 362309"/>
                  <a:gd name="connsiteY16" fmla="*/ 215140 h 361971"/>
                  <a:gd name="connsiteX17" fmla="*/ 222370 w 362309"/>
                  <a:gd name="connsiteY17" fmla="*/ 187051 h 361971"/>
                  <a:gd name="connsiteX18" fmla="*/ 139301 w 362309"/>
                  <a:gd name="connsiteY18" fmla="*/ 187051 h 361971"/>
                  <a:gd name="connsiteX19" fmla="*/ 111185 w 362309"/>
                  <a:gd name="connsiteY19" fmla="*/ 215140 h 361971"/>
                  <a:gd name="connsiteX20" fmla="*/ 111185 w 362309"/>
                  <a:gd name="connsiteY20" fmla="*/ 277065 h 361971"/>
                  <a:gd name="connsiteX21" fmla="*/ 104795 w 362309"/>
                  <a:gd name="connsiteY21" fmla="*/ 283449 h 361971"/>
                  <a:gd name="connsiteX22" fmla="*/ 98405 w 362309"/>
                  <a:gd name="connsiteY22" fmla="*/ 277065 h 361971"/>
                  <a:gd name="connsiteX23" fmla="*/ 98405 w 362309"/>
                  <a:gd name="connsiteY23" fmla="*/ 215140 h 361971"/>
                  <a:gd name="connsiteX24" fmla="*/ 139301 w 362309"/>
                  <a:gd name="connsiteY24" fmla="*/ 174283 h 361971"/>
                  <a:gd name="connsiteX25" fmla="*/ 222370 w 362309"/>
                  <a:gd name="connsiteY25" fmla="*/ 174283 h 361971"/>
                  <a:gd name="connsiteX26" fmla="*/ 263265 w 362309"/>
                  <a:gd name="connsiteY26" fmla="*/ 215140 h 361971"/>
                  <a:gd name="connsiteX27" fmla="*/ 263265 w 362309"/>
                  <a:gd name="connsiteY27" fmla="*/ 2770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181474" y="77885"/>
                    </a:moveTo>
                    <a:cubicBezTo>
                      <a:pt x="203839" y="77885"/>
                      <a:pt x="222370" y="96398"/>
                      <a:pt x="222370" y="118742"/>
                    </a:cubicBezTo>
                    <a:cubicBezTo>
                      <a:pt x="222370" y="141086"/>
                      <a:pt x="203839" y="159600"/>
                      <a:pt x="181474" y="159600"/>
                    </a:cubicBezTo>
                    <a:cubicBezTo>
                      <a:pt x="159109" y="159600"/>
                      <a:pt x="140579" y="141086"/>
                      <a:pt x="140579" y="118742"/>
                    </a:cubicBezTo>
                    <a:cubicBezTo>
                      <a:pt x="140579" y="118742"/>
                      <a:pt x="140579" y="118742"/>
                      <a:pt x="140579" y="118742"/>
                    </a:cubicBezTo>
                    <a:cubicBezTo>
                      <a:pt x="140579" y="95760"/>
                      <a:pt x="158470" y="77885"/>
                      <a:pt x="181474" y="77885"/>
                    </a:cubicBezTo>
                    <a:close/>
                    <a:moveTo>
                      <a:pt x="263265" y="277065"/>
                    </a:moveTo>
                    <a:cubicBezTo>
                      <a:pt x="263265" y="280895"/>
                      <a:pt x="260709" y="283449"/>
                      <a:pt x="256875" y="283449"/>
                    </a:cubicBezTo>
                    <a:cubicBezTo>
                      <a:pt x="253041" y="283449"/>
                      <a:pt x="250485" y="280895"/>
                      <a:pt x="250485" y="277065"/>
                    </a:cubicBezTo>
                    <a:lnTo>
                      <a:pt x="250485" y="215140"/>
                    </a:lnTo>
                    <a:cubicBezTo>
                      <a:pt x="250485" y="199819"/>
                      <a:pt x="237705" y="187051"/>
                      <a:pt x="222370" y="187051"/>
                    </a:cubicBezTo>
                    <a:lnTo>
                      <a:pt x="139301" y="187051"/>
                    </a:lnTo>
                    <a:cubicBezTo>
                      <a:pt x="123965" y="187051"/>
                      <a:pt x="111185" y="199819"/>
                      <a:pt x="111185" y="215140"/>
                    </a:cubicBezTo>
                    <a:lnTo>
                      <a:pt x="111185" y="277065"/>
                    </a:lnTo>
                    <a:cubicBezTo>
                      <a:pt x="111185" y="280895"/>
                      <a:pt x="108629" y="283449"/>
                      <a:pt x="104795" y="283449"/>
                    </a:cubicBezTo>
                    <a:cubicBezTo>
                      <a:pt x="100961" y="283449"/>
                      <a:pt x="98405" y="280895"/>
                      <a:pt x="98405" y="277065"/>
                    </a:cubicBezTo>
                    <a:lnTo>
                      <a:pt x="98405" y="215140"/>
                    </a:lnTo>
                    <a:cubicBezTo>
                      <a:pt x="98405" y="192796"/>
                      <a:pt x="116936" y="174283"/>
                      <a:pt x="139301" y="174283"/>
                    </a:cubicBezTo>
                    <a:lnTo>
                      <a:pt x="222370" y="174283"/>
                    </a:lnTo>
                    <a:cubicBezTo>
                      <a:pt x="244735" y="174283"/>
                      <a:pt x="263265" y="192796"/>
                      <a:pt x="263265" y="215140"/>
                    </a:cubicBezTo>
                    <a:lnTo>
                      <a:pt x="263265" y="277065"/>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grpSp>
        <p:sp>
          <p:nvSpPr>
            <p:cNvPr id="194" name="TextBox 193">
              <a:extLst>
                <a:ext uri="{FF2B5EF4-FFF2-40B4-BE49-F238E27FC236}">
                  <a16:creationId xmlns:a16="http://schemas.microsoft.com/office/drawing/2014/main" id="{CAD616E1-7A2C-50EF-67FE-160371D84286}"/>
                </a:ext>
              </a:extLst>
            </p:cNvPr>
            <p:cNvSpPr txBox="1"/>
            <p:nvPr/>
          </p:nvSpPr>
          <p:spPr>
            <a:xfrm>
              <a:off x="8545155" y="5094636"/>
              <a:ext cx="1207717"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34373F"/>
                  </a:solidFill>
                  <a:effectLst/>
                  <a:uLnTx/>
                  <a:uFillTx/>
                  <a:latin typeface="Arial" charset="0"/>
                  <a:ea typeface="ＭＳ Ｐゴシック" charset="-128"/>
                  <a:cs typeface="+mn-cs"/>
                </a:rPr>
                <a:t>Data Producer</a:t>
              </a:r>
            </a:p>
          </p:txBody>
        </p:sp>
      </p:grpSp>
      <p:grpSp>
        <p:nvGrpSpPr>
          <p:cNvPr id="197" name="Group 196">
            <a:extLst>
              <a:ext uri="{FF2B5EF4-FFF2-40B4-BE49-F238E27FC236}">
                <a16:creationId xmlns:a16="http://schemas.microsoft.com/office/drawing/2014/main" id="{7DC2A195-3A9E-2A96-5A91-3828B328C6E1}"/>
              </a:ext>
            </a:extLst>
          </p:cNvPr>
          <p:cNvGrpSpPr/>
          <p:nvPr/>
        </p:nvGrpSpPr>
        <p:grpSpPr>
          <a:xfrm>
            <a:off x="9784926" y="4395163"/>
            <a:ext cx="1084319" cy="674981"/>
            <a:chOff x="706022" y="5433329"/>
            <a:chExt cx="1084319" cy="674981"/>
          </a:xfrm>
        </p:grpSpPr>
        <p:grpSp>
          <p:nvGrpSpPr>
            <p:cNvPr id="198" name="Graphic 4">
              <a:extLst>
                <a:ext uri="{FF2B5EF4-FFF2-40B4-BE49-F238E27FC236}">
                  <a16:creationId xmlns:a16="http://schemas.microsoft.com/office/drawing/2014/main" id="{38A0C6A9-59CE-2C5C-0638-AFAD98028440}"/>
                </a:ext>
              </a:extLst>
            </p:cNvPr>
            <p:cNvGrpSpPr/>
            <p:nvPr/>
          </p:nvGrpSpPr>
          <p:grpSpPr>
            <a:xfrm>
              <a:off x="1067026" y="5433329"/>
              <a:ext cx="362309" cy="361971"/>
              <a:chOff x="6146480" y="4793256"/>
              <a:chExt cx="362309" cy="361971"/>
            </a:xfrm>
            <a:solidFill>
              <a:schemeClr val="accent3"/>
            </a:solidFill>
          </p:grpSpPr>
          <p:sp>
            <p:nvSpPr>
              <p:cNvPr id="200" name="Graphic 4">
                <a:extLst>
                  <a:ext uri="{FF2B5EF4-FFF2-40B4-BE49-F238E27FC236}">
                    <a16:creationId xmlns:a16="http://schemas.microsoft.com/office/drawing/2014/main" id="{14B6C5E3-4361-E23E-45D3-B24D760DEFDF}"/>
                  </a:ext>
                </a:extLst>
              </p:cNvPr>
              <p:cNvSpPr/>
              <p:nvPr/>
            </p:nvSpPr>
            <p:spPr>
              <a:xfrm>
                <a:off x="6299839" y="4883909"/>
                <a:ext cx="56231" cy="56178"/>
              </a:xfrm>
              <a:custGeom>
                <a:avLst/>
                <a:gdLst>
                  <a:gd name="connsiteX0" fmla="*/ 28115 w 56231"/>
                  <a:gd name="connsiteY0" fmla="*/ 56179 h 56178"/>
                  <a:gd name="connsiteX1" fmla="*/ 56231 w 56231"/>
                  <a:gd name="connsiteY1" fmla="*/ 28089 h 56178"/>
                  <a:gd name="connsiteX2" fmla="*/ 28115 w 56231"/>
                  <a:gd name="connsiteY2" fmla="*/ 0 h 56178"/>
                  <a:gd name="connsiteX3" fmla="*/ 0 w 56231"/>
                  <a:gd name="connsiteY3" fmla="*/ 28089 h 56178"/>
                  <a:gd name="connsiteX4" fmla="*/ 28115 w 56231"/>
                  <a:gd name="connsiteY4" fmla="*/ 56179 h 56178"/>
                  <a:gd name="connsiteX5" fmla="*/ 28115 w 56231"/>
                  <a:gd name="connsiteY5" fmla="*/ 56179 h 5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31" h="56178">
                    <a:moveTo>
                      <a:pt x="28115" y="56179"/>
                    </a:moveTo>
                    <a:cubicBezTo>
                      <a:pt x="43451" y="56179"/>
                      <a:pt x="56231" y="43411"/>
                      <a:pt x="56231" y="28089"/>
                    </a:cubicBezTo>
                    <a:cubicBezTo>
                      <a:pt x="56231" y="12768"/>
                      <a:pt x="43451" y="0"/>
                      <a:pt x="28115" y="0"/>
                    </a:cubicBezTo>
                    <a:cubicBezTo>
                      <a:pt x="12780" y="0"/>
                      <a:pt x="0" y="12768"/>
                      <a:pt x="0" y="28089"/>
                    </a:cubicBezTo>
                    <a:cubicBezTo>
                      <a:pt x="0" y="43411"/>
                      <a:pt x="12141" y="56179"/>
                      <a:pt x="28115" y="56179"/>
                    </a:cubicBezTo>
                    <a:lnTo>
                      <a:pt x="28115" y="56179"/>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sp>
            <p:nvSpPr>
              <p:cNvPr id="201" name="Graphic 4">
                <a:extLst>
                  <a:ext uri="{FF2B5EF4-FFF2-40B4-BE49-F238E27FC236}">
                    <a16:creationId xmlns:a16="http://schemas.microsoft.com/office/drawing/2014/main" id="{BB9A4276-2E59-B42B-6E8A-C2164E8E5B82}"/>
                  </a:ext>
                </a:extLst>
              </p:cNvPr>
              <p:cNvSpPr/>
              <p:nvPr/>
            </p:nvSpPr>
            <p:spPr>
              <a:xfrm>
                <a:off x="6146480" y="4793256"/>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181474 w 362309"/>
                  <a:gd name="connsiteY7" fmla="*/ 77885 h 361971"/>
                  <a:gd name="connsiteX8" fmla="*/ 222370 w 362309"/>
                  <a:gd name="connsiteY8" fmla="*/ 118742 h 361971"/>
                  <a:gd name="connsiteX9" fmla="*/ 181474 w 362309"/>
                  <a:gd name="connsiteY9" fmla="*/ 159600 h 361971"/>
                  <a:gd name="connsiteX10" fmla="*/ 140579 w 362309"/>
                  <a:gd name="connsiteY10" fmla="*/ 118742 h 361971"/>
                  <a:gd name="connsiteX11" fmla="*/ 140579 w 362309"/>
                  <a:gd name="connsiteY11" fmla="*/ 118742 h 361971"/>
                  <a:gd name="connsiteX12" fmla="*/ 181474 w 362309"/>
                  <a:gd name="connsiteY12" fmla="*/ 77885 h 361971"/>
                  <a:gd name="connsiteX13" fmla="*/ 263265 w 362309"/>
                  <a:gd name="connsiteY13" fmla="*/ 277065 h 361971"/>
                  <a:gd name="connsiteX14" fmla="*/ 256875 w 362309"/>
                  <a:gd name="connsiteY14" fmla="*/ 283449 h 361971"/>
                  <a:gd name="connsiteX15" fmla="*/ 250485 w 362309"/>
                  <a:gd name="connsiteY15" fmla="*/ 277065 h 361971"/>
                  <a:gd name="connsiteX16" fmla="*/ 250485 w 362309"/>
                  <a:gd name="connsiteY16" fmla="*/ 215140 h 361971"/>
                  <a:gd name="connsiteX17" fmla="*/ 222370 w 362309"/>
                  <a:gd name="connsiteY17" fmla="*/ 187051 h 361971"/>
                  <a:gd name="connsiteX18" fmla="*/ 139301 w 362309"/>
                  <a:gd name="connsiteY18" fmla="*/ 187051 h 361971"/>
                  <a:gd name="connsiteX19" fmla="*/ 111185 w 362309"/>
                  <a:gd name="connsiteY19" fmla="*/ 215140 h 361971"/>
                  <a:gd name="connsiteX20" fmla="*/ 111185 w 362309"/>
                  <a:gd name="connsiteY20" fmla="*/ 277065 h 361971"/>
                  <a:gd name="connsiteX21" fmla="*/ 104795 w 362309"/>
                  <a:gd name="connsiteY21" fmla="*/ 283449 h 361971"/>
                  <a:gd name="connsiteX22" fmla="*/ 98405 w 362309"/>
                  <a:gd name="connsiteY22" fmla="*/ 277065 h 361971"/>
                  <a:gd name="connsiteX23" fmla="*/ 98405 w 362309"/>
                  <a:gd name="connsiteY23" fmla="*/ 215140 h 361971"/>
                  <a:gd name="connsiteX24" fmla="*/ 139301 w 362309"/>
                  <a:gd name="connsiteY24" fmla="*/ 174283 h 361971"/>
                  <a:gd name="connsiteX25" fmla="*/ 222370 w 362309"/>
                  <a:gd name="connsiteY25" fmla="*/ 174283 h 361971"/>
                  <a:gd name="connsiteX26" fmla="*/ 263265 w 362309"/>
                  <a:gd name="connsiteY26" fmla="*/ 215140 h 361971"/>
                  <a:gd name="connsiteX27" fmla="*/ 263265 w 362309"/>
                  <a:gd name="connsiteY27" fmla="*/ 2770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181474" y="77885"/>
                    </a:moveTo>
                    <a:cubicBezTo>
                      <a:pt x="203839" y="77885"/>
                      <a:pt x="222370" y="96398"/>
                      <a:pt x="222370" y="118742"/>
                    </a:cubicBezTo>
                    <a:cubicBezTo>
                      <a:pt x="222370" y="141086"/>
                      <a:pt x="203839" y="159600"/>
                      <a:pt x="181474" y="159600"/>
                    </a:cubicBezTo>
                    <a:cubicBezTo>
                      <a:pt x="159109" y="159600"/>
                      <a:pt x="140579" y="141086"/>
                      <a:pt x="140579" y="118742"/>
                    </a:cubicBezTo>
                    <a:cubicBezTo>
                      <a:pt x="140579" y="118742"/>
                      <a:pt x="140579" y="118742"/>
                      <a:pt x="140579" y="118742"/>
                    </a:cubicBezTo>
                    <a:cubicBezTo>
                      <a:pt x="140579" y="95760"/>
                      <a:pt x="158470" y="77885"/>
                      <a:pt x="181474" y="77885"/>
                    </a:cubicBezTo>
                    <a:close/>
                    <a:moveTo>
                      <a:pt x="263265" y="277065"/>
                    </a:moveTo>
                    <a:cubicBezTo>
                      <a:pt x="263265" y="280895"/>
                      <a:pt x="260709" y="283449"/>
                      <a:pt x="256875" y="283449"/>
                    </a:cubicBezTo>
                    <a:cubicBezTo>
                      <a:pt x="253041" y="283449"/>
                      <a:pt x="250485" y="280895"/>
                      <a:pt x="250485" y="277065"/>
                    </a:cubicBezTo>
                    <a:lnTo>
                      <a:pt x="250485" y="215140"/>
                    </a:lnTo>
                    <a:cubicBezTo>
                      <a:pt x="250485" y="199819"/>
                      <a:pt x="237705" y="187051"/>
                      <a:pt x="222370" y="187051"/>
                    </a:cubicBezTo>
                    <a:lnTo>
                      <a:pt x="139301" y="187051"/>
                    </a:lnTo>
                    <a:cubicBezTo>
                      <a:pt x="123965" y="187051"/>
                      <a:pt x="111185" y="199819"/>
                      <a:pt x="111185" y="215140"/>
                    </a:cubicBezTo>
                    <a:lnTo>
                      <a:pt x="111185" y="277065"/>
                    </a:lnTo>
                    <a:cubicBezTo>
                      <a:pt x="111185" y="280895"/>
                      <a:pt x="108629" y="283449"/>
                      <a:pt x="104795" y="283449"/>
                    </a:cubicBezTo>
                    <a:cubicBezTo>
                      <a:pt x="100961" y="283449"/>
                      <a:pt x="98405" y="280895"/>
                      <a:pt x="98405" y="277065"/>
                    </a:cubicBezTo>
                    <a:lnTo>
                      <a:pt x="98405" y="215140"/>
                    </a:lnTo>
                    <a:cubicBezTo>
                      <a:pt x="98405" y="192796"/>
                      <a:pt x="116936" y="174283"/>
                      <a:pt x="139301" y="174283"/>
                    </a:cubicBezTo>
                    <a:lnTo>
                      <a:pt x="222370" y="174283"/>
                    </a:lnTo>
                    <a:cubicBezTo>
                      <a:pt x="244735" y="174283"/>
                      <a:pt x="263265" y="192796"/>
                      <a:pt x="263265" y="215140"/>
                    </a:cubicBezTo>
                    <a:lnTo>
                      <a:pt x="263265" y="277065"/>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grpSp>
        <p:sp>
          <p:nvSpPr>
            <p:cNvPr id="199" name="TextBox 198">
              <a:extLst>
                <a:ext uri="{FF2B5EF4-FFF2-40B4-BE49-F238E27FC236}">
                  <a16:creationId xmlns:a16="http://schemas.microsoft.com/office/drawing/2014/main" id="{6F9C41F8-2E43-E5DF-4FDF-0F486DD51CBB}"/>
                </a:ext>
              </a:extLst>
            </p:cNvPr>
            <p:cNvSpPr txBox="1"/>
            <p:nvPr/>
          </p:nvSpPr>
          <p:spPr>
            <a:xfrm>
              <a:off x="706022" y="5831311"/>
              <a:ext cx="1084319"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34373F"/>
                  </a:solidFill>
                  <a:effectLst/>
                  <a:uLnTx/>
                  <a:uFillTx/>
                  <a:latin typeface="Arial" charset="0"/>
                  <a:ea typeface="ＭＳ Ｐゴシック" charset="-128"/>
                  <a:cs typeface="+mn-cs"/>
                </a:rPr>
                <a:t>Data Analyst</a:t>
              </a:r>
            </a:p>
          </p:txBody>
        </p:sp>
      </p:grpSp>
      <p:grpSp>
        <p:nvGrpSpPr>
          <p:cNvPr id="202" name="Group 201">
            <a:extLst>
              <a:ext uri="{FF2B5EF4-FFF2-40B4-BE49-F238E27FC236}">
                <a16:creationId xmlns:a16="http://schemas.microsoft.com/office/drawing/2014/main" id="{FA3735E4-90E4-E86A-3612-EB2376E26B1B}"/>
              </a:ext>
            </a:extLst>
          </p:cNvPr>
          <p:cNvGrpSpPr/>
          <p:nvPr/>
        </p:nvGrpSpPr>
        <p:grpSpPr>
          <a:xfrm>
            <a:off x="5318409" y="5478447"/>
            <a:ext cx="1293802" cy="719078"/>
            <a:chOff x="6660791" y="5460990"/>
            <a:chExt cx="1293802" cy="719078"/>
          </a:xfrm>
        </p:grpSpPr>
        <p:grpSp>
          <p:nvGrpSpPr>
            <p:cNvPr id="203" name="Graphic 4">
              <a:extLst>
                <a:ext uri="{FF2B5EF4-FFF2-40B4-BE49-F238E27FC236}">
                  <a16:creationId xmlns:a16="http://schemas.microsoft.com/office/drawing/2014/main" id="{E1FEF0AA-D6D9-46F0-D4FC-7A0723522899}"/>
                </a:ext>
              </a:extLst>
            </p:cNvPr>
            <p:cNvGrpSpPr/>
            <p:nvPr/>
          </p:nvGrpSpPr>
          <p:grpSpPr>
            <a:xfrm>
              <a:off x="7098102" y="5460990"/>
              <a:ext cx="362309" cy="361971"/>
              <a:chOff x="6146480" y="4793256"/>
              <a:chExt cx="362309" cy="361971"/>
            </a:xfrm>
            <a:solidFill>
              <a:schemeClr val="accent3"/>
            </a:solidFill>
          </p:grpSpPr>
          <p:sp>
            <p:nvSpPr>
              <p:cNvPr id="205" name="Graphic 4">
                <a:extLst>
                  <a:ext uri="{FF2B5EF4-FFF2-40B4-BE49-F238E27FC236}">
                    <a16:creationId xmlns:a16="http://schemas.microsoft.com/office/drawing/2014/main" id="{96EB459C-685A-1262-B2DB-B6978355CB05}"/>
                  </a:ext>
                </a:extLst>
              </p:cNvPr>
              <p:cNvSpPr/>
              <p:nvPr/>
            </p:nvSpPr>
            <p:spPr>
              <a:xfrm>
                <a:off x="6299839" y="4883909"/>
                <a:ext cx="56231" cy="56178"/>
              </a:xfrm>
              <a:custGeom>
                <a:avLst/>
                <a:gdLst>
                  <a:gd name="connsiteX0" fmla="*/ 28115 w 56231"/>
                  <a:gd name="connsiteY0" fmla="*/ 56179 h 56178"/>
                  <a:gd name="connsiteX1" fmla="*/ 56231 w 56231"/>
                  <a:gd name="connsiteY1" fmla="*/ 28089 h 56178"/>
                  <a:gd name="connsiteX2" fmla="*/ 28115 w 56231"/>
                  <a:gd name="connsiteY2" fmla="*/ 0 h 56178"/>
                  <a:gd name="connsiteX3" fmla="*/ 0 w 56231"/>
                  <a:gd name="connsiteY3" fmla="*/ 28089 h 56178"/>
                  <a:gd name="connsiteX4" fmla="*/ 28115 w 56231"/>
                  <a:gd name="connsiteY4" fmla="*/ 56179 h 56178"/>
                  <a:gd name="connsiteX5" fmla="*/ 28115 w 56231"/>
                  <a:gd name="connsiteY5" fmla="*/ 56179 h 5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31" h="56178">
                    <a:moveTo>
                      <a:pt x="28115" y="56179"/>
                    </a:moveTo>
                    <a:cubicBezTo>
                      <a:pt x="43451" y="56179"/>
                      <a:pt x="56231" y="43411"/>
                      <a:pt x="56231" y="28089"/>
                    </a:cubicBezTo>
                    <a:cubicBezTo>
                      <a:pt x="56231" y="12768"/>
                      <a:pt x="43451" y="0"/>
                      <a:pt x="28115" y="0"/>
                    </a:cubicBezTo>
                    <a:cubicBezTo>
                      <a:pt x="12780" y="0"/>
                      <a:pt x="0" y="12768"/>
                      <a:pt x="0" y="28089"/>
                    </a:cubicBezTo>
                    <a:cubicBezTo>
                      <a:pt x="0" y="43411"/>
                      <a:pt x="12141" y="56179"/>
                      <a:pt x="28115" y="56179"/>
                    </a:cubicBezTo>
                    <a:lnTo>
                      <a:pt x="28115" y="56179"/>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sp>
            <p:nvSpPr>
              <p:cNvPr id="206" name="Graphic 4">
                <a:extLst>
                  <a:ext uri="{FF2B5EF4-FFF2-40B4-BE49-F238E27FC236}">
                    <a16:creationId xmlns:a16="http://schemas.microsoft.com/office/drawing/2014/main" id="{EF5B6304-652A-2F04-BD04-5A482336AC99}"/>
                  </a:ext>
                </a:extLst>
              </p:cNvPr>
              <p:cNvSpPr/>
              <p:nvPr/>
            </p:nvSpPr>
            <p:spPr>
              <a:xfrm>
                <a:off x="6146480" y="4793256"/>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181474 w 362309"/>
                  <a:gd name="connsiteY7" fmla="*/ 77885 h 361971"/>
                  <a:gd name="connsiteX8" fmla="*/ 222370 w 362309"/>
                  <a:gd name="connsiteY8" fmla="*/ 118742 h 361971"/>
                  <a:gd name="connsiteX9" fmla="*/ 181474 w 362309"/>
                  <a:gd name="connsiteY9" fmla="*/ 159600 h 361971"/>
                  <a:gd name="connsiteX10" fmla="*/ 140579 w 362309"/>
                  <a:gd name="connsiteY10" fmla="*/ 118742 h 361971"/>
                  <a:gd name="connsiteX11" fmla="*/ 140579 w 362309"/>
                  <a:gd name="connsiteY11" fmla="*/ 118742 h 361971"/>
                  <a:gd name="connsiteX12" fmla="*/ 181474 w 362309"/>
                  <a:gd name="connsiteY12" fmla="*/ 77885 h 361971"/>
                  <a:gd name="connsiteX13" fmla="*/ 263265 w 362309"/>
                  <a:gd name="connsiteY13" fmla="*/ 277065 h 361971"/>
                  <a:gd name="connsiteX14" fmla="*/ 256875 w 362309"/>
                  <a:gd name="connsiteY14" fmla="*/ 283449 h 361971"/>
                  <a:gd name="connsiteX15" fmla="*/ 250485 w 362309"/>
                  <a:gd name="connsiteY15" fmla="*/ 277065 h 361971"/>
                  <a:gd name="connsiteX16" fmla="*/ 250485 w 362309"/>
                  <a:gd name="connsiteY16" fmla="*/ 215140 h 361971"/>
                  <a:gd name="connsiteX17" fmla="*/ 222370 w 362309"/>
                  <a:gd name="connsiteY17" fmla="*/ 187051 h 361971"/>
                  <a:gd name="connsiteX18" fmla="*/ 139301 w 362309"/>
                  <a:gd name="connsiteY18" fmla="*/ 187051 h 361971"/>
                  <a:gd name="connsiteX19" fmla="*/ 111185 w 362309"/>
                  <a:gd name="connsiteY19" fmla="*/ 215140 h 361971"/>
                  <a:gd name="connsiteX20" fmla="*/ 111185 w 362309"/>
                  <a:gd name="connsiteY20" fmla="*/ 277065 h 361971"/>
                  <a:gd name="connsiteX21" fmla="*/ 104795 w 362309"/>
                  <a:gd name="connsiteY21" fmla="*/ 283449 h 361971"/>
                  <a:gd name="connsiteX22" fmla="*/ 98405 w 362309"/>
                  <a:gd name="connsiteY22" fmla="*/ 277065 h 361971"/>
                  <a:gd name="connsiteX23" fmla="*/ 98405 w 362309"/>
                  <a:gd name="connsiteY23" fmla="*/ 215140 h 361971"/>
                  <a:gd name="connsiteX24" fmla="*/ 139301 w 362309"/>
                  <a:gd name="connsiteY24" fmla="*/ 174283 h 361971"/>
                  <a:gd name="connsiteX25" fmla="*/ 222370 w 362309"/>
                  <a:gd name="connsiteY25" fmla="*/ 174283 h 361971"/>
                  <a:gd name="connsiteX26" fmla="*/ 263265 w 362309"/>
                  <a:gd name="connsiteY26" fmla="*/ 215140 h 361971"/>
                  <a:gd name="connsiteX27" fmla="*/ 263265 w 362309"/>
                  <a:gd name="connsiteY27" fmla="*/ 2770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181474" y="77885"/>
                    </a:moveTo>
                    <a:cubicBezTo>
                      <a:pt x="203839" y="77885"/>
                      <a:pt x="222370" y="96398"/>
                      <a:pt x="222370" y="118742"/>
                    </a:cubicBezTo>
                    <a:cubicBezTo>
                      <a:pt x="222370" y="141086"/>
                      <a:pt x="203839" y="159600"/>
                      <a:pt x="181474" y="159600"/>
                    </a:cubicBezTo>
                    <a:cubicBezTo>
                      <a:pt x="159109" y="159600"/>
                      <a:pt x="140579" y="141086"/>
                      <a:pt x="140579" y="118742"/>
                    </a:cubicBezTo>
                    <a:cubicBezTo>
                      <a:pt x="140579" y="118742"/>
                      <a:pt x="140579" y="118742"/>
                      <a:pt x="140579" y="118742"/>
                    </a:cubicBezTo>
                    <a:cubicBezTo>
                      <a:pt x="140579" y="95760"/>
                      <a:pt x="158470" y="77885"/>
                      <a:pt x="181474" y="77885"/>
                    </a:cubicBezTo>
                    <a:close/>
                    <a:moveTo>
                      <a:pt x="263265" y="277065"/>
                    </a:moveTo>
                    <a:cubicBezTo>
                      <a:pt x="263265" y="280895"/>
                      <a:pt x="260709" y="283449"/>
                      <a:pt x="256875" y="283449"/>
                    </a:cubicBezTo>
                    <a:cubicBezTo>
                      <a:pt x="253041" y="283449"/>
                      <a:pt x="250485" y="280895"/>
                      <a:pt x="250485" y="277065"/>
                    </a:cubicBezTo>
                    <a:lnTo>
                      <a:pt x="250485" y="215140"/>
                    </a:lnTo>
                    <a:cubicBezTo>
                      <a:pt x="250485" y="199819"/>
                      <a:pt x="237705" y="187051"/>
                      <a:pt x="222370" y="187051"/>
                    </a:cubicBezTo>
                    <a:lnTo>
                      <a:pt x="139301" y="187051"/>
                    </a:lnTo>
                    <a:cubicBezTo>
                      <a:pt x="123965" y="187051"/>
                      <a:pt x="111185" y="199819"/>
                      <a:pt x="111185" y="215140"/>
                    </a:cubicBezTo>
                    <a:lnTo>
                      <a:pt x="111185" y="277065"/>
                    </a:lnTo>
                    <a:cubicBezTo>
                      <a:pt x="111185" y="280895"/>
                      <a:pt x="108629" y="283449"/>
                      <a:pt x="104795" y="283449"/>
                    </a:cubicBezTo>
                    <a:cubicBezTo>
                      <a:pt x="100961" y="283449"/>
                      <a:pt x="98405" y="280895"/>
                      <a:pt x="98405" y="277065"/>
                    </a:cubicBezTo>
                    <a:lnTo>
                      <a:pt x="98405" y="215140"/>
                    </a:lnTo>
                    <a:cubicBezTo>
                      <a:pt x="98405" y="192796"/>
                      <a:pt x="116936" y="174283"/>
                      <a:pt x="139301" y="174283"/>
                    </a:cubicBezTo>
                    <a:lnTo>
                      <a:pt x="222370" y="174283"/>
                    </a:lnTo>
                    <a:cubicBezTo>
                      <a:pt x="244735" y="174283"/>
                      <a:pt x="263265" y="192796"/>
                      <a:pt x="263265" y="215140"/>
                    </a:cubicBezTo>
                    <a:lnTo>
                      <a:pt x="263265" y="277065"/>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grpSp>
        <p:sp>
          <p:nvSpPr>
            <p:cNvPr id="204" name="TextBox 203">
              <a:extLst>
                <a:ext uri="{FF2B5EF4-FFF2-40B4-BE49-F238E27FC236}">
                  <a16:creationId xmlns:a16="http://schemas.microsoft.com/office/drawing/2014/main" id="{1EADDB6A-2A8D-2B41-E04B-EC418939E493}"/>
                </a:ext>
              </a:extLst>
            </p:cNvPr>
            <p:cNvSpPr txBox="1"/>
            <p:nvPr/>
          </p:nvSpPr>
          <p:spPr>
            <a:xfrm>
              <a:off x="6660791" y="5903069"/>
              <a:ext cx="1293802"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34373F"/>
                  </a:solidFill>
                  <a:effectLst/>
                  <a:uLnTx/>
                  <a:uFillTx/>
                  <a:latin typeface="Arial" charset="0"/>
                  <a:ea typeface="ＭＳ Ｐゴシック" charset="-128"/>
                  <a:cs typeface="+mn-cs"/>
                </a:rPr>
                <a:t>Data Integrator</a:t>
              </a:r>
            </a:p>
          </p:txBody>
        </p:sp>
      </p:grpSp>
      <p:grpSp>
        <p:nvGrpSpPr>
          <p:cNvPr id="207" name="Group 206">
            <a:extLst>
              <a:ext uri="{FF2B5EF4-FFF2-40B4-BE49-F238E27FC236}">
                <a16:creationId xmlns:a16="http://schemas.microsoft.com/office/drawing/2014/main" id="{85B6F26F-1844-228F-CF75-B230E0EE4587}"/>
              </a:ext>
            </a:extLst>
          </p:cNvPr>
          <p:cNvGrpSpPr/>
          <p:nvPr/>
        </p:nvGrpSpPr>
        <p:grpSpPr>
          <a:xfrm>
            <a:off x="9041524" y="5416018"/>
            <a:ext cx="871667" cy="719078"/>
            <a:chOff x="6902327" y="5460990"/>
            <a:chExt cx="871667" cy="719078"/>
          </a:xfrm>
        </p:grpSpPr>
        <p:grpSp>
          <p:nvGrpSpPr>
            <p:cNvPr id="208" name="Graphic 4">
              <a:extLst>
                <a:ext uri="{FF2B5EF4-FFF2-40B4-BE49-F238E27FC236}">
                  <a16:creationId xmlns:a16="http://schemas.microsoft.com/office/drawing/2014/main" id="{3767D755-C9C9-21B3-B00F-DCED951C4AFC}"/>
                </a:ext>
              </a:extLst>
            </p:cNvPr>
            <p:cNvGrpSpPr/>
            <p:nvPr/>
          </p:nvGrpSpPr>
          <p:grpSpPr>
            <a:xfrm>
              <a:off x="7098102" y="5460990"/>
              <a:ext cx="362309" cy="361971"/>
              <a:chOff x="6146480" y="4793256"/>
              <a:chExt cx="362309" cy="361971"/>
            </a:xfrm>
            <a:solidFill>
              <a:schemeClr val="accent3"/>
            </a:solidFill>
          </p:grpSpPr>
          <p:sp>
            <p:nvSpPr>
              <p:cNvPr id="210" name="Graphic 4">
                <a:extLst>
                  <a:ext uri="{FF2B5EF4-FFF2-40B4-BE49-F238E27FC236}">
                    <a16:creationId xmlns:a16="http://schemas.microsoft.com/office/drawing/2014/main" id="{2496EEE4-9CB4-A920-91A8-ADFB83878304}"/>
                  </a:ext>
                </a:extLst>
              </p:cNvPr>
              <p:cNvSpPr/>
              <p:nvPr/>
            </p:nvSpPr>
            <p:spPr>
              <a:xfrm>
                <a:off x="6299839" y="4883909"/>
                <a:ext cx="56231" cy="56178"/>
              </a:xfrm>
              <a:custGeom>
                <a:avLst/>
                <a:gdLst>
                  <a:gd name="connsiteX0" fmla="*/ 28115 w 56231"/>
                  <a:gd name="connsiteY0" fmla="*/ 56179 h 56178"/>
                  <a:gd name="connsiteX1" fmla="*/ 56231 w 56231"/>
                  <a:gd name="connsiteY1" fmla="*/ 28089 h 56178"/>
                  <a:gd name="connsiteX2" fmla="*/ 28115 w 56231"/>
                  <a:gd name="connsiteY2" fmla="*/ 0 h 56178"/>
                  <a:gd name="connsiteX3" fmla="*/ 0 w 56231"/>
                  <a:gd name="connsiteY3" fmla="*/ 28089 h 56178"/>
                  <a:gd name="connsiteX4" fmla="*/ 28115 w 56231"/>
                  <a:gd name="connsiteY4" fmla="*/ 56179 h 56178"/>
                  <a:gd name="connsiteX5" fmla="*/ 28115 w 56231"/>
                  <a:gd name="connsiteY5" fmla="*/ 56179 h 5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31" h="56178">
                    <a:moveTo>
                      <a:pt x="28115" y="56179"/>
                    </a:moveTo>
                    <a:cubicBezTo>
                      <a:pt x="43451" y="56179"/>
                      <a:pt x="56231" y="43411"/>
                      <a:pt x="56231" y="28089"/>
                    </a:cubicBezTo>
                    <a:cubicBezTo>
                      <a:pt x="56231" y="12768"/>
                      <a:pt x="43451" y="0"/>
                      <a:pt x="28115" y="0"/>
                    </a:cubicBezTo>
                    <a:cubicBezTo>
                      <a:pt x="12780" y="0"/>
                      <a:pt x="0" y="12768"/>
                      <a:pt x="0" y="28089"/>
                    </a:cubicBezTo>
                    <a:cubicBezTo>
                      <a:pt x="0" y="43411"/>
                      <a:pt x="12141" y="56179"/>
                      <a:pt x="28115" y="56179"/>
                    </a:cubicBezTo>
                    <a:lnTo>
                      <a:pt x="28115" y="56179"/>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sp>
            <p:nvSpPr>
              <p:cNvPr id="211" name="Graphic 4">
                <a:extLst>
                  <a:ext uri="{FF2B5EF4-FFF2-40B4-BE49-F238E27FC236}">
                    <a16:creationId xmlns:a16="http://schemas.microsoft.com/office/drawing/2014/main" id="{889788CE-E2A1-EE67-E078-B88BE7315869}"/>
                  </a:ext>
                </a:extLst>
              </p:cNvPr>
              <p:cNvSpPr/>
              <p:nvPr/>
            </p:nvSpPr>
            <p:spPr>
              <a:xfrm>
                <a:off x="6146480" y="4793256"/>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181474 w 362309"/>
                  <a:gd name="connsiteY7" fmla="*/ 77885 h 361971"/>
                  <a:gd name="connsiteX8" fmla="*/ 222370 w 362309"/>
                  <a:gd name="connsiteY8" fmla="*/ 118742 h 361971"/>
                  <a:gd name="connsiteX9" fmla="*/ 181474 w 362309"/>
                  <a:gd name="connsiteY9" fmla="*/ 159600 h 361971"/>
                  <a:gd name="connsiteX10" fmla="*/ 140579 w 362309"/>
                  <a:gd name="connsiteY10" fmla="*/ 118742 h 361971"/>
                  <a:gd name="connsiteX11" fmla="*/ 140579 w 362309"/>
                  <a:gd name="connsiteY11" fmla="*/ 118742 h 361971"/>
                  <a:gd name="connsiteX12" fmla="*/ 181474 w 362309"/>
                  <a:gd name="connsiteY12" fmla="*/ 77885 h 361971"/>
                  <a:gd name="connsiteX13" fmla="*/ 263265 w 362309"/>
                  <a:gd name="connsiteY13" fmla="*/ 277065 h 361971"/>
                  <a:gd name="connsiteX14" fmla="*/ 256875 w 362309"/>
                  <a:gd name="connsiteY14" fmla="*/ 283449 h 361971"/>
                  <a:gd name="connsiteX15" fmla="*/ 250485 w 362309"/>
                  <a:gd name="connsiteY15" fmla="*/ 277065 h 361971"/>
                  <a:gd name="connsiteX16" fmla="*/ 250485 w 362309"/>
                  <a:gd name="connsiteY16" fmla="*/ 215140 h 361971"/>
                  <a:gd name="connsiteX17" fmla="*/ 222370 w 362309"/>
                  <a:gd name="connsiteY17" fmla="*/ 187051 h 361971"/>
                  <a:gd name="connsiteX18" fmla="*/ 139301 w 362309"/>
                  <a:gd name="connsiteY18" fmla="*/ 187051 h 361971"/>
                  <a:gd name="connsiteX19" fmla="*/ 111185 w 362309"/>
                  <a:gd name="connsiteY19" fmla="*/ 215140 h 361971"/>
                  <a:gd name="connsiteX20" fmla="*/ 111185 w 362309"/>
                  <a:gd name="connsiteY20" fmla="*/ 277065 h 361971"/>
                  <a:gd name="connsiteX21" fmla="*/ 104795 w 362309"/>
                  <a:gd name="connsiteY21" fmla="*/ 283449 h 361971"/>
                  <a:gd name="connsiteX22" fmla="*/ 98405 w 362309"/>
                  <a:gd name="connsiteY22" fmla="*/ 277065 h 361971"/>
                  <a:gd name="connsiteX23" fmla="*/ 98405 w 362309"/>
                  <a:gd name="connsiteY23" fmla="*/ 215140 h 361971"/>
                  <a:gd name="connsiteX24" fmla="*/ 139301 w 362309"/>
                  <a:gd name="connsiteY24" fmla="*/ 174283 h 361971"/>
                  <a:gd name="connsiteX25" fmla="*/ 222370 w 362309"/>
                  <a:gd name="connsiteY25" fmla="*/ 174283 h 361971"/>
                  <a:gd name="connsiteX26" fmla="*/ 263265 w 362309"/>
                  <a:gd name="connsiteY26" fmla="*/ 215140 h 361971"/>
                  <a:gd name="connsiteX27" fmla="*/ 263265 w 362309"/>
                  <a:gd name="connsiteY27" fmla="*/ 2770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181474" y="77885"/>
                    </a:moveTo>
                    <a:cubicBezTo>
                      <a:pt x="203839" y="77885"/>
                      <a:pt x="222370" y="96398"/>
                      <a:pt x="222370" y="118742"/>
                    </a:cubicBezTo>
                    <a:cubicBezTo>
                      <a:pt x="222370" y="141086"/>
                      <a:pt x="203839" y="159600"/>
                      <a:pt x="181474" y="159600"/>
                    </a:cubicBezTo>
                    <a:cubicBezTo>
                      <a:pt x="159109" y="159600"/>
                      <a:pt x="140579" y="141086"/>
                      <a:pt x="140579" y="118742"/>
                    </a:cubicBezTo>
                    <a:cubicBezTo>
                      <a:pt x="140579" y="118742"/>
                      <a:pt x="140579" y="118742"/>
                      <a:pt x="140579" y="118742"/>
                    </a:cubicBezTo>
                    <a:cubicBezTo>
                      <a:pt x="140579" y="95760"/>
                      <a:pt x="158470" y="77885"/>
                      <a:pt x="181474" y="77885"/>
                    </a:cubicBezTo>
                    <a:close/>
                    <a:moveTo>
                      <a:pt x="263265" y="277065"/>
                    </a:moveTo>
                    <a:cubicBezTo>
                      <a:pt x="263265" y="280895"/>
                      <a:pt x="260709" y="283449"/>
                      <a:pt x="256875" y="283449"/>
                    </a:cubicBezTo>
                    <a:cubicBezTo>
                      <a:pt x="253041" y="283449"/>
                      <a:pt x="250485" y="280895"/>
                      <a:pt x="250485" y="277065"/>
                    </a:cubicBezTo>
                    <a:lnTo>
                      <a:pt x="250485" y="215140"/>
                    </a:lnTo>
                    <a:cubicBezTo>
                      <a:pt x="250485" y="199819"/>
                      <a:pt x="237705" y="187051"/>
                      <a:pt x="222370" y="187051"/>
                    </a:cubicBezTo>
                    <a:lnTo>
                      <a:pt x="139301" y="187051"/>
                    </a:lnTo>
                    <a:cubicBezTo>
                      <a:pt x="123965" y="187051"/>
                      <a:pt x="111185" y="199819"/>
                      <a:pt x="111185" y="215140"/>
                    </a:cubicBezTo>
                    <a:lnTo>
                      <a:pt x="111185" y="277065"/>
                    </a:lnTo>
                    <a:cubicBezTo>
                      <a:pt x="111185" y="280895"/>
                      <a:pt x="108629" y="283449"/>
                      <a:pt x="104795" y="283449"/>
                    </a:cubicBezTo>
                    <a:cubicBezTo>
                      <a:pt x="100961" y="283449"/>
                      <a:pt x="98405" y="280895"/>
                      <a:pt x="98405" y="277065"/>
                    </a:cubicBezTo>
                    <a:lnTo>
                      <a:pt x="98405" y="215140"/>
                    </a:lnTo>
                    <a:cubicBezTo>
                      <a:pt x="98405" y="192796"/>
                      <a:pt x="116936" y="174283"/>
                      <a:pt x="139301" y="174283"/>
                    </a:cubicBezTo>
                    <a:lnTo>
                      <a:pt x="222370" y="174283"/>
                    </a:lnTo>
                    <a:cubicBezTo>
                      <a:pt x="244735" y="174283"/>
                      <a:pt x="263265" y="192796"/>
                      <a:pt x="263265" y="215140"/>
                    </a:cubicBezTo>
                    <a:lnTo>
                      <a:pt x="263265" y="277065"/>
                    </a:lnTo>
                    <a:close/>
                  </a:path>
                </a:pathLst>
              </a:custGeom>
              <a:grpFill/>
              <a:ln w="6390"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srgbClr val="34373F"/>
                  </a:solidFill>
                  <a:effectLst/>
                  <a:uLnTx/>
                  <a:uFillTx/>
                  <a:latin typeface="Arial" charset="0"/>
                  <a:ea typeface="ＭＳ Ｐゴシック" charset="-128"/>
                  <a:cs typeface="+mn-cs"/>
                </a:endParaRPr>
              </a:p>
            </p:txBody>
          </p:sp>
        </p:grpSp>
        <p:sp>
          <p:nvSpPr>
            <p:cNvPr id="209" name="TextBox 208">
              <a:extLst>
                <a:ext uri="{FF2B5EF4-FFF2-40B4-BE49-F238E27FC236}">
                  <a16:creationId xmlns:a16="http://schemas.microsoft.com/office/drawing/2014/main" id="{C0C1528F-41E1-AC0C-957A-CC01004CB51E}"/>
                </a:ext>
              </a:extLst>
            </p:cNvPr>
            <p:cNvSpPr txBox="1"/>
            <p:nvPr/>
          </p:nvSpPr>
          <p:spPr>
            <a:xfrm>
              <a:off x="6902327" y="5903069"/>
              <a:ext cx="871667"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34373F"/>
                  </a:solidFill>
                  <a:effectLst/>
                  <a:uLnTx/>
                  <a:uFillTx/>
                  <a:latin typeface="Arial" charset="0"/>
                  <a:ea typeface="ＭＳ Ｐゴシック" charset="-128"/>
                  <a:cs typeface="+mn-cs"/>
                </a:rPr>
                <a:t>3</a:t>
              </a:r>
              <a:r>
                <a:rPr kumimoji="1" lang="en-US" sz="1200" b="0" i="0" u="none" strike="noStrike" kern="1200" cap="none" spc="0" normalizeH="0" baseline="30000" noProof="0">
                  <a:ln>
                    <a:noFill/>
                  </a:ln>
                  <a:solidFill>
                    <a:srgbClr val="34373F"/>
                  </a:solidFill>
                  <a:effectLst/>
                  <a:uLnTx/>
                  <a:uFillTx/>
                  <a:latin typeface="Arial" charset="0"/>
                  <a:ea typeface="ＭＳ Ｐゴシック" charset="-128"/>
                  <a:cs typeface="+mn-cs"/>
                </a:rPr>
                <a:t>rd</a:t>
              </a:r>
              <a:r>
                <a:rPr kumimoji="1" lang="en-US" sz="1200" b="0" i="0" u="none" strike="noStrike" kern="1200" cap="none" spc="0" normalizeH="0" baseline="0" noProof="0">
                  <a:ln>
                    <a:noFill/>
                  </a:ln>
                  <a:solidFill>
                    <a:srgbClr val="34373F"/>
                  </a:solidFill>
                  <a:effectLst/>
                  <a:uLnTx/>
                  <a:uFillTx/>
                  <a:latin typeface="Arial" charset="0"/>
                  <a:ea typeface="ＭＳ Ｐゴシック" charset="-128"/>
                  <a:cs typeface="+mn-cs"/>
                </a:rPr>
                <a:t> Party</a:t>
              </a:r>
            </a:p>
          </p:txBody>
        </p:sp>
      </p:grpSp>
      <p:sp>
        <p:nvSpPr>
          <p:cNvPr id="212" name="Freeform: Shape 47">
            <a:extLst>
              <a:ext uri="{FF2B5EF4-FFF2-40B4-BE49-F238E27FC236}">
                <a16:creationId xmlns:a16="http://schemas.microsoft.com/office/drawing/2014/main" id="{D8CFCC45-1985-26EA-0EE4-7D42F3E3129E}"/>
              </a:ext>
            </a:extLst>
          </p:cNvPr>
          <p:cNvSpPr/>
          <p:nvPr/>
        </p:nvSpPr>
        <p:spPr>
          <a:xfrm>
            <a:off x="1400175" y="1465393"/>
            <a:ext cx="8458200" cy="2088930"/>
          </a:xfrm>
          <a:custGeom>
            <a:avLst/>
            <a:gdLst>
              <a:gd name="connsiteX0" fmla="*/ 0 w 8458200"/>
              <a:gd name="connsiteY0" fmla="*/ 1811207 h 2088930"/>
              <a:gd name="connsiteX1" fmla="*/ 342900 w 8458200"/>
              <a:gd name="connsiteY1" fmla="*/ 1954082 h 2088930"/>
              <a:gd name="connsiteX2" fmla="*/ 1038225 w 8458200"/>
              <a:gd name="connsiteY2" fmla="*/ 2049332 h 2088930"/>
              <a:gd name="connsiteX3" fmla="*/ 1676400 w 8458200"/>
              <a:gd name="connsiteY3" fmla="*/ 1258757 h 2088930"/>
              <a:gd name="connsiteX4" fmla="*/ 2200275 w 8458200"/>
              <a:gd name="connsiteY4" fmla="*/ 534857 h 2088930"/>
              <a:gd name="connsiteX5" fmla="*/ 2838450 w 8458200"/>
              <a:gd name="connsiteY5" fmla="*/ 325307 h 2088930"/>
              <a:gd name="connsiteX6" fmla="*/ 3543300 w 8458200"/>
              <a:gd name="connsiteY6" fmla="*/ 411032 h 2088930"/>
              <a:gd name="connsiteX7" fmla="*/ 4095750 w 8458200"/>
              <a:gd name="connsiteY7" fmla="*/ 706307 h 2088930"/>
              <a:gd name="connsiteX8" fmla="*/ 4495800 w 8458200"/>
              <a:gd name="connsiteY8" fmla="*/ 1115882 h 2088930"/>
              <a:gd name="connsiteX9" fmla="*/ 5114925 w 8458200"/>
              <a:gd name="connsiteY9" fmla="*/ 1801682 h 2088930"/>
              <a:gd name="connsiteX10" fmla="*/ 5800725 w 8458200"/>
              <a:gd name="connsiteY10" fmla="*/ 2058857 h 2088930"/>
              <a:gd name="connsiteX11" fmla="*/ 6543675 w 8458200"/>
              <a:gd name="connsiteY11" fmla="*/ 1792157 h 2088930"/>
              <a:gd name="connsiteX12" fmla="*/ 7029450 w 8458200"/>
              <a:gd name="connsiteY12" fmla="*/ 1058732 h 2088930"/>
              <a:gd name="connsiteX13" fmla="*/ 7305675 w 8458200"/>
              <a:gd name="connsiteY13" fmla="*/ 372932 h 2088930"/>
              <a:gd name="connsiteX14" fmla="*/ 7829550 w 8458200"/>
              <a:gd name="connsiteY14" fmla="*/ 30032 h 2088930"/>
              <a:gd name="connsiteX15" fmla="*/ 8458200 w 8458200"/>
              <a:gd name="connsiteY15" fmla="*/ 39557 h 2088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58200" h="2088930">
                <a:moveTo>
                  <a:pt x="0" y="1811207"/>
                </a:moveTo>
                <a:cubicBezTo>
                  <a:pt x="84931" y="1862801"/>
                  <a:pt x="169863" y="1914395"/>
                  <a:pt x="342900" y="1954082"/>
                </a:cubicBezTo>
                <a:cubicBezTo>
                  <a:pt x="515938" y="1993770"/>
                  <a:pt x="815975" y="2165219"/>
                  <a:pt x="1038225" y="2049332"/>
                </a:cubicBezTo>
                <a:cubicBezTo>
                  <a:pt x="1260475" y="1933445"/>
                  <a:pt x="1482725" y="1511169"/>
                  <a:pt x="1676400" y="1258757"/>
                </a:cubicBezTo>
                <a:cubicBezTo>
                  <a:pt x="1870075" y="1006345"/>
                  <a:pt x="2006600" y="690432"/>
                  <a:pt x="2200275" y="534857"/>
                </a:cubicBezTo>
                <a:cubicBezTo>
                  <a:pt x="2393950" y="379282"/>
                  <a:pt x="2614613" y="345944"/>
                  <a:pt x="2838450" y="325307"/>
                </a:cubicBezTo>
                <a:cubicBezTo>
                  <a:pt x="3062288" y="304669"/>
                  <a:pt x="3333750" y="347532"/>
                  <a:pt x="3543300" y="411032"/>
                </a:cubicBezTo>
                <a:cubicBezTo>
                  <a:pt x="3752850" y="474532"/>
                  <a:pt x="3937000" y="588832"/>
                  <a:pt x="4095750" y="706307"/>
                </a:cubicBezTo>
                <a:cubicBezTo>
                  <a:pt x="4254500" y="823782"/>
                  <a:pt x="4325938" y="933320"/>
                  <a:pt x="4495800" y="1115882"/>
                </a:cubicBezTo>
                <a:cubicBezTo>
                  <a:pt x="4665662" y="1298444"/>
                  <a:pt x="4897437" y="1644519"/>
                  <a:pt x="5114925" y="1801682"/>
                </a:cubicBezTo>
                <a:cubicBezTo>
                  <a:pt x="5332413" y="1958845"/>
                  <a:pt x="5562600" y="2060445"/>
                  <a:pt x="5800725" y="2058857"/>
                </a:cubicBezTo>
                <a:cubicBezTo>
                  <a:pt x="6038850" y="2057270"/>
                  <a:pt x="6338888" y="1958844"/>
                  <a:pt x="6543675" y="1792157"/>
                </a:cubicBezTo>
                <a:cubicBezTo>
                  <a:pt x="6748462" y="1625470"/>
                  <a:pt x="6902450" y="1295269"/>
                  <a:pt x="7029450" y="1058732"/>
                </a:cubicBezTo>
                <a:cubicBezTo>
                  <a:pt x="7156450" y="822194"/>
                  <a:pt x="7172325" y="544382"/>
                  <a:pt x="7305675" y="372932"/>
                </a:cubicBezTo>
                <a:cubicBezTo>
                  <a:pt x="7439025" y="201482"/>
                  <a:pt x="7637463" y="85594"/>
                  <a:pt x="7829550" y="30032"/>
                </a:cubicBezTo>
                <a:cubicBezTo>
                  <a:pt x="8021637" y="-25530"/>
                  <a:pt x="8239918" y="7013"/>
                  <a:pt x="8458200" y="39557"/>
                </a:cubicBezTo>
              </a:path>
            </a:pathLst>
          </a:custGeom>
          <a:noFill/>
          <a:ln w="28575">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3" name="Oval 212">
            <a:extLst>
              <a:ext uri="{FF2B5EF4-FFF2-40B4-BE49-F238E27FC236}">
                <a16:creationId xmlns:a16="http://schemas.microsoft.com/office/drawing/2014/main" id="{D4600292-07EF-304D-BA84-295B12C2F0AB}"/>
              </a:ext>
            </a:extLst>
          </p:cNvPr>
          <p:cNvSpPr/>
          <p:nvPr/>
        </p:nvSpPr>
        <p:spPr>
          <a:xfrm>
            <a:off x="1362075" y="3197036"/>
            <a:ext cx="247650" cy="230958"/>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214" name="Oval 213">
            <a:extLst>
              <a:ext uri="{FF2B5EF4-FFF2-40B4-BE49-F238E27FC236}">
                <a16:creationId xmlns:a16="http://schemas.microsoft.com/office/drawing/2014/main" id="{2CD2DBF3-DE37-61DF-0DA7-277BE4020923}"/>
              </a:ext>
            </a:extLst>
          </p:cNvPr>
          <p:cNvSpPr/>
          <p:nvPr/>
        </p:nvSpPr>
        <p:spPr>
          <a:xfrm>
            <a:off x="4211999" y="1672022"/>
            <a:ext cx="247650" cy="230958"/>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215" name="Oval 214">
            <a:extLst>
              <a:ext uri="{FF2B5EF4-FFF2-40B4-BE49-F238E27FC236}">
                <a16:creationId xmlns:a16="http://schemas.microsoft.com/office/drawing/2014/main" id="{4BB0E7D7-B18E-162F-B366-C5B03DBA9742}"/>
              </a:ext>
            </a:extLst>
          </p:cNvPr>
          <p:cNvSpPr/>
          <p:nvPr/>
        </p:nvSpPr>
        <p:spPr>
          <a:xfrm>
            <a:off x="7132993" y="3417413"/>
            <a:ext cx="247650" cy="230958"/>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216" name="Oval 215">
            <a:extLst>
              <a:ext uri="{FF2B5EF4-FFF2-40B4-BE49-F238E27FC236}">
                <a16:creationId xmlns:a16="http://schemas.microsoft.com/office/drawing/2014/main" id="{D6258B32-F7C3-D77B-79B2-2E3D6760251B}"/>
              </a:ext>
            </a:extLst>
          </p:cNvPr>
          <p:cNvSpPr/>
          <p:nvPr/>
        </p:nvSpPr>
        <p:spPr>
          <a:xfrm>
            <a:off x="9654019" y="1368411"/>
            <a:ext cx="247650" cy="230958"/>
          </a:xfrm>
          <a:prstGeom prst="ellipse">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en-US"/>
          </a:p>
        </p:txBody>
      </p:sp>
      <p:sp>
        <p:nvSpPr>
          <p:cNvPr id="2" name="Rectangle 1">
            <a:extLst>
              <a:ext uri="{FF2B5EF4-FFF2-40B4-BE49-F238E27FC236}">
                <a16:creationId xmlns:a16="http://schemas.microsoft.com/office/drawing/2014/main" id="{BD13CA84-336C-5A1F-FA70-DB185A996864}"/>
              </a:ext>
            </a:extLst>
          </p:cNvPr>
          <p:cNvSpPr/>
          <p:nvPr/>
        </p:nvSpPr>
        <p:spPr bwMode="gray">
          <a:xfrm>
            <a:off x="469900" y="4420553"/>
            <a:ext cx="369196" cy="2001762"/>
          </a:xfrm>
          <a:prstGeom prst="rect">
            <a:avLst/>
          </a:prstGeom>
          <a:noFill/>
          <a:ln w="34925" algn="ctr">
            <a:solidFill>
              <a:schemeClr val="tx1">
                <a:lumMod val="50000"/>
                <a:lumOff val="50000"/>
              </a:schemeClr>
            </a:solid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a:t>Target Personas</a:t>
            </a:r>
          </a:p>
        </p:txBody>
      </p:sp>
      <p:sp>
        <p:nvSpPr>
          <p:cNvPr id="3" name="Text Placeholder 10">
            <a:extLst>
              <a:ext uri="{FF2B5EF4-FFF2-40B4-BE49-F238E27FC236}">
                <a16:creationId xmlns:a16="http://schemas.microsoft.com/office/drawing/2014/main" id="{1FAE941C-BAB8-9871-FE23-13300EEA74A9}"/>
              </a:ext>
            </a:extLst>
          </p:cNvPr>
          <p:cNvSpPr txBox="1">
            <a:spLocks/>
          </p:cNvSpPr>
          <p:nvPr/>
        </p:nvSpPr>
        <p:spPr>
          <a:xfrm>
            <a:off x="401414" y="141924"/>
            <a:ext cx="3567089" cy="233997"/>
          </a:xfrm>
          <a:prstGeom prst="rect">
            <a:avLst/>
          </a:prstGeom>
          <a:noFill/>
        </p:spPr>
        <p:txBody>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050" b="1" kern="0" cap="all" spc="250">
                <a:solidFill>
                  <a:schemeClr val="bg1">
                    <a:lumMod val="50000"/>
                  </a:schemeClr>
                </a:solidFill>
                <a:latin typeface="+mj-lt"/>
                <a:cs typeface="+mn-cs"/>
              </a:rPr>
              <a:t>CASE STUDY</a:t>
            </a:r>
            <a:endParaRPr lang="en-GB" sz="1050" b="1" kern="0" cap="all" spc="250" dirty="0">
              <a:solidFill>
                <a:schemeClr val="bg1">
                  <a:lumMod val="50000"/>
                </a:schemeClr>
              </a:solidFill>
              <a:latin typeface="+mj-lt"/>
              <a:cs typeface="+mn-cs"/>
            </a:endParaRPr>
          </a:p>
        </p:txBody>
      </p:sp>
    </p:spTree>
    <p:extLst>
      <p:ext uri="{BB962C8B-B14F-4D97-AF65-F5344CB8AC3E}">
        <p14:creationId xmlns:p14="http://schemas.microsoft.com/office/powerpoint/2010/main" val="248940425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a:ea typeface="Open Sans"/>
                <a:cs typeface="Open Sans"/>
              </a:rPr>
              <a:t>Data Marketplace – </a:t>
            </a:r>
            <a:r>
              <a:rPr lang="en-US" sz="2200">
                <a:solidFill>
                  <a:schemeClr val="accent2"/>
                </a:solidFill>
                <a:ea typeface="Open Sans"/>
                <a:cs typeface="Open Sans"/>
              </a:rPr>
              <a:t>sample screenshots </a:t>
            </a:r>
            <a:r>
              <a:rPr lang="en-US" sz="2200">
                <a:ea typeface="Open Sans"/>
                <a:cs typeface="Open Sans"/>
              </a:rPr>
              <a:t>by experience</a:t>
            </a:r>
          </a:p>
        </p:txBody>
      </p:sp>
      <p:sp>
        <p:nvSpPr>
          <p:cNvPr id="2" name="Rectangle 1">
            <a:extLst>
              <a:ext uri="{FF2B5EF4-FFF2-40B4-BE49-F238E27FC236}">
                <a16:creationId xmlns:a16="http://schemas.microsoft.com/office/drawing/2014/main" id="{074B3C21-8AA5-34C7-F1DA-A030BC061E1F}"/>
              </a:ext>
            </a:extLst>
          </p:cNvPr>
          <p:cNvSpPr/>
          <p:nvPr/>
        </p:nvSpPr>
        <p:spPr bwMode="gray">
          <a:xfrm>
            <a:off x="322728" y="1247887"/>
            <a:ext cx="2796989" cy="527125"/>
          </a:xfrm>
          <a:prstGeom prst="rect">
            <a:avLst/>
          </a:prstGeom>
          <a:noFill/>
          <a:ln w="28575" algn="ctr">
            <a:solidFill>
              <a:srgbClr val="00B14F"/>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t>Find Data</a:t>
            </a:r>
          </a:p>
        </p:txBody>
      </p:sp>
      <p:sp>
        <p:nvSpPr>
          <p:cNvPr id="6" name="Rectangle 5">
            <a:extLst>
              <a:ext uri="{FF2B5EF4-FFF2-40B4-BE49-F238E27FC236}">
                <a16:creationId xmlns:a16="http://schemas.microsoft.com/office/drawing/2014/main" id="{99BACD54-4A6C-169C-4E22-4D01B2F80364}"/>
              </a:ext>
            </a:extLst>
          </p:cNvPr>
          <p:cNvSpPr/>
          <p:nvPr/>
        </p:nvSpPr>
        <p:spPr bwMode="gray">
          <a:xfrm>
            <a:off x="3273310" y="1247886"/>
            <a:ext cx="2796989" cy="527125"/>
          </a:xfrm>
          <a:prstGeom prst="rect">
            <a:avLst/>
          </a:prstGeom>
          <a:noFill/>
          <a:ln w="28575" algn="ctr">
            <a:solidFill>
              <a:srgbClr val="00B14F"/>
            </a:solidFill>
            <a:miter lim="800000"/>
            <a:headEnd/>
            <a:tailEnd/>
          </a:ln>
        </p:spPr>
        <p:txBody>
          <a:bodyPr wrap="square" lIns="88900" tIns="88900" rIns="88900" bIns="88900" rtlCol="0" anchor="ctr"/>
          <a:lstStyle/>
          <a:p>
            <a:pPr algn="ctr">
              <a:lnSpc>
                <a:spcPct val="106000"/>
              </a:lnSpc>
            </a:pPr>
            <a:r>
              <a:rPr lang="en-US" sz="1600" b="1"/>
              <a:t>Understand Data</a:t>
            </a:r>
          </a:p>
        </p:txBody>
      </p:sp>
      <p:sp>
        <p:nvSpPr>
          <p:cNvPr id="7" name="Rectangle 6">
            <a:extLst>
              <a:ext uri="{FF2B5EF4-FFF2-40B4-BE49-F238E27FC236}">
                <a16:creationId xmlns:a16="http://schemas.microsoft.com/office/drawing/2014/main" id="{D3802F0D-BC74-4EAC-4CB1-DE57E9BCF8B8}"/>
              </a:ext>
            </a:extLst>
          </p:cNvPr>
          <p:cNvSpPr/>
          <p:nvPr/>
        </p:nvSpPr>
        <p:spPr bwMode="gray">
          <a:xfrm>
            <a:off x="6223892" y="1247885"/>
            <a:ext cx="2796989" cy="527125"/>
          </a:xfrm>
          <a:prstGeom prst="rect">
            <a:avLst/>
          </a:prstGeom>
          <a:noFill/>
          <a:ln w="28575" algn="ctr">
            <a:solidFill>
              <a:srgbClr val="00B14F"/>
            </a:solidFill>
            <a:miter lim="800000"/>
            <a:headEnd/>
            <a:tailEnd/>
          </a:ln>
        </p:spPr>
        <p:txBody>
          <a:bodyPr wrap="square" lIns="88900" tIns="88900" rIns="88900" bIns="88900" rtlCol="0" anchor="ctr"/>
          <a:lstStyle/>
          <a:p>
            <a:pPr algn="ctr">
              <a:lnSpc>
                <a:spcPct val="106000"/>
              </a:lnSpc>
            </a:pPr>
            <a:r>
              <a:rPr lang="en-US" sz="1600" b="1"/>
              <a:t>Trust Data – Data Quality Scores</a:t>
            </a:r>
          </a:p>
        </p:txBody>
      </p:sp>
      <p:sp>
        <p:nvSpPr>
          <p:cNvPr id="8" name="Rectangle 7">
            <a:extLst>
              <a:ext uri="{FF2B5EF4-FFF2-40B4-BE49-F238E27FC236}">
                <a16:creationId xmlns:a16="http://schemas.microsoft.com/office/drawing/2014/main" id="{FEAC1E26-E52E-9F47-B484-B48D3C3E5008}"/>
              </a:ext>
            </a:extLst>
          </p:cNvPr>
          <p:cNvSpPr/>
          <p:nvPr/>
        </p:nvSpPr>
        <p:spPr bwMode="gray">
          <a:xfrm>
            <a:off x="9174473" y="1247884"/>
            <a:ext cx="2796989" cy="527125"/>
          </a:xfrm>
          <a:prstGeom prst="rect">
            <a:avLst/>
          </a:prstGeom>
          <a:noFill/>
          <a:ln w="28575" algn="ctr">
            <a:solidFill>
              <a:srgbClr val="00B14F"/>
            </a:solidFill>
            <a:miter lim="800000"/>
            <a:headEnd/>
            <a:tailEnd/>
          </a:ln>
        </p:spPr>
        <p:txBody>
          <a:bodyPr wrap="square" lIns="88900" tIns="88900" rIns="88900" bIns="88900" rtlCol="0" anchor="ctr"/>
          <a:lstStyle/>
          <a:p>
            <a:pPr algn="ctr">
              <a:lnSpc>
                <a:spcPct val="106000"/>
              </a:lnSpc>
            </a:pPr>
            <a:r>
              <a:rPr lang="en-US" sz="1600" b="1"/>
              <a:t>Access Data</a:t>
            </a:r>
          </a:p>
        </p:txBody>
      </p:sp>
      <p:sp>
        <p:nvSpPr>
          <p:cNvPr id="9" name="Rectangle 8">
            <a:extLst>
              <a:ext uri="{FF2B5EF4-FFF2-40B4-BE49-F238E27FC236}">
                <a16:creationId xmlns:a16="http://schemas.microsoft.com/office/drawing/2014/main" id="{7473F420-9408-86DC-4C7D-4BC79DDF51B7}"/>
              </a:ext>
            </a:extLst>
          </p:cNvPr>
          <p:cNvSpPr/>
          <p:nvPr/>
        </p:nvSpPr>
        <p:spPr bwMode="gray">
          <a:xfrm>
            <a:off x="322728" y="1927412"/>
            <a:ext cx="2796989" cy="4355055"/>
          </a:xfrm>
          <a:prstGeom prst="rect">
            <a:avLst/>
          </a:prstGeom>
          <a:noFill/>
          <a:ln w="28575" algn="ctr">
            <a:solidFill>
              <a:srgbClr val="00B14F"/>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 name="Rectangle 12">
            <a:extLst>
              <a:ext uri="{FF2B5EF4-FFF2-40B4-BE49-F238E27FC236}">
                <a16:creationId xmlns:a16="http://schemas.microsoft.com/office/drawing/2014/main" id="{10BDD6C8-43F6-841C-EBA6-4375A7CEE4F5}"/>
              </a:ext>
            </a:extLst>
          </p:cNvPr>
          <p:cNvSpPr/>
          <p:nvPr/>
        </p:nvSpPr>
        <p:spPr bwMode="gray">
          <a:xfrm>
            <a:off x="3299011" y="1927412"/>
            <a:ext cx="2796989" cy="4355055"/>
          </a:xfrm>
          <a:prstGeom prst="rect">
            <a:avLst/>
          </a:prstGeom>
          <a:noFill/>
          <a:ln w="28575" algn="ctr">
            <a:solidFill>
              <a:srgbClr val="00B14F"/>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 name="Rectangle 13">
            <a:extLst>
              <a:ext uri="{FF2B5EF4-FFF2-40B4-BE49-F238E27FC236}">
                <a16:creationId xmlns:a16="http://schemas.microsoft.com/office/drawing/2014/main" id="{677843CB-D2E5-4160-2B21-D766D5349D6C}"/>
              </a:ext>
            </a:extLst>
          </p:cNvPr>
          <p:cNvSpPr/>
          <p:nvPr/>
        </p:nvSpPr>
        <p:spPr bwMode="gray">
          <a:xfrm>
            <a:off x="6253778" y="1927412"/>
            <a:ext cx="2796989" cy="4355055"/>
          </a:xfrm>
          <a:prstGeom prst="rect">
            <a:avLst/>
          </a:prstGeom>
          <a:noFill/>
          <a:ln w="28575" algn="ctr">
            <a:solidFill>
              <a:srgbClr val="00B14F"/>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5" name="Rectangle 14">
            <a:extLst>
              <a:ext uri="{FF2B5EF4-FFF2-40B4-BE49-F238E27FC236}">
                <a16:creationId xmlns:a16="http://schemas.microsoft.com/office/drawing/2014/main" id="{AE38390A-DB08-E0BE-889A-8645CBB674DB}"/>
              </a:ext>
            </a:extLst>
          </p:cNvPr>
          <p:cNvSpPr/>
          <p:nvPr/>
        </p:nvSpPr>
        <p:spPr bwMode="gray">
          <a:xfrm>
            <a:off x="9208545" y="1927411"/>
            <a:ext cx="2796989" cy="4355055"/>
          </a:xfrm>
          <a:prstGeom prst="rect">
            <a:avLst/>
          </a:prstGeom>
          <a:noFill/>
          <a:ln w="28575" algn="ctr">
            <a:solidFill>
              <a:srgbClr val="00B14F"/>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pic>
        <p:nvPicPr>
          <p:cNvPr id="16" name="Graphic 15">
            <a:extLst>
              <a:ext uri="{FF2B5EF4-FFF2-40B4-BE49-F238E27FC236}">
                <a16:creationId xmlns:a16="http://schemas.microsoft.com/office/drawing/2014/main" id="{A8EF6CBD-A6BD-B002-DBC8-62A97AF9CD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4722" y="2025953"/>
            <a:ext cx="2568784" cy="1142247"/>
          </a:xfrm>
          <a:prstGeom prst="rect">
            <a:avLst/>
          </a:prstGeom>
        </p:spPr>
      </p:pic>
      <p:pic>
        <p:nvPicPr>
          <p:cNvPr id="17" name="Picture 16">
            <a:extLst>
              <a:ext uri="{FF2B5EF4-FFF2-40B4-BE49-F238E27FC236}">
                <a16:creationId xmlns:a16="http://schemas.microsoft.com/office/drawing/2014/main" id="{57506F62-1324-D966-5885-51EE56A3A4C9}"/>
              </a:ext>
            </a:extLst>
          </p:cNvPr>
          <p:cNvPicPr>
            <a:picLocks noChangeAspect="1"/>
          </p:cNvPicPr>
          <p:nvPr/>
        </p:nvPicPr>
        <p:blipFill>
          <a:blip r:embed="rId4"/>
          <a:stretch>
            <a:fillRect/>
          </a:stretch>
        </p:blipFill>
        <p:spPr>
          <a:xfrm>
            <a:off x="444721" y="4615248"/>
            <a:ext cx="2568785" cy="1240788"/>
          </a:xfrm>
          <a:prstGeom prst="rect">
            <a:avLst/>
          </a:prstGeom>
          <a:effectLst>
            <a:outerShdw blurRad="63500" sx="102000" sy="102000" algn="ctr" rotWithShape="0">
              <a:prstClr val="black">
                <a:alpha val="40000"/>
              </a:prstClr>
            </a:outerShdw>
          </a:effectLst>
        </p:spPr>
      </p:pic>
      <p:pic>
        <p:nvPicPr>
          <p:cNvPr id="18" name="Picture 17">
            <a:extLst>
              <a:ext uri="{FF2B5EF4-FFF2-40B4-BE49-F238E27FC236}">
                <a16:creationId xmlns:a16="http://schemas.microsoft.com/office/drawing/2014/main" id="{12E2848E-2895-2EDD-49D2-EDBA01F0DBA2}"/>
              </a:ext>
            </a:extLst>
          </p:cNvPr>
          <p:cNvPicPr>
            <a:picLocks noChangeAspect="1"/>
          </p:cNvPicPr>
          <p:nvPr/>
        </p:nvPicPr>
        <p:blipFill>
          <a:blip r:embed="rId5"/>
          <a:stretch>
            <a:fillRect/>
          </a:stretch>
        </p:blipFill>
        <p:spPr>
          <a:xfrm>
            <a:off x="469900" y="3320600"/>
            <a:ext cx="2543607" cy="1142247"/>
          </a:xfrm>
          <a:prstGeom prst="rect">
            <a:avLst/>
          </a:prstGeom>
          <a:effectLst>
            <a:outerShdw blurRad="63500" sx="102000" sy="102000" algn="ctr" rotWithShape="0">
              <a:prstClr val="black">
                <a:alpha val="40000"/>
              </a:prstClr>
            </a:outerShdw>
          </a:effectLst>
        </p:spPr>
      </p:pic>
      <p:pic>
        <p:nvPicPr>
          <p:cNvPr id="20" name="Picture 19">
            <a:extLst>
              <a:ext uri="{FF2B5EF4-FFF2-40B4-BE49-F238E27FC236}">
                <a16:creationId xmlns:a16="http://schemas.microsoft.com/office/drawing/2014/main" id="{ED66DBEC-BA73-F7E0-0853-81ED807359CA}"/>
              </a:ext>
            </a:extLst>
          </p:cNvPr>
          <p:cNvPicPr>
            <a:picLocks noChangeAspect="1"/>
          </p:cNvPicPr>
          <p:nvPr/>
        </p:nvPicPr>
        <p:blipFill>
          <a:blip r:embed="rId6"/>
          <a:stretch>
            <a:fillRect/>
          </a:stretch>
        </p:blipFill>
        <p:spPr>
          <a:xfrm>
            <a:off x="3333288" y="3457613"/>
            <a:ext cx="2796988" cy="1294650"/>
          </a:xfrm>
          <a:prstGeom prst="rect">
            <a:avLst/>
          </a:prstGeom>
        </p:spPr>
      </p:pic>
      <p:pic>
        <p:nvPicPr>
          <p:cNvPr id="22" name="Picture 21">
            <a:extLst>
              <a:ext uri="{FF2B5EF4-FFF2-40B4-BE49-F238E27FC236}">
                <a16:creationId xmlns:a16="http://schemas.microsoft.com/office/drawing/2014/main" id="{10707615-DF9B-2B9B-F1CD-A28931A13DB4}"/>
              </a:ext>
            </a:extLst>
          </p:cNvPr>
          <p:cNvPicPr>
            <a:picLocks noChangeAspect="1"/>
          </p:cNvPicPr>
          <p:nvPr/>
        </p:nvPicPr>
        <p:blipFill>
          <a:blip r:embed="rId7"/>
          <a:stretch>
            <a:fillRect/>
          </a:stretch>
        </p:blipFill>
        <p:spPr>
          <a:xfrm>
            <a:off x="3333288" y="2025951"/>
            <a:ext cx="2737011" cy="1294649"/>
          </a:xfrm>
          <a:prstGeom prst="rect">
            <a:avLst/>
          </a:prstGeom>
        </p:spPr>
      </p:pic>
      <p:pic>
        <p:nvPicPr>
          <p:cNvPr id="23" name="Picture 22">
            <a:extLst>
              <a:ext uri="{FF2B5EF4-FFF2-40B4-BE49-F238E27FC236}">
                <a16:creationId xmlns:a16="http://schemas.microsoft.com/office/drawing/2014/main" id="{149340B2-C641-41D0-E977-2AE3F372252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20861" y="4812618"/>
            <a:ext cx="2553289" cy="1219172"/>
          </a:xfrm>
          <a:prstGeom prst="rect">
            <a:avLst/>
          </a:prstGeom>
          <a:ln>
            <a:noFill/>
          </a:ln>
          <a:effectLst>
            <a:outerShdw blurRad="63500" sx="102000" sy="102000" algn="ctr" rotWithShape="0">
              <a:prstClr val="black">
                <a:alpha val="40000"/>
              </a:prstClr>
            </a:outerShdw>
          </a:effectLst>
        </p:spPr>
      </p:pic>
      <p:pic>
        <p:nvPicPr>
          <p:cNvPr id="24" name="Picture 23">
            <a:extLst>
              <a:ext uri="{FF2B5EF4-FFF2-40B4-BE49-F238E27FC236}">
                <a16:creationId xmlns:a16="http://schemas.microsoft.com/office/drawing/2014/main" id="{E5C6E95E-E38E-DD00-F710-1A782CE3F74A}"/>
              </a:ext>
            </a:extLst>
          </p:cNvPr>
          <p:cNvPicPr>
            <a:picLocks noChangeAspect="1"/>
          </p:cNvPicPr>
          <p:nvPr/>
        </p:nvPicPr>
        <p:blipFill>
          <a:blip r:embed="rId9"/>
          <a:stretch>
            <a:fillRect/>
          </a:stretch>
        </p:blipFill>
        <p:spPr>
          <a:xfrm>
            <a:off x="6400831" y="2025949"/>
            <a:ext cx="2502881" cy="1147750"/>
          </a:xfrm>
          <a:prstGeom prst="rect">
            <a:avLst/>
          </a:prstGeom>
          <a:effectLst>
            <a:outerShdw blurRad="63500" sx="102000" sy="102000" algn="ctr" rotWithShape="0">
              <a:prstClr val="black">
                <a:alpha val="40000"/>
              </a:prstClr>
            </a:outerShdw>
          </a:effectLst>
        </p:spPr>
      </p:pic>
      <p:pic>
        <p:nvPicPr>
          <p:cNvPr id="25" name="Graphic 24">
            <a:extLst>
              <a:ext uri="{FF2B5EF4-FFF2-40B4-BE49-F238E27FC236}">
                <a16:creationId xmlns:a16="http://schemas.microsoft.com/office/drawing/2014/main" id="{08357BB1-2F25-5FBD-D5B5-D7A09463EB5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63636" y="2066250"/>
            <a:ext cx="2505636" cy="1391363"/>
          </a:xfrm>
          <a:prstGeom prst="rect">
            <a:avLst/>
          </a:prstGeom>
        </p:spPr>
      </p:pic>
      <p:sp>
        <p:nvSpPr>
          <p:cNvPr id="3" name="Text Placeholder 10">
            <a:extLst>
              <a:ext uri="{FF2B5EF4-FFF2-40B4-BE49-F238E27FC236}">
                <a16:creationId xmlns:a16="http://schemas.microsoft.com/office/drawing/2014/main" id="{4BAC4FBE-D4FC-E95C-4AC5-650A3E20AD5B}"/>
              </a:ext>
            </a:extLst>
          </p:cNvPr>
          <p:cNvSpPr txBox="1">
            <a:spLocks/>
          </p:cNvSpPr>
          <p:nvPr/>
        </p:nvSpPr>
        <p:spPr>
          <a:xfrm>
            <a:off x="389840" y="141924"/>
            <a:ext cx="3567089" cy="233997"/>
          </a:xfrm>
          <a:prstGeom prst="rect">
            <a:avLst/>
          </a:prstGeom>
          <a:noFill/>
        </p:spPr>
        <p:txBody>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050" b="1" kern="0" cap="all" spc="250" dirty="0">
                <a:solidFill>
                  <a:schemeClr val="bg1">
                    <a:lumMod val="50000"/>
                  </a:schemeClr>
                </a:solidFill>
                <a:latin typeface="+mj-lt"/>
                <a:cs typeface="+mn-cs"/>
              </a:rPr>
              <a:t>CASE STUDY</a:t>
            </a:r>
            <a:endParaRPr lang="en-GB" sz="1050" b="1" kern="0" cap="all" spc="250" dirty="0">
              <a:solidFill>
                <a:schemeClr val="bg1">
                  <a:lumMod val="50000"/>
                </a:schemeClr>
              </a:solidFill>
              <a:latin typeface="+mj-lt"/>
              <a:cs typeface="+mn-cs"/>
            </a:endParaRPr>
          </a:p>
        </p:txBody>
      </p:sp>
    </p:spTree>
    <p:extLst>
      <p:ext uri="{BB962C8B-B14F-4D97-AF65-F5344CB8AC3E}">
        <p14:creationId xmlns:p14="http://schemas.microsoft.com/office/powerpoint/2010/main" val="26114500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a:ea typeface="Open Sans"/>
                <a:cs typeface="Open Sans"/>
              </a:rPr>
              <a:t>Data Marketplace – </a:t>
            </a:r>
            <a:r>
              <a:rPr lang="en-US" sz="2200">
                <a:solidFill>
                  <a:schemeClr val="accent2"/>
                </a:solidFill>
                <a:ea typeface="Open Sans"/>
                <a:cs typeface="Open Sans"/>
              </a:rPr>
              <a:t>"</a:t>
            </a:r>
            <a:r>
              <a:rPr lang="en-US" sz="2200" err="1">
                <a:solidFill>
                  <a:schemeClr val="accent2"/>
                </a:solidFill>
                <a:ea typeface="Open Sans"/>
                <a:cs typeface="Open Sans"/>
              </a:rPr>
              <a:t>LeanIX</a:t>
            </a:r>
            <a:r>
              <a:rPr lang="en-US" sz="2200">
                <a:solidFill>
                  <a:schemeClr val="accent2"/>
                </a:solidFill>
                <a:ea typeface="Open Sans"/>
                <a:cs typeface="Open Sans"/>
              </a:rPr>
              <a:t> for Data" </a:t>
            </a:r>
            <a:r>
              <a:rPr lang="en-US" sz="2200">
                <a:ea typeface="Open Sans"/>
                <a:cs typeface="Open Sans"/>
              </a:rPr>
              <a:t>and </a:t>
            </a:r>
            <a:r>
              <a:rPr lang="en-US" sz="2200">
                <a:solidFill>
                  <a:schemeClr val="accent2"/>
                </a:solidFill>
                <a:ea typeface="Open Sans"/>
                <a:cs typeface="Open Sans"/>
              </a:rPr>
              <a:t>"Catalog of Catalogs"</a:t>
            </a:r>
            <a:r>
              <a:rPr lang="en-US" sz="2200">
                <a:ea typeface="Open Sans"/>
                <a:cs typeface="Open Sans"/>
              </a:rPr>
              <a:t> Design</a:t>
            </a:r>
          </a:p>
        </p:txBody>
      </p:sp>
      <p:sp>
        <p:nvSpPr>
          <p:cNvPr id="2" name="Slide Number Placeholder 3">
            <a:extLst>
              <a:ext uri="{FF2B5EF4-FFF2-40B4-BE49-F238E27FC236}">
                <a16:creationId xmlns:a16="http://schemas.microsoft.com/office/drawing/2014/main" id="{9CA0FC23-65C0-69F8-35D3-B8447776E94C}"/>
              </a:ext>
            </a:extLst>
          </p:cNvPr>
          <p:cNvSpPr txBox="1">
            <a:spLocks/>
          </p:cNvSpPr>
          <p:nvPr/>
        </p:nvSpPr>
        <p:spPr>
          <a:xfrm>
            <a:off x="311150" y="6523001"/>
            <a:ext cx="294928" cy="19613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810"/>
            <a:fld id="{E9B57936-92EF-4126-AE48-1D9D36D15E98}" type="slidenum">
              <a:rPr lang="ja-JP" altLang="en-US" smtClean="0"/>
              <a:pPr defTabSz="1218810"/>
              <a:t>15</a:t>
            </a:fld>
            <a:endParaRPr lang="ja-JP" altLang="en-US"/>
          </a:p>
        </p:txBody>
      </p:sp>
      <p:sp>
        <p:nvSpPr>
          <p:cNvPr id="3" name="Google Shape;1352;p163">
            <a:extLst>
              <a:ext uri="{FF2B5EF4-FFF2-40B4-BE49-F238E27FC236}">
                <a16:creationId xmlns:a16="http://schemas.microsoft.com/office/drawing/2014/main" id="{E5C8BBE3-29BC-9CE1-0A98-63322079A142}"/>
              </a:ext>
            </a:extLst>
          </p:cNvPr>
          <p:cNvSpPr/>
          <p:nvPr/>
        </p:nvSpPr>
        <p:spPr>
          <a:xfrm>
            <a:off x="5843832" y="2643090"/>
            <a:ext cx="2146634" cy="1457605"/>
          </a:xfrm>
          <a:prstGeom prst="rect">
            <a:avLst/>
          </a:prstGeom>
          <a:solidFill>
            <a:srgbClr val="FFFFFF"/>
          </a:solidFill>
          <a:ln w="9525" cap="flat" cmpd="sng">
            <a:solidFill>
              <a:srgbClr val="FF5F46"/>
            </a:solidFill>
            <a:prstDash val="dot"/>
            <a:round/>
            <a:headEnd type="none" w="sm" len="sm"/>
            <a:tailEnd type="none" w="sm" len="sm"/>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FF5F46"/>
                </a:solidFill>
                <a:effectLst/>
                <a:uLnTx/>
                <a:uFillTx/>
                <a:latin typeface="DM Sans Medium"/>
                <a:ea typeface="DM Sans Medium"/>
                <a:cs typeface="DM Sans Medium"/>
                <a:sym typeface="DM Sans Medium"/>
              </a:rPr>
              <a:t>Databricks</a:t>
            </a:r>
            <a:endParaRPr kumimoji="0" sz="1400" b="0" i="0" u="none" strike="noStrike" kern="0" cap="none" spc="0" normalizeH="0" baseline="0" noProof="0">
              <a:ln>
                <a:noFill/>
              </a:ln>
              <a:solidFill>
                <a:srgbClr val="FF5F46"/>
              </a:solidFill>
              <a:effectLst/>
              <a:uLnTx/>
              <a:uFillTx/>
              <a:latin typeface="DM Sans Medium"/>
              <a:ea typeface="DM Sans Medium"/>
              <a:cs typeface="DM Sans Medium"/>
              <a:sym typeface="DM Sans Medium"/>
            </a:endParaRPr>
          </a:p>
        </p:txBody>
      </p:sp>
      <p:sp>
        <p:nvSpPr>
          <p:cNvPr id="4" name="Google Shape;1354;p163">
            <a:extLst>
              <a:ext uri="{FF2B5EF4-FFF2-40B4-BE49-F238E27FC236}">
                <a16:creationId xmlns:a16="http://schemas.microsoft.com/office/drawing/2014/main" id="{7C6B51EE-3364-A355-8E75-3186E96D6E81}"/>
              </a:ext>
            </a:extLst>
          </p:cNvPr>
          <p:cNvSpPr/>
          <p:nvPr/>
        </p:nvSpPr>
        <p:spPr>
          <a:xfrm>
            <a:off x="5069456" y="5286147"/>
            <a:ext cx="122444" cy="122444"/>
          </a:xfrm>
          <a:prstGeom prst="ellipse">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 name="Google Shape;1355;p163">
            <a:extLst>
              <a:ext uri="{FF2B5EF4-FFF2-40B4-BE49-F238E27FC236}">
                <a16:creationId xmlns:a16="http://schemas.microsoft.com/office/drawing/2014/main" id="{11E36E7A-638E-4178-EE23-A57617904BB5}"/>
              </a:ext>
            </a:extLst>
          </p:cNvPr>
          <p:cNvSpPr/>
          <p:nvPr/>
        </p:nvSpPr>
        <p:spPr>
          <a:xfrm>
            <a:off x="1769340" y="2643090"/>
            <a:ext cx="1930011" cy="1457605"/>
          </a:xfrm>
          <a:prstGeom prst="rect">
            <a:avLst/>
          </a:prstGeom>
          <a:solidFill>
            <a:srgbClr val="FFFFFF"/>
          </a:solidFill>
          <a:ln w="9525" cap="flat" cmpd="sng">
            <a:solidFill>
              <a:srgbClr val="1B5162"/>
            </a:solidFill>
            <a:prstDash val="dot"/>
            <a:round/>
            <a:headEnd type="none" w="sm" len="sm"/>
            <a:tailEnd type="none" w="sm" len="sm"/>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DM Sans Medium"/>
                <a:ea typeface="DM Sans Medium"/>
                <a:cs typeface="DM Sans Medium"/>
                <a:sym typeface="DM Sans Medium"/>
              </a:rPr>
              <a:t>ETL Tools</a:t>
            </a:r>
            <a:endParaRPr kumimoji="0" sz="500" b="0" i="0" u="none" strike="noStrike" kern="0" cap="none" spc="0" normalizeH="0" baseline="0" noProof="0">
              <a:ln>
                <a:noFill/>
              </a:ln>
              <a:solidFill>
                <a:srgbClr val="000000"/>
              </a:solidFill>
              <a:effectLst/>
              <a:uLnTx/>
              <a:uFillTx/>
              <a:latin typeface="DM Sans Medium"/>
              <a:ea typeface="DM Sans Medium"/>
              <a:cs typeface="DM Sans Medium"/>
              <a:sym typeface="DM Sans Medium"/>
            </a:endParaRPr>
          </a:p>
        </p:txBody>
      </p:sp>
      <p:sp>
        <p:nvSpPr>
          <p:cNvPr id="6" name="Google Shape;1356;p163">
            <a:extLst>
              <a:ext uri="{FF2B5EF4-FFF2-40B4-BE49-F238E27FC236}">
                <a16:creationId xmlns:a16="http://schemas.microsoft.com/office/drawing/2014/main" id="{DAF0D41D-CAB6-E69A-C778-85B8BBCFCB74}"/>
              </a:ext>
            </a:extLst>
          </p:cNvPr>
          <p:cNvSpPr/>
          <p:nvPr/>
        </p:nvSpPr>
        <p:spPr>
          <a:xfrm>
            <a:off x="8087723" y="2643090"/>
            <a:ext cx="2026985" cy="1457605"/>
          </a:xfrm>
          <a:prstGeom prst="rect">
            <a:avLst/>
          </a:prstGeom>
          <a:solidFill>
            <a:srgbClr val="FFFFFF"/>
          </a:solidFill>
          <a:ln w="9525" cap="flat" cmpd="sng">
            <a:solidFill>
              <a:srgbClr val="1B5162"/>
            </a:solidFill>
            <a:prstDash val="dot"/>
            <a:round/>
            <a:headEnd type="none" w="sm" len="sm"/>
            <a:tailEnd type="none" w="sm" len="sm"/>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DM Sans Medium"/>
                <a:ea typeface="DM Sans Medium"/>
                <a:cs typeface="DM Sans Medium"/>
                <a:sym typeface="DM Sans Medium"/>
              </a:rPr>
              <a:t>DWH (BW, DWC, …)</a:t>
            </a:r>
            <a:endParaRPr kumimoji="0" sz="1400" b="0" i="0" u="none" strike="noStrike" kern="0" cap="none" spc="0" normalizeH="0" baseline="0" noProof="0">
              <a:ln>
                <a:noFill/>
              </a:ln>
              <a:solidFill>
                <a:srgbClr val="000000"/>
              </a:solidFill>
              <a:effectLst/>
              <a:uLnTx/>
              <a:uFillTx/>
              <a:latin typeface="DM Sans Medium"/>
              <a:ea typeface="DM Sans Medium"/>
              <a:cs typeface="DM Sans Medium"/>
              <a:sym typeface="DM Sans Medium"/>
            </a:endParaRPr>
          </a:p>
        </p:txBody>
      </p:sp>
      <p:sp>
        <p:nvSpPr>
          <p:cNvPr id="7" name="Google Shape;1357;p163">
            <a:extLst>
              <a:ext uri="{FF2B5EF4-FFF2-40B4-BE49-F238E27FC236}">
                <a16:creationId xmlns:a16="http://schemas.microsoft.com/office/drawing/2014/main" id="{767DDF26-12B9-06E3-FBB5-BE8AF6CBD405}"/>
              </a:ext>
            </a:extLst>
          </p:cNvPr>
          <p:cNvSpPr/>
          <p:nvPr/>
        </p:nvSpPr>
        <p:spPr>
          <a:xfrm>
            <a:off x="1769340" y="4877129"/>
            <a:ext cx="8432912" cy="485037"/>
          </a:xfrm>
          <a:prstGeom prst="rect">
            <a:avLst/>
          </a:prstGeom>
          <a:solidFill>
            <a:srgbClr val="FFFFFF"/>
          </a:solidFill>
          <a:ln w="9525" cap="flat" cmpd="sng">
            <a:solidFill>
              <a:srgbClr val="1B516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600" b="0" i="0" u="none" strike="noStrike" kern="0" cap="none" spc="0" normalizeH="0" baseline="0" noProof="0">
                <a:ln>
                  <a:noFill/>
                </a:ln>
                <a:solidFill>
                  <a:srgbClr val="1B5162"/>
                </a:solidFill>
                <a:effectLst/>
                <a:uLnTx/>
                <a:uFillTx/>
                <a:latin typeface="DM Sans Medium"/>
                <a:ea typeface="DM Sans Medium"/>
                <a:cs typeface="DM Sans Medium"/>
                <a:sym typeface="DM Sans Medium"/>
              </a:rPr>
              <a:t>Orchestration</a:t>
            </a:r>
            <a:endParaRPr kumimoji="0" sz="1600" b="0" i="0" u="none" strike="noStrike" kern="0" cap="none" spc="0" normalizeH="0" baseline="0" noProof="0">
              <a:ln>
                <a:noFill/>
              </a:ln>
              <a:solidFill>
                <a:srgbClr val="1B5162"/>
              </a:solidFill>
              <a:effectLst/>
              <a:uLnTx/>
              <a:uFillTx/>
              <a:latin typeface="DM Sans Medium"/>
              <a:ea typeface="DM Sans Medium"/>
              <a:cs typeface="DM Sans Medium"/>
              <a:sym typeface="DM Sans Medium"/>
            </a:endParaRPr>
          </a:p>
        </p:txBody>
      </p:sp>
      <p:sp>
        <p:nvSpPr>
          <p:cNvPr id="8" name="Google Shape;1358;p163">
            <a:extLst>
              <a:ext uri="{FF2B5EF4-FFF2-40B4-BE49-F238E27FC236}">
                <a16:creationId xmlns:a16="http://schemas.microsoft.com/office/drawing/2014/main" id="{7CA83089-9921-032D-AF6F-2E0A5734AFE9}"/>
              </a:ext>
            </a:extLst>
          </p:cNvPr>
          <p:cNvSpPr/>
          <p:nvPr/>
        </p:nvSpPr>
        <p:spPr>
          <a:xfrm>
            <a:off x="1772128" y="4315824"/>
            <a:ext cx="759850" cy="365087"/>
          </a:xfrm>
          <a:prstGeom prst="homePlate">
            <a:avLst>
              <a:gd name="adj" fmla="val 50000"/>
            </a:avLst>
          </a:prstGeom>
          <a:solidFill>
            <a:srgbClr val="EFEFEF"/>
          </a:solidFill>
          <a:ln w="9525" cap="flat" cmpd="sng">
            <a:solidFill>
              <a:srgbClr val="1B516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 name="Google Shape;1359;p163">
            <a:extLst>
              <a:ext uri="{FF2B5EF4-FFF2-40B4-BE49-F238E27FC236}">
                <a16:creationId xmlns:a16="http://schemas.microsoft.com/office/drawing/2014/main" id="{A749F3B9-3B1C-1D5C-BE99-2C46CDB8B675}"/>
              </a:ext>
            </a:extLst>
          </p:cNvPr>
          <p:cNvSpPr/>
          <p:nvPr/>
        </p:nvSpPr>
        <p:spPr>
          <a:xfrm>
            <a:off x="2472709" y="4315824"/>
            <a:ext cx="759850" cy="365087"/>
          </a:xfrm>
          <a:prstGeom prst="chevron">
            <a:avLst>
              <a:gd name="adj" fmla="val 50000"/>
            </a:avLst>
          </a:prstGeom>
          <a:solidFill>
            <a:srgbClr val="EFEFEF"/>
          </a:solidFill>
          <a:ln w="9525" cap="flat" cmpd="sng">
            <a:solidFill>
              <a:srgbClr val="1B516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Google Shape;1360;p163">
            <a:extLst>
              <a:ext uri="{FF2B5EF4-FFF2-40B4-BE49-F238E27FC236}">
                <a16:creationId xmlns:a16="http://schemas.microsoft.com/office/drawing/2014/main" id="{B63C9536-EFBE-43D7-0EC2-52E3BFD3D001}"/>
              </a:ext>
            </a:extLst>
          </p:cNvPr>
          <p:cNvSpPr/>
          <p:nvPr/>
        </p:nvSpPr>
        <p:spPr>
          <a:xfrm>
            <a:off x="3173290" y="4315824"/>
            <a:ext cx="759850" cy="365087"/>
          </a:xfrm>
          <a:prstGeom prst="chevron">
            <a:avLst>
              <a:gd name="adj" fmla="val 50000"/>
            </a:avLst>
          </a:prstGeom>
          <a:solidFill>
            <a:srgbClr val="EFEFEF"/>
          </a:solidFill>
          <a:ln w="9525" cap="flat" cmpd="sng">
            <a:solidFill>
              <a:srgbClr val="1B516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 name="Google Shape;1361;p163">
            <a:extLst>
              <a:ext uri="{FF2B5EF4-FFF2-40B4-BE49-F238E27FC236}">
                <a16:creationId xmlns:a16="http://schemas.microsoft.com/office/drawing/2014/main" id="{8E749625-E64C-C4A6-23D2-636D3C2F099B}"/>
              </a:ext>
            </a:extLst>
          </p:cNvPr>
          <p:cNvSpPr/>
          <p:nvPr/>
        </p:nvSpPr>
        <p:spPr>
          <a:xfrm>
            <a:off x="3873871" y="4315824"/>
            <a:ext cx="759850" cy="365087"/>
          </a:xfrm>
          <a:prstGeom prst="chevron">
            <a:avLst>
              <a:gd name="adj" fmla="val 50000"/>
            </a:avLst>
          </a:prstGeom>
          <a:solidFill>
            <a:srgbClr val="EFEFEF"/>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 name="Google Shape;1362;p163">
            <a:extLst>
              <a:ext uri="{FF2B5EF4-FFF2-40B4-BE49-F238E27FC236}">
                <a16:creationId xmlns:a16="http://schemas.microsoft.com/office/drawing/2014/main" id="{800CD61B-F220-1C53-F52C-A3332A53E1E7}"/>
              </a:ext>
            </a:extLst>
          </p:cNvPr>
          <p:cNvSpPr/>
          <p:nvPr/>
        </p:nvSpPr>
        <p:spPr>
          <a:xfrm>
            <a:off x="4574452" y="4315824"/>
            <a:ext cx="759850" cy="365087"/>
          </a:xfrm>
          <a:prstGeom prst="chevron">
            <a:avLst>
              <a:gd name="adj" fmla="val 50000"/>
            </a:avLst>
          </a:prstGeom>
          <a:solidFill>
            <a:srgbClr val="EFEFEF"/>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 name="Google Shape;1363;p163">
            <a:extLst>
              <a:ext uri="{FF2B5EF4-FFF2-40B4-BE49-F238E27FC236}">
                <a16:creationId xmlns:a16="http://schemas.microsoft.com/office/drawing/2014/main" id="{2533BF3D-48A7-7968-15D5-CEBE1BE6B221}"/>
              </a:ext>
            </a:extLst>
          </p:cNvPr>
          <p:cNvSpPr/>
          <p:nvPr/>
        </p:nvSpPr>
        <p:spPr>
          <a:xfrm>
            <a:off x="5275033" y="4315824"/>
            <a:ext cx="759850" cy="365087"/>
          </a:xfrm>
          <a:prstGeom prst="chevron">
            <a:avLst>
              <a:gd name="adj" fmla="val 50000"/>
            </a:avLst>
          </a:prstGeom>
          <a:solidFill>
            <a:srgbClr val="EFEFEF"/>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Google Shape;1364;p163">
            <a:extLst>
              <a:ext uri="{FF2B5EF4-FFF2-40B4-BE49-F238E27FC236}">
                <a16:creationId xmlns:a16="http://schemas.microsoft.com/office/drawing/2014/main" id="{C2EABB3E-0B4A-6D23-B00D-B6FB2D4F5AF7}"/>
              </a:ext>
            </a:extLst>
          </p:cNvPr>
          <p:cNvSpPr/>
          <p:nvPr/>
        </p:nvSpPr>
        <p:spPr>
          <a:xfrm>
            <a:off x="5975614" y="4315824"/>
            <a:ext cx="759850" cy="365087"/>
          </a:xfrm>
          <a:prstGeom prst="chevron">
            <a:avLst>
              <a:gd name="adj" fmla="val 50000"/>
            </a:avLst>
          </a:prstGeom>
          <a:solidFill>
            <a:srgbClr val="EFEFEF"/>
          </a:solidFill>
          <a:ln w="9525" cap="flat" cmpd="sng">
            <a:solidFill>
              <a:srgbClr val="FF5F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8" name="Google Shape;1365;p163">
            <a:extLst>
              <a:ext uri="{FF2B5EF4-FFF2-40B4-BE49-F238E27FC236}">
                <a16:creationId xmlns:a16="http://schemas.microsoft.com/office/drawing/2014/main" id="{EE008D72-CBF7-0142-010F-CCB1EDE67497}"/>
              </a:ext>
            </a:extLst>
          </p:cNvPr>
          <p:cNvSpPr/>
          <p:nvPr/>
        </p:nvSpPr>
        <p:spPr>
          <a:xfrm>
            <a:off x="6676195" y="4315824"/>
            <a:ext cx="759850" cy="365087"/>
          </a:xfrm>
          <a:prstGeom prst="chevron">
            <a:avLst>
              <a:gd name="adj" fmla="val 50000"/>
            </a:avLst>
          </a:prstGeom>
          <a:solidFill>
            <a:srgbClr val="EFEFEF"/>
          </a:solidFill>
          <a:ln w="9525" cap="flat" cmpd="sng">
            <a:solidFill>
              <a:srgbClr val="FF5F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 name="Google Shape;1366;p163">
            <a:extLst>
              <a:ext uri="{FF2B5EF4-FFF2-40B4-BE49-F238E27FC236}">
                <a16:creationId xmlns:a16="http://schemas.microsoft.com/office/drawing/2014/main" id="{431A6B72-F630-CA8A-3756-30632C5D0EB2}"/>
              </a:ext>
            </a:extLst>
          </p:cNvPr>
          <p:cNvSpPr/>
          <p:nvPr/>
        </p:nvSpPr>
        <p:spPr>
          <a:xfrm>
            <a:off x="7376776" y="4315824"/>
            <a:ext cx="759850" cy="365087"/>
          </a:xfrm>
          <a:prstGeom prst="chevron">
            <a:avLst>
              <a:gd name="adj" fmla="val 50000"/>
            </a:avLst>
          </a:prstGeom>
          <a:solidFill>
            <a:srgbClr val="EFEFEF"/>
          </a:solidFill>
          <a:ln w="9525" cap="flat" cmpd="sng">
            <a:solidFill>
              <a:srgbClr val="FF5F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0" name="Google Shape;1367;p163">
            <a:extLst>
              <a:ext uri="{FF2B5EF4-FFF2-40B4-BE49-F238E27FC236}">
                <a16:creationId xmlns:a16="http://schemas.microsoft.com/office/drawing/2014/main" id="{860F0FAD-56E1-CAD9-5942-D97F1B1C5A48}"/>
              </a:ext>
            </a:extLst>
          </p:cNvPr>
          <p:cNvSpPr/>
          <p:nvPr/>
        </p:nvSpPr>
        <p:spPr>
          <a:xfrm>
            <a:off x="8087723" y="4315824"/>
            <a:ext cx="759850" cy="365087"/>
          </a:xfrm>
          <a:prstGeom prst="chevron">
            <a:avLst>
              <a:gd name="adj" fmla="val 50000"/>
            </a:avLst>
          </a:prstGeom>
          <a:solidFill>
            <a:srgbClr val="EFEFEF"/>
          </a:solidFill>
          <a:ln w="9525" cap="flat" cmpd="sng">
            <a:solidFill>
              <a:srgbClr val="1B516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1" name="Google Shape;1368;p163">
            <a:extLst>
              <a:ext uri="{FF2B5EF4-FFF2-40B4-BE49-F238E27FC236}">
                <a16:creationId xmlns:a16="http://schemas.microsoft.com/office/drawing/2014/main" id="{B1D00C28-4CCF-7CAD-B201-6A0E6D2291DC}"/>
              </a:ext>
            </a:extLst>
          </p:cNvPr>
          <p:cNvSpPr/>
          <p:nvPr/>
        </p:nvSpPr>
        <p:spPr>
          <a:xfrm>
            <a:off x="8788304" y="4315824"/>
            <a:ext cx="759850" cy="365087"/>
          </a:xfrm>
          <a:prstGeom prst="chevron">
            <a:avLst>
              <a:gd name="adj" fmla="val 50000"/>
            </a:avLst>
          </a:prstGeom>
          <a:solidFill>
            <a:srgbClr val="EFEFEF"/>
          </a:solidFill>
          <a:ln w="9525" cap="flat" cmpd="sng">
            <a:solidFill>
              <a:srgbClr val="1B516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2" name="Google Shape;1369;p163">
            <a:extLst>
              <a:ext uri="{FF2B5EF4-FFF2-40B4-BE49-F238E27FC236}">
                <a16:creationId xmlns:a16="http://schemas.microsoft.com/office/drawing/2014/main" id="{58911257-1EFF-5388-A756-FA6126BB9B64}"/>
              </a:ext>
            </a:extLst>
          </p:cNvPr>
          <p:cNvSpPr/>
          <p:nvPr/>
        </p:nvSpPr>
        <p:spPr>
          <a:xfrm>
            <a:off x="9488885" y="4315824"/>
            <a:ext cx="759850" cy="365087"/>
          </a:xfrm>
          <a:prstGeom prst="chevron">
            <a:avLst>
              <a:gd name="adj" fmla="val 50000"/>
            </a:avLst>
          </a:prstGeom>
          <a:solidFill>
            <a:srgbClr val="EFEFEF"/>
          </a:solidFill>
          <a:ln w="9525" cap="flat" cmpd="sng">
            <a:solidFill>
              <a:srgbClr val="1B516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23" name="Google Shape;1370;p163">
            <a:extLst>
              <a:ext uri="{FF2B5EF4-FFF2-40B4-BE49-F238E27FC236}">
                <a16:creationId xmlns:a16="http://schemas.microsoft.com/office/drawing/2014/main" id="{00241FA5-97C1-E1B1-B8E7-0140331519B9}"/>
              </a:ext>
            </a:extLst>
          </p:cNvPr>
          <p:cNvCxnSpPr>
            <a:stCxn id="8" idx="0"/>
            <a:endCxn id="44" idx="2"/>
          </p:cNvCxnSpPr>
          <p:nvPr/>
        </p:nvCxnSpPr>
        <p:spPr>
          <a:xfrm rot="5400000" flipH="1" flipV="1">
            <a:off x="1981351" y="3729212"/>
            <a:ext cx="666043" cy="507182"/>
          </a:xfrm>
          <a:prstGeom prst="curvedConnector3">
            <a:avLst>
              <a:gd name="adj1" fmla="val 50000"/>
            </a:avLst>
          </a:prstGeom>
          <a:noFill/>
          <a:ln w="19050" cap="flat" cmpd="sng">
            <a:solidFill>
              <a:srgbClr val="1B5162"/>
            </a:solidFill>
            <a:prstDash val="dash"/>
            <a:round/>
            <a:headEnd type="none" w="med" len="med"/>
            <a:tailEnd type="triangle" w="med" len="med"/>
          </a:ln>
        </p:spPr>
      </p:cxnSp>
      <p:cxnSp>
        <p:nvCxnSpPr>
          <p:cNvPr id="24" name="Google Shape;1372;p163">
            <a:extLst>
              <a:ext uri="{FF2B5EF4-FFF2-40B4-BE49-F238E27FC236}">
                <a16:creationId xmlns:a16="http://schemas.microsoft.com/office/drawing/2014/main" id="{CCDFA51A-9FEB-E1E3-056C-68AFB425BE5C}"/>
              </a:ext>
            </a:extLst>
          </p:cNvPr>
          <p:cNvCxnSpPr>
            <a:stCxn id="9" idx="0"/>
            <a:endCxn id="45" idx="2"/>
          </p:cNvCxnSpPr>
          <p:nvPr/>
        </p:nvCxnSpPr>
        <p:spPr>
          <a:xfrm rot="16200000" flipV="1">
            <a:off x="2426654" y="3981115"/>
            <a:ext cx="666043" cy="3375"/>
          </a:xfrm>
          <a:prstGeom prst="curvedConnector3">
            <a:avLst>
              <a:gd name="adj1" fmla="val 50000"/>
            </a:avLst>
          </a:prstGeom>
          <a:noFill/>
          <a:ln w="19050" cap="flat" cmpd="sng">
            <a:solidFill>
              <a:srgbClr val="1B5162"/>
            </a:solidFill>
            <a:prstDash val="dash"/>
            <a:round/>
            <a:headEnd type="none" w="med" len="med"/>
            <a:tailEnd type="triangle" w="med" len="med"/>
          </a:ln>
        </p:spPr>
      </p:cxnSp>
      <p:cxnSp>
        <p:nvCxnSpPr>
          <p:cNvPr id="25" name="Google Shape;1374;p163">
            <a:extLst>
              <a:ext uri="{FF2B5EF4-FFF2-40B4-BE49-F238E27FC236}">
                <a16:creationId xmlns:a16="http://schemas.microsoft.com/office/drawing/2014/main" id="{36A060A5-BBED-40DB-51B8-903E356757B3}"/>
              </a:ext>
            </a:extLst>
          </p:cNvPr>
          <p:cNvCxnSpPr>
            <a:stCxn id="13" idx="0"/>
            <a:endCxn id="46" idx="2"/>
          </p:cNvCxnSpPr>
          <p:nvPr/>
        </p:nvCxnSpPr>
        <p:spPr>
          <a:xfrm rot="16200000" flipV="1">
            <a:off x="2871957" y="3725837"/>
            <a:ext cx="666043" cy="513931"/>
          </a:xfrm>
          <a:prstGeom prst="curvedConnector3">
            <a:avLst>
              <a:gd name="adj1" fmla="val 50000"/>
            </a:avLst>
          </a:prstGeom>
          <a:noFill/>
          <a:ln w="19050" cap="flat" cmpd="sng">
            <a:solidFill>
              <a:srgbClr val="1B5162"/>
            </a:solidFill>
            <a:prstDash val="dash"/>
            <a:round/>
            <a:headEnd type="none" w="med" len="med"/>
            <a:tailEnd type="triangle" w="med" len="med"/>
          </a:ln>
        </p:spPr>
      </p:cxnSp>
      <p:cxnSp>
        <p:nvCxnSpPr>
          <p:cNvPr id="26" name="Google Shape;1376;p163">
            <a:extLst>
              <a:ext uri="{FF2B5EF4-FFF2-40B4-BE49-F238E27FC236}">
                <a16:creationId xmlns:a16="http://schemas.microsoft.com/office/drawing/2014/main" id="{83DE83AA-25D8-A14F-1B2A-F1E39CEB3F4E}"/>
              </a:ext>
            </a:extLst>
          </p:cNvPr>
          <p:cNvCxnSpPr>
            <a:stCxn id="20" idx="0"/>
            <a:endCxn id="49" idx="2"/>
          </p:cNvCxnSpPr>
          <p:nvPr/>
        </p:nvCxnSpPr>
        <p:spPr>
          <a:xfrm rot="5400000" flipH="1" flipV="1">
            <a:off x="8299645" y="3726513"/>
            <a:ext cx="666043" cy="512580"/>
          </a:xfrm>
          <a:prstGeom prst="curvedConnector3">
            <a:avLst>
              <a:gd name="adj1" fmla="val 50000"/>
            </a:avLst>
          </a:prstGeom>
          <a:noFill/>
          <a:ln w="19050" cap="flat" cmpd="sng">
            <a:solidFill>
              <a:srgbClr val="1B5162"/>
            </a:solidFill>
            <a:prstDash val="dash"/>
            <a:round/>
            <a:headEnd type="none" w="med" len="med"/>
            <a:tailEnd type="triangle" w="med" len="med"/>
          </a:ln>
        </p:spPr>
      </p:cxnSp>
      <p:cxnSp>
        <p:nvCxnSpPr>
          <p:cNvPr id="27" name="Google Shape;1378;p163">
            <a:extLst>
              <a:ext uri="{FF2B5EF4-FFF2-40B4-BE49-F238E27FC236}">
                <a16:creationId xmlns:a16="http://schemas.microsoft.com/office/drawing/2014/main" id="{75B10346-5D89-88BF-3B13-3D5D7C772C9D}"/>
              </a:ext>
            </a:extLst>
          </p:cNvPr>
          <p:cNvCxnSpPr>
            <a:stCxn id="21" idx="0"/>
            <a:endCxn id="50" idx="2"/>
          </p:cNvCxnSpPr>
          <p:nvPr/>
        </p:nvCxnSpPr>
        <p:spPr>
          <a:xfrm rot="5400000" flipH="1" flipV="1">
            <a:off x="8744948" y="3981791"/>
            <a:ext cx="666043" cy="2024"/>
          </a:xfrm>
          <a:prstGeom prst="curvedConnector3">
            <a:avLst>
              <a:gd name="adj1" fmla="val 50000"/>
            </a:avLst>
          </a:prstGeom>
          <a:noFill/>
          <a:ln w="19050" cap="flat" cmpd="sng">
            <a:solidFill>
              <a:srgbClr val="1B5162"/>
            </a:solidFill>
            <a:prstDash val="dash"/>
            <a:round/>
            <a:headEnd type="none" w="med" len="med"/>
            <a:tailEnd type="triangle" w="med" len="med"/>
          </a:ln>
        </p:spPr>
      </p:cxnSp>
      <p:cxnSp>
        <p:nvCxnSpPr>
          <p:cNvPr id="28" name="Google Shape;1380;p163">
            <a:extLst>
              <a:ext uri="{FF2B5EF4-FFF2-40B4-BE49-F238E27FC236}">
                <a16:creationId xmlns:a16="http://schemas.microsoft.com/office/drawing/2014/main" id="{4D8D4AC2-7866-AB10-E227-32D2F5D028EC}"/>
              </a:ext>
            </a:extLst>
          </p:cNvPr>
          <p:cNvCxnSpPr>
            <a:stCxn id="22" idx="0"/>
            <a:endCxn id="51" idx="2"/>
          </p:cNvCxnSpPr>
          <p:nvPr/>
        </p:nvCxnSpPr>
        <p:spPr>
          <a:xfrm rot="16200000" flipV="1">
            <a:off x="9190251" y="3728537"/>
            <a:ext cx="666043" cy="508532"/>
          </a:xfrm>
          <a:prstGeom prst="curvedConnector3">
            <a:avLst>
              <a:gd name="adj1" fmla="val 50000"/>
            </a:avLst>
          </a:prstGeom>
          <a:noFill/>
          <a:ln w="19050" cap="flat" cmpd="sng">
            <a:solidFill>
              <a:srgbClr val="1B5162"/>
            </a:solidFill>
            <a:prstDash val="dash"/>
            <a:round/>
            <a:headEnd type="none" w="med" len="med"/>
            <a:tailEnd type="triangle" w="med" len="med"/>
          </a:ln>
        </p:spPr>
      </p:cxnSp>
      <p:sp>
        <p:nvSpPr>
          <p:cNvPr id="29" name="Google Shape;1393;p163">
            <a:extLst>
              <a:ext uri="{FF2B5EF4-FFF2-40B4-BE49-F238E27FC236}">
                <a16:creationId xmlns:a16="http://schemas.microsoft.com/office/drawing/2014/main" id="{13A197D0-F552-B9E4-0C34-67EA71B741C4}"/>
              </a:ext>
            </a:extLst>
          </p:cNvPr>
          <p:cNvSpPr txBox="1"/>
          <p:nvPr/>
        </p:nvSpPr>
        <p:spPr>
          <a:xfrm>
            <a:off x="1634320" y="4221383"/>
            <a:ext cx="925005" cy="553968"/>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DM Sans"/>
                <a:ea typeface="DM Sans"/>
                <a:cs typeface="DM Sans"/>
                <a:sym typeface="DM Sans"/>
              </a:rPr>
              <a:t>E2E Pipeline</a:t>
            </a:r>
            <a:endParaRPr kumimoji="0" sz="1200" b="0" i="0" u="none" strike="noStrike" kern="0" cap="none" spc="0" normalizeH="0" baseline="0" noProof="0">
              <a:ln>
                <a:noFill/>
              </a:ln>
              <a:solidFill>
                <a:srgbClr val="000000"/>
              </a:solidFill>
              <a:effectLst/>
              <a:uLnTx/>
              <a:uFillTx/>
              <a:latin typeface="DM Sans"/>
              <a:ea typeface="DM Sans"/>
              <a:cs typeface="DM Sans"/>
              <a:sym typeface="DM Sans"/>
            </a:endParaRPr>
          </a:p>
        </p:txBody>
      </p:sp>
      <p:sp>
        <p:nvSpPr>
          <p:cNvPr id="30" name="Google Shape;1394;p163">
            <a:extLst>
              <a:ext uri="{FF2B5EF4-FFF2-40B4-BE49-F238E27FC236}">
                <a16:creationId xmlns:a16="http://schemas.microsoft.com/office/drawing/2014/main" id="{BE5F897A-4772-BE17-02FF-7CBDE19C69A6}"/>
              </a:ext>
            </a:extLst>
          </p:cNvPr>
          <p:cNvSpPr txBox="1"/>
          <p:nvPr/>
        </p:nvSpPr>
        <p:spPr>
          <a:xfrm>
            <a:off x="2252841" y="5763477"/>
            <a:ext cx="2358851" cy="477023"/>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r>
              <a:rPr kumimoji="0" lang="en" sz="1400" b="0" i="0" u="none" strike="noStrike" kern="0" cap="none" spc="0" normalizeH="0" baseline="0" noProof="0">
                <a:ln>
                  <a:noFill/>
                </a:ln>
                <a:solidFill>
                  <a:srgbClr val="1B3139"/>
                </a:solidFill>
                <a:effectLst/>
                <a:uLnTx/>
                <a:uFillTx/>
                <a:latin typeface="DM Sans Medium"/>
                <a:ea typeface="DM Sans Medium"/>
                <a:cs typeface="DM Sans Medium"/>
                <a:sym typeface="DM Sans Medium"/>
              </a:rPr>
              <a:t>Lineage information flow:</a:t>
            </a:r>
            <a:endParaRPr kumimoji="0" sz="1400" b="0" i="0" u="none" strike="noStrike" kern="0" cap="none" spc="0" normalizeH="0" baseline="0" noProof="0">
              <a:ln>
                <a:noFill/>
              </a:ln>
              <a:solidFill>
                <a:srgbClr val="1B3139"/>
              </a:solidFill>
              <a:effectLst/>
              <a:uLnTx/>
              <a:uFillTx/>
              <a:latin typeface="DM Sans"/>
              <a:ea typeface="DM Sans"/>
              <a:cs typeface="DM Sans"/>
              <a:sym typeface="DM Sans"/>
            </a:endParaRPr>
          </a:p>
        </p:txBody>
      </p:sp>
      <p:cxnSp>
        <p:nvCxnSpPr>
          <p:cNvPr id="31" name="Google Shape;1395;p163">
            <a:extLst>
              <a:ext uri="{FF2B5EF4-FFF2-40B4-BE49-F238E27FC236}">
                <a16:creationId xmlns:a16="http://schemas.microsoft.com/office/drawing/2014/main" id="{57BA6F02-57B0-4605-47A2-A9F68B2430CA}"/>
              </a:ext>
            </a:extLst>
          </p:cNvPr>
          <p:cNvCxnSpPr/>
          <p:nvPr/>
        </p:nvCxnSpPr>
        <p:spPr>
          <a:xfrm rot="10800000" flipH="1">
            <a:off x="4354678" y="5793760"/>
            <a:ext cx="455860" cy="99501"/>
          </a:xfrm>
          <a:prstGeom prst="curvedConnector3">
            <a:avLst>
              <a:gd name="adj1" fmla="val 50000"/>
            </a:avLst>
          </a:prstGeom>
          <a:noFill/>
          <a:ln w="9525" cap="flat" cmpd="sng">
            <a:solidFill>
              <a:srgbClr val="1B5162"/>
            </a:solidFill>
            <a:prstDash val="dash"/>
            <a:round/>
            <a:headEnd type="none" w="med" len="med"/>
            <a:tailEnd type="triangle" w="med" len="med"/>
          </a:ln>
        </p:spPr>
      </p:cxnSp>
      <p:sp>
        <p:nvSpPr>
          <p:cNvPr id="32" name="Google Shape;1396;p163">
            <a:extLst>
              <a:ext uri="{FF2B5EF4-FFF2-40B4-BE49-F238E27FC236}">
                <a16:creationId xmlns:a16="http://schemas.microsoft.com/office/drawing/2014/main" id="{93007F8D-36C3-C159-44C0-1C8961B6A02A}"/>
              </a:ext>
            </a:extLst>
          </p:cNvPr>
          <p:cNvSpPr/>
          <p:nvPr/>
        </p:nvSpPr>
        <p:spPr>
          <a:xfrm>
            <a:off x="1769358" y="1917779"/>
            <a:ext cx="8311858" cy="485037"/>
          </a:xfrm>
          <a:prstGeom prst="rect">
            <a:avLst/>
          </a:prstGeom>
          <a:solidFill>
            <a:srgbClr val="FFFFFF"/>
          </a:solidFill>
          <a:ln w="19050" cap="flat" cmpd="sng">
            <a:solidFill>
              <a:srgbClr val="00A97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1B3139"/>
                </a:solidFill>
                <a:effectLst/>
                <a:uLnTx/>
                <a:uFillTx/>
                <a:latin typeface="DM Sans"/>
                <a:ea typeface="DM Sans"/>
                <a:cs typeface="DM Sans"/>
                <a:sym typeface="DM Sans"/>
              </a:rPr>
              <a:t>Data Marketplace</a:t>
            </a:r>
            <a:endParaRPr kumimoji="0" sz="1600" b="0" i="0" u="none" strike="noStrike" kern="0" cap="none" spc="0" normalizeH="0" baseline="0" noProof="0">
              <a:ln>
                <a:noFill/>
              </a:ln>
              <a:solidFill>
                <a:srgbClr val="1B3139"/>
              </a:solidFill>
              <a:effectLst/>
              <a:uLnTx/>
              <a:uFillTx/>
              <a:latin typeface="DM Sans"/>
              <a:ea typeface="DM Sans"/>
              <a:cs typeface="DM Sans"/>
              <a:sym typeface="DM Sans"/>
            </a:endParaRPr>
          </a:p>
        </p:txBody>
      </p:sp>
      <p:sp>
        <p:nvSpPr>
          <p:cNvPr id="33" name="Google Shape;1397;p163">
            <a:extLst>
              <a:ext uri="{FF2B5EF4-FFF2-40B4-BE49-F238E27FC236}">
                <a16:creationId xmlns:a16="http://schemas.microsoft.com/office/drawing/2014/main" id="{915F6922-EF1E-4599-B127-4C55886B2965}"/>
              </a:ext>
            </a:extLst>
          </p:cNvPr>
          <p:cNvSpPr/>
          <p:nvPr/>
        </p:nvSpPr>
        <p:spPr>
          <a:xfrm>
            <a:off x="3501097" y="2271935"/>
            <a:ext cx="198254" cy="122444"/>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A972"/>
              </a:solidFill>
              <a:effectLst/>
              <a:uLnTx/>
              <a:uFillTx/>
              <a:latin typeface="Arial"/>
              <a:ea typeface="+mn-ea"/>
              <a:cs typeface="Arial"/>
              <a:sym typeface="Arial"/>
            </a:endParaRPr>
          </a:p>
        </p:txBody>
      </p:sp>
      <p:sp>
        <p:nvSpPr>
          <p:cNvPr id="34" name="Google Shape;1398;p163">
            <a:extLst>
              <a:ext uri="{FF2B5EF4-FFF2-40B4-BE49-F238E27FC236}">
                <a16:creationId xmlns:a16="http://schemas.microsoft.com/office/drawing/2014/main" id="{78083380-5275-B0BF-0F9D-CD9551EADA21}"/>
              </a:ext>
            </a:extLst>
          </p:cNvPr>
          <p:cNvSpPr/>
          <p:nvPr/>
        </p:nvSpPr>
        <p:spPr>
          <a:xfrm>
            <a:off x="6478426" y="2271935"/>
            <a:ext cx="198254" cy="122444"/>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A972"/>
              </a:solidFill>
              <a:effectLst/>
              <a:uLnTx/>
              <a:uFillTx/>
              <a:latin typeface="Arial"/>
              <a:ea typeface="+mn-ea"/>
              <a:cs typeface="Arial"/>
              <a:sym typeface="Arial"/>
            </a:endParaRPr>
          </a:p>
        </p:txBody>
      </p:sp>
      <p:sp>
        <p:nvSpPr>
          <p:cNvPr id="35" name="Google Shape;1399;p163">
            <a:extLst>
              <a:ext uri="{FF2B5EF4-FFF2-40B4-BE49-F238E27FC236}">
                <a16:creationId xmlns:a16="http://schemas.microsoft.com/office/drawing/2014/main" id="{6A26C130-D531-2994-49F2-E2D861D7AE59}"/>
              </a:ext>
            </a:extLst>
          </p:cNvPr>
          <p:cNvSpPr/>
          <p:nvPr/>
        </p:nvSpPr>
        <p:spPr>
          <a:xfrm>
            <a:off x="9582178" y="2271935"/>
            <a:ext cx="198254" cy="122444"/>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A972"/>
              </a:solidFill>
              <a:effectLst/>
              <a:uLnTx/>
              <a:uFillTx/>
              <a:latin typeface="Arial"/>
              <a:ea typeface="+mn-ea"/>
              <a:cs typeface="Arial"/>
              <a:sym typeface="Arial"/>
            </a:endParaRPr>
          </a:p>
        </p:txBody>
      </p:sp>
      <p:cxnSp>
        <p:nvCxnSpPr>
          <p:cNvPr id="36" name="Google Shape;1400;p163">
            <a:extLst>
              <a:ext uri="{FF2B5EF4-FFF2-40B4-BE49-F238E27FC236}">
                <a16:creationId xmlns:a16="http://schemas.microsoft.com/office/drawing/2014/main" id="{1154B239-C686-E6E4-69F5-378CCCAB60DC}"/>
              </a:ext>
            </a:extLst>
          </p:cNvPr>
          <p:cNvCxnSpPr>
            <a:cxnSpLocks/>
          </p:cNvCxnSpPr>
          <p:nvPr/>
        </p:nvCxnSpPr>
        <p:spPr>
          <a:xfrm rot="16200000">
            <a:off x="3034034" y="2710893"/>
            <a:ext cx="677556" cy="499"/>
          </a:xfrm>
          <a:prstGeom prst="bentConnector3">
            <a:avLst>
              <a:gd name="adj1" fmla="val 49998"/>
            </a:avLst>
          </a:prstGeom>
          <a:noFill/>
          <a:ln w="28575" cap="flat" cmpd="sng">
            <a:solidFill>
              <a:srgbClr val="00A972"/>
            </a:solidFill>
            <a:prstDash val="solid"/>
            <a:round/>
            <a:headEnd type="none" w="med" len="med"/>
            <a:tailEnd type="triangle" w="med" len="med"/>
          </a:ln>
        </p:spPr>
      </p:cxnSp>
      <p:cxnSp>
        <p:nvCxnSpPr>
          <p:cNvPr id="37" name="Google Shape;1402;p163">
            <a:extLst>
              <a:ext uri="{FF2B5EF4-FFF2-40B4-BE49-F238E27FC236}">
                <a16:creationId xmlns:a16="http://schemas.microsoft.com/office/drawing/2014/main" id="{BD12D692-DCDE-4869-4558-A5BFF3B10C8C}"/>
              </a:ext>
            </a:extLst>
          </p:cNvPr>
          <p:cNvCxnSpPr>
            <a:cxnSpLocks/>
          </p:cNvCxnSpPr>
          <p:nvPr/>
        </p:nvCxnSpPr>
        <p:spPr>
          <a:xfrm rot="16200000">
            <a:off x="7251526" y="2740226"/>
            <a:ext cx="677556" cy="499"/>
          </a:xfrm>
          <a:prstGeom prst="bentConnector3">
            <a:avLst>
              <a:gd name="adj1" fmla="val 49998"/>
            </a:avLst>
          </a:prstGeom>
          <a:noFill/>
          <a:ln w="28575" cap="flat" cmpd="sng">
            <a:solidFill>
              <a:srgbClr val="00A972"/>
            </a:solidFill>
            <a:prstDash val="solid"/>
            <a:round/>
            <a:headEnd type="none" w="med" len="med"/>
            <a:tailEnd type="triangle" w="med" len="med"/>
          </a:ln>
        </p:spPr>
      </p:cxnSp>
      <p:cxnSp>
        <p:nvCxnSpPr>
          <p:cNvPr id="38" name="Google Shape;1404;p163">
            <a:extLst>
              <a:ext uri="{FF2B5EF4-FFF2-40B4-BE49-F238E27FC236}">
                <a16:creationId xmlns:a16="http://schemas.microsoft.com/office/drawing/2014/main" id="{A9A19ECD-304C-A6EE-E29B-533130F2D9BB}"/>
              </a:ext>
            </a:extLst>
          </p:cNvPr>
          <p:cNvCxnSpPr>
            <a:stCxn id="61" idx="0"/>
            <a:endCxn id="35" idx="2"/>
          </p:cNvCxnSpPr>
          <p:nvPr/>
        </p:nvCxnSpPr>
        <p:spPr>
          <a:xfrm rot="16200000">
            <a:off x="9342776" y="2732887"/>
            <a:ext cx="677556" cy="499"/>
          </a:xfrm>
          <a:prstGeom prst="bentConnector3">
            <a:avLst>
              <a:gd name="adj1" fmla="val 49998"/>
            </a:avLst>
          </a:prstGeom>
          <a:noFill/>
          <a:ln w="28575" cap="flat" cmpd="sng">
            <a:solidFill>
              <a:srgbClr val="00A972"/>
            </a:solidFill>
            <a:prstDash val="solid"/>
            <a:round/>
            <a:headEnd type="none" w="med" len="med"/>
            <a:tailEnd type="triangle" w="med" len="med"/>
          </a:ln>
        </p:spPr>
      </p:cxnSp>
      <p:cxnSp>
        <p:nvCxnSpPr>
          <p:cNvPr id="39" name="Google Shape;1406;p163">
            <a:extLst>
              <a:ext uri="{FF2B5EF4-FFF2-40B4-BE49-F238E27FC236}">
                <a16:creationId xmlns:a16="http://schemas.microsoft.com/office/drawing/2014/main" id="{8C2697E8-D611-5406-7C8F-EECB83E59F25}"/>
              </a:ext>
            </a:extLst>
          </p:cNvPr>
          <p:cNvCxnSpPr/>
          <p:nvPr/>
        </p:nvCxnSpPr>
        <p:spPr>
          <a:xfrm>
            <a:off x="4355426" y="6036940"/>
            <a:ext cx="442892" cy="93766"/>
          </a:xfrm>
          <a:prstGeom prst="curvedConnector3">
            <a:avLst>
              <a:gd name="adj1" fmla="val 50000"/>
            </a:avLst>
          </a:prstGeom>
          <a:noFill/>
          <a:ln w="19050" cap="flat" cmpd="sng">
            <a:solidFill>
              <a:srgbClr val="00A972"/>
            </a:solidFill>
            <a:prstDash val="solid"/>
            <a:round/>
            <a:headEnd type="none" w="med" len="med"/>
            <a:tailEnd type="triangle" w="med" len="med"/>
          </a:ln>
        </p:spPr>
      </p:cxnSp>
      <p:sp>
        <p:nvSpPr>
          <p:cNvPr id="40" name="Google Shape;1407;p163">
            <a:extLst>
              <a:ext uri="{FF2B5EF4-FFF2-40B4-BE49-F238E27FC236}">
                <a16:creationId xmlns:a16="http://schemas.microsoft.com/office/drawing/2014/main" id="{5530599D-E601-F12D-4B20-9A26F1C1BC29}"/>
              </a:ext>
            </a:extLst>
          </p:cNvPr>
          <p:cNvSpPr txBox="1"/>
          <p:nvPr/>
        </p:nvSpPr>
        <p:spPr>
          <a:xfrm>
            <a:off x="4822998" y="5649579"/>
            <a:ext cx="5122538" cy="477023"/>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r>
              <a:rPr kumimoji="0" lang="en" sz="1400" b="0" i="0" u="none" strike="noStrike" kern="0" cap="none" spc="0" normalizeH="0" baseline="0" noProof="0">
                <a:ln>
                  <a:noFill/>
                </a:ln>
                <a:solidFill>
                  <a:srgbClr val="1B3139"/>
                </a:solidFill>
                <a:effectLst/>
                <a:uLnTx/>
                <a:uFillTx/>
                <a:latin typeface="DM Sans"/>
                <a:ea typeface="DM Sans"/>
                <a:cs typeface="DM Sans"/>
                <a:sym typeface="DM Sans"/>
              </a:rPr>
              <a:t>Pipeline step sending lineage to domain’s catalog (e.g. UC)</a:t>
            </a:r>
            <a:endParaRPr kumimoji="0" sz="1400" b="0" i="0" u="none" strike="noStrike" kern="0" cap="none" spc="0" normalizeH="0" baseline="0" noProof="0">
              <a:ln>
                <a:noFill/>
              </a:ln>
              <a:solidFill>
                <a:srgbClr val="1B3139"/>
              </a:solidFill>
              <a:effectLst/>
              <a:uLnTx/>
              <a:uFillTx/>
              <a:latin typeface="DM Sans"/>
              <a:ea typeface="DM Sans"/>
              <a:cs typeface="DM Sans"/>
              <a:sym typeface="DM Sans"/>
            </a:endParaRPr>
          </a:p>
        </p:txBody>
      </p:sp>
      <p:sp>
        <p:nvSpPr>
          <p:cNvPr id="41" name="Google Shape;1408;p163">
            <a:extLst>
              <a:ext uri="{FF2B5EF4-FFF2-40B4-BE49-F238E27FC236}">
                <a16:creationId xmlns:a16="http://schemas.microsoft.com/office/drawing/2014/main" id="{28064FAF-5040-831E-A4A7-E5187C79DA0C}"/>
              </a:ext>
            </a:extLst>
          </p:cNvPr>
          <p:cNvSpPr txBox="1"/>
          <p:nvPr/>
        </p:nvSpPr>
        <p:spPr>
          <a:xfrm>
            <a:off x="4835218" y="5889655"/>
            <a:ext cx="4474062" cy="477023"/>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r>
              <a:rPr kumimoji="0" lang="en" sz="1400" b="0" i="0" u="none" strike="noStrike" kern="0" cap="none" spc="0" normalizeH="0" baseline="0" noProof="0">
                <a:ln>
                  <a:noFill/>
                </a:ln>
                <a:solidFill>
                  <a:srgbClr val="1B3139"/>
                </a:solidFill>
                <a:effectLst/>
                <a:uLnTx/>
                <a:uFillTx/>
                <a:latin typeface="DM Sans"/>
                <a:ea typeface="DM Sans"/>
                <a:cs typeface="DM Sans"/>
                <a:sym typeface="DM Sans"/>
              </a:rPr>
              <a:t>Domain’s catalog to global catalog of catalogs</a:t>
            </a:r>
            <a:endParaRPr kumimoji="0" sz="1400" b="0" i="0" u="none" strike="noStrike" kern="0" cap="none" spc="0" normalizeH="0" baseline="0" noProof="0">
              <a:ln>
                <a:noFill/>
              </a:ln>
              <a:solidFill>
                <a:srgbClr val="1B3139"/>
              </a:solidFill>
              <a:effectLst/>
              <a:uLnTx/>
              <a:uFillTx/>
              <a:latin typeface="DM Sans"/>
              <a:ea typeface="DM Sans"/>
              <a:cs typeface="DM Sans"/>
              <a:sym typeface="DM Sans"/>
            </a:endParaRPr>
          </a:p>
        </p:txBody>
      </p:sp>
      <p:grpSp>
        <p:nvGrpSpPr>
          <p:cNvPr id="42" name="Google Shape;1410;p163">
            <a:extLst>
              <a:ext uri="{FF2B5EF4-FFF2-40B4-BE49-F238E27FC236}">
                <a16:creationId xmlns:a16="http://schemas.microsoft.com/office/drawing/2014/main" id="{5407AD17-2069-0AC2-18D4-49E60A400F59}"/>
              </a:ext>
            </a:extLst>
          </p:cNvPr>
          <p:cNvGrpSpPr/>
          <p:nvPr/>
        </p:nvGrpSpPr>
        <p:grpSpPr>
          <a:xfrm>
            <a:off x="2047368" y="3071914"/>
            <a:ext cx="1479051" cy="586533"/>
            <a:chOff x="2102100" y="2785375"/>
            <a:chExt cx="1779300" cy="705600"/>
          </a:xfrm>
        </p:grpSpPr>
        <p:sp>
          <p:nvSpPr>
            <p:cNvPr id="43" name="Google Shape;1411;p163">
              <a:extLst>
                <a:ext uri="{FF2B5EF4-FFF2-40B4-BE49-F238E27FC236}">
                  <a16:creationId xmlns:a16="http://schemas.microsoft.com/office/drawing/2014/main" id="{AAB99079-2FB3-3052-D098-455D0356E764}"/>
                </a:ext>
              </a:extLst>
            </p:cNvPr>
            <p:cNvSpPr/>
            <p:nvPr/>
          </p:nvSpPr>
          <p:spPr>
            <a:xfrm>
              <a:off x="2102100" y="2785375"/>
              <a:ext cx="1779300" cy="705600"/>
            </a:xfrm>
            <a:prstGeom prst="roundRect">
              <a:avLst>
                <a:gd name="adj" fmla="val 16667"/>
              </a:avLst>
            </a:prstGeom>
            <a:solidFill>
              <a:srgbClr val="FFFFFF"/>
            </a:solidFill>
            <a:ln w="19050" cap="flat" cmpd="sng">
              <a:solidFill>
                <a:srgbClr val="1B516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1B5162"/>
                  </a:solidFill>
                  <a:effectLst/>
                  <a:uLnTx/>
                  <a:uFillTx/>
                  <a:latin typeface="DM Sans Medium"/>
                  <a:ea typeface="DM Sans Medium"/>
                  <a:cs typeface="DM Sans Medium"/>
                  <a:sym typeface="DM Sans Medium"/>
                </a:rPr>
                <a:t>Catalog X</a:t>
              </a:r>
              <a:endParaRPr kumimoji="0" sz="1400" b="0" i="0" u="none" strike="noStrike" kern="0" cap="none" spc="0" normalizeH="0" baseline="0" noProof="0">
                <a:ln>
                  <a:noFill/>
                </a:ln>
                <a:solidFill>
                  <a:srgbClr val="1B5162"/>
                </a:solidFill>
                <a:effectLst/>
                <a:uLnTx/>
                <a:uFillTx/>
                <a:latin typeface="DM Sans"/>
                <a:ea typeface="DM Sans"/>
                <a:cs typeface="DM Sans"/>
                <a:sym typeface="DM Sans"/>
              </a:endParaRPr>
            </a:p>
          </p:txBody>
        </p:sp>
        <p:sp>
          <p:nvSpPr>
            <p:cNvPr id="44" name="Google Shape;1371;p163">
              <a:extLst>
                <a:ext uri="{FF2B5EF4-FFF2-40B4-BE49-F238E27FC236}">
                  <a16:creationId xmlns:a16="http://schemas.microsoft.com/office/drawing/2014/main" id="{BB4F6C2D-6F87-DFE2-2C1A-694CCE5C9BD7}"/>
                </a:ext>
              </a:extLst>
            </p:cNvPr>
            <p:cNvSpPr/>
            <p:nvPr/>
          </p:nvSpPr>
          <p:spPr>
            <a:xfrm>
              <a:off x="2679925"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5" name="Google Shape;1373;p163">
              <a:extLst>
                <a:ext uri="{FF2B5EF4-FFF2-40B4-BE49-F238E27FC236}">
                  <a16:creationId xmlns:a16="http://schemas.microsoft.com/office/drawing/2014/main" id="{44D08952-AB79-6742-6E83-E9E9EFCAE2ED}"/>
                </a:ext>
              </a:extLst>
            </p:cNvPr>
            <p:cNvSpPr/>
            <p:nvPr/>
          </p:nvSpPr>
          <p:spPr>
            <a:xfrm>
              <a:off x="2908525"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6" name="Google Shape;1375;p163">
              <a:extLst>
                <a:ext uri="{FF2B5EF4-FFF2-40B4-BE49-F238E27FC236}">
                  <a16:creationId xmlns:a16="http://schemas.microsoft.com/office/drawing/2014/main" id="{BF44CED9-8EC7-5F4F-9DD1-7D002D58491C}"/>
                </a:ext>
              </a:extLst>
            </p:cNvPr>
            <p:cNvSpPr/>
            <p:nvPr/>
          </p:nvSpPr>
          <p:spPr>
            <a:xfrm>
              <a:off x="3137125"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47" name="Google Shape;1412;p163">
            <a:extLst>
              <a:ext uri="{FF2B5EF4-FFF2-40B4-BE49-F238E27FC236}">
                <a16:creationId xmlns:a16="http://schemas.microsoft.com/office/drawing/2014/main" id="{0564FE18-1422-16BE-0996-0C0724124575}"/>
              </a:ext>
            </a:extLst>
          </p:cNvPr>
          <p:cNvGrpSpPr/>
          <p:nvPr/>
        </p:nvGrpSpPr>
        <p:grpSpPr>
          <a:xfrm>
            <a:off x="8341522" y="3071914"/>
            <a:ext cx="1479051" cy="586533"/>
            <a:chOff x="9417300" y="2785375"/>
            <a:chExt cx="1779300" cy="705600"/>
          </a:xfrm>
        </p:grpSpPr>
        <p:sp>
          <p:nvSpPr>
            <p:cNvPr id="48" name="Google Shape;1413;p163">
              <a:extLst>
                <a:ext uri="{FF2B5EF4-FFF2-40B4-BE49-F238E27FC236}">
                  <a16:creationId xmlns:a16="http://schemas.microsoft.com/office/drawing/2014/main" id="{953733B2-1395-6915-D202-73A16DBB08DF}"/>
                </a:ext>
              </a:extLst>
            </p:cNvPr>
            <p:cNvSpPr/>
            <p:nvPr/>
          </p:nvSpPr>
          <p:spPr>
            <a:xfrm>
              <a:off x="9417300" y="2785375"/>
              <a:ext cx="1779300" cy="705600"/>
            </a:xfrm>
            <a:prstGeom prst="roundRect">
              <a:avLst>
                <a:gd name="adj" fmla="val 16667"/>
              </a:avLst>
            </a:prstGeom>
            <a:solidFill>
              <a:srgbClr val="FFFFFF"/>
            </a:solidFill>
            <a:ln w="19050" cap="flat" cmpd="sng">
              <a:solidFill>
                <a:srgbClr val="1B516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1B5162"/>
                  </a:solidFill>
                  <a:effectLst/>
                  <a:uLnTx/>
                  <a:uFillTx/>
                  <a:latin typeface="DM Sans Medium"/>
                  <a:ea typeface="DM Sans Medium"/>
                  <a:cs typeface="DM Sans Medium"/>
                  <a:sym typeface="DM Sans Medium"/>
                </a:rPr>
                <a:t>Catalog Y</a:t>
              </a:r>
              <a:endParaRPr kumimoji="0" sz="1400" b="0" i="0" u="none" strike="noStrike" kern="0" cap="none" spc="0" normalizeH="0" baseline="0" noProof="0">
                <a:ln>
                  <a:noFill/>
                </a:ln>
                <a:solidFill>
                  <a:srgbClr val="1B5162"/>
                </a:solidFill>
                <a:effectLst/>
                <a:uLnTx/>
                <a:uFillTx/>
                <a:latin typeface="DM Sans"/>
                <a:ea typeface="DM Sans"/>
                <a:cs typeface="DM Sans"/>
                <a:sym typeface="DM Sans"/>
              </a:endParaRPr>
            </a:p>
          </p:txBody>
        </p:sp>
        <p:sp>
          <p:nvSpPr>
            <p:cNvPr id="49" name="Google Shape;1377;p163">
              <a:extLst>
                <a:ext uri="{FF2B5EF4-FFF2-40B4-BE49-F238E27FC236}">
                  <a16:creationId xmlns:a16="http://schemas.microsoft.com/office/drawing/2014/main" id="{AE422145-2DD0-9174-DB66-F105E6B9323A}"/>
                </a:ext>
              </a:extLst>
            </p:cNvPr>
            <p:cNvSpPr/>
            <p:nvPr/>
          </p:nvSpPr>
          <p:spPr>
            <a:xfrm>
              <a:off x="10027413"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 name="Google Shape;1379;p163">
              <a:extLst>
                <a:ext uri="{FF2B5EF4-FFF2-40B4-BE49-F238E27FC236}">
                  <a16:creationId xmlns:a16="http://schemas.microsoft.com/office/drawing/2014/main" id="{2A57E334-6629-6EF4-3ECF-3DE85FB693EF}"/>
                </a:ext>
              </a:extLst>
            </p:cNvPr>
            <p:cNvSpPr/>
            <p:nvPr/>
          </p:nvSpPr>
          <p:spPr>
            <a:xfrm>
              <a:off x="10256013"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 name="Google Shape;1381;p163">
              <a:extLst>
                <a:ext uri="{FF2B5EF4-FFF2-40B4-BE49-F238E27FC236}">
                  <a16:creationId xmlns:a16="http://schemas.microsoft.com/office/drawing/2014/main" id="{2645C824-82DE-4116-DA2D-B16699230679}"/>
                </a:ext>
              </a:extLst>
            </p:cNvPr>
            <p:cNvSpPr/>
            <p:nvPr/>
          </p:nvSpPr>
          <p:spPr>
            <a:xfrm>
              <a:off x="10484613"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52" name="Google Shape;1414;p163">
            <a:extLst>
              <a:ext uri="{FF2B5EF4-FFF2-40B4-BE49-F238E27FC236}">
                <a16:creationId xmlns:a16="http://schemas.microsoft.com/office/drawing/2014/main" id="{DFC27EF5-D5FA-0A12-3992-FAD7ED0F1D7A}"/>
              </a:ext>
            </a:extLst>
          </p:cNvPr>
          <p:cNvGrpSpPr/>
          <p:nvPr/>
        </p:nvGrpSpPr>
        <p:grpSpPr>
          <a:xfrm>
            <a:off x="6133189" y="3071914"/>
            <a:ext cx="1589625" cy="586533"/>
            <a:chOff x="5683668" y="2785375"/>
            <a:chExt cx="1779300" cy="705600"/>
          </a:xfrm>
        </p:grpSpPr>
        <p:sp>
          <p:nvSpPr>
            <p:cNvPr id="53" name="Google Shape;1415;p163">
              <a:extLst>
                <a:ext uri="{FF2B5EF4-FFF2-40B4-BE49-F238E27FC236}">
                  <a16:creationId xmlns:a16="http://schemas.microsoft.com/office/drawing/2014/main" id="{D4CE60A6-A969-DF37-7969-DBDAC840AC9A}"/>
                </a:ext>
              </a:extLst>
            </p:cNvPr>
            <p:cNvSpPr/>
            <p:nvPr/>
          </p:nvSpPr>
          <p:spPr>
            <a:xfrm>
              <a:off x="5683668" y="2785375"/>
              <a:ext cx="1779300" cy="705600"/>
            </a:xfrm>
            <a:prstGeom prst="roundRect">
              <a:avLst>
                <a:gd name="adj" fmla="val 16667"/>
              </a:avLst>
            </a:prstGeom>
            <a:solidFill>
              <a:srgbClr val="FFFFFF"/>
            </a:solidFill>
            <a:ln w="19050" cap="flat" cmpd="sng">
              <a:solidFill>
                <a:srgbClr val="FF5F4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5F46"/>
                </a:solidFill>
                <a:effectLst/>
                <a:uLnTx/>
                <a:uFillTx/>
                <a:latin typeface="DM Sans"/>
                <a:ea typeface="DM Sans"/>
                <a:cs typeface="DM Sans"/>
                <a:sym typeface="DM Sans"/>
              </a:endParaRPr>
            </a:p>
          </p:txBody>
        </p:sp>
        <p:sp>
          <p:nvSpPr>
            <p:cNvPr id="54" name="Google Shape;1385;p163">
              <a:extLst>
                <a:ext uri="{FF2B5EF4-FFF2-40B4-BE49-F238E27FC236}">
                  <a16:creationId xmlns:a16="http://schemas.microsoft.com/office/drawing/2014/main" id="{3AFC9041-BB04-A643-7DBA-674EC55E9D54}"/>
                </a:ext>
              </a:extLst>
            </p:cNvPr>
            <p:cNvSpPr/>
            <p:nvPr/>
          </p:nvSpPr>
          <p:spPr>
            <a:xfrm>
              <a:off x="6293613"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5" name="Google Shape;1387;p163">
              <a:extLst>
                <a:ext uri="{FF2B5EF4-FFF2-40B4-BE49-F238E27FC236}">
                  <a16:creationId xmlns:a16="http://schemas.microsoft.com/office/drawing/2014/main" id="{89C022B9-A375-C388-4168-5A066871AA59}"/>
                </a:ext>
              </a:extLst>
            </p:cNvPr>
            <p:cNvSpPr/>
            <p:nvPr/>
          </p:nvSpPr>
          <p:spPr>
            <a:xfrm>
              <a:off x="6522213"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6" name="Google Shape;1390;p163">
              <a:extLst>
                <a:ext uri="{FF2B5EF4-FFF2-40B4-BE49-F238E27FC236}">
                  <a16:creationId xmlns:a16="http://schemas.microsoft.com/office/drawing/2014/main" id="{0657188D-FB44-7F78-79E4-A643FED0E281}"/>
                </a:ext>
              </a:extLst>
            </p:cNvPr>
            <p:cNvSpPr/>
            <p:nvPr/>
          </p:nvSpPr>
          <p:spPr>
            <a:xfrm>
              <a:off x="6750813"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7" name="Google Shape;1383;p163">
              <a:extLst>
                <a:ext uri="{FF2B5EF4-FFF2-40B4-BE49-F238E27FC236}">
                  <a16:creationId xmlns:a16="http://schemas.microsoft.com/office/drawing/2014/main" id="{EFF1C72E-D431-4C21-374D-4ED72FA0370A}"/>
                </a:ext>
              </a:extLst>
            </p:cNvPr>
            <p:cNvSpPr/>
            <p:nvPr/>
          </p:nvSpPr>
          <p:spPr>
            <a:xfrm>
              <a:off x="5988813"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 name="Google Shape;1392;p163">
              <a:extLst>
                <a:ext uri="{FF2B5EF4-FFF2-40B4-BE49-F238E27FC236}">
                  <a16:creationId xmlns:a16="http://schemas.microsoft.com/office/drawing/2014/main" id="{054C604D-C73D-76D8-5597-095D8D689091}"/>
                </a:ext>
              </a:extLst>
            </p:cNvPr>
            <p:cNvSpPr/>
            <p:nvPr/>
          </p:nvSpPr>
          <p:spPr>
            <a:xfrm>
              <a:off x="7055613" y="3377350"/>
              <a:ext cx="96900" cy="1032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59" name="Google Shape;1401;p163">
            <a:extLst>
              <a:ext uri="{FF2B5EF4-FFF2-40B4-BE49-F238E27FC236}">
                <a16:creationId xmlns:a16="http://schemas.microsoft.com/office/drawing/2014/main" id="{63F18827-668F-04CF-BD02-11A51B357C7C}"/>
              </a:ext>
            </a:extLst>
          </p:cNvPr>
          <p:cNvSpPr/>
          <p:nvPr/>
        </p:nvSpPr>
        <p:spPr>
          <a:xfrm>
            <a:off x="3501097" y="3071914"/>
            <a:ext cx="198254" cy="122444"/>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A972"/>
              </a:solidFill>
              <a:effectLst/>
              <a:uLnTx/>
              <a:uFillTx/>
              <a:latin typeface="Arial"/>
              <a:ea typeface="+mn-ea"/>
              <a:cs typeface="Arial"/>
              <a:sym typeface="Arial"/>
            </a:endParaRPr>
          </a:p>
        </p:txBody>
      </p:sp>
      <p:sp>
        <p:nvSpPr>
          <p:cNvPr id="60" name="Google Shape;1403;p163">
            <a:extLst>
              <a:ext uri="{FF2B5EF4-FFF2-40B4-BE49-F238E27FC236}">
                <a16:creationId xmlns:a16="http://schemas.microsoft.com/office/drawing/2014/main" id="{B23843AC-4DE4-F432-D122-EE1554CB9A73}"/>
              </a:ext>
            </a:extLst>
          </p:cNvPr>
          <p:cNvSpPr/>
          <p:nvPr/>
        </p:nvSpPr>
        <p:spPr>
          <a:xfrm>
            <a:off x="6478426" y="3071914"/>
            <a:ext cx="198254" cy="122444"/>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A972"/>
              </a:solidFill>
              <a:effectLst/>
              <a:uLnTx/>
              <a:uFillTx/>
              <a:latin typeface="Arial"/>
              <a:ea typeface="+mn-ea"/>
              <a:cs typeface="Arial"/>
              <a:sym typeface="Arial"/>
            </a:endParaRPr>
          </a:p>
        </p:txBody>
      </p:sp>
      <p:sp>
        <p:nvSpPr>
          <p:cNvPr id="61" name="Google Shape;1405;p163">
            <a:extLst>
              <a:ext uri="{FF2B5EF4-FFF2-40B4-BE49-F238E27FC236}">
                <a16:creationId xmlns:a16="http://schemas.microsoft.com/office/drawing/2014/main" id="{F3A4DE2D-4DCE-452F-B1E7-23B530C2199F}"/>
              </a:ext>
            </a:extLst>
          </p:cNvPr>
          <p:cNvSpPr/>
          <p:nvPr/>
        </p:nvSpPr>
        <p:spPr>
          <a:xfrm>
            <a:off x="9582178" y="3071914"/>
            <a:ext cx="198254" cy="122444"/>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A972"/>
              </a:solidFill>
              <a:effectLst/>
              <a:uLnTx/>
              <a:uFillTx/>
              <a:latin typeface="Arial"/>
              <a:ea typeface="+mn-ea"/>
              <a:cs typeface="Arial"/>
              <a:sym typeface="Arial"/>
            </a:endParaRPr>
          </a:p>
        </p:txBody>
      </p:sp>
      <p:pic>
        <p:nvPicPr>
          <p:cNvPr id="62" name="Picture 61">
            <a:extLst>
              <a:ext uri="{FF2B5EF4-FFF2-40B4-BE49-F238E27FC236}">
                <a16:creationId xmlns:a16="http://schemas.microsoft.com/office/drawing/2014/main" id="{634FA5B8-348E-B4BC-37F7-52C2FEAFFEEB}"/>
              </a:ext>
            </a:extLst>
          </p:cNvPr>
          <p:cNvPicPr>
            <a:picLocks noChangeAspect="1"/>
          </p:cNvPicPr>
          <p:nvPr/>
        </p:nvPicPr>
        <p:blipFill>
          <a:blip r:embed="rId3"/>
          <a:stretch>
            <a:fillRect/>
          </a:stretch>
        </p:blipFill>
        <p:spPr>
          <a:xfrm>
            <a:off x="3589071" y="1934847"/>
            <a:ext cx="1247807" cy="454202"/>
          </a:xfrm>
          <a:prstGeom prst="rect">
            <a:avLst/>
          </a:prstGeom>
        </p:spPr>
      </p:pic>
      <p:sp>
        <p:nvSpPr>
          <p:cNvPr id="63" name="Rectangle 62">
            <a:extLst>
              <a:ext uri="{FF2B5EF4-FFF2-40B4-BE49-F238E27FC236}">
                <a16:creationId xmlns:a16="http://schemas.microsoft.com/office/drawing/2014/main" id="{32704375-C267-2D3C-37B2-5B75BAE3C19B}"/>
              </a:ext>
            </a:extLst>
          </p:cNvPr>
          <p:cNvSpPr/>
          <p:nvPr/>
        </p:nvSpPr>
        <p:spPr>
          <a:xfrm>
            <a:off x="1769340" y="1365598"/>
            <a:ext cx="1920240" cy="364606"/>
          </a:xfrm>
          <a:prstGeom prst="rect">
            <a:avLst/>
          </a:prstGeom>
          <a:ln w="12700"/>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sz="1400"/>
              <a:t>GMSGQ Marketplace</a:t>
            </a:r>
          </a:p>
        </p:txBody>
      </p:sp>
      <p:sp>
        <p:nvSpPr>
          <p:cNvPr id="128" name="Rectangle 127">
            <a:extLst>
              <a:ext uri="{FF2B5EF4-FFF2-40B4-BE49-F238E27FC236}">
                <a16:creationId xmlns:a16="http://schemas.microsoft.com/office/drawing/2014/main" id="{0A66E42C-AAA5-8F17-3936-FE11224E2DD5}"/>
              </a:ext>
            </a:extLst>
          </p:cNvPr>
          <p:cNvSpPr/>
          <p:nvPr/>
        </p:nvSpPr>
        <p:spPr>
          <a:xfrm>
            <a:off x="3940231" y="1364444"/>
            <a:ext cx="1920240" cy="365760"/>
          </a:xfrm>
          <a:prstGeom prst="rect">
            <a:avLst/>
          </a:prstGeom>
          <a:ln w="12700"/>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sz="1400"/>
              <a:t>Forward</a:t>
            </a:r>
            <a:endParaRPr lang="en-US" sz="1400">
              <a:cs typeface="Calibri"/>
            </a:endParaRPr>
          </a:p>
        </p:txBody>
      </p:sp>
      <p:sp>
        <p:nvSpPr>
          <p:cNvPr id="129" name="Rectangle 128">
            <a:extLst>
              <a:ext uri="{FF2B5EF4-FFF2-40B4-BE49-F238E27FC236}">
                <a16:creationId xmlns:a16="http://schemas.microsoft.com/office/drawing/2014/main" id="{6F75AFA9-4DD7-F10E-0286-3EA9BEF79EAA}"/>
              </a:ext>
            </a:extLst>
          </p:cNvPr>
          <p:cNvSpPr/>
          <p:nvPr/>
        </p:nvSpPr>
        <p:spPr>
          <a:xfrm>
            <a:off x="197389" y="1379717"/>
            <a:ext cx="1436931" cy="365760"/>
          </a:xfrm>
          <a:prstGeom prst="rect">
            <a:avLst/>
          </a:prstGeom>
          <a:ln w="190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solidFill>
                  <a:schemeClr val="accent4"/>
                </a:solidFill>
              </a:rPr>
              <a:t>Data Marketplace</a:t>
            </a:r>
          </a:p>
        </p:txBody>
      </p:sp>
      <p:sp>
        <p:nvSpPr>
          <p:cNvPr id="130" name="Rectangle: Rounded Corners 76">
            <a:extLst>
              <a:ext uri="{FF2B5EF4-FFF2-40B4-BE49-F238E27FC236}">
                <a16:creationId xmlns:a16="http://schemas.microsoft.com/office/drawing/2014/main" id="{0F69858E-286B-F357-B098-BF9A81B3CE87}"/>
              </a:ext>
            </a:extLst>
          </p:cNvPr>
          <p:cNvSpPr/>
          <p:nvPr/>
        </p:nvSpPr>
        <p:spPr>
          <a:xfrm>
            <a:off x="10424295" y="1893951"/>
            <a:ext cx="1330624" cy="542044"/>
          </a:xfrm>
          <a:prstGeom prst="roundRect">
            <a:avLst/>
          </a:prstGeom>
          <a:ln w="1905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b="1">
                <a:solidFill>
                  <a:schemeClr val="tx1"/>
                </a:solidFill>
              </a:rPr>
              <a:t>LeanIX</a:t>
            </a:r>
            <a:endParaRPr lang="en-US" sz="1400" b="1">
              <a:solidFill>
                <a:schemeClr val="tx1"/>
              </a:solidFill>
            </a:endParaRPr>
          </a:p>
        </p:txBody>
      </p:sp>
      <p:cxnSp>
        <p:nvCxnSpPr>
          <p:cNvPr id="131" name="Straight Arrow Connector 130">
            <a:extLst>
              <a:ext uri="{FF2B5EF4-FFF2-40B4-BE49-F238E27FC236}">
                <a16:creationId xmlns:a16="http://schemas.microsoft.com/office/drawing/2014/main" id="{E8EEC6F3-ACAA-0B24-A588-C789A097863E}"/>
              </a:ext>
            </a:extLst>
          </p:cNvPr>
          <p:cNvCxnSpPr>
            <a:cxnSpLocks/>
            <a:stCxn id="32" idx="3"/>
            <a:endCxn id="130" idx="1"/>
          </p:cNvCxnSpPr>
          <p:nvPr/>
        </p:nvCxnSpPr>
        <p:spPr>
          <a:xfrm>
            <a:off x="10081216" y="2160298"/>
            <a:ext cx="343079" cy="4675"/>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EA6168D1-01F1-6738-6153-2E1ED3A230B3}"/>
              </a:ext>
            </a:extLst>
          </p:cNvPr>
          <p:cNvSpPr txBox="1"/>
          <p:nvPr/>
        </p:nvSpPr>
        <p:spPr>
          <a:xfrm>
            <a:off x="10307768" y="1347365"/>
            <a:ext cx="1640577" cy="461665"/>
          </a:xfrm>
          <a:prstGeom prst="rect">
            <a:avLst/>
          </a:prstGeom>
          <a:noFill/>
        </p:spPr>
        <p:txBody>
          <a:bodyPr wrap="none" lIns="91440" tIns="45720" rIns="91440" bIns="45720" rtlCol="0" anchor="t">
            <a:spAutoFit/>
          </a:bodyPr>
          <a:lstStyle/>
          <a:p>
            <a:r>
              <a:rPr lang="en-US" sz="1200"/>
              <a:t>APIs/Integration</a:t>
            </a:r>
          </a:p>
          <a:p>
            <a:r>
              <a:rPr lang="en-US" sz="1200">
                <a:ea typeface="Calibri"/>
                <a:cs typeface="Calibri"/>
              </a:rPr>
              <a:t>Data Domain Metadata</a:t>
            </a:r>
          </a:p>
        </p:txBody>
      </p:sp>
      <p:sp>
        <p:nvSpPr>
          <p:cNvPr id="133" name="Rectangle 132">
            <a:extLst>
              <a:ext uri="{FF2B5EF4-FFF2-40B4-BE49-F238E27FC236}">
                <a16:creationId xmlns:a16="http://schemas.microsoft.com/office/drawing/2014/main" id="{2D85F5EC-EC4C-7310-F193-BD6FF471FBD8}"/>
              </a:ext>
            </a:extLst>
          </p:cNvPr>
          <p:cNvSpPr/>
          <p:nvPr/>
        </p:nvSpPr>
        <p:spPr>
          <a:xfrm>
            <a:off x="10651851" y="4805172"/>
            <a:ext cx="1064625" cy="365760"/>
          </a:xfrm>
          <a:prstGeom prst="rect">
            <a:avLst/>
          </a:prstGeom>
          <a:ln w="12700">
            <a:solidFill>
              <a:schemeClr val="tx2"/>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Databricks Marketplace</a:t>
            </a:r>
          </a:p>
        </p:txBody>
      </p:sp>
      <p:sp>
        <p:nvSpPr>
          <p:cNvPr id="134" name="Rectangle 133">
            <a:extLst>
              <a:ext uri="{FF2B5EF4-FFF2-40B4-BE49-F238E27FC236}">
                <a16:creationId xmlns:a16="http://schemas.microsoft.com/office/drawing/2014/main" id="{9F911606-C1E7-DB88-0882-3D6C3AC58531}"/>
              </a:ext>
            </a:extLst>
          </p:cNvPr>
          <p:cNvSpPr/>
          <p:nvPr/>
        </p:nvSpPr>
        <p:spPr>
          <a:xfrm>
            <a:off x="10658638" y="4318918"/>
            <a:ext cx="1057838" cy="365760"/>
          </a:xfrm>
          <a:prstGeom prst="rect">
            <a:avLst/>
          </a:prstGeom>
          <a:ln w="12700">
            <a:solidFill>
              <a:schemeClr val="tx2"/>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AWS Data Exchange</a:t>
            </a:r>
          </a:p>
        </p:txBody>
      </p:sp>
      <p:sp>
        <p:nvSpPr>
          <p:cNvPr id="135" name="Rectangle 134">
            <a:extLst>
              <a:ext uri="{FF2B5EF4-FFF2-40B4-BE49-F238E27FC236}">
                <a16:creationId xmlns:a16="http://schemas.microsoft.com/office/drawing/2014/main" id="{48A0CD2C-3E95-6127-C52C-18C62172F709}"/>
              </a:ext>
            </a:extLst>
          </p:cNvPr>
          <p:cNvSpPr/>
          <p:nvPr/>
        </p:nvSpPr>
        <p:spPr>
          <a:xfrm>
            <a:off x="248340" y="4557089"/>
            <a:ext cx="1110438" cy="365760"/>
          </a:xfrm>
          <a:prstGeom prst="rect">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Databricks Marketplace</a:t>
            </a:r>
          </a:p>
        </p:txBody>
      </p:sp>
      <p:sp>
        <p:nvSpPr>
          <p:cNvPr id="136" name="Rectangle 135">
            <a:extLst>
              <a:ext uri="{FF2B5EF4-FFF2-40B4-BE49-F238E27FC236}">
                <a16:creationId xmlns:a16="http://schemas.microsoft.com/office/drawing/2014/main" id="{C9AF6F5C-B4C4-A8C7-F46F-9EF38AEAB3C5}"/>
              </a:ext>
            </a:extLst>
          </p:cNvPr>
          <p:cNvSpPr/>
          <p:nvPr/>
        </p:nvSpPr>
        <p:spPr>
          <a:xfrm>
            <a:off x="248340" y="4054758"/>
            <a:ext cx="1110437" cy="365760"/>
          </a:xfrm>
          <a:prstGeom prst="rect">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AWS Data Exchange</a:t>
            </a:r>
          </a:p>
        </p:txBody>
      </p:sp>
      <p:cxnSp>
        <p:nvCxnSpPr>
          <p:cNvPr id="137" name="Straight Arrow Connector 136">
            <a:extLst>
              <a:ext uri="{FF2B5EF4-FFF2-40B4-BE49-F238E27FC236}">
                <a16:creationId xmlns:a16="http://schemas.microsoft.com/office/drawing/2014/main" id="{AE6ECC0D-AD19-594E-177E-4746D0D6FC9E}"/>
              </a:ext>
            </a:extLst>
          </p:cNvPr>
          <p:cNvCxnSpPr>
            <a:cxnSpLocks/>
            <a:endCxn id="32" idx="1"/>
          </p:cNvCxnSpPr>
          <p:nvPr/>
        </p:nvCxnSpPr>
        <p:spPr>
          <a:xfrm>
            <a:off x="1306279" y="1737445"/>
            <a:ext cx="463079" cy="422853"/>
          </a:xfrm>
          <a:prstGeom prst="straightConnector1">
            <a:avLst/>
          </a:prstGeom>
          <a:ln>
            <a:prstDash val="dash"/>
            <a:headEnd type="triangle"/>
            <a:tailEnd type="triangle"/>
          </a:ln>
        </p:spPr>
        <p:style>
          <a:lnRef idx="1">
            <a:schemeClr val="accent4"/>
          </a:lnRef>
          <a:fillRef idx="0">
            <a:schemeClr val="accent4"/>
          </a:fillRef>
          <a:effectRef idx="0">
            <a:schemeClr val="accent4"/>
          </a:effectRef>
          <a:fontRef idx="minor">
            <a:schemeClr val="tx1"/>
          </a:fontRef>
        </p:style>
      </p:cxnSp>
      <p:sp>
        <p:nvSpPr>
          <p:cNvPr id="138" name="TextBox 137">
            <a:extLst>
              <a:ext uri="{FF2B5EF4-FFF2-40B4-BE49-F238E27FC236}">
                <a16:creationId xmlns:a16="http://schemas.microsoft.com/office/drawing/2014/main" id="{E9B50C5B-A68B-7B87-517D-98059228C607}"/>
              </a:ext>
            </a:extLst>
          </p:cNvPr>
          <p:cNvSpPr txBox="1"/>
          <p:nvPr/>
        </p:nvSpPr>
        <p:spPr>
          <a:xfrm>
            <a:off x="7021664" y="2008936"/>
            <a:ext cx="1656409" cy="307777"/>
          </a:xfrm>
          <a:prstGeom prst="rect">
            <a:avLst/>
          </a:prstGeom>
          <a:noFill/>
        </p:spPr>
        <p:txBody>
          <a:bodyPr wrap="square" rtlCol="0">
            <a:spAutoFit/>
          </a:bodyPr>
          <a:lstStyle/>
          <a:p>
            <a:r>
              <a:rPr lang="en-US" sz="1400">
                <a:solidFill>
                  <a:srgbClr val="00B050"/>
                </a:solidFill>
              </a:rPr>
              <a:t>Scalable Platform</a:t>
            </a:r>
          </a:p>
        </p:txBody>
      </p:sp>
      <p:sp>
        <p:nvSpPr>
          <p:cNvPr id="139" name="Rectangle 138">
            <a:extLst>
              <a:ext uri="{FF2B5EF4-FFF2-40B4-BE49-F238E27FC236}">
                <a16:creationId xmlns:a16="http://schemas.microsoft.com/office/drawing/2014/main" id="{24778D7D-E2CF-E68B-24E8-B43FE7ADDB86}"/>
              </a:ext>
            </a:extLst>
          </p:cNvPr>
          <p:cNvSpPr/>
          <p:nvPr/>
        </p:nvSpPr>
        <p:spPr>
          <a:xfrm>
            <a:off x="8268611" y="1371685"/>
            <a:ext cx="1812605" cy="365760"/>
          </a:xfrm>
          <a:prstGeom prst="rect">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ZS</a:t>
            </a:r>
          </a:p>
        </p:txBody>
      </p:sp>
      <p:cxnSp>
        <p:nvCxnSpPr>
          <p:cNvPr id="140" name="Google Shape;1376;p163">
            <a:extLst>
              <a:ext uri="{FF2B5EF4-FFF2-40B4-BE49-F238E27FC236}">
                <a16:creationId xmlns:a16="http://schemas.microsoft.com/office/drawing/2014/main" id="{2A2823A3-3101-8165-5650-42515A411C23}"/>
              </a:ext>
            </a:extLst>
          </p:cNvPr>
          <p:cNvCxnSpPr/>
          <p:nvPr/>
        </p:nvCxnSpPr>
        <p:spPr>
          <a:xfrm rot="5400000" flipH="1" flipV="1">
            <a:off x="6208293" y="3726512"/>
            <a:ext cx="666043" cy="512580"/>
          </a:xfrm>
          <a:prstGeom prst="curvedConnector3">
            <a:avLst>
              <a:gd name="adj1" fmla="val 50000"/>
            </a:avLst>
          </a:prstGeom>
          <a:noFill/>
          <a:ln w="19050" cap="flat" cmpd="sng">
            <a:solidFill>
              <a:srgbClr val="FF5F46"/>
            </a:solidFill>
            <a:prstDash val="dash"/>
            <a:round/>
            <a:headEnd type="none" w="med" len="med"/>
            <a:tailEnd type="triangle" w="med" len="med"/>
          </a:ln>
        </p:spPr>
      </p:cxnSp>
      <p:cxnSp>
        <p:nvCxnSpPr>
          <p:cNvPr id="141" name="Google Shape;1378;p163">
            <a:extLst>
              <a:ext uri="{FF2B5EF4-FFF2-40B4-BE49-F238E27FC236}">
                <a16:creationId xmlns:a16="http://schemas.microsoft.com/office/drawing/2014/main" id="{BB346C49-6039-02E6-60A1-A4E7F732883C}"/>
              </a:ext>
            </a:extLst>
          </p:cNvPr>
          <p:cNvCxnSpPr/>
          <p:nvPr/>
        </p:nvCxnSpPr>
        <p:spPr>
          <a:xfrm rot="5400000" flipH="1" flipV="1">
            <a:off x="6653596" y="3981790"/>
            <a:ext cx="666043" cy="2024"/>
          </a:xfrm>
          <a:prstGeom prst="curvedConnector3">
            <a:avLst>
              <a:gd name="adj1" fmla="val 50000"/>
            </a:avLst>
          </a:prstGeom>
          <a:noFill/>
          <a:ln w="19050" cap="flat" cmpd="sng">
            <a:solidFill>
              <a:srgbClr val="FF5F46"/>
            </a:solidFill>
            <a:prstDash val="dash"/>
            <a:round/>
            <a:headEnd type="none" w="med" len="med"/>
            <a:tailEnd type="triangle" w="med" len="med"/>
          </a:ln>
        </p:spPr>
      </p:cxnSp>
      <p:cxnSp>
        <p:nvCxnSpPr>
          <p:cNvPr id="143" name="Google Shape;1380;p163">
            <a:extLst>
              <a:ext uri="{FF2B5EF4-FFF2-40B4-BE49-F238E27FC236}">
                <a16:creationId xmlns:a16="http://schemas.microsoft.com/office/drawing/2014/main" id="{84775D66-721D-D438-2360-CD9F50661F68}"/>
              </a:ext>
            </a:extLst>
          </p:cNvPr>
          <p:cNvCxnSpPr/>
          <p:nvPr/>
        </p:nvCxnSpPr>
        <p:spPr>
          <a:xfrm rot="16200000" flipV="1">
            <a:off x="7098899" y="3728536"/>
            <a:ext cx="666043" cy="508532"/>
          </a:xfrm>
          <a:prstGeom prst="curvedConnector3">
            <a:avLst>
              <a:gd name="adj1" fmla="val 50000"/>
            </a:avLst>
          </a:prstGeom>
          <a:noFill/>
          <a:ln w="19050" cap="flat" cmpd="sng">
            <a:solidFill>
              <a:srgbClr val="FF5F46"/>
            </a:solidFill>
            <a:prstDash val="dash"/>
            <a:round/>
            <a:headEnd type="none" w="med" len="med"/>
            <a:tailEnd type="triangle" w="med" len="med"/>
          </a:ln>
        </p:spPr>
      </p:cxnSp>
      <p:grpSp>
        <p:nvGrpSpPr>
          <p:cNvPr id="144" name="Group 143">
            <a:extLst>
              <a:ext uri="{FF2B5EF4-FFF2-40B4-BE49-F238E27FC236}">
                <a16:creationId xmlns:a16="http://schemas.microsoft.com/office/drawing/2014/main" id="{217B5F30-7760-E593-1F84-31645EDB058F}"/>
              </a:ext>
            </a:extLst>
          </p:cNvPr>
          <p:cNvGrpSpPr/>
          <p:nvPr/>
        </p:nvGrpSpPr>
        <p:grpSpPr>
          <a:xfrm>
            <a:off x="4088392" y="3043136"/>
            <a:ext cx="1527508" cy="589640"/>
            <a:chOff x="4279876" y="3413087"/>
            <a:chExt cx="1527508" cy="589640"/>
          </a:xfrm>
        </p:grpSpPr>
        <p:pic>
          <p:nvPicPr>
            <p:cNvPr id="145" name="Picture 144">
              <a:extLst>
                <a:ext uri="{FF2B5EF4-FFF2-40B4-BE49-F238E27FC236}">
                  <a16:creationId xmlns:a16="http://schemas.microsoft.com/office/drawing/2014/main" id="{490AA387-84BA-EF5B-F5C8-97A7FEB6457E}"/>
                </a:ext>
              </a:extLst>
            </p:cNvPr>
            <p:cNvPicPr>
              <a:picLocks noChangeAspect="1"/>
            </p:cNvPicPr>
            <p:nvPr/>
          </p:nvPicPr>
          <p:blipFill>
            <a:blip r:embed="rId4"/>
            <a:stretch>
              <a:fillRect/>
            </a:stretch>
          </p:blipFill>
          <p:spPr>
            <a:xfrm>
              <a:off x="4279876" y="3492233"/>
              <a:ext cx="358561" cy="510494"/>
            </a:xfrm>
            <a:prstGeom prst="rect">
              <a:avLst/>
            </a:prstGeom>
          </p:spPr>
        </p:pic>
        <p:sp>
          <p:nvSpPr>
            <p:cNvPr id="146" name="Rectangle 145">
              <a:extLst>
                <a:ext uri="{FF2B5EF4-FFF2-40B4-BE49-F238E27FC236}">
                  <a16:creationId xmlns:a16="http://schemas.microsoft.com/office/drawing/2014/main" id="{1989546B-F9D5-EF43-01AB-320254A36D6B}"/>
                </a:ext>
              </a:extLst>
            </p:cNvPr>
            <p:cNvSpPr/>
            <p:nvPr/>
          </p:nvSpPr>
          <p:spPr>
            <a:xfrm>
              <a:off x="4551438" y="3413087"/>
              <a:ext cx="1255946" cy="307777"/>
            </a:xfrm>
            <a:prstGeom prst="rect">
              <a:avLst/>
            </a:prstGeom>
          </p:spPr>
          <p:txBody>
            <a:bodyPr wrap="square">
              <a:spAutoFit/>
            </a:bodyPr>
            <a:lstStyle/>
            <a:p>
              <a:pPr lvl="0">
                <a:buClr>
                  <a:srgbClr val="000000"/>
                </a:buClr>
                <a:defRPr/>
              </a:pPr>
              <a:r>
                <a:rPr lang="en-US" sz="1400" kern="0">
                  <a:solidFill>
                    <a:schemeClr val="accent5">
                      <a:lumMod val="25000"/>
                    </a:schemeClr>
                  </a:solidFill>
                  <a:latin typeface="DM Sans Medium"/>
                  <a:ea typeface="DM Sans Medium"/>
                  <a:cs typeface="DM Sans Medium"/>
                  <a:sym typeface="DM Sans Medium"/>
                </a:rPr>
                <a:t>Glue Catalog</a:t>
              </a:r>
              <a:endParaRPr lang="en-US" sz="500" kern="0">
                <a:solidFill>
                  <a:schemeClr val="accent5">
                    <a:lumMod val="25000"/>
                  </a:schemeClr>
                </a:solidFill>
                <a:latin typeface="DM Sans Medium"/>
                <a:ea typeface="DM Sans Medium"/>
                <a:cs typeface="DM Sans Medium"/>
                <a:sym typeface="DM Sans Medium"/>
              </a:endParaRPr>
            </a:p>
          </p:txBody>
        </p:sp>
      </p:grpSp>
      <p:sp>
        <p:nvSpPr>
          <p:cNvPr id="147" name="Rectangle: Rounded Corners 101">
            <a:extLst>
              <a:ext uri="{FF2B5EF4-FFF2-40B4-BE49-F238E27FC236}">
                <a16:creationId xmlns:a16="http://schemas.microsoft.com/office/drawing/2014/main" id="{D7C52787-9E76-C51A-789F-173EE56D471E}"/>
              </a:ext>
            </a:extLst>
          </p:cNvPr>
          <p:cNvSpPr/>
          <p:nvPr/>
        </p:nvSpPr>
        <p:spPr>
          <a:xfrm>
            <a:off x="4006514" y="3065418"/>
            <a:ext cx="1488449" cy="577862"/>
          </a:xfrm>
          <a:prstGeom prst="round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l"/>
            <a:endParaRPr lang="en-US"/>
          </a:p>
        </p:txBody>
      </p:sp>
      <p:sp>
        <p:nvSpPr>
          <p:cNvPr id="148" name="Google Shape;1355;p163">
            <a:extLst>
              <a:ext uri="{FF2B5EF4-FFF2-40B4-BE49-F238E27FC236}">
                <a16:creationId xmlns:a16="http://schemas.microsoft.com/office/drawing/2014/main" id="{05D586D6-1D16-409B-A2FF-8EFAA3763699}"/>
              </a:ext>
            </a:extLst>
          </p:cNvPr>
          <p:cNvSpPr/>
          <p:nvPr/>
        </p:nvSpPr>
        <p:spPr>
          <a:xfrm>
            <a:off x="3800664" y="2643089"/>
            <a:ext cx="1930011" cy="1457605"/>
          </a:xfrm>
          <a:prstGeom prst="rect">
            <a:avLst/>
          </a:prstGeom>
          <a:noFill/>
          <a:ln w="9525" cap="flat" cmpd="sng">
            <a:solidFill>
              <a:srgbClr val="1B5162"/>
            </a:solidFill>
            <a:prstDash val="dot"/>
            <a:round/>
            <a:headEnd type="none" w="sm" len="sm"/>
            <a:tailEnd type="none" w="sm" len="sm"/>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DM Sans Medium"/>
                <a:ea typeface="DM Sans Medium"/>
                <a:cs typeface="DM Sans Medium"/>
                <a:sym typeface="DM Sans Medium"/>
              </a:rPr>
              <a:t>AWS Glue</a:t>
            </a:r>
            <a:endParaRPr kumimoji="0" sz="500" b="0" i="0" u="none" strike="noStrike" kern="0" cap="none" spc="0" normalizeH="0" baseline="0" noProof="0">
              <a:ln>
                <a:noFill/>
              </a:ln>
              <a:solidFill>
                <a:srgbClr val="000000"/>
              </a:solidFill>
              <a:effectLst/>
              <a:uLnTx/>
              <a:uFillTx/>
              <a:latin typeface="DM Sans Medium"/>
              <a:ea typeface="DM Sans Medium"/>
              <a:cs typeface="DM Sans Medium"/>
              <a:sym typeface="DM Sans Medium"/>
            </a:endParaRPr>
          </a:p>
        </p:txBody>
      </p:sp>
      <p:cxnSp>
        <p:nvCxnSpPr>
          <p:cNvPr id="149" name="Google Shape;1370;p163">
            <a:extLst>
              <a:ext uri="{FF2B5EF4-FFF2-40B4-BE49-F238E27FC236}">
                <a16:creationId xmlns:a16="http://schemas.microsoft.com/office/drawing/2014/main" id="{7A19E14E-2B0E-BEA1-31EF-7DC3AF82BFD5}"/>
              </a:ext>
            </a:extLst>
          </p:cNvPr>
          <p:cNvCxnSpPr/>
          <p:nvPr/>
        </p:nvCxnSpPr>
        <p:spPr>
          <a:xfrm rot="5400000" flipH="1" flipV="1">
            <a:off x="4003022" y="3729211"/>
            <a:ext cx="666043" cy="507182"/>
          </a:xfrm>
          <a:prstGeom prst="curvedConnector3">
            <a:avLst>
              <a:gd name="adj1" fmla="val 50000"/>
            </a:avLst>
          </a:prstGeom>
          <a:noFill/>
          <a:ln w="19050" cap="flat" cmpd="sng">
            <a:solidFill>
              <a:schemeClr val="accent2"/>
            </a:solidFill>
            <a:prstDash val="dash"/>
            <a:round/>
            <a:headEnd type="none" w="med" len="med"/>
            <a:tailEnd type="triangle" w="med" len="med"/>
          </a:ln>
        </p:spPr>
      </p:cxnSp>
      <p:cxnSp>
        <p:nvCxnSpPr>
          <p:cNvPr id="150" name="Google Shape;1372;p163">
            <a:extLst>
              <a:ext uri="{FF2B5EF4-FFF2-40B4-BE49-F238E27FC236}">
                <a16:creationId xmlns:a16="http://schemas.microsoft.com/office/drawing/2014/main" id="{1AE6C77D-AA0E-C06A-A792-83C3B7C8FF2F}"/>
              </a:ext>
            </a:extLst>
          </p:cNvPr>
          <p:cNvCxnSpPr/>
          <p:nvPr/>
        </p:nvCxnSpPr>
        <p:spPr>
          <a:xfrm rot="16200000" flipV="1">
            <a:off x="4448325" y="3981114"/>
            <a:ext cx="666043" cy="3375"/>
          </a:xfrm>
          <a:prstGeom prst="curvedConnector3">
            <a:avLst>
              <a:gd name="adj1" fmla="val 50000"/>
            </a:avLst>
          </a:prstGeom>
          <a:noFill/>
          <a:ln w="19050" cap="flat" cmpd="sng">
            <a:solidFill>
              <a:schemeClr val="accent2"/>
            </a:solidFill>
            <a:prstDash val="dash"/>
            <a:round/>
            <a:headEnd type="none" w="med" len="med"/>
            <a:tailEnd type="triangle" w="med" len="med"/>
          </a:ln>
        </p:spPr>
      </p:cxnSp>
      <p:cxnSp>
        <p:nvCxnSpPr>
          <p:cNvPr id="151" name="Google Shape;1374;p163">
            <a:extLst>
              <a:ext uri="{FF2B5EF4-FFF2-40B4-BE49-F238E27FC236}">
                <a16:creationId xmlns:a16="http://schemas.microsoft.com/office/drawing/2014/main" id="{305B5C6C-B83E-70AB-4E90-F7E30B77EFDB}"/>
              </a:ext>
            </a:extLst>
          </p:cNvPr>
          <p:cNvCxnSpPr/>
          <p:nvPr/>
        </p:nvCxnSpPr>
        <p:spPr>
          <a:xfrm rot="16200000" flipV="1">
            <a:off x="4893628" y="3725836"/>
            <a:ext cx="666043" cy="513931"/>
          </a:xfrm>
          <a:prstGeom prst="curvedConnector3">
            <a:avLst>
              <a:gd name="adj1" fmla="val 50000"/>
            </a:avLst>
          </a:prstGeom>
          <a:noFill/>
          <a:ln w="19050" cap="flat" cmpd="sng">
            <a:solidFill>
              <a:schemeClr val="accent2"/>
            </a:solidFill>
            <a:prstDash val="dash"/>
            <a:round/>
            <a:headEnd type="none" w="med" len="med"/>
            <a:tailEnd type="triangle" w="med" len="med"/>
          </a:ln>
        </p:spPr>
      </p:cxnSp>
      <p:cxnSp>
        <p:nvCxnSpPr>
          <p:cNvPr id="152" name="Google Shape;1400;p163">
            <a:extLst>
              <a:ext uri="{FF2B5EF4-FFF2-40B4-BE49-F238E27FC236}">
                <a16:creationId xmlns:a16="http://schemas.microsoft.com/office/drawing/2014/main" id="{753BE51D-226B-937D-2D68-7EBF5B9A977B}"/>
              </a:ext>
            </a:extLst>
          </p:cNvPr>
          <p:cNvCxnSpPr/>
          <p:nvPr/>
        </p:nvCxnSpPr>
        <p:spPr>
          <a:xfrm rot="16200000">
            <a:off x="4927890" y="2710771"/>
            <a:ext cx="677556" cy="499"/>
          </a:xfrm>
          <a:prstGeom prst="bentConnector3">
            <a:avLst>
              <a:gd name="adj1" fmla="val 49998"/>
            </a:avLst>
          </a:prstGeom>
          <a:noFill/>
          <a:ln w="28575" cap="flat" cmpd="sng">
            <a:solidFill>
              <a:srgbClr val="00A972"/>
            </a:solidFill>
            <a:prstDash val="solid"/>
            <a:round/>
            <a:headEnd type="none" w="med" len="med"/>
            <a:tailEnd type="triangle" w="med" len="med"/>
          </a:ln>
        </p:spPr>
      </p:cxnSp>
      <p:sp>
        <p:nvSpPr>
          <p:cNvPr id="153" name="Rectangle 152">
            <a:extLst>
              <a:ext uri="{FF2B5EF4-FFF2-40B4-BE49-F238E27FC236}">
                <a16:creationId xmlns:a16="http://schemas.microsoft.com/office/drawing/2014/main" id="{C535D847-58FF-9BCB-E1E2-037D6436B837}"/>
              </a:ext>
            </a:extLst>
          </p:cNvPr>
          <p:cNvSpPr/>
          <p:nvPr/>
        </p:nvSpPr>
        <p:spPr>
          <a:xfrm>
            <a:off x="6096000" y="1360924"/>
            <a:ext cx="1920240" cy="365760"/>
          </a:xfrm>
          <a:prstGeom prst="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sz="1400">
                <a:solidFill>
                  <a:schemeClr val="accent2"/>
                </a:solidFill>
              </a:rPr>
              <a:t>Log</a:t>
            </a:r>
            <a:endParaRPr lang="en-US" sz="1400">
              <a:solidFill>
                <a:schemeClr val="accent2"/>
              </a:solidFill>
              <a:ea typeface="Calibri"/>
              <a:cs typeface="Calibri"/>
            </a:endParaRPr>
          </a:p>
        </p:txBody>
      </p:sp>
      <p:grpSp>
        <p:nvGrpSpPr>
          <p:cNvPr id="154" name="Group 153">
            <a:extLst>
              <a:ext uri="{FF2B5EF4-FFF2-40B4-BE49-F238E27FC236}">
                <a16:creationId xmlns:a16="http://schemas.microsoft.com/office/drawing/2014/main" id="{78FE90DD-E1B0-106D-EA9E-F6A0E912ACC1}"/>
              </a:ext>
            </a:extLst>
          </p:cNvPr>
          <p:cNvGrpSpPr/>
          <p:nvPr/>
        </p:nvGrpSpPr>
        <p:grpSpPr>
          <a:xfrm>
            <a:off x="1368077" y="4238450"/>
            <a:ext cx="401263" cy="536901"/>
            <a:chOff x="1610361" y="4608401"/>
            <a:chExt cx="401263" cy="536901"/>
          </a:xfrm>
        </p:grpSpPr>
        <p:cxnSp>
          <p:nvCxnSpPr>
            <p:cNvPr id="155" name="Straight Arrow Connector 154">
              <a:extLst>
                <a:ext uri="{FF2B5EF4-FFF2-40B4-BE49-F238E27FC236}">
                  <a16:creationId xmlns:a16="http://schemas.microsoft.com/office/drawing/2014/main" id="{6664C9D4-41EA-D2BA-F435-5F497B8F16C5}"/>
                </a:ext>
              </a:extLst>
            </p:cNvPr>
            <p:cNvCxnSpPr>
              <a:cxnSpLocks/>
              <a:stCxn id="156" idx="1"/>
            </p:cNvCxnSpPr>
            <p:nvPr/>
          </p:nvCxnSpPr>
          <p:spPr>
            <a:xfrm>
              <a:off x="1907791" y="4883402"/>
              <a:ext cx="1038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6" name="Right Brace 155">
              <a:extLst>
                <a:ext uri="{FF2B5EF4-FFF2-40B4-BE49-F238E27FC236}">
                  <a16:creationId xmlns:a16="http://schemas.microsoft.com/office/drawing/2014/main" id="{FE4AE2E2-679A-C700-E277-2A251E96BF20}"/>
                </a:ext>
              </a:extLst>
            </p:cNvPr>
            <p:cNvSpPr/>
            <p:nvPr/>
          </p:nvSpPr>
          <p:spPr>
            <a:xfrm>
              <a:off x="1610361" y="4608401"/>
              <a:ext cx="297430" cy="536901"/>
            </a:xfrm>
            <a:prstGeom prst="rightBrace">
              <a:avLst>
                <a:gd name="adj1" fmla="val 29253"/>
                <a:gd name="adj2" fmla="val 5122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57" name="TextBox 156">
            <a:extLst>
              <a:ext uri="{FF2B5EF4-FFF2-40B4-BE49-F238E27FC236}">
                <a16:creationId xmlns:a16="http://schemas.microsoft.com/office/drawing/2014/main" id="{B02F3FBE-DFFD-1C32-7ED6-48BD6E84F41E}"/>
              </a:ext>
            </a:extLst>
          </p:cNvPr>
          <p:cNvSpPr txBox="1"/>
          <p:nvPr/>
        </p:nvSpPr>
        <p:spPr>
          <a:xfrm>
            <a:off x="239337" y="3727420"/>
            <a:ext cx="1043940" cy="276999"/>
          </a:xfrm>
          <a:prstGeom prst="rect">
            <a:avLst/>
          </a:prstGeom>
          <a:noFill/>
        </p:spPr>
        <p:txBody>
          <a:bodyPr wrap="none" rtlCol="0">
            <a:spAutoFit/>
          </a:bodyPr>
          <a:lstStyle/>
          <a:p>
            <a:r>
              <a:rPr lang="en-US" sz="1200" b="1"/>
              <a:t>External Data</a:t>
            </a:r>
          </a:p>
        </p:txBody>
      </p:sp>
      <p:sp>
        <p:nvSpPr>
          <p:cNvPr id="158" name="TextBox 157">
            <a:extLst>
              <a:ext uri="{FF2B5EF4-FFF2-40B4-BE49-F238E27FC236}">
                <a16:creationId xmlns:a16="http://schemas.microsoft.com/office/drawing/2014/main" id="{7DF21FC3-C08B-56F8-30CF-9F6E0AD0ADFB}"/>
              </a:ext>
            </a:extLst>
          </p:cNvPr>
          <p:cNvSpPr txBox="1"/>
          <p:nvPr/>
        </p:nvSpPr>
        <p:spPr>
          <a:xfrm>
            <a:off x="10497200" y="3991598"/>
            <a:ext cx="1455463" cy="276999"/>
          </a:xfrm>
          <a:prstGeom prst="rect">
            <a:avLst/>
          </a:prstGeom>
          <a:noFill/>
        </p:spPr>
        <p:txBody>
          <a:bodyPr wrap="none" rtlCol="0">
            <a:spAutoFit/>
          </a:bodyPr>
          <a:lstStyle/>
          <a:p>
            <a:r>
              <a:rPr lang="en-US" sz="1200" b="1"/>
              <a:t>Share With External</a:t>
            </a:r>
          </a:p>
        </p:txBody>
      </p:sp>
      <p:sp>
        <p:nvSpPr>
          <p:cNvPr id="159" name="TextBox 158">
            <a:extLst>
              <a:ext uri="{FF2B5EF4-FFF2-40B4-BE49-F238E27FC236}">
                <a16:creationId xmlns:a16="http://schemas.microsoft.com/office/drawing/2014/main" id="{650D8DDB-9451-49CD-7E5B-4D4A0FE9AF2A}"/>
              </a:ext>
            </a:extLst>
          </p:cNvPr>
          <p:cNvSpPr txBox="1"/>
          <p:nvPr/>
        </p:nvSpPr>
        <p:spPr>
          <a:xfrm>
            <a:off x="272993" y="1925114"/>
            <a:ext cx="1298945" cy="461665"/>
          </a:xfrm>
          <a:prstGeom prst="rect">
            <a:avLst/>
          </a:prstGeom>
          <a:noFill/>
        </p:spPr>
        <p:txBody>
          <a:bodyPr wrap="none" rtlCol="0">
            <a:spAutoFit/>
          </a:bodyPr>
          <a:lstStyle/>
          <a:p>
            <a:r>
              <a:rPr lang="en-US" sz="1200" b="1"/>
              <a:t>Scalable Platform</a:t>
            </a:r>
          </a:p>
          <a:p>
            <a:r>
              <a:rPr lang="en-US" sz="1200" b="1" err="1"/>
              <a:t>LeanIX</a:t>
            </a:r>
            <a:r>
              <a:rPr lang="en-US" sz="1200" b="1"/>
              <a:t> for Data</a:t>
            </a:r>
          </a:p>
        </p:txBody>
      </p:sp>
      <p:grpSp>
        <p:nvGrpSpPr>
          <p:cNvPr id="160" name="Group 159">
            <a:extLst>
              <a:ext uri="{FF2B5EF4-FFF2-40B4-BE49-F238E27FC236}">
                <a16:creationId xmlns:a16="http://schemas.microsoft.com/office/drawing/2014/main" id="{8FC987F0-AC9D-1912-9247-30E1007C70B8}"/>
              </a:ext>
            </a:extLst>
          </p:cNvPr>
          <p:cNvGrpSpPr/>
          <p:nvPr/>
        </p:nvGrpSpPr>
        <p:grpSpPr>
          <a:xfrm>
            <a:off x="6202440" y="3113213"/>
            <a:ext cx="1567172" cy="476586"/>
            <a:chOff x="6566112" y="3483164"/>
            <a:chExt cx="1567172" cy="476586"/>
          </a:xfrm>
        </p:grpSpPr>
        <p:pic>
          <p:nvPicPr>
            <p:cNvPr id="161" name="Google Shape;1419;p163">
              <a:extLst>
                <a:ext uri="{FF2B5EF4-FFF2-40B4-BE49-F238E27FC236}">
                  <a16:creationId xmlns:a16="http://schemas.microsoft.com/office/drawing/2014/main" id="{23C51E4D-B3E4-EDEF-9E87-918591B43D76}"/>
                </a:ext>
              </a:extLst>
            </p:cNvPr>
            <p:cNvPicPr preferRelativeResize="0"/>
            <p:nvPr/>
          </p:nvPicPr>
          <p:blipFill rotWithShape="1">
            <a:blip r:embed="rId5">
              <a:alphaModFix/>
            </a:blip>
            <a:srcRect t="-1400" r="61017"/>
            <a:stretch/>
          </p:blipFill>
          <p:spPr>
            <a:xfrm>
              <a:off x="6566112" y="3537173"/>
              <a:ext cx="422977" cy="422577"/>
            </a:xfrm>
            <a:prstGeom prst="rect">
              <a:avLst/>
            </a:prstGeom>
            <a:noFill/>
            <a:ln>
              <a:noFill/>
            </a:ln>
          </p:spPr>
        </p:pic>
        <p:sp>
          <p:nvSpPr>
            <p:cNvPr id="162" name="Rectangle 161">
              <a:extLst>
                <a:ext uri="{FF2B5EF4-FFF2-40B4-BE49-F238E27FC236}">
                  <a16:creationId xmlns:a16="http://schemas.microsoft.com/office/drawing/2014/main" id="{746F739D-668E-CF9D-8BDB-9DD0393DF5E5}"/>
                </a:ext>
              </a:extLst>
            </p:cNvPr>
            <p:cNvSpPr/>
            <p:nvPr/>
          </p:nvSpPr>
          <p:spPr>
            <a:xfrm>
              <a:off x="6946375" y="3483164"/>
              <a:ext cx="1186909" cy="307777"/>
            </a:xfrm>
            <a:prstGeom prst="rect">
              <a:avLst/>
            </a:prstGeom>
          </p:spPr>
          <p:txBody>
            <a:bodyPr wrap="square">
              <a:spAutoFit/>
            </a:bodyPr>
            <a:lstStyle/>
            <a:p>
              <a:pPr lvl="0">
                <a:buClr>
                  <a:srgbClr val="000000"/>
                </a:buClr>
                <a:defRPr/>
              </a:pPr>
              <a:r>
                <a:rPr lang="en-US" sz="1400" kern="0">
                  <a:solidFill>
                    <a:schemeClr val="accent5">
                      <a:lumMod val="25000"/>
                    </a:schemeClr>
                  </a:solidFill>
                  <a:latin typeface="DM Sans Medium"/>
                  <a:ea typeface="DM Sans Medium"/>
                  <a:cs typeface="DM Sans Medium"/>
                  <a:sym typeface="DM Sans Medium"/>
                </a:rPr>
                <a:t>Unity Catalog</a:t>
              </a:r>
              <a:endParaRPr lang="en-US" sz="500" kern="0">
                <a:solidFill>
                  <a:schemeClr val="accent5">
                    <a:lumMod val="25000"/>
                  </a:schemeClr>
                </a:solidFill>
                <a:latin typeface="DM Sans Medium"/>
                <a:ea typeface="DM Sans Medium"/>
                <a:cs typeface="DM Sans Medium"/>
                <a:sym typeface="DM Sans Medium"/>
              </a:endParaRPr>
            </a:p>
          </p:txBody>
        </p:sp>
      </p:grpSp>
      <p:sp>
        <p:nvSpPr>
          <p:cNvPr id="163" name="Rectangle: Rounded Corners 1">
            <a:extLst>
              <a:ext uri="{FF2B5EF4-FFF2-40B4-BE49-F238E27FC236}">
                <a16:creationId xmlns:a16="http://schemas.microsoft.com/office/drawing/2014/main" id="{0397F5F0-BC5A-1C41-6F5A-D93D2B94A1CD}"/>
              </a:ext>
            </a:extLst>
          </p:cNvPr>
          <p:cNvSpPr/>
          <p:nvPr/>
        </p:nvSpPr>
        <p:spPr>
          <a:xfrm>
            <a:off x="10317988" y="3059049"/>
            <a:ext cx="1436931" cy="599398"/>
          </a:xfrm>
          <a:prstGeom prst="roundRect">
            <a:avLst/>
          </a:prstGeom>
          <a:ln w="19050">
            <a:solidFill>
              <a:schemeClr val="tx1"/>
            </a:solidFill>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sz="1200">
                <a:solidFill>
                  <a:schemeClr val="accent3"/>
                </a:solidFill>
              </a:rPr>
              <a:t>API Marketplace</a:t>
            </a:r>
          </a:p>
        </p:txBody>
      </p:sp>
      <p:cxnSp>
        <p:nvCxnSpPr>
          <p:cNvPr id="164" name="Straight Arrow Connector 163">
            <a:extLst>
              <a:ext uri="{FF2B5EF4-FFF2-40B4-BE49-F238E27FC236}">
                <a16:creationId xmlns:a16="http://schemas.microsoft.com/office/drawing/2014/main" id="{8AFA1777-860C-BC9A-15DF-AF1C835E08F8}"/>
              </a:ext>
            </a:extLst>
          </p:cNvPr>
          <p:cNvCxnSpPr>
            <a:cxnSpLocks/>
            <a:stCxn id="130" idx="2"/>
          </p:cNvCxnSpPr>
          <p:nvPr/>
        </p:nvCxnSpPr>
        <p:spPr>
          <a:xfrm>
            <a:off x="11079310" y="2446292"/>
            <a:ext cx="38362" cy="625378"/>
          </a:xfrm>
          <a:prstGeom prst="straightConnector1">
            <a:avLst/>
          </a:prstGeom>
          <a:ln>
            <a:prstDash val="dash"/>
            <a:headEnd type="triangle"/>
            <a:tailEnd type="triangle"/>
          </a:ln>
        </p:spPr>
        <p:style>
          <a:lnRef idx="1">
            <a:schemeClr val="accent4"/>
          </a:lnRef>
          <a:fillRef idx="0">
            <a:schemeClr val="accent4"/>
          </a:fillRef>
          <a:effectRef idx="0">
            <a:schemeClr val="accent4"/>
          </a:effectRef>
          <a:fontRef idx="minor">
            <a:schemeClr val="tx1"/>
          </a:fontRef>
        </p:style>
      </p:cxnSp>
      <p:cxnSp>
        <p:nvCxnSpPr>
          <p:cNvPr id="165" name="Straight Arrow Connector 164">
            <a:extLst>
              <a:ext uri="{FF2B5EF4-FFF2-40B4-BE49-F238E27FC236}">
                <a16:creationId xmlns:a16="http://schemas.microsoft.com/office/drawing/2014/main" id="{6BD9DD78-CC9A-58C5-AF20-0649A7D1AA06}"/>
              </a:ext>
            </a:extLst>
          </p:cNvPr>
          <p:cNvCxnSpPr>
            <a:cxnSpLocks/>
          </p:cNvCxnSpPr>
          <p:nvPr/>
        </p:nvCxnSpPr>
        <p:spPr>
          <a:xfrm>
            <a:off x="10081216" y="2389049"/>
            <a:ext cx="609078" cy="651618"/>
          </a:xfrm>
          <a:prstGeom prst="straightConnector1">
            <a:avLst/>
          </a:prstGeom>
          <a:ln>
            <a:prstDash val="dash"/>
            <a:headEnd type="triangle"/>
            <a:tailEnd type="triangle"/>
          </a:ln>
        </p:spPr>
        <p:style>
          <a:lnRef idx="1">
            <a:schemeClr val="accent4"/>
          </a:lnRef>
          <a:fillRef idx="0">
            <a:schemeClr val="accent4"/>
          </a:fillRef>
          <a:effectRef idx="0">
            <a:schemeClr val="accent4"/>
          </a:effectRef>
          <a:fontRef idx="minor">
            <a:schemeClr val="tx1"/>
          </a:fontRef>
        </p:style>
      </p:cxnSp>
      <p:sp>
        <p:nvSpPr>
          <p:cNvPr id="166" name="TextBox 165">
            <a:extLst>
              <a:ext uri="{FF2B5EF4-FFF2-40B4-BE49-F238E27FC236}">
                <a16:creationId xmlns:a16="http://schemas.microsoft.com/office/drawing/2014/main" id="{8F4DAA59-C409-46E6-76AC-4BD01B805651}"/>
              </a:ext>
            </a:extLst>
          </p:cNvPr>
          <p:cNvSpPr txBox="1"/>
          <p:nvPr/>
        </p:nvSpPr>
        <p:spPr>
          <a:xfrm>
            <a:off x="365058" y="3110490"/>
            <a:ext cx="802784" cy="307777"/>
          </a:xfrm>
          <a:prstGeom prst="rect">
            <a:avLst/>
          </a:prstGeom>
          <a:noFill/>
        </p:spPr>
        <p:txBody>
          <a:bodyPr wrap="none" rtlCol="0">
            <a:spAutoFit/>
          </a:bodyPr>
          <a:lstStyle/>
          <a:p>
            <a:r>
              <a:rPr lang="en-US" sz="1400"/>
              <a:t>Catalogs</a:t>
            </a:r>
          </a:p>
        </p:txBody>
      </p:sp>
      <p:cxnSp>
        <p:nvCxnSpPr>
          <p:cNvPr id="167" name="Straight Arrow Connector 166">
            <a:extLst>
              <a:ext uri="{FF2B5EF4-FFF2-40B4-BE49-F238E27FC236}">
                <a16:creationId xmlns:a16="http://schemas.microsoft.com/office/drawing/2014/main" id="{7E413DD9-5B88-AA08-5C97-1457D711C07D}"/>
              </a:ext>
            </a:extLst>
          </p:cNvPr>
          <p:cNvCxnSpPr>
            <a:cxnSpLocks/>
            <a:stCxn id="22" idx="3"/>
            <a:endCxn id="134" idx="1"/>
          </p:cNvCxnSpPr>
          <p:nvPr/>
        </p:nvCxnSpPr>
        <p:spPr>
          <a:xfrm>
            <a:off x="10248735" y="4498368"/>
            <a:ext cx="409903" cy="3430"/>
          </a:xfrm>
          <a:prstGeom prst="straightConnector1">
            <a:avLst/>
          </a:prstGeom>
          <a:ln>
            <a:prstDash val="dash"/>
            <a:tailEnd type="triangle"/>
          </a:ln>
        </p:spPr>
        <p:style>
          <a:lnRef idx="1">
            <a:schemeClr val="accent3"/>
          </a:lnRef>
          <a:fillRef idx="0">
            <a:schemeClr val="accent3"/>
          </a:fillRef>
          <a:effectRef idx="0">
            <a:schemeClr val="accent3"/>
          </a:effectRef>
          <a:fontRef idx="minor">
            <a:schemeClr val="tx1"/>
          </a:fontRef>
        </p:style>
      </p:cxnSp>
      <p:cxnSp>
        <p:nvCxnSpPr>
          <p:cNvPr id="168" name="Connector: Curved 131">
            <a:extLst>
              <a:ext uri="{FF2B5EF4-FFF2-40B4-BE49-F238E27FC236}">
                <a16:creationId xmlns:a16="http://schemas.microsoft.com/office/drawing/2014/main" id="{0CF09DDA-6C42-C56D-0970-7EBC16378941}"/>
              </a:ext>
            </a:extLst>
          </p:cNvPr>
          <p:cNvCxnSpPr>
            <a:stCxn id="22" idx="3"/>
            <a:endCxn id="133" idx="1"/>
          </p:cNvCxnSpPr>
          <p:nvPr/>
        </p:nvCxnSpPr>
        <p:spPr>
          <a:xfrm>
            <a:off x="10248735" y="4498368"/>
            <a:ext cx="403116" cy="489684"/>
          </a:xfrm>
          <a:prstGeom prst="curvedConnector3">
            <a:avLst/>
          </a:prstGeom>
          <a:ln>
            <a:prstDash val="dash"/>
            <a:tailEnd type="triangle"/>
          </a:ln>
        </p:spPr>
        <p:style>
          <a:lnRef idx="1">
            <a:schemeClr val="accent3"/>
          </a:lnRef>
          <a:fillRef idx="0">
            <a:schemeClr val="accent3"/>
          </a:fillRef>
          <a:effectRef idx="0">
            <a:schemeClr val="accent3"/>
          </a:effectRef>
          <a:fontRef idx="minor">
            <a:schemeClr val="tx1"/>
          </a:fontRef>
        </p:style>
      </p:cxnSp>
      <p:sp>
        <p:nvSpPr>
          <p:cNvPr id="10" name="Text Placeholder 10">
            <a:extLst>
              <a:ext uri="{FF2B5EF4-FFF2-40B4-BE49-F238E27FC236}">
                <a16:creationId xmlns:a16="http://schemas.microsoft.com/office/drawing/2014/main" id="{B1855568-856C-DE81-4F93-B23612125F4F}"/>
              </a:ext>
            </a:extLst>
          </p:cNvPr>
          <p:cNvSpPr txBox="1">
            <a:spLocks/>
          </p:cNvSpPr>
          <p:nvPr/>
        </p:nvSpPr>
        <p:spPr>
          <a:xfrm>
            <a:off x="389840" y="141924"/>
            <a:ext cx="3567089" cy="233997"/>
          </a:xfrm>
          <a:prstGeom prst="rect">
            <a:avLst/>
          </a:prstGeom>
          <a:noFill/>
        </p:spPr>
        <p:txBody>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050" b="1" kern="0" cap="all" spc="250" dirty="0">
                <a:solidFill>
                  <a:schemeClr val="bg1">
                    <a:lumMod val="50000"/>
                  </a:schemeClr>
                </a:solidFill>
                <a:latin typeface="+mj-lt"/>
                <a:cs typeface="+mn-cs"/>
              </a:rPr>
              <a:t>CASE STUDY</a:t>
            </a:r>
            <a:endParaRPr lang="en-GB" sz="1050" b="1" kern="0" cap="all" spc="250" dirty="0">
              <a:solidFill>
                <a:schemeClr val="bg1">
                  <a:lumMod val="50000"/>
                </a:schemeClr>
              </a:solidFill>
              <a:latin typeface="+mj-lt"/>
              <a:cs typeface="+mn-cs"/>
            </a:endParaRPr>
          </a:p>
        </p:txBody>
      </p:sp>
    </p:spTree>
    <p:extLst>
      <p:ext uri="{BB962C8B-B14F-4D97-AF65-F5344CB8AC3E}">
        <p14:creationId xmlns:p14="http://schemas.microsoft.com/office/powerpoint/2010/main" val="200233274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a:extLst>
              <a:ext uri="{FF2B5EF4-FFF2-40B4-BE49-F238E27FC236}">
                <a16:creationId xmlns:a16="http://schemas.microsoft.com/office/drawing/2014/main" id="{B7BDD97D-C43B-49BB-815B-FA6A13ABE7DF}"/>
              </a:ext>
            </a:extLst>
          </p:cNvPr>
          <p:cNvSpPr>
            <a:spLocks noGrp="1"/>
          </p:cNvSpPr>
          <p:nvPr>
            <p:ph type="title"/>
          </p:nvPr>
        </p:nvSpPr>
        <p:spPr>
          <a:xfrm>
            <a:off x="469900" y="402586"/>
            <a:ext cx="11055754" cy="594360"/>
          </a:xfrm>
        </p:spPr>
        <p:txBody>
          <a:bodyPr/>
          <a:lstStyle/>
          <a:p>
            <a:r>
              <a:rPr lang="en-US" sz="2200">
                <a:ea typeface="Open Sans"/>
                <a:cs typeface="Open Sans"/>
              </a:rPr>
              <a:t>Our </a:t>
            </a:r>
            <a:r>
              <a:rPr lang="en-US" sz="2200">
                <a:solidFill>
                  <a:schemeClr val="accent2"/>
                </a:solidFill>
                <a:ea typeface="Open Sans"/>
                <a:cs typeface="Open Sans"/>
              </a:rPr>
              <a:t>approach</a:t>
            </a:r>
            <a:r>
              <a:rPr lang="en-US" sz="2200">
                <a:ea typeface="Open Sans"/>
                <a:cs typeface="Open Sans"/>
              </a:rPr>
              <a:t> to enable a Marketplace to drive Data &amp; Analytics Products</a:t>
            </a:r>
          </a:p>
        </p:txBody>
      </p:sp>
      <p:grpSp>
        <p:nvGrpSpPr>
          <p:cNvPr id="2" name="object 3">
            <a:extLst>
              <a:ext uri="{FF2B5EF4-FFF2-40B4-BE49-F238E27FC236}">
                <a16:creationId xmlns:a16="http://schemas.microsoft.com/office/drawing/2014/main" id="{B41D3AA3-637A-21A2-5379-135D630880DC}"/>
              </a:ext>
            </a:extLst>
          </p:cNvPr>
          <p:cNvGrpSpPr/>
          <p:nvPr/>
        </p:nvGrpSpPr>
        <p:grpSpPr>
          <a:xfrm>
            <a:off x="8568101" y="1200551"/>
            <a:ext cx="2887111" cy="362397"/>
            <a:chOff x="8570976" y="1199388"/>
            <a:chExt cx="2888615" cy="362585"/>
          </a:xfrm>
        </p:grpSpPr>
        <p:sp>
          <p:nvSpPr>
            <p:cNvPr id="3" name="object 4">
              <a:extLst>
                <a:ext uri="{FF2B5EF4-FFF2-40B4-BE49-F238E27FC236}">
                  <a16:creationId xmlns:a16="http://schemas.microsoft.com/office/drawing/2014/main" id="{1D7F2B40-593D-2544-65B3-ABA21C679700}"/>
                </a:ext>
              </a:extLst>
            </p:cNvPr>
            <p:cNvSpPr/>
            <p:nvPr/>
          </p:nvSpPr>
          <p:spPr>
            <a:xfrm>
              <a:off x="8590026" y="1535424"/>
              <a:ext cx="2850515" cy="7620"/>
            </a:xfrm>
            <a:custGeom>
              <a:avLst/>
              <a:gdLst/>
              <a:ahLst/>
              <a:cxnLst/>
              <a:rect l="l" t="t" r="r" b="b"/>
              <a:pathLst>
                <a:path w="2850515" h="7619">
                  <a:moveTo>
                    <a:pt x="0" y="7378"/>
                  </a:moveTo>
                  <a:lnTo>
                    <a:pt x="2850299" y="0"/>
                  </a:lnTo>
                </a:path>
              </a:pathLst>
            </a:custGeom>
            <a:ln w="38100">
              <a:solidFill>
                <a:srgbClr val="52555A"/>
              </a:solidFill>
            </a:ln>
          </p:spPr>
          <p:txBody>
            <a:bodyPr wrap="square" lIns="0" tIns="0" rIns="0" bIns="0" rtlCol="0"/>
            <a:lstStyle/>
            <a:p>
              <a:pPr defTabSz="457063"/>
              <a:endParaRPr sz="1798">
                <a:solidFill>
                  <a:srgbClr val="37424A"/>
                </a:solidFill>
                <a:latin typeface="Arial Narrow"/>
              </a:endParaRPr>
            </a:p>
          </p:txBody>
        </p:sp>
        <p:pic>
          <p:nvPicPr>
            <p:cNvPr id="4" name="object 5">
              <a:extLst>
                <a:ext uri="{FF2B5EF4-FFF2-40B4-BE49-F238E27FC236}">
                  <a16:creationId xmlns:a16="http://schemas.microsoft.com/office/drawing/2014/main" id="{752E7B9D-6964-6637-3456-137CF7A747B7}"/>
                </a:ext>
              </a:extLst>
            </p:cNvPr>
            <p:cNvPicPr/>
            <p:nvPr/>
          </p:nvPicPr>
          <p:blipFill>
            <a:blip r:embed="rId3" cstate="screen">
              <a:extLst>
                <a:ext uri="{28A0092B-C50C-407E-A947-70E740481C1C}">
                  <a14:useLocalDpi xmlns:a14="http://schemas.microsoft.com/office/drawing/2010/main"/>
                </a:ext>
              </a:extLst>
            </a:blip>
            <a:stretch>
              <a:fillRect/>
            </a:stretch>
          </p:blipFill>
          <p:spPr>
            <a:xfrm>
              <a:off x="8764523" y="1210055"/>
              <a:ext cx="271271" cy="271271"/>
            </a:xfrm>
            <a:prstGeom prst="rect">
              <a:avLst/>
            </a:prstGeom>
          </p:spPr>
        </p:pic>
        <p:pic>
          <p:nvPicPr>
            <p:cNvPr id="5" name="object 6">
              <a:extLst>
                <a:ext uri="{FF2B5EF4-FFF2-40B4-BE49-F238E27FC236}">
                  <a16:creationId xmlns:a16="http://schemas.microsoft.com/office/drawing/2014/main" id="{0E8F8D57-B919-46EF-2366-918CC926B2F2}"/>
                </a:ext>
              </a:extLst>
            </p:cNvPr>
            <p:cNvPicPr/>
            <p:nvPr/>
          </p:nvPicPr>
          <p:blipFill>
            <a:blip r:embed="rId3" cstate="screen">
              <a:extLst>
                <a:ext uri="{28A0092B-C50C-407E-A947-70E740481C1C}">
                  <a14:useLocalDpi xmlns:a14="http://schemas.microsoft.com/office/drawing/2010/main"/>
                </a:ext>
              </a:extLst>
            </a:blip>
            <a:stretch>
              <a:fillRect/>
            </a:stretch>
          </p:blipFill>
          <p:spPr>
            <a:xfrm>
              <a:off x="10829543" y="1199388"/>
              <a:ext cx="271271" cy="271271"/>
            </a:xfrm>
            <a:prstGeom prst="rect">
              <a:avLst/>
            </a:prstGeom>
          </p:spPr>
        </p:pic>
      </p:grpSp>
      <p:sp>
        <p:nvSpPr>
          <p:cNvPr id="6" name="object 7">
            <a:extLst>
              <a:ext uri="{FF2B5EF4-FFF2-40B4-BE49-F238E27FC236}">
                <a16:creationId xmlns:a16="http://schemas.microsoft.com/office/drawing/2014/main" id="{C365245C-EC09-1BA2-8FD5-8439DDFBDFDF}"/>
              </a:ext>
            </a:extLst>
          </p:cNvPr>
          <p:cNvSpPr txBox="1"/>
          <p:nvPr/>
        </p:nvSpPr>
        <p:spPr>
          <a:xfrm>
            <a:off x="8603602" y="1612320"/>
            <a:ext cx="2853474" cy="868822"/>
          </a:xfrm>
          <a:prstGeom prst="rect">
            <a:avLst/>
          </a:prstGeom>
        </p:spPr>
        <p:txBody>
          <a:bodyPr vert="horz" wrap="square" lIns="0" tIns="12059" rIns="0" bIns="0" rtlCol="0">
            <a:spAutoFit/>
          </a:bodyPr>
          <a:lstStyle/>
          <a:p>
            <a:pPr marL="12692" marR="5076" defTabSz="457063">
              <a:lnSpc>
                <a:spcPct val="130000"/>
              </a:lnSpc>
              <a:spcBef>
                <a:spcPts val="95"/>
              </a:spcBef>
            </a:pPr>
            <a:r>
              <a:rPr sz="1100" spc="-40">
                <a:solidFill>
                  <a:srgbClr val="37424A"/>
                </a:solidFill>
                <a:cs typeface="Open Sans"/>
              </a:rPr>
              <a:t>C</a:t>
            </a:r>
            <a:r>
              <a:rPr sz="1100" spc="-45">
                <a:solidFill>
                  <a:srgbClr val="37424A"/>
                </a:solidFill>
                <a:cs typeface="Open Sans"/>
              </a:rPr>
              <a:t>u</a:t>
            </a:r>
            <a:r>
              <a:rPr sz="1100" spc="-35">
                <a:solidFill>
                  <a:srgbClr val="37424A"/>
                </a:solidFill>
                <a:cs typeface="Open Sans"/>
              </a:rPr>
              <a:t>r</a:t>
            </a:r>
            <a:r>
              <a:rPr sz="1100" spc="-40">
                <a:solidFill>
                  <a:srgbClr val="37424A"/>
                </a:solidFill>
                <a:cs typeface="Open Sans"/>
              </a:rPr>
              <a:t>a</a:t>
            </a:r>
            <a:r>
              <a:rPr sz="1100" spc="-45">
                <a:solidFill>
                  <a:srgbClr val="37424A"/>
                </a:solidFill>
                <a:cs typeface="Open Sans"/>
              </a:rPr>
              <a:t>t</a:t>
            </a:r>
            <a:r>
              <a:rPr sz="1100" spc="-35">
                <a:solidFill>
                  <a:srgbClr val="37424A"/>
                </a:solidFill>
                <a:cs typeface="Open Sans"/>
              </a:rPr>
              <a:t>e</a:t>
            </a:r>
            <a:r>
              <a:rPr sz="1100">
                <a:solidFill>
                  <a:srgbClr val="37424A"/>
                </a:solidFill>
                <a:cs typeface="Open Sans"/>
              </a:rPr>
              <a:t>d</a:t>
            </a:r>
            <a:r>
              <a:rPr sz="1100" spc="-30">
                <a:solidFill>
                  <a:srgbClr val="37424A"/>
                </a:solidFill>
                <a:cs typeface="Open Sans"/>
              </a:rPr>
              <a:t> </a:t>
            </a:r>
            <a:r>
              <a:rPr sz="1100" spc="-40">
                <a:solidFill>
                  <a:srgbClr val="37424A"/>
                </a:solidFill>
                <a:cs typeface="Open Sans"/>
              </a:rPr>
              <a:t>a</a:t>
            </a:r>
            <a:r>
              <a:rPr sz="1100" spc="-45">
                <a:solidFill>
                  <a:srgbClr val="37424A"/>
                </a:solidFill>
                <a:cs typeface="Open Sans"/>
              </a:rPr>
              <a:t>n</a:t>
            </a:r>
            <a:r>
              <a:rPr sz="1100">
                <a:solidFill>
                  <a:srgbClr val="37424A"/>
                </a:solidFill>
                <a:cs typeface="Open Sans"/>
              </a:rPr>
              <a:t>d</a:t>
            </a:r>
            <a:r>
              <a:rPr sz="1100" spc="-55">
                <a:solidFill>
                  <a:srgbClr val="37424A"/>
                </a:solidFill>
                <a:cs typeface="Open Sans"/>
              </a:rPr>
              <a:t> </a:t>
            </a:r>
            <a:r>
              <a:rPr sz="1100" spc="-35">
                <a:solidFill>
                  <a:srgbClr val="37424A"/>
                </a:solidFill>
                <a:cs typeface="Open Sans"/>
              </a:rPr>
              <a:t>co</a:t>
            </a:r>
            <a:r>
              <a:rPr sz="1100" spc="-45">
                <a:solidFill>
                  <a:srgbClr val="37424A"/>
                </a:solidFill>
                <a:cs typeface="Open Sans"/>
              </a:rPr>
              <a:t>n</a:t>
            </a:r>
            <a:r>
              <a:rPr sz="1100" spc="-35">
                <a:solidFill>
                  <a:srgbClr val="37424A"/>
                </a:solidFill>
                <a:cs typeface="Open Sans"/>
              </a:rPr>
              <a:t>s</a:t>
            </a:r>
            <a:r>
              <a:rPr sz="1100" spc="-45">
                <a:solidFill>
                  <a:srgbClr val="37424A"/>
                </a:solidFill>
                <a:cs typeface="Open Sans"/>
              </a:rPr>
              <a:t>u</a:t>
            </a:r>
            <a:r>
              <a:rPr sz="1100" spc="-35">
                <a:solidFill>
                  <a:srgbClr val="37424A"/>
                </a:solidFill>
                <a:cs typeface="Open Sans"/>
              </a:rPr>
              <a:t>m</a:t>
            </a:r>
            <a:r>
              <a:rPr sz="1100" spc="-40">
                <a:solidFill>
                  <a:srgbClr val="37424A"/>
                </a:solidFill>
                <a:cs typeface="Open Sans"/>
              </a:rPr>
              <a:t>a</a:t>
            </a:r>
            <a:r>
              <a:rPr sz="1100" spc="-45">
                <a:solidFill>
                  <a:srgbClr val="37424A"/>
                </a:solidFill>
                <a:cs typeface="Open Sans"/>
              </a:rPr>
              <a:t>b</a:t>
            </a:r>
            <a:r>
              <a:rPr sz="1100" spc="-40">
                <a:solidFill>
                  <a:srgbClr val="37424A"/>
                </a:solidFill>
                <a:cs typeface="Open Sans"/>
              </a:rPr>
              <a:t>l</a:t>
            </a:r>
            <a:r>
              <a:rPr sz="1100">
                <a:solidFill>
                  <a:srgbClr val="37424A"/>
                </a:solidFill>
                <a:cs typeface="Open Sans"/>
              </a:rPr>
              <a:t>e</a:t>
            </a:r>
            <a:r>
              <a:rPr sz="1100" spc="-20">
                <a:solidFill>
                  <a:srgbClr val="37424A"/>
                </a:solidFill>
                <a:cs typeface="Open Sans"/>
              </a:rPr>
              <a:t> </a:t>
            </a:r>
            <a:r>
              <a:rPr sz="1100" spc="-45">
                <a:solidFill>
                  <a:srgbClr val="37424A"/>
                </a:solidFill>
                <a:cs typeface="Open Sans"/>
              </a:rPr>
              <a:t>d</a:t>
            </a:r>
            <a:r>
              <a:rPr sz="1100" spc="-40">
                <a:solidFill>
                  <a:srgbClr val="37424A"/>
                </a:solidFill>
                <a:cs typeface="Open Sans"/>
              </a:rPr>
              <a:t>i</a:t>
            </a:r>
            <a:r>
              <a:rPr sz="1100" spc="-45">
                <a:solidFill>
                  <a:srgbClr val="37424A"/>
                </a:solidFill>
                <a:cs typeface="Open Sans"/>
              </a:rPr>
              <a:t>g</a:t>
            </a:r>
            <a:r>
              <a:rPr sz="1100" spc="-40">
                <a:solidFill>
                  <a:srgbClr val="37424A"/>
                </a:solidFill>
                <a:cs typeface="Open Sans"/>
              </a:rPr>
              <a:t>i</a:t>
            </a:r>
            <a:r>
              <a:rPr sz="1100" spc="-45">
                <a:solidFill>
                  <a:srgbClr val="37424A"/>
                </a:solidFill>
                <a:cs typeface="Open Sans"/>
              </a:rPr>
              <a:t>t</a:t>
            </a:r>
            <a:r>
              <a:rPr sz="1100" spc="-40">
                <a:solidFill>
                  <a:srgbClr val="37424A"/>
                </a:solidFill>
                <a:cs typeface="Open Sans"/>
              </a:rPr>
              <a:t>a</a:t>
            </a:r>
            <a:r>
              <a:rPr sz="1100">
                <a:solidFill>
                  <a:srgbClr val="37424A"/>
                </a:solidFill>
                <a:cs typeface="Open Sans"/>
              </a:rPr>
              <a:t>l</a:t>
            </a:r>
            <a:r>
              <a:rPr sz="1100" spc="-25">
                <a:solidFill>
                  <a:srgbClr val="37424A"/>
                </a:solidFill>
                <a:cs typeface="Open Sans"/>
              </a:rPr>
              <a:t> </a:t>
            </a:r>
            <a:r>
              <a:rPr sz="1100" spc="-40">
                <a:solidFill>
                  <a:srgbClr val="37424A"/>
                </a:solidFill>
                <a:cs typeface="Open Sans"/>
              </a:rPr>
              <a:t>i</a:t>
            </a:r>
            <a:r>
              <a:rPr sz="1100" spc="-45">
                <a:solidFill>
                  <a:srgbClr val="37424A"/>
                </a:solidFill>
                <a:cs typeface="Open Sans"/>
              </a:rPr>
              <a:t>n</a:t>
            </a:r>
            <a:r>
              <a:rPr sz="1100" spc="-40">
                <a:solidFill>
                  <a:srgbClr val="37424A"/>
                </a:solidFill>
                <a:cs typeface="Open Sans"/>
              </a:rPr>
              <a:t>f</a:t>
            </a:r>
            <a:r>
              <a:rPr sz="1100" spc="-35">
                <a:solidFill>
                  <a:srgbClr val="37424A"/>
                </a:solidFill>
                <a:cs typeface="Open Sans"/>
              </a:rPr>
              <a:t>orm</a:t>
            </a:r>
            <a:r>
              <a:rPr sz="1100" spc="-40">
                <a:solidFill>
                  <a:srgbClr val="37424A"/>
                </a:solidFill>
                <a:cs typeface="Open Sans"/>
              </a:rPr>
              <a:t>a</a:t>
            </a:r>
            <a:r>
              <a:rPr sz="1100" spc="-45">
                <a:solidFill>
                  <a:srgbClr val="37424A"/>
                </a:solidFill>
                <a:cs typeface="Open Sans"/>
              </a:rPr>
              <a:t>t</a:t>
            </a:r>
            <a:r>
              <a:rPr sz="1100" spc="-40">
                <a:solidFill>
                  <a:srgbClr val="37424A"/>
                </a:solidFill>
                <a:cs typeface="Open Sans"/>
              </a:rPr>
              <a:t>i</a:t>
            </a:r>
            <a:r>
              <a:rPr sz="1100" spc="-35">
                <a:solidFill>
                  <a:srgbClr val="37424A"/>
                </a:solidFill>
                <a:cs typeface="Open Sans"/>
              </a:rPr>
              <a:t>o</a:t>
            </a:r>
            <a:r>
              <a:rPr sz="1100">
                <a:solidFill>
                  <a:srgbClr val="37424A"/>
                </a:solidFill>
                <a:cs typeface="Open Sans"/>
              </a:rPr>
              <a:t>n </a:t>
            </a:r>
            <a:r>
              <a:rPr sz="1100" spc="-35">
                <a:solidFill>
                  <a:srgbClr val="37424A"/>
                </a:solidFill>
                <a:cs typeface="Open Sans"/>
              </a:rPr>
              <a:t>derived</a:t>
            </a:r>
            <a:r>
              <a:rPr sz="1100" spc="-55">
                <a:solidFill>
                  <a:srgbClr val="37424A"/>
                </a:solidFill>
                <a:cs typeface="Open Sans"/>
              </a:rPr>
              <a:t> </a:t>
            </a:r>
            <a:r>
              <a:rPr sz="1100" spc="-30">
                <a:solidFill>
                  <a:srgbClr val="37424A"/>
                </a:solidFill>
                <a:cs typeface="Open Sans"/>
              </a:rPr>
              <a:t>from</a:t>
            </a:r>
            <a:r>
              <a:rPr sz="1100" spc="-55">
                <a:solidFill>
                  <a:srgbClr val="37424A"/>
                </a:solidFill>
                <a:cs typeface="Open Sans"/>
              </a:rPr>
              <a:t> </a:t>
            </a:r>
            <a:r>
              <a:rPr sz="1100" spc="-25">
                <a:solidFill>
                  <a:srgbClr val="37424A"/>
                </a:solidFill>
                <a:cs typeface="Open Sans"/>
              </a:rPr>
              <a:t>one</a:t>
            </a:r>
            <a:r>
              <a:rPr sz="1100" spc="-65">
                <a:solidFill>
                  <a:srgbClr val="37424A"/>
                </a:solidFill>
                <a:cs typeface="Open Sans"/>
              </a:rPr>
              <a:t> </a:t>
            </a:r>
            <a:r>
              <a:rPr sz="1100" spc="-20">
                <a:solidFill>
                  <a:srgbClr val="37424A"/>
                </a:solidFill>
                <a:cs typeface="Open Sans"/>
              </a:rPr>
              <a:t>or</a:t>
            </a:r>
            <a:r>
              <a:rPr sz="1100" spc="-65">
                <a:solidFill>
                  <a:srgbClr val="37424A"/>
                </a:solidFill>
                <a:cs typeface="Open Sans"/>
              </a:rPr>
              <a:t> </a:t>
            </a:r>
            <a:r>
              <a:rPr sz="1100" spc="-25">
                <a:solidFill>
                  <a:srgbClr val="37424A"/>
                </a:solidFill>
                <a:cs typeface="Open Sans"/>
              </a:rPr>
              <a:t>more</a:t>
            </a:r>
            <a:r>
              <a:rPr sz="1100" spc="-65">
                <a:solidFill>
                  <a:srgbClr val="37424A"/>
                </a:solidFill>
                <a:cs typeface="Open Sans"/>
              </a:rPr>
              <a:t> </a:t>
            </a:r>
            <a:r>
              <a:rPr sz="1100" spc="-35">
                <a:solidFill>
                  <a:srgbClr val="37424A"/>
                </a:solidFill>
                <a:cs typeface="Open Sans"/>
              </a:rPr>
              <a:t>datasets</a:t>
            </a:r>
            <a:r>
              <a:rPr sz="1100" spc="-25">
                <a:solidFill>
                  <a:srgbClr val="37424A"/>
                </a:solidFill>
                <a:cs typeface="Open Sans"/>
              </a:rPr>
              <a:t> to</a:t>
            </a:r>
            <a:r>
              <a:rPr sz="1100" spc="-55">
                <a:solidFill>
                  <a:srgbClr val="37424A"/>
                </a:solidFill>
                <a:cs typeface="Open Sans"/>
              </a:rPr>
              <a:t> </a:t>
            </a:r>
            <a:r>
              <a:rPr sz="1100" spc="-40">
                <a:solidFill>
                  <a:srgbClr val="37424A"/>
                </a:solidFill>
                <a:cs typeface="Open Sans"/>
              </a:rPr>
              <a:t>support </a:t>
            </a:r>
            <a:r>
              <a:rPr sz="1100" spc="-270">
                <a:solidFill>
                  <a:srgbClr val="37424A"/>
                </a:solidFill>
                <a:cs typeface="Open Sans"/>
              </a:rPr>
              <a:t> </a:t>
            </a:r>
            <a:r>
              <a:rPr sz="1100" spc="-45">
                <a:solidFill>
                  <a:srgbClr val="37424A"/>
                </a:solidFill>
                <a:cs typeface="Open Sans"/>
              </a:rPr>
              <a:t>g</a:t>
            </a:r>
            <a:r>
              <a:rPr sz="1100" spc="-35">
                <a:solidFill>
                  <a:srgbClr val="37424A"/>
                </a:solidFill>
                <a:cs typeface="Open Sans"/>
              </a:rPr>
              <a:t>e</a:t>
            </a:r>
            <a:r>
              <a:rPr sz="1100" spc="-45">
                <a:solidFill>
                  <a:srgbClr val="37424A"/>
                </a:solidFill>
                <a:cs typeface="Open Sans"/>
              </a:rPr>
              <a:t>n</a:t>
            </a:r>
            <a:r>
              <a:rPr sz="1100" spc="-35">
                <a:solidFill>
                  <a:srgbClr val="37424A"/>
                </a:solidFill>
                <a:cs typeface="Open Sans"/>
              </a:rPr>
              <a:t>er</a:t>
            </a:r>
            <a:r>
              <a:rPr sz="1100" spc="-40">
                <a:solidFill>
                  <a:srgbClr val="37424A"/>
                </a:solidFill>
                <a:cs typeface="Open Sans"/>
              </a:rPr>
              <a:t>a</a:t>
            </a:r>
            <a:r>
              <a:rPr sz="1100" spc="-45">
                <a:solidFill>
                  <a:srgbClr val="37424A"/>
                </a:solidFill>
                <a:cs typeface="Open Sans"/>
              </a:rPr>
              <a:t>t</a:t>
            </a:r>
            <a:r>
              <a:rPr sz="1100" spc="-40">
                <a:solidFill>
                  <a:srgbClr val="37424A"/>
                </a:solidFill>
                <a:cs typeface="Open Sans"/>
              </a:rPr>
              <a:t>i</a:t>
            </a:r>
            <a:r>
              <a:rPr sz="1100" spc="-35">
                <a:solidFill>
                  <a:srgbClr val="37424A"/>
                </a:solidFill>
                <a:cs typeface="Open Sans"/>
              </a:rPr>
              <a:t>o</a:t>
            </a:r>
            <a:r>
              <a:rPr sz="1100">
                <a:solidFill>
                  <a:srgbClr val="37424A"/>
                </a:solidFill>
                <a:cs typeface="Open Sans"/>
              </a:rPr>
              <a:t>n</a:t>
            </a:r>
            <a:r>
              <a:rPr sz="1100" spc="-40">
                <a:solidFill>
                  <a:srgbClr val="37424A"/>
                </a:solidFill>
                <a:cs typeface="Open Sans"/>
              </a:rPr>
              <a:t> </a:t>
            </a:r>
            <a:r>
              <a:rPr sz="1100" spc="-35">
                <a:solidFill>
                  <a:srgbClr val="37424A"/>
                </a:solidFill>
                <a:cs typeface="Open Sans"/>
              </a:rPr>
              <a:t>o</a:t>
            </a:r>
            <a:r>
              <a:rPr sz="1100">
                <a:solidFill>
                  <a:srgbClr val="37424A"/>
                </a:solidFill>
                <a:cs typeface="Open Sans"/>
              </a:rPr>
              <a:t>f</a:t>
            </a:r>
            <a:r>
              <a:rPr sz="1100" spc="-60">
                <a:solidFill>
                  <a:srgbClr val="37424A"/>
                </a:solidFill>
                <a:cs typeface="Open Sans"/>
              </a:rPr>
              <a:t> </a:t>
            </a:r>
            <a:r>
              <a:rPr sz="1100" spc="-45">
                <a:solidFill>
                  <a:srgbClr val="37424A"/>
                </a:solidFill>
                <a:cs typeface="Open Sans"/>
              </a:rPr>
              <a:t>bu</a:t>
            </a:r>
            <a:r>
              <a:rPr sz="1100" spc="-35">
                <a:solidFill>
                  <a:srgbClr val="37424A"/>
                </a:solidFill>
                <a:cs typeface="Open Sans"/>
              </a:rPr>
              <a:t>s</a:t>
            </a:r>
            <a:r>
              <a:rPr sz="1100" spc="-40">
                <a:solidFill>
                  <a:srgbClr val="37424A"/>
                </a:solidFill>
                <a:cs typeface="Open Sans"/>
              </a:rPr>
              <a:t>i</a:t>
            </a:r>
            <a:r>
              <a:rPr sz="1100" spc="-45">
                <a:solidFill>
                  <a:srgbClr val="37424A"/>
                </a:solidFill>
                <a:cs typeface="Open Sans"/>
              </a:rPr>
              <a:t>n</a:t>
            </a:r>
            <a:r>
              <a:rPr sz="1100" spc="-35">
                <a:solidFill>
                  <a:srgbClr val="37424A"/>
                </a:solidFill>
                <a:cs typeface="Open Sans"/>
              </a:rPr>
              <a:t>es</a:t>
            </a:r>
            <a:r>
              <a:rPr sz="1100">
                <a:solidFill>
                  <a:srgbClr val="37424A"/>
                </a:solidFill>
                <a:cs typeface="Open Sans"/>
              </a:rPr>
              <a:t>s</a:t>
            </a:r>
            <a:r>
              <a:rPr sz="1100" spc="-35">
                <a:solidFill>
                  <a:srgbClr val="37424A"/>
                </a:solidFill>
                <a:cs typeface="Open Sans"/>
              </a:rPr>
              <a:t> </a:t>
            </a:r>
            <a:r>
              <a:rPr sz="1100" spc="-40">
                <a:solidFill>
                  <a:srgbClr val="37424A"/>
                </a:solidFill>
                <a:cs typeface="Open Sans"/>
              </a:rPr>
              <a:t>i</a:t>
            </a:r>
            <a:r>
              <a:rPr sz="1100" spc="-45">
                <a:solidFill>
                  <a:srgbClr val="37424A"/>
                </a:solidFill>
                <a:cs typeface="Open Sans"/>
              </a:rPr>
              <a:t>n</a:t>
            </a:r>
            <a:r>
              <a:rPr sz="1100" spc="-35">
                <a:solidFill>
                  <a:srgbClr val="37424A"/>
                </a:solidFill>
                <a:cs typeface="Open Sans"/>
              </a:rPr>
              <a:t>s</a:t>
            </a:r>
            <a:r>
              <a:rPr sz="1100" spc="-40">
                <a:solidFill>
                  <a:srgbClr val="37424A"/>
                </a:solidFill>
                <a:cs typeface="Open Sans"/>
              </a:rPr>
              <a:t>i</a:t>
            </a:r>
            <a:r>
              <a:rPr sz="1100" spc="-45">
                <a:solidFill>
                  <a:srgbClr val="37424A"/>
                </a:solidFill>
                <a:cs typeface="Open Sans"/>
              </a:rPr>
              <a:t>ght</a:t>
            </a:r>
            <a:r>
              <a:rPr sz="1100">
                <a:solidFill>
                  <a:srgbClr val="37424A"/>
                </a:solidFill>
                <a:cs typeface="Open Sans"/>
              </a:rPr>
              <a:t>s</a:t>
            </a:r>
            <a:r>
              <a:rPr sz="1100" spc="-10">
                <a:solidFill>
                  <a:srgbClr val="37424A"/>
                </a:solidFill>
                <a:cs typeface="Open Sans"/>
              </a:rPr>
              <a:t> </a:t>
            </a:r>
            <a:r>
              <a:rPr sz="1100" spc="-40">
                <a:solidFill>
                  <a:srgbClr val="37424A"/>
                </a:solidFill>
                <a:cs typeface="Open Sans"/>
              </a:rPr>
              <a:t>a</a:t>
            </a:r>
            <a:r>
              <a:rPr sz="1100" spc="-45">
                <a:solidFill>
                  <a:srgbClr val="37424A"/>
                </a:solidFill>
                <a:cs typeface="Open Sans"/>
              </a:rPr>
              <a:t>nd</a:t>
            </a:r>
            <a:r>
              <a:rPr lang="en-US" sz="1100" spc="-45">
                <a:solidFill>
                  <a:srgbClr val="37424A"/>
                </a:solidFill>
                <a:cs typeface="Open Sans"/>
              </a:rPr>
              <a:t> </a:t>
            </a:r>
            <a:r>
              <a:rPr lang="en-US" sz="1100" spc="-35">
                <a:solidFill>
                  <a:srgbClr val="37424A"/>
                </a:solidFill>
                <a:cs typeface="Open Sans"/>
              </a:rPr>
              <a:t>outcomes.</a:t>
            </a:r>
            <a:r>
              <a:rPr lang="en-US" sz="1100" spc="-55">
                <a:solidFill>
                  <a:srgbClr val="37424A"/>
                </a:solidFill>
                <a:cs typeface="Open Sans"/>
              </a:rPr>
              <a:t> </a:t>
            </a:r>
            <a:r>
              <a:rPr lang="en-US" sz="1100" spc="-30">
                <a:solidFill>
                  <a:srgbClr val="37424A"/>
                </a:solidFill>
                <a:cs typeface="Open Sans"/>
              </a:rPr>
              <a:t>They</a:t>
            </a:r>
            <a:r>
              <a:rPr lang="en-US" sz="1100" spc="-65">
                <a:solidFill>
                  <a:srgbClr val="37424A"/>
                </a:solidFill>
                <a:cs typeface="Open Sans"/>
              </a:rPr>
              <a:t> </a:t>
            </a:r>
            <a:r>
              <a:rPr lang="en-US" sz="1100" spc="-25">
                <a:solidFill>
                  <a:srgbClr val="37424A"/>
                </a:solidFill>
                <a:cs typeface="Open Sans"/>
              </a:rPr>
              <a:t>are</a:t>
            </a:r>
            <a:r>
              <a:rPr lang="en-US" sz="1100" spc="-50">
                <a:solidFill>
                  <a:srgbClr val="37424A"/>
                </a:solidFill>
                <a:cs typeface="Open Sans"/>
              </a:rPr>
              <a:t> </a:t>
            </a:r>
            <a:r>
              <a:rPr lang="en-US" sz="1100" spc="-35">
                <a:solidFill>
                  <a:srgbClr val="37424A"/>
                </a:solidFill>
                <a:cs typeface="Open Sans"/>
              </a:rPr>
              <a:t>highly</a:t>
            </a:r>
            <a:r>
              <a:rPr lang="en-US" sz="1100" spc="-30">
                <a:solidFill>
                  <a:srgbClr val="37424A"/>
                </a:solidFill>
                <a:cs typeface="Open Sans"/>
              </a:rPr>
              <a:t> </a:t>
            </a:r>
            <a:r>
              <a:rPr lang="en-US" sz="1100" spc="-35">
                <a:solidFill>
                  <a:srgbClr val="37424A"/>
                </a:solidFill>
                <a:cs typeface="Open Sans"/>
              </a:rPr>
              <a:t>governed</a:t>
            </a:r>
            <a:r>
              <a:rPr lang="en-US" sz="1100" spc="-65">
                <a:solidFill>
                  <a:srgbClr val="37424A"/>
                </a:solidFill>
                <a:cs typeface="Open Sans"/>
              </a:rPr>
              <a:t> </a:t>
            </a:r>
            <a:r>
              <a:rPr lang="en-US" sz="1100" spc="-25">
                <a:solidFill>
                  <a:srgbClr val="37424A"/>
                </a:solidFill>
                <a:cs typeface="Open Sans"/>
              </a:rPr>
              <a:t>to</a:t>
            </a:r>
            <a:r>
              <a:rPr lang="en-US" sz="1100" spc="-50">
                <a:solidFill>
                  <a:srgbClr val="37424A"/>
                </a:solidFill>
                <a:cs typeface="Open Sans"/>
              </a:rPr>
              <a:t> </a:t>
            </a:r>
            <a:r>
              <a:rPr lang="en-US" sz="1100" spc="-30">
                <a:solidFill>
                  <a:srgbClr val="37424A"/>
                </a:solidFill>
                <a:cs typeface="Open Sans"/>
              </a:rPr>
              <a:t>make </a:t>
            </a:r>
            <a:r>
              <a:rPr lang="en-US" sz="1100" spc="-45">
                <a:solidFill>
                  <a:srgbClr val="37424A"/>
                </a:solidFill>
                <a:cs typeface="Open Sans"/>
              </a:rPr>
              <a:t>th</a:t>
            </a:r>
            <a:r>
              <a:rPr lang="en-US" sz="1100" spc="-35">
                <a:solidFill>
                  <a:srgbClr val="37424A"/>
                </a:solidFill>
                <a:cs typeface="Open Sans"/>
              </a:rPr>
              <a:t>e</a:t>
            </a:r>
            <a:r>
              <a:rPr lang="en-US" sz="1100">
                <a:solidFill>
                  <a:srgbClr val="37424A"/>
                </a:solidFill>
                <a:cs typeface="Open Sans"/>
              </a:rPr>
              <a:t>m</a:t>
            </a:r>
            <a:r>
              <a:rPr lang="en-US" sz="1100" spc="-55">
                <a:solidFill>
                  <a:srgbClr val="37424A"/>
                </a:solidFill>
                <a:cs typeface="Open Sans"/>
              </a:rPr>
              <a:t> </a:t>
            </a:r>
            <a:r>
              <a:rPr lang="en-US" sz="1100" spc="-45">
                <a:solidFill>
                  <a:srgbClr val="37424A"/>
                </a:solidFill>
                <a:cs typeface="Open Sans"/>
              </a:rPr>
              <a:t>d</a:t>
            </a:r>
            <a:r>
              <a:rPr lang="en-US" sz="1100" spc="-40">
                <a:solidFill>
                  <a:srgbClr val="37424A"/>
                </a:solidFill>
                <a:cs typeface="Open Sans"/>
              </a:rPr>
              <a:t>i</a:t>
            </a:r>
            <a:r>
              <a:rPr lang="en-US" sz="1100" spc="-35">
                <a:solidFill>
                  <a:srgbClr val="37424A"/>
                </a:solidFill>
                <a:cs typeface="Open Sans"/>
              </a:rPr>
              <a:t>sco</a:t>
            </a:r>
            <a:r>
              <a:rPr lang="en-US" sz="1100" spc="-40">
                <a:solidFill>
                  <a:srgbClr val="37424A"/>
                </a:solidFill>
                <a:cs typeface="Open Sans"/>
              </a:rPr>
              <a:t>v</a:t>
            </a:r>
            <a:r>
              <a:rPr lang="en-US" sz="1100" spc="-35">
                <a:solidFill>
                  <a:srgbClr val="37424A"/>
                </a:solidFill>
                <a:cs typeface="Open Sans"/>
              </a:rPr>
              <a:t>er</a:t>
            </a:r>
            <a:r>
              <a:rPr lang="en-US" sz="1100" spc="-40">
                <a:solidFill>
                  <a:srgbClr val="37424A"/>
                </a:solidFill>
                <a:cs typeface="Open Sans"/>
              </a:rPr>
              <a:t>a</a:t>
            </a:r>
            <a:r>
              <a:rPr lang="en-US" sz="1100" spc="-45">
                <a:solidFill>
                  <a:srgbClr val="37424A"/>
                </a:solidFill>
                <a:cs typeface="Open Sans"/>
              </a:rPr>
              <a:t>b</a:t>
            </a:r>
            <a:r>
              <a:rPr lang="en-US" sz="1100" spc="-40">
                <a:solidFill>
                  <a:srgbClr val="37424A"/>
                </a:solidFill>
                <a:cs typeface="Open Sans"/>
              </a:rPr>
              <a:t>l</a:t>
            </a:r>
            <a:r>
              <a:rPr lang="en-US" sz="1100">
                <a:solidFill>
                  <a:srgbClr val="37424A"/>
                </a:solidFill>
                <a:cs typeface="Open Sans"/>
              </a:rPr>
              <a:t>e</a:t>
            </a:r>
            <a:r>
              <a:rPr lang="en-US" sz="1100" spc="-30">
                <a:solidFill>
                  <a:srgbClr val="37424A"/>
                </a:solidFill>
                <a:cs typeface="Open Sans"/>
              </a:rPr>
              <a:t> </a:t>
            </a:r>
            <a:r>
              <a:rPr lang="en-US" sz="1100" spc="-40">
                <a:solidFill>
                  <a:srgbClr val="37424A"/>
                </a:solidFill>
                <a:cs typeface="Open Sans"/>
              </a:rPr>
              <a:t>a</a:t>
            </a:r>
            <a:r>
              <a:rPr lang="en-US" sz="1100" spc="-45">
                <a:solidFill>
                  <a:srgbClr val="37424A"/>
                </a:solidFill>
                <a:cs typeface="Open Sans"/>
              </a:rPr>
              <a:t>n</a:t>
            </a:r>
            <a:r>
              <a:rPr lang="en-US" sz="1100">
                <a:solidFill>
                  <a:srgbClr val="37424A"/>
                </a:solidFill>
                <a:cs typeface="Open Sans"/>
              </a:rPr>
              <a:t>d</a:t>
            </a:r>
            <a:r>
              <a:rPr lang="en-US" sz="1100" spc="-40">
                <a:solidFill>
                  <a:srgbClr val="37424A"/>
                </a:solidFill>
                <a:cs typeface="Open Sans"/>
              </a:rPr>
              <a:t> </a:t>
            </a:r>
            <a:r>
              <a:rPr lang="en-US" sz="1100" spc="-35">
                <a:solidFill>
                  <a:srgbClr val="37424A"/>
                </a:solidFill>
                <a:cs typeface="Open Sans"/>
              </a:rPr>
              <a:t>s</a:t>
            </a:r>
            <a:r>
              <a:rPr lang="en-US" sz="1100" spc="-45">
                <a:solidFill>
                  <a:srgbClr val="37424A"/>
                </a:solidFill>
                <a:cs typeface="Open Sans"/>
              </a:rPr>
              <a:t>h</a:t>
            </a:r>
            <a:r>
              <a:rPr lang="en-US" sz="1100" spc="-40">
                <a:solidFill>
                  <a:srgbClr val="37424A"/>
                </a:solidFill>
                <a:cs typeface="Open Sans"/>
              </a:rPr>
              <a:t>a</a:t>
            </a:r>
            <a:r>
              <a:rPr lang="en-US" sz="1100" spc="-35">
                <a:solidFill>
                  <a:srgbClr val="37424A"/>
                </a:solidFill>
                <a:cs typeface="Open Sans"/>
              </a:rPr>
              <a:t>re</a:t>
            </a:r>
            <a:r>
              <a:rPr lang="en-US" sz="1100" spc="-40">
                <a:solidFill>
                  <a:srgbClr val="37424A"/>
                </a:solidFill>
                <a:cs typeface="Open Sans"/>
              </a:rPr>
              <a:t>a</a:t>
            </a:r>
            <a:r>
              <a:rPr lang="en-US" sz="1100" spc="-45">
                <a:solidFill>
                  <a:srgbClr val="37424A"/>
                </a:solidFill>
                <a:cs typeface="Open Sans"/>
              </a:rPr>
              <a:t>b</a:t>
            </a:r>
            <a:r>
              <a:rPr lang="en-US" sz="1100" spc="-40">
                <a:solidFill>
                  <a:srgbClr val="37424A"/>
                </a:solidFill>
                <a:cs typeface="Open Sans"/>
              </a:rPr>
              <a:t>l</a:t>
            </a:r>
            <a:r>
              <a:rPr lang="en-US" sz="1100" spc="-35">
                <a:solidFill>
                  <a:srgbClr val="37424A"/>
                </a:solidFill>
                <a:cs typeface="Open Sans"/>
              </a:rPr>
              <a:t>e.</a:t>
            </a:r>
            <a:endParaRPr lang="en-US" sz="4198" baseline="-16865">
              <a:solidFill>
                <a:srgbClr val="37424A"/>
              </a:solidFill>
              <a:cs typeface="Open Sans"/>
            </a:endParaRPr>
          </a:p>
        </p:txBody>
      </p:sp>
      <p:sp>
        <p:nvSpPr>
          <p:cNvPr id="7" name="object 11">
            <a:extLst>
              <a:ext uri="{FF2B5EF4-FFF2-40B4-BE49-F238E27FC236}">
                <a16:creationId xmlns:a16="http://schemas.microsoft.com/office/drawing/2014/main" id="{95BE9B71-D37D-856B-7A8F-E81B98C6FAC5}"/>
              </a:ext>
            </a:extLst>
          </p:cNvPr>
          <p:cNvSpPr/>
          <p:nvPr/>
        </p:nvSpPr>
        <p:spPr>
          <a:xfrm>
            <a:off x="10529990" y="3081713"/>
            <a:ext cx="871401" cy="594050"/>
          </a:xfrm>
          <a:custGeom>
            <a:avLst/>
            <a:gdLst/>
            <a:ahLst/>
            <a:cxnLst/>
            <a:rect l="l" t="t" r="r" b="b"/>
            <a:pathLst>
              <a:path w="871854" h="594360">
                <a:moveTo>
                  <a:pt x="772668" y="0"/>
                </a:moveTo>
                <a:lnTo>
                  <a:pt x="99060" y="0"/>
                </a:lnTo>
                <a:lnTo>
                  <a:pt x="60500" y="7784"/>
                </a:lnTo>
                <a:lnTo>
                  <a:pt x="29013" y="29013"/>
                </a:lnTo>
                <a:lnTo>
                  <a:pt x="7784" y="60500"/>
                </a:lnTo>
                <a:lnTo>
                  <a:pt x="0" y="99060"/>
                </a:lnTo>
                <a:lnTo>
                  <a:pt x="0" y="495300"/>
                </a:lnTo>
                <a:lnTo>
                  <a:pt x="7784" y="533859"/>
                </a:lnTo>
                <a:lnTo>
                  <a:pt x="29013" y="565346"/>
                </a:lnTo>
                <a:lnTo>
                  <a:pt x="60500" y="586575"/>
                </a:lnTo>
                <a:lnTo>
                  <a:pt x="99060" y="594360"/>
                </a:lnTo>
                <a:lnTo>
                  <a:pt x="772668" y="594360"/>
                </a:lnTo>
                <a:lnTo>
                  <a:pt x="811227" y="586575"/>
                </a:lnTo>
                <a:lnTo>
                  <a:pt x="842714" y="565346"/>
                </a:lnTo>
                <a:lnTo>
                  <a:pt x="863943" y="533859"/>
                </a:lnTo>
                <a:lnTo>
                  <a:pt x="871728" y="495300"/>
                </a:lnTo>
                <a:lnTo>
                  <a:pt x="871728" y="99060"/>
                </a:lnTo>
                <a:lnTo>
                  <a:pt x="863943" y="60500"/>
                </a:lnTo>
                <a:lnTo>
                  <a:pt x="842714" y="29013"/>
                </a:lnTo>
                <a:lnTo>
                  <a:pt x="811227" y="7784"/>
                </a:lnTo>
                <a:lnTo>
                  <a:pt x="772668" y="0"/>
                </a:lnTo>
                <a:close/>
              </a:path>
            </a:pathLst>
          </a:custGeom>
          <a:solidFill>
            <a:schemeClr val="tx2"/>
          </a:solidFill>
        </p:spPr>
        <p:txBody>
          <a:bodyPr wrap="square" lIns="0" tIns="0" rIns="0" bIns="0" rtlCol="0"/>
          <a:lstStyle/>
          <a:p>
            <a:pPr defTabSz="457063"/>
            <a:endParaRPr sz="1798">
              <a:solidFill>
                <a:srgbClr val="37424A"/>
              </a:solidFill>
              <a:latin typeface="Arial Narrow"/>
            </a:endParaRPr>
          </a:p>
        </p:txBody>
      </p:sp>
      <p:sp>
        <p:nvSpPr>
          <p:cNvPr id="8" name="object 12">
            <a:extLst>
              <a:ext uri="{FF2B5EF4-FFF2-40B4-BE49-F238E27FC236}">
                <a16:creationId xmlns:a16="http://schemas.microsoft.com/office/drawing/2014/main" id="{BD03EED4-0287-3CEE-3B76-A67C315BBAB8}"/>
              </a:ext>
            </a:extLst>
          </p:cNvPr>
          <p:cNvSpPr txBox="1"/>
          <p:nvPr/>
        </p:nvSpPr>
        <p:spPr>
          <a:xfrm>
            <a:off x="10689891" y="3308642"/>
            <a:ext cx="550259" cy="119843"/>
          </a:xfrm>
          <a:prstGeom prst="rect">
            <a:avLst/>
          </a:prstGeom>
        </p:spPr>
        <p:txBody>
          <a:bodyPr vert="horz" wrap="square" lIns="0" tIns="12059" rIns="0" bIns="0" rtlCol="0">
            <a:spAutoFit/>
          </a:bodyPr>
          <a:lstStyle/>
          <a:p>
            <a:pPr marL="12692" defTabSz="457063">
              <a:spcBef>
                <a:spcPts val="95"/>
              </a:spcBef>
            </a:pPr>
            <a:r>
              <a:rPr sz="700" b="1" spc="20">
                <a:solidFill>
                  <a:srgbClr val="FFFFFF"/>
                </a:solidFill>
                <a:latin typeface="Open Sans"/>
                <a:cs typeface="Open Sans"/>
              </a:rPr>
              <a:t>V</a:t>
            </a:r>
            <a:r>
              <a:rPr sz="700" b="1" spc="10">
                <a:solidFill>
                  <a:srgbClr val="FFFFFF"/>
                </a:solidFill>
                <a:latin typeface="Open Sans"/>
                <a:cs typeface="Open Sans"/>
              </a:rPr>
              <a:t>E</a:t>
            </a:r>
            <a:r>
              <a:rPr sz="700" b="1" spc="15">
                <a:solidFill>
                  <a:srgbClr val="FFFFFF"/>
                </a:solidFill>
                <a:latin typeface="Open Sans"/>
                <a:cs typeface="Open Sans"/>
              </a:rPr>
              <a:t>RSION</a:t>
            </a:r>
            <a:r>
              <a:rPr sz="700" b="1" spc="10">
                <a:solidFill>
                  <a:srgbClr val="FFFFFF"/>
                </a:solidFill>
                <a:latin typeface="Open Sans"/>
                <a:cs typeface="Open Sans"/>
              </a:rPr>
              <a:t>ED</a:t>
            </a:r>
            <a:endParaRPr sz="700">
              <a:solidFill>
                <a:srgbClr val="37424A"/>
              </a:solidFill>
              <a:latin typeface="Open Sans"/>
              <a:cs typeface="Open Sans"/>
            </a:endParaRPr>
          </a:p>
        </p:txBody>
      </p:sp>
      <p:sp>
        <p:nvSpPr>
          <p:cNvPr id="9" name="object 13">
            <a:extLst>
              <a:ext uri="{FF2B5EF4-FFF2-40B4-BE49-F238E27FC236}">
                <a16:creationId xmlns:a16="http://schemas.microsoft.com/office/drawing/2014/main" id="{20406B83-4484-4DDE-844B-0F0C78709DE4}"/>
              </a:ext>
            </a:extLst>
          </p:cNvPr>
          <p:cNvSpPr/>
          <p:nvPr/>
        </p:nvSpPr>
        <p:spPr>
          <a:xfrm>
            <a:off x="10529990" y="3809805"/>
            <a:ext cx="871401" cy="594050"/>
          </a:xfrm>
          <a:custGeom>
            <a:avLst/>
            <a:gdLst/>
            <a:ahLst/>
            <a:cxnLst/>
            <a:rect l="l" t="t" r="r" b="b"/>
            <a:pathLst>
              <a:path w="871854" h="594360">
                <a:moveTo>
                  <a:pt x="772668" y="0"/>
                </a:moveTo>
                <a:lnTo>
                  <a:pt x="99060" y="0"/>
                </a:lnTo>
                <a:lnTo>
                  <a:pt x="60500" y="7784"/>
                </a:lnTo>
                <a:lnTo>
                  <a:pt x="29013" y="29013"/>
                </a:lnTo>
                <a:lnTo>
                  <a:pt x="7784" y="60500"/>
                </a:lnTo>
                <a:lnTo>
                  <a:pt x="0" y="99060"/>
                </a:lnTo>
                <a:lnTo>
                  <a:pt x="0" y="495300"/>
                </a:lnTo>
                <a:lnTo>
                  <a:pt x="7784" y="533859"/>
                </a:lnTo>
                <a:lnTo>
                  <a:pt x="29013" y="565346"/>
                </a:lnTo>
                <a:lnTo>
                  <a:pt x="60500" y="586575"/>
                </a:lnTo>
                <a:lnTo>
                  <a:pt x="99060" y="594360"/>
                </a:lnTo>
                <a:lnTo>
                  <a:pt x="772668" y="594360"/>
                </a:lnTo>
                <a:lnTo>
                  <a:pt x="811227" y="586575"/>
                </a:lnTo>
                <a:lnTo>
                  <a:pt x="842714" y="565346"/>
                </a:lnTo>
                <a:lnTo>
                  <a:pt x="863943" y="533859"/>
                </a:lnTo>
                <a:lnTo>
                  <a:pt x="871728" y="495300"/>
                </a:lnTo>
                <a:lnTo>
                  <a:pt x="871728" y="99060"/>
                </a:lnTo>
                <a:lnTo>
                  <a:pt x="863943" y="60500"/>
                </a:lnTo>
                <a:lnTo>
                  <a:pt x="842714" y="29013"/>
                </a:lnTo>
                <a:lnTo>
                  <a:pt x="811227" y="7784"/>
                </a:lnTo>
                <a:lnTo>
                  <a:pt x="772668" y="0"/>
                </a:lnTo>
                <a:close/>
              </a:path>
            </a:pathLst>
          </a:custGeom>
          <a:solidFill>
            <a:schemeClr val="tx2"/>
          </a:solidFill>
        </p:spPr>
        <p:txBody>
          <a:bodyPr wrap="square" lIns="0" tIns="0" rIns="0" bIns="0" rtlCol="0"/>
          <a:lstStyle/>
          <a:p>
            <a:pPr defTabSz="457063"/>
            <a:endParaRPr sz="1798">
              <a:solidFill>
                <a:srgbClr val="37424A"/>
              </a:solidFill>
              <a:latin typeface="Arial Narrow"/>
            </a:endParaRPr>
          </a:p>
        </p:txBody>
      </p:sp>
      <p:sp>
        <p:nvSpPr>
          <p:cNvPr id="10" name="object 14">
            <a:extLst>
              <a:ext uri="{FF2B5EF4-FFF2-40B4-BE49-F238E27FC236}">
                <a16:creationId xmlns:a16="http://schemas.microsoft.com/office/drawing/2014/main" id="{AAD69E70-C387-ABF7-5543-95625214D9E6}"/>
              </a:ext>
            </a:extLst>
          </p:cNvPr>
          <p:cNvSpPr txBox="1"/>
          <p:nvPr/>
        </p:nvSpPr>
        <p:spPr>
          <a:xfrm>
            <a:off x="10577175" y="4035806"/>
            <a:ext cx="773028" cy="119843"/>
          </a:xfrm>
          <a:prstGeom prst="rect">
            <a:avLst/>
          </a:prstGeom>
        </p:spPr>
        <p:txBody>
          <a:bodyPr vert="horz" wrap="square" lIns="0" tIns="12059" rIns="0" bIns="0" rtlCol="0">
            <a:spAutoFit/>
          </a:bodyPr>
          <a:lstStyle/>
          <a:p>
            <a:pPr marL="12692" defTabSz="457063">
              <a:spcBef>
                <a:spcPts val="95"/>
              </a:spcBef>
            </a:pPr>
            <a:r>
              <a:rPr sz="700" b="1" spc="15">
                <a:solidFill>
                  <a:srgbClr val="FFFFFF"/>
                </a:solidFill>
                <a:latin typeface="Open Sans"/>
                <a:cs typeface="Open Sans"/>
              </a:rPr>
              <a:t>IN</a:t>
            </a:r>
            <a:r>
              <a:rPr sz="700" b="1" spc="20">
                <a:solidFill>
                  <a:srgbClr val="FFFFFF"/>
                </a:solidFill>
                <a:latin typeface="Open Sans"/>
                <a:cs typeface="Open Sans"/>
              </a:rPr>
              <a:t>T</a:t>
            </a:r>
            <a:r>
              <a:rPr sz="700" b="1" spc="10">
                <a:solidFill>
                  <a:srgbClr val="FFFFFF"/>
                </a:solidFill>
                <a:latin typeface="Open Sans"/>
                <a:cs typeface="Open Sans"/>
              </a:rPr>
              <a:t>E</a:t>
            </a:r>
            <a:r>
              <a:rPr sz="700" b="1" spc="15">
                <a:solidFill>
                  <a:srgbClr val="FFFFFF"/>
                </a:solidFill>
                <a:latin typeface="Open Sans"/>
                <a:cs typeface="Open Sans"/>
              </a:rPr>
              <a:t>RO</a:t>
            </a:r>
            <a:r>
              <a:rPr sz="700" b="1" spc="10">
                <a:solidFill>
                  <a:srgbClr val="FFFFFF"/>
                </a:solidFill>
                <a:latin typeface="Open Sans"/>
                <a:cs typeface="Open Sans"/>
              </a:rPr>
              <a:t>PE</a:t>
            </a:r>
            <a:r>
              <a:rPr sz="700" b="1" spc="15">
                <a:solidFill>
                  <a:srgbClr val="FFFFFF"/>
                </a:solidFill>
                <a:latin typeface="Open Sans"/>
                <a:cs typeface="Open Sans"/>
              </a:rPr>
              <a:t>RAB</a:t>
            </a:r>
            <a:r>
              <a:rPr sz="700" b="1" spc="20">
                <a:solidFill>
                  <a:srgbClr val="FFFFFF"/>
                </a:solidFill>
                <a:latin typeface="Open Sans"/>
                <a:cs typeface="Open Sans"/>
              </a:rPr>
              <a:t>L</a:t>
            </a:r>
            <a:r>
              <a:rPr sz="700" b="1" spc="-5">
                <a:solidFill>
                  <a:srgbClr val="FFFFFF"/>
                </a:solidFill>
                <a:latin typeface="Open Sans"/>
                <a:cs typeface="Open Sans"/>
              </a:rPr>
              <a:t>E</a:t>
            </a:r>
            <a:endParaRPr sz="700">
              <a:solidFill>
                <a:srgbClr val="37424A"/>
              </a:solidFill>
              <a:latin typeface="Open Sans"/>
              <a:cs typeface="Open Sans"/>
            </a:endParaRPr>
          </a:p>
        </p:txBody>
      </p:sp>
      <p:sp>
        <p:nvSpPr>
          <p:cNvPr id="11" name="object 15">
            <a:extLst>
              <a:ext uri="{FF2B5EF4-FFF2-40B4-BE49-F238E27FC236}">
                <a16:creationId xmlns:a16="http://schemas.microsoft.com/office/drawing/2014/main" id="{7FEA4702-7C61-12A2-3A24-EF14143BA317}"/>
              </a:ext>
            </a:extLst>
          </p:cNvPr>
          <p:cNvSpPr/>
          <p:nvPr/>
        </p:nvSpPr>
        <p:spPr>
          <a:xfrm>
            <a:off x="8592470" y="3081713"/>
            <a:ext cx="871401" cy="594050"/>
          </a:xfrm>
          <a:custGeom>
            <a:avLst/>
            <a:gdLst/>
            <a:ahLst/>
            <a:cxnLst/>
            <a:rect l="l" t="t" r="r" b="b"/>
            <a:pathLst>
              <a:path w="871854" h="594360">
                <a:moveTo>
                  <a:pt x="772668" y="0"/>
                </a:moveTo>
                <a:lnTo>
                  <a:pt x="99060" y="0"/>
                </a:lnTo>
                <a:lnTo>
                  <a:pt x="60500" y="7784"/>
                </a:lnTo>
                <a:lnTo>
                  <a:pt x="29013" y="29013"/>
                </a:lnTo>
                <a:lnTo>
                  <a:pt x="7784" y="60500"/>
                </a:lnTo>
                <a:lnTo>
                  <a:pt x="0" y="99060"/>
                </a:lnTo>
                <a:lnTo>
                  <a:pt x="0" y="495300"/>
                </a:lnTo>
                <a:lnTo>
                  <a:pt x="7784" y="533859"/>
                </a:lnTo>
                <a:lnTo>
                  <a:pt x="29013" y="565346"/>
                </a:lnTo>
                <a:lnTo>
                  <a:pt x="60500" y="586575"/>
                </a:lnTo>
                <a:lnTo>
                  <a:pt x="99060" y="594360"/>
                </a:lnTo>
                <a:lnTo>
                  <a:pt x="772668" y="594360"/>
                </a:lnTo>
                <a:lnTo>
                  <a:pt x="811227" y="586575"/>
                </a:lnTo>
                <a:lnTo>
                  <a:pt x="842714" y="565346"/>
                </a:lnTo>
                <a:lnTo>
                  <a:pt x="863943" y="533859"/>
                </a:lnTo>
                <a:lnTo>
                  <a:pt x="871728" y="495300"/>
                </a:lnTo>
                <a:lnTo>
                  <a:pt x="871728" y="99060"/>
                </a:lnTo>
                <a:lnTo>
                  <a:pt x="863943" y="60500"/>
                </a:lnTo>
                <a:lnTo>
                  <a:pt x="842714" y="29013"/>
                </a:lnTo>
                <a:lnTo>
                  <a:pt x="811227" y="7784"/>
                </a:lnTo>
                <a:lnTo>
                  <a:pt x="772668" y="0"/>
                </a:lnTo>
                <a:close/>
              </a:path>
            </a:pathLst>
          </a:custGeom>
          <a:solidFill>
            <a:schemeClr val="tx2"/>
          </a:solidFill>
        </p:spPr>
        <p:txBody>
          <a:bodyPr wrap="square" lIns="0" tIns="0" rIns="0" bIns="0" rtlCol="0"/>
          <a:lstStyle/>
          <a:p>
            <a:pPr defTabSz="457063"/>
            <a:endParaRPr sz="1798">
              <a:solidFill>
                <a:srgbClr val="37424A"/>
              </a:solidFill>
              <a:latin typeface="Arial Narrow"/>
            </a:endParaRPr>
          </a:p>
        </p:txBody>
      </p:sp>
      <p:sp>
        <p:nvSpPr>
          <p:cNvPr id="12" name="object 16">
            <a:extLst>
              <a:ext uri="{FF2B5EF4-FFF2-40B4-BE49-F238E27FC236}">
                <a16:creationId xmlns:a16="http://schemas.microsoft.com/office/drawing/2014/main" id="{9FDFC858-13C2-6D57-1650-D0A4C3255435}"/>
              </a:ext>
            </a:extLst>
          </p:cNvPr>
          <p:cNvSpPr txBox="1"/>
          <p:nvPr/>
        </p:nvSpPr>
        <p:spPr>
          <a:xfrm>
            <a:off x="8799189" y="3308642"/>
            <a:ext cx="454423" cy="119843"/>
          </a:xfrm>
          <a:prstGeom prst="rect">
            <a:avLst/>
          </a:prstGeom>
        </p:spPr>
        <p:txBody>
          <a:bodyPr vert="horz" wrap="square" lIns="0" tIns="12059" rIns="0" bIns="0" rtlCol="0">
            <a:spAutoFit/>
          </a:bodyPr>
          <a:lstStyle/>
          <a:p>
            <a:pPr marL="12692" defTabSz="457063">
              <a:spcBef>
                <a:spcPts val="95"/>
              </a:spcBef>
            </a:pPr>
            <a:r>
              <a:rPr sz="700" b="1" spc="15">
                <a:solidFill>
                  <a:srgbClr val="FFFFFF"/>
                </a:solidFill>
                <a:latin typeface="Open Sans"/>
                <a:cs typeface="Open Sans"/>
              </a:rPr>
              <a:t>C</a:t>
            </a:r>
            <a:r>
              <a:rPr sz="700" b="1" spc="20">
                <a:solidFill>
                  <a:srgbClr val="FFFFFF"/>
                </a:solidFill>
                <a:latin typeface="Open Sans"/>
                <a:cs typeface="Open Sans"/>
              </a:rPr>
              <a:t>U</a:t>
            </a:r>
            <a:r>
              <a:rPr sz="700" b="1" spc="15">
                <a:solidFill>
                  <a:srgbClr val="FFFFFF"/>
                </a:solidFill>
                <a:latin typeface="Open Sans"/>
                <a:cs typeface="Open Sans"/>
              </a:rPr>
              <a:t>RA</a:t>
            </a:r>
            <a:r>
              <a:rPr sz="700" b="1" spc="20">
                <a:solidFill>
                  <a:srgbClr val="FFFFFF"/>
                </a:solidFill>
                <a:latin typeface="Open Sans"/>
                <a:cs typeface="Open Sans"/>
              </a:rPr>
              <a:t>T</a:t>
            </a:r>
            <a:r>
              <a:rPr sz="700" b="1" spc="10">
                <a:solidFill>
                  <a:srgbClr val="FFFFFF"/>
                </a:solidFill>
                <a:latin typeface="Open Sans"/>
                <a:cs typeface="Open Sans"/>
              </a:rPr>
              <a:t>ED</a:t>
            </a:r>
            <a:endParaRPr sz="700">
              <a:solidFill>
                <a:srgbClr val="37424A"/>
              </a:solidFill>
              <a:latin typeface="Open Sans"/>
              <a:cs typeface="Open Sans"/>
            </a:endParaRPr>
          </a:p>
        </p:txBody>
      </p:sp>
      <p:sp>
        <p:nvSpPr>
          <p:cNvPr id="13" name="object 17">
            <a:extLst>
              <a:ext uri="{FF2B5EF4-FFF2-40B4-BE49-F238E27FC236}">
                <a16:creationId xmlns:a16="http://schemas.microsoft.com/office/drawing/2014/main" id="{E901F96C-94C0-ACE7-F7A3-AB35AADCC55C}"/>
              </a:ext>
            </a:extLst>
          </p:cNvPr>
          <p:cNvSpPr/>
          <p:nvPr/>
        </p:nvSpPr>
        <p:spPr>
          <a:xfrm>
            <a:off x="8592470" y="3809805"/>
            <a:ext cx="871401" cy="594050"/>
          </a:xfrm>
          <a:custGeom>
            <a:avLst/>
            <a:gdLst/>
            <a:ahLst/>
            <a:cxnLst/>
            <a:rect l="l" t="t" r="r" b="b"/>
            <a:pathLst>
              <a:path w="871854" h="594360">
                <a:moveTo>
                  <a:pt x="772668" y="0"/>
                </a:moveTo>
                <a:lnTo>
                  <a:pt x="99060" y="0"/>
                </a:lnTo>
                <a:lnTo>
                  <a:pt x="60500" y="7784"/>
                </a:lnTo>
                <a:lnTo>
                  <a:pt x="29013" y="29013"/>
                </a:lnTo>
                <a:lnTo>
                  <a:pt x="7784" y="60500"/>
                </a:lnTo>
                <a:lnTo>
                  <a:pt x="0" y="99060"/>
                </a:lnTo>
                <a:lnTo>
                  <a:pt x="0" y="495300"/>
                </a:lnTo>
                <a:lnTo>
                  <a:pt x="7784" y="533859"/>
                </a:lnTo>
                <a:lnTo>
                  <a:pt x="29013" y="565346"/>
                </a:lnTo>
                <a:lnTo>
                  <a:pt x="60500" y="586575"/>
                </a:lnTo>
                <a:lnTo>
                  <a:pt x="99060" y="594360"/>
                </a:lnTo>
                <a:lnTo>
                  <a:pt x="772668" y="594360"/>
                </a:lnTo>
                <a:lnTo>
                  <a:pt x="811227" y="586575"/>
                </a:lnTo>
                <a:lnTo>
                  <a:pt x="842714" y="565346"/>
                </a:lnTo>
                <a:lnTo>
                  <a:pt x="863943" y="533859"/>
                </a:lnTo>
                <a:lnTo>
                  <a:pt x="871728" y="495300"/>
                </a:lnTo>
                <a:lnTo>
                  <a:pt x="871728" y="99060"/>
                </a:lnTo>
                <a:lnTo>
                  <a:pt x="863943" y="60500"/>
                </a:lnTo>
                <a:lnTo>
                  <a:pt x="842714" y="29013"/>
                </a:lnTo>
                <a:lnTo>
                  <a:pt x="811227" y="7784"/>
                </a:lnTo>
                <a:lnTo>
                  <a:pt x="772668" y="0"/>
                </a:lnTo>
                <a:close/>
              </a:path>
            </a:pathLst>
          </a:custGeom>
          <a:solidFill>
            <a:schemeClr val="tx2"/>
          </a:solidFill>
        </p:spPr>
        <p:txBody>
          <a:bodyPr wrap="square" lIns="0" tIns="0" rIns="0" bIns="0" rtlCol="0"/>
          <a:lstStyle/>
          <a:p>
            <a:pPr defTabSz="457063"/>
            <a:endParaRPr sz="1798">
              <a:solidFill>
                <a:srgbClr val="37424A"/>
              </a:solidFill>
              <a:latin typeface="Arial Narrow"/>
            </a:endParaRPr>
          </a:p>
        </p:txBody>
      </p:sp>
      <p:sp>
        <p:nvSpPr>
          <p:cNvPr id="14" name="object 18">
            <a:extLst>
              <a:ext uri="{FF2B5EF4-FFF2-40B4-BE49-F238E27FC236}">
                <a16:creationId xmlns:a16="http://schemas.microsoft.com/office/drawing/2014/main" id="{BD6A5B9A-D9F8-678B-5E3F-2408FF9EE4F4}"/>
              </a:ext>
            </a:extLst>
          </p:cNvPr>
          <p:cNvSpPr txBox="1"/>
          <p:nvPr/>
        </p:nvSpPr>
        <p:spPr>
          <a:xfrm>
            <a:off x="8759586" y="4035806"/>
            <a:ext cx="533757" cy="119843"/>
          </a:xfrm>
          <a:prstGeom prst="rect">
            <a:avLst/>
          </a:prstGeom>
        </p:spPr>
        <p:txBody>
          <a:bodyPr vert="horz" wrap="square" lIns="0" tIns="12059" rIns="0" bIns="0" rtlCol="0">
            <a:spAutoFit/>
          </a:bodyPr>
          <a:lstStyle/>
          <a:p>
            <a:pPr marL="12692" defTabSz="457063">
              <a:spcBef>
                <a:spcPts val="95"/>
              </a:spcBef>
            </a:pPr>
            <a:r>
              <a:rPr sz="700" b="1" spc="15">
                <a:solidFill>
                  <a:srgbClr val="FFFFFF"/>
                </a:solidFill>
                <a:latin typeface="Open Sans"/>
                <a:cs typeface="Open Sans"/>
              </a:rPr>
              <a:t>GO</a:t>
            </a:r>
            <a:r>
              <a:rPr sz="700" b="1" spc="20">
                <a:solidFill>
                  <a:srgbClr val="FFFFFF"/>
                </a:solidFill>
                <a:latin typeface="Open Sans"/>
                <a:cs typeface="Open Sans"/>
              </a:rPr>
              <a:t>V</a:t>
            </a:r>
            <a:r>
              <a:rPr sz="700" b="1" spc="10">
                <a:solidFill>
                  <a:srgbClr val="FFFFFF"/>
                </a:solidFill>
                <a:latin typeface="Open Sans"/>
                <a:cs typeface="Open Sans"/>
              </a:rPr>
              <a:t>E</a:t>
            </a:r>
            <a:r>
              <a:rPr sz="700" b="1" spc="15">
                <a:solidFill>
                  <a:srgbClr val="FFFFFF"/>
                </a:solidFill>
                <a:latin typeface="Open Sans"/>
                <a:cs typeface="Open Sans"/>
              </a:rPr>
              <a:t>RN</a:t>
            </a:r>
            <a:r>
              <a:rPr sz="700" b="1" spc="10">
                <a:solidFill>
                  <a:srgbClr val="FFFFFF"/>
                </a:solidFill>
                <a:latin typeface="Open Sans"/>
                <a:cs typeface="Open Sans"/>
              </a:rPr>
              <a:t>ED</a:t>
            </a:r>
            <a:endParaRPr sz="700">
              <a:solidFill>
                <a:srgbClr val="37424A"/>
              </a:solidFill>
              <a:latin typeface="Open Sans"/>
              <a:cs typeface="Open Sans"/>
            </a:endParaRPr>
          </a:p>
        </p:txBody>
      </p:sp>
      <p:sp>
        <p:nvSpPr>
          <p:cNvPr id="15" name="object 19">
            <a:extLst>
              <a:ext uri="{FF2B5EF4-FFF2-40B4-BE49-F238E27FC236}">
                <a16:creationId xmlns:a16="http://schemas.microsoft.com/office/drawing/2014/main" id="{E3E8F8F3-5B0F-E15D-D66E-89954841B8D7}"/>
              </a:ext>
            </a:extLst>
          </p:cNvPr>
          <p:cNvSpPr/>
          <p:nvPr/>
        </p:nvSpPr>
        <p:spPr>
          <a:xfrm>
            <a:off x="9561229" y="3081713"/>
            <a:ext cx="871401" cy="594050"/>
          </a:xfrm>
          <a:custGeom>
            <a:avLst/>
            <a:gdLst/>
            <a:ahLst/>
            <a:cxnLst/>
            <a:rect l="l" t="t" r="r" b="b"/>
            <a:pathLst>
              <a:path w="871854" h="594360">
                <a:moveTo>
                  <a:pt x="772668" y="0"/>
                </a:moveTo>
                <a:lnTo>
                  <a:pt x="99060" y="0"/>
                </a:lnTo>
                <a:lnTo>
                  <a:pt x="60500" y="7784"/>
                </a:lnTo>
                <a:lnTo>
                  <a:pt x="29013" y="29013"/>
                </a:lnTo>
                <a:lnTo>
                  <a:pt x="7784" y="60500"/>
                </a:lnTo>
                <a:lnTo>
                  <a:pt x="0" y="99060"/>
                </a:lnTo>
                <a:lnTo>
                  <a:pt x="0" y="495300"/>
                </a:lnTo>
                <a:lnTo>
                  <a:pt x="7784" y="533859"/>
                </a:lnTo>
                <a:lnTo>
                  <a:pt x="29013" y="565346"/>
                </a:lnTo>
                <a:lnTo>
                  <a:pt x="60500" y="586575"/>
                </a:lnTo>
                <a:lnTo>
                  <a:pt x="99060" y="594360"/>
                </a:lnTo>
                <a:lnTo>
                  <a:pt x="772668" y="594360"/>
                </a:lnTo>
                <a:lnTo>
                  <a:pt x="811227" y="586575"/>
                </a:lnTo>
                <a:lnTo>
                  <a:pt x="842714" y="565346"/>
                </a:lnTo>
                <a:lnTo>
                  <a:pt x="863943" y="533859"/>
                </a:lnTo>
                <a:lnTo>
                  <a:pt x="871728" y="495300"/>
                </a:lnTo>
                <a:lnTo>
                  <a:pt x="871728" y="99060"/>
                </a:lnTo>
                <a:lnTo>
                  <a:pt x="863943" y="60500"/>
                </a:lnTo>
                <a:lnTo>
                  <a:pt x="842714" y="29013"/>
                </a:lnTo>
                <a:lnTo>
                  <a:pt x="811227" y="7784"/>
                </a:lnTo>
                <a:lnTo>
                  <a:pt x="772668" y="0"/>
                </a:lnTo>
                <a:close/>
              </a:path>
            </a:pathLst>
          </a:custGeom>
          <a:solidFill>
            <a:schemeClr val="tx2"/>
          </a:solidFill>
        </p:spPr>
        <p:txBody>
          <a:bodyPr wrap="square" lIns="0" tIns="0" rIns="0" bIns="0" rtlCol="0"/>
          <a:lstStyle/>
          <a:p>
            <a:pPr defTabSz="457063"/>
            <a:endParaRPr sz="1798">
              <a:solidFill>
                <a:srgbClr val="37424A"/>
              </a:solidFill>
              <a:latin typeface="Arial Narrow"/>
            </a:endParaRPr>
          </a:p>
        </p:txBody>
      </p:sp>
      <p:sp>
        <p:nvSpPr>
          <p:cNvPr id="16" name="object 20">
            <a:extLst>
              <a:ext uri="{FF2B5EF4-FFF2-40B4-BE49-F238E27FC236}">
                <a16:creationId xmlns:a16="http://schemas.microsoft.com/office/drawing/2014/main" id="{572BE4BF-1E4F-F782-1B34-FD00C4FEEFAA}"/>
              </a:ext>
            </a:extLst>
          </p:cNvPr>
          <p:cNvSpPr txBox="1"/>
          <p:nvPr/>
        </p:nvSpPr>
        <p:spPr>
          <a:xfrm>
            <a:off x="9634093" y="3308642"/>
            <a:ext cx="720349" cy="119843"/>
          </a:xfrm>
          <a:prstGeom prst="rect">
            <a:avLst/>
          </a:prstGeom>
        </p:spPr>
        <p:txBody>
          <a:bodyPr vert="horz" wrap="square" lIns="0" tIns="12059" rIns="0" bIns="0" rtlCol="0">
            <a:spAutoFit/>
          </a:bodyPr>
          <a:lstStyle/>
          <a:p>
            <a:pPr marL="12692" defTabSz="457063">
              <a:spcBef>
                <a:spcPts val="95"/>
              </a:spcBef>
            </a:pPr>
            <a:r>
              <a:rPr sz="700" b="1" spc="15">
                <a:solidFill>
                  <a:srgbClr val="FFFFFF"/>
                </a:solidFill>
                <a:latin typeface="Open Sans"/>
                <a:cs typeface="Open Sans"/>
              </a:rPr>
              <a:t>TRUSTWORTHY</a:t>
            </a:r>
            <a:endParaRPr sz="700">
              <a:solidFill>
                <a:srgbClr val="37424A"/>
              </a:solidFill>
              <a:latin typeface="Open Sans"/>
              <a:cs typeface="Open Sans"/>
            </a:endParaRPr>
          </a:p>
        </p:txBody>
      </p:sp>
      <p:sp>
        <p:nvSpPr>
          <p:cNvPr id="17" name="object 21">
            <a:extLst>
              <a:ext uri="{FF2B5EF4-FFF2-40B4-BE49-F238E27FC236}">
                <a16:creationId xmlns:a16="http://schemas.microsoft.com/office/drawing/2014/main" id="{321D4875-3097-4DC2-4EF0-E1673B197CCD}"/>
              </a:ext>
            </a:extLst>
          </p:cNvPr>
          <p:cNvSpPr/>
          <p:nvPr/>
        </p:nvSpPr>
        <p:spPr>
          <a:xfrm>
            <a:off x="9561229" y="3809805"/>
            <a:ext cx="871401" cy="594050"/>
          </a:xfrm>
          <a:custGeom>
            <a:avLst/>
            <a:gdLst/>
            <a:ahLst/>
            <a:cxnLst/>
            <a:rect l="l" t="t" r="r" b="b"/>
            <a:pathLst>
              <a:path w="871854" h="594360">
                <a:moveTo>
                  <a:pt x="772668" y="0"/>
                </a:moveTo>
                <a:lnTo>
                  <a:pt x="99060" y="0"/>
                </a:lnTo>
                <a:lnTo>
                  <a:pt x="60500" y="7784"/>
                </a:lnTo>
                <a:lnTo>
                  <a:pt x="29013" y="29013"/>
                </a:lnTo>
                <a:lnTo>
                  <a:pt x="7784" y="60500"/>
                </a:lnTo>
                <a:lnTo>
                  <a:pt x="0" y="99060"/>
                </a:lnTo>
                <a:lnTo>
                  <a:pt x="0" y="495300"/>
                </a:lnTo>
                <a:lnTo>
                  <a:pt x="7784" y="533859"/>
                </a:lnTo>
                <a:lnTo>
                  <a:pt x="29013" y="565346"/>
                </a:lnTo>
                <a:lnTo>
                  <a:pt x="60500" y="586575"/>
                </a:lnTo>
                <a:lnTo>
                  <a:pt x="99060" y="594360"/>
                </a:lnTo>
                <a:lnTo>
                  <a:pt x="772668" y="594360"/>
                </a:lnTo>
                <a:lnTo>
                  <a:pt x="811227" y="586575"/>
                </a:lnTo>
                <a:lnTo>
                  <a:pt x="842714" y="565346"/>
                </a:lnTo>
                <a:lnTo>
                  <a:pt x="863943" y="533859"/>
                </a:lnTo>
                <a:lnTo>
                  <a:pt x="871728" y="495300"/>
                </a:lnTo>
                <a:lnTo>
                  <a:pt x="871728" y="99060"/>
                </a:lnTo>
                <a:lnTo>
                  <a:pt x="863943" y="60500"/>
                </a:lnTo>
                <a:lnTo>
                  <a:pt x="842714" y="29013"/>
                </a:lnTo>
                <a:lnTo>
                  <a:pt x="811227" y="7784"/>
                </a:lnTo>
                <a:lnTo>
                  <a:pt x="772668" y="0"/>
                </a:lnTo>
                <a:close/>
              </a:path>
            </a:pathLst>
          </a:custGeom>
          <a:solidFill>
            <a:schemeClr val="tx2"/>
          </a:solidFill>
        </p:spPr>
        <p:txBody>
          <a:bodyPr wrap="square" lIns="0" tIns="0" rIns="0" bIns="0" rtlCol="0"/>
          <a:lstStyle/>
          <a:p>
            <a:pPr defTabSz="457063"/>
            <a:endParaRPr sz="1798">
              <a:solidFill>
                <a:srgbClr val="37424A"/>
              </a:solidFill>
              <a:latin typeface="Arial Narrow"/>
            </a:endParaRPr>
          </a:p>
        </p:txBody>
      </p:sp>
      <p:sp>
        <p:nvSpPr>
          <p:cNvPr id="18" name="object 22">
            <a:extLst>
              <a:ext uri="{FF2B5EF4-FFF2-40B4-BE49-F238E27FC236}">
                <a16:creationId xmlns:a16="http://schemas.microsoft.com/office/drawing/2014/main" id="{E984DC83-B700-EFDD-66F0-61E3D1222BAA}"/>
              </a:ext>
            </a:extLst>
          </p:cNvPr>
          <p:cNvSpPr txBox="1"/>
          <p:nvPr/>
        </p:nvSpPr>
        <p:spPr>
          <a:xfrm>
            <a:off x="9688959" y="4035806"/>
            <a:ext cx="613090" cy="119843"/>
          </a:xfrm>
          <a:prstGeom prst="rect">
            <a:avLst/>
          </a:prstGeom>
        </p:spPr>
        <p:txBody>
          <a:bodyPr vert="horz" wrap="square" lIns="0" tIns="12059" rIns="0" bIns="0" rtlCol="0">
            <a:spAutoFit/>
          </a:bodyPr>
          <a:lstStyle/>
          <a:p>
            <a:pPr marL="12692" defTabSz="457063">
              <a:spcBef>
                <a:spcPts val="95"/>
              </a:spcBef>
            </a:pPr>
            <a:r>
              <a:rPr sz="700" b="1" spc="15">
                <a:solidFill>
                  <a:srgbClr val="FFFFFF"/>
                </a:solidFill>
                <a:latin typeface="Open Sans"/>
                <a:cs typeface="Open Sans"/>
              </a:rPr>
              <a:t>S</a:t>
            </a:r>
            <a:r>
              <a:rPr sz="700" b="1" spc="10">
                <a:solidFill>
                  <a:srgbClr val="FFFFFF"/>
                </a:solidFill>
                <a:latin typeface="Open Sans"/>
                <a:cs typeface="Open Sans"/>
              </a:rPr>
              <a:t>E</a:t>
            </a:r>
            <a:r>
              <a:rPr sz="700" b="1" spc="15">
                <a:solidFill>
                  <a:srgbClr val="FFFFFF"/>
                </a:solidFill>
                <a:latin typeface="Open Sans"/>
                <a:cs typeface="Open Sans"/>
              </a:rPr>
              <a:t>ARC</a:t>
            </a:r>
            <a:r>
              <a:rPr sz="700" b="1" spc="10">
                <a:solidFill>
                  <a:srgbClr val="FFFFFF"/>
                </a:solidFill>
                <a:latin typeface="Open Sans"/>
                <a:cs typeface="Open Sans"/>
              </a:rPr>
              <a:t>H</a:t>
            </a:r>
            <a:r>
              <a:rPr sz="700" b="1" spc="15">
                <a:solidFill>
                  <a:srgbClr val="FFFFFF"/>
                </a:solidFill>
                <a:latin typeface="Open Sans"/>
                <a:cs typeface="Open Sans"/>
              </a:rPr>
              <a:t>AB</a:t>
            </a:r>
            <a:r>
              <a:rPr sz="700" b="1" spc="20">
                <a:solidFill>
                  <a:srgbClr val="FFFFFF"/>
                </a:solidFill>
                <a:latin typeface="Open Sans"/>
                <a:cs typeface="Open Sans"/>
              </a:rPr>
              <a:t>L</a:t>
            </a:r>
            <a:r>
              <a:rPr sz="700" b="1" spc="-5">
                <a:solidFill>
                  <a:srgbClr val="FFFFFF"/>
                </a:solidFill>
                <a:latin typeface="Open Sans"/>
                <a:cs typeface="Open Sans"/>
              </a:rPr>
              <a:t>E</a:t>
            </a:r>
            <a:endParaRPr sz="700">
              <a:solidFill>
                <a:srgbClr val="37424A"/>
              </a:solidFill>
              <a:latin typeface="Open Sans"/>
              <a:cs typeface="Open Sans"/>
            </a:endParaRPr>
          </a:p>
        </p:txBody>
      </p:sp>
      <p:grpSp>
        <p:nvGrpSpPr>
          <p:cNvPr id="19" name="object 23">
            <a:extLst>
              <a:ext uri="{FF2B5EF4-FFF2-40B4-BE49-F238E27FC236}">
                <a16:creationId xmlns:a16="http://schemas.microsoft.com/office/drawing/2014/main" id="{3126106E-EAC4-12B4-A1D8-ECBFFAE20EA2}"/>
              </a:ext>
            </a:extLst>
          </p:cNvPr>
          <p:cNvGrpSpPr/>
          <p:nvPr/>
        </p:nvGrpSpPr>
        <p:grpSpPr>
          <a:xfrm>
            <a:off x="8458429" y="2796869"/>
            <a:ext cx="3071165" cy="1764380"/>
            <a:chOff x="8461247" y="2796539"/>
            <a:chExt cx="3072765" cy="1765300"/>
          </a:xfrm>
        </p:grpSpPr>
        <p:sp>
          <p:nvSpPr>
            <p:cNvPr id="20" name="object 24">
              <a:extLst>
                <a:ext uri="{FF2B5EF4-FFF2-40B4-BE49-F238E27FC236}">
                  <a16:creationId xmlns:a16="http://schemas.microsoft.com/office/drawing/2014/main" id="{98319FE1-A329-CD2B-4C6D-128AB778DF81}"/>
                </a:ext>
              </a:extLst>
            </p:cNvPr>
            <p:cNvSpPr/>
            <p:nvPr/>
          </p:nvSpPr>
          <p:spPr>
            <a:xfrm>
              <a:off x="8474201" y="2878073"/>
              <a:ext cx="3046730" cy="1670685"/>
            </a:xfrm>
            <a:custGeom>
              <a:avLst/>
              <a:gdLst/>
              <a:ahLst/>
              <a:cxnLst/>
              <a:rect l="l" t="t" r="r" b="b"/>
              <a:pathLst>
                <a:path w="3046729" h="1670685">
                  <a:moveTo>
                    <a:pt x="0" y="0"/>
                  </a:moveTo>
                  <a:lnTo>
                    <a:pt x="3046476" y="0"/>
                  </a:lnTo>
                  <a:lnTo>
                    <a:pt x="3046476" y="1670304"/>
                  </a:lnTo>
                  <a:lnTo>
                    <a:pt x="0" y="1670304"/>
                  </a:lnTo>
                  <a:lnTo>
                    <a:pt x="0" y="0"/>
                  </a:lnTo>
                  <a:close/>
                </a:path>
              </a:pathLst>
            </a:custGeom>
            <a:ln w="25908">
              <a:solidFill>
                <a:srgbClr val="52555A"/>
              </a:solidFill>
            </a:ln>
          </p:spPr>
          <p:txBody>
            <a:bodyPr wrap="square" lIns="0" tIns="0" rIns="0" bIns="0" rtlCol="0"/>
            <a:lstStyle/>
            <a:p>
              <a:pPr defTabSz="457063"/>
              <a:endParaRPr sz="1798">
                <a:solidFill>
                  <a:srgbClr val="37424A"/>
                </a:solidFill>
                <a:latin typeface="Arial Narrow"/>
              </a:endParaRPr>
            </a:p>
          </p:txBody>
        </p:sp>
        <p:sp>
          <p:nvSpPr>
            <p:cNvPr id="21" name="object 25">
              <a:extLst>
                <a:ext uri="{FF2B5EF4-FFF2-40B4-BE49-F238E27FC236}">
                  <a16:creationId xmlns:a16="http://schemas.microsoft.com/office/drawing/2014/main" id="{30285467-AA75-4670-1EBA-7959B70DCBA5}"/>
                </a:ext>
              </a:extLst>
            </p:cNvPr>
            <p:cNvSpPr/>
            <p:nvPr/>
          </p:nvSpPr>
          <p:spPr>
            <a:xfrm>
              <a:off x="9086087" y="2796539"/>
              <a:ext cx="1953895" cy="184785"/>
            </a:xfrm>
            <a:custGeom>
              <a:avLst/>
              <a:gdLst/>
              <a:ahLst/>
              <a:cxnLst/>
              <a:rect l="l" t="t" r="r" b="b"/>
              <a:pathLst>
                <a:path w="1953895" h="184785">
                  <a:moveTo>
                    <a:pt x="1953768" y="0"/>
                  </a:moveTo>
                  <a:lnTo>
                    <a:pt x="0" y="0"/>
                  </a:lnTo>
                  <a:lnTo>
                    <a:pt x="0" y="184403"/>
                  </a:lnTo>
                  <a:lnTo>
                    <a:pt x="1953768" y="184403"/>
                  </a:lnTo>
                  <a:lnTo>
                    <a:pt x="1953768" y="0"/>
                  </a:lnTo>
                  <a:close/>
                </a:path>
              </a:pathLst>
            </a:custGeom>
            <a:solidFill>
              <a:srgbClr val="FFFFFF"/>
            </a:solidFill>
          </p:spPr>
          <p:txBody>
            <a:bodyPr wrap="square" lIns="0" tIns="0" rIns="0" bIns="0" rtlCol="0"/>
            <a:lstStyle/>
            <a:p>
              <a:pPr defTabSz="457063"/>
              <a:endParaRPr sz="1798">
                <a:solidFill>
                  <a:srgbClr val="37424A"/>
                </a:solidFill>
                <a:latin typeface="Arial Narrow"/>
              </a:endParaRPr>
            </a:p>
          </p:txBody>
        </p:sp>
      </p:grpSp>
      <p:sp>
        <p:nvSpPr>
          <p:cNvPr id="22" name="object 26">
            <a:extLst>
              <a:ext uri="{FF2B5EF4-FFF2-40B4-BE49-F238E27FC236}">
                <a16:creationId xmlns:a16="http://schemas.microsoft.com/office/drawing/2014/main" id="{C1B648D7-6C00-C7BD-96C5-F376A46BA9C0}"/>
              </a:ext>
            </a:extLst>
          </p:cNvPr>
          <p:cNvSpPr txBox="1"/>
          <p:nvPr/>
        </p:nvSpPr>
        <p:spPr>
          <a:xfrm>
            <a:off x="9553316" y="2775431"/>
            <a:ext cx="1009124" cy="197388"/>
          </a:xfrm>
          <a:prstGeom prst="rect">
            <a:avLst/>
          </a:prstGeom>
        </p:spPr>
        <p:txBody>
          <a:bodyPr vert="horz" wrap="square" lIns="0" tIns="12694" rIns="0" bIns="0" rtlCol="0">
            <a:spAutoFit/>
          </a:bodyPr>
          <a:lstStyle/>
          <a:p>
            <a:pPr marL="12692" defTabSz="457063">
              <a:spcBef>
                <a:spcPts val="100"/>
              </a:spcBef>
            </a:pPr>
            <a:r>
              <a:rPr sz="1200" b="1" spc="-5">
                <a:solidFill>
                  <a:srgbClr val="37424A"/>
                </a:solidFill>
                <a:latin typeface="Open Sans"/>
                <a:cs typeface="Open Sans"/>
              </a:rPr>
              <a:t>Key</a:t>
            </a:r>
            <a:r>
              <a:rPr sz="1200" b="1" spc="-50">
                <a:solidFill>
                  <a:srgbClr val="37424A"/>
                </a:solidFill>
                <a:latin typeface="Open Sans"/>
                <a:cs typeface="Open Sans"/>
              </a:rPr>
              <a:t> </a:t>
            </a:r>
            <a:r>
              <a:rPr sz="1200" b="1" spc="-5">
                <a:solidFill>
                  <a:srgbClr val="37424A"/>
                </a:solidFill>
                <a:latin typeface="Open Sans"/>
                <a:cs typeface="Open Sans"/>
              </a:rPr>
              <a:t>Features</a:t>
            </a:r>
            <a:endParaRPr sz="1200">
              <a:solidFill>
                <a:srgbClr val="37424A"/>
              </a:solidFill>
              <a:latin typeface="Open Sans"/>
              <a:cs typeface="Open Sans"/>
            </a:endParaRPr>
          </a:p>
        </p:txBody>
      </p:sp>
      <p:grpSp>
        <p:nvGrpSpPr>
          <p:cNvPr id="23" name="object 27">
            <a:extLst>
              <a:ext uri="{FF2B5EF4-FFF2-40B4-BE49-F238E27FC236}">
                <a16:creationId xmlns:a16="http://schemas.microsoft.com/office/drawing/2014/main" id="{CFE9B57E-90DB-BAE5-BC94-5E55B2E5102B}"/>
              </a:ext>
            </a:extLst>
          </p:cNvPr>
          <p:cNvGrpSpPr/>
          <p:nvPr/>
        </p:nvGrpSpPr>
        <p:grpSpPr>
          <a:xfrm>
            <a:off x="6301568" y="4687169"/>
            <a:ext cx="1490204" cy="464578"/>
            <a:chOff x="6303264" y="4687823"/>
            <a:chExt cx="1490980" cy="464820"/>
          </a:xfrm>
        </p:grpSpPr>
        <p:sp>
          <p:nvSpPr>
            <p:cNvPr id="24" name="object 28">
              <a:extLst>
                <a:ext uri="{FF2B5EF4-FFF2-40B4-BE49-F238E27FC236}">
                  <a16:creationId xmlns:a16="http://schemas.microsoft.com/office/drawing/2014/main" id="{D20B91AC-1D9E-F2E0-6BB0-149553B6708A}"/>
                </a:ext>
              </a:extLst>
            </p:cNvPr>
            <p:cNvSpPr/>
            <p:nvPr/>
          </p:nvSpPr>
          <p:spPr>
            <a:xfrm>
              <a:off x="6303264" y="5123687"/>
              <a:ext cx="1490980" cy="0"/>
            </a:xfrm>
            <a:custGeom>
              <a:avLst/>
              <a:gdLst/>
              <a:ahLst/>
              <a:cxnLst/>
              <a:rect l="l" t="t" r="r" b="b"/>
              <a:pathLst>
                <a:path w="1490979">
                  <a:moveTo>
                    <a:pt x="0" y="0"/>
                  </a:moveTo>
                  <a:lnTo>
                    <a:pt x="1490891" y="0"/>
                  </a:lnTo>
                </a:path>
              </a:pathLst>
            </a:custGeom>
            <a:ln w="57912">
              <a:solidFill>
                <a:srgbClr val="C0CF39"/>
              </a:solidFill>
            </a:ln>
          </p:spPr>
          <p:txBody>
            <a:bodyPr wrap="square" lIns="0" tIns="0" rIns="0" bIns="0" rtlCol="0"/>
            <a:lstStyle/>
            <a:p>
              <a:pPr defTabSz="457063"/>
              <a:endParaRPr sz="1798">
                <a:solidFill>
                  <a:srgbClr val="37424A"/>
                </a:solidFill>
                <a:latin typeface="Arial Narrow"/>
              </a:endParaRPr>
            </a:p>
          </p:txBody>
        </p:sp>
        <p:pic>
          <p:nvPicPr>
            <p:cNvPr id="25" name="object 29">
              <a:extLst>
                <a:ext uri="{FF2B5EF4-FFF2-40B4-BE49-F238E27FC236}">
                  <a16:creationId xmlns:a16="http://schemas.microsoft.com/office/drawing/2014/main" id="{FCE6BC9C-E3CE-1026-6034-6E50BBEF63AF}"/>
                </a:ext>
              </a:extLst>
            </p:cNvPr>
            <p:cNvPicPr/>
            <p:nvPr/>
          </p:nvPicPr>
          <p:blipFill>
            <a:blip r:embed="rId4" cstate="screen">
              <a:extLst>
                <a:ext uri="{28A0092B-C50C-407E-A947-70E740481C1C}">
                  <a14:useLocalDpi xmlns:a14="http://schemas.microsoft.com/office/drawing/2010/main"/>
                </a:ext>
              </a:extLst>
            </a:blip>
            <a:stretch>
              <a:fillRect/>
            </a:stretch>
          </p:blipFill>
          <p:spPr>
            <a:xfrm>
              <a:off x="6665976" y="4687823"/>
              <a:ext cx="365759" cy="376427"/>
            </a:xfrm>
            <a:prstGeom prst="rect">
              <a:avLst/>
            </a:prstGeom>
          </p:spPr>
        </p:pic>
      </p:grpSp>
      <p:sp>
        <p:nvSpPr>
          <p:cNvPr id="26" name="object 30">
            <a:extLst>
              <a:ext uri="{FF2B5EF4-FFF2-40B4-BE49-F238E27FC236}">
                <a16:creationId xmlns:a16="http://schemas.microsoft.com/office/drawing/2014/main" id="{84525E30-D999-C780-39A3-93CBC54FF4E5}"/>
              </a:ext>
            </a:extLst>
          </p:cNvPr>
          <p:cNvSpPr/>
          <p:nvPr/>
        </p:nvSpPr>
        <p:spPr>
          <a:xfrm>
            <a:off x="8050208" y="5124327"/>
            <a:ext cx="1490204" cy="0"/>
          </a:xfrm>
          <a:custGeom>
            <a:avLst/>
            <a:gdLst/>
            <a:ahLst/>
            <a:cxnLst/>
            <a:rect l="l" t="t" r="r" b="b"/>
            <a:pathLst>
              <a:path w="1490979">
                <a:moveTo>
                  <a:pt x="0" y="0"/>
                </a:moveTo>
                <a:lnTo>
                  <a:pt x="1490891" y="0"/>
                </a:lnTo>
              </a:path>
            </a:pathLst>
          </a:custGeom>
          <a:ln w="57912">
            <a:solidFill>
              <a:srgbClr val="029576"/>
            </a:solidFill>
          </a:ln>
        </p:spPr>
        <p:txBody>
          <a:bodyPr wrap="square" lIns="0" tIns="0" rIns="0" bIns="0" rtlCol="0"/>
          <a:lstStyle/>
          <a:p>
            <a:pPr defTabSz="457063"/>
            <a:endParaRPr sz="1798">
              <a:solidFill>
                <a:srgbClr val="37424A"/>
              </a:solidFill>
              <a:latin typeface="Arial Narrow"/>
            </a:endParaRPr>
          </a:p>
        </p:txBody>
      </p:sp>
      <p:grpSp>
        <p:nvGrpSpPr>
          <p:cNvPr id="27" name="object 31">
            <a:extLst>
              <a:ext uri="{FF2B5EF4-FFF2-40B4-BE49-F238E27FC236}">
                <a16:creationId xmlns:a16="http://schemas.microsoft.com/office/drawing/2014/main" id="{637D5C24-784B-C2B5-1D04-0379830D904C}"/>
              </a:ext>
            </a:extLst>
          </p:cNvPr>
          <p:cNvGrpSpPr/>
          <p:nvPr/>
        </p:nvGrpSpPr>
        <p:grpSpPr>
          <a:xfrm>
            <a:off x="9789709" y="4700878"/>
            <a:ext cx="1490204" cy="451248"/>
            <a:chOff x="9793223" y="4701540"/>
            <a:chExt cx="1490980" cy="451484"/>
          </a:xfrm>
        </p:grpSpPr>
        <p:sp>
          <p:nvSpPr>
            <p:cNvPr id="28" name="object 32">
              <a:extLst>
                <a:ext uri="{FF2B5EF4-FFF2-40B4-BE49-F238E27FC236}">
                  <a16:creationId xmlns:a16="http://schemas.microsoft.com/office/drawing/2014/main" id="{0B961D9A-C0A8-914E-3B95-7E43F2FC72DB}"/>
                </a:ext>
              </a:extLst>
            </p:cNvPr>
            <p:cNvSpPr/>
            <p:nvPr/>
          </p:nvSpPr>
          <p:spPr>
            <a:xfrm>
              <a:off x="9793223" y="5123688"/>
              <a:ext cx="1490980" cy="0"/>
            </a:xfrm>
            <a:custGeom>
              <a:avLst/>
              <a:gdLst/>
              <a:ahLst/>
              <a:cxnLst/>
              <a:rect l="l" t="t" r="r" b="b"/>
              <a:pathLst>
                <a:path w="1490979">
                  <a:moveTo>
                    <a:pt x="0" y="0"/>
                  </a:moveTo>
                  <a:lnTo>
                    <a:pt x="1490891" y="0"/>
                  </a:lnTo>
                </a:path>
              </a:pathLst>
            </a:custGeom>
            <a:ln w="57912">
              <a:solidFill>
                <a:srgbClr val="3E762B"/>
              </a:solidFill>
            </a:ln>
          </p:spPr>
          <p:txBody>
            <a:bodyPr wrap="square" lIns="0" tIns="0" rIns="0" bIns="0" rtlCol="0"/>
            <a:lstStyle/>
            <a:p>
              <a:pPr defTabSz="457063"/>
              <a:endParaRPr sz="1798">
                <a:solidFill>
                  <a:srgbClr val="37424A"/>
                </a:solidFill>
                <a:latin typeface="Arial Narrow"/>
              </a:endParaRPr>
            </a:p>
          </p:txBody>
        </p:sp>
        <p:pic>
          <p:nvPicPr>
            <p:cNvPr id="29" name="object 33">
              <a:extLst>
                <a:ext uri="{FF2B5EF4-FFF2-40B4-BE49-F238E27FC236}">
                  <a16:creationId xmlns:a16="http://schemas.microsoft.com/office/drawing/2014/main" id="{3C9D1DD3-A4AF-DB10-5DE8-62142131B2D9}"/>
                </a:ext>
              </a:extLst>
            </p:cNvPr>
            <p:cNvPicPr/>
            <p:nvPr/>
          </p:nvPicPr>
          <p:blipFill>
            <a:blip r:embed="rId5" cstate="screen">
              <a:extLst>
                <a:ext uri="{28A0092B-C50C-407E-A947-70E740481C1C}">
                  <a14:useLocalDpi xmlns:a14="http://schemas.microsoft.com/office/drawing/2010/main"/>
                </a:ext>
              </a:extLst>
            </a:blip>
            <a:stretch>
              <a:fillRect/>
            </a:stretch>
          </p:blipFill>
          <p:spPr>
            <a:xfrm>
              <a:off x="10209276" y="4701540"/>
              <a:ext cx="365759" cy="376427"/>
            </a:xfrm>
            <a:prstGeom prst="rect">
              <a:avLst/>
            </a:prstGeom>
          </p:spPr>
        </p:pic>
      </p:grpSp>
      <p:sp>
        <p:nvSpPr>
          <p:cNvPr id="30" name="object 34">
            <a:extLst>
              <a:ext uri="{FF2B5EF4-FFF2-40B4-BE49-F238E27FC236}">
                <a16:creationId xmlns:a16="http://schemas.microsoft.com/office/drawing/2014/main" id="{E8C7FA66-FA93-38D3-4F79-40BEBF8BC80D}"/>
              </a:ext>
            </a:extLst>
          </p:cNvPr>
          <p:cNvSpPr txBox="1"/>
          <p:nvPr/>
        </p:nvSpPr>
        <p:spPr>
          <a:xfrm>
            <a:off x="6322893" y="5256848"/>
            <a:ext cx="1364539" cy="935506"/>
          </a:xfrm>
          <a:prstGeom prst="rect">
            <a:avLst/>
          </a:prstGeom>
        </p:spPr>
        <p:txBody>
          <a:bodyPr vert="horz" wrap="square" lIns="0" tIns="12059" rIns="0" bIns="0" rtlCol="0">
            <a:spAutoFit/>
          </a:bodyPr>
          <a:lstStyle/>
          <a:p>
            <a:pPr marL="4761" marR="72981" defTabSz="457063">
              <a:spcBef>
                <a:spcPts val="95"/>
              </a:spcBef>
            </a:pPr>
            <a:r>
              <a:rPr sz="1000" b="1" i="1" spc="-5">
                <a:solidFill>
                  <a:srgbClr val="37424A"/>
                </a:solidFill>
                <a:cs typeface="OpenSans-BoldItalic"/>
              </a:rPr>
              <a:t>Subscription: </a:t>
            </a:r>
            <a:r>
              <a:rPr sz="1000" b="1" i="1">
                <a:solidFill>
                  <a:srgbClr val="37424A"/>
                </a:solidFill>
                <a:cs typeface="OpenSans-BoldItalic"/>
              </a:rPr>
              <a:t> </a:t>
            </a:r>
            <a:r>
              <a:rPr sz="1000" spc="-5">
                <a:solidFill>
                  <a:srgbClr val="37424A"/>
                </a:solidFill>
                <a:cs typeface="Open Sans"/>
              </a:rPr>
              <a:t>Allow consumers to access</a:t>
            </a:r>
            <a:r>
              <a:rPr sz="1000" spc="-45">
                <a:solidFill>
                  <a:srgbClr val="37424A"/>
                </a:solidFill>
                <a:cs typeface="Open Sans"/>
              </a:rPr>
              <a:t> </a:t>
            </a:r>
            <a:r>
              <a:rPr sz="1000" spc="-5">
                <a:solidFill>
                  <a:srgbClr val="37424A"/>
                </a:solidFill>
                <a:cs typeface="Open Sans"/>
              </a:rPr>
              <a:t>and</a:t>
            </a:r>
            <a:r>
              <a:rPr sz="1000" spc="-30">
                <a:solidFill>
                  <a:srgbClr val="37424A"/>
                </a:solidFill>
                <a:cs typeface="Open Sans"/>
              </a:rPr>
              <a:t> </a:t>
            </a:r>
            <a:r>
              <a:rPr sz="1000" spc="-5">
                <a:solidFill>
                  <a:srgbClr val="37424A"/>
                </a:solidFill>
                <a:cs typeface="Open Sans"/>
              </a:rPr>
              <a:t>augment</a:t>
            </a:r>
            <a:r>
              <a:rPr lang="en-US" sz="1000">
                <a:solidFill>
                  <a:srgbClr val="37424A"/>
                </a:solidFill>
                <a:cs typeface="Open Sans"/>
              </a:rPr>
              <a:t> </a:t>
            </a:r>
            <a:r>
              <a:rPr sz="1000" spc="-5">
                <a:solidFill>
                  <a:srgbClr val="37424A"/>
                </a:solidFill>
                <a:cs typeface="Open Sans"/>
              </a:rPr>
              <a:t>data products by </a:t>
            </a:r>
            <a:r>
              <a:rPr sz="1000">
                <a:solidFill>
                  <a:srgbClr val="37424A"/>
                </a:solidFill>
                <a:cs typeface="Open Sans"/>
              </a:rPr>
              <a:t> </a:t>
            </a:r>
            <a:r>
              <a:rPr sz="1000" spc="-5">
                <a:solidFill>
                  <a:srgbClr val="37424A"/>
                </a:solidFill>
                <a:cs typeface="Open Sans"/>
              </a:rPr>
              <a:t>combining with other </a:t>
            </a:r>
            <a:r>
              <a:rPr sz="1000">
                <a:solidFill>
                  <a:srgbClr val="37424A"/>
                </a:solidFill>
                <a:cs typeface="Open Sans"/>
              </a:rPr>
              <a:t> </a:t>
            </a:r>
            <a:r>
              <a:rPr sz="1000" spc="-5">
                <a:solidFill>
                  <a:srgbClr val="37424A"/>
                </a:solidFill>
                <a:cs typeface="Open Sans"/>
              </a:rPr>
              <a:t>information and </a:t>
            </a:r>
            <a:r>
              <a:rPr sz="1000">
                <a:solidFill>
                  <a:srgbClr val="37424A"/>
                </a:solidFill>
                <a:cs typeface="Open Sans"/>
              </a:rPr>
              <a:t> </a:t>
            </a:r>
            <a:r>
              <a:rPr sz="1000" spc="-5">
                <a:solidFill>
                  <a:srgbClr val="37424A"/>
                </a:solidFill>
                <a:cs typeface="Open Sans"/>
              </a:rPr>
              <a:t>republish the enriched </a:t>
            </a:r>
            <a:r>
              <a:rPr sz="1000" spc="-245">
                <a:solidFill>
                  <a:srgbClr val="37424A"/>
                </a:solidFill>
                <a:cs typeface="Open Sans"/>
              </a:rPr>
              <a:t> </a:t>
            </a:r>
            <a:r>
              <a:rPr sz="1000" spc="-5">
                <a:solidFill>
                  <a:srgbClr val="37424A"/>
                </a:solidFill>
                <a:cs typeface="Open Sans"/>
              </a:rPr>
              <a:t>data product</a:t>
            </a:r>
            <a:endParaRPr sz="1000">
              <a:solidFill>
                <a:srgbClr val="37424A"/>
              </a:solidFill>
              <a:cs typeface="Open Sans"/>
            </a:endParaRPr>
          </a:p>
        </p:txBody>
      </p:sp>
      <p:sp>
        <p:nvSpPr>
          <p:cNvPr id="31" name="object 35">
            <a:extLst>
              <a:ext uri="{FF2B5EF4-FFF2-40B4-BE49-F238E27FC236}">
                <a16:creationId xmlns:a16="http://schemas.microsoft.com/office/drawing/2014/main" id="{A158A02C-634C-577B-7665-06F0D9ED1708}"/>
              </a:ext>
            </a:extLst>
          </p:cNvPr>
          <p:cNvSpPr txBox="1"/>
          <p:nvPr/>
        </p:nvSpPr>
        <p:spPr>
          <a:xfrm>
            <a:off x="9825220" y="5231462"/>
            <a:ext cx="1455587" cy="627730"/>
          </a:xfrm>
          <a:prstGeom prst="rect">
            <a:avLst/>
          </a:prstGeom>
        </p:spPr>
        <p:txBody>
          <a:bodyPr vert="horz" wrap="square" lIns="0" tIns="12059" rIns="0" bIns="0" rtlCol="0">
            <a:spAutoFit/>
          </a:bodyPr>
          <a:lstStyle/>
          <a:p>
            <a:pPr marL="12692" marR="5076" defTabSz="457063">
              <a:spcBef>
                <a:spcPts val="95"/>
              </a:spcBef>
            </a:pPr>
            <a:r>
              <a:rPr sz="1000" b="1" i="1" spc="-10">
                <a:solidFill>
                  <a:srgbClr val="37424A"/>
                </a:solidFill>
                <a:cs typeface="OpenSans-BoldItalic"/>
              </a:rPr>
              <a:t>Access</a:t>
            </a:r>
            <a:r>
              <a:rPr sz="1000" b="1" i="1" spc="20">
                <a:solidFill>
                  <a:srgbClr val="37424A"/>
                </a:solidFill>
                <a:cs typeface="OpenSans-BoldItalic"/>
              </a:rPr>
              <a:t> </a:t>
            </a:r>
            <a:r>
              <a:rPr sz="1000" b="1" i="1" spc="-5">
                <a:solidFill>
                  <a:srgbClr val="37424A"/>
                </a:solidFill>
                <a:cs typeface="OpenSans-BoldItalic"/>
              </a:rPr>
              <a:t>Workflow: </a:t>
            </a:r>
            <a:r>
              <a:rPr sz="1000" b="1" i="1">
                <a:solidFill>
                  <a:srgbClr val="37424A"/>
                </a:solidFill>
                <a:cs typeface="OpenSans-BoldItalic"/>
              </a:rPr>
              <a:t> </a:t>
            </a:r>
            <a:r>
              <a:rPr sz="1000" spc="-5">
                <a:solidFill>
                  <a:srgbClr val="37424A"/>
                </a:solidFill>
                <a:cs typeface="Open Sans"/>
              </a:rPr>
              <a:t>Workflow based </a:t>
            </a:r>
            <a:r>
              <a:rPr sz="1000">
                <a:solidFill>
                  <a:srgbClr val="37424A"/>
                </a:solidFill>
                <a:cs typeface="Open Sans"/>
              </a:rPr>
              <a:t> </a:t>
            </a:r>
            <a:r>
              <a:rPr sz="1000" spc="-5">
                <a:solidFill>
                  <a:srgbClr val="37424A"/>
                </a:solidFill>
                <a:cs typeface="Open Sans"/>
              </a:rPr>
              <a:t>access provisioning </a:t>
            </a:r>
            <a:r>
              <a:rPr sz="1000">
                <a:solidFill>
                  <a:srgbClr val="37424A"/>
                </a:solidFill>
                <a:cs typeface="Open Sans"/>
              </a:rPr>
              <a:t> </a:t>
            </a:r>
            <a:r>
              <a:rPr sz="1000" spc="-5">
                <a:solidFill>
                  <a:srgbClr val="37424A"/>
                </a:solidFill>
                <a:cs typeface="Open Sans"/>
              </a:rPr>
              <a:t>mechanism</a:t>
            </a:r>
            <a:r>
              <a:rPr sz="1000" spc="-50">
                <a:solidFill>
                  <a:srgbClr val="37424A"/>
                </a:solidFill>
                <a:cs typeface="Open Sans"/>
              </a:rPr>
              <a:t> </a:t>
            </a:r>
            <a:r>
              <a:rPr sz="1000" spc="-5">
                <a:solidFill>
                  <a:srgbClr val="37424A"/>
                </a:solidFill>
                <a:cs typeface="Open Sans"/>
              </a:rPr>
              <a:t>to</a:t>
            </a:r>
            <a:r>
              <a:rPr sz="1000" spc="-35">
                <a:solidFill>
                  <a:srgbClr val="37424A"/>
                </a:solidFill>
                <a:cs typeface="Open Sans"/>
              </a:rPr>
              <a:t> </a:t>
            </a:r>
            <a:r>
              <a:rPr sz="1000" spc="-5">
                <a:solidFill>
                  <a:srgbClr val="37424A"/>
                </a:solidFill>
                <a:cs typeface="Open Sans"/>
              </a:rPr>
              <a:t>grant </a:t>
            </a:r>
            <a:r>
              <a:rPr sz="1000" spc="-245">
                <a:solidFill>
                  <a:srgbClr val="37424A"/>
                </a:solidFill>
                <a:cs typeface="Open Sans"/>
              </a:rPr>
              <a:t> </a:t>
            </a:r>
            <a:r>
              <a:rPr sz="1000" spc="-5">
                <a:solidFill>
                  <a:srgbClr val="37424A"/>
                </a:solidFill>
                <a:cs typeface="Open Sans"/>
              </a:rPr>
              <a:t>access to a data </a:t>
            </a:r>
            <a:r>
              <a:rPr sz="1000">
                <a:solidFill>
                  <a:srgbClr val="37424A"/>
                </a:solidFill>
                <a:cs typeface="Open Sans"/>
              </a:rPr>
              <a:t> </a:t>
            </a:r>
            <a:r>
              <a:rPr sz="1000" spc="-5">
                <a:solidFill>
                  <a:srgbClr val="37424A"/>
                </a:solidFill>
                <a:cs typeface="Open Sans"/>
              </a:rPr>
              <a:t>product</a:t>
            </a:r>
            <a:endParaRPr sz="1000">
              <a:solidFill>
                <a:srgbClr val="37424A"/>
              </a:solidFill>
              <a:cs typeface="Open Sans"/>
            </a:endParaRPr>
          </a:p>
        </p:txBody>
      </p:sp>
      <p:sp>
        <p:nvSpPr>
          <p:cNvPr id="32" name="object 36">
            <a:extLst>
              <a:ext uri="{FF2B5EF4-FFF2-40B4-BE49-F238E27FC236}">
                <a16:creationId xmlns:a16="http://schemas.microsoft.com/office/drawing/2014/main" id="{E9C1644B-9C45-1B83-EA97-6DBA07F425C3}"/>
              </a:ext>
            </a:extLst>
          </p:cNvPr>
          <p:cNvSpPr txBox="1"/>
          <p:nvPr/>
        </p:nvSpPr>
        <p:spPr>
          <a:xfrm>
            <a:off x="8075862" y="5231462"/>
            <a:ext cx="1272512" cy="781618"/>
          </a:xfrm>
          <a:prstGeom prst="rect">
            <a:avLst/>
          </a:prstGeom>
        </p:spPr>
        <p:txBody>
          <a:bodyPr vert="horz" wrap="square" lIns="0" tIns="12059" rIns="0" bIns="0" rtlCol="0">
            <a:spAutoFit/>
          </a:bodyPr>
          <a:lstStyle/>
          <a:p>
            <a:pPr marL="12692" marR="5076" defTabSz="457063">
              <a:spcBef>
                <a:spcPts val="95"/>
              </a:spcBef>
            </a:pPr>
            <a:r>
              <a:rPr sz="1000" b="1" i="1" spc="-5">
                <a:solidFill>
                  <a:srgbClr val="37424A"/>
                </a:solidFill>
                <a:cs typeface="OpenSans-BoldItalic"/>
              </a:rPr>
              <a:t>Search</a:t>
            </a:r>
            <a:r>
              <a:rPr sz="1000" b="1" i="1" spc="25">
                <a:solidFill>
                  <a:srgbClr val="37424A"/>
                </a:solidFill>
                <a:cs typeface="OpenSans-BoldItalic"/>
              </a:rPr>
              <a:t> </a:t>
            </a:r>
            <a:r>
              <a:rPr sz="1000" b="1" i="1" spc="-5">
                <a:solidFill>
                  <a:srgbClr val="37424A"/>
                </a:solidFill>
                <a:cs typeface="OpenSans-BoldItalic"/>
              </a:rPr>
              <a:t>&amp; </a:t>
            </a:r>
            <a:r>
              <a:rPr sz="1000" b="1" i="1" spc="-10">
                <a:solidFill>
                  <a:srgbClr val="37424A"/>
                </a:solidFill>
                <a:cs typeface="OpenSans-BoldItalic"/>
              </a:rPr>
              <a:t>Browse: </a:t>
            </a:r>
            <a:r>
              <a:rPr sz="1000" b="1" i="1" spc="-5">
                <a:solidFill>
                  <a:srgbClr val="37424A"/>
                </a:solidFill>
                <a:cs typeface="OpenSans-BoldItalic"/>
              </a:rPr>
              <a:t> </a:t>
            </a:r>
            <a:r>
              <a:rPr sz="1000" spc="-5">
                <a:solidFill>
                  <a:srgbClr val="37424A"/>
                </a:solidFill>
                <a:cs typeface="Open Sans"/>
              </a:rPr>
              <a:t>Allow consumers to </a:t>
            </a:r>
            <a:r>
              <a:rPr sz="1000">
                <a:solidFill>
                  <a:srgbClr val="37424A"/>
                </a:solidFill>
                <a:cs typeface="Open Sans"/>
              </a:rPr>
              <a:t> </a:t>
            </a:r>
            <a:r>
              <a:rPr sz="1000" spc="-5">
                <a:solidFill>
                  <a:srgbClr val="37424A"/>
                </a:solidFill>
                <a:cs typeface="Open Sans"/>
              </a:rPr>
              <a:t>search</a:t>
            </a:r>
            <a:r>
              <a:rPr sz="1000" spc="-40">
                <a:solidFill>
                  <a:srgbClr val="37424A"/>
                </a:solidFill>
                <a:cs typeface="Open Sans"/>
              </a:rPr>
              <a:t> </a:t>
            </a:r>
            <a:r>
              <a:rPr sz="1000" spc="-5">
                <a:solidFill>
                  <a:srgbClr val="37424A"/>
                </a:solidFill>
                <a:cs typeface="Open Sans"/>
              </a:rPr>
              <a:t>data</a:t>
            </a:r>
            <a:r>
              <a:rPr sz="1000" spc="-25">
                <a:solidFill>
                  <a:srgbClr val="37424A"/>
                </a:solidFill>
                <a:cs typeface="Open Sans"/>
              </a:rPr>
              <a:t> </a:t>
            </a:r>
            <a:r>
              <a:rPr sz="1000" spc="-5">
                <a:solidFill>
                  <a:srgbClr val="37424A"/>
                </a:solidFill>
                <a:cs typeface="Open Sans"/>
              </a:rPr>
              <a:t>products </a:t>
            </a:r>
            <a:r>
              <a:rPr sz="1000" spc="-245">
                <a:solidFill>
                  <a:srgbClr val="37424A"/>
                </a:solidFill>
                <a:cs typeface="Open Sans"/>
              </a:rPr>
              <a:t> </a:t>
            </a:r>
            <a:r>
              <a:rPr sz="1000" spc="-5">
                <a:solidFill>
                  <a:srgbClr val="37424A"/>
                </a:solidFill>
                <a:cs typeface="Open Sans"/>
              </a:rPr>
              <a:t>based on metadata </a:t>
            </a:r>
            <a:r>
              <a:rPr sz="1000">
                <a:solidFill>
                  <a:srgbClr val="37424A"/>
                </a:solidFill>
                <a:cs typeface="Open Sans"/>
              </a:rPr>
              <a:t> </a:t>
            </a:r>
            <a:r>
              <a:rPr sz="1000" spc="-5">
                <a:solidFill>
                  <a:srgbClr val="37424A"/>
                </a:solidFill>
                <a:cs typeface="Open Sans"/>
              </a:rPr>
              <a:t>and </a:t>
            </a:r>
            <a:r>
              <a:rPr sz="1000" spc="-10">
                <a:solidFill>
                  <a:srgbClr val="37424A"/>
                </a:solidFill>
                <a:cs typeface="Open Sans"/>
              </a:rPr>
              <a:t>tags </a:t>
            </a:r>
            <a:r>
              <a:rPr sz="1000" spc="-5">
                <a:solidFill>
                  <a:srgbClr val="37424A"/>
                </a:solidFill>
                <a:cs typeface="Open Sans"/>
              </a:rPr>
              <a:t>and provide </a:t>
            </a:r>
            <a:r>
              <a:rPr sz="1000" spc="-245">
                <a:solidFill>
                  <a:srgbClr val="37424A"/>
                </a:solidFill>
                <a:cs typeface="Open Sans"/>
              </a:rPr>
              <a:t> </a:t>
            </a:r>
            <a:r>
              <a:rPr sz="1000" spc="-5">
                <a:solidFill>
                  <a:srgbClr val="37424A"/>
                </a:solidFill>
                <a:cs typeface="Open Sans"/>
              </a:rPr>
              <a:t>data preview</a:t>
            </a:r>
            <a:endParaRPr sz="1000">
              <a:solidFill>
                <a:srgbClr val="37424A"/>
              </a:solidFill>
              <a:cs typeface="Open Sans"/>
            </a:endParaRPr>
          </a:p>
        </p:txBody>
      </p:sp>
      <p:pic>
        <p:nvPicPr>
          <p:cNvPr id="33" name="object 37">
            <a:extLst>
              <a:ext uri="{FF2B5EF4-FFF2-40B4-BE49-F238E27FC236}">
                <a16:creationId xmlns:a16="http://schemas.microsoft.com/office/drawing/2014/main" id="{4DA7FDBC-EA3E-9A93-20C5-319DC6965156}"/>
              </a:ext>
            </a:extLst>
          </p:cNvPr>
          <p:cNvPicPr/>
          <p:nvPr/>
        </p:nvPicPr>
        <p:blipFill>
          <a:blip r:embed="rId6" cstate="screen">
            <a:extLst>
              <a:ext uri="{28A0092B-C50C-407E-A947-70E740481C1C}">
                <a14:useLocalDpi xmlns:a14="http://schemas.microsoft.com/office/drawing/2010/main"/>
              </a:ext>
            </a:extLst>
          </a:blip>
          <a:stretch>
            <a:fillRect/>
          </a:stretch>
        </p:blipFill>
        <p:spPr>
          <a:xfrm>
            <a:off x="8402070" y="4652136"/>
            <a:ext cx="365569" cy="376231"/>
          </a:xfrm>
          <a:prstGeom prst="rect">
            <a:avLst/>
          </a:prstGeom>
        </p:spPr>
      </p:pic>
      <p:sp>
        <p:nvSpPr>
          <p:cNvPr id="34" name="object 38">
            <a:extLst>
              <a:ext uri="{FF2B5EF4-FFF2-40B4-BE49-F238E27FC236}">
                <a16:creationId xmlns:a16="http://schemas.microsoft.com/office/drawing/2014/main" id="{BE0CCA54-CDCF-AF7F-09F8-000402D7FB65}"/>
              </a:ext>
            </a:extLst>
          </p:cNvPr>
          <p:cNvSpPr/>
          <p:nvPr/>
        </p:nvSpPr>
        <p:spPr>
          <a:xfrm>
            <a:off x="690076" y="5154791"/>
            <a:ext cx="1490204" cy="0"/>
          </a:xfrm>
          <a:custGeom>
            <a:avLst/>
            <a:gdLst/>
            <a:ahLst/>
            <a:cxnLst/>
            <a:rect l="l" t="t" r="r" b="b"/>
            <a:pathLst>
              <a:path w="1490980">
                <a:moveTo>
                  <a:pt x="0" y="0"/>
                </a:moveTo>
                <a:lnTo>
                  <a:pt x="1490891" y="0"/>
                </a:lnTo>
              </a:path>
            </a:pathLst>
          </a:custGeom>
          <a:ln w="57912">
            <a:solidFill>
              <a:srgbClr val="539E39"/>
            </a:solidFill>
          </a:ln>
        </p:spPr>
        <p:txBody>
          <a:bodyPr wrap="square" lIns="0" tIns="0" rIns="0" bIns="0" rtlCol="0"/>
          <a:lstStyle/>
          <a:p>
            <a:pPr defTabSz="457063"/>
            <a:endParaRPr sz="1798">
              <a:solidFill>
                <a:srgbClr val="37424A"/>
              </a:solidFill>
              <a:latin typeface="Arial Narrow"/>
            </a:endParaRPr>
          </a:p>
        </p:txBody>
      </p:sp>
      <p:grpSp>
        <p:nvGrpSpPr>
          <p:cNvPr id="35" name="object 39">
            <a:extLst>
              <a:ext uri="{FF2B5EF4-FFF2-40B4-BE49-F238E27FC236}">
                <a16:creationId xmlns:a16="http://schemas.microsoft.com/office/drawing/2014/main" id="{68E1BFC2-8E39-27B6-9D1E-5D031ACAC6C4}"/>
              </a:ext>
            </a:extLst>
          </p:cNvPr>
          <p:cNvGrpSpPr/>
          <p:nvPr/>
        </p:nvGrpSpPr>
        <p:grpSpPr>
          <a:xfrm>
            <a:off x="4417362" y="4681078"/>
            <a:ext cx="1490204" cy="470924"/>
            <a:chOff x="4418076" y="4681728"/>
            <a:chExt cx="1490980" cy="471170"/>
          </a:xfrm>
        </p:grpSpPr>
        <p:sp>
          <p:nvSpPr>
            <p:cNvPr id="36" name="object 40">
              <a:extLst>
                <a:ext uri="{FF2B5EF4-FFF2-40B4-BE49-F238E27FC236}">
                  <a16:creationId xmlns:a16="http://schemas.microsoft.com/office/drawing/2014/main" id="{4FF377E9-F4F0-7751-6EC8-C0F00D4B4D4D}"/>
                </a:ext>
              </a:extLst>
            </p:cNvPr>
            <p:cNvSpPr/>
            <p:nvPr/>
          </p:nvSpPr>
          <p:spPr>
            <a:xfrm>
              <a:off x="4418076" y="5123688"/>
              <a:ext cx="1490980" cy="0"/>
            </a:xfrm>
            <a:custGeom>
              <a:avLst/>
              <a:gdLst/>
              <a:ahLst/>
              <a:cxnLst/>
              <a:rect l="l" t="t" r="r" b="b"/>
              <a:pathLst>
                <a:path w="1490979">
                  <a:moveTo>
                    <a:pt x="0" y="0"/>
                  </a:moveTo>
                  <a:lnTo>
                    <a:pt x="1490891" y="0"/>
                  </a:lnTo>
                </a:path>
              </a:pathLst>
            </a:custGeom>
            <a:ln w="57912">
              <a:solidFill>
                <a:srgbClr val="89B833"/>
              </a:solidFill>
            </a:ln>
          </p:spPr>
          <p:txBody>
            <a:bodyPr wrap="square" lIns="0" tIns="0" rIns="0" bIns="0" rtlCol="0"/>
            <a:lstStyle/>
            <a:p>
              <a:pPr defTabSz="457063"/>
              <a:endParaRPr sz="1798">
                <a:solidFill>
                  <a:srgbClr val="37424A"/>
                </a:solidFill>
                <a:latin typeface="Arial Narrow"/>
              </a:endParaRPr>
            </a:p>
          </p:txBody>
        </p:sp>
        <p:pic>
          <p:nvPicPr>
            <p:cNvPr id="37" name="object 41">
              <a:extLst>
                <a:ext uri="{FF2B5EF4-FFF2-40B4-BE49-F238E27FC236}">
                  <a16:creationId xmlns:a16="http://schemas.microsoft.com/office/drawing/2014/main" id="{CD520E35-6541-3C99-EC75-1B07CB0C12F8}"/>
                </a:ext>
              </a:extLst>
            </p:cNvPr>
            <p:cNvPicPr/>
            <p:nvPr/>
          </p:nvPicPr>
          <p:blipFill>
            <a:blip r:embed="rId7" cstate="screen">
              <a:extLst>
                <a:ext uri="{28A0092B-C50C-407E-A947-70E740481C1C}">
                  <a14:useLocalDpi xmlns:a14="http://schemas.microsoft.com/office/drawing/2010/main"/>
                </a:ext>
              </a:extLst>
            </a:blip>
            <a:stretch>
              <a:fillRect/>
            </a:stretch>
          </p:blipFill>
          <p:spPr>
            <a:xfrm>
              <a:off x="4853940" y="4681728"/>
              <a:ext cx="365759" cy="377951"/>
            </a:xfrm>
            <a:prstGeom prst="rect">
              <a:avLst/>
            </a:prstGeom>
          </p:spPr>
        </p:pic>
      </p:grpSp>
      <p:sp>
        <p:nvSpPr>
          <p:cNvPr id="38" name="object 42">
            <a:extLst>
              <a:ext uri="{FF2B5EF4-FFF2-40B4-BE49-F238E27FC236}">
                <a16:creationId xmlns:a16="http://schemas.microsoft.com/office/drawing/2014/main" id="{BD49A54F-46EA-3EF1-6A02-593DD2CCDC85}"/>
              </a:ext>
            </a:extLst>
          </p:cNvPr>
          <p:cNvSpPr txBox="1"/>
          <p:nvPr/>
        </p:nvSpPr>
        <p:spPr>
          <a:xfrm>
            <a:off x="4496808" y="5231460"/>
            <a:ext cx="1330266" cy="781618"/>
          </a:xfrm>
          <a:prstGeom prst="rect">
            <a:avLst/>
          </a:prstGeom>
        </p:spPr>
        <p:txBody>
          <a:bodyPr vert="horz" wrap="square" lIns="0" tIns="12059" rIns="0" bIns="0" rtlCol="0">
            <a:spAutoFit/>
          </a:bodyPr>
          <a:lstStyle/>
          <a:p>
            <a:pPr marL="12692" defTabSz="457063">
              <a:spcBef>
                <a:spcPts val="95"/>
              </a:spcBef>
            </a:pPr>
            <a:r>
              <a:rPr sz="1000" b="1" i="1" spc="-10">
                <a:solidFill>
                  <a:srgbClr val="37424A"/>
                </a:solidFill>
                <a:cs typeface="OpenSans-BoldItalic"/>
              </a:rPr>
              <a:t>Data</a:t>
            </a:r>
            <a:r>
              <a:rPr sz="1000" b="1" i="1">
                <a:solidFill>
                  <a:srgbClr val="37424A"/>
                </a:solidFill>
                <a:cs typeface="OpenSans-BoldItalic"/>
              </a:rPr>
              <a:t> </a:t>
            </a:r>
            <a:r>
              <a:rPr sz="1000" b="1" i="1" spc="-5">
                <a:solidFill>
                  <a:srgbClr val="37424A"/>
                </a:solidFill>
                <a:cs typeface="OpenSans-BoldItalic"/>
              </a:rPr>
              <a:t>Services:</a:t>
            </a:r>
            <a:r>
              <a:rPr lang="en-US" sz="1000" b="1" i="1" spc="-5">
                <a:solidFill>
                  <a:srgbClr val="37424A"/>
                </a:solidFill>
                <a:cs typeface="OpenSans-BoldItalic"/>
              </a:rPr>
              <a:t> </a:t>
            </a:r>
            <a:r>
              <a:rPr sz="1000">
                <a:solidFill>
                  <a:srgbClr val="37424A"/>
                </a:solidFill>
                <a:cs typeface="Open Sans"/>
              </a:rPr>
              <a:t>Self Service </a:t>
            </a:r>
            <a:r>
              <a:rPr sz="1000" spc="-5">
                <a:solidFill>
                  <a:srgbClr val="37424A"/>
                </a:solidFill>
                <a:cs typeface="Open Sans"/>
              </a:rPr>
              <a:t>APIs to </a:t>
            </a:r>
            <a:r>
              <a:rPr sz="1000">
                <a:solidFill>
                  <a:srgbClr val="37424A"/>
                </a:solidFill>
                <a:cs typeface="Open Sans"/>
              </a:rPr>
              <a:t> </a:t>
            </a:r>
            <a:r>
              <a:rPr sz="1000" spc="-5">
                <a:solidFill>
                  <a:srgbClr val="37424A"/>
                </a:solidFill>
                <a:cs typeface="Open Sans"/>
              </a:rPr>
              <a:t>import data </a:t>
            </a:r>
            <a:r>
              <a:rPr sz="1000" spc="-10">
                <a:solidFill>
                  <a:srgbClr val="37424A"/>
                </a:solidFill>
                <a:cs typeface="Open Sans"/>
              </a:rPr>
              <a:t>from </a:t>
            </a:r>
            <a:r>
              <a:rPr sz="1000" spc="-5">
                <a:solidFill>
                  <a:srgbClr val="37424A"/>
                </a:solidFill>
                <a:cs typeface="Open Sans"/>
              </a:rPr>
              <a:t> providers</a:t>
            </a:r>
            <a:r>
              <a:rPr sz="1000" spc="-20">
                <a:solidFill>
                  <a:srgbClr val="37424A"/>
                </a:solidFill>
                <a:cs typeface="Open Sans"/>
              </a:rPr>
              <a:t> </a:t>
            </a:r>
            <a:r>
              <a:rPr sz="1000" spc="-5">
                <a:solidFill>
                  <a:srgbClr val="37424A"/>
                </a:solidFill>
                <a:cs typeface="Open Sans"/>
              </a:rPr>
              <a:t>and</a:t>
            </a:r>
            <a:r>
              <a:rPr sz="1000" spc="-30">
                <a:solidFill>
                  <a:srgbClr val="37424A"/>
                </a:solidFill>
                <a:cs typeface="Open Sans"/>
              </a:rPr>
              <a:t> </a:t>
            </a:r>
            <a:r>
              <a:rPr sz="1000" spc="-5">
                <a:solidFill>
                  <a:srgbClr val="37424A"/>
                </a:solidFill>
                <a:cs typeface="Open Sans"/>
              </a:rPr>
              <a:t>provide </a:t>
            </a:r>
            <a:r>
              <a:rPr sz="1000" spc="-245">
                <a:solidFill>
                  <a:srgbClr val="37424A"/>
                </a:solidFill>
                <a:cs typeface="Open Sans"/>
              </a:rPr>
              <a:t> </a:t>
            </a:r>
            <a:r>
              <a:rPr sz="1000" spc="-5">
                <a:solidFill>
                  <a:srgbClr val="37424A"/>
                </a:solidFill>
                <a:cs typeface="Open Sans"/>
              </a:rPr>
              <a:t>subscription-based </a:t>
            </a:r>
            <a:r>
              <a:rPr sz="1000">
                <a:solidFill>
                  <a:srgbClr val="37424A"/>
                </a:solidFill>
                <a:cs typeface="Open Sans"/>
              </a:rPr>
              <a:t> </a:t>
            </a:r>
            <a:r>
              <a:rPr sz="1000" spc="-5">
                <a:solidFill>
                  <a:srgbClr val="37424A"/>
                </a:solidFill>
                <a:cs typeface="Open Sans"/>
              </a:rPr>
              <a:t>access to data </a:t>
            </a:r>
            <a:r>
              <a:rPr sz="1000">
                <a:solidFill>
                  <a:srgbClr val="37424A"/>
                </a:solidFill>
                <a:cs typeface="Open Sans"/>
              </a:rPr>
              <a:t> </a:t>
            </a:r>
            <a:r>
              <a:rPr sz="1000" spc="-5">
                <a:solidFill>
                  <a:srgbClr val="37424A"/>
                </a:solidFill>
                <a:cs typeface="Open Sans"/>
              </a:rPr>
              <a:t>consumers</a:t>
            </a:r>
            <a:endParaRPr sz="1000">
              <a:solidFill>
                <a:srgbClr val="37424A"/>
              </a:solidFill>
              <a:cs typeface="Open Sans"/>
            </a:endParaRPr>
          </a:p>
        </p:txBody>
      </p:sp>
      <p:sp>
        <p:nvSpPr>
          <p:cNvPr id="39" name="object 43">
            <a:extLst>
              <a:ext uri="{FF2B5EF4-FFF2-40B4-BE49-F238E27FC236}">
                <a16:creationId xmlns:a16="http://schemas.microsoft.com/office/drawing/2014/main" id="{65AD1C84-D2F2-E47D-C4D4-FBC39471CB9D}"/>
              </a:ext>
            </a:extLst>
          </p:cNvPr>
          <p:cNvSpPr txBox="1"/>
          <p:nvPr/>
        </p:nvSpPr>
        <p:spPr>
          <a:xfrm>
            <a:off x="2654526" y="5231460"/>
            <a:ext cx="1474711" cy="935506"/>
          </a:xfrm>
          <a:prstGeom prst="rect">
            <a:avLst/>
          </a:prstGeom>
        </p:spPr>
        <p:txBody>
          <a:bodyPr vert="horz" wrap="square" lIns="0" tIns="12059" rIns="0" bIns="0" rtlCol="0">
            <a:spAutoFit/>
          </a:bodyPr>
          <a:lstStyle/>
          <a:p>
            <a:pPr marL="12692" marR="5076" defTabSz="457063">
              <a:spcBef>
                <a:spcPts val="95"/>
              </a:spcBef>
            </a:pPr>
            <a:r>
              <a:rPr sz="1000" b="1" i="1" spc="-5">
                <a:solidFill>
                  <a:srgbClr val="37424A"/>
                </a:solidFill>
                <a:cs typeface="OpenSans-BoldItalic"/>
              </a:rPr>
              <a:t>Internationalization: </a:t>
            </a:r>
            <a:r>
              <a:rPr sz="1000" b="1" i="1">
                <a:solidFill>
                  <a:srgbClr val="37424A"/>
                </a:solidFill>
                <a:cs typeface="OpenSans-BoldItalic"/>
              </a:rPr>
              <a:t> </a:t>
            </a:r>
            <a:r>
              <a:rPr sz="1000" spc="-5">
                <a:solidFill>
                  <a:srgbClr val="37424A"/>
                </a:solidFill>
                <a:cs typeface="Open Sans"/>
              </a:rPr>
              <a:t>Enabling data products </a:t>
            </a:r>
            <a:r>
              <a:rPr sz="1000" spc="-245">
                <a:solidFill>
                  <a:srgbClr val="37424A"/>
                </a:solidFill>
                <a:cs typeface="Open Sans"/>
              </a:rPr>
              <a:t> </a:t>
            </a:r>
            <a:r>
              <a:rPr sz="1000" spc="-5">
                <a:solidFill>
                  <a:srgbClr val="37424A"/>
                </a:solidFill>
                <a:cs typeface="Open Sans"/>
              </a:rPr>
              <a:t>based</a:t>
            </a:r>
            <a:r>
              <a:rPr sz="1000" spc="-30">
                <a:solidFill>
                  <a:srgbClr val="37424A"/>
                </a:solidFill>
                <a:cs typeface="Open Sans"/>
              </a:rPr>
              <a:t> </a:t>
            </a:r>
            <a:r>
              <a:rPr sz="1000" spc="-5">
                <a:solidFill>
                  <a:srgbClr val="37424A"/>
                </a:solidFill>
                <a:cs typeface="Open Sans"/>
              </a:rPr>
              <a:t>on</a:t>
            </a:r>
            <a:r>
              <a:rPr sz="1000" spc="-25">
                <a:solidFill>
                  <a:srgbClr val="37424A"/>
                </a:solidFill>
                <a:cs typeface="Open Sans"/>
              </a:rPr>
              <a:t> </a:t>
            </a:r>
            <a:r>
              <a:rPr sz="1000" spc="-5">
                <a:solidFill>
                  <a:srgbClr val="37424A"/>
                </a:solidFill>
                <a:cs typeface="Open Sans"/>
              </a:rPr>
              <a:t>GDPR,</a:t>
            </a:r>
            <a:r>
              <a:rPr sz="1000" spc="-10">
                <a:solidFill>
                  <a:srgbClr val="37424A"/>
                </a:solidFill>
                <a:cs typeface="Open Sans"/>
              </a:rPr>
              <a:t> </a:t>
            </a:r>
            <a:r>
              <a:rPr sz="1000" spc="-5">
                <a:solidFill>
                  <a:srgbClr val="37424A"/>
                </a:solidFill>
                <a:cs typeface="Open Sans"/>
              </a:rPr>
              <a:t>Brazil’s </a:t>
            </a:r>
            <a:r>
              <a:rPr sz="1000" spc="-245">
                <a:solidFill>
                  <a:srgbClr val="37424A"/>
                </a:solidFill>
                <a:cs typeface="Open Sans"/>
              </a:rPr>
              <a:t> </a:t>
            </a:r>
            <a:r>
              <a:rPr sz="1000" spc="-5">
                <a:solidFill>
                  <a:srgbClr val="37424A"/>
                </a:solidFill>
                <a:cs typeface="Open Sans"/>
              </a:rPr>
              <a:t>LGPD,</a:t>
            </a:r>
            <a:r>
              <a:rPr sz="1000">
                <a:solidFill>
                  <a:srgbClr val="37424A"/>
                </a:solidFill>
                <a:cs typeface="Open Sans"/>
              </a:rPr>
              <a:t> </a:t>
            </a:r>
            <a:r>
              <a:rPr sz="1000" spc="-5">
                <a:solidFill>
                  <a:srgbClr val="37424A"/>
                </a:solidFill>
                <a:cs typeface="Open Sans"/>
              </a:rPr>
              <a:t>Argentina’s </a:t>
            </a:r>
            <a:r>
              <a:rPr sz="1000">
                <a:solidFill>
                  <a:srgbClr val="37424A"/>
                </a:solidFill>
                <a:cs typeface="Open Sans"/>
              </a:rPr>
              <a:t> </a:t>
            </a:r>
            <a:r>
              <a:rPr sz="1000" spc="-5">
                <a:solidFill>
                  <a:srgbClr val="37424A"/>
                </a:solidFill>
                <a:cs typeface="Open Sans"/>
              </a:rPr>
              <a:t>PDP(L/A)</a:t>
            </a:r>
            <a:r>
              <a:rPr sz="1000" spc="20">
                <a:solidFill>
                  <a:srgbClr val="37424A"/>
                </a:solidFill>
                <a:cs typeface="Open Sans"/>
              </a:rPr>
              <a:t> </a:t>
            </a:r>
            <a:r>
              <a:rPr sz="1000" spc="-5">
                <a:solidFill>
                  <a:srgbClr val="37424A"/>
                </a:solidFill>
                <a:cs typeface="Open Sans"/>
              </a:rPr>
              <a:t>and</a:t>
            </a:r>
            <a:r>
              <a:rPr sz="1000" spc="25">
                <a:solidFill>
                  <a:srgbClr val="37424A"/>
                </a:solidFill>
                <a:cs typeface="Open Sans"/>
              </a:rPr>
              <a:t> </a:t>
            </a:r>
            <a:r>
              <a:rPr sz="1000" spc="-5">
                <a:solidFill>
                  <a:srgbClr val="37424A"/>
                </a:solidFill>
                <a:cs typeface="Open Sans"/>
              </a:rPr>
              <a:t>other </a:t>
            </a:r>
            <a:r>
              <a:rPr sz="1000">
                <a:solidFill>
                  <a:srgbClr val="37424A"/>
                </a:solidFill>
                <a:cs typeface="Open Sans"/>
              </a:rPr>
              <a:t> </a:t>
            </a:r>
            <a:r>
              <a:rPr sz="1000" spc="-5">
                <a:solidFill>
                  <a:srgbClr val="37424A"/>
                </a:solidFill>
                <a:cs typeface="Open Sans"/>
              </a:rPr>
              <a:t>local regulatory </a:t>
            </a:r>
            <a:r>
              <a:rPr sz="1000">
                <a:solidFill>
                  <a:srgbClr val="37424A"/>
                </a:solidFill>
                <a:cs typeface="Open Sans"/>
              </a:rPr>
              <a:t> </a:t>
            </a:r>
            <a:r>
              <a:rPr sz="1000" spc="-5">
                <a:solidFill>
                  <a:srgbClr val="37424A"/>
                </a:solidFill>
                <a:cs typeface="Open Sans"/>
              </a:rPr>
              <a:t>requirements</a:t>
            </a:r>
            <a:r>
              <a:rPr sz="1000">
                <a:solidFill>
                  <a:srgbClr val="37424A"/>
                </a:solidFill>
                <a:cs typeface="Open Sans"/>
              </a:rPr>
              <a:t> </a:t>
            </a:r>
            <a:r>
              <a:rPr sz="1000" spc="-10">
                <a:solidFill>
                  <a:srgbClr val="37424A"/>
                </a:solidFill>
                <a:cs typeface="Open Sans"/>
              </a:rPr>
              <a:t>for </a:t>
            </a:r>
            <a:r>
              <a:rPr sz="1000" spc="-5">
                <a:solidFill>
                  <a:srgbClr val="37424A"/>
                </a:solidFill>
                <a:cs typeface="Open Sans"/>
              </a:rPr>
              <a:t> seamless</a:t>
            </a:r>
            <a:r>
              <a:rPr sz="1000" spc="-25">
                <a:solidFill>
                  <a:srgbClr val="37424A"/>
                </a:solidFill>
                <a:cs typeface="Open Sans"/>
              </a:rPr>
              <a:t> </a:t>
            </a:r>
            <a:r>
              <a:rPr sz="1000" spc="-10">
                <a:solidFill>
                  <a:srgbClr val="37424A"/>
                </a:solidFill>
                <a:cs typeface="Open Sans"/>
              </a:rPr>
              <a:t>adaptation</a:t>
            </a:r>
            <a:endParaRPr sz="1000">
              <a:solidFill>
                <a:srgbClr val="37424A"/>
              </a:solidFill>
              <a:cs typeface="Open Sans"/>
            </a:endParaRPr>
          </a:p>
        </p:txBody>
      </p:sp>
      <p:pic>
        <p:nvPicPr>
          <p:cNvPr id="40" name="object 44">
            <a:extLst>
              <a:ext uri="{FF2B5EF4-FFF2-40B4-BE49-F238E27FC236}">
                <a16:creationId xmlns:a16="http://schemas.microsoft.com/office/drawing/2014/main" id="{C06416C2-6668-998B-1A0D-05A489708D70}"/>
              </a:ext>
            </a:extLst>
          </p:cNvPr>
          <p:cNvPicPr/>
          <p:nvPr/>
        </p:nvPicPr>
        <p:blipFill>
          <a:blip r:embed="rId8" cstate="screen">
            <a:extLst>
              <a:ext uri="{28A0092B-C50C-407E-A947-70E740481C1C}">
                <a14:useLocalDpi xmlns:a14="http://schemas.microsoft.com/office/drawing/2010/main"/>
              </a:ext>
            </a:extLst>
          </a:blip>
          <a:stretch>
            <a:fillRect/>
          </a:stretch>
        </p:blipFill>
        <p:spPr>
          <a:xfrm>
            <a:off x="3098264" y="4700877"/>
            <a:ext cx="365569" cy="365569"/>
          </a:xfrm>
          <a:prstGeom prst="rect">
            <a:avLst/>
          </a:prstGeom>
        </p:spPr>
      </p:pic>
      <p:sp>
        <p:nvSpPr>
          <p:cNvPr id="41" name="object 45">
            <a:extLst>
              <a:ext uri="{FF2B5EF4-FFF2-40B4-BE49-F238E27FC236}">
                <a16:creationId xmlns:a16="http://schemas.microsoft.com/office/drawing/2014/main" id="{5DCB57CC-C1F5-1815-A72D-A71F39E68720}"/>
              </a:ext>
            </a:extLst>
          </p:cNvPr>
          <p:cNvSpPr/>
          <p:nvPr/>
        </p:nvSpPr>
        <p:spPr>
          <a:xfrm>
            <a:off x="2594084" y="5141084"/>
            <a:ext cx="1490204" cy="0"/>
          </a:xfrm>
          <a:custGeom>
            <a:avLst/>
            <a:gdLst/>
            <a:ahLst/>
            <a:cxnLst/>
            <a:rect l="l" t="t" r="r" b="b"/>
            <a:pathLst>
              <a:path w="1490979">
                <a:moveTo>
                  <a:pt x="0" y="0"/>
                </a:moveTo>
                <a:lnTo>
                  <a:pt x="1490891" y="0"/>
                </a:lnTo>
              </a:path>
            </a:pathLst>
          </a:custGeom>
          <a:ln w="57912">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42" name="object 46">
            <a:extLst>
              <a:ext uri="{FF2B5EF4-FFF2-40B4-BE49-F238E27FC236}">
                <a16:creationId xmlns:a16="http://schemas.microsoft.com/office/drawing/2014/main" id="{B83A61F0-CEEB-149E-94BE-8D5A6EE9F119}"/>
              </a:ext>
            </a:extLst>
          </p:cNvPr>
          <p:cNvSpPr txBox="1"/>
          <p:nvPr/>
        </p:nvSpPr>
        <p:spPr>
          <a:xfrm>
            <a:off x="724561" y="5231462"/>
            <a:ext cx="1485676" cy="627730"/>
          </a:xfrm>
          <a:prstGeom prst="rect">
            <a:avLst/>
          </a:prstGeom>
        </p:spPr>
        <p:txBody>
          <a:bodyPr vert="horz" wrap="square" lIns="0" tIns="12059" rIns="0" bIns="0" rtlCol="0">
            <a:spAutoFit/>
          </a:bodyPr>
          <a:lstStyle/>
          <a:p>
            <a:pPr marL="12692" marR="5076" defTabSz="457063">
              <a:spcBef>
                <a:spcPts val="95"/>
              </a:spcBef>
            </a:pPr>
            <a:r>
              <a:rPr sz="1000" b="1" i="1" spc="-10">
                <a:solidFill>
                  <a:srgbClr val="37424A"/>
                </a:solidFill>
                <a:cs typeface="OpenSans-BoldItalic"/>
              </a:rPr>
              <a:t>Data</a:t>
            </a:r>
            <a:r>
              <a:rPr sz="1000" b="1" i="1">
                <a:solidFill>
                  <a:srgbClr val="37424A"/>
                </a:solidFill>
                <a:cs typeface="OpenSans-BoldItalic"/>
              </a:rPr>
              <a:t> </a:t>
            </a:r>
            <a:r>
              <a:rPr sz="1000" b="1" i="1" spc="-5">
                <a:solidFill>
                  <a:srgbClr val="37424A"/>
                </a:solidFill>
                <a:cs typeface="OpenSans-BoldItalic"/>
              </a:rPr>
              <a:t>Preparation: </a:t>
            </a:r>
            <a:r>
              <a:rPr sz="1000" b="1" i="1">
                <a:solidFill>
                  <a:srgbClr val="37424A"/>
                </a:solidFill>
                <a:cs typeface="OpenSans-BoldItalic"/>
              </a:rPr>
              <a:t> </a:t>
            </a:r>
            <a:r>
              <a:rPr sz="1000" spc="-5">
                <a:solidFill>
                  <a:srgbClr val="37424A"/>
                </a:solidFill>
                <a:cs typeface="Open Sans"/>
              </a:rPr>
              <a:t>Providers to curate</a:t>
            </a:r>
            <a:r>
              <a:rPr sz="1000">
                <a:solidFill>
                  <a:srgbClr val="37424A"/>
                </a:solidFill>
                <a:cs typeface="Open Sans"/>
              </a:rPr>
              <a:t> </a:t>
            </a:r>
            <a:r>
              <a:rPr sz="1000" spc="-5">
                <a:solidFill>
                  <a:srgbClr val="37424A"/>
                </a:solidFill>
                <a:cs typeface="Open Sans"/>
              </a:rPr>
              <a:t>data</a:t>
            </a:r>
            <a:r>
              <a:rPr sz="1000" spc="-35">
                <a:solidFill>
                  <a:srgbClr val="37424A"/>
                </a:solidFill>
                <a:cs typeface="Open Sans"/>
              </a:rPr>
              <a:t> </a:t>
            </a:r>
            <a:r>
              <a:rPr sz="1000" spc="-5">
                <a:solidFill>
                  <a:srgbClr val="37424A"/>
                </a:solidFill>
                <a:cs typeface="Open Sans"/>
              </a:rPr>
              <a:t>products</a:t>
            </a:r>
            <a:r>
              <a:rPr sz="1000" spc="-35">
                <a:solidFill>
                  <a:srgbClr val="37424A"/>
                </a:solidFill>
                <a:cs typeface="Open Sans"/>
              </a:rPr>
              <a:t> </a:t>
            </a:r>
            <a:r>
              <a:rPr sz="1000" spc="-5">
                <a:solidFill>
                  <a:srgbClr val="37424A"/>
                </a:solidFill>
                <a:cs typeface="Open Sans"/>
              </a:rPr>
              <a:t>based </a:t>
            </a:r>
            <a:r>
              <a:rPr sz="1000" spc="-245">
                <a:solidFill>
                  <a:srgbClr val="37424A"/>
                </a:solidFill>
                <a:cs typeface="Open Sans"/>
              </a:rPr>
              <a:t> </a:t>
            </a:r>
            <a:r>
              <a:rPr sz="1000" spc="-5">
                <a:solidFill>
                  <a:srgbClr val="37424A"/>
                </a:solidFill>
                <a:cs typeface="Open Sans"/>
              </a:rPr>
              <a:t>on regional features </a:t>
            </a:r>
            <a:r>
              <a:rPr sz="1000" spc="-245">
                <a:solidFill>
                  <a:srgbClr val="37424A"/>
                </a:solidFill>
                <a:cs typeface="Open Sans"/>
              </a:rPr>
              <a:t> </a:t>
            </a:r>
            <a:r>
              <a:rPr sz="1000" spc="-5">
                <a:solidFill>
                  <a:srgbClr val="37424A"/>
                </a:solidFill>
                <a:cs typeface="Open Sans"/>
              </a:rPr>
              <a:t>and</a:t>
            </a:r>
            <a:r>
              <a:rPr sz="1000" spc="-10">
                <a:solidFill>
                  <a:srgbClr val="37424A"/>
                </a:solidFill>
                <a:cs typeface="Open Sans"/>
              </a:rPr>
              <a:t> </a:t>
            </a:r>
            <a:r>
              <a:rPr sz="1000" spc="-5">
                <a:solidFill>
                  <a:srgbClr val="37424A"/>
                </a:solidFill>
                <a:cs typeface="Open Sans"/>
              </a:rPr>
              <a:t>requirements</a:t>
            </a:r>
            <a:endParaRPr sz="1000">
              <a:solidFill>
                <a:srgbClr val="37424A"/>
              </a:solidFill>
              <a:cs typeface="Open Sans"/>
            </a:endParaRPr>
          </a:p>
        </p:txBody>
      </p:sp>
      <p:pic>
        <p:nvPicPr>
          <p:cNvPr id="43" name="object 48">
            <a:extLst>
              <a:ext uri="{FF2B5EF4-FFF2-40B4-BE49-F238E27FC236}">
                <a16:creationId xmlns:a16="http://schemas.microsoft.com/office/drawing/2014/main" id="{6AB46950-210C-8BDB-2A00-9560513AAB82}"/>
              </a:ext>
            </a:extLst>
          </p:cNvPr>
          <p:cNvPicPr/>
          <p:nvPr/>
        </p:nvPicPr>
        <p:blipFill>
          <a:blip r:embed="rId9" cstate="screen">
            <a:extLst>
              <a:ext uri="{28A0092B-C50C-407E-A947-70E740481C1C}">
                <a14:useLocalDpi xmlns:a14="http://schemas.microsoft.com/office/drawing/2010/main"/>
              </a:ext>
            </a:extLst>
          </a:blip>
          <a:stretch>
            <a:fillRect/>
          </a:stretch>
        </p:blipFill>
        <p:spPr>
          <a:xfrm>
            <a:off x="1134852" y="4652134"/>
            <a:ext cx="365569" cy="365569"/>
          </a:xfrm>
          <a:prstGeom prst="rect">
            <a:avLst/>
          </a:prstGeom>
        </p:spPr>
      </p:pic>
      <p:sp>
        <p:nvSpPr>
          <p:cNvPr id="44" name="object 49">
            <a:extLst>
              <a:ext uri="{FF2B5EF4-FFF2-40B4-BE49-F238E27FC236}">
                <a16:creationId xmlns:a16="http://schemas.microsoft.com/office/drawing/2014/main" id="{DE9A0488-B86A-AC0D-D78A-B735372A2A92}"/>
              </a:ext>
            </a:extLst>
          </p:cNvPr>
          <p:cNvSpPr txBox="1"/>
          <p:nvPr/>
        </p:nvSpPr>
        <p:spPr>
          <a:xfrm rot="10800000">
            <a:off x="8230940" y="1369496"/>
            <a:ext cx="376765" cy="361771"/>
          </a:xfrm>
          <a:prstGeom prst="rect">
            <a:avLst/>
          </a:prstGeom>
        </p:spPr>
        <p:txBody>
          <a:bodyPr vert="horz" wrap="square" lIns="0" tIns="0" rIns="0" bIns="0" rtlCol="0">
            <a:spAutoFit/>
          </a:bodyPr>
          <a:lstStyle/>
          <a:p>
            <a:pPr defTabSz="457063">
              <a:lnSpc>
                <a:spcPts val="2793"/>
              </a:lnSpc>
            </a:pPr>
            <a:r>
              <a:rPr sz="2798" i="1" spc="-5">
                <a:solidFill>
                  <a:srgbClr val="37424A"/>
                </a:solidFill>
                <a:latin typeface="Open Sans"/>
                <a:cs typeface="Open Sans"/>
              </a:rPr>
              <a:t>”</a:t>
            </a:r>
            <a:endParaRPr sz="2798">
              <a:solidFill>
                <a:srgbClr val="37424A"/>
              </a:solidFill>
              <a:latin typeface="Open Sans"/>
              <a:cs typeface="Open Sans"/>
            </a:endParaRPr>
          </a:p>
        </p:txBody>
      </p:sp>
      <p:grpSp>
        <p:nvGrpSpPr>
          <p:cNvPr id="45" name="object 50">
            <a:extLst>
              <a:ext uri="{FF2B5EF4-FFF2-40B4-BE49-F238E27FC236}">
                <a16:creationId xmlns:a16="http://schemas.microsoft.com/office/drawing/2014/main" id="{A539231E-6F67-E60B-9058-B8EB21B6D7F7}"/>
              </a:ext>
            </a:extLst>
          </p:cNvPr>
          <p:cNvGrpSpPr/>
          <p:nvPr/>
        </p:nvGrpSpPr>
        <p:grpSpPr>
          <a:xfrm>
            <a:off x="4614413" y="1546319"/>
            <a:ext cx="1597463" cy="962792"/>
            <a:chOff x="4615228" y="1545336"/>
            <a:chExt cx="1598295" cy="963294"/>
          </a:xfrm>
        </p:grpSpPr>
        <p:sp>
          <p:nvSpPr>
            <p:cNvPr id="46" name="object 51">
              <a:extLst>
                <a:ext uri="{FF2B5EF4-FFF2-40B4-BE49-F238E27FC236}">
                  <a16:creationId xmlns:a16="http://schemas.microsoft.com/office/drawing/2014/main" id="{F45C18FE-7777-2195-F358-44C17623DC2A}"/>
                </a:ext>
              </a:extLst>
            </p:cNvPr>
            <p:cNvSpPr/>
            <p:nvPr/>
          </p:nvSpPr>
          <p:spPr>
            <a:xfrm>
              <a:off x="5346190" y="1601724"/>
              <a:ext cx="812165" cy="899160"/>
            </a:xfrm>
            <a:custGeom>
              <a:avLst/>
              <a:gdLst/>
              <a:ahLst/>
              <a:cxnLst/>
              <a:rect l="l" t="t" r="r" b="b"/>
              <a:pathLst>
                <a:path w="812164" h="899160">
                  <a:moveTo>
                    <a:pt x="358571" y="0"/>
                  </a:moveTo>
                  <a:lnTo>
                    <a:pt x="420115" y="4102"/>
                  </a:lnTo>
                  <a:lnTo>
                    <a:pt x="479132" y="16052"/>
                  </a:lnTo>
                  <a:lnTo>
                    <a:pt x="535101" y="35331"/>
                  </a:lnTo>
                  <a:lnTo>
                    <a:pt x="587463" y="61379"/>
                  </a:lnTo>
                  <a:lnTo>
                    <a:pt x="635698" y="93675"/>
                  </a:lnTo>
                  <a:lnTo>
                    <a:pt x="679246" y="131673"/>
                  </a:lnTo>
                  <a:lnTo>
                    <a:pt x="717575" y="174853"/>
                  </a:lnTo>
                  <a:lnTo>
                    <a:pt x="750138" y="222656"/>
                  </a:lnTo>
                  <a:lnTo>
                    <a:pt x="776414" y="274561"/>
                  </a:lnTo>
                  <a:lnTo>
                    <a:pt x="795845" y="330034"/>
                  </a:lnTo>
                  <a:lnTo>
                    <a:pt x="807910" y="388543"/>
                  </a:lnTo>
                  <a:lnTo>
                    <a:pt x="812050" y="449541"/>
                  </a:lnTo>
                  <a:lnTo>
                    <a:pt x="810996" y="480314"/>
                  </a:lnTo>
                  <a:lnTo>
                    <a:pt x="802830" y="540131"/>
                  </a:lnTo>
                  <a:lnTo>
                    <a:pt x="787018" y="597192"/>
                  </a:lnTo>
                  <a:lnTo>
                    <a:pt x="764095" y="650951"/>
                  </a:lnTo>
                  <a:lnTo>
                    <a:pt x="734606" y="700874"/>
                  </a:lnTo>
                  <a:lnTo>
                    <a:pt x="699096" y="746429"/>
                  </a:lnTo>
                  <a:lnTo>
                    <a:pt x="658088" y="787082"/>
                  </a:lnTo>
                  <a:lnTo>
                    <a:pt x="612127" y="822299"/>
                  </a:lnTo>
                  <a:lnTo>
                    <a:pt x="561771" y="851535"/>
                  </a:lnTo>
                  <a:lnTo>
                    <a:pt x="507530" y="874268"/>
                  </a:lnTo>
                  <a:lnTo>
                    <a:pt x="449973" y="889939"/>
                  </a:lnTo>
                  <a:lnTo>
                    <a:pt x="389623" y="898042"/>
                  </a:lnTo>
                  <a:lnTo>
                    <a:pt x="358571" y="899083"/>
                  </a:lnTo>
                  <a:lnTo>
                    <a:pt x="326364" y="897940"/>
                  </a:lnTo>
                  <a:lnTo>
                    <a:pt x="263194" y="889025"/>
                  </a:lnTo>
                  <a:lnTo>
                    <a:pt x="202412" y="871588"/>
                  </a:lnTo>
                  <a:lnTo>
                    <a:pt x="144856" y="846023"/>
                  </a:lnTo>
                  <a:lnTo>
                    <a:pt x="91376" y="812761"/>
                  </a:lnTo>
                  <a:lnTo>
                    <a:pt x="42811" y="772210"/>
                  </a:lnTo>
                  <a:lnTo>
                    <a:pt x="20637" y="749325"/>
                  </a:lnTo>
                  <a:lnTo>
                    <a:pt x="0" y="724776"/>
                  </a:lnTo>
                </a:path>
              </a:pathLst>
            </a:custGeom>
            <a:ln w="15240">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47" name="object 52">
              <a:extLst>
                <a:ext uri="{FF2B5EF4-FFF2-40B4-BE49-F238E27FC236}">
                  <a16:creationId xmlns:a16="http://schemas.microsoft.com/office/drawing/2014/main" id="{415A13B9-4C68-C6BC-F7B1-996C946DE4F7}"/>
                </a:ext>
              </a:extLst>
            </p:cNvPr>
            <p:cNvSpPr/>
            <p:nvPr/>
          </p:nvSpPr>
          <p:spPr>
            <a:xfrm>
              <a:off x="5291321" y="1642872"/>
              <a:ext cx="824865" cy="816610"/>
            </a:xfrm>
            <a:custGeom>
              <a:avLst/>
              <a:gdLst/>
              <a:ahLst/>
              <a:cxnLst/>
              <a:rect l="l" t="t" r="r" b="b"/>
              <a:pathLst>
                <a:path w="824864" h="816610">
                  <a:moveTo>
                    <a:pt x="412165" y="0"/>
                  </a:moveTo>
                  <a:lnTo>
                    <a:pt x="473062" y="4432"/>
                  </a:lnTo>
                  <a:lnTo>
                    <a:pt x="531202" y="17284"/>
                  </a:lnTo>
                  <a:lnTo>
                    <a:pt x="585914" y="37947"/>
                  </a:lnTo>
                  <a:lnTo>
                    <a:pt x="636587" y="65773"/>
                  </a:lnTo>
                  <a:lnTo>
                    <a:pt x="682561" y="100139"/>
                  </a:lnTo>
                  <a:lnTo>
                    <a:pt x="723226" y="140411"/>
                  </a:lnTo>
                  <a:lnTo>
                    <a:pt x="757923" y="185953"/>
                  </a:lnTo>
                  <a:lnTo>
                    <a:pt x="786015" y="236143"/>
                  </a:lnTo>
                  <a:lnTo>
                    <a:pt x="806869" y="290347"/>
                  </a:lnTo>
                  <a:lnTo>
                    <a:pt x="819861" y="347941"/>
                  </a:lnTo>
                  <a:lnTo>
                    <a:pt x="824331" y="408266"/>
                  </a:lnTo>
                  <a:lnTo>
                    <a:pt x="823201" y="438734"/>
                  </a:lnTo>
                  <a:lnTo>
                    <a:pt x="814387" y="497776"/>
                  </a:lnTo>
                  <a:lnTo>
                    <a:pt x="797394" y="553745"/>
                  </a:lnTo>
                  <a:lnTo>
                    <a:pt x="772833" y="606031"/>
                  </a:lnTo>
                  <a:lnTo>
                    <a:pt x="741362" y="653973"/>
                  </a:lnTo>
                  <a:lnTo>
                    <a:pt x="703605" y="696963"/>
                  </a:lnTo>
                  <a:lnTo>
                    <a:pt x="660196" y="734364"/>
                  </a:lnTo>
                  <a:lnTo>
                    <a:pt x="611797" y="765543"/>
                  </a:lnTo>
                  <a:lnTo>
                    <a:pt x="559028" y="789863"/>
                  </a:lnTo>
                  <a:lnTo>
                    <a:pt x="502513" y="806704"/>
                  </a:lnTo>
                  <a:lnTo>
                    <a:pt x="442925" y="815416"/>
                  </a:lnTo>
                  <a:lnTo>
                    <a:pt x="412165" y="816533"/>
                  </a:lnTo>
                  <a:lnTo>
                    <a:pt x="381406" y="815416"/>
                  </a:lnTo>
                  <a:lnTo>
                    <a:pt x="321818" y="806704"/>
                  </a:lnTo>
                  <a:lnTo>
                    <a:pt x="265315" y="789863"/>
                  </a:lnTo>
                  <a:lnTo>
                    <a:pt x="212534" y="765543"/>
                  </a:lnTo>
                  <a:lnTo>
                    <a:pt x="164134" y="734364"/>
                  </a:lnTo>
                  <a:lnTo>
                    <a:pt x="120726" y="696963"/>
                  </a:lnTo>
                  <a:lnTo>
                    <a:pt x="82969" y="653973"/>
                  </a:lnTo>
                  <a:lnTo>
                    <a:pt x="51498" y="606031"/>
                  </a:lnTo>
                  <a:lnTo>
                    <a:pt x="26936" y="553745"/>
                  </a:lnTo>
                  <a:lnTo>
                    <a:pt x="9944" y="497776"/>
                  </a:lnTo>
                  <a:lnTo>
                    <a:pt x="1130" y="438734"/>
                  </a:lnTo>
                  <a:lnTo>
                    <a:pt x="0" y="408266"/>
                  </a:lnTo>
                  <a:lnTo>
                    <a:pt x="1435" y="374281"/>
                  </a:lnTo>
                  <a:lnTo>
                    <a:pt x="12700" y="307708"/>
                  </a:lnTo>
                  <a:lnTo>
                    <a:pt x="34810" y="244068"/>
                  </a:lnTo>
                  <a:lnTo>
                    <a:pt x="67284" y="184708"/>
                  </a:lnTo>
                  <a:lnTo>
                    <a:pt x="87287" y="157035"/>
                  </a:lnTo>
                </a:path>
              </a:pathLst>
            </a:custGeom>
            <a:ln w="15240">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48" name="object 53">
              <a:extLst>
                <a:ext uri="{FF2B5EF4-FFF2-40B4-BE49-F238E27FC236}">
                  <a16:creationId xmlns:a16="http://schemas.microsoft.com/office/drawing/2014/main" id="{430A458E-B069-1444-EC36-C45A66A971EB}"/>
                </a:ext>
              </a:extLst>
            </p:cNvPr>
            <p:cNvSpPr/>
            <p:nvPr/>
          </p:nvSpPr>
          <p:spPr>
            <a:xfrm>
              <a:off x="5707380" y="1552956"/>
              <a:ext cx="498475" cy="693420"/>
            </a:xfrm>
            <a:custGeom>
              <a:avLst/>
              <a:gdLst/>
              <a:ahLst/>
              <a:cxnLst/>
              <a:rect l="l" t="t" r="r" b="b"/>
              <a:pathLst>
                <a:path w="498475" h="693419">
                  <a:moveTo>
                    <a:pt x="0" y="0"/>
                  </a:moveTo>
                  <a:lnTo>
                    <a:pt x="62496" y="3860"/>
                  </a:lnTo>
                  <a:lnTo>
                    <a:pt x="122682" y="15125"/>
                  </a:lnTo>
                  <a:lnTo>
                    <a:pt x="180086" y="33350"/>
                  </a:lnTo>
                  <a:lnTo>
                    <a:pt x="234238" y="58039"/>
                  </a:lnTo>
                  <a:lnTo>
                    <a:pt x="284670" y="88760"/>
                  </a:lnTo>
                  <a:lnTo>
                    <a:pt x="330911" y="125031"/>
                  </a:lnTo>
                  <a:lnTo>
                    <a:pt x="372516" y="166382"/>
                  </a:lnTo>
                  <a:lnTo>
                    <a:pt x="408990" y="212369"/>
                  </a:lnTo>
                  <a:lnTo>
                    <a:pt x="439889" y="262496"/>
                  </a:lnTo>
                  <a:lnTo>
                    <a:pt x="464731" y="316331"/>
                  </a:lnTo>
                  <a:lnTo>
                    <a:pt x="483044" y="373392"/>
                  </a:lnTo>
                  <a:lnTo>
                    <a:pt x="494385" y="433222"/>
                  </a:lnTo>
                  <a:lnTo>
                    <a:pt x="498271" y="495363"/>
                  </a:lnTo>
                  <a:lnTo>
                    <a:pt x="497090" y="529323"/>
                  </a:lnTo>
                  <a:lnTo>
                    <a:pt x="493598" y="563041"/>
                  </a:lnTo>
                  <a:lnTo>
                    <a:pt x="487806" y="596404"/>
                  </a:lnTo>
                  <a:lnTo>
                    <a:pt x="479729" y="629285"/>
                  </a:lnTo>
                  <a:lnTo>
                    <a:pt x="469392" y="661593"/>
                  </a:lnTo>
                  <a:lnTo>
                    <a:pt x="456831" y="693178"/>
                  </a:lnTo>
                </a:path>
              </a:pathLst>
            </a:custGeom>
            <a:ln w="15240">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49" name="object 54">
              <a:extLst>
                <a:ext uri="{FF2B5EF4-FFF2-40B4-BE49-F238E27FC236}">
                  <a16:creationId xmlns:a16="http://schemas.microsoft.com/office/drawing/2014/main" id="{DE4B9348-C4F0-9F10-2E94-56BAC414AC91}"/>
                </a:ext>
              </a:extLst>
            </p:cNvPr>
            <p:cNvSpPr/>
            <p:nvPr/>
          </p:nvSpPr>
          <p:spPr>
            <a:xfrm>
              <a:off x="5343140" y="1687068"/>
              <a:ext cx="730250" cy="723900"/>
            </a:xfrm>
            <a:custGeom>
              <a:avLst/>
              <a:gdLst/>
              <a:ahLst/>
              <a:cxnLst/>
              <a:rect l="l" t="t" r="r" b="b"/>
              <a:pathLst>
                <a:path w="730250" h="723900">
                  <a:moveTo>
                    <a:pt x="364959" y="0"/>
                  </a:moveTo>
                  <a:lnTo>
                    <a:pt x="302717" y="5245"/>
                  </a:lnTo>
                  <a:lnTo>
                    <a:pt x="243890" y="20383"/>
                  </a:lnTo>
                  <a:lnTo>
                    <a:pt x="189357" y="44564"/>
                  </a:lnTo>
                  <a:lnTo>
                    <a:pt x="139992" y="76898"/>
                  </a:lnTo>
                  <a:lnTo>
                    <a:pt x="96672" y="116535"/>
                  </a:lnTo>
                  <a:lnTo>
                    <a:pt x="60274" y="162598"/>
                  </a:lnTo>
                  <a:lnTo>
                    <a:pt x="31661" y="214223"/>
                  </a:lnTo>
                  <a:lnTo>
                    <a:pt x="11734" y="270548"/>
                  </a:lnTo>
                  <a:lnTo>
                    <a:pt x="1346" y="330682"/>
                  </a:lnTo>
                  <a:lnTo>
                    <a:pt x="0" y="361911"/>
                  </a:lnTo>
                  <a:lnTo>
                    <a:pt x="1346" y="393141"/>
                  </a:lnTo>
                  <a:lnTo>
                    <a:pt x="11734" y="453275"/>
                  </a:lnTo>
                  <a:lnTo>
                    <a:pt x="31661" y="509587"/>
                  </a:lnTo>
                  <a:lnTo>
                    <a:pt x="60274" y="561213"/>
                  </a:lnTo>
                  <a:lnTo>
                    <a:pt x="96672" y="607275"/>
                  </a:lnTo>
                  <a:lnTo>
                    <a:pt x="139992" y="646912"/>
                  </a:lnTo>
                  <a:lnTo>
                    <a:pt x="189357" y="679259"/>
                  </a:lnTo>
                  <a:lnTo>
                    <a:pt x="243890" y="703440"/>
                  </a:lnTo>
                  <a:lnTo>
                    <a:pt x="302717" y="718578"/>
                  </a:lnTo>
                  <a:lnTo>
                    <a:pt x="364959" y="723823"/>
                  </a:lnTo>
                  <a:lnTo>
                    <a:pt x="396455" y="722490"/>
                  </a:lnTo>
                  <a:lnTo>
                    <a:pt x="457098" y="712190"/>
                  </a:lnTo>
                  <a:lnTo>
                    <a:pt x="513880" y="692416"/>
                  </a:lnTo>
                  <a:lnTo>
                    <a:pt x="565937" y="664057"/>
                  </a:lnTo>
                  <a:lnTo>
                    <a:pt x="612394" y="627951"/>
                  </a:lnTo>
                  <a:lnTo>
                    <a:pt x="652373" y="585000"/>
                  </a:lnTo>
                  <a:lnTo>
                    <a:pt x="684987" y="536041"/>
                  </a:lnTo>
                  <a:lnTo>
                    <a:pt x="709358" y="481965"/>
                  </a:lnTo>
                  <a:lnTo>
                    <a:pt x="724636" y="423633"/>
                  </a:lnTo>
                  <a:lnTo>
                    <a:pt x="729919" y="361911"/>
                  </a:lnTo>
                  <a:lnTo>
                    <a:pt x="728573" y="330682"/>
                  </a:lnTo>
                  <a:lnTo>
                    <a:pt x="718185" y="270548"/>
                  </a:lnTo>
                  <a:lnTo>
                    <a:pt x="698258" y="214223"/>
                  </a:lnTo>
                  <a:lnTo>
                    <a:pt x="669645" y="162598"/>
                  </a:lnTo>
                  <a:lnTo>
                    <a:pt x="633247" y="116535"/>
                  </a:lnTo>
                  <a:lnTo>
                    <a:pt x="589927" y="76898"/>
                  </a:lnTo>
                  <a:lnTo>
                    <a:pt x="540562" y="44564"/>
                  </a:lnTo>
                  <a:lnTo>
                    <a:pt x="486029" y="20383"/>
                  </a:lnTo>
                  <a:lnTo>
                    <a:pt x="427202" y="5245"/>
                  </a:lnTo>
                  <a:lnTo>
                    <a:pt x="364959" y="0"/>
                  </a:lnTo>
                  <a:close/>
                </a:path>
              </a:pathLst>
            </a:custGeom>
            <a:solidFill>
              <a:srgbClr val="FFFFFF"/>
            </a:solidFill>
          </p:spPr>
          <p:txBody>
            <a:bodyPr wrap="square" lIns="0" tIns="0" rIns="0" bIns="0" rtlCol="0"/>
            <a:lstStyle/>
            <a:p>
              <a:pPr defTabSz="457063"/>
              <a:endParaRPr sz="1798">
                <a:solidFill>
                  <a:srgbClr val="37424A"/>
                </a:solidFill>
                <a:latin typeface="Arial Narrow"/>
              </a:endParaRPr>
            </a:p>
          </p:txBody>
        </p:sp>
        <p:sp>
          <p:nvSpPr>
            <p:cNvPr id="50" name="object 55">
              <a:extLst>
                <a:ext uri="{FF2B5EF4-FFF2-40B4-BE49-F238E27FC236}">
                  <a16:creationId xmlns:a16="http://schemas.microsoft.com/office/drawing/2014/main" id="{42515389-8B74-08BD-64D8-45B74E91B972}"/>
                </a:ext>
              </a:extLst>
            </p:cNvPr>
            <p:cNvSpPr/>
            <p:nvPr/>
          </p:nvSpPr>
          <p:spPr>
            <a:xfrm>
              <a:off x="5343140" y="1687068"/>
              <a:ext cx="730250" cy="723900"/>
            </a:xfrm>
            <a:custGeom>
              <a:avLst/>
              <a:gdLst/>
              <a:ahLst/>
              <a:cxnLst/>
              <a:rect l="l" t="t" r="r" b="b"/>
              <a:pathLst>
                <a:path w="730250" h="723900">
                  <a:moveTo>
                    <a:pt x="364959" y="0"/>
                  </a:moveTo>
                  <a:lnTo>
                    <a:pt x="302717" y="5245"/>
                  </a:lnTo>
                  <a:lnTo>
                    <a:pt x="243890" y="20383"/>
                  </a:lnTo>
                  <a:lnTo>
                    <a:pt x="189357" y="44564"/>
                  </a:lnTo>
                  <a:lnTo>
                    <a:pt x="139992" y="76898"/>
                  </a:lnTo>
                  <a:lnTo>
                    <a:pt x="96672" y="116535"/>
                  </a:lnTo>
                  <a:lnTo>
                    <a:pt x="60274" y="162598"/>
                  </a:lnTo>
                  <a:lnTo>
                    <a:pt x="31661" y="214223"/>
                  </a:lnTo>
                  <a:lnTo>
                    <a:pt x="11734" y="270548"/>
                  </a:lnTo>
                  <a:lnTo>
                    <a:pt x="1346" y="330682"/>
                  </a:lnTo>
                  <a:lnTo>
                    <a:pt x="0" y="361911"/>
                  </a:lnTo>
                  <a:lnTo>
                    <a:pt x="1346" y="393141"/>
                  </a:lnTo>
                  <a:lnTo>
                    <a:pt x="11734" y="453275"/>
                  </a:lnTo>
                  <a:lnTo>
                    <a:pt x="31661" y="509587"/>
                  </a:lnTo>
                  <a:lnTo>
                    <a:pt x="60274" y="561213"/>
                  </a:lnTo>
                  <a:lnTo>
                    <a:pt x="96672" y="607275"/>
                  </a:lnTo>
                  <a:lnTo>
                    <a:pt x="139992" y="646912"/>
                  </a:lnTo>
                  <a:lnTo>
                    <a:pt x="189357" y="679259"/>
                  </a:lnTo>
                  <a:lnTo>
                    <a:pt x="243890" y="703440"/>
                  </a:lnTo>
                  <a:lnTo>
                    <a:pt x="302717" y="718578"/>
                  </a:lnTo>
                  <a:lnTo>
                    <a:pt x="364959" y="723823"/>
                  </a:lnTo>
                  <a:lnTo>
                    <a:pt x="396455" y="722490"/>
                  </a:lnTo>
                  <a:lnTo>
                    <a:pt x="457098" y="712190"/>
                  </a:lnTo>
                  <a:lnTo>
                    <a:pt x="513880" y="692416"/>
                  </a:lnTo>
                  <a:lnTo>
                    <a:pt x="565937" y="664057"/>
                  </a:lnTo>
                  <a:lnTo>
                    <a:pt x="612394" y="627951"/>
                  </a:lnTo>
                  <a:lnTo>
                    <a:pt x="652373" y="585000"/>
                  </a:lnTo>
                  <a:lnTo>
                    <a:pt x="684987" y="536041"/>
                  </a:lnTo>
                  <a:lnTo>
                    <a:pt x="709358" y="481965"/>
                  </a:lnTo>
                  <a:lnTo>
                    <a:pt x="724636" y="423633"/>
                  </a:lnTo>
                  <a:lnTo>
                    <a:pt x="729919" y="361911"/>
                  </a:lnTo>
                  <a:lnTo>
                    <a:pt x="728573" y="330682"/>
                  </a:lnTo>
                  <a:lnTo>
                    <a:pt x="718185" y="270548"/>
                  </a:lnTo>
                  <a:lnTo>
                    <a:pt x="698258" y="214223"/>
                  </a:lnTo>
                  <a:lnTo>
                    <a:pt x="669645" y="162598"/>
                  </a:lnTo>
                  <a:lnTo>
                    <a:pt x="633247" y="116535"/>
                  </a:lnTo>
                  <a:lnTo>
                    <a:pt x="589927" y="76898"/>
                  </a:lnTo>
                  <a:lnTo>
                    <a:pt x="540562" y="44564"/>
                  </a:lnTo>
                  <a:lnTo>
                    <a:pt x="486029" y="20383"/>
                  </a:lnTo>
                  <a:lnTo>
                    <a:pt x="427202" y="5245"/>
                  </a:lnTo>
                  <a:lnTo>
                    <a:pt x="364959" y="0"/>
                  </a:lnTo>
                  <a:close/>
                </a:path>
              </a:pathLst>
            </a:custGeom>
            <a:ln w="9144">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51" name="object 56">
              <a:extLst>
                <a:ext uri="{FF2B5EF4-FFF2-40B4-BE49-F238E27FC236}">
                  <a16:creationId xmlns:a16="http://schemas.microsoft.com/office/drawing/2014/main" id="{0A44AB63-2191-31FF-612C-A6F6B986D8A1}"/>
                </a:ext>
              </a:extLst>
            </p:cNvPr>
            <p:cNvSpPr/>
            <p:nvPr/>
          </p:nvSpPr>
          <p:spPr>
            <a:xfrm>
              <a:off x="5343906" y="1687827"/>
              <a:ext cx="730250" cy="723900"/>
            </a:xfrm>
            <a:custGeom>
              <a:avLst/>
              <a:gdLst/>
              <a:ahLst/>
              <a:cxnLst/>
              <a:rect l="l" t="t" r="r" b="b"/>
              <a:pathLst>
                <a:path w="730250" h="723900">
                  <a:moveTo>
                    <a:pt x="0" y="361911"/>
                  </a:moveTo>
                  <a:lnTo>
                    <a:pt x="5283" y="300189"/>
                  </a:lnTo>
                  <a:lnTo>
                    <a:pt x="20561" y="241858"/>
                  </a:lnTo>
                  <a:lnTo>
                    <a:pt x="44932" y="187782"/>
                  </a:lnTo>
                  <a:lnTo>
                    <a:pt x="77546" y="138823"/>
                  </a:lnTo>
                  <a:lnTo>
                    <a:pt x="117525" y="95859"/>
                  </a:lnTo>
                  <a:lnTo>
                    <a:pt x="163969" y="59766"/>
                  </a:lnTo>
                  <a:lnTo>
                    <a:pt x="216027" y="31394"/>
                  </a:lnTo>
                  <a:lnTo>
                    <a:pt x="272821" y="11633"/>
                  </a:lnTo>
                  <a:lnTo>
                    <a:pt x="333463" y="1333"/>
                  </a:lnTo>
                  <a:lnTo>
                    <a:pt x="364959" y="0"/>
                  </a:lnTo>
                  <a:lnTo>
                    <a:pt x="396443" y="1333"/>
                  </a:lnTo>
                  <a:lnTo>
                    <a:pt x="457085" y="11633"/>
                  </a:lnTo>
                  <a:lnTo>
                    <a:pt x="513880" y="31394"/>
                  </a:lnTo>
                  <a:lnTo>
                    <a:pt x="565937" y="59766"/>
                  </a:lnTo>
                  <a:lnTo>
                    <a:pt x="612394" y="95859"/>
                  </a:lnTo>
                  <a:lnTo>
                    <a:pt x="652360" y="138823"/>
                  </a:lnTo>
                  <a:lnTo>
                    <a:pt x="684974" y="187782"/>
                  </a:lnTo>
                  <a:lnTo>
                    <a:pt x="709358" y="241858"/>
                  </a:lnTo>
                  <a:lnTo>
                    <a:pt x="724623" y="300189"/>
                  </a:lnTo>
                  <a:lnTo>
                    <a:pt x="729907" y="361911"/>
                  </a:lnTo>
                  <a:lnTo>
                    <a:pt x="728573" y="393141"/>
                  </a:lnTo>
                  <a:lnTo>
                    <a:pt x="718185" y="453275"/>
                  </a:lnTo>
                  <a:lnTo>
                    <a:pt x="698246" y="509587"/>
                  </a:lnTo>
                  <a:lnTo>
                    <a:pt x="669645" y="561213"/>
                  </a:lnTo>
                  <a:lnTo>
                    <a:pt x="633247" y="607275"/>
                  </a:lnTo>
                  <a:lnTo>
                    <a:pt x="589915" y="646912"/>
                  </a:lnTo>
                  <a:lnTo>
                    <a:pt x="540550" y="679259"/>
                  </a:lnTo>
                  <a:lnTo>
                    <a:pt x="486029" y="703440"/>
                  </a:lnTo>
                  <a:lnTo>
                    <a:pt x="427202" y="718578"/>
                  </a:lnTo>
                  <a:lnTo>
                    <a:pt x="364959" y="723823"/>
                  </a:lnTo>
                  <a:lnTo>
                    <a:pt x="333463" y="722490"/>
                  </a:lnTo>
                  <a:lnTo>
                    <a:pt x="272821" y="712190"/>
                  </a:lnTo>
                  <a:lnTo>
                    <a:pt x="216027" y="692429"/>
                  </a:lnTo>
                  <a:lnTo>
                    <a:pt x="163969" y="664057"/>
                  </a:lnTo>
                  <a:lnTo>
                    <a:pt x="117525" y="627951"/>
                  </a:lnTo>
                  <a:lnTo>
                    <a:pt x="77546" y="585000"/>
                  </a:lnTo>
                  <a:lnTo>
                    <a:pt x="44932" y="536041"/>
                  </a:lnTo>
                  <a:lnTo>
                    <a:pt x="20561" y="481965"/>
                  </a:lnTo>
                  <a:lnTo>
                    <a:pt x="5283" y="423633"/>
                  </a:lnTo>
                  <a:lnTo>
                    <a:pt x="0" y="361911"/>
                  </a:lnTo>
                  <a:close/>
                </a:path>
              </a:pathLst>
            </a:custGeom>
            <a:ln w="19812">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52" name="object 57">
              <a:extLst>
                <a:ext uri="{FF2B5EF4-FFF2-40B4-BE49-F238E27FC236}">
                  <a16:creationId xmlns:a16="http://schemas.microsoft.com/office/drawing/2014/main" id="{DEFA2111-9799-84BC-E2BB-B6D3254F45A5}"/>
                </a:ext>
              </a:extLst>
            </p:cNvPr>
            <p:cNvSpPr/>
            <p:nvPr/>
          </p:nvSpPr>
          <p:spPr>
            <a:xfrm>
              <a:off x="4944224" y="1923440"/>
              <a:ext cx="360045" cy="50800"/>
            </a:xfrm>
            <a:custGeom>
              <a:avLst/>
              <a:gdLst/>
              <a:ahLst/>
              <a:cxnLst/>
              <a:rect l="l" t="t" r="r" b="b"/>
              <a:pathLst>
                <a:path w="360045" h="50800">
                  <a:moveTo>
                    <a:pt x="35471" y="23025"/>
                  </a:moveTo>
                  <a:lnTo>
                    <a:pt x="33020" y="14147"/>
                  </a:lnTo>
                  <a:lnTo>
                    <a:pt x="17970" y="17792"/>
                  </a:lnTo>
                  <a:lnTo>
                    <a:pt x="0" y="23075"/>
                  </a:lnTo>
                  <a:lnTo>
                    <a:pt x="2794" y="31877"/>
                  </a:lnTo>
                  <a:lnTo>
                    <a:pt x="20345" y="26644"/>
                  </a:lnTo>
                  <a:lnTo>
                    <a:pt x="35471" y="23025"/>
                  </a:lnTo>
                  <a:close/>
                </a:path>
                <a:path w="360045" h="50800">
                  <a:moveTo>
                    <a:pt x="93764" y="12598"/>
                  </a:moveTo>
                  <a:lnTo>
                    <a:pt x="92163" y="3543"/>
                  </a:lnTo>
                  <a:lnTo>
                    <a:pt x="68376" y="6896"/>
                  </a:lnTo>
                  <a:lnTo>
                    <a:pt x="58216" y="8839"/>
                  </a:lnTo>
                  <a:lnTo>
                    <a:pt x="60261" y="17767"/>
                  </a:lnTo>
                  <a:lnTo>
                    <a:pt x="69977" y="15951"/>
                  </a:lnTo>
                  <a:lnTo>
                    <a:pt x="93764" y="12598"/>
                  </a:lnTo>
                  <a:close/>
                </a:path>
                <a:path w="360045" h="50800">
                  <a:moveTo>
                    <a:pt x="153098" y="9182"/>
                  </a:moveTo>
                  <a:lnTo>
                    <a:pt x="152654" y="76"/>
                  </a:lnTo>
                  <a:lnTo>
                    <a:pt x="146481" y="0"/>
                  </a:lnTo>
                  <a:lnTo>
                    <a:pt x="120180" y="1028"/>
                  </a:lnTo>
                  <a:lnTo>
                    <a:pt x="117957" y="1193"/>
                  </a:lnTo>
                  <a:lnTo>
                    <a:pt x="119202" y="10274"/>
                  </a:lnTo>
                  <a:lnTo>
                    <a:pt x="121005" y="10147"/>
                  </a:lnTo>
                  <a:lnTo>
                    <a:pt x="146926" y="9080"/>
                  </a:lnTo>
                  <a:lnTo>
                    <a:pt x="153098" y="9182"/>
                  </a:lnTo>
                  <a:close/>
                </a:path>
                <a:path w="360045" h="50800">
                  <a:moveTo>
                    <a:pt x="213360" y="3441"/>
                  </a:moveTo>
                  <a:lnTo>
                    <a:pt x="199669" y="1917"/>
                  </a:lnTo>
                  <a:lnTo>
                    <a:pt x="178676" y="660"/>
                  </a:lnTo>
                  <a:lnTo>
                    <a:pt x="178752" y="9779"/>
                  </a:lnTo>
                  <a:lnTo>
                    <a:pt x="199313" y="11023"/>
                  </a:lnTo>
                  <a:lnTo>
                    <a:pt x="212979" y="12509"/>
                  </a:lnTo>
                  <a:lnTo>
                    <a:pt x="213360" y="3441"/>
                  </a:lnTo>
                  <a:close/>
                </a:path>
                <a:path w="360045" h="50800">
                  <a:moveTo>
                    <a:pt x="273824" y="13665"/>
                  </a:moveTo>
                  <a:lnTo>
                    <a:pt x="253441" y="9309"/>
                  </a:lnTo>
                  <a:lnTo>
                    <a:pt x="239344" y="7010"/>
                  </a:lnTo>
                  <a:lnTo>
                    <a:pt x="238582" y="16040"/>
                  </a:lnTo>
                  <a:lnTo>
                    <a:pt x="252260" y="18249"/>
                  </a:lnTo>
                  <a:lnTo>
                    <a:pt x="272580" y="22567"/>
                  </a:lnTo>
                  <a:lnTo>
                    <a:pt x="273824" y="13665"/>
                  </a:lnTo>
                  <a:close/>
                </a:path>
                <a:path w="360045" h="50800">
                  <a:moveTo>
                    <a:pt x="327774" y="28854"/>
                  </a:moveTo>
                  <a:lnTo>
                    <a:pt x="307492" y="22237"/>
                  </a:lnTo>
                  <a:lnTo>
                    <a:pt x="299466" y="20066"/>
                  </a:lnTo>
                  <a:lnTo>
                    <a:pt x="297878" y="28917"/>
                  </a:lnTo>
                  <a:lnTo>
                    <a:pt x="305396" y="30911"/>
                  </a:lnTo>
                  <a:lnTo>
                    <a:pt x="325450" y="37465"/>
                  </a:lnTo>
                  <a:lnTo>
                    <a:pt x="327774" y="28854"/>
                  </a:lnTo>
                  <a:close/>
                </a:path>
                <a:path w="360045" h="50800">
                  <a:moveTo>
                    <a:pt x="359841" y="45008"/>
                  </a:moveTo>
                  <a:lnTo>
                    <a:pt x="347319" y="32181"/>
                  </a:lnTo>
                  <a:lnTo>
                    <a:pt x="333273" y="17780"/>
                  </a:lnTo>
                  <a:lnTo>
                    <a:pt x="333273" y="30657"/>
                  </a:lnTo>
                  <a:lnTo>
                    <a:pt x="329577" y="29464"/>
                  </a:lnTo>
                  <a:lnTo>
                    <a:pt x="333273" y="30657"/>
                  </a:lnTo>
                  <a:lnTo>
                    <a:pt x="333273" y="17780"/>
                  </a:lnTo>
                  <a:lnTo>
                    <a:pt x="331317" y="15773"/>
                  </a:lnTo>
                  <a:lnTo>
                    <a:pt x="327774" y="28854"/>
                  </a:lnTo>
                  <a:lnTo>
                    <a:pt x="325462" y="37465"/>
                  </a:lnTo>
                  <a:lnTo>
                    <a:pt x="327329" y="38087"/>
                  </a:lnTo>
                  <a:lnTo>
                    <a:pt x="325450" y="37465"/>
                  </a:lnTo>
                  <a:lnTo>
                    <a:pt x="322008" y="50203"/>
                  </a:lnTo>
                  <a:lnTo>
                    <a:pt x="359841" y="45008"/>
                  </a:lnTo>
                  <a:close/>
                </a:path>
              </a:pathLst>
            </a:custGeom>
            <a:solidFill>
              <a:srgbClr val="A6A6A6"/>
            </a:solidFill>
          </p:spPr>
          <p:txBody>
            <a:bodyPr wrap="square" lIns="0" tIns="0" rIns="0" bIns="0" rtlCol="0"/>
            <a:lstStyle/>
            <a:p>
              <a:pPr defTabSz="457063"/>
              <a:endParaRPr sz="1798">
                <a:solidFill>
                  <a:srgbClr val="37424A"/>
                </a:solidFill>
                <a:latin typeface="Arial Narrow"/>
              </a:endParaRPr>
            </a:p>
          </p:txBody>
        </p:sp>
        <p:pic>
          <p:nvPicPr>
            <p:cNvPr id="151" name="object 58">
              <a:extLst>
                <a:ext uri="{FF2B5EF4-FFF2-40B4-BE49-F238E27FC236}">
                  <a16:creationId xmlns:a16="http://schemas.microsoft.com/office/drawing/2014/main" id="{99D56900-FA51-873E-C796-42F51DC9D711}"/>
                </a:ext>
              </a:extLst>
            </p:cNvPr>
            <p:cNvPicPr/>
            <p:nvPr/>
          </p:nvPicPr>
          <p:blipFill>
            <a:blip r:embed="rId10" cstate="screen">
              <a:extLst>
                <a:ext uri="{28A0092B-C50C-407E-A947-70E740481C1C}">
                  <a14:useLocalDpi xmlns:a14="http://schemas.microsoft.com/office/drawing/2010/main"/>
                </a:ext>
              </a:extLst>
            </a:blip>
            <a:stretch>
              <a:fillRect/>
            </a:stretch>
          </p:blipFill>
          <p:spPr>
            <a:xfrm>
              <a:off x="4635172" y="1954752"/>
              <a:ext cx="287853" cy="267947"/>
            </a:xfrm>
            <a:prstGeom prst="rect">
              <a:avLst/>
            </a:prstGeom>
          </p:spPr>
        </p:pic>
        <p:sp>
          <p:nvSpPr>
            <p:cNvPr id="152" name="object 59">
              <a:extLst>
                <a:ext uri="{FF2B5EF4-FFF2-40B4-BE49-F238E27FC236}">
                  <a16:creationId xmlns:a16="http://schemas.microsoft.com/office/drawing/2014/main" id="{D5E709DA-D51F-4F0C-C806-9B3E1CA964B6}"/>
                </a:ext>
              </a:extLst>
            </p:cNvPr>
            <p:cNvSpPr/>
            <p:nvPr/>
          </p:nvSpPr>
          <p:spPr>
            <a:xfrm>
              <a:off x="4615228" y="2242999"/>
              <a:ext cx="17780" cy="29209"/>
            </a:xfrm>
            <a:custGeom>
              <a:avLst/>
              <a:gdLst/>
              <a:ahLst/>
              <a:cxnLst/>
              <a:rect l="l" t="t" r="r" b="b"/>
              <a:pathLst>
                <a:path w="17779" h="29210">
                  <a:moveTo>
                    <a:pt x="9372" y="0"/>
                  </a:moveTo>
                  <a:lnTo>
                    <a:pt x="0" y="25095"/>
                  </a:lnTo>
                  <a:lnTo>
                    <a:pt x="8051" y="28867"/>
                  </a:lnTo>
                  <a:lnTo>
                    <a:pt x="17449" y="3822"/>
                  </a:lnTo>
                  <a:lnTo>
                    <a:pt x="9372" y="0"/>
                  </a:lnTo>
                  <a:close/>
                </a:path>
              </a:pathLst>
            </a:custGeom>
            <a:solidFill>
              <a:srgbClr val="A6A6A6"/>
            </a:solidFill>
          </p:spPr>
          <p:txBody>
            <a:bodyPr wrap="square" lIns="0" tIns="0" rIns="0" bIns="0" rtlCol="0"/>
            <a:lstStyle/>
            <a:p>
              <a:pPr defTabSz="457063"/>
              <a:endParaRPr sz="1798">
                <a:solidFill>
                  <a:srgbClr val="37424A"/>
                </a:solidFill>
                <a:latin typeface="Arial Narrow"/>
              </a:endParaRPr>
            </a:p>
          </p:txBody>
        </p:sp>
      </p:grpSp>
      <p:sp>
        <p:nvSpPr>
          <p:cNvPr id="153" name="object 60">
            <a:extLst>
              <a:ext uri="{FF2B5EF4-FFF2-40B4-BE49-F238E27FC236}">
                <a16:creationId xmlns:a16="http://schemas.microsoft.com/office/drawing/2014/main" id="{C0872FE5-B50D-1BEB-2497-76047EA1486E}"/>
              </a:ext>
            </a:extLst>
          </p:cNvPr>
          <p:cNvSpPr txBox="1"/>
          <p:nvPr/>
        </p:nvSpPr>
        <p:spPr>
          <a:xfrm>
            <a:off x="2438677" y="1838818"/>
            <a:ext cx="722889" cy="119843"/>
          </a:xfrm>
          <a:prstGeom prst="rect">
            <a:avLst/>
          </a:prstGeom>
        </p:spPr>
        <p:txBody>
          <a:bodyPr vert="horz" wrap="square" lIns="0" tIns="12059" rIns="0" bIns="0" rtlCol="0">
            <a:spAutoFit/>
          </a:bodyPr>
          <a:lstStyle/>
          <a:p>
            <a:pPr marL="12692" defTabSz="457063">
              <a:spcBef>
                <a:spcPts val="95"/>
              </a:spcBef>
            </a:pPr>
            <a:r>
              <a:rPr sz="700" spc="-25">
                <a:solidFill>
                  <a:srgbClr val="37424A"/>
                </a:solidFill>
                <a:latin typeface="Open Sans"/>
                <a:cs typeface="Open Sans"/>
              </a:rPr>
              <a:t>Dat</a:t>
            </a:r>
            <a:r>
              <a:rPr sz="700" spc="-5">
                <a:solidFill>
                  <a:srgbClr val="37424A"/>
                </a:solidFill>
                <a:latin typeface="Open Sans"/>
                <a:cs typeface="Open Sans"/>
              </a:rPr>
              <a:t>a</a:t>
            </a:r>
            <a:r>
              <a:rPr sz="700" spc="15">
                <a:solidFill>
                  <a:srgbClr val="37424A"/>
                </a:solidFill>
                <a:latin typeface="Open Sans"/>
                <a:cs typeface="Open Sans"/>
              </a:rPr>
              <a:t> </a:t>
            </a:r>
            <a:r>
              <a:rPr sz="700" spc="-20">
                <a:solidFill>
                  <a:srgbClr val="37424A"/>
                </a:solidFill>
                <a:latin typeface="Open Sans"/>
                <a:cs typeface="Open Sans"/>
              </a:rPr>
              <a:t>O</a:t>
            </a:r>
            <a:r>
              <a:rPr sz="700" spc="-15">
                <a:solidFill>
                  <a:srgbClr val="37424A"/>
                </a:solidFill>
                <a:latin typeface="Open Sans"/>
                <a:cs typeface="Open Sans"/>
              </a:rPr>
              <a:t>nb</a:t>
            </a:r>
            <a:r>
              <a:rPr sz="700" spc="-20">
                <a:solidFill>
                  <a:srgbClr val="37424A"/>
                </a:solidFill>
                <a:latin typeface="Open Sans"/>
                <a:cs typeface="Open Sans"/>
              </a:rPr>
              <a:t>o</a:t>
            </a:r>
            <a:r>
              <a:rPr sz="700" spc="-25">
                <a:solidFill>
                  <a:srgbClr val="37424A"/>
                </a:solidFill>
                <a:latin typeface="Open Sans"/>
                <a:cs typeface="Open Sans"/>
              </a:rPr>
              <a:t>a</a:t>
            </a:r>
            <a:r>
              <a:rPr sz="700" spc="-15">
                <a:solidFill>
                  <a:srgbClr val="37424A"/>
                </a:solidFill>
                <a:latin typeface="Open Sans"/>
                <a:cs typeface="Open Sans"/>
              </a:rPr>
              <a:t>rdin</a:t>
            </a:r>
            <a:r>
              <a:rPr sz="700" spc="-5">
                <a:solidFill>
                  <a:srgbClr val="37424A"/>
                </a:solidFill>
                <a:latin typeface="Open Sans"/>
                <a:cs typeface="Open Sans"/>
              </a:rPr>
              <a:t>g</a:t>
            </a:r>
            <a:endParaRPr sz="700">
              <a:solidFill>
                <a:srgbClr val="37424A"/>
              </a:solidFill>
              <a:latin typeface="Open Sans"/>
              <a:cs typeface="Open Sans"/>
            </a:endParaRPr>
          </a:p>
        </p:txBody>
      </p:sp>
      <p:grpSp>
        <p:nvGrpSpPr>
          <p:cNvPr id="154" name="object 61">
            <a:extLst>
              <a:ext uri="{FF2B5EF4-FFF2-40B4-BE49-F238E27FC236}">
                <a16:creationId xmlns:a16="http://schemas.microsoft.com/office/drawing/2014/main" id="{4686DE7F-4081-67F0-2D9A-97F99F7294DA}"/>
              </a:ext>
            </a:extLst>
          </p:cNvPr>
          <p:cNvGrpSpPr/>
          <p:nvPr/>
        </p:nvGrpSpPr>
        <p:grpSpPr>
          <a:xfrm>
            <a:off x="2191952" y="1754996"/>
            <a:ext cx="3803572" cy="1226182"/>
            <a:chOff x="2191505" y="1754123"/>
            <a:chExt cx="3805554" cy="1226820"/>
          </a:xfrm>
        </p:grpSpPr>
        <p:pic>
          <p:nvPicPr>
            <p:cNvPr id="155" name="object 62">
              <a:extLst>
                <a:ext uri="{FF2B5EF4-FFF2-40B4-BE49-F238E27FC236}">
                  <a16:creationId xmlns:a16="http://schemas.microsoft.com/office/drawing/2014/main" id="{B1F6E9C1-F389-BE20-5947-DC8074D0B63D}"/>
                </a:ext>
              </a:extLst>
            </p:cNvPr>
            <p:cNvPicPr/>
            <p:nvPr/>
          </p:nvPicPr>
          <p:blipFill>
            <a:blip r:embed="rId11" cstate="screen">
              <a:extLst>
                <a:ext uri="{28A0092B-C50C-407E-A947-70E740481C1C}">
                  <a14:useLocalDpi xmlns:a14="http://schemas.microsoft.com/office/drawing/2010/main"/>
                </a:ext>
              </a:extLst>
            </a:blip>
            <a:stretch>
              <a:fillRect/>
            </a:stretch>
          </p:blipFill>
          <p:spPr>
            <a:xfrm>
              <a:off x="5457443" y="1754123"/>
              <a:ext cx="539495" cy="594359"/>
            </a:xfrm>
            <a:prstGeom prst="rect">
              <a:avLst/>
            </a:prstGeom>
          </p:spPr>
        </p:pic>
        <p:pic>
          <p:nvPicPr>
            <p:cNvPr id="156" name="object 63">
              <a:extLst>
                <a:ext uri="{FF2B5EF4-FFF2-40B4-BE49-F238E27FC236}">
                  <a16:creationId xmlns:a16="http://schemas.microsoft.com/office/drawing/2014/main" id="{BBCB0E38-A332-402A-DEC8-811A2F58326B}"/>
                </a:ext>
              </a:extLst>
            </p:cNvPr>
            <p:cNvPicPr/>
            <p:nvPr/>
          </p:nvPicPr>
          <p:blipFill>
            <a:blip r:embed="rId12" cstate="screen">
              <a:extLst>
                <a:ext uri="{28A0092B-C50C-407E-A947-70E740481C1C}">
                  <a14:useLocalDpi xmlns:a14="http://schemas.microsoft.com/office/drawing/2010/main"/>
                </a:ext>
              </a:extLst>
            </a:blip>
            <a:stretch>
              <a:fillRect/>
            </a:stretch>
          </p:blipFill>
          <p:spPr>
            <a:xfrm>
              <a:off x="5593080" y="1882139"/>
              <a:ext cx="158495" cy="169163"/>
            </a:xfrm>
            <a:prstGeom prst="rect">
              <a:avLst/>
            </a:prstGeom>
          </p:spPr>
        </p:pic>
        <p:pic>
          <p:nvPicPr>
            <p:cNvPr id="157" name="object 64">
              <a:extLst>
                <a:ext uri="{FF2B5EF4-FFF2-40B4-BE49-F238E27FC236}">
                  <a16:creationId xmlns:a16="http://schemas.microsoft.com/office/drawing/2014/main" id="{B8C651FD-5A1E-1AD1-8F81-8F8C3B18FAF0}"/>
                </a:ext>
              </a:extLst>
            </p:cNvPr>
            <p:cNvPicPr/>
            <p:nvPr/>
          </p:nvPicPr>
          <p:blipFill>
            <a:blip r:embed="rId13" cstate="screen">
              <a:extLst>
                <a:ext uri="{28A0092B-C50C-407E-A947-70E740481C1C}">
                  <a14:useLocalDpi xmlns:a14="http://schemas.microsoft.com/office/drawing/2010/main"/>
                </a:ext>
              </a:extLst>
            </a:blip>
            <a:stretch>
              <a:fillRect/>
            </a:stretch>
          </p:blipFill>
          <p:spPr>
            <a:xfrm>
              <a:off x="5763764" y="1889765"/>
              <a:ext cx="99060" cy="97530"/>
            </a:xfrm>
            <a:prstGeom prst="rect">
              <a:avLst/>
            </a:prstGeom>
          </p:spPr>
        </p:pic>
        <p:sp>
          <p:nvSpPr>
            <p:cNvPr id="158" name="object 65">
              <a:extLst>
                <a:ext uri="{FF2B5EF4-FFF2-40B4-BE49-F238E27FC236}">
                  <a16:creationId xmlns:a16="http://schemas.microsoft.com/office/drawing/2014/main" id="{94BEDD81-E87C-4D1B-703A-52ABD4F9FBC3}"/>
                </a:ext>
              </a:extLst>
            </p:cNvPr>
            <p:cNvSpPr/>
            <p:nvPr/>
          </p:nvSpPr>
          <p:spPr>
            <a:xfrm>
              <a:off x="2253994" y="2074163"/>
              <a:ext cx="810895" cy="899160"/>
            </a:xfrm>
            <a:custGeom>
              <a:avLst/>
              <a:gdLst/>
              <a:ahLst/>
              <a:cxnLst/>
              <a:rect l="l" t="t" r="r" b="b"/>
              <a:pathLst>
                <a:path w="810894" h="899160">
                  <a:moveTo>
                    <a:pt x="357898" y="0"/>
                  </a:moveTo>
                  <a:lnTo>
                    <a:pt x="419328" y="4102"/>
                  </a:lnTo>
                  <a:lnTo>
                    <a:pt x="478231" y="16052"/>
                  </a:lnTo>
                  <a:lnTo>
                    <a:pt x="534098" y="35331"/>
                  </a:lnTo>
                  <a:lnTo>
                    <a:pt x="586359" y="61379"/>
                  </a:lnTo>
                  <a:lnTo>
                    <a:pt x="634504" y="93675"/>
                  </a:lnTo>
                  <a:lnTo>
                    <a:pt x="677964" y="131673"/>
                  </a:lnTo>
                  <a:lnTo>
                    <a:pt x="716229" y="174853"/>
                  </a:lnTo>
                  <a:lnTo>
                    <a:pt x="748741" y="222656"/>
                  </a:lnTo>
                  <a:lnTo>
                    <a:pt x="774954" y="274561"/>
                  </a:lnTo>
                  <a:lnTo>
                    <a:pt x="794359" y="330034"/>
                  </a:lnTo>
                  <a:lnTo>
                    <a:pt x="806386" y="388543"/>
                  </a:lnTo>
                  <a:lnTo>
                    <a:pt x="810526" y="449541"/>
                  </a:lnTo>
                  <a:lnTo>
                    <a:pt x="809485" y="480314"/>
                  </a:lnTo>
                  <a:lnTo>
                    <a:pt x="801331" y="540131"/>
                  </a:lnTo>
                  <a:lnTo>
                    <a:pt x="785545" y="597192"/>
                  </a:lnTo>
                  <a:lnTo>
                    <a:pt x="762660" y="650951"/>
                  </a:lnTo>
                  <a:lnTo>
                    <a:pt x="733234" y="700874"/>
                  </a:lnTo>
                  <a:lnTo>
                    <a:pt x="697776" y="746429"/>
                  </a:lnTo>
                  <a:lnTo>
                    <a:pt x="656856" y="787082"/>
                  </a:lnTo>
                  <a:lnTo>
                    <a:pt x="610984" y="822299"/>
                  </a:lnTo>
                  <a:lnTo>
                    <a:pt x="560717" y="851535"/>
                  </a:lnTo>
                  <a:lnTo>
                    <a:pt x="506577" y="874268"/>
                  </a:lnTo>
                  <a:lnTo>
                    <a:pt x="449135" y="889939"/>
                  </a:lnTo>
                  <a:lnTo>
                    <a:pt x="388886" y="898042"/>
                  </a:lnTo>
                  <a:lnTo>
                    <a:pt x="357898" y="899083"/>
                  </a:lnTo>
                  <a:lnTo>
                    <a:pt x="325742" y="897940"/>
                  </a:lnTo>
                  <a:lnTo>
                    <a:pt x="262699" y="889025"/>
                  </a:lnTo>
                  <a:lnTo>
                    <a:pt x="202031" y="871588"/>
                  </a:lnTo>
                  <a:lnTo>
                    <a:pt x="144589" y="846023"/>
                  </a:lnTo>
                  <a:lnTo>
                    <a:pt x="91198" y="812761"/>
                  </a:lnTo>
                  <a:lnTo>
                    <a:pt x="42722" y="772210"/>
                  </a:lnTo>
                  <a:lnTo>
                    <a:pt x="20586" y="749325"/>
                  </a:lnTo>
                  <a:lnTo>
                    <a:pt x="0" y="724776"/>
                  </a:lnTo>
                </a:path>
              </a:pathLst>
            </a:custGeom>
            <a:ln w="15240">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159" name="object 66">
              <a:extLst>
                <a:ext uri="{FF2B5EF4-FFF2-40B4-BE49-F238E27FC236}">
                  <a16:creationId xmlns:a16="http://schemas.microsoft.com/office/drawing/2014/main" id="{713F09E6-50DC-CACA-3192-67C336B3A703}"/>
                </a:ext>
              </a:extLst>
            </p:cNvPr>
            <p:cNvSpPr/>
            <p:nvPr/>
          </p:nvSpPr>
          <p:spPr>
            <a:xfrm>
              <a:off x="2199125" y="2115311"/>
              <a:ext cx="824865" cy="818515"/>
            </a:xfrm>
            <a:custGeom>
              <a:avLst/>
              <a:gdLst/>
              <a:ahLst/>
              <a:cxnLst/>
              <a:rect l="l" t="t" r="r" b="b"/>
              <a:pathLst>
                <a:path w="824864" h="818514">
                  <a:moveTo>
                    <a:pt x="412165" y="0"/>
                  </a:moveTo>
                  <a:lnTo>
                    <a:pt x="473062" y="4432"/>
                  </a:lnTo>
                  <a:lnTo>
                    <a:pt x="531202" y="17322"/>
                  </a:lnTo>
                  <a:lnTo>
                    <a:pt x="585914" y="38011"/>
                  </a:lnTo>
                  <a:lnTo>
                    <a:pt x="636587" y="65900"/>
                  </a:lnTo>
                  <a:lnTo>
                    <a:pt x="682561" y="100330"/>
                  </a:lnTo>
                  <a:lnTo>
                    <a:pt x="723226" y="140677"/>
                  </a:lnTo>
                  <a:lnTo>
                    <a:pt x="757923" y="186309"/>
                  </a:lnTo>
                  <a:lnTo>
                    <a:pt x="786015" y="236588"/>
                  </a:lnTo>
                  <a:lnTo>
                    <a:pt x="806869" y="290893"/>
                  </a:lnTo>
                  <a:lnTo>
                    <a:pt x="819861" y="348589"/>
                  </a:lnTo>
                  <a:lnTo>
                    <a:pt x="824331" y="409028"/>
                  </a:lnTo>
                  <a:lnTo>
                    <a:pt x="823201" y="439559"/>
                  </a:lnTo>
                  <a:lnTo>
                    <a:pt x="814387" y="498703"/>
                  </a:lnTo>
                  <a:lnTo>
                    <a:pt x="797394" y="554786"/>
                  </a:lnTo>
                  <a:lnTo>
                    <a:pt x="772833" y="607161"/>
                  </a:lnTo>
                  <a:lnTo>
                    <a:pt x="741362" y="655193"/>
                  </a:lnTo>
                  <a:lnTo>
                    <a:pt x="703605" y="698258"/>
                  </a:lnTo>
                  <a:lnTo>
                    <a:pt x="660196" y="735736"/>
                  </a:lnTo>
                  <a:lnTo>
                    <a:pt x="611797" y="766965"/>
                  </a:lnTo>
                  <a:lnTo>
                    <a:pt x="559028" y="791337"/>
                  </a:lnTo>
                  <a:lnTo>
                    <a:pt x="502513" y="808202"/>
                  </a:lnTo>
                  <a:lnTo>
                    <a:pt x="442925" y="816940"/>
                  </a:lnTo>
                  <a:lnTo>
                    <a:pt x="412165" y="818057"/>
                  </a:lnTo>
                  <a:lnTo>
                    <a:pt x="381406" y="816940"/>
                  </a:lnTo>
                  <a:lnTo>
                    <a:pt x="321818" y="808202"/>
                  </a:lnTo>
                  <a:lnTo>
                    <a:pt x="265315" y="791337"/>
                  </a:lnTo>
                  <a:lnTo>
                    <a:pt x="212534" y="766965"/>
                  </a:lnTo>
                  <a:lnTo>
                    <a:pt x="164134" y="735736"/>
                  </a:lnTo>
                  <a:lnTo>
                    <a:pt x="120726" y="698258"/>
                  </a:lnTo>
                  <a:lnTo>
                    <a:pt x="82969" y="655193"/>
                  </a:lnTo>
                  <a:lnTo>
                    <a:pt x="51498" y="607161"/>
                  </a:lnTo>
                  <a:lnTo>
                    <a:pt x="26936" y="554786"/>
                  </a:lnTo>
                  <a:lnTo>
                    <a:pt x="9944" y="498703"/>
                  </a:lnTo>
                  <a:lnTo>
                    <a:pt x="1130" y="439559"/>
                  </a:lnTo>
                  <a:lnTo>
                    <a:pt x="0" y="409028"/>
                  </a:lnTo>
                  <a:lnTo>
                    <a:pt x="1435" y="374980"/>
                  </a:lnTo>
                  <a:lnTo>
                    <a:pt x="12700" y="308279"/>
                  </a:lnTo>
                  <a:lnTo>
                    <a:pt x="34810" y="244525"/>
                  </a:lnTo>
                  <a:lnTo>
                    <a:pt x="67284" y="185051"/>
                  </a:lnTo>
                  <a:lnTo>
                    <a:pt x="87287" y="157327"/>
                  </a:lnTo>
                </a:path>
              </a:pathLst>
            </a:custGeom>
            <a:ln w="15239">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160" name="object 67">
              <a:extLst>
                <a:ext uri="{FF2B5EF4-FFF2-40B4-BE49-F238E27FC236}">
                  <a16:creationId xmlns:a16="http://schemas.microsoft.com/office/drawing/2014/main" id="{FDC38E5A-8043-9921-BB93-14C5826F3FF2}"/>
                </a:ext>
              </a:extLst>
            </p:cNvPr>
            <p:cNvSpPr/>
            <p:nvPr/>
          </p:nvSpPr>
          <p:spPr>
            <a:xfrm>
              <a:off x="2615183" y="2025395"/>
              <a:ext cx="498475" cy="693420"/>
            </a:xfrm>
            <a:custGeom>
              <a:avLst/>
              <a:gdLst/>
              <a:ahLst/>
              <a:cxnLst/>
              <a:rect l="l" t="t" r="r" b="b"/>
              <a:pathLst>
                <a:path w="498475" h="693419">
                  <a:moveTo>
                    <a:pt x="0" y="0"/>
                  </a:moveTo>
                  <a:lnTo>
                    <a:pt x="62496" y="3860"/>
                  </a:lnTo>
                  <a:lnTo>
                    <a:pt x="122682" y="15125"/>
                  </a:lnTo>
                  <a:lnTo>
                    <a:pt x="180086" y="33350"/>
                  </a:lnTo>
                  <a:lnTo>
                    <a:pt x="234238" y="58039"/>
                  </a:lnTo>
                  <a:lnTo>
                    <a:pt x="284670" y="88760"/>
                  </a:lnTo>
                  <a:lnTo>
                    <a:pt x="330911" y="125031"/>
                  </a:lnTo>
                  <a:lnTo>
                    <a:pt x="372516" y="166382"/>
                  </a:lnTo>
                  <a:lnTo>
                    <a:pt x="408990" y="212369"/>
                  </a:lnTo>
                  <a:lnTo>
                    <a:pt x="439889" y="262496"/>
                  </a:lnTo>
                  <a:lnTo>
                    <a:pt x="464731" y="316331"/>
                  </a:lnTo>
                  <a:lnTo>
                    <a:pt x="483044" y="373392"/>
                  </a:lnTo>
                  <a:lnTo>
                    <a:pt x="494385" y="433222"/>
                  </a:lnTo>
                  <a:lnTo>
                    <a:pt x="498271" y="495363"/>
                  </a:lnTo>
                  <a:lnTo>
                    <a:pt x="497090" y="529323"/>
                  </a:lnTo>
                  <a:lnTo>
                    <a:pt x="493598" y="563041"/>
                  </a:lnTo>
                  <a:lnTo>
                    <a:pt x="487806" y="596404"/>
                  </a:lnTo>
                  <a:lnTo>
                    <a:pt x="479729" y="629285"/>
                  </a:lnTo>
                  <a:lnTo>
                    <a:pt x="469392" y="661593"/>
                  </a:lnTo>
                  <a:lnTo>
                    <a:pt x="456831" y="693178"/>
                  </a:lnTo>
                </a:path>
              </a:pathLst>
            </a:custGeom>
            <a:ln w="15240">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161" name="object 68">
              <a:extLst>
                <a:ext uri="{FF2B5EF4-FFF2-40B4-BE49-F238E27FC236}">
                  <a16:creationId xmlns:a16="http://schemas.microsoft.com/office/drawing/2014/main" id="{3BA6A9A9-6602-1F7E-F9F4-F5B386096F10}"/>
                </a:ext>
              </a:extLst>
            </p:cNvPr>
            <p:cNvSpPr/>
            <p:nvPr/>
          </p:nvSpPr>
          <p:spPr>
            <a:xfrm>
              <a:off x="2250944" y="2159507"/>
              <a:ext cx="730250" cy="723900"/>
            </a:xfrm>
            <a:custGeom>
              <a:avLst/>
              <a:gdLst/>
              <a:ahLst/>
              <a:cxnLst/>
              <a:rect l="l" t="t" r="r" b="b"/>
              <a:pathLst>
                <a:path w="730250" h="723900">
                  <a:moveTo>
                    <a:pt x="364959" y="0"/>
                  </a:moveTo>
                  <a:lnTo>
                    <a:pt x="302717" y="5245"/>
                  </a:lnTo>
                  <a:lnTo>
                    <a:pt x="243890" y="20383"/>
                  </a:lnTo>
                  <a:lnTo>
                    <a:pt x="189356" y="44564"/>
                  </a:lnTo>
                  <a:lnTo>
                    <a:pt x="139992" y="76898"/>
                  </a:lnTo>
                  <a:lnTo>
                    <a:pt x="96672" y="116535"/>
                  </a:lnTo>
                  <a:lnTo>
                    <a:pt x="60274" y="162598"/>
                  </a:lnTo>
                  <a:lnTo>
                    <a:pt x="31661" y="214223"/>
                  </a:lnTo>
                  <a:lnTo>
                    <a:pt x="11734" y="270548"/>
                  </a:lnTo>
                  <a:lnTo>
                    <a:pt x="1346" y="330682"/>
                  </a:lnTo>
                  <a:lnTo>
                    <a:pt x="0" y="361911"/>
                  </a:lnTo>
                  <a:lnTo>
                    <a:pt x="1346" y="393141"/>
                  </a:lnTo>
                  <a:lnTo>
                    <a:pt x="11734" y="453275"/>
                  </a:lnTo>
                  <a:lnTo>
                    <a:pt x="31661" y="509587"/>
                  </a:lnTo>
                  <a:lnTo>
                    <a:pt x="60274" y="561213"/>
                  </a:lnTo>
                  <a:lnTo>
                    <a:pt x="96672" y="607275"/>
                  </a:lnTo>
                  <a:lnTo>
                    <a:pt x="139992" y="646912"/>
                  </a:lnTo>
                  <a:lnTo>
                    <a:pt x="189356" y="679259"/>
                  </a:lnTo>
                  <a:lnTo>
                    <a:pt x="243890" y="703440"/>
                  </a:lnTo>
                  <a:lnTo>
                    <a:pt x="302717" y="718578"/>
                  </a:lnTo>
                  <a:lnTo>
                    <a:pt x="364959" y="723823"/>
                  </a:lnTo>
                  <a:lnTo>
                    <a:pt x="396455" y="722490"/>
                  </a:lnTo>
                  <a:lnTo>
                    <a:pt x="457098" y="712190"/>
                  </a:lnTo>
                  <a:lnTo>
                    <a:pt x="513880" y="692416"/>
                  </a:lnTo>
                  <a:lnTo>
                    <a:pt x="565937" y="664057"/>
                  </a:lnTo>
                  <a:lnTo>
                    <a:pt x="612394" y="627951"/>
                  </a:lnTo>
                  <a:lnTo>
                    <a:pt x="652373" y="585000"/>
                  </a:lnTo>
                  <a:lnTo>
                    <a:pt x="684987" y="536041"/>
                  </a:lnTo>
                  <a:lnTo>
                    <a:pt x="709358" y="481965"/>
                  </a:lnTo>
                  <a:lnTo>
                    <a:pt x="724636" y="423633"/>
                  </a:lnTo>
                  <a:lnTo>
                    <a:pt x="729919" y="361911"/>
                  </a:lnTo>
                  <a:lnTo>
                    <a:pt x="728573" y="330682"/>
                  </a:lnTo>
                  <a:lnTo>
                    <a:pt x="718185" y="270548"/>
                  </a:lnTo>
                  <a:lnTo>
                    <a:pt x="698258" y="214223"/>
                  </a:lnTo>
                  <a:lnTo>
                    <a:pt x="669645" y="162598"/>
                  </a:lnTo>
                  <a:lnTo>
                    <a:pt x="633247" y="116535"/>
                  </a:lnTo>
                  <a:lnTo>
                    <a:pt x="589927" y="76898"/>
                  </a:lnTo>
                  <a:lnTo>
                    <a:pt x="540562" y="44564"/>
                  </a:lnTo>
                  <a:lnTo>
                    <a:pt x="486028" y="20383"/>
                  </a:lnTo>
                  <a:lnTo>
                    <a:pt x="427202" y="5245"/>
                  </a:lnTo>
                  <a:lnTo>
                    <a:pt x="364959" y="0"/>
                  </a:lnTo>
                  <a:close/>
                </a:path>
              </a:pathLst>
            </a:custGeom>
            <a:solidFill>
              <a:srgbClr val="FFFFFF"/>
            </a:solidFill>
          </p:spPr>
          <p:txBody>
            <a:bodyPr wrap="square" lIns="0" tIns="0" rIns="0" bIns="0" rtlCol="0"/>
            <a:lstStyle/>
            <a:p>
              <a:pPr defTabSz="457063"/>
              <a:endParaRPr sz="1798">
                <a:solidFill>
                  <a:srgbClr val="37424A"/>
                </a:solidFill>
                <a:latin typeface="Arial Narrow"/>
              </a:endParaRPr>
            </a:p>
          </p:txBody>
        </p:sp>
        <p:sp>
          <p:nvSpPr>
            <p:cNvPr id="162" name="object 69">
              <a:extLst>
                <a:ext uri="{FF2B5EF4-FFF2-40B4-BE49-F238E27FC236}">
                  <a16:creationId xmlns:a16="http://schemas.microsoft.com/office/drawing/2014/main" id="{DD923DB1-7C51-8282-C142-86770B3E519D}"/>
                </a:ext>
              </a:extLst>
            </p:cNvPr>
            <p:cNvSpPr/>
            <p:nvPr/>
          </p:nvSpPr>
          <p:spPr>
            <a:xfrm>
              <a:off x="2250944" y="2159506"/>
              <a:ext cx="730250" cy="723900"/>
            </a:xfrm>
            <a:custGeom>
              <a:avLst/>
              <a:gdLst/>
              <a:ahLst/>
              <a:cxnLst/>
              <a:rect l="l" t="t" r="r" b="b"/>
              <a:pathLst>
                <a:path w="730250" h="723900">
                  <a:moveTo>
                    <a:pt x="364959" y="0"/>
                  </a:moveTo>
                  <a:lnTo>
                    <a:pt x="302717" y="5245"/>
                  </a:lnTo>
                  <a:lnTo>
                    <a:pt x="243890" y="20383"/>
                  </a:lnTo>
                  <a:lnTo>
                    <a:pt x="189356" y="44564"/>
                  </a:lnTo>
                  <a:lnTo>
                    <a:pt x="139992" y="76898"/>
                  </a:lnTo>
                  <a:lnTo>
                    <a:pt x="96672" y="116535"/>
                  </a:lnTo>
                  <a:lnTo>
                    <a:pt x="60274" y="162598"/>
                  </a:lnTo>
                  <a:lnTo>
                    <a:pt x="31661" y="214223"/>
                  </a:lnTo>
                  <a:lnTo>
                    <a:pt x="11734" y="270548"/>
                  </a:lnTo>
                  <a:lnTo>
                    <a:pt x="1346" y="330682"/>
                  </a:lnTo>
                  <a:lnTo>
                    <a:pt x="0" y="361911"/>
                  </a:lnTo>
                  <a:lnTo>
                    <a:pt x="1346" y="393141"/>
                  </a:lnTo>
                  <a:lnTo>
                    <a:pt x="11734" y="453275"/>
                  </a:lnTo>
                  <a:lnTo>
                    <a:pt x="31661" y="509587"/>
                  </a:lnTo>
                  <a:lnTo>
                    <a:pt x="60274" y="561213"/>
                  </a:lnTo>
                  <a:lnTo>
                    <a:pt x="96672" y="607275"/>
                  </a:lnTo>
                  <a:lnTo>
                    <a:pt x="139992" y="646912"/>
                  </a:lnTo>
                  <a:lnTo>
                    <a:pt x="189356" y="679259"/>
                  </a:lnTo>
                  <a:lnTo>
                    <a:pt x="243890" y="703440"/>
                  </a:lnTo>
                  <a:lnTo>
                    <a:pt x="302717" y="718578"/>
                  </a:lnTo>
                  <a:lnTo>
                    <a:pt x="364959" y="723823"/>
                  </a:lnTo>
                  <a:lnTo>
                    <a:pt x="396455" y="722490"/>
                  </a:lnTo>
                  <a:lnTo>
                    <a:pt x="457098" y="712190"/>
                  </a:lnTo>
                  <a:lnTo>
                    <a:pt x="513880" y="692416"/>
                  </a:lnTo>
                  <a:lnTo>
                    <a:pt x="565937" y="664057"/>
                  </a:lnTo>
                  <a:lnTo>
                    <a:pt x="612394" y="627951"/>
                  </a:lnTo>
                  <a:lnTo>
                    <a:pt x="652373" y="585000"/>
                  </a:lnTo>
                  <a:lnTo>
                    <a:pt x="684987" y="536041"/>
                  </a:lnTo>
                  <a:lnTo>
                    <a:pt x="709358" y="481965"/>
                  </a:lnTo>
                  <a:lnTo>
                    <a:pt x="724636" y="423633"/>
                  </a:lnTo>
                  <a:lnTo>
                    <a:pt x="729919" y="361911"/>
                  </a:lnTo>
                  <a:lnTo>
                    <a:pt x="728573" y="330682"/>
                  </a:lnTo>
                  <a:lnTo>
                    <a:pt x="718185" y="270548"/>
                  </a:lnTo>
                  <a:lnTo>
                    <a:pt x="698258" y="214223"/>
                  </a:lnTo>
                  <a:lnTo>
                    <a:pt x="669645" y="162598"/>
                  </a:lnTo>
                  <a:lnTo>
                    <a:pt x="633247" y="116535"/>
                  </a:lnTo>
                  <a:lnTo>
                    <a:pt x="589927" y="76898"/>
                  </a:lnTo>
                  <a:lnTo>
                    <a:pt x="540562" y="44564"/>
                  </a:lnTo>
                  <a:lnTo>
                    <a:pt x="486028" y="20383"/>
                  </a:lnTo>
                  <a:lnTo>
                    <a:pt x="427202" y="5245"/>
                  </a:lnTo>
                  <a:lnTo>
                    <a:pt x="364959" y="0"/>
                  </a:lnTo>
                  <a:close/>
                </a:path>
              </a:pathLst>
            </a:custGeom>
            <a:ln w="9144">
              <a:solidFill>
                <a:srgbClr val="79C379"/>
              </a:solidFill>
            </a:ln>
          </p:spPr>
          <p:txBody>
            <a:bodyPr wrap="square" lIns="0" tIns="0" rIns="0" bIns="0" rtlCol="0"/>
            <a:lstStyle/>
            <a:p>
              <a:pPr defTabSz="457063"/>
              <a:endParaRPr sz="1798">
                <a:solidFill>
                  <a:srgbClr val="37424A"/>
                </a:solidFill>
                <a:latin typeface="Arial Narrow"/>
              </a:endParaRPr>
            </a:p>
          </p:txBody>
        </p:sp>
        <p:sp>
          <p:nvSpPr>
            <p:cNvPr id="163" name="object 70">
              <a:extLst>
                <a:ext uri="{FF2B5EF4-FFF2-40B4-BE49-F238E27FC236}">
                  <a16:creationId xmlns:a16="http://schemas.microsoft.com/office/drawing/2014/main" id="{A255310F-9081-26F7-7D30-7ED9B8B23B11}"/>
                </a:ext>
              </a:extLst>
            </p:cNvPr>
            <p:cNvSpPr/>
            <p:nvPr/>
          </p:nvSpPr>
          <p:spPr>
            <a:xfrm>
              <a:off x="2251709" y="2160267"/>
              <a:ext cx="730250" cy="723900"/>
            </a:xfrm>
            <a:custGeom>
              <a:avLst/>
              <a:gdLst/>
              <a:ahLst/>
              <a:cxnLst/>
              <a:rect l="l" t="t" r="r" b="b"/>
              <a:pathLst>
                <a:path w="730250" h="723900">
                  <a:moveTo>
                    <a:pt x="0" y="361911"/>
                  </a:moveTo>
                  <a:lnTo>
                    <a:pt x="5283" y="300189"/>
                  </a:lnTo>
                  <a:lnTo>
                    <a:pt x="20561" y="241858"/>
                  </a:lnTo>
                  <a:lnTo>
                    <a:pt x="44932" y="187782"/>
                  </a:lnTo>
                  <a:lnTo>
                    <a:pt x="77546" y="138823"/>
                  </a:lnTo>
                  <a:lnTo>
                    <a:pt x="117525" y="95859"/>
                  </a:lnTo>
                  <a:lnTo>
                    <a:pt x="163969" y="59766"/>
                  </a:lnTo>
                  <a:lnTo>
                    <a:pt x="216027" y="31394"/>
                  </a:lnTo>
                  <a:lnTo>
                    <a:pt x="272821" y="11633"/>
                  </a:lnTo>
                  <a:lnTo>
                    <a:pt x="333463" y="1333"/>
                  </a:lnTo>
                  <a:lnTo>
                    <a:pt x="364959" y="0"/>
                  </a:lnTo>
                  <a:lnTo>
                    <a:pt x="396443" y="1333"/>
                  </a:lnTo>
                  <a:lnTo>
                    <a:pt x="457085" y="11633"/>
                  </a:lnTo>
                  <a:lnTo>
                    <a:pt x="513880" y="31394"/>
                  </a:lnTo>
                  <a:lnTo>
                    <a:pt x="565937" y="59766"/>
                  </a:lnTo>
                  <a:lnTo>
                    <a:pt x="612394" y="95859"/>
                  </a:lnTo>
                  <a:lnTo>
                    <a:pt x="652360" y="138823"/>
                  </a:lnTo>
                  <a:lnTo>
                    <a:pt x="684974" y="187782"/>
                  </a:lnTo>
                  <a:lnTo>
                    <a:pt x="709358" y="241858"/>
                  </a:lnTo>
                  <a:lnTo>
                    <a:pt x="724623" y="300189"/>
                  </a:lnTo>
                  <a:lnTo>
                    <a:pt x="729907" y="361911"/>
                  </a:lnTo>
                  <a:lnTo>
                    <a:pt x="728573" y="393141"/>
                  </a:lnTo>
                  <a:lnTo>
                    <a:pt x="718185" y="453275"/>
                  </a:lnTo>
                  <a:lnTo>
                    <a:pt x="698246" y="509587"/>
                  </a:lnTo>
                  <a:lnTo>
                    <a:pt x="669645" y="561213"/>
                  </a:lnTo>
                  <a:lnTo>
                    <a:pt x="633247" y="607275"/>
                  </a:lnTo>
                  <a:lnTo>
                    <a:pt x="589915" y="646912"/>
                  </a:lnTo>
                  <a:lnTo>
                    <a:pt x="540550" y="679259"/>
                  </a:lnTo>
                  <a:lnTo>
                    <a:pt x="486029" y="703440"/>
                  </a:lnTo>
                  <a:lnTo>
                    <a:pt x="427202" y="718578"/>
                  </a:lnTo>
                  <a:lnTo>
                    <a:pt x="364959" y="723823"/>
                  </a:lnTo>
                  <a:lnTo>
                    <a:pt x="333463" y="722490"/>
                  </a:lnTo>
                  <a:lnTo>
                    <a:pt x="272821" y="712190"/>
                  </a:lnTo>
                  <a:lnTo>
                    <a:pt x="216027" y="692429"/>
                  </a:lnTo>
                  <a:lnTo>
                    <a:pt x="163969" y="664057"/>
                  </a:lnTo>
                  <a:lnTo>
                    <a:pt x="117525" y="627951"/>
                  </a:lnTo>
                  <a:lnTo>
                    <a:pt x="77546" y="585000"/>
                  </a:lnTo>
                  <a:lnTo>
                    <a:pt x="44932" y="536041"/>
                  </a:lnTo>
                  <a:lnTo>
                    <a:pt x="20561" y="481965"/>
                  </a:lnTo>
                  <a:lnTo>
                    <a:pt x="5283" y="423633"/>
                  </a:lnTo>
                  <a:lnTo>
                    <a:pt x="0" y="361911"/>
                  </a:lnTo>
                  <a:close/>
                </a:path>
              </a:pathLst>
            </a:custGeom>
            <a:ln w="19812">
              <a:solidFill>
                <a:srgbClr val="79C379"/>
              </a:solidFill>
            </a:ln>
          </p:spPr>
          <p:txBody>
            <a:bodyPr wrap="square" lIns="0" tIns="0" rIns="0" bIns="0" rtlCol="0"/>
            <a:lstStyle/>
            <a:p>
              <a:pPr defTabSz="457063"/>
              <a:endParaRPr sz="1798">
                <a:solidFill>
                  <a:srgbClr val="37424A"/>
                </a:solidFill>
                <a:latin typeface="Arial Narrow"/>
              </a:endParaRPr>
            </a:p>
          </p:txBody>
        </p:sp>
        <p:pic>
          <p:nvPicPr>
            <p:cNvPr id="164" name="object 71">
              <a:extLst>
                <a:ext uri="{FF2B5EF4-FFF2-40B4-BE49-F238E27FC236}">
                  <a16:creationId xmlns:a16="http://schemas.microsoft.com/office/drawing/2014/main" id="{C0D4572B-D986-6A6E-3980-B394AA7FCB1A}"/>
                </a:ext>
              </a:extLst>
            </p:cNvPr>
            <p:cNvPicPr/>
            <p:nvPr/>
          </p:nvPicPr>
          <p:blipFill>
            <a:blip r:embed="rId14" cstate="screen">
              <a:extLst>
                <a:ext uri="{28A0092B-C50C-407E-A947-70E740481C1C}">
                  <a14:useLocalDpi xmlns:a14="http://schemas.microsoft.com/office/drawing/2010/main"/>
                </a:ext>
              </a:extLst>
            </a:blip>
            <a:stretch>
              <a:fillRect/>
            </a:stretch>
          </p:blipFill>
          <p:spPr>
            <a:xfrm>
              <a:off x="2322575" y="2304287"/>
              <a:ext cx="396239" cy="451103"/>
            </a:xfrm>
            <a:prstGeom prst="rect">
              <a:avLst/>
            </a:prstGeom>
          </p:spPr>
        </p:pic>
        <p:pic>
          <p:nvPicPr>
            <p:cNvPr id="165" name="object 72">
              <a:extLst>
                <a:ext uri="{FF2B5EF4-FFF2-40B4-BE49-F238E27FC236}">
                  <a16:creationId xmlns:a16="http://schemas.microsoft.com/office/drawing/2014/main" id="{1A7CDE8D-D466-E679-1E99-1864B910AB2E}"/>
                </a:ext>
              </a:extLst>
            </p:cNvPr>
            <p:cNvPicPr/>
            <p:nvPr/>
          </p:nvPicPr>
          <p:blipFill>
            <a:blip r:embed="rId12" cstate="screen">
              <a:extLst>
                <a:ext uri="{28A0092B-C50C-407E-A947-70E740481C1C}">
                  <a14:useLocalDpi xmlns:a14="http://schemas.microsoft.com/office/drawing/2010/main"/>
                </a:ext>
              </a:extLst>
            </a:blip>
            <a:stretch>
              <a:fillRect/>
            </a:stretch>
          </p:blipFill>
          <p:spPr>
            <a:xfrm>
              <a:off x="2441447" y="2383535"/>
              <a:ext cx="158495" cy="169163"/>
            </a:xfrm>
            <a:prstGeom prst="rect">
              <a:avLst/>
            </a:prstGeom>
          </p:spPr>
        </p:pic>
        <p:sp>
          <p:nvSpPr>
            <p:cNvPr id="166" name="object 73">
              <a:extLst>
                <a:ext uri="{FF2B5EF4-FFF2-40B4-BE49-F238E27FC236}">
                  <a16:creationId xmlns:a16="http://schemas.microsoft.com/office/drawing/2014/main" id="{18084C47-DC3F-7BD9-F3C1-A38F87D62BBF}"/>
                </a:ext>
              </a:extLst>
            </p:cNvPr>
            <p:cNvSpPr/>
            <p:nvPr/>
          </p:nvSpPr>
          <p:spPr>
            <a:xfrm>
              <a:off x="2441447" y="2383535"/>
              <a:ext cx="158750" cy="169545"/>
            </a:xfrm>
            <a:custGeom>
              <a:avLst/>
              <a:gdLst/>
              <a:ahLst/>
              <a:cxnLst/>
              <a:rect l="l" t="t" r="r" b="b"/>
              <a:pathLst>
                <a:path w="158750" h="169544">
                  <a:moveTo>
                    <a:pt x="0" y="0"/>
                  </a:moveTo>
                  <a:lnTo>
                    <a:pt x="158495" y="0"/>
                  </a:lnTo>
                  <a:lnTo>
                    <a:pt x="158495" y="169163"/>
                  </a:lnTo>
                  <a:lnTo>
                    <a:pt x="0" y="169163"/>
                  </a:lnTo>
                  <a:lnTo>
                    <a:pt x="0" y="0"/>
                  </a:lnTo>
                  <a:close/>
                </a:path>
              </a:pathLst>
            </a:custGeom>
            <a:ln w="9144">
              <a:solidFill>
                <a:srgbClr val="79C379"/>
              </a:solidFill>
            </a:ln>
          </p:spPr>
          <p:txBody>
            <a:bodyPr wrap="square" lIns="0" tIns="0" rIns="0" bIns="0" rtlCol="0"/>
            <a:lstStyle/>
            <a:p>
              <a:pPr defTabSz="457063"/>
              <a:endParaRPr sz="1798">
                <a:solidFill>
                  <a:srgbClr val="37424A"/>
                </a:solidFill>
                <a:latin typeface="Arial Narrow"/>
              </a:endParaRPr>
            </a:p>
          </p:txBody>
        </p:sp>
        <p:pic>
          <p:nvPicPr>
            <p:cNvPr id="167" name="object 74">
              <a:extLst>
                <a:ext uri="{FF2B5EF4-FFF2-40B4-BE49-F238E27FC236}">
                  <a16:creationId xmlns:a16="http://schemas.microsoft.com/office/drawing/2014/main" id="{E0E71B22-DDB5-1B05-B9DD-85BB74B9CACE}"/>
                </a:ext>
              </a:extLst>
            </p:cNvPr>
            <p:cNvPicPr/>
            <p:nvPr/>
          </p:nvPicPr>
          <p:blipFill>
            <a:blip r:embed="rId15" cstate="screen">
              <a:extLst>
                <a:ext uri="{28A0092B-C50C-407E-A947-70E740481C1C}">
                  <a14:useLocalDpi xmlns:a14="http://schemas.microsoft.com/office/drawing/2010/main"/>
                </a:ext>
              </a:extLst>
            </a:blip>
            <a:stretch>
              <a:fillRect/>
            </a:stretch>
          </p:blipFill>
          <p:spPr>
            <a:xfrm>
              <a:off x="2718815" y="2371343"/>
              <a:ext cx="208787" cy="281939"/>
            </a:xfrm>
            <a:prstGeom prst="rect">
              <a:avLst/>
            </a:prstGeom>
          </p:spPr>
        </p:pic>
      </p:grpSp>
      <p:sp>
        <p:nvSpPr>
          <p:cNvPr id="168" name="object 75">
            <a:extLst>
              <a:ext uri="{FF2B5EF4-FFF2-40B4-BE49-F238E27FC236}">
                <a16:creationId xmlns:a16="http://schemas.microsoft.com/office/drawing/2014/main" id="{BA04FDE8-60BA-5A73-D219-0DE5A79E31EC}"/>
              </a:ext>
            </a:extLst>
          </p:cNvPr>
          <p:cNvSpPr txBox="1"/>
          <p:nvPr/>
        </p:nvSpPr>
        <p:spPr>
          <a:xfrm>
            <a:off x="5216790" y="1374332"/>
            <a:ext cx="1026260" cy="119843"/>
          </a:xfrm>
          <a:prstGeom prst="rect">
            <a:avLst/>
          </a:prstGeom>
        </p:spPr>
        <p:txBody>
          <a:bodyPr vert="horz" wrap="square" lIns="0" tIns="12059" rIns="0" bIns="0" rtlCol="0">
            <a:spAutoFit/>
          </a:bodyPr>
          <a:lstStyle/>
          <a:p>
            <a:pPr marL="12692" defTabSz="457063">
              <a:spcBef>
                <a:spcPts val="95"/>
              </a:spcBef>
            </a:pPr>
            <a:r>
              <a:rPr sz="700" spc="-10">
                <a:solidFill>
                  <a:srgbClr val="37424A"/>
                </a:solidFill>
                <a:latin typeface="Open Sans"/>
                <a:cs typeface="Open Sans"/>
              </a:rPr>
              <a:t>Da</a:t>
            </a:r>
            <a:r>
              <a:rPr sz="700" spc="-15">
                <a:solidFill>
                  <a:srgbClr val="37424A"/>
                </a:solidFill>
                <a:latin typeface="Open Sans"/>
                <a:cs typeface="Open Sans"/>
              </a:rPr>
              <a:t>t</a:t>
            </a:r>
            <a:r>
              <a:rPr sz="700" spc="-5">
                <a:solidFill>
                  <a:srgbClr val="37424A"/>
                </a:solidFill>
                <a:latin typeface="Open Sans"/>
                <a:cs typeface="Open Sans"/>
              </a:rPr>
              <a:t>a</a:t>
            </a:r>
            <a:r>
              <a:rPr sz="700" spc="5">
                <a:solidFill>
                  <a:srgbClr val="37424A"/>
                </a:solidFill>
                <a:latin typeface="Open Sans"/>
                <a:cs typeface="Open Sans"/>
              </a:rPr>
              <a:t> </a:t>
            </a:r>
            <a:r>
              <a:rPr sz="700" spc="-5">
                <a:solidFill>
                  <a:srgbClr val="37424A"/>
                </a:solidFill>
                <a:latin typeface="Open Sans"/>
                <a:cs typeface="Open Sans"/>
              </a:rPr>
              <a:t>C</a:t>
            </a:r>
            <a:r>
              <a:rPr sz="700" spc="-10">
                <a:solidFill>
                  <a:srgbClr val="37424A"/>
                </a:solidFill>
                <a:latin typeface="Open Sans"/>
                <a:cs typeface="Open Sans"/>
              </a:rPr>
              <a:t>o</a:t>
            </a:r>
            <a:r>
              <a:rPr sz="700" spc="-5">
                <a:solidFill>
                  <a:srgbClr val="37424A"/>
                </a:solidFill>
                <a:latin typeface="Open Sans"/>
                <a:cs typeface="Open Sans"/>
              </a:rPr>
              <a:t>ns</a:t>
            </a:r>
            <a:r>
              <a:rPr sz="700" spc="-15">
                <a:solidFill>
                  <a:srgbClr val="37424A"/>
                </a:solidFill>
                <a:latin typeface="Open Sans"/>
                <a:cs typeface="Open Sans"/>
              </a:rPr>
              <a:t>u</a:t>
            </a:r>
            <a:r>
              <a:rPr sz="700" spc="-5">
                <a:solidFill>
                  <a:srgbClr val="37424A"/>
                </a:solidFill>
                <a:latin typeface="Open Sans"/>
                <a:cs typeface="Open Sans"/>
              </a:rPr>
              <a:t>m</a:t>
            </a:r>
            <a:r>
              <a:rPr sz="700" spc="-15">
                <a:solidFill>
                  <a:srgbClr val="37424A"/>
                </a:solidFill>
                <a:latin typeface="Open Sans"/>
                <a:cs typeface="Open Sans"/>
              </a:rPr>
              <a:t>pt</a:t>
            </a:r>
            <a:r>
              <a:rPr sz="700" spc="-5">
                <a:solidFill>
                  <a:srgbClr val="37424A"/>
                </a:solidFill>
                <a:latin typeface="Open Sans"/>
                <a:cs typeface="Open Sans"/>
              </a:rPr>
              <a:t>i</a:t>
            </a:r>
            <a:r>
              <a:rPr sz="700" spc="-10">
                <a:solidFill>
                  <a:srgbClr val="37424A"/>
                </a:solidFill>
                <a:latin typeface="Open Sans"/>
                <a:cs typeface="Open Sans"/>
              </a:rPr>
              <a:t>o</a:t>
            </a:r>
            <a:r>
              <a:rPr sz="700" spc="-5">
                <a:solidFill>
                  <a:srgbClr val="37424A"/>
                </a:solidFill>
                <a:latin typeface="Open Sans"/>
                <a:cs typeface="Open Sans"/>
              </a:rPr>
              <a:t>n</a:t>
            </a:r>
            <a:r>
              <a:rPr sz="700" spc="-45">
                <a:solidFill>
                  <a:srgbClr val="37424A"/>
                </a:solidFill>
                <a:latin typeface="Open Sans"/>
                <a:cs typeface="Open Sans"/>
              </a:rPr>
              <a:t> </a:t>
            </a:r>
            <a:r>
              <a:rPr sz="700" spc="-10">
                <a:solidFill>
                  <a:srgbClr val="37424A"/>
                </a:solidFill>
                <a:latin typeface="Open Sans"/>
                <a:cs typeface="Open Sans"/>
              </a:rPr>
              <a:t>(</a:t>
            </a:r>
            <a:r>
              <a:rPr sz="700">
                <a:solidFill>
                  <a:srgbClr val="37424A"/>
                </a:solidFill>
                <a:latin typeface="Open Sans"/>
                <a:cs typeface="Open Sans"/>
              </a:rPr>
              <a:t>B</a:t>
            </a:r>
            <a:r>
              <a:rPr sz="700" spc="-10">
                <a:solidFill>
                  <a:srgbClr val="37424A"/>
                </a:solidFill>
                <a:latin typeface="Open Sans"/>
                <a:cs typeface="Open Sans"/>
              </a:rPr>
              <a:t>2</a:t>
            </a:r>
            <a:r>
              <a:rPr sz="700" spc="-15">
                <a:solidFill>
                  <a:srgbClr val="37424A"/>
                </a:solidFill>
                <a:latin typeface="Open Sans"/>
                <a:cs typeface="Open Sans"/>
              </a:rPr>
              <a:t>X)</a:t>
            </a:r>
            <a:endParaRPr sz="700">
              <a:solidFill>
                <a:srgbClr val="37424A"/>
              </a:solidFill>
              <a:latin typeface="Open Sans"/>
              <a:cs typeface="Open Sans"/>
            </a:endParaRPr>
          </a:p>
        </p:txBody>
      </p:sp>
      <p:sp>
        <p:nvSpPr>
          <p:cNvPr id="169" name="object 76">
            <a:extLst>
              <a:ext uri="{FF2B5EF4-FFF2-40B4-BE49-F238E27FC236}">
                <a16:creationId xmlns:a16="http://schemas.microsoft.com/office/drawing/2014/main" id="{E02938F7-E051-6225-B14D-DB23F4CAE064}"/>
              </a:ext>
            </a:extLst>
          </p:cNvPr>
          <p:cNvSpPr txBox="1"/>
          <p:nvPr/>
        </p:nvSpPr>
        <p:spPr>
          <a:xfrm>
            <a:off x="5764512" y="1987404"/>
            <a:ext cx="107258" cy="44219"/>
          </a:xfrm>
          <a:prstGeom prst="rect">
            <a:avLst/>
          </a:prstGeom>
        </p:spPr>
        <p:txBody>
          <a:bodyPr vert="horz" wrap="square" lIns="0" tIns="13329" rIns="0" bIns="0" rtlCol="0">
            <a:spAutoFit/>
          </a:bodyPr>
          <a:lstStyle/>
          <a:p>
            <a:pPr marL="12692" defTabSz="457063">
              <a:spcBef>
                <a:spcPts val="105"/>
              </a:spcBef>
            </a:pPr>
            <a:r>
              <a:rPr sz="200" b="1" i="1" spc="-5">
                <a:solidFill>
                  <a:srgbClr val="3E3E3E"/>
                </a:solidFill>
                <a:latin typeface="OpenSans-BoldItalic"/>
                <a:cs typeface="OpenSans-BoldItalic"/>
              </a:rPr>
              <a:t>OR</a:t>
            </a:r>
            <a:r>
              <a:rPr sz="200" b="1" i="1" spc="5">
                <a:solidFill>
                  <a:srgbClr val="3E3E3E"/>
                </a:solidFill>
                <a:latin typeface="OpenSans-BoldItalic"/>
                <a:cs typeface="OpenSans-BoldItalic"/>
              </a:rPr>
              <a:t>D</a:t>
            </a:r>
            <a:r>
              <a:rPr sz="200" b="1" i="1" spc="-5">
                <a:solidFill>
                  <a:srgbClr val="3E3E3E"/>
                </a:solidFill>
                <a:latin typeface="OpenSans-BoldItalic"/>
                <a:cs typeface="OpenSans-BoldItalic"/>
              </a:rPr>
              <a:t>E</a:t>
            </a:r>
            <a:r>
              <a:rPr sz="200" b="1" i="1">
                <a:solidFill>
                  <a:srgbClr val="3E3E3E"/>
                </a:solidFill>
                <a:latin typeface="OpenSans-BoldItalic"/>
                <a:cs typeface="OpenSans-BoldItalic"/>
              </a:rPr>
              <a:t>R</a:t>
            </a:r>
            <a:endParaRPr sz="200">
              <a:solidFill>
                <a:srgbClr val="37424A"/>
              </a:solidFill>
              <a:latin typeface="OpenSans-BoldItalic"/>
              <a:cs typeface="OpenSans-BoldItalic"/>
            </a:endParaRPr>
          </a:p>
        </p:txBody>
      </p:sp>
      <p:grpSp>
        <p:nvGrpSpPr>
          <p:cNvPr id="170" name="object 77">
            <a:extLst>
              <a:ext uri="{FF2B5EF4-FFF2-40B4-BE49-F238E27FC236}">
                <a16:creationId xmlns:a16="http://schemas.microsoft.com/office/drawing/2014/main" id="{8081B2ED-A336-B7FF-7745-23F3186B0CA6}"/>
              </a:ext>
            </a:extLst>
          </p:cNvPr>
          <p:cNvGrpSpPr/>
          <p:nvPr/>
        </p:nvGrpSpPr>
        <p:grpSpPr>
          <a:xfrm>
            <a:off x="2860667" y="2208913"/>
            <a:ext cx="4012380" cy="1141136"/>
            <a:chOff x="2860569" y="2208276"/>
            <a:chExt cx="4014470" cy="1141730"/>
          </a:xfrm>
        </p:grpSpPr>
        <p:sp>
          <p:nvSpPr>
            <p:cNvPr id="171" name="object 78">
              <a:extLst>
                <a:ext uri="{FF2B5EF4-FFF2-40B4-BE49-F238E27FC236}">
                  <a16:creationId xmlns:a16="http://schemas.microsoft.com/office/drawing/2014/main" id="{97C07E9D-B8E6-FBEC-CCEA-69B9CF6AE5AE}"/>
                </a:ext>
              </a:extLst>
            </p:cNvPr>
            <p:cNvSpPr/>
            <p:nvPr/>
          </p:nvSpPr>
          <p:spPr>
            <a:xfrm>
              <a:off x="6301676" y="2961335"/>
              <a:ext cx="573405" cy="150495"/>
            </a:xfrm>
            <a:custGeom>
              <a:avLst/>
              <a:gdLst/>
              <a:ahLst/>
              <a:cxnLst/>
              <a:rect l="l" t="t" r="r" b="b"/>
              <a:pathLst>
                <a:path w="573404" h="150494">
                  <a:moveTo>
                    <a:pt x="47371" y="24993"/>
                  </a:moveTo>
                  <a:lnTo>
                    <a:pt x="39014" y="20218"/>
                  </a:lnTo>
                  <a:lnTo>
                    <a:pt x="8966" y="1244"/>
                  </a:lnTo>
                  <a:lnTo>
                    <a:pt x="7099" y="0"/>
                  </a:lnTo>
                  <a:lnTo>
                    <a:pt x="0" y="10223"/>
                  </a:lnTo>
                  <a:lnTo>
                    <a:pt x="2324" y="11772"/>
                  </a:lnTo>
                  <a:lnTo>
                    <a:pt x="32842" y="31051"/>
                  </a:lnTo>
                  <a:lnTo>
                    <a:pt x="41236" y="35763"/>
                  </a:lnTo>
                  <a:lnTo>
                    <a:pt x="47371" y="24993"/>
                  </a:lnTo>
                  <a:close/>
                </a:path>
                <a:path w="573404" h="150494">
                  <a:moveTo>
                    <a:pt x="121920" y="62611"/>
                  </a:moveTo>
                  <a:lnTo>
                    <a:pt x="101841" y="53784"/>
                  </a:lnTo>
                  <a:lnTo>
                    <a:pt x="78727" y="42151"/>
                  </a:lnTo>
                  <a:lnTo>
                    <a:pt x="73063" y="53225"/>
                  </a:lnTo>
                  <a:lnTo>
                    <a:pt x="96735" y="65036"/>
                  </a:lnTo>
                  <a:lnTo>
                    <a:pt x="116700" y="73888"/>
                  </a:lnTo>
                  <a:lnTo>
                    <a:pt x="121920" y="62611"/>
                  </a:lnTo>
                  <a:close/>
                </a:path>
                <a:path w="573404" h="150494">
                  <a:moveTo>
                    <a:pt x="200075" y="91948"/>
                  </a:moveTo>
                  <a:lnTo>
                    <a:pt x="167995" y="81203"/>
                  </a:lnTo>
                  <a:lnTo>
                    <a:pt x="154978" y="76200"/>
                  </a:lnTo>
                  <a:lnTo>
                    <a:pt x="150317" y="87655"/>
                  </a:lnTo>
                  <a:lnTo>
                    <a:pt x="163906" y="92938"/>
                  </a:lnTo>
                  <a:lnTo>
                    <a:pt x="195986" y="103682"/>
                  </a:lnTo>
                  <a:lnTo>
                    <a:pt x="200075" y="91948"/>
                  </a:lnTo>
                  <a:close/>
                </a:path>
                <a:path w="573404" h="150494">
                  <a:moveTo>
                    <a:pt x="281076" y="112115"/>
                  </a:moveTo>
                  <a:lnTo>
                    <a:pt x="272554" y="110617"/>
                  </a:lnTo>
                  <a:lnTo>
                    <a:pt x="237058" y="102374"/>
                  </a:lnTo>
                  <a:lnTo>
                    <a:pt x="234607" y="101739"/>
                  </a:lnTo>
                  <a:lnTo>
                    <a:pt x="231013" y="113601"/>
                  </a:lnTo>
                  <a:lnTo>
                    <a:pt x="234022" y="114414"/>
                  </a:lnTo>
                  <a:lnTo>
                    <a:pt x="270052" y="122707"/>
                  </a:lnTo>
                  <a:lnTo>
                    <a:pt x="278574" y="124206"/>
                  </a:lnTo>
                  <a:lnTo>
                    <a:pt x="281076" y="112115"/>
                  </a:lnTo>
                  <a:close/>
                </a:path>
                <a:path w="573404" h="150494">
                  <a:moveTo>
                    <a:pt x="364274" y="123380"/>
                  </a:moveTo>
                  <a:lnTo>
                    <a:pt x="345135" y="121780"/>
                  </a:lnTo>
                  <a:lnTo>
                    <a:pt x="316547" y="118046"/>
                  </a:lnTo>
                  <a:lnTo>
                    <a:pt x="314540" y="130276"/>
                  </a:lnTo>
                  <a:lnTo>
                    <a:pt x="343725" y="134099"/>
                  </a:lnTo>
                  <a:lnTo>
                    <a:pt x="362927" y="135636"/>
                  </a:lnTo>
                  <a:lnTo>
                    <a:pt x="364274" y="123380"/>
                  </a:lnTo>
                  <a:close/>
                </a:path>
                <a:path w="573404" h="150494">
                  <a:moveTo>
                    <a:pt x="448462" y="125526"/>
                  </a:moveTo>
                  <a:lnTo>
                    <a:pt x="419582" y="125996"/>
                  </a:lnTo>
                  <a:lnTo>
                    <a:pt x="400278" y="125374"/>
                  </a:lnTo>
                  <a:lnTo>
                    <a:pt x="399453" y="137693"/>
                  </a:lnTo>
                  <a:lnTo>
                    <a:pt x="419341" y="138303"/>
                  </a:lnTo>
                  <a:lnTo>
                    <a:pt x="448335" y="137820"/>
                  </a:lnTo>
                  <a:lnTo>
                    <a:pt x="448462" y="125526"/>
                  </a:lnTo>
                  <a:close/>
                </a:path>
                <a:path w="573404" h="150494">
                  <a:moveTo>
                    <a:pt x="573328" y="118338"/>
                  </a:moveTo>
                  <a:lnTo>
                    <a:pt x="533768" y="105219"/>
                  </a:lnTo>
                  <a:lnTo>
                    <a:pt x="533768" y="130606"/>
                  </a:lnTo>
                  <a:lnTo>
                    <a:pt x="533654" y="129425"/>
                  </a:lnTo>
                  <a:lnTo>
                    <a:pt x="533768" y="130606"/>
                  </a:lnTo>
                  <a:lnTo>
                    <a:pt x="533768" y="105219"/>
                  </a:lnTo>
                  <a:lnTo>
                    <a:pt x="522287" y="101409"/>
                  </a:lnTo>
                  <a:lnTo>
                    <a:pt x="524395" y="119430"/>
                  </a:lnTo>
                  <a:lnTo>
                    <a:pt x="495401" y="122948"/>
                  </a:lnTo>
                  <a:lnTo>
                    <a:pt x="484644" y="123647"/>
                  </a:lnTo>
                  <a:lnTo>
                    <a:pt x="484987" y="135953"/>
                  </a:lnTo>
                  <a:lnTo>
                    <a:pt x="496493" y="135153"/>
                  </a:lnTo>
                  <a:lnTo>
                    <a:pt x="525818" y="131584"/>
                  </a:lnTo>
                  <a:lnTo>
                    <a:pt x="527977" y="150088"/>
                  </a:lnTo>
                  <a:lnTo>
                    <a:pt x="553415" y="132283"/>
                  </a:lnTo>
                  <a:lnTo>
                    <a:pt x="573328" y="118338"/>
                  </a:lnTo>
                  <a:close/>
                </a:path>
              </a:pathLst>
            </a:custGeom>
            <a:solidFill>
              <a:srgbClr val="A6A6A6"/>
            </a:solidFill>
          </p:spPr>
          <p:txBody>
            <a:bodyPr wrap="square" lIns="0" tIns="0" rIns="0" bIns="0" rtlCol="0"/>
            <a:lstStyle/>
            <a:p>
              <a:pPr defTabSz="457063"/>
              <a:endParaRPr sz="1798">
                <a:solidFill>
                  <a:srgbClr val="37424A"/>
                </a:solidFill>
                <a:latin typeface="Arial Narrow"/>
              </a:endParaRPr>
            </a:p>
          </p:txBody>
        </p:sp>
        <p:pic>
          <p:nvPicPr>
            <p:cNvPr id="172" name="object 79">
              <a:extLst>
                <a:ext uri="{FF2B5EF4-FFF2-40B4-BE49-F238E27FC236}">
                  <a16:creationId xmlns:a16="http://schemas.microsoft.com/office/drawing/2014/main" id="{8E3C8AEA-0B7D-D37E-8355-5000E2C93A37}"/>
                </a:ext>
              </a:extLst>
            </p:cNvPr>
            <p:cNvPicPr/>
            <p:nvPr/>
          </p:nvPicPr>
          <p:blipFill>
            <a:blip r:embed="rId16" cstate="screen">
              <a:extLst>
                <a:ext uri="{28A0092B-C50C-407E-A947-70E740481C1C}">
                  <a14:useLocalDpi xmlns:a14="http://schemas.microsoft.com/office/drawing/2010/main"/>
                </a:ext>
              </a:extLst>
            </a:blip>
            <a:stretch>
              <a:fillRect/>
            </a:stretch>
          </p:blipFill>
          <p:spPr>
            <a:xfrm>
              <a:off x="6118510" y="2789358"/>
              <a:ext cx="161043" cy="161259"/>
            </a:xfrm>
            <a:prstGeom prst="rect">
              <a:avLst/>
            </a:prstGeom>
          </p:spPr>
        </p:pic>
        <p:sp>
          <p:nvSpPr>
            <p:cNvPr id="173" name="object 80">
              <a:extLst>
                <a:ext uri="{FF2B5EF4-FFF2-40B4-BE49-F238E27FC236}">
                  <a16:creationId xmlns:a16="http://schemas.microsoft.com/office/drawing/2014/main" id="{88EB73EB-F551-CE4A-9EA6-228A000BE292}"/>
                </a:ext>
              </a:extLst>
            </p:cNvPr>
            <p:cNvSpPr/>
            <p:nvPr/>
          </p:nvSpPr>
          <p:spPr>
            <a:xfrm>
              <a:off x="5988278" y="2493390"/>
              <a:ext cx="120014" cy="273685"/>
            </a:xfrm>
            <a:custGeom>
              <a:avLst/>
              <a:gdLst/>
              <a:ahLst/>
              <a:cxnLst/>
              <a:rect l="l" t="t" r="r" b="b"/>
              <a:pathLst>
                <a:path w="120014" h="273685">
                  <a:moveTo>
                    <a:pt x="19621" y="36093"/>
                  </a:moveTo>
                  <a:lnTo>
                    <a:pt x="11874" y="0"/>
                  </a:lnTo>
                  <a:lnTo>
                    <a:pt x="0" y="2933"/>
                  </a:lnTo>
                  <a:lnTo>
                    <a:pt x="7696" y="39103"/>
                  </a:lnTo>
                  <a:lnTo>
                    <a:pt x="19621" y="36093"/>
                  </a:lnTo>
                  <a:close/>
                </a:path>
                <a:path w="120014" h="273685">
                  <a:moveTo>
                    <a:pt x="43992" y="116725"/>
                  </a:moveTo>
                  <a:lnTo>
                    <a:pt x="40906" y="108673"/>
                  </a:lnTo>
                  <a:lnTo>
                    <a:pt x="29425" y="73279"/>
                  </a:lnTo>
                  <a:lnTo>
                    <a:pt x="28879" y="71208"/>
                  </a:lnTo>
                  <a:lnTo>
                    <a:pt x="17170" y="74764"/>
                  </a:lnTo>
                  <a:lnTo>
                    <a:pt x="17957" y="77482"/>
                  </a:lnTo>
                  <a:lnTo>
                    <a:pt x="29578" y="113385"/>
                  </a:lnTo>
                  <a:lnTo>
                    <a:pt x="32626" y="121500"/>
                  </a:lnTo>
                  <a:lnTo>
                    <a:pt x="43992" y="116725"/>
                  </a:lnTo>
                  <a:close/>
                </a:path>
                <a:path w="120014" h="273685">
                  <a:moveTo>
                    <a:pt x="77533" y="193992"/>
                  </a:moveTo>
                  <a:lnTo>
                    <a:pt x="68681" y="176403"/>
                  </a:lnTo>
                  <a:lnTo>
                    <a:pt x="57200" y="150380"/>
                  </a:lnTo>
                  <a:lnTo>
                    <a:pt x="46164" y="155676"/>
                  </a:lnTo>
                  <a:lnTo>
                    <a:pt x="57810" y="182321"/>
                  </a:lnTo>
                  <a:lnTo>
                    <a:pt x="66662" y="199898"/>
                  </a:lnTo>
                  <a:lnTo>
                    <a:pt x="77533" y="193992"/>
                  </a:lnTo>
                  <a:close/>
                </a:path>
                <a:path w="120014" h="273685">
                  <a:moveTo>
                    <a:pt x="119621" y="266674"/>
                  </a:moveTo>
                  <a:lnTo>
                    <a:pt x="102717" y="240118"/>
                  </a:lnTo>
                  <a:lnTo>
                    <a:pt x="94551" y="225691"/>
                  </a:lnTo>
                  <a:lnTo>
                    <a:pt x="84010" y="232117"/>
                  </a:lnTo>
                  <a:lnTo>
                    <a:pt x="92430" y="247015"/>
                  </a:lnTo>
                  <a:lnTo>
                    <a:pt x="109334" y="273570"/>
                  </a:lnTo>
                  <a:lnTo>
                    <a:pt x="119621" y="266674"/>
                  </a:lnTo>
                  <a:close/>
                </a:path>
              </a:pathLst>
            </a:custGeom>
            <a:solidFill>
              <a:srgbClr val="A6A6A6"/>
            </a:solidFill>
          </p:spPr>
          <p:txBody>
            <a:bodyPr wrap="square" lIns="0" tIns="0" rIns="0" bIns="0" rtlCol="0"/>
            <a:lstStyle/>
            <a:p>
              <a:pPr defTabSz="457063"/>
              <a:endParaRPr sz="1798">
                <a:solidFill>
                  <a:srgbClr val="37424A"/>
                </a:solidFill>
                <a:latin typeface="Arial Narrow"/>
              </a:endParaRPr>
            </a:p>
          </p:txBody>
        </p:sp>
        <p:pic>
          <p:nvPicPr>
            <p:cNvPr id="174" name="object 81">
              <a:extLst>
                <a:ext uri="{FF2B5EF4-FFF2-40B4-BE49-F238E27FC236}">
                  <a16:creationId xmlns:a16="http://schemas.microsoft.com/office/drawing/2014/main" id="{0E013699-2B65-E477-F6CD-C4B41956C607}"/>
                </a:ext>
              </a:extLst>
            </p:cNvPr>
            <p:cNvPicPr/>
            <p:nvPr/>
          </p:nvPicPr>
          <p:blipFill>
            <a:blip r:embed="rId17" cstate="screen">
              <a:extLst>
                <a:ext uri="{28A0092B-C50C-407E-A947-70E740481C1C}">
                  <a14:useLocalDpi xmlns:a14="http://schemas.microsoft.com/office/drawing/2010/main"/>
                </a:ext>
              </a:extLst>
            </a:blip>
            <a:stretch>
              <a:fillRect/>
            </a:stretch>
          </p:blipFill>
          <p:spPr>
            <a:xfrm>
              <a:off x="3916594" y="3088447"/>
              <a:ext cx="99098" cy="91260"/>
            </a:xfrm>
            <a:prstGeom prst="rect">
              <a:avLst/>
            </a:prstGeom>
          </p:spPr>
        </p:pic>
        <p:sp>
          <p:nvSpPr>
            <p:cNvPr id="175" name="object 82">
              <a:extLst>
                <a:ext uri="{FF2B5EF4-FFF2-40B4-BE49-F238E27FC236}">
                  <a16:creationId xmlns:a16="http://schemas.microsoft.com/office/drawing/2014/main" id="{AC935734-35EE-605E-A108-D512E23165E3}"/>
                </a:ext>
              </a:extLst>
            </p:cNvPr>
            <p:cNvSpPr/>
            <p:nvPr/>
          </p:nvSpPr>
          <p:spPr>
            <a:xfrm>
              <a:off x="2860560" y="2806433"/>
              <a:ext cx="1019175" cy="543560"/>
            </a:xfrm>
            <a:custGeom>
              <a:avLst/>
              <a:gdLst/>
              <a:ahLst/>
              <a:cxnLst/>
              <a:rect l="l" t="t" r="r" b="b"/>
              <a:pathLst>
                <a:path w="1019175" h="543560">
                  <a:moveTo>
                    <a:pt x="30784" y="50660"/>
                  </a:moveTo>
                  <a:lnTo>
                    <a:pt x="12700" y="0"/>
                  </a:lnTo>
                  <a:lnTo>
                    <a:pt x="0" y="13169"/>
                  </a:lnTo>
                  <a:lnTo>
                    <a:pt x="18059" y="63969"/>
                  </a:lnTo>
                  <a:lnTo>
                    <a:pt x="30784" y="50660"/>
                  </a:lnTo>
                  <a:close/>
                </a:path>
                <a:path w="1019175" h="543560">
                  <a:moveTo>
                    <a:pt x="79222" y="158711"/>
                  </a:moveTo>
                  <a:lnTo>
                    <a:pt x="73634" y="148399"/>
                  </a:lnTo>
                  <a:lnTo>
                    <a:pt x="51498" y="101523"/>
                  </a:lnTo>
                  <a:lnTo>
                    <a:pt x="50342" y="98704"/>
                  </a:lnTo>
                  <a:lnTo>
                    <a:pt x="37998" y="112699"/>
                  </a:lnTo>
                  <a:lnTo>
                    <a:pt x="39585" y="116370"/>
                  </a:lnTo>
                  <a:lnTo>
                    <a:pt x="62026" y="163918"/>
                  </a:lnTo>
                  <a:lnTo>
                    <a:pt x="67576" y="174371"/>
                  </a:lnTo>
                  <a:lnTo>
                    <a:pt x="79222" y="158711"/>
                  </a:lnTo>
                  <a:close/>
                </a:path>
                <a:path w="1019175" h="543560">
                  <a:moveTo>
                    <a:pt x="137185" y="254914"/>
                  </a:moveTo>
                  <a:lnTo>
                    <a:pt x="122618" y="233895"/>
                  </a:lnTo>
                  <a:lnTo>
                    <a:pt x="102882" y="201637"/>
                  </a:lnTo>
                  <a:lnTo>
                    <a:pt x="91744" y="217868"/>
                  </a:lnTo>
                  <a:lnTo>
                    <a:pt x="111823" y="250964"/>
                  </a:lnTo>
                  <a:lnTo>
                    <a:pt x="126390" y="271970"/>
                  </a:lnTo>
                  <a:lnTo>
                    <a:pt x="137185" y="254914"/>
                  </a:lnTo>
                  <a:close/>
                </a:path>
                <a:path w="1019175" h="543560">
                  <a:moveTo>
                    <a:pt x="203619" y="337832"/>
                  </a:moveTo>
                  <a:lnTo>
                    <a:pt x="177609" y="308648"/>
                  </a:lnTo>
                  <a:lnTo>
                    <a:pt x="164642" y="292061"/>
                  </a:lnTo>
                  <a:lnTo>
                    <a:pt x="154355" y="309689"/>
                  </a:lnTo>
                  <a:lnTo>
                    <a:pt x="167741" y="326834"/>
                  </a:lnTo>
                  <a:lnTo>
                    <a:pt x="193751" y="356006"/>
                  </a:lnTo>
                  <a:lnTo>
                    <a:pt x="203619" y="337832"/>
                  </a:lnTo>
                  <a:close/>
                </a:path>
                <a:path w="1019175" h="543560">
                  <a:moveTo>
                    <a:pt x="277583" y="405409"/>
                  </a:moveTo>
                  <a:lnTo>
                    <a:pt x="270421" y="400075"/>
                  </a:lnTo>
                  <a:lnTo>
                    <a:pt x="238163" y="372364"/>
                  </a:lnTo>
                  <a:lnTo>
                    <a:pt x="234480" y="368630"/>
                  </a:lnTo>
                  <a:lnTo>
                    <a:pt x="225120" y="387375"/>
                  </a:lnTo>
                  <a:lnTo>
                    <a:pt x="229349" y="391541"/>
                  </a:lnTo>
                  <a:lnTo>
                    <a:pt x="262051" y="419671"/>
                  </a:lnTo>
                  <a:lnTo>
                    <a:pt x="269265" y="425157"/>
                  </a:lnTo>
                  <a:lnTo>
                    <a:pt x="277583" y="405409"/>
                  </a:lnTo>
                  <a:close/>
                </a:path>
                <a:path w="1019175" h="543560">
                  <a:moveTo>
                    <a:pt x="358482" y="458127"/>
                  </a:moveTo>
                  <a:lnTo>
                    <a:pt x="338137" y="447192"/>
                  </a:lnTo>
                  <a:lnTo>
                    <a:pt x="311442" y="429933"/>
                  </a:lnTo>
                  <a:lnTo>
                    <a:pt x="303695" y="449973"/>
                  </a:lnTo>
                  <a:lnTo>
                    <a:pt x="330974" y="467525"/>
                  </a:lnTo>
                  <a:lnTo>
                    <a:pt x="351307" y="478459"/>
                  </a:lnTo>
                  <a:lnTo>
                    <a:pt x="358482" y="458127"/>
                  </a:lnTo>
                  <a:close/>
                </a:path>
                <a:path w="1019175" h="543560">
                  <a:moveTo>
                    <a:pt x="444703" y="495439"/>
                  </a:moveTo>
                  <a:lnTo>
                    <a:pt x="410146" y="482828"/>
                  </a:lnTo>
                  <a:lnTo>
                    <a:pt x="394804" y="475945"/>
                  </a:lnTo>
                  <a:lnTo>
                    <a:pt x="388213" y="496557"/>
                  </a:lnTo>
                  <a:lnTo>
                    <a:pt x="404037" y="503707"/>
                  </a:lnTo>
                  <a:lnTo>
                    <a:pt x="438683" y="516343"/>
                  </a:lnTo>
                  <a:lnTo>
                    <a:pt x="444703" y="495439"/>
                  </a:lnTo>
                  <a:close/>
                </a:path>
                <a:path w="1019175" h="543560">
                  <a:moveTo>
                    <a:pt x="535216" y="516331"/>
                  </a:moveTo>
                  <a:lnTo>
                    <a:pt x="524522" y="514921"/>
                  </a:lnTo>
                  <a:lnTo>
                    <a:pt x="485584" y="507047"/>
                  </a:lnTo>
                  <a:lnTo>
                    <a:pt x="483146" y="506463"/>
                  </a:lnTo>
                  <a:lnTo>
                    <a:pt x="477735" y="527519"/>
                  </a:lnTo>
                  <a:lnTo>
                    <a:pt x="480771" y="528256"/>
                  </a:lnTo>
                  <a:lnTo>
                    <a:pt x="520319" y="536270"/>
                  </a:lnTo>
                  <a:lnTo>
                    <a:pt x="531050" y="537552"/>
                  </a:lnTo>
                  <a:lnTo>
                    <a:pt x="535216" y="516331"/>
                  </a:lnTo>
                  <a:close/>
                </a:path>
                <a:path w="1019175" h="543560">
                  <a:moveTo>
                    <a:pt x="629373" y="521119"/>
                  </a:moveTo>
                  <a:lnTo>
                    <a:pt x="604342" y="521881"/>
                  </a:lnTo>
                  <a:lnTo>
                    <a:pt x="575157" y="520420"/>
                  </a:lnTo>
                  <a:lnTo>
                    <a:pt x="571601" y="541782"/>
                  </a:lnTo>
                  <a:lnTo>
                    <a:pt x="601459" y="543102"/>
                  </a:lnTo>
                  <a:lnTo>
                    <a:pt x="626364" y="542467"/>
                  </a:lnTo>
                  <a:lnTo>
                    <a:pt x="629373" y="521119"/>
                  </a:lnTo>
                  <a:close/>
                </a:path>
                <a:path w="1019175" h="543560">
                  <a:moveTo>
                    <a:pt x="725474" y="510425"/>
                  </a:moveTo>
                  <a:lnTo>
                    <a:pt x="686371" y="516839"/>
                  </a:lnTo>
                  <a:lnTo>
                    <a:pt x="670331" y="518452"/>
                  </a:lnTo>
                  <a:lnTo>
                    <a:pt x="668007" y="539661"/>
                  </a:lnTo>
                  <a:lnTo>
                    <a:pt x="684771" y="538086"/>
                  </a:lnTo>
                  <a:lnTo>
                    <a:pt x="723887" y="531672"/>
                  </a:lnTo>
                  <a:lnTo>
                    <a:pt x="725474" y="510425"/>
                  </a:lnTo>
                  <a:close/>
                </a:path>
                <a:path w="1019175" h="543560">
                  <a:moveTo>
                    <a:pt x="822744" y="504037"/>
                  </a:moveTo>
                  <a:lnTo>
                    <a:pt x="822452" y="483374"/>
                  </a:lnTo>
                  <a:lnTo>
                    <a:pt x="812406" y="487197"/>
                  </a:lnTo>
                  <a:lnTo>
                    <a:pt x="770077" y="499986"/>
                  </a:lnTo>
                  <a:lnTo>
                    <a:pt x="767130" y="500761"/>
                  </a:lnTo>
                  <a:lnTo>
                    <a:pt x="766127" y="521843"/>
                  </a:lnTo>
                  <a:lnTo>
                    <a:pt x="769747" y="520941"/>
                  </a:lnTo>
                  <a:lnTo>
                    <a:pt x="812698" y="507847"/>
                  </a:lnTo>
                  <a:lnTo>
                    <a:pt x="822744" y="504037"/>
                  </a:lnTo>
                  <a:close/>
                </a:path>
                <a:path w="1019175" h="543560">
                  <a:moveTo>
                    <a:pt x="921232" y="460946"/>
                  </a:moveTo>
                  <a:lnTo>
                    <a:pt x="919607" y="440855"/>
                  </a:lnTo>
                  <a:lnTo>
                    <a:pt x="897521" y="452170"/>
                  </a:lnTo>
                  <a:lnTo>
                    <a:pt x="864171" y="467004"/>
                  </a:lnTo>
                  <a:lnTo>
                    <a:pt x="865060" y="487514"/>
                  </a:lnTo>
                  <a:lnTo>
                    <a:pt x="899121" y="472401"/>
                  </a:lnTo>
                  <a:lnTo>
                    <a:pt x="921232" y="460946"/>
                  </a:lnTo>
                  <a:close/>
                </a:path>
                <a:path w="1019175" h="543560">
                  <a:moveTo>
                    <a:pt x="1018565" y="402653"/>
                  </a:moveTo>
                  <a:lnTo>
                    <a:pt x="1015530" y="383413"/>
                  </a:lnTo>
                  <a:lnTo>
                    <a:pt x="982929" y="404990"/>
                  </a:lnTo>
                  <a:lnTo>
                    <a:pt x="960907" y="417957"/>
                  </a:lnTo>
                  <a:lnTo>
                    <a:pt x="963155" y="437756"/>
                  </a:lnTo>
                  <a:lnTo>
                    <a:pt x="985850" y="424345"/>
                  </a:lnTo>
                  <a:lnTo>
                    <a:pt x="1018565" y="402653"/>
                  </a:lnTo>
                  <a:close/>
                </a:path>
              </a:pathLst>
            </a:custGeom>
            <a:solidFill>
              <a:srgbClr val="A6A6A6"/>
            </a:solidFill>
          </p:spPr>
          <p:txBody>
            <a:bodyPr wrap="square" lIns="0" tIns="0" rIns="0" bIns="0" rtlCol="0"/>
            <a:lstStyle/>
            <a:p>
              <a:pPr defTabSz="457063"/>
              <a:endParaRPr sz="1798">
                <a:solidFill>
                  <a:srgbClr val="37424A"/>
                </a:solidFill>
                <a:latin typeface="Arial Narrow"/>
              </a:endParaRPr>
            </a:p>
          </p:txBody>
        </p:sp>
        <p:sp>
          <p:nvSpPr>
            <p:cNvPr id="176" name="object 83">
              <a:extLst>
                <a:ext uri="{FF2B5EF4-FFF2-40B4-BE49-F238E27FC236}">
                  <a16:creationId xmlns:a16="http://schemas.microsoft.com/office/drawing/2014/main" id="{B5BDF04D-AD9E-0EEE-45F0-BF8D6BB31113}"/>
                </a:ext>
              </a:extLst>
            </p:cNvPr>
            <p:cNvSpPr/>
            <p:nvPr/>
          </p:nvSpPr>
          <p:spPr>
            <a:xfrm>
              <a:off x="4030978" y="2264664"/>
              <a:ext cx="812165" cy="901065"/>
            </a:xfrm>
            <a:custGeom>
              <a:avLst/>
              <a:gdLst/>
              <a:ahLst/>
              <a:cxnLst/>
              <a:rect l="l" t="t" r="r" b="b"/>
              <a:pathLst>
                <a:path w="812164" h="901064">
                  <a:moveTo>
                    <a:pt x="358571" y="0"/>
                  </a:moveTo>
                  <a:lnTo>
                    <a:pt x="420115" y="4114"/>
                  </a:lnTo>
                  <a:lnTo>
                    <a:pt x="479132" y="16090"/>
                  </a:lnTo>
                  <a:lnTo>
                    <a:pt x="535101" y="35394"/>
                  </a:lnTo>
                  <a:lnTo>
                    <a:pt x="587463" y="61480"/>
                  </a:lnTo>
                  <a:lnTo>
                    <a:pt x="635698" y="93827"/>
                  </a:lnTo>
                  <a:lnTo>
                    <a:pt x="679246" y="131902"/>
                  </a:lnTo>
                  <a:lnTo>
                    <a:pt x="717575" y="175145"/>
                  </a:lnTo>
                  <a:lnTo>
                    <a:pt x="750138" y="223037"/>
                  </a:lnTo>
                  <a:lnTo>
                    <a:pt x="776414" y="275031"/>
                  </a:lnTo>
                  <a:lnTo>
                    <a:pt x="795845" y="330606"/>
                  </a:lnTo>
                  <a:lnTo>
                    <a:pt x="807910" y="389204"/>
                  </a:lnTo>
                  <a:lnTo>
                    <a:pt x="812050" y="450303"/>
                  </a:lnTo>
                  <a:lnTo>
                    <a:pt x="810996" y="481126"/>
                  </a:lnTo>
                  <a:lnTo>
                    <a:pt x="802830" y="541045"/>
                  </a:lnTo>
                  <a:lnTo>
                    <a:pt x="787018" y="598195"/>
                  </a:lnTo>
                  <a:lnTo>
                    <a:pt x="764095" y="652043"/>
                  </a:lnTo>
                  <a:lnTo>
                    <a:pt x="734606" y="702056"/>
                  </a:lnTo>
                  <a:lnTo>
                    <a:pt x="699096" y="747699"/>
                  </a:lnTo>
                  <a:lnTo>
                    <a:pt x="658088" y="788416"/>
                  </a:lnTo>
                  <a:lnTo>
                    <a:pt x="612127" y="823696"/>
                  </a:lnTo>
                  <a:lnTo>
                    <a:pt x="561771" y="852982"/>
                  </a:lnTo>
                  <a:lnTo>
                    <a:pt x="507530" y="875741"/>
                  </a:lnTo>
                  <a:lnTo>
                    <a:pt x="449973" y="891451"/>
                  </a:lnTo>
                  <a:lnTo>
                    <a:pt x="389623" y="899566"/>
                  </a:lnTo>
                  <a:lnTo>
                    <a:pt x="358571" y="900607"/>
                  </a:lnTo>
                  <a:lnTo>
                    <a:pt x="326364" y="899464"/>
                  </a:lnTo>
                  <a:lnTo>
                    <a:pt x="263194" y="890536"/>
                  </a:lnTo>
                  <a:lnTo>
                    <a:pt x="202412" y="873061"/>
                  </a:lnTo>
                  <a:lnTo>
                    <a:pt x="144856" y="847458"/>
                  </a:lnTo>
                  <a:lnTo>
                    <a:pt x="91376" y="814146"/>
                  </a:lnTo>
                  <a:lnTo>
                    <a:pt x="42811" y="773518"/>
                  </a:lnTo>
                  <a:lnTo>
                    <a:pt x="20637" y="750595"/>
                  </a:lnTo>
                  <a:lnTo>
                    <a:pt x="0" y="725995"/>
                  </a:lnTo>
                </a:path>
              </a:pathLst>
            </a:custGeom>
            <a:ln w="15239">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77" name="object 84">
              <a:extLst>
                <a:ext uri="{FF2B5EF4-FFF2-40B4-BE49-F238E27FC236}">
                  <a16:creationId xmlns:a16="http://schemas.microsoft.com/office/drawing/2014/main" id="{44EAB22A-12C4-30FD-60E5-5E92A942C467}"/>
                </a:ext>
              </a:extLst>
            </p:cNvPr>
            <p:cNvSpPr/>
            <p:nvPr/>
          </p:nvSpPr>
          <p:spPr>
            <a:xfrm>
              <a:off x="3977633" y="2305812"/>
              <a:ext cx="824865" cy="818515"/>
            </a:xfrm>
            <a:custGeom>
              <a:avLst/>
              <a:gdLst/>
              <a:ahLst/>
              <a:cxnLst/>
              <a:rect l="l" t="t" r="r" b="b"/>
              <a:pathLst>
                <a:path w="824864" h="818514">
                  <a:moveTo>
                    <a:pt x="412165" y="0"/>
                  </a:moveTo>
                  <a:lnTo>
                    <a:pt x="473062" y="4432"/>
                  </a:lnTo>
                  <a:lnTo>
                    <a:pt x="531202" y="17322"/>
                  </a:lnTo>
                  <a:lnTo>
                    <a:pt x="585914" y="38011"/>
                  </a:lnTo>
                  <a:lnTo>
                    <a:pt x="636587" y="65900"/>
                  </a:lnTo>
                  <a:lnTo>
                    <a:pt x="682561" y="100330"/>
                  </a:lnTo>
                  <a:lnTo>
                    <a:pt x="723226" y="140677"/>
                  </a:lnTo>
                  <a:lnTo>
                    <a:pt x="757923" y="186309"/>
                  </a:lnTo>
                  <a:lnTo>
                    <a:pt x="786015" y="236588"/>
                  </a:lnTo>
                  <a:lnTo>
                    <a:pt x="806869" y="290893"/>
                  </a:lnTo>
                  <a:lnTo>
                    <a:pt x="819861" y="348589"/>
                  </a:lnTo>
                  <a:lnTo>
                    <a:pt x="824331" y="409028"/>
                  </a:lnTo>
                  <a:lnTo>
                    <a:pt x="823201" y="439559"/>
                  </a:lnTo>
                  <a:lnTo>
                    <a:pt x="814387" y="498703"/>
                  </a:lnTo>
                  <a:lnTo>
                    <a:pt x="797394" y="554786"/>
                  </a:lnTo>
                  <a:lnTo>
                    <a:pt x="772833" y="607161"/>
                  </a:lnTo>
                  <a:lnTo>
                    <a:pt x="741362" y="655193"/>
                  </a:lnTo>
                  <a:lnTo>
                    <a:pt x="703605" y="698258"/>
                  </a:lnTo>
                  <a:lnTo>
                    <a:pt x="660196" y="735736"/>
                  </a:lnTo>
                  <a:lnTo>
                    <a:pt x="611797" y="766965"/>
                  </a:lnTo>
                  <a:lnTo>
                    <a:pt x="559028" y="791337"/>
                  </a:lnTo>
                  <a:lnTo>
                    <a:pt x="502513" y="808202"/>
                  </a:lnTo>
                  <a:lnTo>
                    <a:pt x="442925" y="816940"/>
                  </a:lnTo>
                  <a:lnTo>
                    <a:pt x="412165" y="818057"/>
                  </a:lnTo>
                  <a:lnTo>
                    <a:pt x="381406" y="816940"/>
                  </a:lnTo>
                  <a:lnTo>
                    <a:pt x="321818" y="808202"/>
                  </a:lnTo>
                  <a:lnTo>
                    <a:pt x="265315" y="791337"/>
                  </a:lnTo>
                  <a:lnTo>
                    <a:pt x="212534" y="766965"/>
                  </a:lnTo>
                  <a:lnTo>
                    <a:pt x="164134" y="735736"/>
                  </a:lnTo>
                  <a:lnTo>
                    <a:pt x="120726" y="698258"/>
                  </a:lnTo>
                  <a:lnTo>
                    <a:pt x="82969" y="655193"/>
                  </a:lnTo>
                  <a:lnTo>
                    <a:pt x="51498" y="607161"/>
                  </a:lnTo>
                  <a:lnTo>
                    <a:pt x="26936" y="554786"/>
                  </a:lnTo>
                  <a:lnTo>
                    <a:pt x="9944" y="498703"/>
                  </a:lnTo>
                  <a:lnTo>
                    <a:pt x="1130" y="439559"/>
                  </a:lnTo>
                  <a:lnTo>
                    <a:pt x="0" y="409028"/>
                  </a:lnTo>
                  <a:lnTo>
                    <a:pt x="1435" y="374980"/>
                  </a:lnTo>
                  <a:lnTo>
                    <a:pt x="12700" y="308279"/>
                  </a:lnTo>
                  <a:lnTo>
                    <a:pt x="34810" y="244525"/>
                  </a:lnTo>
                  <a:lnTo>
                    <a:pt x="67284" y="185051"/>
                  </a:lnTo>
                  <a:lnTo>
                    <a:pt x="87287" y="157327"/>
                  </a:lnTo>
                </a:path>
              </a:pathLst>
            </a:custGeom>
            <a:ln w="15239">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78" name="object 85">
              <a:extLst>
                <a:ext uri="{FF2B5EF4-FFF2-40B4-BE49-F238E27FC236}">
                  <a16:creationId xmlns:a16="http://schemas.microsoft.com/office/drawing/2014/main" id="{78C486C7-5EF7-223A-697E-534B12F19BF1}"/>
                </a:ext>
              </a:extLst>
            </p:cNvPr>
            <p:cNvSpPr/>
            <p:nvPr/>
          </p:nvSpPr>
          <p:spPr>
            <a:xfrm>
              <a:off x="4393691" y="2215896"/>
              <a:ext cx="498475" cy="693420"/>
            </a:xfrm>
            <a:custGeom>
              <a:avLst/>
              <a:gdLst/>
              <a:ahLst/>
              <a:cxnLst/>
              <a:rect l="l" t="t" r="r" b="b"/>
              <a:pathLst>
                <a:path w="498475" h="693419">
                  <a:moveTo>
                    <a:pt x="0" y="0"/>
                  </a:moveTo>
                  <a:lnTo>
                    <a:pt x="62496" y="3860"/>
                  </a:lnTo>
                  <a:lnTo>
                    <a:pt x="122682" y="15125"/>
                  </a:lnTo>
                  <a:lnTo>
                    <a:pt x="180086" y="33350"/>
                  </a:lnTo>
                  <a:lnTo>
                    <a:pt x="234238" y="58039"/>
                  </a:lnTo>
                  <a:lnTo>
                    <a:pt x="284670" y="88760"/>
                  </a:lnTo>
                  <a:lnTo>
                    <a:pt x="330911" y="125031"/>
                  </a:lnTo>
                  <a:lnTo>
                    <a:pt x="372516" y="166382"/>
                  </a:lnTo>
                  <a:lnTo>
                    <a:pt x="408990" y="212369"/>
                  </a:lnTo>
                  <a:lnTo>
                    <a:pt x="439889" y="262496"/>
                  </a:lnTo>
                  <a:lnTo>
                    <a:pt x="464731" y="316331"/>
                  </a:lnTo>
                  <a:lnTo>
                    <a:pt x="483044" y="373392"/>
                  </a:lnTo>
                  <a:lnTo>
                    <a:pt x="494385" y="433222"/>
                  </a:lnTo>
                  <a:lnTo>
                    <a:pt x="498271" y="495363"/>
                  </a:lnTo>
                  <a:lnTo>
                    <a:pt x="497090" y="529323"/>
                  </a:lnTo>
                  <a:lnTo>
                    <a:pt x="493598" y="563041"/>
                  </a:lnTo>
                  <a:lnTo>
                    <a:pt x="487806" y="596404"/>
                  </a:lnTo>
                  <a:lnTo>
                    <a:pt x="479729" y="629285"/>
                  </a:lnTo>
                  <a:lnTo>
                    <a:pt x="469392" y="661593"/>
                  </a:lnTo>
                  <a:lnTo>
                    <a:pt x="456831" y="693178"/>
                  </a:lnTo>
                </a:path>
              </a:pathLst>
            </a:custGeom>
            <a:ln w="15240">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79" name="object 86">
              <a:extLst>
                <a:ext uri="{FF2B5EF4-FFF2-40B4-BE49-F238E27FC236}">
                  <a16:creationId xmlns:a16="http://schemas.microsoft.com/office/drawing/2014/main" id="{AAE69199-7B60-6C4B-D7A0-9BAE629B3AD6}"/>
                </a:ext>
              </a:extLst>
            </p:cNvPr>
            <p:cNvSpPr/>
            <p:nvPr/>
          </p:nvSpPr>
          <p:spPr>
            <a:xfrm>
              <a:off x="4029452" y="2350008"/>
              <a:ext cx="728980" cy="723900"/>
            </a:xfrm>
            <a:custGeom>
              <a:avLst/>
              <a:gdLst/>
              <a:ahLst/>
              <a:cxnLst/>
              <a:rect l="l" t="t" r="r" b="b"/>
              <a:pathLst>
                <a:path w="728979" h="723900">
                  <a:moveTo>
                    <a:pt x="364197" y="0"/>
                  </a:moveTo>
                  <a:lnTo>
                    <a:pt x="302082" y="5245"/>
                  </a:lnTo>
                  <a:lnTo>
                    <a:pt x="243382" y="20383"/>
                  </a:lnTo>
                  <a:lnTo>
                    <a:pt x="188963" y="44564"/>
                  </a:lnTo>
                  <a:lnTo>
                    <a:pt x="139700" y="76898"/>
                  </a:lnTo>
                  <a:lnTo>
                    <a:pt x="96469" y="116535"/>
                  </a:lnTo>
                  <a:lnTo>
                    <a:pt x="60147" y="162598"/>
                  </a:lnTo>
                  <a:lnTo>
                    <a:pt x="31597" y="214223"/>
                  </a:lnTo>
                  <a:lnTo>
                    <a:pt x="11709" y="270548"/>
                  </a:lnTo>
                  <a:lnTo>
                    <a:pt x="1346" y="330682"/>
                  </a:lnTo>
                  <a:lnTo>
                    <a:pt x="0" y="361911"/>
                  </a:lnTo>
                  <a:lnTo>
                    <a:pt x="1346" y="393141"/>
                  </a:lnTo>
                  <a:lnTo>
                    <a:pt x="11709" y="453275"/>
                  </a:lnTo>
                  <a:lnTo>
                    <a:pt x="31597" y="509587"/>
                  </a:lnTo>
                  <a:lnTo>
                    <a:pt x="60147" y="561213"/>
                  </a:lnTo>
                  <a:lnTo>
                    <a:pt x="96469" y="607275"/>
                  </a:lnTo>
                  <a:lnTo>
                    <a:pt x="139700" y="646912"/>
                  </a:lnTo>
                  <a:lnTo>
                    <a:pt x="188963" y="679259"/>
                  </a:lnTo>
                  <a:lnTo>
                    <a:pt x="243382" y="703440"/>
                  </a:lnTo>
                  <a:lnTo>
                    <a:pt x="302082" y="718578"/>
                  </a:lnTo>
                  <a:lnTo>
                    <a:pt x="364197" y="723823"/>
                  </a:lnTo>
                  <a:lnTo>
                    <a:pt x="395630" y="722490"/>
                  </a:lnTo>
                  <a:lnTo>
                    <a:pt x="456145" y="712190"/>
                  </a:lnTo>
                  <a:lnTo>
                    <a:pt x="512813" y="692416"/>
                  </a:lnTo>
                  <a:lnTo>
                    <a:pt x="564756" y="664057"/>
                  </a:lnTo>
                  <a:lnTo>
                    <a:pt x="611124" y="627951"/>
                  </a:lnTo>
                  <a:lnTo>
                    <a:pt x="651002" y="585000"/>
                  </a:lnTo>
                  <a:lnTo>
                    <a:pt x="683552" y="536041"/>
                  </a:lnTo>
                  <a:lnTo>
                    <a:pt x="707885" y="481965"/>
                  </a:lnTo>
                  <a:lnTo>
                    <a:pt x="723125" y="423633"/>
                  </a:lnTo>
                  <a:lnTo>
                    <a:pt x="728395" y="361911"/>
                  </a:lnTo>
                  <a:lnTo>
                    <a:pt x="727062" y="330682"/>
                  </a:lnTo>
                  <a:lnTo>
                    <a:pt x="716686" y="270548"/>
                  </a:lnTo>
                  <a:lnTo>
                    <a:pt x="696798" y="214223"/>
                  </a:lnTo>
                  <a:lnTo>
                    <a:pt x="668248" y="162598"/>
                  </a:lnTo>
                  <a:lnTo>
                    <a:pt x="631926" y="116535"/>
                  </a:lnTo>
                  <a:lnTo>
                    <a:pt x="588695" y="76898"/>
                  </a:lnTo>
                  <a:lnTo>
                    <a:pt x="539432" y="44564"/>
                  </a:lnTo>
                  <a:lnTo>
                    <a:pt x="485013" y="20383"/>
                  </a:lnTo>
                  <a:lnTo>
                    <a:pt x="426313" y="5245"/>
                  </a:lnTo>
                  <a:lnTo>
                    <a:pt x="364197" y="0"/>
                  </a:lnTo>
                  <a:close/>
                </a:path>
              </a:pathLst>
            </a:custGeom>
            <a:solidFill>
              <a:srgbClr val="FFFFFF"/>
            </a:solidFill>
          </p:spPr>
          <p:txBody>
            <a:bodyPr wrap="square" lIns="0" tIns="0" rIns="0" bIns="0" rtlCol="0"/>
            <a:lstStyle/>
            <a:p>
              <a:pPr defTabSz="457063"/>
              <a:endParaRPr sz="1798">
                <a:solidFill>
                  <a:srgbClr val="37424A"/>
                </a:solidFill>
                <a:latin typeface="Arial Narrow"/>
              </a:endParaRPr>
            </a:p>
          </p:txBody>
        </p:sp>
        <p:sp>
          <p:nvSpPr>
            <p:cNvPr id="180" name="object 87">
              <a:extLst>
                <a:ext uri="{FF2B5EF4-FFF2-40B4-BE49-F238E27FC236}">
                  <a16:creationId xmlns:a16="http://schemas.microsoft.com/office/drawing/2014/main" id="{BB1A1BE5-0ED3-17E7-2081-ACDDCC3E7653}"/>
                </a:ext>
              </a:extLst>
            </p:cNvPr>
            <p:cNvSpPr/>
            <p:nvPr/>
          </p:nvSpPr>
          <p:spPr>
            <a:xfrm>
              <a:off x="4030217" y="2350767"/>
              <a:ext cx="728980" cy="723900"/>
            </a:xfrm>
            <a:custGeom>
              <a:avLst/>
              <a:gdLst/>
              <a:ahLst/>
              <a:cxnLst/>
              <a:rect l="l" t="t" r="r" b="b"/>
              <a:pathLst>
                <a:path w="728979" h="723900">
                  <a:moveTo>
                    <a:pt x="0" y="361911"/>
                  </a:moveTo>
                  <a:lnTo>
                    <a:pt x="5270" y="300189"/>
                  </a:lnTo>
                  <a:lnTo>
                    <a:pt x="20510" y="241858"/>
                  </a:lnTo>
                  <a:lnTo>
                    <a:pt x="44843" y="187782"/>
                  </a:lnTo>
                  <a:lnTo>
                    <a:pt x="77393" y="138823"/>
                  </a:lnTo>
                  <a:lnTo>
                    <a:pt x="117271" y="95859"/>
                  </a:lnTo>
                  <a:lnTo>
                    <a:pt x="163626" y="59766"/>
                  </a:lnTo>
                  <a:lnTo>
                    <a:pt x="215582" y="31394"/>
                  </a:lnTo>
                  <a:lnTo>
                    <a:pt x="272249" y="11633"/>
                  </a:lnTo>
                  <a:lnTo>
                    <a:pt x="332765" y="1333"/>
                  </a:lnTo>
                  <a:lnTo>
                    <a:pt x="364197" y="0"/>
                  </a:lnTo>
                  <a:lnTo>
                    <a:pt x="395617" y="1333"/>
                  </a:lnTo>
                  <a:lnTo>
                    <a:pt x="456133" y="11633"/>
                  </a:lnTo>
                  <a:lnTo>
                    <a:pt x="512813" y="31394"/>
                  </a:lnTo>
                  <a:lnTo>
                    <a:pt x="564756" y="59766"/>
                  </a:lnTo>
                  <a:lnTo>
                    <a:pt x="611111" y="95859"/>
                  </a:lnTo>
                  <a:lnTo>
                    <a:pt x="651002" y="138823"/>
                  </a:lnTo>
                  <a:lnTo>
                    <a:pt x="683552" y="187782"/>
                  </a:lnTo>
                  <a:lnTo>
                    <a:pt x="707872" y="241858"/>
                  </a:lnTo>
                  <a:lnTo>
                    <a:pt x="723112" y="300189"/>
                  </a:lnTo>
                  <a:lnTo>
                    <a:pt x="728395" y="361911"/>
                  </a:lnTo>
                  <a:lnTo>
                    <a:pt x="727049" y="393141"/>
                  </a:lnTo>
                  <a:lnTo>
                    <a:pt x="716686" y="453275"/>
                  </a:lnTo>
                  <a:lnTo>
                    <a:pt x="696798" y="509587"/>
                  </a:lnTo>
                  <a:lnTo>
                    <a:pt x="668248" y="561213"/>
                  </a:lnTo>
                  <a:lnTo>
                    <a:pt x="631926" y="607275"/>
                  </a:lnTo>
                  <a:lnTo>
                    <a:pt x="588683" y="646912"/>
                  </a:lnTo>
                  <a:lnTo>
                    <a:pt x="539432" y="679259"/>
                  </a:lnTo>
                  <a:lnTo>
                    <a:pt x="485013" y="703440"/>
                  </a:lnTo>
                  <a:lnTo>
                    <a:pt x="426300" y="718578"/>
                  </a:lnTo>
                  <a:lnTo>
                    <a:pt x="364197" y="723823"/>
                  </a:lnTo>
                  <a:lnTo>
                    <a:pt x="332765" y="722490"/>
                  </a:lnTo>
                  <a:lnTo>
                    <a:pt x="272249" y="712190"/>
                  </a:lnTo>
                  <a:lnTo>
                    <a:pt x="215582" y="692429"/>
                  </a:lnTo>
                  <a:lnTo>
                    <a:pt x="163626" y="664057"/>
                  </a:lnTo>
                  <a:lnTo>
                    <a:pt x="117271" y="627951"/>
                  </a:lnTo>
                  <a:lnTo>
                    <a:pt x="77393" y="585000"/>
                  </a:lnTo>
                  <a:lnTo>
                    <a:pt x="44843" y="536041"/>
                  </a:lnTo>
                  <a:lnTo>
                    <a:pt x="20510" y="481965"/>
                  </a:lnTo>
                  <a:lnTo>
                    <a:pt x="5270" y="423633"/>
                  </a:lnTo>
                  <a:lnTo>
                    <a:pt x="0" y="361911"/>
                  </a:lnTo>
                  <a:close/>
                </a:path>
              </a:pathLst>
            </a:custGeom>
            <a:ln w="19812">
              <a:solidFill>
                <a:srgbClr val="A6A6A6"/>
              </a:solidFill>
            </a:ln>
          </p:spPr>
          <p:txBody>
            <a:bodyPr wrap="square" lIns="0" tIns="0" rIns="0" bIns="0" rtlCol="0"/>
            <a:lstStyle/>
            <a:p>
              <a:pPr defTabSz="457063"/>
              <a:endParaRPr sz="1798">
                <a:solidFill>
                  <a:srgbClr val="37424A"/>
                </a:solidFill>
                <a:latin typeface="Arial Narrow"/>
              </a:endParaRPr>
            </a:p>
          </p:txBody>
        </p:sp>
      </p:grpSp>
      <p:sp>
        <p:nvSpPr>
          <p:cNvPr id="181" name="object 88">
            <a:extLst>
              <a:ext uri="{FF2B5EF4-FFF2-40B4-BE49-F238E27FC236}">
                <a16:creationId xmlns:a16="http://schemas.microsoft.com/office/drawing/2014/main" id="{31A75AD7-A58D-FB09-7CDD-A3F8AD9AEB30}"/>
              </a:ext>
            </a:extLst>
          </p:cNvPr>
          <p:cNvSpPr txBox="1"/>
          <p:nvPr/>
        </p:nvSpPr>
        <p:spPr>
          <a:xfrm>
            <a:off x="4159130" y="2794778"/>
            <a:ext cx="519795" cy="119843"/>
          </a:xfrm>
          <a:prstGeom prst="rect">
            <a:avLst/>
          </a:prstGeom>
        </p:spPr>
        <p:txBody>
          <a:bodyPr vert="horz" wrap="square" lIns="0" tIns="12059" rIns="0" bIns="0" rtlCol="0">
            <a:spAutoFit/>
          </a:bodyPr>
          <a:lstStyle/>
          <a:p>
            <a:pPr marL="12692" defTabSz="457063">
              <a:spcBef>
                <a:spcPts val="95"/>
              </a:spcBef>
            </a:pPr>
            <a:r>
              <a:rPr sz="700" spc="-20">
                <a:solidFill>
                  <a:srgbClr val="37424A"/>
                </a:solidFill>
                <a:latin typeface="Open Sans"/>
                <a:cs typeface="Open Sans"/>
              </a:rPr>
              <a:t>Marketplace</a:t>
            </a:r>
            <a:endParaRPr sz="700">
              <a:solidFill>
                <a:srgbClr val="37424A"/>
              </a:solidFill>
              <a:latin typeface="Open Sans"/>
              <a:cs typeface="Open Sans"/>
            </a:endParaRPr>
          </a:p>
        </p:txBody>
      </p:sp>
      <p:grpSp>
        <p:nvGrpSpPr>
          <p:cNvPr id="182" name="object 89">
            <a:extLst>
              <a:ext uri="{FF2B5EF4-FFF2-40B4-BE49-F238E27FC236}">
                <a16:creationId xmlns:a16="http://schemas.microsoft.com/office/drawing/2014/main" id="{5532B942-D9A8-9552-B112-CCD2045C98EE}"/>
              </a:ext>
            </a:extLst>
          </p:cNvPr>
          <p:cNvGrpSpPr/>
          <p:nvPr/>
        </p:nvGrpSpPr>
        <p:grpSpPr>
          <a:xfrm>
            <a:off x="586492" y="1666650"/>
            <a:ext cx="7626821" cy="2162953"/>
            <a:chOff x="585209" y="1665732"/>
            <a:chExt cx="7630795" cy="2164080"/>
          </a:xfrm>
        </p:grpSpPr>
        <p:pic>
          <p:nvPicPr>
            <p:cNvPr id="183" name="object 90">
              <a:extLst>
                <a:ext uri="{FF2B5EF4-FFF2-40B4-BE49-F238E27FC236}">
                  <a16:creationId xmlns:a16="http://schemas.microsoft.com/office/drawing/2014/main" id="{48243BBF-0A30-E533-4F38-BD8F44616AA0}"/>
                </a:ext>
              </a:extLst>
            </p:cNvPr>
            <p:cNvPicPr/>
            <p:nvPr/>
          </p:nvPicPr>
          <p:blipFill>
            <a:blip r:embed="rId18" cstate="print"/>
            <a:stretch>
              <a:fillRect/>
            </a:stretch>
          </p:blipFill>
          <p:spPr>
            <a:xfrm>
              <a:off x="4134611" y="2412492"/>
              <a:ext cx="512063" cy="207263"/>
            </a:xfrm>
            <a:prstGeom prst="rect">
              <a:avLst/>
            </a:prstGeom>
          </p:spPr>
        </p:pic>
        <p:pic>
          <p:nvPicPr>
            <p:cNvPr id="184" name="object 91">
              <a:extLst>
                <a:ext uri="{FF2B5EF4-FFF2-40B4-BE49-F238E27FC236}">
                  <a16:creationId xmlns:a16="http://schemas.microsoft.com/office/drawing/2014/main" id="{C589BE1C-C3C1-A588-0DAE-300878C7FE83}"/>
                </a:ext>
              </a:extLst>
            </p:cNvPr>
            <p:cNvPicPr/>
            <p:nvPr/>
          </p:nvPicPr>
          <p:blipFill>
            <a:blip r:embed="rId19" cstate="screen">
              <a:extLst>
                <a:ext uri="{28A0092B-C50C-407E-A947-70E740481C1C}">
                  <a14:useLocalDpi xmlns:a14="http://schemas.microsoft.com/office/drawing/2010/main"/>
                </a:ext>
              </a:extLst>
            </a:blip>
            <a:stretch>
              <a:fillRect/>
            </a:stretch>
          </p:blipFill>
          <p:spPr>
            <a:xfrm>
              <a:off x="4360164" y="2653284"/>
              <a:ext cx="102108" cy="102104"/>
            </a:xfrm>
            <a:prstGeom prst="rect">
              <a:avLst/>
            </a:prstGeom>
          </p:spPr>
        </p:pic>
        <p:sp>
          <p:nvSpPr>
            <p:cNvPr id="185" name="object 92">
              <a:extLst>
                <a:ext uri="{FF2B5EF4-FFF2-40B4-BE49-F238E27FC236}">
                  <a16:creationId xmlns:a16="http://schemas.microsoft.com/office/drawing/2014/main" id="{12DC5069-70DB-1D89-F599-F94B21D76343}"/>
                </a:ext>
              </a:extLst>
            </p:cNvPr>
            <p:cNvSpPr/>
            <p:nvPr/>
          </p:nvSpPr>
          <p:spPr>
            <a:xfrm>
              <a:off x="7347203" y="1801368"/>
              <a:ext cx="812165" cy="901065"/>
            </a:xfrm>
            <a:custGeom>
              <a:avLst/>
              <a:gdLst/>
              <a:ahLst/>
              <a:cxnLst/>
              <a:rect l="l" t="t" r="r" b="b"/>
              <a:pathLst>
                <a:path w="812165" h="901064">
                  <a:moveTo>
                    <a:pt x="358571" y="0"/>
                  </a:moveTo>
                  <a:lnTo>
                    <a:pt x="420116" y="4114"/>
                  </a:lnTo>
                  <a:lnTo>
                    <a:pt x="479132" y="16090"/>
                  </a:lnTo>
                  <a:lnTo>
                    <a:pt x="535101" y="35394"/>
                  </a:lnTo>
                  <a:lnTo>
                    <a:pt x="587463" y="61480"/>
                  </a:lnTo>
                  <a:lnTo>
                    <a:pt x="635698" y="93827"/>
                  </a:lnTo>
                  <a:lnTo>
                    <a:pt x="679246" y="131902"/>
                  </a:lnTo>
                  <a:lnTo>
                    <a:pt x="717575" y="175145"/>
                  </a:lnTo>
                  <a:lnTo>
                    <a:pt x="750138" y="223037"/>
                  </a:lnTo>
                  <a:lnTo>
                    <a:pt x="776414" y="275031"/>
                  </a:lnTo>
                  <a:lnTo>
                    <a:pt x="795845" y="330606"/>
                  </a:lnTo>
                  <a:lnTo>
                    <a:pt x="807910" y="389204"/>
                  </a:lnTo>
                  <a:lnTo>
                    <a:pt x="812050" y="450303"/>
                  </a:lnTo>
                  <a:lnTo>
                    <a:pt x="810996" y="481126"/>
                  </a:lnTo>
                  <a:lnTo>
                    <a:pt x="802830" y="541045"/>
                  </a:lnTo>
                  <a:lnTo>
                    <a:pt x="787019" y="598195"/>
                  </a:lnTo>
                  <a:lnTo>
                    <a:pt x="764095" y="652043"/>
                  </a:lnTo>
                  <a:lnTo>
                    <a:pt x="734606" y="702056"/>
                  </a:lnTo>
                  <a:lnTo>
                    <a:pt x="699096" y="747699"/>
                  </a:lnTo>
                  <a:lnTo>
                    <a:pt x="658088" y="788416"/>
                  </a:lnTo>
                  <a:lnTo>
                    <a:pt x="612127" y="823696"/>
                  </a:lnTo>
                  <a:lnTo>
                    <a:pt x="561771" y="852982"/>
                  </a:lnTo>
                  <a:lnTo>
                    <a:pt x="507530" y="875741"/>
                  </a:lnTo>
                  <a:lnTo>
                    <a:pt x="449973" y="891451"/>
                  </a:lnTo>
                  <a:lnTo>
                    <a:pt x="389623" y="899566"/>
                  </a:lnTo>
                  <a:lnTo>
                    <a:pt x="358571" y="900607"/>
                  </a:lnTo>
                  <a:lnTo>
                    <a:pt x="326364" y="899464"/>
                  </a:lnTo>
                  <a:lnTo>
                    <a:pt x="263194" y="890536"/>
                  </a:lnTo>
                  <a:lnTo>
                    <a:pt x="202412" y="873061"/>
                  </a:lnTo>
                  <a:lnTo>
                    <a:pt x="144856" y="847458"/>
                  </a:lnTo>
                  <a:lnTo>
                    <a:pt x="91376" y="814146"/>
                  </a:lnTo>
                  <a:lnTo>
                    <a:pt x="42811" y="773518"/>
                  </a:lnTo>
                  <a:lnTo>
                    <a:pt x="20637" y="750595"/>
                  </a:lnTo>
                  <a:lnTo>
                    <a:pt x="0" y="725995"/>
                  </a:lnTo>
                </a:path>
              </a:pathLst>
            </a:custGeom>
            <a:ln w="15239">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86" name="object 93">
              <a:extLst>
                <a:ext uri="{FF2B5EF4-FFF2-40B4-BE49-F238E27FC236}">
                  <a16:creationId xmlns:a16="http://schemas.microsoft.com/office/drawing/2014/main" id="{BF99DD36-9415-0C68-0E35-74A7D13BB7BE}"/>
                </a:ext>
              </a:extLst>
            </p:cNvPr>
            <p:cNvSpPr/>
            <p:nvPr/>
          </p:nvSpPr>
          <p:spPr>
            <a:xfrm>
              <a:off x="7293859" y="1842516"/>
              <a:ext cx="824865" cy="818515"/>
            </a:xfrm>
            <a:custGeom>
              <a:avLst/>
              <a:gdLst/>
              <a:ahLst/>
              <a:cxnLst/>
              <a:rect l="l" t="t" r="r" b="b"/>
              <a:pathLst>
                <a:path w="824865" h="818514">
                  <a:moveTo>
                    <a:pt x="412165" y="0"/>
                  </a:moveTo>
                  <a:lnTo>
                    <a:pt x="473062" y="4432"/>
                  </a:lnTo>
                  <a:lnTo>
                    <a:pt x="531202" y="17322"/>
                  </a:lnTo>
                  <a:lnTo>
                    <a:pt x="585914" y="38011"/>
                  </a:lnTo>
                  <a:lnTo>
                    <a:pt x="636587" y="65900"/>
                  </a:lnTo>
                  <a:lnTo>
                    <a:pt x="682561" y="100330"/>
                  </a:lnTo>
                  <a:lnTo>
                    <a:pt x="723226" y="140677"/>
                  </a:lnTo>
                  <a:lnTo>
                    <a:pt x="757923" y="186309"/>
                  </a:lnTo>
                  <a:lnTo>
                    <a:pt x="786015" y="236588"/>
                  </a:lnTo>
                  <a:lnTo>
                    <a:pt x="806869" y="290893"/>
                  </a:lnTo>
                  <a:lnTo>
                    <a:pt x="819861" y="348589"/>
                  </a:lnTo>
                  <a:lnTo>
                    <a:pt x="824331" y="409028"/>
                  </a:lnTo>
                  <a:lnTo>
                    <a:pt x="823201" y="439559"/>
                  </a:lnTo>
                  <a:lnTo>
                    <a:pt x="814387" y="498703"/>
                  </a:lnTo>
                  <a:lnTo>
                    <a:pt x="797394" y="554786"/>
                  </a:lnTo>
                  <a:lnTo>
                    <a:pt x="772833" y="607161"/>
                  </a:lnTo>
                  <a:lnTo>
                    <a:pt x="741362" y="655193"/>
                  </a:lnTo>
                  <a:lnTo>
                    <a:pt x="703605" y="698258"/>
                  </a:lnTo>
                  <a:lnTo>
                    <a:pt x="660196" y="735736"/>
                  </a:lnTo>
                  <a:lnTo>
                    <a:pt x="611797" y="766965"/>
                  </a:lnTo>
                  <a:lnTo>
                    <a:pt x="559015" y="791337"/>
                  </a:lnTo>
                  <a:lnTo>
                    <a:pt x="502513" y="808202"/>
                  </a:lnTo>
                  <a:lnTo>
                    <a:pt x="442925" y="816940"/>
                  </a:lnTo>
                  <a:lnTo>
                    <a:pt x="412165" y="818057"/>
                  </a:lnTo>
                  <a:lnTo>
                    <a:pt x="381406" y="816940"/>
                  </a:lnTo>
                  <a:lnTo>
                    <a:pt x="321817" y="808202"/>
                  </a:lnTo>
                  <a:lnTo>
                    <a:pt x="265315" y="791337"/>
                  </a:lnTo>
                  <a:lnTo>
                    <a:pt x="212534" y="766965"/>
                  </a:lnTo>
                  <a:lnTo>
                    <a:pt x="164134" y="735736"/>
                  </a:lnTo>
                  <a:lnTo>
                    <a:pt x="120726" y="698258"/>
                  </a:lnTo>
                  <a:lnTo>
                    <a:pt x="82969" y="655193"/>
                  </a:lnTo>
                  <a:lnTo>
                    <a:pt x="51498" y="607161"/>
                  </a:lnTo>
                  <a:lnTo>
                    <a:pt x="26936" y="554786"/>
                  </a:lnTo>
                  <a:lnTo>
                    <a:pt x="9944" y="498703"/>
                  </a:lnTo>
                  <a:lnTo>
                    <a:pt x="1130" y="439559"/>
                  </a:lnTo>
                  <a:lnTo>
                    <a:pt x="0" y="409028"/>
                  </a:lnTo>
                  <a:lnTo>
                    <a:pt x="1435" y="374980"/>
                  </a:lnTo>
                  <a:lnTo>
                    <a:pt x="12699" y="308279"/>
                  </a:lnTo>
                  <a:lnTo>
                    <a:pt x="34810" y="244525"/>
                  </a:lnTo>
                  <a:lnTo>
                    <a:pt x="67284" y="185051"/>
                  </a:lnTo>
                  <a:lnTo>
                    <a:pt x="87287" y="157327"/>
                  </a:lnTo>
                </a:path>
              </a:pathLst>
            </a:custGeom>
            <a:ln w="15239">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87" name="object 94">
              <a:extLst>
                <a:ext uri="{FF2B5EF4-FFF2-40B4-BE49-F238E27FC236}">
                  <a16:creationId xmlns:a16="http://schemas.microsoft.com/office/drawing/2014/main" id="{B463C7FE-7218-2B08-511A-5C4C69B12AA5}"/>
                </a:ext>
              </a:extLst>
            </p:cNvPr>
            <p:cNvSpPr/>
            <p:nvPr/>
          </p:nvSpPr>
          <p:spPr>
            <a:xfrm>
              <a:off x="7709915" y="1752600"/>
              <a:ext cx="498475" cy="693420"/>
            </a:xfrm>
            <a:custGeom>
              <a:avLst/>
              <a:gdLst/>
              <a:ahLst/>
              <a:cxnLst/>
              <a:rect l="l" t="t" r="r" b="b"/>
              <a:pathLst>
                <a:path w="498475" h="693419">
                  <a:moveTo>
                    <a:pt x="0" y="0"/>
                  </a:moveTo>
                  <a:lnTo>
                    <a:pt x="62496" y="3860"/>
                  </a:lnTo>
                  <a:lnTo>
                    <a:pt x="122682" y="15125"/>
                  </a:lnTo>
                  <a:lnTo>
                    <a:pt x="180086" y="33350"/>
                  </a:lnTo>
                  <a:lnTo>
                    <a:pt x="234238" y="58039"/>
                  </a:lnTo>
                  <a:lnTo>
                    <a:pt x="284670" y="88760"/>
                  </a:lnTo>
                  <a:lnTo>
                    <a:pt x="330911" y="125031"/>
                  </a:lnTo>
                  <a:lnTo>
                    <a:pt x="372516" y="166382"/>
                  </a:lnTo>
                  <a:lnTo>
                    <a:pt x="408990" y="212369"/>
                  </a:lnTo>
                  <a:lnTo>
                    <a:pt x="439889" y="262496"/>
                  </a:lnTo>
                  <a:lnTo>
                    <a:pt x="464731" y="316331"/>
                  </a:lnTo>
                  <a:lnTo>
                    <a:pt x="483044" y="373392"/>
                  </a:lnTo>
                  <a:lnTo>
                    <a:pt x="494385" y="433222"/>
                  </a:lnTo>
                  <a:lnTo>
                    <a:pt x="498271" y="495363"/>
                  </a:lnTo>
                  <a:lnTo>
                    <a:pt x="497090" y="529323"/>
                  </a:lnTo>
                  <a:lnTo>
                    <a:pt x="493598" y="563041"/>
                  </a:lnTo>
                  <a:lnTo>
                    <a:pt x="487806" y="596404"/>
                  </a:lnTo>
                  <a:lnTo>
                    <a:pt x="479729" y="629285"/>
                  </a:lnTo>
                  <a:lnTo>
                    <a:pt x="469392" y="661593"/>
                  </a:lnTo>
                  <a:lnTo>
                    <a:pt x="456831" y="693178"/>
                  </a:lnTo>
                </a:path>
              </a:pathLst>
            </a:custGeom>
            <a:ln w="15240">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88" name="object 95">
              <a:extLst>
                <a:ext uri="{FF2B5EF4-FFF2-40B4-BE49-F238E27FC236}">
                  <a16:creationId xmlns:a16="http://schemas.microsoft.com/office/drawing/2014/main" id="{60DB5BB0-A2B9-CFB7-6962-AD3935B75772}"/>
                </a:ext>
              </a:extLst>
            </p:cNvPr>
            <p:cNvSpPr/>
            <p:nvPr/>
          </p:nvSpPr>
          <p:spPr>
            <a:xfrm>
              <a:off x="7345676" y="1886712"/>
              <a:ext cx="728980" cy="723900"/>
            </a:xfrm>
            <a:custGeom>
              <a:avLst/>
              <a:gdLst/>
              <a:ahLst/>
              <a:cxnLst/>
              <a:rect l="l" t="t" r="r" b="b"/>
              <a:pathLst>
                <a:path w="728979" h="723900">
                  <a:moveTo>
                    <a:pt x="364197" y="0"/>
                  </a:moveTo>
                  <a:lnTo>
                    <a:pt x="302082" y="5245"/>
                  </a:lnTo>
                  <a:lnTo>
                    <a:pt x="243382" y="20383"/>
                  </a:lnTo>
                  <a:lnTo>
                    <a:pt x="188963" y="44564"/>
                  </a:lnTo>
                  <a:lnTo>
                    <a:pt x="139700" y="76898"/>
                  </a:lnTo>
                  <a:lnTo>
                    <a:pt x="96469" y="116535"/>
                  </a:lnTo>
                  <a:lnTo>
                    <a:pt x="60147" y="162598"/>
                  </a:lnTo>
                  <a:lnTo>
                    <a:pt x="31597" y="214223"/>
                  </a:lnTo>
                  <a:lnTo>
                    <a:pt x="11709" y="270548"/>
                  </a:lnTo>
                  <a:lnTo>
                    <a:pt x="1333" y="330682"/>
                  </a:lnTo>
                  <a:lnTo>
                    <a:pt x="0" y="361911"/>
                  </a:lnTo>
                  <a:lnTo>
                    <a:pt x="1333" y="393141"/>
                  </a:lnTo>
                  <a:lnTo>
                    <a:pt x="11709" y="453275"/>
                  </a:lnTo>
                  <a:lnTo>
                    <a:pt x="31597" y="509587"/>
                  </a:lnTo>
                  <a:lnTo>
                    <a:pt x="60147" y="561213"/>
                  </a:lnTo>
                  <a:lnTo>
                    <a:pt x="96469" y="607275"/>
                  </a:lnTo>
                  <a:lnTo>
                    <a:pt x="139700" y="646912"/>
                  </a:lnTo>
                  <a:lnTo>
                    <a:pt x="188963" y="679259"/>
                  </a:lnTo>
                  <a:lnTo>
                    <a:pt x="243382" y="703440"/>
                  </a:lnTo>
                  <a:lnTo>
                    <a:pt x="302082" y="718578"/>
                  </a:lnTo>
                  <a:lnTo>
                    <a:pt x="364197" y="723823"/>
                  </a:lnTo>
                  <a:lnTo>
                    <a:pt x="395630" y="722490"/>
                  </a:lnTo>
                  <a:lnTo>
                    <a:pt x="456145" y="712190"/>
                  </a:lnTo>
                  <a:lnTo>
                    <a:pt x="512813" y="692416"/>
                  </a:lnTo>
                  <a:lnTo>
                    <a:pt x="564756" y="664057"/>
                  </a:lnTo>
                  <a:lnTo>
                    <a:pt x="611111" y="627951"/>
                  </a:lnTo>
                  <a:lnTo>
                    <a:pt x="651002" y="585000"/>
                  </a:lnTo>
                  <a:lnTo>
                    <a:pt x="683552" y="536041"/>
                  </a:lnTo>
                  <a:lnTo>
                    <a:pt x="707885" y="481965"/>
                  </a:lnTo>
                  <a:lnTo>
                    <a:pt x="723125" y="423633"/>
                  </a:lnTo>
                  <a:lnTo>
                    <a:pt x="728395" y="361911"/>
                  </a:lnTo>
                  <a:lnTo>
                    <a:pt x="727062" y="330682"/>
                  </a:lnTo>
                  <a:lnTo>
                    <a:pt x="716686" y="270548"/>
                  </a:lnTo>
                  <a:lnTo>
                    <a:pt x="696798" y="214223"/>
                  </a:lnTo>
                  <a:lnTo>
                    <a:pt x="668248" y="162598"/>
                  </a:lnTo>
                  <a:lnTo>
                    <a:pt x="631926" y="116535"/>
                  </a:lnTo>
                  <a:lnTo>
                    <a:pt x="588695" y="76898"/>
                  </a:lnTo>
                  <a:lnTo>
                    <a:pt x="539432" y="44564"/>
                  </a:lnTo>
                  <a:lnTo>
                    <a:pt x="485013" y="20383"/>
                  </a:lnTo>
                  <a:lnTo>
                    <a:pt x="426313" y="5245"/>
                  </a:lnTo>
                  <a:lnTo>
                    <a:pt x="364197" y="0"/>
                  </a:lnTo>
                  <a:close/>
                </a:path>
              </a:pathLst>
            </a:custGeom>
            <a:solidFill>
              <a:srgbClr val="FFFFFF"/>
            </a:solidFill>
          </p:spPr>
          <p:txBody>
            <a:bodyPr wrap="square" lIns="0" tIns="0" rIns="0" bIns="0" rtlCol="0"/>
            <a:lstStyle/>
            <a:p>
              <a:pPr defTabSz="457063"/>
              <a:endParaRPr sz="1798">
                <a:solidFill>
                  <a:srgbClr val="37424A"/>
                </a:solidFill>
                <a:latin typeface="Arial Narrow"/>
              </a:endParaRPr>
            </a:p>
          </p:txBody>
        </p:sp>
        <p:sp>
          <p:nvSpPr>
            <p:cNvPr id="189" name="object 96">
              <a:extLst>
                <a:ext uri="{FF2B5EF4-FFF2-40B4-BE49-F238E27FC236}">
                  <a16:creationId xmlns:a16="http://schemas.microsoft.com/office/drawing/2014/main" id="{43408712-DC9C-954C-D4D3-1535B0E7C1F3}"/>
                </a:ext>
              </a:extLst>
            </p:cNvPr>
            <p:cNvSpPr/>
            <p:nvPr/>
          </p:nvSpPr>
          <p:spPr>
            <a:xfrm>
              <a:off x="7345676" y="1886712"/>
              <a:ext cx="728980" cy="723900"/>
            </a:xfrm>
            <a:custGeom>
              <a:avLst/>
              <a:gdLst/>
              <a:ahLst/>
              <a:cxnLst/>
              <a:rect l="l" t="t" r="r" b="b"/>
              <a:pathLst>
                <a:path w="728979" h="723900">
                  <a:moveTo>
                    <a:pt x="364197" y="0"/>
                  </a:moveTo>
                  <a:lnTo>
                    <a:pt x="302082" y="5245"/>
                  </a:lnTo>
                  <a:lnTo>
                    <a:pt x="243382" y="20383"/>
                  </a:lnTo>
                  <a:lnTo>
                    <a:pt x="188963" y="44564"/>
                  </a:lnTo>
                  <a:lnTo>
                    <a:pt x="139700" y="76898"/>
                  </a:lnTo>
                  <a:lnTo>
                    <a:pt x="96469" y="116535"/>
                  </a:lnTo>
                  <a:lnTo>
                    <a:pt x="60147" y="162598"/>
                  </a:lnTo>
                  <a:lnTo>
                    <a:pt x="31597" y="214223"/>
                  </a:lnTo>
                  <a:lnTo>
                    <a:pt x="11709" y="270548"/>
                  </a:lnTo>
                  <a:lnTo>
                    <a:pt x="1333" y="330682"/>
                  </a:lnTo>
                  <a:lnTo>
                    <a:pt x="0" y="361911"/>
                  </a:lnTo>
                  <a:lnTo>
                    <a:pt x="1333" y="393141"/>
                  </a:lnTo>
                  <a:lnTo>
                    <a:pt x="11709" y="453275"/>
                  </a:lnTo>
                  <a:lnTo>
                    <a:pt x="31597" y="509587"/>
                  </a:lnTo>
                  <a:lnTo>
                    <a:pt x="60147" y="561213"/>
                  </a:lnTo>
                  <a:lnTo>
                    <a:pt x="96469" y="607275"/>
                  </a:lnTo>
                  <a:lnTo>
                    <a:pt x="139700" y="646912"/>
                  </a:lnTo>
                  <a:lnTo>
                    <a:pt x="188963" y="679259"/>
                  </a:lnTo>
                  <a:lnTo>
                    <a:pt x="243382" y="703440"/>
                  </a:lnTo>
                  <a:lnTo>
                    <a:pt x="302082" y="718578"/>
                  </a:lnTo>
                  <a:lnTo>
                    <a:pt x="364197" y="723823"/>
                  </a:lnTo>
                  <a:lnTo>
                    <a:pt x="395630" y="722490"/>
                  </a:lnTo>
                  <a:lnTo>
                    <a:pt x="456145" y="712190"/>
                  </a:lnTo>
                  <a:lnTo>
                    <a:pt x="512813" y="692416"/>
                  </a:lnTo>
                  <a:lnTo>
                    <a:pt x="564756" y="664057"/>
                  </a:lnTo>
                  <a:lnTo>
                    <a:pt x="611111" y="627951"/>
                  </a:lnTo>
                  <a:lnTo>
                    <a:pt x="651002" y="585000"/>
                  </a:lnTo>
                  <a:lnTo>
                    <a:pt x="683552" y="536041"/>
                  </a:lnTo>
                  <a:lnTo>
                    <a:pt x="707885" y="481965"/>
                  </a:lnTo>
                  <a:lnTo>
                    <a:pt x="723125" y="423633"/>
                  </a:lnTo>
                  <a:lnTo>
                    <a:pt x="728395" y="361911"/>
                  </a:lnTo>
                  <a:lnTo>
                    <a:pt x="727062" y="330682"/>
                  </a:lnTo>
                  <a:lnTo>
                    <a:pt x="716686" y="270548"/>
                  </a:lnTo>
                  <a:lnTo>
                    <a:pt x="696798" y="214223"/>
                  </a:lnTo>
                  <a:lnTo>
                    <a:pt x="668248" y="162598"/>
                  </a:lnTo>
                  <a:lnTo>
                    <a:pt x="631926" y="116535"/>
                  </a:lnTo>
                  <a:lnTo>
                    <a:pt x="588695" y="76898"/>
                  </a:lnTo>
                  <a:lnTo>
                    <a:pt x="539432" y="44564"/>
                  </a:lnTo>
                  <a:lnTo>
                    <a:pt x="485013" y="20383"/>
                  </a:lnTo>
                  <a:lnTo>
                    <a:pt x="426313" y="5245"/>
                  </a:lnTo>
                  <a:lnTo>
                    <a:pt x="364197" y="0"/>
                  </a:lnTo>
                  <a:close/>
                </a:path>
              </a:pathLst>
            </a:custGeom>
            <a:ln w="9144">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90" name="object 97">
              <a:extLst>
                <a:ext uri="{FF2B5EF4-FFF2-40B4-BE49-F238E27FC236}">
                  <a16:creationId xmlns:a16="http://schemas.microsoft.com/office/drawing/2014/main" id="{45EAD03D-C7F6-0403-DF93-156B276F4139}"/>
                </a:ext>
              </a:extLst>
            </p:cNvPr>
            <p:cNvSpPr/>
            <p:nvPr/>
          </p:nvSpPr>
          <p:spPr>
            <a:xfrm>
              <a:off x="7346441" y="1887471"/>
              <a:ext cx="728980" cy="723900"/>
            </a:xfrm>
            <a:custGeom>
              <a:avLst/>
              <a:gdLst/>
              <a:ahLst/>
              <a:cxnLst/>
              <a:rect l="l" t="t" r="r" b="b"/>
              <a:pathLst>
                <a:path w="728979" h="723900">
                  <a:moveTo>
                    <a:pt x="0" y="361911"/>
                  </a:moveTo>
                  <a:lnTo>
                    <a:pt x="5270" y="300189"/>
                  </a:lnTo>
                  <a:lnTo>
                    <a:pt x="20510" y="241858"/>
                  </a:lnTo>
                  <a:lnTo>
                    <a:pt x="44843" y="187782"/>
                  </a:lnTo>
                  <a:lnTo>
                    <a:pt x="77393" y="138823"/>
                  </a:lnTo>
                  <a:lnTo>
                    <a:pt x="117271" y="95859"/>
                  </a:lnTo>
                  <a:lnTo>
                    <a:pt x="163626" y="59766"/>
                  </a:lnTo>
                  <a:lnTo>
                    <a:pt x="215582" y="31394"/>
                  </a:lnTo>
                  <a:lnTo>
                    <a:pt x="272249" y="11633"/>
                  </a:lnTo>
                  <a:lnTo>
                    <a:pt x="332765" y="1333"/>
                  </a:lnTo>
                  <a:lnTo>
                    <a:pt x="364197" y="0"/>
                  </a:lnTo>
                  <a:lnTo>
                    <a:pt x="395617" y="1333"/>
                  </a:lnTo>
                  <a:lnTo>
                    <a:pt x="456133" y="11633"/>
                  </a:lnTo>
                  <a:lnTo>
                    <a:pt x="512813" y="31394"/>
                  </a:lnTo>
                  <a:lnTo>
                    <a:pt x="564756" y="59766"/>
                  </a:lnTo>
                  <a:lnTo>
                    <a:pt x="611111" y="95859"/>
                  </a:lnTo>
                  <a:lnTo>
                    <a:pt x="651002" y="138823"/>
                  </a:lnTo>
                  <a:lnTo>
                    <a:pt x="683552" y="187782"/>
                  </a:lnTo>
                  <a:lnTo>
                    <a:pt x="707872" y="241858"/>
                  </a:lnTo>
                  <a:lnTo>
                    <a:pt x="723112" y="300189"/>
                  </a:lnTo>
                  <a:lnTo>
                    <a:pt x="728395" y="361911"/>
                  </a:lnTo>
                  <a:lnTo>
                    <a:pt x="727049" y="393141"/>
                  </a:lnTo>
                  <a:lnTo>
                    <a:pt x="716686" y="453275"/>
                  </a:lnTo>
                  <a:lnTo>
                    <a:pt x="696798" y="509587"/>
                  </a:lnTo>
                  <a:lnTo>
                    <a:pt x="668248" y="561213"/>
                  </a:lnTo>
                  <a:lnTo>
                    <a:pt x="631926" y="607275"/>
                  </a:lnTo>
                  <a:lnTo>
                    <a:pt x="588695" y="646912"/>
                  </a:lnTo>
                  <a:lnTo>
                    <a:pt x="539432" y="679259"/>
                  </a:lnTo>
                  <a:lnTo>
                    <a:pt x="485013" y="703440"/>
                  </a:lnTo>
                  <a:lnTo>
                    <a:pt x="426300" y="718578"/>
                  </a:lnTo>
                  <a:lnTo>
                    <a:pt x="364197" y="723823"/>
                  </a:lnTo>
                  <a:lnTo>
                    <a:pt x="332765" y="722490"/>
                  </a:lnTo>
                  <a:lnTo>
                    <a:pt x="272249" y="712190"/>
                  </a:lnTo>
                  <a:lnTo>
                    <a:pt x="215582" y="692429"/>
                  </a:lnTo>
                  <a:lnTo>
                    <a:pt x="163626" y="664057"/>
                  </a:lnTo>
                  <a:lnTo>
                    <a:pt x="117271" y="627951"/>
                  </a:lnTo>
                  <a:lnTo>
                    <a:pt x="77393" y="585000"/>
                  </a:lnTo>
                  <a:lnTo>
                    <a:pt x="44843" y="536041"/>
                  </a:lnTo>
                  <a:lnTo>
                    <a:pt x="20510" y="481965"/>
                  </a:lnTo>
                  <a:lnTo>
                    <a:pt x="5270" y="423633"/>
                  </a:lnTo>
                  <a:lnTo>
                    <a:pt x="0" y="361911"/>
                  </a:lnTo>
                  <a:close/>
                </a:path>
              </a:pathLst>
            </a:custGeom>
            <a:ln w="19812">
              <a:solidFill>
                <a:srgbClr val="A6A6A6"/>
              </a:solidFill>
            </a:ln>
          </p:spPr>
          <p:txBody>
            <a:bodyPr wrap="square" lIns="0" tIns="0" rIns="0" bIns="0" rtlCol="0"/>
            <a:lstStyle/>
            <a:p>
              <a:pPr defTabSz="457063"/>
              <a:endParaRPr sz="1798">
                <a:solidFill>
                  <a:srgbClr val="37424A"/>
                </a:solidFill>
                <a:latin typeface="Arial Narrow"/>
              </a:endParaRPr>
            </a:p>
          </p:txBody>
        </p:sp>
        <p:pic>
          <p:nvPicPr>
            <p:cNvPr id="191" name="object 98">
              <a:extLst>
                <a:ext uri="{FF2B5EF4-FFF2-40B4-BE49-F238E27FC236}">
                  <a16:creationId xmlns:a16="http://schemas.microsoft.com/office/drawing/2014/main" id="{128D7FBB-699A-08BA-5469-F9DDAC8B0941}"/>
                </a:ext>
              </a:extLst>
            </p:cNvPr>
            <p:cNvPicPr/>
            <p:nvPr/>
          </p:nvPicPr>
          <p:blipFill>
            <a:blip r:embed="rId20" cstate="screen">
              <a:extLst>
                <a:ext uri="{28A0092B-C50C-407E-A947-70E740481C1C}">
                  <a14:useLocalDpi xmlns:a14="http://schemas.microsoft.com/office/drawing/2010/main"/>
                </a:ext>
              </a:extLst>
            </a:blip>
            <a:stretch>
              <a:fillRect/>
            </a:stretch>
          </p:blipFill>
          <p:spPr>
            <a:xfrm>
              <a:off x="7504175" y="2098548"/>
              <a:ext cx="499871" cy="362711"/>
            </a:xfrm>
            <a:prstGeom prst="rect">
              <a:avLst/>
            </a:prstGeom>
          </p:spPr>
        </p:pic>
        <p:pic>
          <p:nvPicPr>
            <p:cNvPr id="192" name="object 99">
              <a:extLst>
                <a:ext uri="{FF2B5EF4-FFF2-40B4-BE49-F238E27FC236}">
                  <a16:creationId xmlns:a16="http://schemas.microsoft.com/office/drawing/2014/main" id="{AAEB25F9-7401-40C6-7AE3-353FA763A80B}"/>
                </a:ext>
              </a:extLst>
            </p:cNvPr>
            <p:cNvPicPr/>
            <p:nvPr/>
          </p:nvPicPr>
          <p:blipFill>
            <a:blip r:embed="rId21" cstate="print"/>
            <a:stretch>
              <a:fillRect/>
            </a:stretch>
          </p:blipFill>
          <p:spPr>
            <a:xfrm>
              <a:off x="7429499" y="2156460"/>
              <a:ext cx="182879" cy="184403"/>
            </a:xfrm>
            <a:prstGeom prst="rect">
              <a:avLst/>
            </a:prstGeom>
          </p:spPr>
        </p:pic>
        <p:pic>
          <p:nvPicPr>
            <p:cNvPr id="193" name="object 100">
              <a:extLst>
                <a:ext uri="{FF2B5EF4-FFF2-40B4-BE49-F238E27FC236}">
                  <a16:creationId xmlns:a16="http://schemas.microsoft.com/office/drawing/2014/main" id="{379DC18E-1127-9E51-AC4D-FAEC1B390B33}"/>
                </a:ext>
              </a:extLst>
            </p:cNvPr>
            <p:cNvPicPr/>
            <p:nvPr/>
          </p:nvPicPr>
          <p:blipFill>
            <a:blip r:embed="rId22" cstate="screen">
              <a:extLst>
                <a:ext uri="{28A0092B-C50C-407E-A947-70E740481C1C}">
                  <a14:useLocalDpi xmlns:a14="http://schemas.microsoft.com/office/drawing/2010/main"/>
                </a:ext>
              </a:extLst>
            </a:blip>
            <a:stretch>
              <a:fillRect/>
            </a:stretch>
          </p:blipFill>
          <p:spPr>
            <a:xfrm>
              <a:off x="7161496" y="1946955"/>
              <a:ext cx="120995" cy="147430"/>
            </a:xfrm>
            <a:prstGeom prst="rect">
              <a:avLst/>
            </a:prstGeom>
          </p:spPr>
        </p:pic>
        <p:sp>
          <p:nvSpPr>
            <p:cNvPr id="194" name="object 101">
              <a:extLst>
                <a:ext uri="{FF2B5EF4-FFF2-40B4-BE49-F238E27FC236}">
                  <a16:creationId xmlns:a16="http://schemas.microsoft.com/office/drawing/2014/main" id="{65BCE7CF-6534-85F4-9ED5-74D533173801}"/>
                </a:ext>
              </a:extLst>
            </p:cNvPr>
            <p:cNvSpPr/>
            <p:nvPr/>
          </p:nvSpPr>
          <p:spPr>
            <a:xfrm>
              <a:off x="6234303" y="1748789"/>
              <a:ext cx="907415" cy="190500"/>
            </a:xfrm>
            <a:custGeom>
              <a:avLst/>
              <a:gdLst/>
              <a:ahLst/>
              <a:cxnLst/>
              <a:rect l="l" t="t" r="r" b="b"/>
              <a:pathLst>
                <a:path w="907415" h="190500">
                  <a:moveTo>
                    <a:pt x="37185" y="164909"/>
                  </a:moveTo>
                  <a:lnTo>
                    <a:pt x="30594" y="153352"/>
                  </a:lnTo>
                  <a:lnTo>
                    <a:pt x="0" y="178574"/>
                  </a:lnTo>
                  <a:lnTo>
                    <a:pt x="6591" y="190030"/>
                  </a:lnTo>
                  <a:lnTo>
                    <a:pt x="37185" y="164909"/>
                  </a:lnTo>
                  <a:close/>
                </a:path>
                <a:path w="907415" h="190500">
                  <a:moveTo>
                    <a:pt x="110655" y="114122"/>
                  </a:moveTo>
                  <a:lnTo>
                    <a:pt x="105689" y="101473"/>
                  </a:lnTo>
                  <a:lnTo>
                    <a:pt x="97866" y="106146"/>
                  </a:lnTo>
                  <a:lnTo>
                    <a:pt x="64592" y="128168"/>
                  </a:lnTo>
                  <a:lnTo>
                    <a:pt x="62141" y="129908"/>
                  </a:lnTo>
                  <a:lnTo>
                    <a:pt x="68199" y="141770"/>
                  </a:lnTo>
                  <a:lnTo>
                    <a:pt x="70015" y="140411"/>
                  </a:lnTo>
                  <a:lnTo>
                    <a:pt x="102844" y="118706"/>
                  </a:lnTo>
                  <a:lnTo>
                    <a:pt x="110655" y="114122"/>
                  </a:lnTo>
                  <a:close/>
                </a:path>
                <a:path w="907415" h="190500">
                  <a:moveTo>
                    <a:pt x="188468" y="73113"/>
                  </a:moveTo>
                  <a:lnTo>
                    <a:pt x="184645" y="59867"/>
                  </a:lnTo>
                  <a:lnTo>
                    <a:pt x="166052" y="68287"/>
                  </a:lnTo>
                  <a:lnTo>
                    <a:pt x="139166" y="82359"/>
                  </a:lnTo>
                  <a:lnTo>
                    <a:pt x="143535" y="95199"/>
                  </a:lnTo>
                  <a:lnTo>
                    <a:pt x="169875" y="81534"/>
                  </a:lnTo>
                  <a:lnTo>
                    <a:pt x="188468" y="73113"/>
                  </a:lnTo>
                  <a:close/>
                </a:path>
                <a:path w="907415" h="190500">
                  <a:moveTo>
                    <a:pt x="269328" y="42443"/>
                  </a:moveTo>
                  <a:lnTo>
                    <a:pt x="266623" y="28790"/>
                  </a:lnTo>
                  <a:lnTo>
                    <a:pt x="235978" y="38836"/>
                  </a:lnTo>
                  <a:lnTo>
                    <a:pt x="219544" y="45275"/>
                  </a:lnTo>
                  <a:lnTo>
                    <a:pt x="222770" y="58724"/>
                  </a:lnTo>
                  <a:lnTo>
                    <a:pt x="238683" y="52489"/>
                  </a:lnTo>
                  <a:lnTo>
                    <a:pt x="269328" y="42443"/>
                  </a:lnTo>
                  <a:close/>
                </a:path>
                <a:path w="907415" h="190500">
                  <a:moveTo>
                    <a:pt x="351802" y="23063"/>
                  </a:moveTo>
                  <a:lnTo>
                    <a:pt x="350875" y="8915"/>
                  </a:lnTo>
                  <a:lnTo>
                    <a:pt x="343166" y="10147"/>
                  </a:lnTo>
                  <a:lnTo>
                    <a:pt x="307225" y="17665"/>
                  </a:lnTo>
                  <a:lnTo>
                    <a:pt x="302425" y="18961"/>
                  </a:lnTo>
                  <a:lnTo>
                    <a:pt x="304533" y="32804"/>
                  </a:lnTo>
                  <a:lnTo>
                    <a:pt x="308762" y="31623"/>
                  </a:lnTo>
                  <a:lnTo>
                    <a:pt x="344195" y="24218"/>
                  </a:lnTo>
                  <a:lnTo>
                    <a:pt x="351802" y="23063"/>
                  </a:lnTo>
                  <a:close/>
                </a:path>
                <a:path w="907415" h="190500">
                  <a:moveTo>
                    <a:pt x="435762" y="355"/>
                  </a:moveTo>
                  <a:lnTo>
                    <a:pt x="415417" y="1117"/>
                  </a:lnTo>
                  <a:lnTo>
                    <a:pt x="387248" y="3860"/>
                  </a:lnTo>
                  <a:lnTo>
                    <a:pt x="387616" y="18021"/>
                  </a:lnTo>
                  <a:lnTo>
                    <a:pt x="415213" y="15290"/>
                  </a:lnTo>
                  <a:lnTo>
                    <a:pt x="435559" y="14528"/>
                  </a:lnTo>
                  <a:lnTo>
                    <a:pt x="435762" y="355"/>
                  </a:lnTo>
                  <a:close/>
                </a:path>
                <a:path w="907415" h="190500">
                  <a:moveTo>
                    <a:pt x="520395" y="2501"/>
                  </a:moveTo>
                  <a:lnTo>
                    <a:pt x="487565" y="215"/>
                  </a:lnTo>
                  <a:lnTo>
                    <a:pt x="472147" y="0"/>
                  </a:lnTo>
                  <a:lnTo>
                    <a:pt x="471373" y="14185"/>
                  </a:lnTo>
                  <a:lnTo>
                    <a:pt x="486308" y="14427"/>
                  </a:lnTo>
                  <a:lnTo>
                    <a:pt x="519061" y="16700"/>
                  </a:lnTo>
                  <a:lnTo>
                    <a:pt x="520395" y="2501"/>
                  </a:lnTo>
                  <a:close/>
                </a:path>
                <a:path w="907415" h="190500">
                  <a:moveTo>
                    <a:pt x="604113" y="16040"/>
                  </a:moveTo>
                  <a:lnTo>
                    <a:pt x="594753" y="13754"/>
                  </a:lnTo>
                  <a:lnTo>
                    <a:pt x="559231" y="7327"/>
                  </a:lnTo>
                  <a:lnTo>
                    <a:pt x="556463" y="6908"/>
                  </a:lnTo>
                  <a:lnTo>
                    <a:pt x="554570" y="21018"/>
                  </a:lnTo>
                  <a:lnTo>
                    <a:pt x="556780" y="21348"/>
                  </a:lnTo>
                  <a:lnTo>
                    <a:pt x="591756" y="27698"/>
                  </a:lnTo>
                  <a:lnTo>
                    <a:pt x="601129" y="29883"/>
                  </a:lnTo>
                  <a:lnTo>
                    <a:pt x="604113" y="16040"/>
                  </a:lnTo>
                  <a:close/>
                </a:path>
                <a:path w="907415" h="190500">
                  <a:moveTo>
                    <a:pt x="685368" y="40144"/>
                  </a:moveTo>
                  <a:lnTo>
                    <a:pt x="664718" y="32702"/>
                  </a:lnTo>
                  <a:lnTo>
                    <a:pt x="639343" y="25019"/>
                  </a:lnTo>
                  <a:lnTo>
                    <a:pt x="635800" y="38785"/>
                  </a:lnTo>
                  <a:lnTo>
                    <a:pt x="660654" y="46189"/>
                  </a:lnTo>
                  <a:lnTo>
                    <a:pt x="681367" y="53733"/>
                  </a:lnTo>
                  <a:lnTo>
                    <a:pt x="685368" y="40144"/>
                  </a:lnTo>
                  <a:close/>
                </a:path>
                <a:path w="907415" h="190500">
                  <a:moveTo>
                    <a:pt x="763625" y="74231"/>
                  </a:moveTo>
                  <a:lnTo>
                    <a:pt x="732866" y="59309"/>
                  </a:lnTo>
                  <a:lnTo>
                    <a:pt x="719328" y="53619"/>
                  </a:lnTo>
                  <a:lnTo>
                    <a:pt x="714806" y="66941"/>
                  </a:lnTo>
                  <a:lnTo>
                    <a:pt x="727722" y="72453"/>
                  </a:lnTo>
                  <a:lnTo>
                    <a:pt x="758482" y="87376"/>
                  </a:lnTo>
                  <a:lnTo>
                    <a:pt x="763625" y="74231"/>
                  </a:lnTo>
                  <a:close/>
                </a:path>
                <a:path w="907415" h="190500">
                  <a:moveTo>
                    <a:pt x="837882" y="118770"/>
                  </a:moveTo>
                  <a:lnTo>
                    <a:pt x="830643" y="113652"/>
                  </a:lnTo>
                  <a:lnTo>
                    <a:pt x="798715" y="93662"/>
                  </a:lnTo>
                  <a:lnTo>
                    <a:pt x="795959" y="92087"/>
                  </a:lnTo>
                  <a:lnTo>
                    <a:pt x="790371" y="104965"/>
                  </a:lnTo>
                  <a:lnTo>
                    <a:pt x="792607" y="106260"/>
                  </a:lnTo>
                  <a:lnTo>
                    <a:pt x="824103" y="125907"/>
                  </a:lnTo>
                  <a:lnTo>
                    <a:pt x="831342" y="131025"/>
                  </a:lnTo>
                  <a:lnTo>
                    <a:pt x="837882" y="118770"/>
                  </a:lnTo>
                  <a:close/>
                </a:path>
                <a:path w="907415" h="190500">
                  <a:moveTo>
                    <a:pt x="907122" y="172440"/>
                  </a:moveTo>
                  <a:lnTo>
                    <a:pt x="892111" y="159321"/>
                  </a:lnTo>
                  <a:lnTo>
                    <a:pt x="868235" y="140639"/>
                  </a:lnTo>
                  <a:lnTo>
                    <a:pt x="861237" y="152628"/>
                  </a:lnTo>
                  <a:lnTo>
                    <a:pt x="884605" y="170954"/>
                  </a:lnTo>
                  <a:lnTo>
                    <a:pt x="899629" y="183972"/>
                  </a:lnTo>
                  <a:lnTo>
                    <a:pt x="907122" y="172440"/>
                  </a:lnTo>
                  <a:close/>
                </a:path>
              </a:pathLst>
            </a:custGeom>
            <a:solidFill>
              <a:srgbClr val="A6A6A6"/>
            </a:solidFill>
          </p:spPr>
          <p:txBody>
            <a:bodyPr wrap="square" lIns="0" tIns="0" rIns="0" bIns="0" rtlCol="0"/>
            <a:lstStyle/>
            <a:p>
              <a:pPr defTabSz="457063"/>
              <a:endParaRPr sz="1798">
                <a:solidFill>
                  <a:srgbClr val="37424A"/>
                </a:solidFill>
                <a:latin typeface="Arial Narrow"/>
              </a:endParaRPr>
            </a:p>
          </p:txBody>
        </p:sp>
        <p:sp>
          <p:nvSpPr>
            <p:cNvPr id="195" name="object 102">
              <a:extLst>
                <a:ext uri="{FF2B5EF4-FFF2-40B4-BE49-F238E27FC236}">
                  <a16:creationId xmlns:a16="http://schemas.microsoft.com/office/drawing/2014/main" id="{9F83550F-4566-16B0-2B4C-4A40B97B3B6A}"/>
                </a:ext>
              </a:extLst>
            </p:cNvPr>
            <p:cNvSpPr/>
            <p:nvPr/>
          </p:nvSpPr>
          <p:spPr>
            <a:xfrm>
              <a:off x="6905242" y="2887980"/>
              <a:ext cx="810895" cy="899160"/>
            </a:xfrm>
            <a:custGeom>
              <a:avLst/>
              <a:gdLst/>
              <a:ahLst/>
              <a:cxnLst/>
              <a:rect l="l" t="t" r="r" b="b"/>
              <a:pathLst>
                <a:path w="810895" h="899160">
                  <a:moveTo>
                    <a:pt x="357898" y="0"/>
                  </a:moveTo>
                  <a:lnTo>
                    <a:pt x="419328" y="4102"/>
                  </a:lnTo>
                  <a:lnTo>
                    <a:pt x="478231" y="16052"/>
                  </a:lnTo>
                  <a:lnTo>
                    <a:pt x="534098" y="35331"/>
                  </a:lnTo>
                  <a:lnTo>
                    <a:pt x="586359" y="61379"/>
                  </a:lnTo>
                  <a:lnTo>
                    <a:pt x="634504" y="93675"/>
                  </a:lnTo>
                  <a:lnTo>
                    <a:pt x="677964" y="131673"/>
                  </a:lnTo>
                  <a:lnTo>
                    <a:pt x="716229" y="174853"/>
                  </a:lnTo>
                  <a:lnTo>
                    <a:pt x="748741" y="222656"/>
                  </a:lnTo>
                  <a:lnTo>
                    <a:pt x="774954" y="274561"/>
                  </a:lnTo>
                  <a:lnTo>
                    <a:pt x="794359" y="330034"/>
                  </a:lnTo>
                  <a:lnTo>
                    <a:pt x="806386" y="388543"/>
                  </a:lnTo>
                  <a:lnTo>
                    <a:pt x="810526" y="449541"/>
                  </a:lnTo>
                  <a:lnTo>
                    <a:pt x="809485" y="480314"/>
                  </a:lnTo>
                  <a:lnTo>
                    <a:pt x="801331" y="540131"/>
                  </a:lnTo>
                  <a:lnTo>
                    <a:pt x="785545" y="597192"/>
                  </a:lnTo>
                  <a:lnTo>
                    <a:pt x="762660" y="650951"/>
                  </a:lnTo>
                  <a:lnTo>
                    <a:pt x="733234" y="700874"/>
                  </a:lnTo>
                  <a:lnTo>
                    <a:pt x="697776" y="746429"/>
                  </a:lnTo>
                  <a:lnTo>
                    <a:pt x="656856" y="787082"/>
                  </a:lnTo>
                  <a:lnTo>
                    <a:pt x="610984" y="822299"/>
                  </a:lnTo>
                  <a:lnTo>
                    <a:pt x="560717" y="851535"/>
                  </a:lnTo>
                  <a:lnTo>
                    <a:pt x="506577" y="874268"/>
                  </a:lnTo>
                  <a:lnTo>
                    <a:pt x="449135" y="889939"/>
                  </a:lnTo>
                  <a:lnTo>
                    <a:pt x="388886" y="898042"/>
                  </a:lnTo>
                  <a:lnTo>
                    <a:pt x="357898" y="899083"/>
                  </a:lnTo>
                  <a:lnTo>
                    <a:pt x="325742" y="897940"/>
                  </a:lnTo>
                  <a:lnTo>
                    <a:pt x="262699" y="889025"/>
                  </a:lnTo>
                  <a:lnTo>
                    <a:pt x="202031" y="871588"/>
                  </a:lnTo>
                  <a:lnTo>
                    <a:pt x="144589" y="846023"/>
                  </a:lnTo>
                  <a:lnTo>
                    <a:pt x="91198" y="812761"/>
                  </a:lnTo>
                  <a:lnTo>
                    <a:pt x="42722" y="772210"/>
                  </a:lnTo>
                  <a:lnTo>
                    <a:pt x="20586" y="749325"/>
                  </a:lnTo>
                  <a:lnTo>
                    <a:pt x="0" y="724776"/>
                  </a:lnTo>
                </a:path>
              </a:pathLst>
            </a:custGeom>
            <a:ln w="15240">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96" name="object 103">
              <a:extLst>
                <a:ext uri="{FF2B5EF4-FFF2-40B4-BE49-F238E27FC236}">
                  <a16:creationId xmlns:a16="http://schemas.microsoft.com/office/drawing/2014/main" id="{7517AD88-3B16-427E-5500-75AE47396A79}"/>
                </a:ext>
              </a:extLst>
            </p:cNvPr>
            <p:cNvSpPr/>
            <p:nvPr/>
          </p:nvSpPr>
          <p:spPr>
            <a:xfrm>
              <a:off x="6850373" y="2929128"/>
              <a:ext cx="824865" cy="818515"/>
            </a:xfrm>
            <a:custGeom>
              <a:avLst/>
              <a:gdLst/>
              <a:ahLst/>
              <a:cxnLst/>
              <a:rect l="l" t="t" r="r" b="b"/>
              <a:pathLst>
                <a:path w="824865" h="818514">
                  <a:moveTo>
                    <a:pt x="412165" y="0"/>
                  </a:moveTo>
                  <a:lnTo>
                    <a:pt x="473062" y="4432"/>
                  </a:lnTo>
                  <a:lnTo>
                    <a:pt x="531202" y="17322"/>
                  </a:lnTo>
                  <a:lnTo>
                    <a:pt x="585914" y="38011"/>
                  </a:lnTo>
                  <a:lnTo>
                    <a:pt x="636587" y="65900"/>
                  </a:lnTo>
                  <a:lnTo>
                    <a:pt x="682561" y="100330"/>
                  </a:lnTo>
                  <a:lnTo>
                    <a:pt x="723226" y="140677"/>
                  </a:lnTo>
                  <a:lnTo>
                    <a:pt x="757923" y="186309"/>
                  </a:lnTo>
                  <a:lnTo>
                    <a:pt x="786015" y="236588"/>
                  </a:lnTo>
                  <a:lnTo>
                    <a:pt x="806869" y="290893"/>
                  </a:lnTo>
                  <a:lnTo>
                    <a:pt x="819861" y="348589"/>
                  </a:lnTo>
                  <a:lnTo>
                    <a:pt x="824331" y="409028"/>
                  </a:lnTo>
                  <a:lnTo>
                    <a:pt x="823201" y="439559"/>
                  </a:lnTo>
                  <a:lnTo>
                    <a:pt x="814387" y="498703"/>
                  </a:lnTo>
                  <a:lnTo>
                    <a:pt x="797394" y="554786"/>
                  </a:lnTo>
                  <a:lnTo>
                    <a:pt x="772833" y="607161"/>
                  </a:lnTo>
                  <a:lnTo>
                    <a:pt x="741362" y="655193"/>
                  </a:lnTo>
                  <a:lnTo>
                    <a:pt x="703605" y="698258"/>
                  </a:lnTo>
                  <a:lnTo>
                    <a:pt x="660196" y="735736"/>
                  </a:lnTo>
                  <a:lnTo>
                    <a:pt x="611797" y="766965"/>
                  </a:lnTo>
                  <a:lnTo>
                    <a:pt x="559015" y="791337"/>
                  </a:lnTo>
                  <a:lnTo>
                    <a:pt x="502513" y="808202"/>
                  </a:lnTo>
                  <a:lnTo>
                    <a:pt x="442925" y="816940"/>
                  </a:lnTo>
                  <a:lnTo>
                    <a:pt x="412165" y="818057"/>
                  </a:lnTo>
                  <a:lnTo>
                    <a:pt x="381406" y="816940"/>
                  </a:lnTo>
                  <a:lnTo>
                    <a:pt x="321817" y="808202"/>
                  </a:lnTo>
                  <a:lnTo>
                    <a:pt x="265315" y="791337"/>
                  </a:lnTo>
                  <a:lnTo>
                    <a:pt x="212534" y="766965"/>
                  </a:lnTo>
                  <a:lnTo>
                    <a:pt x="164134" y="735736"/>
                  </a:lnTo>
                  <a:lnTo>
                    <a:pt x="120726" y="698258"/>
                  </a:lnTo>
                  <a:lnTo>
                    <a:pt x="82969" y="655193"/>
                  </a:lnTo>
                  <a:lnTo>
                    <a:pt x="51498" y="607161"/>
                  </a:lnTo>
                  <a:lnTo>
                    <a:pt x="26936" y="554786"/>
                  </a:lnTo>
                  <a:lnTo>
                    <a:pt x="9944" y="498703"/>
                  </a:lnTo>
                  <a:lnTo>
                    <a:pt x="1130" y="439559"/>
                  </a:lnTo>
                  <a:lnTo>
                    <a:pt x="0" y="409028"/>
                  </a:lnTo>
                  <a:lnTo>
                    <a:pt x="1435" y="374980"/>
                  </a:lnTo>
                  <a:lnTo>
                    <a:pt x="12699" y="308279"/>
                  </a:lnTo>
                  <a:lnTo>
                    <a:pt x="34810" y="244525"/>
                  </a:lnTo>
                  <a:lnTo>
                    <a:pt x="67284" y="185051"/>
                  </a:lnTo>
                  <a:lnTo>
                    <a:pt x="87287" y="157327"/>
                  </a:lnTo>
                </a:path>
              </a:pathLst>
            </a:custGeom>
            <a:ln w="15239">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97" name="object 104">
              <a:extLst>
                <a:ext uri="{FF2B5EF4-FFF2-40B4-BE49-F238E27FC236}">
                  <a16:creationId xmlns:a16="http://schemas.microsoft.com/office/drawing/2014/main" id="{ABB863E9-E130-00B7-C803-E1D46F81515D}"/>
                </a:ext>
              </a:extLst>
            </p:cNvPr>
            <p:cNvSpPr/>
            <p:nvPr/>
          </p:nvSpPr>
          <p:spPr>
            <a:xfrm>
              <a:off x="7266432" y="2839212"/>
              <a:ext cx="498475" cy="693420"/>
            </a:xfrm>
            <a:custGeom>
              <a:avLst/>
              <a:gdLst/>
              <a:ahLst/>
              <a:cxnLst/>
              <a:rect l="l" t="t" r="r" b="b"/>
              <a:pathLst>
                <a:path w="498475" h="693420">
                  <a:moveTo>
                    <a:pt x="0" y="0"/>
                  </a:moveTo>
                  <a:lnTo>
                    <a:pt x="62496" y="3860"/>
                  </a:lnTo>
                  <a:lnTo>
                    <a:pt x="122682" y="15125"/>
                  </a:lnTo>
                  <a:lnTo>
                    <a:pt x="180086" y="33350"/>
                  </a:lnTo>
                  <a:lnTo>
                    <a:pt x="234238" y="58039"/>
                  </a:lnTo>
                  <a:lnTo>
                    <a:pt x="284670" y="88760"/>
                  </a:lnTo>
                  <a:lnTo>
                    <a:pt x="330911" y="125031"/>
                  </a:lnTo>
                  <a:lnTo>
                    <a:pt x="372516" y="166382"/>
                  </a:lnTo>
                  <a:lnTo>
                    <a:pt x="408990" y="212369"/>
                  </a:lnTo>
                  <a:lnTo>
                    <a:pt x="439889" y="262496"/>
                  </a:lnTo>
                  <a:lnTo>
                    <a:pt x="464731" y="316331"/>
                  </a:lnTo>
                  <a:lnTo>
                    <a:pt x="483044" y="373392"/>
                  </a:lnTo>
                  <a:lnTo>
                    <a:pt x="494385" y="433222"/>
                  </a:lnTo>
                  <a:lnTo>
                    <a:pt x="498271" y="495363"/>
                  </a:lnTo>
                  <a:lnTo>
                    <a:pt x="497090" y="529323"/>
                  </a:lnTo>
                  <a:lnTo>
                    <a:pt x="493598" y="563041"/>
                  </a:lnTo>
                  <a:lnTo>
                    <a:pt x="487806" y="596404"/>
                  </a:lnTo>
                  <a:lnTo>
                    <a:pt x="479729" y="629285"/>
                  </a:lnTo>
                  <a:lnTo>
                    <a:pt x="469392" y="661593"/>
                  </a:lnTo>
                  <a:lnTo>
                    <a:pt x="456831" y="693178"/>
                  </a:lnTo>
                </a:path>
              </a:pathLst>
            </a:custGeom>
            <a:ln w="15240">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198" name="object 105">
              <a:extLst>
                <a:ext uri="{FF2B5EF4-FFF2-40B4-BE49-F238E27FC236}">
                  <a16:creationId xmlns:a16="http://schemas.microsoft.com/office/drawing/2014/main" id="{D410D195-F5AB-756E-17E2-CA7949F822FF}"/>
                </a:ext>
              </a:extLst>
            </p:cNvPr>
            <p:cNvSpPr/>
            <p:nvPr/>
          </p:nvSpPr>
          <p:spPr>
            <a:xfrm>
              <a:off x="6902192" y="2973324"/>
              <a:ext cx="730250" cy="723900"/>
            </a:xfrm>
            <a:custGeom>
              <a:avLst/>
              <a:gdLst/>
              <a:ahLst/>
              <a:cxnLst/>
              <a:rect l="l" t="t" r="r" b="b"/>
              <a:pathLst>
                <a:path w="730250" h="723900">
                  <a:moveTo>
                    <a:pt x="364959" y="0"/>
                  </a:moveTo>
                  <a:lnTo>
                    <a:pt x="302717" y="5245"/>
                  </a:lnTo>
                  <a:lnTo>
                    <a:pt x="243890" y="20383"/>
                  </a:lnTo>
                  <a:lnTo>
                    <a:pt x="189356" y="44564"/>
                  </a:lnTo>
                  <a:lnTo>
                    <a:pt x="139992" y="76898"/>
                  </a:lnTo>
                  <a:lnTo>
                    <a:pt x="96672" y="116535"/>
                  </a:lnTo>
                  <a:lnTo>
                    <a:pt x="60274" y="162598"/>
                  </a:lnTo>
                  <a:lnTo>
                    <a:pt x="31661" y="214223"/>
                  </a:lnTo>
                  <a:lnTo>
                    <a:pt x="11734" y="270548"/>
                  </a:lnTo>
                  <a:lnTo>
                    <a:pt x="1346" y="330682"/>
                  </a:lnTo>
                  <a:lnTo>
                    <a:pt x="0" y="361911"/>
                  </a:lnTo>
                  <a:lnTo>
                    <a:pt x="1346" y="393141"/>
                  </a:lnTo>
                  <a:lnTo>
                    <a:pt x="11734" y="453275"/>
                  </a:lnTo>
                  <a:lnTo>
                    <a:pt x="31661" y="509587"/>
                  </a:lnTo>
                  <a:lnTo>
                    <a:pt x="60274" y="561213"/>
                  </a:lnTo>
                  <a:lnTo>
                    <a:pt x="96672" y="607275"/>
                  </a:lnTo>
                  <a:lnTo>
                    <a:pt x="139992" y="646912"/>
                  </a:lnTo>
                  <a:lnTo>
                    <a:pt x="189356" y="679259"/>
                  </a:lnTo>
                  <a:lnTo>
                    <a:pt x="243890" y="703440"/>
                  </a:lnTo>
                  <a:lnTo>
                    <a:pt x="302717" y="718578"/>
                  </a:lnTo>
                  <a:lnTo>
                    <a:pt x="364959" y="723823"/>
                  </a:lnTo>
                  <a:lnTo>
                    <a:pt x="396455" y="722490"/>
                  </a:lnTo>
                  <a:lnTo>
                    <a:pt x="457098" y="712190"/>
                  </a:lnTo>
                  <a:lnTo>
                    <a:pt x="513880" y="692416"/>
                  </a:lnTo>
                  <a:lnTo>
                    <a:pt x="565937" y="664057"/>
                  </a:lnTo>
                  <a:lnTo>
                    <a:pt x="612393" y="627951"/>
                  </a:lnTo>
                  <a:lnTo>
                    <a:pt x="652373" y="585000"/>
                  </a:lnTo>
                  <a:lnTo>
                    <a:pt x="684987" y="536041"/>
                  </a:lnTo>
                  <a:lnTo>
                    <a:pt x="709358" y="481965"/>
                  </a:lnTo>
                  <a:lnTo>
                    <a:pt x="724636" y="423633"/>
                  </a:lnTo>
                  <a:lnTo>
                    <a:pt x="729919" y="361911"/>
                  </a:lnTo>
                  <a:lnTo>
                    <a:pt x="728573" y="330682"/>
                  </a:lnTo>
                  <a:lnTo>
                    <a:pt x="718184" y="270548"/>
                  </a:lnTo>
                  <a:lnTo>
                    <a:pt x="698258" y="214223"/>
                  </a:lnTo>
                  <a:lnTo>
                    <a:pt x="669645" y="162598"/>
                  </a:lnTo>
                  <a:lnTo>
                    <a:pt x="633247" y="116535"/>
                  </a:lnTo>
                  <a:lnTo>
                    <a:pt x="589927" y="76898"/>
                  </a:lnTo>
                  <a:lnTo>
                    <a:pt x="540562" y="44564"/>
                  </a:lnTo>
                  <a:lnTo>
                    <a:pt x="486028" y="20383"/>
                  </a:lnTo>
                  <a:lnTo>
                    <a:pt x="427202" y="5245"/>
                  </a:lnTo>
                  <a:lnTo>
                    <a:pt x="364959" y="0"/>
                  </a:lnTo>
                  <a:close/>
                </a:path>
              </a:pathLst>
            </a:custGeom>
            <a:solidFill>
              <a:srgbClr val="FFFFFF"/>
            </a:solidFill>
          </p:spPr>
          <p:txBody>
            <a:bodyPr wrap="square" lIns="0" tIns="0" rIns="0" bIns="0" rtlCol="0"/>
            <a:lstStyle/>
            <a:p>
              <a:pPr defTabSz="457063"/>
              <a:endParaRPr sz="1798">
                <a:solidFill>
                  <a:srgbClr val="37424A"/>
                </a:solidFill>
                <a:latin typeface="Arial Narrow"/>
              </a:endParaRPr>
            </a:p>
          </p:txBody>
        </p:sp>
        <p:sp>
          <p:nvSpPr>
            <p:cNvPr id="199" name="object 106">
              <a:extLst>
                <a:ext uri="{FF2B5EF4-FFF2-40B4-BE49-F238E27FC236}">
                  <a16:creationId xmlns:a16="http://schemas.microsoft.com/office/drawing/2014/main" id="{D763A274-91A6-1770-9270-4103A487DF42}"/>
                </a:ext>
              </a:extLst>
            </p:cNvPr>
            <p:cNvSpPr/>
            <p:nvPr/>
          </p:nvSpPr>
          <p:spPr>
            <a:xfrm>
              <a:off x="6902958" y="2974083"/>
              <a:ext cx="730250" cy="723900"/>
            </a:xfrm>
            <a:custGeom>
              <a:avLst/>
              <a:gdLst/>
              <a:ahLst/>
              <a:cxnLst/>
              <a:rect l="l" t="t" r="r" b="b"/>
              <a:pathLst>
                <a:path w="730250" h="723900">
                  <a:moveTo>
                    <a:pt x="0" y="361911"/>
                  </a:moveTo>
                  <a:lnTo>
                    <a:pt x="5283" y="300189"/>
                  </a:lnTo>
                  <a:lnTo>
                    <a:pt x="20561" y="241858"/>
                  </a:lnTo>
                  <a:lnTo>
                    <a:pt x="44932" y="187782"/>
                  </a:lnTo>
                  <a:lnTo>
                    <a:pt x="77546" y="138823"/>
                  </a:lnTo>
                  <a:lnTo>
                    <a:pt x="117525" y="95859"/>
                  </a:lnTo>
                  <a:lnTo>
                    <a:pt x="163969" y="59766"/>
                  </a:lnTo>
                  <a:lnTo>
                    <a:pt x="216027" y="31394"/>
                  </a:lnTo>
                  <a:lnTo>
                    <a:pt x="272821" y="11633"/>
                  </a:lnTo>
                  <a:lnTo>
                    <a:pt x="333463" y="1333"/>
                  </a:lnTo>
                  <a:lnTo>
                    <a:pt x="364959" y="0"/>
                  </a:lnTo>
                  <a:lnTo>
                    <a:pt x="396443" y="1333"/>
                  </a:lnTo>
                  <a:lnTo>
                    <a:pt x="457085" y="11633"/>
                  </a:lnTo>
                  <a:lnTo>
                    <a:pt x="513880" y="31394"/>
                  </a:lnTo>
                  <a:lnTo>
                    <a:pt x="565937" y="59766"/>
                  </a:lnTo>
                  <a:lnTo>
                    <a:pt x="612394" y="95859"/>
                  </a:lnTo>
                  <a:lnTo>
                    <a:pt x="652360" y="138823"/>
                  </a:lnTo>
                  <a:lnTo>
                    <a:pt x="684974" y="187782"/>
                  </a:lnTo>
                  <a:lnTo>
                    <a:pt x="709358" y="241858"/>
                  </a:lnTo>
                  <a:lnTo>
                    <a:pt x="724623" y="300189"/>
                  </a:lnTo>
                  <a:lnTo>
                    <a:pt x="729919" y="361911"/>
                  </a:lnTo>
                  <a:lnTo>
                    <a:pt x="728573" y="393141"/>
                  </a:lnTo>
                  <a:lnTo>
                    <a:pt x="718185" y="453275"/>
                  </a:lnTo>
                  <a:lnTo>
                    <a:pt x="698246" y="509587"/>
                  </a:lnTo>
                  <a:lnTo>
                    <a:pt x="669645" y="561213"/>
                  </a:lnTo>
                  <a:lnTo>
                    <a:pt x="633247" y="607275"/>
                  </a:lnTo>
                  <a:lnTo>
                    <a:pt x="589927" y="646912"/>
                  </a:lnTo>
                  <a:lnTo>
                    <a:pt x="540550" y="679259"/>
                  </a:lnTo>
                  <a:lnTo>
                    <a:pt x="486016" y="703440"/>
                  </a:lnTo>
                  <a:lnTo>
                    <a:pt x="427202" y="718578"/>
                  </a:lnTo>
                  <a:lnTo>
                    <a:pt x="364959" y="723823"/>
                  </a:lnTo>
                  <a:lnTo>
                    <a:pt x="333463" y="722490"/>
                  </a:lnTo>
                  <a:lnTo>
                    <a:pt x="272821" y="712190"/>
                  </a:lnTo>
                  <a:lnTo>
                    <a:pt x="216027" y="692429"/>
                  </a:lnTo>
                  <a:lnTo>
                    <a:pt x="163969" y="664057"/>
                  </a:lnTo>
                  <a:lnTo>
                    <a:pt x="117525" y="627951"/>
                  </a:lnTo>
                  <a:lnTo>
                    <a:pt x="77546" y="585000"/>
                  </a:lnTo>
                  <a:lnTo>
                    <a:pt x="44932" y="536041"/>
                  </a:lnTo>
                  <a:lnTo>
                    <a:pt x="20561" y="481965"/>
                  </a:lnTo>
                  <a:lnTo>
                    <a:pt x="5283" y="423633"/>
                  </a:lnTo>
                  <a:lnTo>
                    <a:pt x="0" y="361911"/>
                  </a:lnTo>
                  <a:close/>
                </a:path>
              </a:pathLst>
            </a:custGeom>
            <a:ln w="19812">
              <a:solidFill>
                <a:srgbClr val="A6A6A6"/>
              </a:solidFill>
            </a:ln>
          </p:spPr>
          <p:txBody>
            <a:bodyPr wrap="square" lIns="0" tIns="0" rIns="0" bIns="0" rtlCol="0"/>
            <a:lstStyle/>
            <a:p>
              <a:pPr defTabSz="457063"/>
              <a:endParaRPr sz="1798">
                <a:solidFill>
                  <a:srgbClr val="37424A"/>
                </a:solidFill>
                <a:latin typeface="Arial Narrow"/>
              </a:endParaRPr>
            </a:p>
          </p:txBody>
        </p:sp>
        <p:pic>
          <p:nvPicPr>
            <p:cNvPr id="200" name="object 107">
              <a:extLst>
                <a:ext uri="{FF2B5EF4-FFF2-40B4-BE49-F238E27FC236}">
                  <a16:creationId xmlns:a16="http://schemas.microsoft.com/office/drawing/2014/main" id="{AD55906A-4C8C-A500-2F33-C7C10ACBD7CD}"/>
                </a:ext>
              </a:extLst>
            </p:cNvPr>
            <p:cNvPicPr/>
            <p:nvPr/>
          </p:nvPicPr>
          <p:blipFill>
            <a:blip r:embed="rId23" cstate="screen">
              <a:extLst>
                <a:ext uri="{28A0092B-C50C-407E-A947-70E740481C1C}">
                  <a14:useLocalDpi xmlns:a14="http://schemas.microsoft.com/office/drawing/2010/main"/>
                </a:ext>
              </a:extLst>
            </a:blip>
            <a:stretch>
              <a:fillRect/>
            </a:stretch>
          </p:blipFill>
          <p:spPr>
            <a:xfrm>
              <a:off x="6972300" y="3224784"/>
              <a:ext cx="454151" cy="323087"/>
            </a:xfrm>
            <a:prstGeom prst="rect">
              <a:avLst/>
            </a:prstGeom>
          </p:spPr>
        </p:pic>
        <p:pic>
          <p:nvPicPr>
            <p:cNvPr id="201" name="object 108">
              <a:extLst>
                <a:ext uri="{FF2B5EF4-FFF2-40B4-BE49-F238E27FC236}">
                  <a16:creationId xmlns:a16="http://schemas.microsoft.com/office/drawing/2014/main" id="{DCC7A82C-8D23-D6CB-46AE-C47E73A1D25A}"/>
                </a:ext>
              </a:extLst>
            </p:cNvPr>
            <p:cNvPicPr/>
            <p:nvPr/>
          </p:nvPicPr>
          <p:blipFill>
            <a:blip r:embed="rId21" cstate="print"/>
            <a:stretch>
              <a:fillRect/>
            </a:stretch>
          </p:blipFill>
          <p:spPr>
            <a:xfrm>
              <a:off x="7327391" y="3250692"/>
              <a:ext cx="182879" cy="185927"/>
            </a:xfrm>
            <a:prstGeom prst="rect">
              <a:avLst/>
            </a:prstGeom>
          </p:spPr>
        </p:pic>
        <p:pic>
          <p:nvPicPr>
            <p:cNvPr id="202" name="object 109">
              <a:extLst>
                <a:ext uri="{FF2B5EF4-FFF2-40B4-BE49-F238E27FC236}">
                  <a16:creationId xmlns:a16="http://schemas.microsoft.com/office/drawing/2014/main" id="{6F9962CC-94BE-1D4E-8C8B-12A9CEA9400A}"/>
                </a:ext>
              </a:extLst>
            </p:cNvPr>
            <p:cNvPicPr/>
            <p:nvPr/>
          </p:nvPicPr>
          <p:blipFill>
            <a:blip r:embed="rId21" cstate="print"/>
            <a:stretch>
              <a:fillRect/>
            </a:stretch>
          </p:blipFill>
          <p:spPr>
            <a:xfrm>
              <a:off x="7368539" y="3308604"/>
              <a:ext cx="182879" cy="185927"/>
            </a:xfrm>
            <a:prstGeom prst="rect">
              <a:avLst/>
            </a:prstGeom>
          </p:spPr>
        </p:pic>
        <p:pic>
          <p:nvPicPr>
            <p:cNvPr id="203" name="object 110">
              <a:extLst>
                <a:ext uri="{FF2B5EF4-FFF2-40B4-BE49-F238E27FC236}">
                  <a16:creationId xmlns:a16="http://schemas.microsoft.com/office/drawing/2014/main" id="{B9CD0A8B-D4F2-30FB-D23F-1E77465C3E89}"/>
                </a:ext>
              </a:extLst>
            </p:cNvPr>
            <p:cNvPicPr/>
            <p:nvPr/>
          </p:nvPicPr>
          <p:blipFill>
            <a:blip r:embed="rId21" cstate="print"/>
            <a:stretch>
              <a:fillRect/>
            </a:stretch>
          </p:blipFill>
          <p:spPr>
            <a:xfrm>
              <a:off x="7415783" y="3378708"/>
              <a:ext cx="184403" cy="184403"/>
            </a:xfrm>
            <a:prstGeom prst="rect">
              <a:avLst/>
            </a:prstGeom>
          </p:spPr>
        </p:pic>
        <p:sp>
          <p:nvSpPr>
            <p:cNvPr id="204" name="object 111">
              <a:extLst>
                <a:ext uri="{FF2B5EF4-FFF2-40B4-BE49-F238E27FC236}">
                  <a16:creationId xmlns:a16="http://schemas.microsoft.com/office/drawing/2014/main" id="{DE659027-851C-E650-0A41-54090F71C7F6}"/>
                </a:ext>
              </a:extLst>
            </p:cNvPr>
            <p:cNvSpPr/>
            <p:nvPr/>
          </p:nvSpPr>
          <p:spPr>
            <a:xfrm>
              <a:off x="649222" y="1722120"/>
              <a:ext cx="812165" cy="901065"/>
            </a:xfrm>
            <a:custGeom>
              <a:avLst/>
              <a:gdLst/>
              <a:ahLst/>
              <a:cxnLst/>
              <a:rect l="l" t="t" r="r" b="b"/>
              <a:pathLst>
                <a:path w="812165" h="901064">
                  <a:moveTo>
                    <a:pt x="358571" y="0"/>
                  </a:moveTo>
                  <a:lnTo>
                    <a:pt x="420116" y="4114"/>
                  </a:lnTo>
                  <a:lnTo>
                    <a:pt x="479132" y="16090"/>
                  </a:lnTo>
                  <a:lnTo>
                    <a:pt x="535101" y="35394"/>
                  </a:lnTo>
                  <a:lnTo>
                    <a:pt x="587463" y="61480"/>
                  </a:lnTo>
                  <a:lnTo>
                    <a:pt x="635698" y="93827"/>
                  </a:lnTo>
                  <a:lnTo>
                    <a:pt x="679246" y="131902"/>
                  </a:lnTo>
                  <a:lnTo>
                    <a:pt x="717575" y="175145"/>
                  </a:lnTo>
                  <a:lnTo>
                    <a:pt x="750138" y="223037"/>
                  </a:lnTo>
                  <a:lnTo>
                    <a:pt x="776414" y="275031"/>
                  </a:lnTo>
                  <a:lnTo>
                    <a:pt x="795845" y="330606"/>
                  </a:lnTo>
                  <a:lnTo>
                    <a:pt x="807910" y="389204"/>
                  </a:lnTo>
                  <a:lnTo>
                    <a:pt x="812050" y="450303"/>
                  </a:lnTo>
                  <a:lnTo>
                    <a:pt x="810996" y="481126"/>
                  </a:lnTo>
                  <a:lnTo>
                    <a:pt x="802830" y="541045"/>
                  </a:lnTo>
                  <a:lnTo>
                    <a:pt x="787019" y="598195"/>
                  </a:lnTo>
                  <a:lnTo>
                    <a:pt x="764095" y="652043"/>
                  </a:lnTo>
                  <a:lnTo>
                    <a:pt x="734606" y="702056"/>
                  </a:lnTo>
                  <a:lnTo>
                    <a:pt x="699096" y="747699"/>
                  </a:lnTo>
                  <a:lnTo>
                    <a:pt x="658088" y="788416"/>
                  </a:lnTo>
                  <a:lnTo>
                    <a:pt x="612127" y="823696"/>
                  </a:lnTo>
                  <a:lnTo>
                    <a:pt x="561771" y="852982"/>
                  </a:lnTo>
                  <a:lnTo>
                    <a:pt x="507530" y="875741"/>
                  </a:lnTo>
                  <a:lnTo>
                    <a:pt x="449973" y="891451"/>
                  </a:lnTo>
                  <a:lnTo>
                    <a:pt x="389623" y="899566"/>
                  </a:lnTo>
                  <a:lnTo>
                    <a:pt x="358571" y="900607"/>
                  </a:lnTo>
                  <a:lnTo>
                    <a:pt x="326364" y="899464"/>
                  </a:lnTo>
                  <a:lnTo>
                    <a:pt x="263194" y="890536"/>
                  </a:lnTo>
                  <a:lnTo>
                    <a:pt x="202412" y="873061"/>
                  </a:lnTo>
                  <a:lnTo>
                    <a:pt x="144856" y="847458"/>
                  </a:lnTo>
                  <a:lnTo>
                    <a:pt x="91376" y="814146"/>
                  </a:lnTo>
                  <a:lnTo>
                    <a:pt x="42811" y="773518"/>
                  </a:lnTo>
                  <a:lnTo>
                    <a:pt x="20637" y="750595"/>
                  </a:lnTo>
                  <a:lnTo>
                    <a:pt x="0" y="725995"/>
                  </a:lnTo>
                </a:path>
              </a:pathLst>
            </a:custGeom>
            <a:ln w="15239">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205" name="object 112">
              <a:extLst>
                <a:ext uri="{FF2B5EF4-FFF2-40B4-BE49-F238E27FC236}">
                  <a16:creationId xmlns:a16="http://schemas.microsoft.com/office/drawing/2014/main" id="{EEB3F0BB-EABA-C702-CDD2-9B3003C39D6A}"/>
                </a:ext>
              </a:extLst>
            </p:cNvPr>
            <p:cNvSpPr/>
            <p:nvPr/>
          </p:nvSpPr>
          <p:spPr>
            <a:xfrm>
              <a:off x="595877" y="1763268"/>
              <a:ext cx="824865" cy="818515"/>
            </a:xfrm>
            <a:custGeom>
              <a:avLst/>
              <a:gdLst/>
              <a:ahLst/>
              <a:cxnLst/>
              <a:rect l="l" t="t" r="r" b="b"/>
              <a:pathLst>
                <a:path w="824865" h="818514">
                  <a:moveTo>
                    <a:pt x="412165" y="0"/>
                  </a:moveTo>
                  <a:lnTo>
                    <a:pt x="473062" y="4432"/>
                  </a:lnTo>
                  <a:lnTo>
                    <a:pt x="531202" y="17322"/>
                  </a:lnTo>
                  <a:lnTo>
                    <a:pt x="585914" y="38011"/>
                  </a:lnTo>
                  <a:lnTo>
                    <a:pt x="636587" y="65900"/>
                  </a:lnTo>
                  <a:lnTo>
                    <a:pt x="682561" y="100330"/>
                  </a:lnTo>
                  <a:lnTo>
                    <a:pt x="723226" y="140677"/>
                  </a:lnTo>
                  <a:lnTo>
                    <a:pt x="757923" y="186309"/>
                  </a:lnTo>
                  <a:lnTo>
                    <a:pt x="786015" y="236588"/>
                  </a:lnTo>
                  <a:lnTo>
                    <a:pt x="806869" y="290893"/>
                  </a:lnTo>
                  <a:lnTo>
                    <a:pt x="819861" y="348589"/>
                  </a:lnTo>
                  <a:lnTo>
                    <a:pt x="824331" y="409028"/>
                  </a:lnTo>
                  <a:lnTo>
                    <a:pt x="823201" y="439559"/>
                  </a:lnTo>
                  <a:lnTo>
                    <a:pt x="814387" y="498703"/>
                  </a:lnTo>
                  <a:lnTo>
                    <a:pt x="797394" y="554786"/>
                  </a:lnTo>
                  <a:lnTo>
                    <a:pt x="772833" y="607161"/>
                  </a:lnTo>
                  <a:lnTo>
                    <a:pt x="741362" y="655193"/>
                  </a:lnTo>
                  <a:lnTo>
                    <a:pt x="703605" y="698258"/>
                  </a:lnTo>
                  <a:lnTo>
                    <a:pt x="660196" y="735736"/>
                  </a:lnTo>
                  <a:lnTo>
                    <a:pt x="611797" y="766965"/>
                  </a:lnTo>
                  <a:lnTo>
                    <a:pt x="559028" y="791337"/>
                  </a:lnTo>
                  <a:lnTo>
                    <a:pt x="502513" y="808202"/>
                  </a:lnTo>
                  <a:lnTo>
                    <a:pt x="442925" y="816940"/>
                  </a:lnTo>
                  <a:lnTo>
                    <a:pt x="412165" y="818057"/>
                  </a:lnTo>
                  <a:lnTo>
                    <a:pt x="381406" y="816940"/>
                  </a:lnTo>
                  <a:lnTo>
                    <a:pt x="321818" y="808202"/>
                  </a:lnTo>
                  <a:lnTo>
                    <a:pt x="265315" y="791337"/>
                  </a:lnTo>
                  <a:lnTo>
                    <a:pt x="212534" y="766965"/>
                  </a:lnTo>
                  <a:lnTo>
                    <a:pt x="164134" y="735736"/>
                  </a:lnTo>
                  <a:lnTo>
                    <a:pt x="120726" y="698258"/>
                  </a:lnTo>
                  <a:lnTo>
                    <a:pt x="82969" y="655193"/>
                  </a:lnTo>
                  <a:lnTo>
                    <a:pt x="51498" y="607161"/>
                  </a:lnTo>
                  <a:lnTo>
                    <a:pt x="26936" y="554786"/>
                  </a:lnTo>
                  <a:lnTo>
                    <a:pt x="9944" y="498703"/>
                  </a:lnTo>
                  <a:lnTo>
                    <a:pt x="1130" y="439559"/>
                  </a:lnTo>
                  <a:lnTo>
                    <a:pt x="0" y="409028"/>
                  </a:lnTo>
                  <a:lnTo>
                    <a:pt x="1435" y="374980"/>
                  </a:lnTo>
                  <a:lnTo>
                    <a:pt x="12700" y="308279"/>
                  </a:lnTo>
                  <a:lnTo>
                    <a:pt x="34810" y="244525"/>
                  </a:lnTo>
                  <a:lnTo>
                    <a:pt x="67284" y="185051"/>
                  </a:lnTo>
                  <a:lnTo>
                    <a:pt x="87287" y="157327"/>
                  </a:lnTo>
                </a:path>
              </a:pathLst>
            </a:custGeom>
            <a:ln w="15240">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206" name="object 113">
              <a:extLst>
                <a:ext uri="{FF2B5EF4-FFF2-40B4-BE49-F238E27FC236}">
                  <a16:creationId xmlns:a16="http://schemas.microsoft.com/office/drawing/2014/main" id="{B633F4CE-2E40-137A-2607-FF641B7879C3}"/>
                </a:ext>
              </a:extLst>
            </p:cNvPr>
            <p:cNvSpPr/>
            <p:nvPr/>
          </p:nvSpPr>
          <p:spPr>
            <a:xfrm>
              <a:off x="1011935" y="1673352"/>
              <a:ext cx="497205" cy="693420"/>
            </a:xfrm>
            <a:custGeom>
              <a:avLst/>
              <a:gdLst/>
              <a:ahLst/>
              <a:cxnLst/>
              <a:rect l="l" t="t" r="r" b="b"/>
              <a:pathLst>
                <a:path w="497205" h="693419">
                  <a:moveTo>
                    <a:pt x="0" y="0"/>
                  </a:moveTo>
                  <a:lnTo>
                    <a:pt x="62306" y="3860"/>
                  </a:lnTo>
                  <a:lnTo>
                    <a:pt x="122313" y="15125"/>
                  </a:lnTo>
                  <a:lnTo>
                    <a:pt x="179527" y="33350"/>
                  </a:lnTo>
                  <a:lnTo>
                    <a:pt x="233514" y="58039"/>
                  </a:lnTo>
                  <a:lnTo>
                    <a:pt x="283794" y="88760"/>
                  </a:lnTo>
                  <a:lnTo>
                    <a:pt x="329907" y="125031"/>
                  </a:lnTo>
                  <a:lnTo>
                    <a:pt x="371373" y="166382"/>
                  </a:lnTo>
                  <a:lnTo>
                    <a:pt x="407746" y="212369"/>
                  </a:lnTo>
                  <a:lnTo>
                    <a:pt x="438543" y="262496"/>
                  </a:lnTo>
                  <a:lnTo>
                    <a:pt x="463308" y="316331"/>
                  </a:lnTo>
                  <a:lnTo>
                    <a:pt x="481571" y="373392"/>
                  </a:lnTo>
                  <a:lnTo>
                    <a:pt x="492874" y="433222"/>
                  </a:lnTo>
                  <a:lnTo>
                    <a:pt x="496747" y="495363"/>
                  </a:lnTo>
                  <a:lnTo>
                    <a:pt x="495579" y="529323"/>
                  </a:lnTo>
                  <a:lnTo>
                    <a:pt x="492086" y="563041"/>
                  </a:lnTo>
                  <a:lnTo>
                    <a:pt x="486308" y="596404"/>
                  </a:lnTo>
                  <a:lnTo>
                    <a:pt x="478256" y="629285"/>
                  </a:lnTo>
                  <a:lnTo>
                    <a:pt x="467956" y="661593"/>
                  </a:lnTo>
                  <a:lnTo>
                    <a:pt x="455434" y="693178"/>
                  </a:lnTo>
                </a:path>
              </a:pathLst>
            </a:custGeom>
            <a:ln w="15240">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207" name="object 114">
              <a:extLst>
                <a:ext uri="{FF2B5EF4-FFF2-40B4-BE49-F238E27FC236}">
                  <a16:creationId xmlns:a16="http://schemas.microsoft.com/office/drawing/2014/main" id="{7A37D7BA-D327-B9AA-FF0D-983E0D20E7ED}"/>
                </a:ext>
              </a:extLst>
            </p:cNvPr>
            <p:cNvSpPr/>
            <p:nvPr/>
          </p:nvSpPr>
          <p:spPr>
            <a:xfrm>
              <a:off x="647696" y="1807464"/>
              <a:ext cx="728980" cy="723900"/>
            </a:xfrm>
            <a:custGeom>
              <a:avLst/>
              <a:gdLst/>
              <a:ahLst/>
              <a:cxnLst/>
              <a:rect l="l" t="t" r="r" b="b"/>
              <a:pathLst>
                <a:path w="728980" h="723900">
                  <a:moveTo>
                    <a:pt x="364197" y="0"/>
                  </a:moveTo>
                  <a:lnTo>
                    <a:pt x="302082" y="5245"/>
                  </a:lnTo>
                  <a:lnTo>
                    <a:pt x="243382" y="20383"/>
                  </a:lnTo>
                  <a:lnTo>
                    <a:pt x="188963" y="44564"/>
                  </a:lnTo>
                  <a:lnTo>
                    <a:pt x="139700" y="76898"/>
                  </a:lnTo>
                  <a:lnTo>
                    <a:pt x="96469" y="116535"/>
                  </a:lnTo>
                  <a:lnTo>
                    <a:pt x="60147" y="162598"/>
                  </a:lnTo>
                  <a:lnTo>
                    <a:pt x="31597" y="214223"/>
                  </a:lnTo>
                  <a:lnTo>
                    <a:pt x="11709" y="270548"/>
                  </a:lnTo>
                  <a:lnTo>
                    <a:pt x="1346" y="330682"/>
                  </a:lnTo>
                  <a:lnTo>
                    <a:pt x="0" y="361911"/>
                  </a:lnTo>
                  <a:lnTo>
                    <a:pt x="1346" y="393141"/>
                  </a:lnTo>
                  <a:lnTo>
                    <a:pt x="11709" y="453275"/>
                  </a:lnTo>
                  <a:lnTo>
                    <a:pt x="31597" y="509587"/>
                  </a:lnTo>
                  <a:lnTo>
                    <a:pt x="60147" y="561213"/>
                  </a:lnTo>
                  <a:lnTo>
                    <a:pt x="96469" y="607275"/>
                  </a:lnTo>
                  <a:lnTo>
                    <a:pt x="139700" y="646912"/>
                  </a:lnTo>
                  <a:lnTo>
                    <a:pt x="188963" y="679259"/>
                  </a:lnTo>
                  <a:lnTo>
                    <a:pt x="243382" y="703440"/>
                  </a:lnTo>
                  <a:lnTo>
                    <a:pt x="302082" y="718578"/>
                  </a:lnTo>
                  <a:lnTo>
                    <a:pt x="364197" y="723823"/>
                  </a:lnTo>
                  <a:lnTo>
                    <a:pt x="395630" y="722490"/>
                  </a:lnTo>
                  <a:lnTo>
                    <a:pt x="456145" y="712190"/>
                  </a:lnTo>
                  <a:lnTo>
                    <a:pt x="512813" y="692416"/>
                  </a:lnTo>
                  <a:lnTo>
                    <a:pt x="564756" y="664057"/>
                  </a:lnTo>
                  <a:lnTo>
                    <a:pt x="611124" y="627951"/>
                  </a:lnTo>
                  <a:lnTo>
                    <a:pt x="651002" y="585000"/>
                  </a:lnTo>
                  <a:lnTo>
                    <a:pt x="683552" y="536041"/>
                  </a:lnTo>
                  <a:lnTo>
                    <a:pt x="707885" y="481965"/>
                  </a:lnTo>
                  <a:lnTo>
                    <a:pt x="723125" y="423633"/>
                  </a:lnTo>
                  <a:lnTo>
                    <a:pt x="728395" y="361911"/>
                  </a:lnTo>
                  <a:lnTo>
                    <a:pt x="727062" y="330682"/>
                  </a:lnTo>
                  <a:lnTo>
                    <a:pt x="716686" y="270548"/>
                  </a:lnTo>
                  <a:lnTo>
                    <a:pt x="696798" y="214223"/>
                  </a:lnTo>
                  <a:lnTo>
                    <a:pt x="668248" y="162598"/>
                  </a:lnTo>
                  <a:lnTo>
                    <a:pt x="631926" y="116535"/>
                  </a:lnTo>
                  <a:lnTo>
                    <a:pt x="588695" y="76898"/>
                  </a:lnTo>
                  <a:lnTo>
                    <a:pt x="539432" y="44564"/>
                  </a:lnTo>
                  <a:lnTo>
                    <a:pt x="485013" y="20383"/>
                  </a:lnTo>
                  <a:lnTo>
                    <a:pt x="426313" y="5245"/>
                  </a:lnTo>
                  <a:lnTo>
                    <a:pt x="364197" y="0"/>
                  </a:lnTo>
                  <a:close/>
                </a:path>
              </a:pathLst>
            </a:custGeom>
            <a:solidFill>
              <a:srgbClr val="FFFFFF"/>
            </a:solidFill>
          </p:spPr>
          <p:txBody>
            <a:bodyPr wrap="square" lIns="0" tIns="0" rIns="0" bIns="0" rtlCol="0"/>
            <a:lstStyle/>
            <a:p>
              <a:pPr defTabSz="457063"/>
              <a:endParaRPr sz="1798">
                <a:solidFill>
                  <a:srgbClr val="37424A"/>
                </a:solidFill>
                <a:latin typeface="Arial Narrow"/>
              </a:endParaRPr>
            </a:p>
          </p:txBody>
        </p:sp>
        <p:sp>
          <p:nvSpPr>
            <p:cNvPr id="208" name="object 115">
              <a:extLst>
                <a:ext uri="{FF2B5EF4-FFF2-40B4-BE49-F238E27FC236}">
                  <a16:creationId xmlns:a16="http://schemas.microsoft.com/office/drawing/2014/main" id="{87A8513D-2216-73FB-3FC8-CB6E08E88C40}"/>
                </a:ext>
              </a:extLst>
            </p:cNvPr>
            <p:cNvSpPr/>
            <p:nvPr/>
          </p:nvSpPr>
          <p:spPr>
            <a:xfrm>
              <a:off x="648461" y="1808223"/>
              <a:ext cx="728980" cy="723900"/>
            </a:xfrm>
            <a:custGeom>
              <a:avLst/>
              <a:gdLst/>
              <a:ahLst/>
              <a:cxnLst/>
              <a:rect l="l" t="t" r="r" b="b"/>
              <a:pathLst>
                <a:path w="728980" h="723900">
                  <a:moveTo>
                    <a:pt x="0" y="361911"/>
                  </a:moveTo>
                  <a:lnTo>
                    <a:pt x="5270" y="300189"/>
                  </a:lnTo>
                  <a:lnTo>
                    <a:pt x="20510" y="241858"/>
                  </a:lnTo>
                  <a:lnTo>
                    <a:pt x="44843" y="187782"/>
                  </a:lnTo>
                  <a:lnTo>
                    <a:pt x="77381" y="138823"/>
                  </a:lnTo>
                  <a:lnTo>
                    <a:pt x="117271" y="95859"/>
                  </a:lnTo>
                  <a:lnTo>
                    <a:pt x="163626" y="59766"/>
                  </a:lnTo>
                  <a:lnTo>
                    <a:pt x="215582" y="31394"/>
                  </a:lnTo>
                  <a:lnTo>
                    <a:pt x="272249" y="11633"/>
                  </a:lnTo>
                  <a:lnTo>
                    <a:pt x="332765" y="1333"/>
                  </a:lnTo>
                  <a:lnTo>
                    <a:pt x="364197" y="0"/>
                  </a:lnTo>
                  <a:lnTo>
                    <a:pt x="395617" y="1333"/>
                  </a:lnTo>
                  <a:lnTo>
                    <a:pt x="456133" y="11633"/>
                  </a:lnTo>
                  <a:lnTo>
                    <a:pt x="512813" y="31394"/>
                  </a:lnTo>
                  <a:lnTo>
                    <a:pt x="564756" y="59766"/>
                  </a:lnTo>
                  <a:lnTo>
                    <a:pt x="611111" y="95859"/>
                  </a:lnTo>
                  <a:lnTo>
                    <a:pt x="651002" y="138823"/>
                  </a:lnTo>
                  <a:lnTo>
                    <a:pt x="683552" y="187782"/>
                  </a:lnTo>
                  <a:lnTo>
                    <a:pt x="707872" y="241858"/>
                  </a:lnTo>
                  <a:lnTo>
                    <a:pt x="723112" y="300189"/>
                  </a:lnTo>
                  <a:lnTo>
                    <a:pt x="728395" y="361911"/>
                  </a:lnTo>
                  <a:lnTo>
                    <a:pt x="727049" y="393141"/>
                  </a:lnTo>
                  <a:lnTo>
                    <a:pt x="716686" y="453275"/>
                  </a:lnTo>
                  <a:lnTo>
                    <a:pt x="696798" y="509587"/>
                  </a:lnTo>
                  <a:lnTo>
                    <a:pt x="668248" y="561213"/>
                  </a:lnTo>
                  <a:lnTo>
                    <a:pt x="631926" y="607275"/>
                  </a:lnTo>
                  <a:lnTo>
                    <a:pt x="588695" y="646912"/>
                  </a:lnTo>
                  <a:lnTo>
                    <a:pt x="539432" y="679259"/>
                  </a:lnTo>
                  <a:lnTo>
                    <a:pt x="485013" y="703440"/>
                  </a:lnTo>
                  <a:lnTo>
                    <a:pt x="426300" y="718578"/>
                  </a:lnTo>
                  <a:lnTo>
                    <a:pt x="364197" y="723823"/>
                  </a:lnTo>
                  <a:lnTo>
                    <a:pt x="332765" y="722490"/>
                  </a:lnTo>
                  <a:lnTo>
                    <a:pt x="272249" y="712190"/>
                  </a:lnTo>
                  <a:lnTo>
                    <a:pt x="215582" y="692429"/>
                  </a:lnTo>
                  <a:lnTo>
                    <a:pt x="163626" y="664057"/>
                  </a:lnTo>
                  <a:lnTo>
                    <a:pt x="117271" y="627951"/>
                  </a:lnTo>
                  <a:lnTo>
                    <a:pt x="77381" y="585000"/>
                  </a:lnTo>
                  <a:lnTo>
                    <a:pt x="44843" y="536041"/>
                  </a:lnTo>
                  <a:lnTo>
                    <a:pt x="20510" y="481965"/>
                  </a:lnTo>
                  <a:lnTo>
                    <a:pt x="5270" y="423633"/>
                  </a:lnTo>
                  <a:lnTo>
                    <a:pt x="0" y="361911"/>
                  </a:lnTo>
                  <a:close/>
                </a:path>
              </a:pathLst>
            </a:custGeom>
            <a:ln w="19812">
              <a:solidFill>
                <a:srgbClr val="A6A6A6"/>
              </a:solidFill>
            </a:ln>
          </p:spPr>
          <p:txBody>
            <a:bodyPr wrap="square" lIns="0" tIns="0" rIns="0" bIns="0" rtlCol="0"/>
            <a:lstStyle/>
            <a:p>
              <a:pPr defTabSz="457063"/>
              <a:endParaRPr sz="1798">
                <a:solidFill>
                  <a:srgbClr val="37424A"/>
                </a:solidFill>
                <a:latin typeface="Arial Narrow"/>
              </a:endParaRPr>
            </a:p>
          </p:txBody>
        </p:sp>
        <p:pic>
          <p:nvPicPr>
            <p:cNvPr id="209" name="object 116">
              <a:extLst>
                <a:ext uri="{FF2B5EF4-FFF2-40B4-BE49-F238E27FC236}">
                  <a16:creationId xmlns:a16="http://schemas.microsoft.com/office/drawing/2014/main" id="{12DEE617-44D0-9096-0BB7-95AB7EE48563}"/>
                </a:ext>
              </a:extLst>
            </p:cNvPr>
            <p:cNvPicPr/>
            <p:nvPr/>
          </p:nvPicPr>
          <p:blipFill>
            <a:blip r:embed="rId24" cstate="screen">
              <a:extLst>
                <a:ext uri="{28A0092B-C50C-407E-A947-70E740481C1C}">
                  <a14:useLocalDpi xmlns:a14="http://schemas.microsoft.com/office/drawing/2010/main"/>
                </a:ext>
              </a:extLst>
            </a:blip>
            <a:stretch>
              <a:fillRect/>
            </a:stretch>
          </p:blipFill>
          <p:spPr>
            <a:xfrm>
              <a:off x="1047064" y="2206121"/>
              <a:ext cx="190766" cy="195067"/>
            </a:xfrm>
            <a:prstGeom prst="rect">
              <a:avLst/>
            </a:prstGeom>
          </p:spPr>
        </p:pic>
        <p:sp>
          <p:nvSpPr>
            <p:cNvPr id="210" name="object 117">
              <a:extLst>
                <a:ext uri="{FF2B5EF4-FFF2-40B4-BE49-F238E27FC236}">
                  <a16:creationId xmlns:a16="http://schemas.microsoft.com/office/drawing/2014/main" id="{36D8E716-406B-F002-5A0B-9B501789DA27}"/>
                </a:ext>
              </a:extLst>
            </p:cNvPr>
            <p:cNvSpPr/>
            <p:nvPr/>
          </p:nvSpPr>
          <p:spPr>
            <a:xfrm>
              <a:off x="1047052" y="2206121"/>
              <a:ext cx="191135" cy="195580"/>
            </a:xfrm>
            <a:custGeom>
              <a:avLst/>
              <a:gdLst/>
              <a:ahLst/>
              <a:cxnLst/>
              <a:rect l="l" t="t" r="r" b="b"/>
              <a:pathLst>
                <a:path w="191134" h="195580">
                  <a:moveTo>
                    <a:pt x="71863" y="0"/>
                  </a:moveTo>
                  <a:lnTo>
                    <a:pt x="190776" y="66425"/>
                  </a:lnTo>
                  <a:lnTo>
                    <a:pt x="118913" y="195074"/>
                  </a:lnTo>
                  <a:lnTo>
                    <a:pt x="0" y="128648"/>
                  </a:lnTo>
                  <a:lnTo>
                    <a:pt x="71863" y="0"/>
                  </a:lnTo>
                  <a:close/>
                </a:path>
              </a:pathLst>
            </a:custGeom>
            <a:ln w="9525">
              <a:solidFill>
                <a:srgbClr val="000000"/>
              </a:solidFill>
            </a:ln>
          </p:spPr>
          <p:txBody>
            <a:bodyPr wrap="square" lIns="0" tIns="0" rIns="0" bIns="0" rtlCol="0"/>
            <a:lstStyle/>
            <a:p>
              <a:pPr defTabSz="457063"/>
              <a:endParaRPr sz="1798">
                <a:solidFill>
                  <a:srgbClr val="37424A"/>
                </a:solidFill>
                <a:latin typeface="Arial Narrow"/>
              </a:endParaRPr>
            </a:p>
          </p:txBody>
        </p:sp>
        <p:pic>
          <p:nvPicPr>
            <p:cNvPr id="211" name="object 118">
              <a:extLst>
                <a:ext uri="{FF2B5EF4-FFF2-40B4-BE49-F238E27FC236}">
                  <a16:creationId xmlns:a16="http://schemas.microsoft.com/office/drawing/2014/main" id="{BD19466C-E1E9-6B04-2792-B0AF61A5C862}"/>
                </a:ext>
              </a:extLst>
            </p:cNvPr>
            <p:cNvPicPr/>
            <p:nvPr/>
          </p:nvPicPr>
          <p:blipFill>
            <a:blip r:embed="rId25" cstate="screen">
              <a:extLst>
                <a:ext uri="{28A0092B-C50C-407E-A947-70E740481C1C}">
                  <a14:useLocalDpi xmlns:a14="http://schemas.microsoft.com/office/drawing/2010/main"/>
                </a:ext>
              </a:extLst>
            </a:blip>
            <a:stretch>
              <a:fillRect/>
            </a:stretch>
          </p:blipFill>
          <p:spPr>
            <a:xfrm>
              <a:off x="886967" y="2043684"/>
              <a:ext cx="190499" cy="486155"/>
            </a:xfrm>
            <a:prstGeom prst="rect">
              <a:avLst/>
            </a:prstGeom>
          </p:spPr>
        </p:pic>
        <p:sp>
          <p:nvSpPr>
            <p:cNvPr id="212" name="object 119">
              <a:extLst>
                <a:ext uri="{FF2B5EF4-FFF2-40B4-BE49-F238E27FC236}">
                  <a16:creationId xmlns:a16="http://schemas.microsoft.com/office/drawing/2014/main" id="{E512F2B1-A9BD-F297-1322-58BC748F6AC6}"/>
                </a:ext>
              </a:extLst>
            </p:cNvPr>
            <p:cNvSpPr/>
            <p:nvPr/>
          </p:nvSpPr>
          <p:spPr>
            <a:xfrm>
              <a:off x="646174" y="2921508"/>
              <a:ext cx="812165" cy="901065"/>
            </a:xfrm>
            <a:custGeom>
              <a:avLst/>
              <a:gdLst/>
              <a:ahLst/>
              <a:cxnLst/>
              <a:rect l="l" t="t" r="r" b="b"/>
              <a:pathLst>
                <a:path w="812165" h="901064">
                  <a:moveTo>
                    <a:pt x="358571" y="0"/>
                  </a:moveTo>
                  <a:lnTo>
                    <a:pt x="420116" y="4114"/>
                  </a:lnTo>
                  <a:lnTo>
                    <a:pt x="479132" y="16090"/>
                  </a:lnTo>
                  <a:lnTo>
                    <a:pt x="535101" y="35394"/>
                  </a:lnTo>
                  <a:lnTo>
                    <a:pt x="587463" y="61480"/>
                  </a:lnTo>
                  <a:lnTo>
                    <a:pt x="635698" y="93827"/>
                  </a:lnTo>
                  <a:lnTo>
                    <a:pt x="679246" y="131902"/>
                  </a:lnTo>
                  <a:lnTo>
                    <a:pt x="717575" y="175145"/>
                  </a:lnTo>
                  <a:lnTo>
                    <a:pt x="750138" y="223037"/>
                  </a:lnTo>
                  <a:lnTo>
                    <a:pt x="776414" y="275031"/>
                  </a:lnTo>
                  <a:lnTo>
                    <a:pt x="795845" y="330606"/>
                  </a:lnTo>
                  <a:lnTo>
                    <a:pt x="807910" y="389204"/>
                  </a:lnTo>
                  <a:lnTo>
                    <a:pt x="812050" y="450303"/>
                  </a:lnTo>
                  <a:lnTo>
                    <a:pt x="810996" y="481126"/>
                  </a:lnTo>
                  <a:lnTo>
                    <a:pt x="802830" y="541045"/>
                  </a:lnTo>
                  <a:lnTo>
                    <a:pt x="787019" y="598195"/>
                  </a:lnTo>
                  <a:lnTo>
                    <a:pt x="764095" y="652043"/>
                  </a:lnTo>
                  <a:lnTo>
                    <a:pt x="734606" y="702056"/>
                  </a:lnTo>
                  <a:lnTo>
                    <a:pt x="699096" y="747699"/>
                  </a:lnTo>
                  <a:lnTo>
                    <a:pt x="658088" y="788416"/>
                  </a:lnTo>
                  <a:lnTo>
                    <a:pt x="612127" y="823696"/>
                  </a:lnTo>
                  <a:lnTo>
                    <a:pt x="561771" y="852982"/>
                  </a:lnTo>
                  <a:lnTo>
                    <a:pt x="507530" y="875741"/>
                  </a:lnTo>
                  <a:lnTo>
                    <a:pt x="449973" y="891451"/>
                  </a:lnTo>
                  <a:lnTo>
                    <a:pt x="389623" y="899566"/>
                  </a:lnTo>
                  <a:lnTo>
                    <a:pt x="358571" y="900607"/>
                  </a:lnTo>
                  <a:lnTo>
                    <a:pt x="326364" y="899464"/>
                  </a:lnTo>
                  <a:lnTo>
                    <a:pt x="263194" y="890536"/>
                  </a:lnTo>
                  <a:lnTo>
                    <a:pt x="202412" y="873061"/>
                  </a:lnTo>
                  <a:lnTo>
                    <a:pt x="144856" y="847458"/>
                  </a:lnTo>
                  <a:lnTo>
                    <a:pt x="91376" y="814146"/>
                  </a:lnTo>
                  <a:lnTo>
                    <a:pt x="42811" y="773518"/>
                  </a:lnTo>
                  <a:lnTo>
                    <a:pt x="20637" y="750595"/>
                  </a:lnTo>
                  <a:lnTo>
                    <a:pt x="0" y="725995"/>
                  </a:lnTo>
                </a:path>
              </a:pathLst>
            </a:custGeom>
            <a:ln w="15239">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213" name="object 120">
              <a:extLst>
                <a:ext uri="{FF2B5EF4-FFF2-40B4-BE49-F238E27FC236}">
                  <a16:creationId xmlns:a16="http://schemas.microsoft.com/office/drawing/2014/main" id="{00D9B16A-25EB-111C-69FF-B9EA45E8B2F1}"/>
                </a:ext>
              </a:extLst>
            </p:cNvPr>
            <p:cNvSpPr/>
            <p:nvPr/>
          </p:nvSpPr>
          <p:spPr>
            <a:xfrm>
              <a:off x="592829" y="2962656"/>
              <a:ext cx="824865" cy="818515"/>
            </a:xfrm>
            <a:custGeom>
              <a:avLst/>
              <a:gdLst/>
              <a:ahLst/>
              <a:cxnLst/>
              <a:rect l="l" t="t" r="r" b="b"/>
              <a:pathLst>
                <a:path w="824865" h="818514">
                  <a:moveTo>
                    <a:pt x="412165" y="0"/>
                  </a:moveTo>
                  <a:lnTo>
                    <a:pt x="473062" y="4432"/>
                  </a:lnTo>
                  <a:lnTo>
                    <a:pt x="531202" y="17322"/>
                  </a:lnTo>
                  <a:lnTo>
                    <a:pt x="585914" y="38011"/>
                  </a:lnTo>
                  <a:lnTo>
                    <a:pt x="636587" y="65900"/>
                  </a:lnTo>
                  <a:lnTo>
                    <a:pt x="682561" y="100330"/>
                  </a:lnTo>
                  <a:lnTo>
                    <a:pt x="723226" y="140677"/>
                  </a:lnTo>
                  <a:lnTo>
                    <a:pt x="757923" y="186309"/>
                  </a:lnTo>
                  <a:lnTo>
                    <a:pt x="786015" y="236588"/>
                  </a:lnTo>
                  <a:lnTo>
                    <a:pt x="806869" y="290893"/>
                  </a:lnTo>
                  <a:lnTo>
                    <a:pt x="819861" y="348589"/>
                  </a:lnTo>
                  <a:lnTo>
                    <a:pt x="824331" y="409028"/>
                  </a:lnTo>
                  <a:lnTo>
                    <a:pt x="823201" y="439559"/>
                  </a:lnTo>
                  <a:lnTo>
                    <a:pt x="814387" y="498703"/>
                  </a:lnTo>
                  <a:lnTo>
                    <a:pt x="797394" y="554786"/>
                  </a:lnTo>
                  <a:lnTo>
                    <a:pt x="772833" y="607161"/>
                  </a:lnTo>
                  <a:lnTo>
                    <a:pt x="741362" y="655193"/>
                  </a:lnTo>
                  <a:lnTo>
                    <a:pt x="703605" y="698258"/>
                  </a:lnTo>
                  <a:lnTo>
                    <a:pt x="660196" y="735736"/>
                  </a:lnTo>
                  <a:lnTo>
                    <a:pt x="611797" y="766965"/>
                  </a:lnTo>
                  <a:lnTo>
                    <a:pt x="559028" y="791337"/>
                  </a:lnTo>
                  <a:lnTo>
                    <a:pt x="502513" y="808202"/>
                  </a:lnTo>
                  <a:lnTo>
                    <a:pt x="442925" y="816940"/>
                  </a:lnTo>
                  <a:lnTo>
                    <a:pt x="412165" y="818057"/>
                  </a:lnTo>
                  <a:lnTo>
                    <a:pt x="381406" y="816940"/>
                  </a:lnTo>
                  <a:lnTo>
                    <a:pt x="321818" y="808202"/>
                  </a:lnTo>
                  <a:lnTo>
                    <a:pt x="265315" y="791337"/>
                  </a:lnTo>
                  <a:lnTo>
                    <a:pt x="212534" y="766965"/>
                  </a:lnTo>
                  <a:lnTo>
                    <a:pt x="164134" y="735736"/>
                  </a:lnTo>
                  <a:lnTo>
                    <a:pt x="120726" y="698258"/>
                  </a:lnTo>
                  <a:lnTo>
                    <a:pt x="82969" y="655193"/>
                  </a:lnTo>
                  <a:lnTo>
                    <a:pt x="51498" y="607161"/>
                  </a:lnTo>
                  <a:lnTo>
                    <a:pt x="26936" y="554786"/>
                  </a:lnTo>
                  <a:lnTo>
                    <a:pt x="9944" y="498703"/>
                  </a:lnTo>
                  <a:lnTo>
                    <a:pt x="1130" y="439559"/>
                  </a:lnTo>
                  <a:lnTo>
                    <a:pt x="0" y="409028"/>
                  </a:lnTo>
                  <a:lnTo>
                    <a:pt x="1435" y="374980"/>
                  </a:lnTo>
                  <a:lnTo>
                    <a:pt x="12700" y="308279"/>
                  </a:lnTo>
                  <a:lnTo>
                    <a:pt x="34810" y="244525"/>
                  </a:lnTo>
                  <a:lnTo>
                    <a:pt x="67284" y="185051"/>
                  </a:lnTo>
                  <a:lnTo>
                    <a:pt x="87287" y="157327"/>
                  </a:lnTo>
                </a:path>
              </a:pathLst>
            </a:custGeom>
            <a:ln w="15240">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214" name="object 121">
              <a:extLst>
                <a:ext uri="{FF2B5EF4-FFF2-40B4-BE49-F238E27FC236}">
                  <a16:creationId xmlns:a16="http://schemas.microsoft.com/office/drawing/2014/main" id="{4363B289-7D73-8429-FEA5-E5F7EC1BCDC6}"/>
                </a:ext>
              </a:extLst>
            </p:cNvPr>
            <p:cNvSpPr/>
            <p:nvPr/>
          </p:nvSpPr>
          <p:spPr>
            <a:xfrm>
              <a:off x="1008887" y="2872740"/>
              <a:ext cx="498475" cy="693420"/>
            </a:xfrm>
            <a:custGeom>
              <a:avLst/>
              <a:gdLst/>
              <a:ahLst/>
              <a:cxnLst/>
              <a:rect l="l" t="t" r="r" b="b"/>
              <a:pathLst>
                <a:path w="498475" h="693420">
                  <a:moveTo>
                    <a:pt x="0" y="0"/>
                  </a:moveTo>
                  <a:lnTo>
                    <a:pt x="62496" y="3860"/>
                  </a:lnTo>
                  <a:lnTo>
                    <a:pt x="122682" y="15125"/>
                  </a:lnTo>
                  <a:lnTo>
                    <a:pt x="180086" y="33350"/>
                  </a:lnTo>
                  <a:lnTo>
                    <a:pt x="234238" y="58039"/>
                  </a:lnTo>
                  <a:lnTo>
                    <a:pt x="284670" y="88760"/>
                  </a:lnTo>
                  <a:lnTo>
                    <a:pt x="330911" y="125031"/>
                  </a:lnTo>
                  <a:lnTo>
                    <a:pt x="372516" y="166382"/>
                  </a:lnTo>
                  <a:lnTo>
                    <a:pt x="408990" y="212369"/>
                  </a:lnTo>
                  <a:lnTo>
                    <a:pt x="439889" y="262496"/>
                  </a:lnTo>
                  <a:lnTo>
                    <a:pt x="464731" y="316331"/>
                  </a:lnTo>
                  <a:lnTo>
                    <a:pt x="483044" y="373392"/>
                  </a:lnTo>
                  <a:lnTo>
                    <a:pt x="494385" y="433222"/>
                  </a:lnTo>
                  <a:lnTo>
                    <a:pt x="498271" y="495363"/>
                  </a:lnTo>
                  <a:lnTo>
                    <a:pt x="497090" y="529323"/>
                  </a:lnTo>
                  <a:lnTo>
                    <a:pt x="493598" y="563041"/>
                  </a:lnTo>
                  <a:lnTo>
                    <a:pt x="487806" y="596404"/>
                  </a:lnTo>
                  <a:lnTo>
                    <a:pt x="479729" y="629285"/>
                  </a:lnTo>
                  <a:lnTo>
                    <a:pt x="469392" y="661593"/>
                  </a:lnTo>
                  <a:lnTo>
                    <a:pt x="456831" y="693178"/>
                  </a:lnTo>
                </a:path>
              </a:pathLst>
            </a:custGeom>
            <a:ln w="15240">
              <a:solidFill>
                <a:srgbClr val="A6A6A6"/>
              </a:solidFill>
            </a:ln>
          </p:spPr>
          <p:txBody>
            <a:bodyPr wrap="square" lIns="0" tIns="0" rIns="0" bIns="0" rtlCol="0"/>
            <a:lstStyle/>
            <a:p>
              <a:pPr defTabSz="457063"/>
              <a:endParaRPr sz="1798">
                <a:solidFill>
                  <a:srgbClr val="37424A"/>
                </a:solidFill>
                <a:latin typeface="Arial Narrow"/>
              </a:endParaRPr>
            </a:p>
          </p:txBody>
        </p:sp>
        <p:sp>
          <p:nvSpPr>
            <p:cNvPr id="215" name="object 122">
              <a:extLst>
                <a:ext uri="{FF2B5EF4-FFF2-40B4-BE49-F238E27FC236}">
                  <a16:creationId xmlns:a16="http://schemas.microsoft.com/office/drawing/2014/main" id="{2E2DCB09-14E2-48E0-F4B1-7586F00DC525}"/>
                </a:ext>
              </a:extLst>
            </p:cNvPr>
            <p:cNvSpPr/>
            <p:nvPr/>
          </p:nvSpPr>
          <p:spPr>
            <a:xfrm>
              <a:off x="644648" y="3006852"/>
              <a:ext cx="728980" cy="725805"/>
            </a:xfrm>
            <a:custGeom>
              <a:avLst/>
              <a:gdLst/>
              <a:ahLst/>
              <a:cxnLst/>
              <a:rect l="l" t="t" r="r" b="b"/>
              <a:pathLst>
                <a:path w="728980" h="725804">
                  <a:moveTo>
                    <a:pt x="364197" y="0"/>
                  </a:moveTo>
                  <a:lnTo>
                    <a:pt x="302082" y="5257"/>
                  </a:lnTo>
                  <a:lnTo>
                    <a:pt x="243382" y="20421"/>
                  </a:lnTo>
                  <a:lnTo>
                    <a:pt x="188963" y="44653"/>
                  </a:lnTo>
                  <a:lnTo>
                    <a:pt x="139700" y="77063"/>
                  </a:lnTo>
                  <a:lnTo>
                    <a:pt x="96469" y="116789"/>
                  </a:lnTo>
                  <a:lnTo>
                    <a:pt x="60147" y="162941"/>
                  </a:lnTo>
                  <a:lnTo>
                    <a:pt x="31597" y="214680"/>
                  </a:lnTo>
                  <a:lnTo>
                    <a:pt x="11709" y="271119"/>
                  </a:lnTo>
                  <a:lnTo>
                    <a:pt x="1346" y="331381"/>
                  </a:lnTo>
                  <a:lnTo>
                    <a:pt x="0" y="362673"/>
                  </a:lnTo>
                  <a:lnTo>
                    <a:pt x="1346" y="393966"/>
                  </a:lnTo>
                  <a:lnTo>
                    <a:pt x="11709" y="454228"/>
                  </a:lnTo>
                  <a:lnTo>
                    <a:pt x="31597" y="510667"/>
                  </a:lnTo>
                  <a:lnTo>
                    <a:pt x="60147" y="562394"/>
                  </a:lnTo>
                  <a:lnTo>
                    <a:pt x="96469" y="608558"/>
                  </a:lnTo>
                  <a:lnTo>
                    <a:pt x="139700" y="648284"/>
                  </a:lnTo>
                  <a:lnTo>
                    <a:pt x="188963" y="680694"/>
                  </a:lnTo>
                  <a:lnTo>
                    <a:pt x="243382" y="704913"/>
                  </a:lnTo>
                  <a:lnTo>
                    <a:pt x="302082" y="720090"/>
                  </a:lnTo>
                  <a:lnTo>
                    <a:pt x="364197" y="725347"/>
                  </a:lnTo>
                  <a:lnTo>
                    <a:pt x="395630" y="724014"/>
                  </a:lnTo>
                  <a:lnTo>
                    <a:pt x="456145" y="713689"/>
                  </a:lnTo>
                  <a:lnTo>
                    <a:pt x="512813" y="693877"/>
                  </a:lnTo>
                  <a:lnTo>
                    <a:pt x="564756" y="665454"/>
                  </a:lnTo>
                  <a:lnTo>
                    <a:pt x="611111" y="629272"/>
                  </a:lnTo>
                  <a:lnTo>
                    <a:pt x="651002" y="586232"/>
                  </a:lnTo>
                  <a:lnTo>
                    <a:pt x="683552" y="537171"/>
                  </a:lnTo>
                  <a:lnTo>
                    <a:pt x="707885" y="482981"/>
                  </a:lnTo>
                  <a:lnTo>
                    <a:pt x="723125" y="424522"/>
                  </a:lnTo>
                  <a:lnTo>
                    <a:pt x="728395" y="362673"/>
                  </a:lnTo>
                  <a:lnTo>
                    <a:pt x="727062" y="331381"/>
                  </a:lnTo>
                  <a:lnTo>
                    <a:pt x="716686" y="271119"/>
                  </a:lnTo>
                  <a:lnTo>
                    <a:pt x="696798" y="214680"/>
                  </a:lnTo>
                  <a:lnTo>
                    <a:pt x="668248" y="162941"/>
                  </a:lnTo>
                  <a:lnTo>
                    <a:pt x="631926" y="116789"/>
                  </a:lnTo>
                  <a:lnTo>
                    <a:pt x="588695" y="77063"/>
                  </a:lnTo>
                  <a:lnTo>
                    <a:pt x="539432" y="44653"/>
                  </a:lnTo>
                  <a:lnTo>
                    <a:pt x="485013" y="20421"/>
                  </a:lnTo>
                  <a:lnTo>
                    <a:pt x="426313" y="5257"/>
                  </a:lnTo>
                  <a:lnTo>
                    <a:pt x="364197" y="0"/>
                  </a:lnTo>
                  <a:close/>
                </a:path>
              </a:pathLst>
            </a:custGeom>
            <a:solidFill>
              <a:srgbClr val="FFFFFF"/>
            </a:solidFill>
          </p:spPr>
          <p:txBody>
            <a:bodyPr wrap="square" lIns="0" tIns="0" rIns="0" bIns="0" rtlCol="0"/>
            <a:lstStyle/>
            <a:p>
              <a:pPr defTabSz="457063"/>
              <a:endParaRPr sz="1798">
                <a:solidFill>
                  <a:srgbClr val="37424A"/>
                </a:solidFill>
                <a:latin typeface="Arial Narrow"/>
              </a:endParaRPr>
            </a:p>
          </p:txBody>
        </p:sp>
        <p:sp>
          <p:nvSpPr>
            <p:cNvPr id="216" name="object 123">
              <a:extLst>
                <a:ext uri="{FF2B5EF4-FFF2-40B4-BE49-F238E27FC236}">
                  <a16:creationId xmlns:a16="http://schemas.microsoft.com/office/drawing/2014/main" id="{C3B49875-B995-4B87-04FE-98DA68B95509}"/>
                </a:ext>
              </a:extLst>
            </p:cNvPr>
            <p:cNvSpPr/>
            <p:nvPr/>
          </p:nvSpPr>
          <p:spPr>
            <a:xfrm>
              <a:off x="645413" y="3007611"/>
              <a:ext cx="728980" cy="725805"/>
            </a:xfrm>
            <a:custGeom>
              <a:avLst/>
              <a:gdLst/>
              <a:ahLst/>
              <a:cxnLst/>
              <a:rect l="l" t="t" r="r" b="b"/>
              <a:pathLst>
                <a:path w="728980" h="725804">
                  <a:moveTo>
                    <a:pt x="0" y="362673"/>
                  </a:moveTo>
                  <a:lnTo>
                    <a:pt x="5270" y="300824"/>
                  </a:lnTo>
                  <a:lnTo>
                    <a:pt x="20510" y="242366"/>
                  </a:lnTo>
                  <a:lnTo>
                    <a:pt x="44843" y="188175"/>
                  </a:lnTo>
                  <a:lnTo>
                    <a:pt x="77381" y="139115"/>
                  </a:lnTo>
                  <a:lnTo>
                    <a:pt x="117271" y="96062"/>
                  </a:lnTo>
                  <a:lnTo>
                    <a:pt x="163626" y="59893"/>
                  </a:lnTo>
                  <a:lnTo>
                    <a:pt x="215582" y="31470"/>
                  </a:lnTo>
                  <a:lnTo>
                    <a:pt x="272249" y="11658"/>
                  </a:lnTo>
                  <a:lnTo>
                    <a:pt x="332765" y="1333"/>
                  </a:lnTo>
                  <a:lnTo>
                    <a:pt x="364197" y="0"/>
                  </a:lnTo>
                  <a:lnTo>
                    <a:pt x="395617" y="1333"/>
                  </a:lnTo>
                  <a:lnTo>
                    <a:pt x="456133" y="11658"/>
                  </a:lnTo>
                  <a:lnTo>
                    <a:pt x="512813" y="31470"/>
                  </a:lnTo>
                  <a:lnTo>
                    <a:pt x="564756" y="59893"/>
                  </a:lnTo>
                  <a:lnTo>
                    <a:pt x="611111" y="96062"/>
                  </a:lnTo>
                  <a:lnTo>
                    <a:pt x="651002" y="139115"/>
                  </a:lnTo>
                  <a:lnTo>
                    <a:pt x="683552" y="188175"/>
                  </a:lnTo>
                  <a:lnTo>
                    <a:pt x="707872" y="242366"/>
                  </a:lnTo>
                  <a:lnTo>
                    <a:pt x="723112" y="300824"/>
                  </a:lnTo>
                  <a:lnTo>
                    <a:pt x="728395" y="362673"/>
                  </a:lnTo>
                  <a:lnTo>
                    <a:pt x="727049" y="393966"/>
                  </a:lnTo>
                  <a:lnTo>
                    <a:pt x="716686" y="454228"/>
                  </a:lnTo>
                  <a:lnTo>
                    <a:pt x="696798" y="510667"/>
                  </a:lnTo>
                  <a:lnTo>
                    <a:pt x="668248" y="562394"/>
                  </a:lnTo>
                  <a:lnTo>
                    <a:pt x="631926" y="608558"/>
                  </a:lnTo>
                  <a:lnTo>
                    <a:pt x="588695" y="648284"/>
                  </a:lnTo>
                  <a:lnTo>
                    <a:pt x="539432" y="680694"/>
                  </a:lnTo>
                  <a:lnTo>
                    <a:pt x="485013" y="704913"/>
                  </a:lnTo>
                  <a:lnTo>
                    <a:pt x="426300" y="720090"/>
                  </a:lnTo>
                  <a:lnTo>
                    <a:pt x="364197" y="725347"/>
                  </a:lnTo>
                  <a:lnTo>
                    <a:pt x="332765" y="724014"/>
                  </a:lnTo>
                  <a:lnTo>
                    <a:pt x="272249" y="713689"/>
                  </a:lnTo>
                  <a:lnTo>
                    <a:pt x="215582" y="693877"/>
                  </a:lnTo>
                  <a:lnTo>
                    <a:pt x="163626" y="665454"/>
                  </a:lnTo>
                  <a:lnTo>
                    <a:pt x="117271" y="629285"/>
                  </a:lnTo>
                  <a:lnTo>
                    <a:pt x="77381" y="586232"/>
                  </a:lnTo>
                  <a:lnTo>
                    <a:pt x="44843" y="537171"/>
                  </a:lnTo>
                  <a:lnTo>
                    <a:pt x="20510" y="482981"/>
                  </a:lnTo>
                  <a:lnTo>
                    <a:pt x="5270" y="424522"/>
                  </a:lnTo>
                  <a:lnTo>
                    <a:pt x="0" y="362673"/>
                  </a:lnTo>
                  <a:close/>
                </a:path>
              </a:pathLst>
            </a:custGeom>
            <a:ln w="19812">
              <a:solidFill>
                <a:srgbClr val="A6A6A6"/>
              </a:solidFill>
            </a:ln>
          </p:spPr>
          <p:txBody>
            <a:bodyPr wrap="square" lIns="0" tIns="0" rIns="0" bIns="0" rtlCol="0"/>
            <a:lstStyle/>
            <a:p>
              <a:pPr defTabSz="457063"/>
              <a:endParaRPr sz="1798">
                <a:solidFill>
                  <a:srgbClr val="37424A"/>
                </a:solidFill>
                <a:latin typeface="Arial Narrow"/>
              </a:endParaRPr>
            </a:p>
          </p:txBody>
        </p:sp>
      </p:grpSp>
      <p:sp>
        <p:nvSpPr>
          <p:cNvPr id="217" name="object 124">
            <a:extLst>
              <a:ext uri="{FF2B5EF4-FFF2-40B4-BE49-F238E27FC236}">
                <a16:creationId xmlns:a16="http://schemas.microsoft.com/office/drawing/2014/main" id="{4580DF83-3EEF-5DF3-4258-DA861EAE9BFE}"/>
              </a:ext>
            </a:extLst>
          </p:cNvPr>
          <p:cNvSpPr txBox="1"/>
          <p:nvPr/>
        </p:nvSpPr>
        <p:spPr>
          <a:xfrm>
            <a:off x="794854" y="1966502"/>
            <a:ext cx="349703" cy="105103"/>
          </a:xfrm>
          <a:prstGeom prst="rect">
            <a:avLst/>
          </a:prstGeom>
        </p:spPr>
        <p:txBody>
          <a:bodyPr vert="horz" wrap="square" lIns="0" tIns="12694" rIns="0" bIns="0" rtlCol="0">
            <a:spAutoFit/>
          </a:bodyPr>
          <a:lstStyle/>
          <a:p>
            <a:pPr marL="12692" defTabSz="457063">
              <a:spcBef>
                <a:spcPts val="100"/>
              </a:spcBef>
            </a:pPr>
            <a:r>
              <a:rPr sz="600" b="1" spc="-5">
                <a:solidFill>
                  <a:srgbClr val="5C5C5C"/>
                </a:solidFill>
                <a:latin typeface="Open Sans"/>
                <a:cs typeface="Open Sans"/>
              </a:rPr>
              <a:t>Provider</a:t>
            </a:r>
            <a:endParaRPr sz="600">
              <a:solidFill>
                <a:srgbClr val="37424A"/>
              </a:solidFill>
              <a:latin typeface="Open Sans"/>
              <a:cs typeface="Open Sans"/>
            </a:endParaRPr>
          </a:p>
        </p:txBody>
      </p:sp>
      <p:pic>
        <p:nvPicPr>
          <p:cNvPr id="218" name="object 125">
            <a:extLst>
              <a:ext uri="{FF2B5EF4-FFF2-40B4-BE49-F238E27FC236}">
                <a16:creationId xmlns:a16="http://schemas.microsoft.com/office/drawing/2014/main" id="{74503A42-FA9B-FEE7-71CF-1F73701B9D81}"/>
              </a:ext>
            </a:extLst>
          </p:cNvPr>
          <p:cNvPicPr/>
          <p:nvPr/>
        </p:nvPicPr>
        <p:blipFill>
          <a:blip r:embed="rId25" cstate="screen">
            <a:extLst>
              <a:ext uri="{28A0092B-C50C-407E-A947-70E740481C1C}">
                <a14:useLocalDpi xmlns:a14="http://schemas.microsoft.com/office/drawing/2010/main"/>
              </a:ext>
            </a:extLst>
          </a:blip>
          <a:stretch>
            <a:fillRect/>
          </a:stretch>
        </p:blipFill>
        <p:spPr>
          <a:xfrm>
            <a:off x="888094" y="3253832"/>
            <a:ext cx="190399" cy="487425"/>
          </a:xfrm>
          <a:prstGeom prst="rect">
            <a:avLst/>
          </a:prstGeom>
        </p:spPr>
      </p:pic>
      <p:sp>
        <p:nvSpPr>
          <p:cNvPr id="219" name="object 126">
            <a:extLst>
              <a:ext uri="{FF2B5EF4-FFF2-40B4-BE49-F238E27FC236}">
                <a16:creationId xmlns:a16="http://schemas.microsoft.com/office/drawing/2014/main" id="{55FB4383-BE2E-4C16-87F8-0745D8F0BA0B}"/>
              </a:ext>
            </a:extLst>
          </p:cNvPr>
          <p:cNvSpPr txBox="1"/>
          <p:nvPr/>
        </p:nvSpPr>
        <p:spPr>
          <a:xfrm>
            <a:off x="835875" y="3109842"/>
            <a:ext cx="349703" cy="105103"/>
          </a:xfrm>
          <a:prstGeom prst="rect">
            <a:avLst/>
          </a:prstGeom>
        </p:spPr>
        <p:txBody>
          <a:bodyPr vert="horz" wrap="square" lIns="0" tIns="12694" rIns="0" bIns="0" rtlCol="0">
            <a:spAutoFit/>
          </a:bodyPr>
          <a:lstStyle/>
          <a:p>
            <a:pPr marL="12692" defTabSz="457063">
              <a:spcBef>
                <a:spcPts val="100"/>
              </a:spcBef>
            </a:pPr>
            <a:r>
              <a:rPr sz="600" b="1" spc="-5">
                <a:solidFill>
                  <a:srgbClr val="5C5C5C"/>
                </a:solidFill>
                <a:latin typeface="Open Sans"/>
                <a:cs typeface="Open Sans"/>
              </a:rPr>
              <a:t>Provider</a:t>
            </a:r>
            <a:endParaRPr sz="600">
              <a:solidFill>
                <a:srgbClr val="37424A"/>
              </a:solidFill>
              <a:latin typeface="Open Sans"/>
              <a:cs typeface="Open Sans"/>
            </a:endParaRPr>
          </a:p>
        </p:txBody>
      </p:sp>
      <p:grpSp>
        <p:nvGrpSpPr>
          <p:cNvPr id="220" name="object 127">
            <a:extLst>
              <a:ext uri="{FF2B5EF4-FFF2-40B4-BE49-F238E27FC236}">
                <a16:creationId xmlns:a16="http://schemas.microsoft.com/office/drawing/2014/main" id="{24147E29-A21E-E8AB-2518-1B2EDAC98B6D}"/>
              </a:ext>
            </a:extLst>
          </p:cNvPr>
          <p:cNvGrpSpPr/>
          <p:nvPr/>
        </p:nvGrpSpPr>
        <p:grpSpPr>
          <a:xfrm>
            <a:off x="1043756" y="1614791"/>
            <a:ext cx="4176759" cy="1973822"/>
            <a:chOff x="1042711" y="1613846"/>
            <a:chExt cx="4178935" cy="1974850"/>
          </a:xfrm>
        </p:grpSpPr>
        <p:sp>
          <p:nvSpPr>
            <p:cNvPr id="221" name="object 128">
              <a:extLst>
                <a:ext uri="{FF2B5EF4-FFF2-40B4-BE49-F238E27FC236}">
                  <a16:creationId xmlns:a16="http://schemas.microsoft.com/office/drawing/2014/main" id="{6C9A7C76-4F7E-ED05-2C0C-292EB7C07644}"/>
                </a:ext>
              </a:extLst>
            </p:cNvPr>
            <p:cNvSpPr/>
            <p:nvPr/>
          </p:nvSpPr>
          <p:spPr>
            <a:xfrm>
              <a:off x="1346314" y="1613852"/>
              <a:ext cx="1144270" cy="1507490"/>
            </a:xfrm>
            <a:custGeom>
              <a:avLst/>
              <a:gdLst/>
              <a:ahLst/>
              <a:cxnLst/>
              <a:rect l="l" t="t" r="r" b="b"/>
              <a:pathLst>
                <a:path w="1144270" h="1507489">
                  <a:moveTo>
                    <a:pt x="41960" y="101244"/>
                  </a:moveTo>
                  <a:lnTo>
                    <a:pt x="36842" y="88176"/>
                  </a:lnTo>
                  <a:lnTo>
                    <a:pt x="0" y="108280"/>
                  </a:lnTo>
                  <a:lnTo>
                    <a:pt x="5143" y="121259"/>
                  </a:lnTo>
                  <a:lnTo>
                    <a:pt x="41960" y="101244"/>
                  </a:lnTo>
                  <a:close/>
                </a:path>
                <a:path w="1144270" h="1507489">
                  <a:moveTo>
                    <a:pt x="128790" y="62979"/>
                  </a:moveTo>
                  <a:lnTo>
                    <a:pt x="125590" y="49085"/>
                  </a:lnTo>
                  <a:lnTo>
                    <a:pt x="116459" y="52400"/>
                  </a:lnTo>
                  <a:lnTo>
                    <a:pt x="77292" y="68745"/>
                  </a:lnTo>
                  <a:lnTo>
                    <a:pt x="74396" y="70065"/>
                  </a:lnTo>
                  <a:lnTo>
                    <a:pt x="78892" y="83350"/>
                  </a:lnTo>
                  <a:lnTo>
                    <a:pt x="81064" y="82308"/>
                  </a:lnTo>
                  <a:lnTo>
                    <a:pt x="119697" y="66205"/>
                  </a:lnTo>
                  <a:lnTo>
                    <a:pt x="128790" y="62979"/>
                  </a:lnTo>
                  <a:close/>
                </a:path>
                <a:path w="1144270" h="1507489">
                  <a:moveTo>
                    <a:pt x="218643" y="35534"/>
                  </a:moveTo>
                  <a:lnTo>
                    <a:pt x="216763" y="21247"/>
                  </a:lnTo>
                  <a:lnTo>
                    <a:pt x="195529" y="26390"/>
                  </a:lnTo>
                  <a:lnTo>
                    <a:pt x="164490" y="35763"/>
                  </a:lnTo>
                  <a:lnTo>
                    <a:pt x="167030" y="49745"/>
                  </a:lnTo>
                  <a:lnTo>
                    <a:pt x="197408" y="40678"/>
                  </a:lnTo>
                  <a:lnTo>
                    <a:pt x="218643" y="35534"/>
                  </a:lnTo>
                  <a:close/>
                </a:path>
                <a:path w="1144270" h="1507489">
                  <a:moveTo>
                    <a:pt x="310019" y="19265"/>
                  </a:moveTo>
                  <a:lnTo>
                    <a:pt x="309397" y="4762"/>
                  </a:lnTo>
                  <a:lnTo>
                    <a:pt x="275018" y="9309"/>
                  </a:lnTo>
                  <a:lnTo>
                    <a:pt x="256413" y="12827"/>
                  </a:lnTo>
                  <a:lnTo>
                    <a:pt x="257632" y="27216"/>
                  </a:lnTo>
                  <a:lnTo>
                    <a:pt x="275640" y="23812"/>
                  </a:lnTo>
                  <a:lnTo>
                    <a:pt x="310019" y="19265"/>
                  </a:lnTo>
                  <a:close/>
                </a:path>
                <a:path w="1144270" h="1507489">
                  <a:moveTo>
                    <a:pt x="402615" y="177"/>
                  </a:moveTo>
                  <a:lnTo>
                    <a:pt x="394182" y="0"/>
                  </a:lnTo>
                  <a:lnTo>
                    <a:pt x="354584" y="965"/>
                  </a:lnTo>
                  <a:lnTo>
                    <a:pt x="349237" y="1384"/>
                  </a:lnTo>
                  <a:lnTo>
                    <a:pt x="349199" y="15976"/>
                  </a:lnTo>
                  <a:lnTo>
                    <a:pt x="353898" y="15557"/>
                  </a:lnTo>
                  <a:lnTo>
                    <a:pt x="392938" y="14605"/>
                  </a:lnTo>
                  <a:lnTo>
                    <a:pt x="401269" y="14859"/>
                  </a:lnTo>
                  <a:lnTo>
                    <a:pt x="402615" y="177"/>
                  </a:lnTo>
                  <a:close/>
                </a:path>
                <a:path w="1144270" h="1507489">
                  <a:moveTo>
                    <a:pt x="494626" y="7315"/>
                  </a:moveTo>
                  <a:lnTo>
                    <a:pt x="472782" y="4279"/>
                  </a:lnTo>
                  <a:lnTo>
                    <a:pt x="442264" y="1816"/>
                  </a:lnTo>
                  <a:lnTo>
                    <a:pt x="440309" y="16395"/>
                  </a:lnTo>
                  <a:lnTo>
                    <a:pt x="470217" y="18770"/>
                  </a:lnTo>
                  <a:lnTo>
                    <a:pt x="492061" y="21793"/>
                  </a:lnTo>
                  <a:lnTo>
                    <a:pt x="494626" y="7315"/>
                  </a:lnTo>
                  <a:close/>
                </a:path>
                <a:path w="1144270" h="1507489">
                  <a:moveTo>
                    <a:pt x="584593" y="25374"/>
                  </a:moveTo>
                  <a:lnTo>
                    <a:pt x="549935" y="16891"/>
                  </a:lnTo>
                  <a:lnTo>
                    <a:pt x="533514" y="13766"/>
                  </a:lnTo>
                  <a:lnTo>
                    <a:pt x="530339" y="28155"/>
                  </a:lnTo>
                  <a:lnTo>
                    <a:pt x="546227" y="31203"/>
                  </a:lnTo>
                  <a:lnTo>
                    <a:pt x="580809" y="39662"/>
                  </a:lnTo>
                  <a:lnTo>
                    <a:pt x="584593" y="25374"/>
                  </a:lnTo>
                  <a:close/>
                </a:path>
                <a:path w="1144270" h="1507489">
                  <a:moveTo>
                    <a:pt x="671703" y="54927"/>
                  </a:moveTo>
                  <a:lnTo>
                    <a:pt x="662089" y="50838"/>
                  </a:lnTo>
                  <a:lnTo>
                    <a:pt x="625246" y="37592"/>
                  </a:lnTo>
                  <a:lnTo>
                    <a:pt x="622363" y="36639"/>
                  </a:lnTo>
                  <a:lnTo>
                    <a:pt x="618007" y="50749"/>
                  </a:lnTo>
                  <a:lnTo>
                    <a:pt x="620306" y="51511"/>
                  </a:lnTo>
                  <a:lnTo>
                    <a:pt x="656577" y="64554"/>
                  </a:lnTo>
                  <a:lnTo>
                    <a:pt x="666229" y="68554"/>
                  </a:lnTo>
                  <a:lnTo>
                    <a:pt x="671703" y="54927"/>
                  </a:lnTo>
                  <a:close/>
                </a:path>
                <a:path w="1144270" h="1507489">
                  <a:moveTo>
                    <a:pt x="754418" y="94843"/>
                  </a:moveTo>
                  <a:lnTo>
                    <a:pt x="733615" y="83350"/>
                  </a:lnTo>
                  <a:lnTo>
                    <a:pt x="707809" y="70726"/>
                  </a:lnTo>
                  <a:lnTo>
                    <a:pt x="701751" y="84162"/>
                  </a:lnTo>
                  <a:lnTo>
                    <a:pt x="727049" y="96418"/>
                  </a:lnTo>
                  <a:lnTo>
                    <a:pt x="747890" y="108026"/>
                  </a:lnTo>
                  <a:lnTo>
                    <a:pt x="754418" y="94843"/>
                  </a:lnTo>
                  <a:close/>
                </a:path>
                <a:path w="1144270" h="1507489">
                  <a:moveTo>
                    <a:pt x="832281" y="144449"/>
                  </a:moveTo>
                  <a:lnTo>
                    <a:pt x="801941" y="123393"/>
                  </a:lnTo>
                  <a:lnTo>
                    <a:pt x="788428" y="115023"/>
                  </a:lnTo>
                  <a:lnTo>
                    <a:pt x="781392" y="127825"/>
                  </a:lnTo>
                  <a:lnTo>
                    <a:pt x="794270" y="135890"/>
                  </a:lnTo>
                  <a:lnTo>
                    <a:pt x="824623" y="156946"/>
                  </a:lnTo>
                  <a:lnTo>
                    <a:pt x="832281" y="144449"/>
                  </a:lnTo>
                  <a:close/>
                </a:path>
                <a:path w="1144270" h="1507489">
                  <a:moveTo>
                    <a:pt x="904151" y="204000"/>
                  </a:moveTo>
                  <a:lnTo>
                    <a:pt x="897280" y="197396"/>
                  </a:lnTo>
                  <a:lnTo>
                    <a:pt x="866521" y="170916"/>
                  </a:lnTo>
                  <a:lnTo>
                    <a:pt x="863841" y="168795"/>
                  </a:lnTo>
                  <a:lnTo>
                    <a:pt x="855738" y="180949"/>
                  </a:lnTo>
                  <a:lnTo>
                    <a:pt x="857910" y="182689"/>
                  </a:lnTo>
                  <a:lnTo>
                    <a:pt x="888263" y="208724"/>
                  </a:lnTo>
                  <a:lnTo>
                    <a:pt x="895134" y="215328"/>
                  </a:lnTo>
                  <a:lnTo>
                    <a:pt x="904151" y="204000"/>
                  </a:lnTo>
                  <a:close/>
                </a:path>
                <a:path w="1144270" h="1507489">
                  <a:moveTo>
                    <a:pt x="969137" y="271957"/>
                  </a:moveTo>
                  <a:lnTo>
                    <a:pt x="955294" y="255701"/>
                  </a:lnTo>
                  <a:lnTo>
                    <a:pt x="932916" y="232092"/>
                  </a:lnTo>
                  <a:lnTo>
                    <a:pt x="923467" y="243065"/>
                  </a:lnTo>
                  <a:lnTo>
                    <a:pt x="945362" y="266217"/>
                  </a:lnTo>
                  <a:lnTo>
                    <a:pt x="959231" y="282371"/>
                  </a:lnTo>
                  <a:lnTo>
                    <a:pt x="969137" y="271957"/>
                  </a:lnTo>
                  <a:close/>
                </a:path>
                <a:path w="1144270" h="1507489">
                  <a:moveTo>
                    <a:pt x="1026706" y="347827"/>
                  </a:moveTo>
                  <a:lnTo>
                    <a:pt x="1008253" y="321157"/>
                  </a:lnTo>
                  <a:lnTo>
                    <a:pt x="994752" y="303568"/>
                  </a:lnTo>
                  <a:lnTo>
                    <a:pt x="984440" y="313537"/>
                  </a:lnTo>
                  <a:lnTo>
                    <a:pt x="997572" y="330593"/>
                  </a:lnTo>
                  <a:lnTo>
                    <a:pt x="1015974" y="357149"/>
                  </a:lnTo>
                  <a:lnTo>
                    <a:pt x="1026706" y="347827"/>
                  </a:lnTo>
                  <a:close/>
                </a:path>
                <a:path w="1144270" h="1507489">
                  <a:moveTo>
                    <a:pt x="1090968" y="475818"/>
                  </a:moveTo>
                  <a:lnTo>
                    <a:pt x="1090269" y="447319"/>
                  </a:lnTo>
                  <a:lnTo>
                    <a:pt x="1089380" y="410883"/>
                  </a:lnTo>
                  <a:lnTo>
                    <a:pt x="1071676" y="422783"/>
                  </a:lnTo>
                  <a:lnTo>
                    <a:pt x="1055725" y="393509"/>
                  </a:lnTo>
                  <a:lnTo>
                    <a:pt x="1048931" y="382473"/>
                  </a:lnTo>
                  <a:lnTo>
                    <a:pt x="1037882" y="391375"/>
                  </a:lnTo>
                  <a:lnTo>
                    <a:pt x="1044270" y="401650"/>
                  </a:lnTo>
                  <a:lnTo>
                    <a:pt x="1060056" y="430606"/>
                  </a:lnTo>
                  <a:lnTo>
                    <a:pt x="1042835" y="442188"/>
                  </a:lnTo>
                  <a:lnTo>
                    <a:pt x="1090968" y="475818"/>
                  </a:lnTo>
                  <a:close/>
                </a:path>
                <a:path w="1144270" h="1507489">
                  <a:moveTo>
                    <a:pt x="1143901" y="1440268"/>
                  </a:moveTo>
                  <a:lnTo>
                    <a:pt x="1126121" y="1451749"/>
                  </a:lnTo>
                  <a:lnTo>
                    <a:pt x="1126121" y="1470812"/>
                  </a:lnTo>
                  <a:lnTo>
                    <a:pt x="1119314" y="1467891"/>
                  </a:lnTo>
                  <a:lnTo>
                    <a:pt x="1126121" y="1470812"/>
                  </a:lnTo>
                  <a:lnTo>
                    <a:pt x="1126121" y="1451749"/>
                  </a:lnTo>
                  <a:lnTo>
                    <a:pt x="1100670" y="1468183"/>
                  </a:lnTo>
                  <a:lnTo>
                    <a:pt x="1115021" y="1473898"/>
                  </a:lnTo>
                  <a:lnTo>
                    <a:pt x="1100010" y="1494967"/>
                  </a:lnTo>
                  <a:lnTo>
                    <a:pt x="1093990" y="1502549"/>
                  </a:lnTo>
                  <a:lnTo>
                    <a:pt x="1103147" y="1507185"/>
                  </a:lnTo>
                  <a:lnTo>
                    <a:pt x="1109535" y="1499069"/>
                  </a:lnTo>
                  <a:lnTo>
                    <a:pt x="1124724" y="1477746"/>
                  </a:lnTo>
                  <a:lnTo>
                    <a:pt x="1128826" y="1471980"/>
                  </a:lnTo>
                  <a:lnTo>
                    <a:pt x="1124737" y="1477759"/>
                  </a:lnTo>
                  <a:lnTo>
                    <a:pt x="1139494" y="1483626"/>
                  </a:lnTo>
                  <a:lnTo>
                    <a:pt x="1141971" y="1459293"/>
                  </a:lnTo>
                  <a:lnTo>
                    <a:pt x="1143901" y="1440268"/>
                  </a:lnTo>
                  <a:close/>
                </a:path>
              </a:pathLst>
            </a:custGeom>
            <a:solidFill>
              <a:srgbClr val="A6A6A6"/>
            </a:solidFill>
          </p:spPr>
          <p:txBody>
            <a:bodyPr wrap="square" lIns="0" tIns="0" rIns="0" bIns="0" rtlCol="0"/>
            <a:lstStyle/>
            <a:p>
              <a:pPr defTabSz="457063"/>
              <a:endParaRPr sz="1798">
                <a:solidFill>
                  <a:srgbClr val="37424A"/>
                </a:solidFill>
                <a:latin typeface="Arial Narrow"/>
              </a:endParaRPr>
            </a:p>
          </p:txBody>
        </p:sp>
        <p:pic>
          <p:nvPicPr>
            <p:cNvPr id="222" name="object 129">
              <a:extLst>
                <a:ext uri="{FF2B5EF4-FFF2-40B4-BE49-F238E27FC236}">
                  <a16:creationId xmlns:a16="http://schemas.microsoft.com/office/drawing/2014/main" id="{247FA94C-6FF1-90BF-B513-D8A0FD30CC19}"/>
                </a:ext>
              </a:extLst>
            </p:cNvPr>
            <p:cNvPicPr/>
            <p:nvPr/>
          </p:nvPicPr>
          <p:blipFill>
            <a:blip r:embed="rId26" cstate="screen">
              <a:extLst>
                <a:ext uri="{28A0092B-C50C-407E-A947-70E740481C1C}">
                  <a14:useLocalDpi xmlns:a14="http://schemas.microsoft.com/office/drawing/2010/main"/>
                </a:ext>
              </a:extLst>
            </a:blip>
            <a:stretch>
              <a:fillRect/>
            </a:stretch>
          </p:blipFill>
          <p:spPr>
            <a:xfrm>
              <a:off x="2272842" y="3141679"/>
              <a:ext cx="155764" cy="142803"/>
            </a:xfrm>
            <a:prstGeom prst="rect">
              <a:avLst/>
            </a:prstGeom>
          </p:spPr>
        </p:pic>
        <p:sp>
          <p:nvSpPr>
            <p:cNvPr id="223" name="object 130">
              <a:extLst>
                <a:ext uri="{FF2B5EF4-FFF2-40B4-BE49-F238E27FC236}">
                  <a16:creationId xmlns:a16="http://schemas.microsoft.com/office/drawing/2014/main" id="{9C440194-08CD-B569-3608-5B3CABC833D1}"/>
                </a:ext>
              </a:extLst>
            </p:cNvPr>
            <p:cNvSpPr/>
            <p:nvPr/>
          </p:nvSpPr>
          <p:spPr>
            <a:xfrm>
              <a:off x="1591348" y="3296894"/>
              <a:ext cx="659765" cy="161925"/>
            </a:xfrm>
            <a:custGeom>
              <a:avLst/>
              <a:gdLst/>
              <a:ahLst/>
              <a:cxnLst/>
              <a:rect l="l" t="t" r="r" b="b"/>
              <a:pathLst>
                <a:path w="659764" h="161925">
                  <a:moveTo>
                    <a:pt x="46748" y="142836"/>
                  </a:moveTo>
                  <a:lnTo>
                    <a:pt x="39027" y="141732"/>
                  </a:lnTo>
                  <a:lnTo>
                    <a:pt x="6337" y="135496"/>
                  </a:lnTo>
                  <a:lnTo>
                    <a:pt x="4508" y="135051"/>
                  </a:lnTo>
                  <a:lnTo>
                    <a:pt x="0" y="144399"/>
                  </a:lnTo>
                  <a:lnTo>
                    <a:pt x="2451" y="144945"/>
                  </a:lnTo>
                  <a:lnTo>
                    <a:pt x="35585" y="151282"/>
                  </a:lnTo>
                  <a:lnTo>
                    <a:pt x="43332" y="152438"/>
                  </a:lnTo>
                  <a:lnTo>
                    <a:pt x="46748" y="142836"/>
                  </a:lnTo>
                  <a:close/>
                </a:path>
                <a:path w="659764" h="161925">
                  <a:moveTo>
                    <a:pt x="123240" y="150710"/>
                  </a:moveTo>
                  <a:lnTo>
                    <a:pt x="105092" y="149745"/>
                  </a:lnTo>
                  <a:lnTo>
                    <a:pt x="79222" y="147218"/>
                  </a:lnTo>
                  <a:lnTo>
                    <a:pt x="76377" y="156806"/>
                  </a:lnTo>
                  <a:lnTo>
                    <a:pt x="102806" y="159461"/>
                  </a:lnTo>
                  <a:lnTo>
                    <a:pt x="120942" y="160426"/>
                  </a:lnTo>
                  <a:lnTo>
                    <a:pt x="123240" y="150710"/>
                  </a:lnTo>
                  <a:close/>
                </a:path>
                <a:path w="659764" h="161925">
                  <a:moveTo>
                    <a:pt x="201587" y="150964"/>
                  </a:moveTo>
                  <a:lnTo>
                    <a:pt x="172046" y="151917"/>
                  </a:lnTo>
                  <a:lnTo>
                    <a:pt x="156603" y="151739"/>
                  </a:lnTo>
                  <a:lnTo>
                    <a:pt x="154889" y="161442"/>
                  </a:lnTo>
                  <a:lnTo>
                    <a:pt x="170827" y="161620"/>
                  </a:lnTo>
                  <a:lnTo>
                    <a:pt x="200367" y="160680"/>
                  </a:lnTo>
                  <a:lnTo>
                    <a:pt x="201587" y="150964"/>
                  </a:lnTo>
                  <a:close/>
                </a:path>
                <a:path w="659764" h="161925">
                  <a:moveTo>
                    <a:pt x="280835" y="152971"/>
                  </a:moveTo>
                  <a:lnTo>
                    <a:pt x="280352" y="143370"/>
                  </a:lnTo>
                  <a:lnTo>
                    <a:pt x="273138" y="144487"/>
                  </a:lnTo>
                  <a:lnTo>
                    <a:pt x="239395" y="148374"/>
                  </a:lnTo>
                  <a:lnTo>
                    <a:pt x="235331" y="148640"/>
                  </a:lnTo>
                  <a:lnTo>
                    <a:pt x="234696" y="158330"/>
                  </a:lnTo>
                  <a:lnTo>
                    <a:pt x="239293" y="157988"/>
                  </a:lnTo>
                  <a:lnTo>
                    <a:pt x="273519" y="154063"/>
                  </a:lnTo>
                  <a:lnTo>
                    <a:pt x="280835" y="152971"/>
                  </a:lnTo>
                  <a:close/>
                </a:path>
                <a:path w="659764" h="161925">
                  <a:moveTo>
                    <a:pt x="360807" y="137604"/>
                  </a:moveTo>
                  <a:lnTo>
                    <a:pt x="359257" y="128270"/>
                  </a:lnTo>
                  <a:lnTo>
                    <a:pt x="340220" y="132803"/>
                  </a:lnTo>
                  <a:lnTo>
                    <a:pt x="314210" y="137833"/>
                  </a:lnTo>
                  <a:lnTo>
                    <a:pt x="315226" y="147307"/>
                  </a:lnTo>
                  <a:lnTo>
                    <a:pt x="341757" y="142138"/>
                  </a:lnTo>
                  <a:lnTo>
                    <a:pt x="360807" y="137604"/>
                  </a:lnTo>
                  <a:close/>
                </a:path>
                <a:path w="659764" h="161925">
                  <a:moveTo>
                    <a:pt x="439534" y="115201"/>
                  </a:moveTo>
                  <a:lnTo>
                    <a:pt x="436930" y="106133"/>
                  </a:lnTo>
                  <a:lnTo>
                    <a:pt x="406603" y="115747"/>
                  </a:lnTo>
                  <a:lnTo>
                    <a:pt x="392696" y="119621"/>
                  </a:lnTo>
                  <a:lnTo>
                    <a:pt x="394779" y="128816"/>
                  </a:lnTo>
                  <a:lnTo>
                    <a:pt x="409130" y="124853"/>
                  </a:lnTo>
                  <a:lnTo>
                    <a:pt x="439534" y="115201"/>
                  </a:lnTo>
                  <a:close/>
                </a:path>
                <a:path w="659764" h="161925">
                  <a:moveTo>
                    <a:pt x="516305" y="85496"/>
                  </a:moveTo>
                  <a:lnTo>
                    <a:pt x="512203" y="77063"/>
                  </a:lnTo>
                  <a:lnTo>
                    <a:pt x="503656" y="80835"/>
                  </a:lnTo>
                  <a:lnTo>
                    <a:pt x="469633" y="94475"/>
                  </a:lnTo>
                  <a:lnTo>
                    <a:pt x="472744" y="103352"/>
                  </a:lnTo>
                  <a:lnTo>
                    <a:pt x="475284" y="102387"/>
                  </a:lnTo>
                  <a:lnTo>
                    <a:pt x="507796" y="89331"/>
                  </a:lnTo>
                  <a:lnTo>
                    <a:pt x="516305" y="85496"/>
                  </a:lnTo>
                  <a:close/>
                </a:path>
                <a:path w="659764" h="161925">
                  <a:moveTo>
                    <a:pt x="589762" y="49415"/>
                  </a:moveTo>
                  <a:lnTo>
                    <a:pt x="584733" y="41402"/>
                  </a:lnTo>
                  <a:lnTo>
                    <a:pt x="566153" y="51523"/>
                  </a:lnTo>
                  <a:lnTo>
                    <a:pt x="543674" y="62585"/>
                  </a:lnTo>
                  <a:lnTo>
                    <a:pt x="548297" y="70827"/>
                  </a:lnTo>
                  <a:lnTo>
                    <a:pt x="571233" y="59448"/>
                  </a:lnTo>
                  <a:lnTo>
                    <a:pt x="589762" y="49415"/>
                  </a:lnTo>
                  <a:close/>
                </a:path>
                <a:path w="659764" h="161925">
                  <a:moveTo>
                    <a:pt x="659472" y="7429"/>
                  </a:moveTo>
                  <a:lnTo>
                    <a:pt x="653427" y="0"/>
                  </a:lnTo>
                  <a:lnTo>
                    <a:pt x="626173" y="17500"/>
                  </a:lnTo>
                  <a:lnTo>
                    <a:pt x="614641" y="24345"/>
                  </a:lnTo>
                  <a:lnTo>
                    <a:pt x="620141" y="32054"/>
                  </a:lnTo>
                  <a:lnTo>
                    <a:pt x="632218" y="24930"/>
                  </a:lnTo>
                  <a:lnTo>
                    <a:pt x="659472" y="7429"/>
                  </a:lnTo>
                  <a:close/>
                </a:path>
              </a:pathLst>
            </a:custGeom>
            <a:solidFill>
              <a:srgbClr val="A6A6A6"/>
            </a:solidFill>
          </p:spPr>
          <p:txBody>
            <a:bodyPr wrap="square" lIns="0" tIns="0" rIns="0" bIns="0" rtlCol="0"/>
            <a:lstStyle/>
            <a:p>
              <a:pPr defTabSz="457063"/>
              <a:endParaRPr sz="1798">
                <a:solidFill>
                  <a:srgbClr val="37424A"/>
                </a:solidFill>
                <a:latin typeface="Arial Narrow"/>
              </a:endParaRPr>
            </a:p>
          </p:txBody>
        </p:sp>
        <p:pic>
          <p:nvPicPr>
            <p:cNvPr id="224" name="object 131">
              <a:extLst>
                <a:ext uri="{FF2B5EF4-FFF2-40B4-BE49-F238E27FC236}">
                  <a16:creationId xmlns:a16="http://schemas.microsoft.com/office/drawing/2014/main" id="{4C94F7F3-E188-9096-A844-50D2322E2884}"/>
                </a:ext>
              </a:extLst>
            </p:cNvPr>
            <p:cNvPicPr/>
            <p:nvPr/>
          </p:nvPicPr>
          <p:blipFill>
            <a:blip r:embed="rId27" cstate="screen">
              <a:extLst>
                <a:ext uri="{28A0092B-C50C-407E-A947-70E740481C1C}">
                  <a14:useLocalDpi xmlns:a14="http://schemas.microsoft.com/office/drawing/2010/main"/>
                </a:ext>
              </a:extLst>
            </a:blip>
            <a:stretch>
              <a:fillRect/>
            </a:stretch>
          </p:blipFill>
          <p:spPr>
            <a:xfrm>
              <a:off x="1042711" y="3421446"/>
              <a:ext cx="164084" cy="167220"/>
            </a:xfrm>
            <a:prstGeom prst="rect">
              <a:avLst/>
            </a:prstGeom>
          </p:spPr>
        </p:pic>
        <p:sp>
          <p:nvSpPr>
            <p:cNvPr id="225" name="object 132">
              <a:extLst>
                <a:ext uri="{FF2B5EF4-FFF2-40B4-BE49-F238E27FC236}">
                  <a16:creationId xmlns:a16="http://schemas.microsoft.com/office/drawing/2014/main" id="{8D338B73-E4AC-9AB4-0AF5-6DB8B998C83C}"/>
                </a:ext>
              </a:extLst>
            </p:cNvPr>
            <p:cNvSpPr/>
            <p:nvPr/>
          </p:nvSpPr>
          <p:spPr>
            <a:xfrm>
              <a:off x="1528743" y="3415247"/>
              <a:ext cx="36195" cy="18415"/>
            </a:xfrm>
            <a:custGeom>
              <a:avLst/>
              <a:gdLst/>
              <a:ahLst/>
              <a:cxnLst/>
              <a:rect l="l" t="t" r="r" b="b"/>
              <a:pathLst>
                <a:path w="36194" h="18414">
                  <a:moveTo>
                    <a:pt x="5054" y="0"/>
                  </a:moveTo>
                  <a:lnTo>
                    <a:pt x="0" y="9220"/>
                  </a:lnTo>
                  <a:lnTo>
                    <a:pt x="30949" y="18338"/>
                  </a:lnTo>
                  <a:lnTo>
                    <a:pt x="35991" y="9055"/>
                  </a:lnTo>
                  <a:lnTo>
                    <a:pt x="5054" y="0"/>
                  </a:lnTo>
                  <a:close/>
                </a:path>
              </a:pathLst>
            </a:custGeom>
            <a:solidFill>
              <a:srgbClr val="A6A6A6"/>
            </a:solidFill>
          </p:spPr>
          <p:txBody>
            <a:bodyPr wrap="square" lIns="0" tIns="0" rIns="0" bIns="0" rtlCol="0"/>
            <a:lstStyle/>
            <a:p>
              <a:pPr defTabSz="457063"/>
              <a:endParaRPr sz="1798">
                <a:solidFill>
                  <a:srgbClr val="37424A"/>
                </a:solidFill>
                <a:latin typeface="Arial Narrow"/>
              </a:endParaRPr>
            </a:p>
          </p:txBody>
        </p:sp>
        <p:pic>
          <p:nvPicPr>
            <p:cNvPr id="226" name="object 133">
              <a:extLst>
                <a:ext uri="{FF2B5EF4-FFF2-40B4-BE49-F238E27FC236}">
                  <a16:creationId xmlns:a16="http://schemas.microsoft.com/office/drawing/2014/main" id="{5D05381C-9592-3BC8-CAA0-C89BE716C703}"/>
                </a:ext>
              </a:extLst>
            </p:cNvPr>
            <p:cNvPicPr/>
            <p:nvPr/>
          </p:nvPicPr>
          <p:blipFill>
            <a:blip r:embed="rId28" cstate="screen">
              <a:extLst>
                <a:ext uri="{28A0092B-C50C-407E-A947-70E740481C1C}">
                  <a14:useLocalDpi xmlns:a14="http://schemas.microsoft.com/office/drawing/2010/main"/>
                </a:ext>
              </a:extLst>
            </a:blip>
            <a:stretch>
              <a:fillRect/>
            </a:stretch>
          </p:blipFill>
          <p:spPr>
            <a:xfrm>
              <a:off x="3701795" y="2587752"/>
              <a:ext cx="204215" cy="213359"/>
            </a:xfrm>
            <a:prstGeom prst="rect">
              <a:avLst/>
            </a:prstGeom>
          </p:spPr>
        </p:pic>
        <p:sp>
          <p:nvSpPr>
            <p:cNvPr id="227" name="object 134">
              <a:extLst>
                <a:ext uri="{FF2B5EF4-FFF2-40B4-BE49-F238E27FC236}">
                  <a16:creationId xmlns:a16="http://schemas.microsoft.com/office/drawing/2014/main" id="{28BEAFF3-67AB-769C-D65F-B7348FA07EB7}"/>
                </a:ext>
              </a:extLst>
            </p:cNvPr>
            <p:cNvSpPr/>
            <p:nvPr/>
          </p:nvSpPr>
          <p:spPr>
            <a:xfrm>
              <a:off x="3660650" y="2555747"/>
              <a:ext cx="287020" cy="283845"/>
            </a:xfrm>
            <a:custGeom>
              <a:avLst/>
              <a:gdLst/>
              <a:ahLst/>
              <a:cxnLst/>
              <a:rect l="l" t="t" r="r" b="b"/>
              <a:pathLst>
                <a:path w="287020" h="283844">
                  <a:moveTo>
                    <a:pt x="150888" y="0"/>
                  </a:moveTo>
                  <a:lnTo>
                    <a:pt x="136055" y="0"/>
                  </a:lnTo>
                  <a:lnTo>
                    <a:pt x="129082" y="431"/>
                  </a:lnTo>
                  <a:lnTo>
                    <a:pt x="87210" y="10769"/>
                  </a:lnTo>
                  <a:lnTo>
                    <a:pt x="52324" y="32308"/>
                  </a:lnTo>
                  <a:lnTo>
                    <a:pt x="24853" y="62471"/>
                  </a:lnTo>
                  <a:lnTo>
                    <a:pt x="6540" y="99517"/>
                  </a:lnTo>
                  <a:lnTo>
                    <a:pt x="0" y="134404"/>
                  </a:lnTo>
                  <a:lnTo>
                    <a:pt x="0" y="149491"/>
                  </a:lnTo>
                  <a:lnTo>
                    <a:pt x="11341" y="196875"/>
                  </a:lnTo>
                  <a:lnTo>
                    <a:pt x="32702" y="232194"/>
                  </a:lnTo>
                  <a:lnTo>
                    <a:pt x="63233" y="259333"/>
                  </a:lnTo>
                  <a:lnTo>
                    <a:pt x="100736" y="276999"/>
                  </a:lnTo>
                  <a:lnTo>
                    <a:pt x="143471" y="283463"/>
                  </a:lnTo>
                  <a:lnTo>
                    <a:pt x="158292" y="282600"/>
                  </a:lnTo>
                  <a:lnTo>
                    <a:pt x="199288" y="271830"/>
                  </a:lnTo>
                  <a:lnTo>
                    <a:pt x="208680" y="267525"/>
                  </a:lnTo>
                  <a:lnTo>
                    <a:pt x="143471" y="267525"/>
                  </a:lnTo>
                  <a:lnTo>
                    <a:pt x="129959" y="266661"/>
                  </a:lnTo>
                  <a:lnTo>
                    <a:pt x="117741" y="264502"/>
                  </a:lnTo>
                  <a:lnTo>
                    <a:pt x="105537" y="261492"/>
                  </a:lnTo>
                  <a:lnTo>
                    <a:pt x="93751" y="257619"/>
                  </a:lnTo>
                  <a:lnTo>
                    <a:pt x="82854" y="251586"/>
                  </a:lnTo>
                  <a:lnTo>
                    <a:pt x="72390" y="245986"/>
                  </a:lnTo>
                  <a:lnTo>
                    <a:pt x="38379" y="211950"/>
                  </a:lnTo>
                  <a:lnTo>
                    <a:pt x="18745" y="167144"/>
                  </a:lnTo>
                  <a:lnTo>
                    <a:pt x="16573" y="141731"/>
                  </a:lnTo>
                  <a:lnTo>
                    <a:pt x="17005" y="128803"/>
                  </a:lnTo>
                  <a:lnTo>
                    <a:pt x="31826" y="82283"/>
                  </a:lnTo>
                  <a:lnTo>
                    <a:pt x="62788" y="45237"/>
                  </a:lnTo>
                  <a:lnTo>
                    <a:pt x="105537" y="21970"/>
                  </a:lnTo>
                  <a:lnTo>
                    <a:pt x="143471" y="16370"/>
                  </a:lnTo>
                  <a:lnTo>
                    <a:pt x="209873" y="16370"/>
                  </a:lnTo>
                  <a:lnTo>
                    <a:pt x="199288" y="10769"/>
                  </a:lnTo>
                  <a:lnTo>
                    <a:pt x="185775" y="6464"/>
                  </a:lnTo>
                  <a:lnTo>
                    <a:pt x="179235" y="4737"/>
                  </a:lnTo>
                  <a:lnTo>
                    <a:pt x="172250" y="3009"/>
                  </a:lnTo>
                  <a:lnTo>
                    <a:pt x="158292" y="431"/>
                  </a:lnTo>
                  <a:lnTo>
                    <a:pt x="150888" y="0"/>
                  </a:lnTo>
                  <a:close/>
                </a:path>
                <a:path w="287020" h="283844">
                  <a:moveTo>
                    <a:pt x="209873" y="16370"/>
                  </a:moveTo>
                  <a:lnTo>
                    <a:pt x="143471" y="16370"/>
                  </a:lnTo>
                  <a:lnTo>
                    <a:pt x="156552" y="16802"/>
                  </a:lnTo>
                  <a:lnTo>
                    <a:pt x="168770" y="18961"/>
                  </a:lnTo>
                  <a:lnTo>
                    <a:pt x="214553" y="37477"/>
                  </a:lnTo>
                  <a:lnTo>
                    <a:pt x="248564" y="71513"/>
                  </a:lnTo>
                  <a:lnTo>
                    <a:pt x="267754" y="116319"/>
                  </a:lnTo>
                  <a:lnTo>
                    <a:pt x="270370" y="141731"/>
                  </a:lnTo>
                  <a:lnTo>
                    <a:pt x="269506" y="154660"/>
                  </a:lnTo>
                  <a:lnTo>
                    <a:pt x="255104" y="201180"/>
                  </a:lnTo>
                  <a:lnTo>
                    <a:pt x="223710" y="238226"/>
                  </a:lnTo>
                  <a:lnTo>
                    <a:pt x="214553" y="245986"/>
                  </a:lnTo>
                  <a:lnTo>
                    <a:pt x="168770" y="264502"/>
                  </a:lnTo>
                  <a:lnTo>
                    <a:pt x="143471" y="267525"/>
                  </a:lnTo>
                  <a:lnTo>
                    <a:pt x="208680" y="267525"/>
                  </a:lnTo>
                  <a:lnTo>
                    <a:pt x="245084" y="241680"/>
                  </a:lnTo>
                  <a:lnTo>
                    <a:pt x="269506" y="209372"/>
                  </a:lnTo>
                  <a:lnTo>
                    <a:pt x="279971" y="183946"/>
                  </a:lnTo>
                  <a:lnTo>
                    <a:pt x="282587" y="177063"/>
                  </a:lnTo>
                  <a:lnTo>
                    <a:pt x="283451" y="170167"/>
                  </a:lnTo>
                  <a:lnTo>
                    <a:pt x="286067" y="156375"/>
                  </a:lnTo>
                  <a:lnTo>
                    <a:pt x="286512" y="149491"/>
                  </a:lnTo>
                  <a:lnTo>
                    <a:pt x="286512" y="134404"/>
                  </a:lnTo>
                  <a:lnTo>
                    <a:pt x="286067" y="127088"/>
                  </a:lnTo>
                  <a:lnTo>
                    <a:pt x="283451" y="113296"/>
                  </a:lnTo>
                  <a:lnTo>
                    <a:pt x="282587" y="106400"/>
                  </a:lnTo>
                  <a:lnTo>
                    <a:pt x="279971" y="99517"/>
                  </a:lnTo>
                  <a:lnTo>
                    <a:pt x="275602" y="86588"/>
                  </a:lnTo>
                  <a:lnTo>
                    <a:pt x="269506" y="74091"/>
                  </a:lnTo>
                  <a:lnTo>
                    <a:pt x="245084" y="41782"/>
                  </a:lnTo>
                  <a:lnTo>
                    <a:pt x="211505" y="17233"/>
                  </a:lnTo>
                  <a:lnTo>
                    <a:pt x="209873" y="16370"/>
                  </a:lnTo>
                  <a:close/>
                </a:path>
              </a:pathLst>
            </a:custGeom>
            <a:solidFill>
              <a:srgbClr val="79C379"/>
            </a:solidFill>
          </p:spPr>
          <p:txBody>
            <a:bodyPr wrap="square" lIns="0" tIns="0" rIns="0" bIns="0" rtlCol="0"/>
            <a:lstStyle/>
            <a:p>
              <a:pPr defTabSz="457063"/>
              <a:endParaRPr sz="1798">
                <a:solidFill>
                  <a:srgbClr val="37424A"/>
                </a:solidFill>
                <a:latin typeface="Arial Narrow"/>
              </a:endParaRPr>
            </a:p>
          </p:txBody>
        </p:sp>
        <p:pic>
          <p:nvPicPr>
            <p:cNvPr id="228" name="object 135">
              <a:extLst>
                <a:ext uri="{FF2B5EF4-FFF2-40B4-BE49-F238E27FC236}">
                  <a16:creationId xmlns:a16="http://schemas.microsoft.com/office/drawing/2014/main" id="{5DD30703-5669-0773-A676-5BD3A63D6BAC}"/>
                </a:ext>
              </a:extLst>
            </p:cNvPr>
            <p:cNvPicPr/>
            <p:nvPr/>
          </p:nvPicPr>
          <p:blipFill>
            <a:blip r:embed="rId29" cstate="screen">
              <a:extLst>
                <a:ext uri="{28A0092B-C50C-407E-A947-70E740481C1C}">
                  <a14:useLocalDpi xmlns:a14="http://schemas.microsoft.com/office/drawing/2010/main"/>
                </a:ext>
              </a:extLst>
            </a:blip>
            <a:stretch>
              <a:fillRect/>
            </a:stretch>
          </p:blipFill>
          <p:spPr>
            <a:xfrm>
              <a:off x="4303776" y="3287268"/>
              <a:ext cx="213359" cy="222503"/>
            </a:xfrm>
            <a:prstGeom prst="rect">
              <a:avLst/>
            </a:prstGeom>
          </p:spPr>
        </p:pic>
        <p:sp>
          <p:nvSpPr>
            <p:cNvPr id="229" name="object 136">
              <a:extLst>
                <a:ext uri="{FF2B5EF4-FFF2-40B4-BE49-F238E27FC236}">
                  <a16:creationId xmlns:a16="http://schemas.microsoft.com/office/drawing/2014/main" id="{DE5F0DDE-C216-3BD4-D10E-ABC7DFEF9B52}"/>
                </a:ext>
              </a:extLst>
            </p:cNvPr>
            <p:cNvSpPr/>
            <p:nvPr/>
          </p:nvSpPr>
          <p:spPr>
            <a:xfrm>
              <a:off x="4262630" y="3252215"/>
              <a:ext cx="287020" cy="283845"/>
            </a:xfrm>
            <a:custGeom>
              <a:avLst/>
              <a:gdLst/>
              <a:ahLst/>
              <a:cxnLst/>
              <a:rect l="l" t="t" r="r" b="b"/>
              <a:pathLst>
                <a:path w="287020" h="283845">
                  <a:moveTo>
                    <a:pt x="150888" y="0"/>
                  </a:moveTo>
                  <a:lnTo>
                    <a:pt x="136055" y="0"/>
                  </a:lnTo>
                  <a:lnTo>
                    <a:pt x="129082" y="431"/>
                  </a:lnTo>
                  <a:lnTo>
                    <a:pt x="87210" y="10769"/>
                  </a:lnTo>
                  <a:lnTo>
                    <a:pt x="52324" y="32308"/>
                  </a:lnTo>
                  <a:lnTo>
                    <a:pt x="24853" y="62471"/>
                  </a:lnTo>
                  <a:lnTo>
                    <a:pt x="6540" y="99517"/>
                  </a:lnTo>
                  <a:lnTo>
                    <a:pt x="0" y="134404"/>
                  </a:lnTo>
                  <a:lnTo>
                    <a:pt x="0" y="149491"/>
                  </a:lnTo>
                  <a:lnTo>
                    <a:pt x="11341" y="196875"/>
                  </a:lnTo>
                  <a:lnTo>
                    <a:pt x="32702" y="232194"/>
                  </a:lnTo>
                  <a:lnTo>
                    <a:pt x="63233" y="259333"/>
                  </a:lnTo>
                  <a:lnTo>
                    <a:pt x="100736" y="276999"/>
                  </a:lnTo>
                  <a:lnTo>
                    <a:pt x="143471" y="283463"/>
                  </a:lnTo>
                  <a:lnTo>
                    <a:pt x="158292" y="282600"/>
                  </a:lnTo>
                  <a:lnTo>
                    <a:pt x="199288" y="271830"/>
                  </a:lnTo>
                  <a:lnTo>
                    <a:pt x="208680" y="267525"/>
                  </a:lnTo>
                  <a:lnTo>
                    <a:pt x="143471" y="267525"/>
                  </a:lnTo>
                  <a:lnTo>
                    <a:pt x="129959" y="266661"/>
                  </a:lnTo>
                  <a:lnTo>
                    <a:pt x="117741" y="264502"/>
                  </a:lnTo>
                  <a:lnTo>
                    <a:pt x="105537" y="261492"/>
                  </a:lnTo>
                  <a:lnTo>
                    <a:pt x="93751" y="257619"/>
                  </a:lnTo>
                  <a:lnTo>
                    <a:pt x="82854" y="251586"/>
                  </a:lnTo>
                  <a:lnTo>
                    <a:pt x="72390" y="245986"/>
                  </a:lnTo>
                  <a:lnTo>
                    <a:pt x="38379" y="211950"/>
                  </a:lnTo>
                  <a:lnTo>
                    <a:pt x="18745" y="167144"/>
                  </a:lnTo>
                  <a:lnTo>
                    <a:pt x="16573" y="141731"/>
                  </a:lnTo>
                  <a:lnTo>
                    <a:pt x="17005" y="128803"/>
                  </a:lnTo>
                  <a:lnTo>
                    <a:pt x="31826" y="82283"/>
                  </a:lnTo>
                  <a:lnTo>
                    <a:pt x="62788" y="45237"/>
                  </a:lnTo>
                  <a:lnTo>
                    <a:pt x="105537" y="21970"/>
                  </a:lnTo>
                  <a:lnTo>
                    <a:pt x="143471" y="16370"/>
                  </a:lnTo>
                  <a:lnTo>
                    <a:pt x="209873" y="16370"/>
                  </a:lnTo>
                  <a:lnTo>
                    <a:pt x="199288" y="10769"/>
                  </a:lnTo>
                  <a:lnTo>
                    <a:pt x="185775" y="6464"/>
                  </a:lnTo>
                  <a:lnTo>
                    <a:pt x="179235" y="4737"/>
                  </a:lnTo>
                  <a:lnTo>
                    <a:pt x="172250" y="3009"/>
                  </a:lnTo>
                  <a:lnTo>
                    <a:pt x="158292" y="431"/>
                  </a:lnTo>
                  <a:lnTo>
                    <a:pt x="150888" y="0"/>
                  </a:lnTo>
                  <a:close/>
                </a:path>
                <a:path w="287020" h="283845">
                  <a:moveTo>
                    <a:pt x="209873" y="16370"/>
                  </a:moveTo>
                  <a:lnTo>
                    <a:pt x="143471" y="16370"/>
                  </a:lnTo>
                  <a:lnTo>
                    <a:pt x="156552" y="16802"/>
                  </a:lnTo>
                  <a:lnTo>
                    <a:pt x="168770" y="18961"/>
                  </a:lnTo>
                  <a:lnTo>
                    <a:pt x="214553" y="37477"/>
                  </a:lnTo>
                  <a:lnTo>
                    <a:pt x="248564" y="71513"/>
                  </a:lnTo>
                  <a:lnTo>
                    <a:pt x="267754" y="116319"/>
                  </a:lnTo>
                  <a:lnTo>
                    <a:pt x="270370" y="141731"/>
                  </a:lnTo>
                  <a:lnTo>
                    <a:pt x="269506" y="154660"/>
                  </a:lnTo>
                  <a:lnTo>
                    <a:pt x="255104" y="201180"/>
                  </a:lnTo>
                  <a:lnTo>
                    <a:pt x="223710" y="238226"/>
                  </a:lnTo>
                  <a:lnTo>
                    <a:pt x="214553" y="245986"/>
                  </a:lnTo>
                  <a:lnTo>
                    <a:pt x="168770" y="264502"/>
                  </a:lnTo>
                  <a:lnTo>
                    <a:pt x="143471" y="267525"/>
                  </a:lnTo>
                  <a:lnTo>
                    <a:pt x="208680" y="267525"/>
                  </a:lnTo>
                  <a:lnTo>
                    <a:pt x="245084" y="241680"/>
                  </a:lnTo>
                  <a:lnTo>
                    <a:pt x="269506" y="209372"/>
                  </a:lnTo>
                  <a:lnTo>
                    <a:pt x="279971" y="183946"/>
                  </a:lnTo>
                  <a:lnTo>
                    <a:pt x="282587" y="177063"/>
                  </a:lnTo>
                  <a:lnTo>
                    <a:pt x="283451" y="170167"/>
                  </a:lnTo>
                  <a:lnTo>
                    <a:pt x="286067" y="156375"/>
                  </a:lnTo>
                  <a:lnTo>
                    <a:pt x="286512" y="149491"/>
                  </a:lnTo>
                  <a:lnTo>
                    <a:pt x="286512" y="134404"/>
                  </a:lnTo>
                  <a:lnTo>
                    <a:pt x="286067" y="127088"/>
                  </a:lnTo>
                  <a:lnTo>
                    <a:pt x="283451" y="113296"/>
                  </a:lnTo>
                  <a:lnTo>
                    <a:pt x="282587" y="106400"/>
                  </a:lnTo>
                  <a:lnTo>
                    <a:pt x="279971" y="99517"/>
                  </a:lnTo>
                  <a:lnTo>
                    <a:pt x="275602" y="86588"/>
                  </a:lnTo>
                  <a:lnTo>
                    <a:pt x="269506" y="74091"/>
                  </a:lnTo>
                  <a:lnTo>
                    <a:pt x="245084" y="41782"/>
                  </a:lnTo>
                  <a:lnTo>
                    <a:pt x="211505" y="17233"/>
                  </a:lnTo>
                  <a:lnTo>
                    <a:pt x="209873" y="16370"/>
                  </a:lnTo>
                  <a:close/>
                </a:path>
              </a:pathLst>
            </a:custGeom>
            <a:solidFill>
              <a:srgbClr val="79C379"/>
            </a:solidFill>
          </p:spPr>
          <p:txBody>
            <a:bodyPr wrap="square" lIns="0" tIns="0" rIns="0" bIns="0" rtlCol="0"/>
            <a:lstStyle/>
            <a:p>
              <a:pPr defTabSz="457063"/>
              <a:endParaRPr sz="1798">
                <a:solidFill>
                  <a:srgbClr val="37424A"/>
                </a:solidFill>
                <a:latin typeface="Arial Narrow"/>
              </a:endParaRPr>
            </a:p>
          </p:txBody>
        </p:sp>
        <p:pic>
          <p:nvPicPr>
            <p:cNvPr id="230" name="object 137">
              <a:extLst>
                <a:ext uri="{FF2B5EF4-FFF2-40B4-BE49-F238E27FC236}">
                  <a16:creationId xmlns:a16="http://schemas.microsoft.com/office/drawing/2014/main" id="{89B8FA81-B62E-0886-5FB4-DD1D44940ECE}"/>
                </a:ext>
              </a:extLst>
            </p:cNvPr>
            <p:cNvPicPr/>
            <p:nvPr/>
          </p:nvPicPr>
          <p:blipFill>
            <a:blip r:embed="rId30" cstate="screen">
              <a:extLst>
                <a:ext uri="{28A0092B-C50C-407E-A947-70E740481C1C}">
                  <a14:useLocalDpi xmlns:a14="http://schemas.microsoft.com/office/drawing/2010/main"/>
                </a:ext>
              </a:extLst>
            </a:blip>
            <a:stretch>
              <a:fillRect/>
            </a:stretch>
          </p:blipFill>
          <p:spPr>
            <a:xfrm>
              <a:off x="4204716" y="1911096"/>
              <a:ext cx="254507" cy="263651"/>
            </a:xfrm>
            <a:prstGeom prst="rect">
              <a:avLst/>
            </a:prstGeom>
          </p:spPr>
        </p:pic>
        <p:sp>
          <p:nvSpPr>
            <p:cNvPr id="231" name="object 138">
              <a:extLst>
                <a:ext uri="{FF2B5EF4-FFF2-40B4-BE49-F238E27FC236}">
                  <a16:creationId xmlns:a16="http://schemas.microsoft.com/office/drawing/2014/main" id="{4839A122-1FAF-BEF2-3A68-D308239B3FA0}"/>
                </a:ext>
              </a:extLst>
            </p:cNvPr>
            <p:cNvSpPr/>
            <p:nvPr/>
          </p:nvSpPr>
          <p:spPr>
            <a:xfrm>
              <a:off x="4183381" y="1891284"/>
              <a:ext cx="285115" cy="283845"/>
            </a:xfrm>
            <a:custGeom>
              <a:avLst/>
              <a:gdLst/>
              <a:ahLst/>
              <a:cxnLst/>
              <a:rect l="l" t="t" r="r" b="b"/>
              <a:pathLst>
                <a:path w="285114" h="283844">
                  <a:moveTo>
                    <a:pt x="150088" y="0"/>
                  </a:moveTo>
                  <a:lnTo>
                    <a:pt x="135331" y="0"/>
                  </a:lnTo>
                  <a:lnTo>
                    <a:pt x="128397" y="431"/>
                  </a:lnTo>
                  <a:lnTo>
                    <a:pt x="86753" y="10769"/>
                  </a:lnTo>
                  <a:lnTo>
                    <a:pt x="52057" y="32308"/>
                  </a:lnTo>
                  <a:lnTo>
                    <a:pt x="24726" y="62471"/>
                  </a:lnTo>
                  <a:lnTo>
                    <a:pt x="6502" y="99517"/>
                  </a:lnTo>
                  <a:lnTo>
                    <a:pt x="0" y="134404"/>
                  </a:lnTo>
                  <a:lnTo>
                    <a:pt x="0" y="149491"/>
                  </a:lnTo>
                  <a:lnTo>
                    <a:pt x="11277" y="196875"/>
                  </a:lnTo>
                  <a:lnTo>
                    <a:pt x="32537" y="232194"/>
                  </a:lnTo>
                  <a:lnTo>
                    <a:pt x="62890" y="259333"/>
                  </a:lnTo>
                  <a:lnTo>
                    <a:pt x="100203" y="276999"/>
                  </a:lnTo>
                  <a:lnTo>
                    <a:pt x="142709" y="283463"/>
                  </a:lnTo>
                  <a:lnTo>
                    <a:pt x="157454" y="282600"/>
                  </a:lnTo>
                  <a:lnTo>
                    <a:pt x="198234" y="271830"/>
                  </a:lnTo>
                  <a:lnTo>
                    <a:pt x="207567" y="267525"/>
                  </a:lnTo>
                  <a:lnTo>
                    <a:pt x="142709" y="267525"/>
                  </a:lnTo>
                  <a:lnTo>
                    <a:pt x="129260" y="266661"/>
                  </a:lnTo>
                  <a:lnTo>
                    <a:pt x="117119" y="264502"/>
                  </a:lnTo>
                  <a:lnTo>
                    <a:pt x="104965" y="261492"/>
                  </a:lnTo>
                  <a:lnTo>
                    <a:pt x="93256" y="257619"/>
                  </a:lnTo>
                  <a:lnTo>
                    <a:pt x="82410" y="251586"/>
                  </a:lnTo>
                  <a:lnTo>
                    <a:pt x="72009" y="245986"/>
                  </a:lnTo>
                  <a:lnTo>
                    <a:pt x="38176" y="211950"/>
                  </a:lnTo>
                  <a:lnTo>
                    <a:pt x="18656" y="167144"/>
                  </a:lnTo>
                  <a:lnTo>
                    <a:pt x="16484" y="141731"/>
                  </a:lnTo>
                  <a:lnTo>
                    <a:pt x="16916" y="128803"/>
                  </a:lnTo>
                  <a:lnTo>
                    <a:pt x="31661" y="82283"/>
                  </a:lnTo>
                  <a:lnTo>
                    <a:pt x="62458" y="45237"/>
                  </a:lnTo>
                  <a:lnTo>
                    <a:pt x="104965" y="21970"/>
                  </a:lnTo>
                  <a:lnTo>
                    <a:pt x="142709" y="16370"/>
                  </a:lnTo>
                  <a:lnTo>
                    <a:pt x="208753" y="16370"/>
                  </a:lnTo>
                  <a:lnTo>
                    <a:pt x="198234" y="10769"/>
                  </a:lnTo>
                  <a:lnTo>
                    <a:pt x="184785" y="6464"/>
                  </a:lnTo>
                  <a:lnTo>
                    <a:pt x="178282" y="4737"/>
                  </a:lnTo>
                  <a:lnTo>
                    <a:pt x="171335" y="3009"/>
                  </a:lnTo>
                  <a:lnTo>
                    <a:pt x="157454" y="431"/>
                  </a:lnTo>
                  <a:lnTo>
                    <a:pt x="150088" y="0"/>
                  </a:lnTo>
                  <a:close/>
                </a:path>
                <a:path w="285114" h="283844">
                  <a:moveTo>
                    <a:pt x="208753" y="16370"/>
                  </a:moveTo>
                  <a:lnTo>
                    <a:pt x="142709" y="16370"/>
                  </a:lnTo>
                  <a:lnTo>
                    <a:pt x="155727" y="16802"/>
                  </a:lnTo>
                  <a:lnTo>
                    <a:pt x="167868" y="18961"/>
                  </a:lnTo>
                  <a:lnTo>
                    <a:pt x="213410" y="37477"/>
                  </a:lnTo>
                  <a:lnTo>
                    <a:pt x="247243" y="71513"/>
                  </a:lnTo>
                  <a:lnTo>
                    <a:pt x="266331" y="116319"/>
                  </a:lnTo>
                  <a:lnTo>
                    <a:pt x="268935" y="141731"/>
                  </a:lnTo>
                  <a:lnTo>
                    <a:pt x="268071" y="154660"/>
                  </a:lnTo>
                  <a:lnTo>
                    <a:pt x="253758" y="201180"/>
                  </a:lnTo>
                  <a:lnTo>
                    <a:pt x="222529" y="238226"/>
                  </a:lnTo>
                  <a:lnTo>
                    <a:pt x="213410" y="245986"/>
                  </a:lnTo>
                  <a:lnTo>
                    <a:pt x="167868" y="264502"/>
                  </a:lnTo>
                  <a:lnTo>
                    <a:pt x="142709" y="267525"/>
                  </a:lnTo>
                  <a:lnTo>
                    <a:pt x="207567" y="267525"/>
                  </a:lnTo>
                  <a:lnTo>
                    <a:pt x="243776" y="241680"/>
                  </a:lnTo>
                  <a:lnTo>
                    <a:pt x="268071" y="209372"/>
                  </a:lnTo>
                  <a:lnTo>
                    <a:pt x="278485" y="183946"/>
                  </a:lnTo>
                  <a:lnTo>
                    <a:pt x="281089" y="177063"/>
                  </a:lnTo>
                  <a:lnTo>
                    <a:pt x="281952" y="170167"/>
                  </a:lnTo>
                  <a:lnTo>
                    <a:pt x="284556" y="156375"/>
                  </a:lnTo>
                  <a:lnTo>
                    <a:pt x="284988" y="149491"/>
                  </a:lnTo>
                  <a:lnTo>
                    <a:pt x="284988" y="134404"/>
                  </a:lnTo>
                  <a:lnTo>
                    <a:pt x="284556" y="127088"/>
                  </a:lnTo>
                  <a:lnTo>
                    <a:pt x="281952" y="113296"/>
                  </a:lnTo>
                  <a:lnTo>
                    <a:pt x="281089" y="106400"/>
                  </a:lnTo>
                  <a:lnTo>
                    <a:pt x="278485" y="99517"/>
                  </a:lnTo>
                  <a:lnTo>
                    <a:pt x="274142" y="86588"/>
                  </a:lnTo>
                  <a:lnTo>
                    <a:pt x="268071" y="74091"/>
                  </a:lnTo>
                  <a:lnTo>
                    <a:pt x="243776" y="41782"/>
                  </a:lnTo>
                  <a:lnTo>
                    <a:pt x="210375" y="17233"/>
                  </a:lnTo>
                  <a:lnTo>
                    <a:pt x="208753" y="16370"/>
                  </a:lnTo>
                  <a:close/>
                </a:path>
              </a:pathLst>
            </a:custGeom>
            <a:solidFill>
              <a:srgbClr val="79C379"/>
            </a:solidFill>
          </p:spPr>
          <p:txBody>
            <a:bodyPr wrap="square" lIns="0" tIns="0" rIns="0" bIns="0" rtlCol="0"/>
            <a:lstStyle/>
            <a:p>
              <a:pPr defTabSz="457063"/>
              <a:endParaRPr sz="1798">
                <a:solidFill>
                  <a:srgbClr val="37424A"/>
                </a:solidFill>
                <a:latin typeface="Arial Narrow"/>
              </a:endParaRPr>
            </a:p>
          </p:txBody>
        </p:sp>
        <p:pic>
          <p:nvPicPr>
            <p:cNvPr id="232" name="object 139">
              <a:extLst>
                <a:ext uri="{FF2B5EF4-FFF2-40B4-BE49-F238E27FC236}">
                  <a16:creationId xmlns:a16="http://schemas.microsoft.com/office/drawing/2014/main" id="{BA2FAF45-9E99-5A0D-1346-C76F49EFB601}"/>
                </a:ext>
              </a:extLst>
            </p:cNvPr>
            <p:cNvPicPr/>
            <p:nvPr/>
          </p:nvPicPr>
          <p:blipFill>
            <a:blip r:embed="rId31" cstate="screen">
              <a:extLst>
                <a:ext uri="{28A0092B-C50C-407E-A947-70E740481C1C}">
                  <a14:useLocalDpi xmlns:a14="http://schemas.microsoft.com/office/drawing/2010/main"/>
                </a:ext>
              </a:extLst>
            </a:blip>
            <a:stretch>
              <a:fillRect/>
            </a:stretch>
          </p:blipFill>
          <p:spPr>
            <a:xfrm>
              <a:off x="4966716" y="2552700"/>
              <a:ext cx="205739" cy="213359"/>
            </a:xfrm>
            <a:prstGeom prst="rect">
              <a:avLst/>
            </a:prstGeom>
          </p:spPr>
        </p:pic>
        <p:sp>
          <p:nvSpPr>
            <p:cNvPr id="233" name="object 140">
              <a:extLst>
                <a:ext uri="{FF2B5EF4-FFF2-40B4-BE49-F238E27FC236}">
                  <a16:creationId xmlns:a16="http://schemas.microsoft.com/office/drawing/2014/main" id="{8C46CBA3-0930-02B9-1A8C-408DF9FA708C}"/>
                </a:ext>
              </a:extLst>
            </p:cNvPr>
            <p:cNvSpPr/>
            <p:nvPr/>
          </p:nvSpPr>
          <p:spPr>
            <a:xfrm>
              <a:off x="4936237" y="2519172"/>
              <a:ext cx="285115" cy="283845"/>
            </a:xfrm>
            <a:custGeom>
              <a:avLst/>
              <a:gdLst/>
              <a:ahLst/>
              <a:cxnLst/>
              <a:rect l="l" t="t" r="r" b="b"/>
              <a:pathLst>
                <a:path w="285114" h="283844">
                  <a:moveTo>
                    <a:pt x="150088" y="0"/>
                  </a:moveTo>
                  <a:lnTo>
                    <a:pt x="135331" y="0"/>
                  </a:lnTo>
                  <a:lnTo>
                    <a:pt x="128397" y="431"/>
                  </a:lnTo>
                  <a:lnTo>
                    <a:pt x="86753" y="10769"/>
                  </a:lnTo>
                  <a:lnTo>
                    <a:pt x="52057" y="32308"/>
                  </a:lnTo>
                  <a:lnTo>
                    <a:pt x="24726" y="62471"/>
                  </a:lnTo>
                  <a:lnTo>
                    <a:pt x="6502" y="99517"/>
                  </a:lnTo>
                  <a:lnTo>
                    <a:pt x="0" y="134404"/>
                  </a:lnTo>
                  <a:lnTo>
                    <a:pt x="0" y="149491"/>
                  </a:lnTo>
                  <a:lnTo>
                    <a:pt x="11277" y="196875"/>
                  </a:lnTo>
                  <a:lnTo>
                    <a:pt x="32537" y="232194"/>
                  </a:lnTo>
                  <a:lnTo>
                    <a:pt x="62890" y="259333"/>
                  </a:lnTo>
                  <a:lnTo>
                    <a:pt x="100203" y="276999"/>
                  </a:lnTo>
                  <a:lnTo>
                    <a:pt x="142709" y="283463"/>
                  </a:lnTo>
                  <a:lnTo>
                    <a:pt x="157454" y="282600"/>
                  </a:lnTo>
                  <a:lnTo>
                    <a:pt x="198234" y="271830"/>
                  </a:lnTo>
                  <a:lnTo>
                    <a:pt x="207567" y="267525"/>
                  </a:lnTo>
                  <a:lnTo>
                    <a:pt x="142709" y="267525"/>
                  </a:lnTo>
                  <a:lnTo>
                    <a:pt x="129260" y="266661"/>
                  </a:lnTo>
                  <a:lnTo>
                    <a:pt x="117119" y="264502"/>
                  </a:lnTo>
                  <a:lnTo>
                    <a:pt x="104965" y="261492"/>
                  </a:lnTo>
                  <a:lnTo>
                    <a:pt x="93256" y="257619"/>
                  </a:lnTo>
                  <a:lnTo>
                    <a:pt x="82410" y="251586"/>
                  </a:lnTo>
                  <a:lnTo>
                    <a:pt x="72009" y="245986"/>
                  </a:lnTo>
                  <a:lnTo>
                    <a:pt x="38176" y="211950"/>
                  </a:lnTo>
                  <a:lnTo>
                    <a:pt x="18656" y="167144"/>
                  </a:lnTo>
                  <a:lnTo>
                    <a:pt x="16484" y="141731"/>
                  </a:lnTo>
                  <a:lnTo>
                    <a:pt x="16916" y="128803"/>
                  </a:lnTo>
                  <a:lnTo>
                    <a:pt x="31661" y="82283"/>
                  </a:lnTo>
                  <a:lnTo>
                    <a:pt x="62458" y="45237"/>
                  </a:lnTo>
                  <a:lnTo>
                    <a:pt x="104965" y="21970"/>
                  </a:lnTo>
                  <a:lnTo>
                    <a:pt x="142709" y="16370"/>
                  </a:lnTo>
                  <a:lnTo>
                    <a:pt x="208753" y="16370"/>
                  </a:lnTo>
                  <a:lnTo>
                    <a:pt x="198234" y="10769"/>
                  </a:lnTo>
                  <a:lnTo>
                    <a:pt x="184785" y="6464"/>
                  </a:lnTo>
                  <a:lnTo>
                    <a:pt x="178282" y="4737"/>
                  </a:lnTo>
                  <a:lnTo>
                    <a:pt x="171335" y="3009"/>
                  </a:lnTo>
                  <a:lnTo>
                    <a:pt x="157454" y="431"/>
                  </a:lnTo>
                  <a:lnTo>
                    <a:pt x="150088" y="0"/>
                  </a:lnTo>
                  <a:close/>
                </a:path>
                <a:path w="285114" h="283844">
                  <a:moveTo>
                    <a:pt x="208753" y="16370"/>
                  </a:moveTo>
                  <a:lnTo>
                    <a:pt x="142709" y="16370"/>
                  </a:lnTo>
                  <a:lnTo>
                    <a:pt x="155727" y="16802"/>
                  </a:lnTo>
                  <a:lnTo>
                    <a:pt x="167868" y="18961"/>
                  </a:lnTo>
                  <a:lnTo>
                    <a:pt x="213410" y="37477"/>
                  </a:lnTo>
                  <a:lnTo>
                    <a:pt x="247243" y="71513"/>
                  </a:lnTo>
                  <a:lnTo>
                    <a:pt x="266331" y="116319"/>
                  </a:lnTo>
                  <a:lnTo>
                    <a:pt x="268935" y="141731"/>
                  </a:lnTo>
                  <a:lnTo>
                    <a:pt x="268071" y="154660"/>
                  </a:lnTo>
                  <a:lnTo>
                    <a:pt x="253758" y="201180"/>
                  </a:lnTo>
                  <a:lnTo>
                    <a:pt x="222529" y="238226"/>
                  </a:lnTo>
                  <a:lnTo>
                    <a:pt x="213410" y="245986"/>
                  </a:lnTo>
                  <a:lnTo>
                    <a:pt x="167868" y="264502"/>
                  </a:lnTo>
                  <a:lnTo>
                    <a:pt x="142709" y="267525"/>
                  </a:lnTo>
                  <a:lnTo>
                    <a:pt x="207567" y="267525"/>
                  </a:lnTo>
                  <a:lnTo>
                    <a:pt x="243776" y="241680"/>
                  </a:lnTo>
                  <a:lnTo>
                    <a:pt x="268071" y="209372"/>
                  </a:lnTo>
                  <a:lnTo>
                    <a:pt x="278485" y="183946"/>
                  </a:lnTo>
                  <a:lnTo>
                    <a:pt x="281089" y="177063"/>
                  </a:lnTo>
                  <a:lnTo>
                    <a:pt x="281952" y="170167"/>
                  </a:lnTo>
                  <a:lnTo>
                    <a:pt x="284556" y="156375"/>
                  </a:lnTo>
                  <a:lnTo>
                    <a:pt x="284988" y="149491"/>
                  </a:lnTo>
                  <a:lnTo>
                    <a:pt x="284988" y="134404"/>
                  </a:lnTo>
                  <a:lnTo>
                    <a:pt x="284556" y="127088"/>
                  </a:lnTo>
                  <a:lnTo>
                    <a:pt x="281952" y="113296"/>
                  </a:lnTo>
                  <a:lnTo>
                    <a:pt x="281089" y="106400"/>
                  </a:lnTo>
                  <a:lnTo>
                    <a:pt x="278485" y="99517"/>
                  </a:lnTo>
                  <a:lnTo>
                    <a:pt x="274142" y="86588"/>
                  </a:lnTo>
                  <a:lnTo>
                    <a:pt x="268071" y="74091"/>
                  </a:lnTo>
                  <a:lnTo>
                    <a:pt x="243776" y="41782"/>
                  </a:lnTo>
                  <a:lnTo>
                    <a:pt x="210375" y="17233"/>
                  </a:lnTo>
                  <a:lnTo>
                    <a:pt x="208753" y="16370"/>
                  </a:lnTo>
                  <a:close/>
                </a:path>
              </a:pathLst>
            </a:custGeom>
            <a:solidFill>
              <a:srgbClr val="79C379"/>
            </a:solidFill>
          </p:spPr>
          <p:txBody>
            <a:bodyPr wrap="square" lIns="0" tIns="0" rIns="0" bIns="0" rtlCol="0"/>
            <a:lstStyle/>
            <a:p>
              <a:pPr defTabSz="457063"/>
              <a:endParaRPr sz="1798">
                <a:solidFill>
                  <a:srgbClr val="37424A"/>
                </a:solidFill>
                <a:latin typeface="Arial Narrow"/>
              </a:endParaRPr>
            </a:p>
          </p:txBody>
        </p:sp>
      </p:grpSp>
      <p:sp>
        <p:nvSpPr>
          <p:cNvPr id="234" name="object 141">
            <a:extLst>
              <a:ext uri="{FF2B5EF4-FFF2-40B4-BE49-F238E27FC236}">
                <a16:creationId xmlns:a16="http://schemas.microsoft.com/office/drawing/2014/main" id="{6415E87B-DED7-A14C-7D70-55A48AEC82E1}"/>
              </a:ext>
            </a:extLst>
          </p:cNvPr>
          <p:cNvSpPr txBox="1"/>
          <p:nvPr/>
        </p:nvSpPr>
        <p:spPr>
          <a:xfrm>
            <a:off x="3431370" y="2851237"/>
            <a:ext cx="566125" cy="119843"/>
          </a:xfrm>
          <a:prstGeom prst="rect">
            <a:avLst/>
          </a:prstGeom>
        </p:spPr>
        <p:txBody>
          <a:bodyPr vert="horz" wrap="square" lIns="0" tIns="12059" rIns="0" bIns="0" rtlCol="0">
            <a:spAutoFit/>
          </a:bodyPr>
          <a:lstStyle/>
          <a:p>
            <a:pPr marL="12692" defTabSz="457063">
              <a:spcBef>
                <a:spcPts val="95"/>
              </a:spcBef>
            </a:pPr>
            <a:r>
              <a:rPr sz="700" spc="-20">
                <a:solidFill>
                  <a:srgbClr val="37424A"/>
                </a:solidFill>
                <a:latin typeface="Open Sans"/>
                <a:cs typeface="Open Sans"/>
              </a:rPr>
              <a:t>Data </a:t>
            </a:r>
            <a:r>
              <a:rPr sz="700" spc="-15">
                <a:solidFill>
                  <a:srgbClr val="37424A"/>
                </a:solidFill>
                <a:latin typeface="Open Sans"/>
                <a:cs typeface="Open Sans"/>
              </a:rPr>
              <a:t>Services</a:t>
            </a:r>
            <a:endParaRPr sz="700">
              <a:solidFill>
                <a:srgbClr val="37424A"/>
              </a:solidFill>
              <a:latin typeface="Open Sans"/>
              <a:cs typeface="Open Sans"/>
            </a:endParaRPr>
          </a:p>
        </p:txBody>
      </p:sp>
      <p:sp>
        <p:nvSpPr>
          <p:cNvPr id="235" name="object 142">
            <a:extLst>
              <a:ext uri="{FF2B5EF4-FFF2-40B4-BE49-F238E27FC236}">
                <a16:creationId xmlns:a16="http://schemas.microsoft.com/office/drawing/2014/main" id="{8B040D2A-600A-7608-BFB4-A75C16E7EF48}"/>
              </a:ext>
            </a:extLst>
          </p:cNvPr>
          <p:cNvSpPr txBox="1"/>
          <p:nvPr/>
        </p:nvSpPr>
        <p:spPr>
          <a:xfrm>
            <a:off x="4603986" y="3320708"/>
            <a:ext cx="699406" cy="119843"/>
          </a:xfrm>
          <a:prstGeom prst="rect">
            <a:avLst/>
          </a:prstGeom>
        </p:spPr>
        <p:txBody>
          <a:bodyPr vert="horz" wrap="square" lIns="0" tIns="12059" rIns="0" bIns="0" rtlCol="0">
            <a:spAutoFit/>
          </a:bodyPr>
          <a:lstStyle/>
          <a:p>
            <a:pPr marL="12692" defTabSz="457063">
              <a:spcBef>
                <a:spcPts val="95"/>
              </a:spcBef>
            </a:pPr>
            <a:r>
              <a:rPr sz="700" spc="-15">
                <a:solidFill>
                  <a:srgbClr val="37424A"/>
                </a:solidFill>
                <a:latin typeface="Open Sans"/>
                <a:cs typeface="Open Sans"/>
              </a:rPr>
              <a:t>Acces</a:t>
            </a:r>
            <a:r>
              <a:rPr sz="700" spc="-5">
                <a:solidFill>
                  <a:srgbClr val="37424A"/>
                </a:solidFill>
                <a:latin typeface="Open Sans"/>
                <a:cs typeface="Open Sans"/>
              </a:rPr>
              <a:t>s</a:t>
            </a:r>
            <a:r>
              <a:rPr sz="700" spc="-10">
                <a:solidFill>
                  <a:srgbClr val="37424A"/>
                </a:solidFill>
                <a:latin typeface="Open Sans"/>
                <a:cs typeface="Open Sans"/>
              </a:rPr>
              <a:t> </a:t>
            </a:r>
            <a:r>
              <a:rPr sz="700" spc="-15">
                <a:solidFill>
                  <a:srgbClr val="37424A"/>
                </a:solidFill>
                <a:latin typeface="Open Sans"/>
                <a:cs typeface="Open Sans"/>
              </a:rPr>
              <a:t>W</a:t>
            </a:r>
            <a:r>
              <a:rPr sz="700" spc="-20">
                <a:solidFill>
                  <a:srgbClr val="37424A"/>
                </a:solidFill>
                <a:latin typeface="Open Sans"/>
                <a:cs typeface="Open Sans"/>
              </a:rPr>
              <a:t>o</a:t>
            </a:r>
            <a:r>
              <a:rPr sz="700" spc="-15">
                <a:solidFill>
                  <a:srgbClr val="37424A"/>
                </a:solidFill>
                <a:latin typeface="Open Sans"/>
                <a:cs typeface="Open Sans"/>
              </a:rPr>
              <a:t>r</a:t>
            </a:r>
            <a:r>
              <a:rPr sz="700" spc="-25">
                <a:solidFill>
                  <a:srgbClr val="37424A"/>
                </a:solidFill>
                <a:latin typeface="Open Sans"/>
                <a:cs typeface="Open Sans"/>
              </a:rPr>
              <a:t>k</a:t>
            </a:r>
            <a:r>
              <a:rPr sz="700" spc="-15">
                <a:solidFill>
                  <a:srgbClr val="37424A"/>
                </a:solidFill>
                <a:latin typeface="Open Sans"/>
                <a:cs typeface="Open Sans"/>
              </a:rPr>
              <a:t>fl</a:t>
            </a:r>
            <a:r>
              <a:rPr sz="700" spc="-20">
                <a:solidFill>
                  <a:srgbClr val="37424A"/>
                </a:solidFill>
                <a:latin typeface="Open Sans"/>
                <a:cs typeface="Open Sans"/>
              </a:rPr>
              <a:t>o</a:t>
            </a:r>
            <a:r>
              <a:rPr sz="700" spc="-5">
                <a:solidFill>
                  <a:srgbClr val="37424A"/>
                </a:solidFill>
                <a:latin typeface="Open Sans"/>
                <a:cs typeface="Open Sans"/>
              </a:rPr>
              <a:t>w</a:t>
            </a:r>
            <a:endParaRPr sz="700">
              <a:solidFill>
                <a:srgbClr val="37424A"/>
              </a:solidFill>
              <a:latin typeface="Open Sans"/>
              <a:cs typeface="Open Sans"/>
            </a:endParaRPr>
          </a:p>
        </p:txBody>
      </p:sp>
      <p:sp>
        <p:nvSpPr>
          <p:cNvPr id="236" name="object 143">
            <a:extLst>
              <a:ext uri="{FF2B5EF4-FFF2-40B4-BE49-F238E27FC236}">
                <a16:creationId xmlns:a16="http://schemas.microsoft.com/office/drawing/2014/main" id="{75681FDD-01D6-0590-F612-DCB47F4A7329}"/>
              </a:ext>
            </a:extLst>
          </p:cNvPr>
          <p:cNvSpPr txBox="1"/>
          <p:nvPr/>
        </p:nvSpPr>
        <p:spPr>
          <a:xfrm>
            <a:off x="4087252" y="1741082"/>
            <a:ext cx="708925" cy="119843"/>
          </a:xfrm>
          <a:prstGeom prst="rect">
            <a:avLst/>
          </a:prstGeom>
        </p:spPr>
        <p:txBody>
          <a:bodyPr vert="horz" wrap="square" lIns="0" tIns="12059" rIns="0" bIns="0" rtlCol="0">
            <a:spAutoFit/>
          </a:bodyPr>
          <a:lstStyle/>
          <a:p>
            <a:pPr marL="12692" defTabSz="457063">
              <a:spcBef>
                <a:spcPts val="95"/>
              </a:spcBef>
            </a:pPr>
            <a:r>
              <a:rPr sz="700" spc="-15">
                <a:solidFill>
                  <a:srgbClr val="37424A"/>
                </a:solidFill>
                <a:latin typeface="Open Sans"/>
                <a:cs typeface="Open Sans"/>
              </a:rPr>
              <a:t>Se</a:t>
            </a:r>
            <a:r>
              <a:rPr sz="700" spc="-25">
                <a:solidFill>
                  <a:srgbClr val="37424A"/>
                </a:solidFill>
                <a:latin typeface="Open Sans"/>
                <a:cs typeface="Open Sans"/>
              </a:rPr>
              <a:t>a</a:t>
            </a:r>
            <a:r>
              <a:rPr sz="700" spc="-15">
                <a:solidFill>
                  <a:srgbClr val="37424A"/>
                </a:solidFill>
                <a:latin typeface="Open Sans"/>
                <a:cs typeface="Open Sans"/>
              </a:rPr>
              <a:t>rc</a:t>
            </a:r>
            <a:r>
              <a:rPr sz="700" spc="-5">
                <a:solidFill>
                  <a:srgbClr val="37424A"/>
                </a:solidFill>
                <a:latin typeface="Open Sans"/>
                <a:cs typeface="Open Sans"/>
              </a:rPr>
              <a:t>h</a:t>
            </a:r>
            <a:r>
              <a:rPr sz="700" spc="-10">
                <a:solidFill>
                  <a:srgbClr val="37424A"/>
                </a:solidFill>
                <a:latin typeface="Open Sans"/>
                <a:cs typeface="Open Sans"/>
              </a:rPr>
              <a:t> </a:t>
            </a:r>
            <a:r>
              <a:rPr sz="700" spc="-5">
                <a:solidFill>
                  <a:srgbClr val="37424A"/>
                </a:solidFill>
                <a:latin typeface="Open Sans"/>
                <a:cs typeface="Open Sans"/>
              </a:rPr>
              <a:t>&amp;</a:t>
            </a:r>
            <a:r>
              <a:rPr sz="700" spc="-10">
                <a:solidFill>
                  <a:srgbClr val="37424A"/>
                </a:solidFill>
                <a:latin typeface="Open Sans"/>
                <a:cs typeface="Open Sans"/>
              </a:rPr>
              <a:t> </a:t>
            </a:r>
            <a:r>
              <a:rPr sz="700" spc="-15">
                <a:solidFill>
                  <a:srgbClr val="37424A"/>
                </a:solidFill>
                <a:latin typeface="Open Sans"/>
                <a:cs typeface="Open Sans"/>
              </a:rPr>
              <a:t>Br</a:t>
            </a:r>
            <a:r>
              <a:rPr sz="700" spc="-20">
                <a:solidFill>
                  <a:srgbClr val="37424A"/>
                </a:solidFill>
                <a:latin typeface="Open Sans"/>
                <a:cs typeface="Open Sans"/>
              </a:rPr>
              <a:t>ow</a:t>
            </a:r>
            <a:r>
              <a:rPr sz="700" spc="-15">
                <a:solidFill>
                  <a:srgbClr val="37424A"/>
                </a:solidFill>
                <a:latin typeface="Open Sans"/>
                <a:cs typeface="Open Sans"/>
              </a:rPr>
              <a:t>s</a:t>
            </a:r>
            <a:r>
              <a:rPr sz="700" spc="-5">
                <a:solidFill>
                  <a:srgbClr val="37424A"/>
                </a:solidFill>
                <a:latin typeface="Open Sans"/>
                <a:cs typeface="Open Sans"/>
              </a:rPr>
              <a:t>e</a:t>
            </a:r>
            <a:endParaRPr sz="700">
              <a:solidFill>
                <a:srgbClr val="37424A"/>
              </a:solidFill>
              <a:latin typeface="Open Sans"/>
              <a:cs typeface="Open Sans"/>
            </a:endParaRPr>
          </a:p>
        </p:txBody>
      </p:sp>
      <p:sp>
        <p:nvSpPr>
          <p:cNvPr id="237" name="object 144">
            <a:extLst>
              <a:ext uri="{FF2B5EF4-FFF2-40B4-BE49-F238E27FC236}">
                <a16:creationId xmlns:a16="http://schemas.microsoft.com/office/drawing/2014/main" id="{6681E8D3-CA78-8AC7-BCE0-F1971630D20B}"/>
              </a:ext>
            </a:extLst>
          </p:cNvPr>
          <p:cNvSpPr txBox="1"/>
          <p:nvPr/>
        </p:nvSpPr>
        <p:spPr>
          <a:xfrm>
            <a:off x="4906926" y="2812189"/>
            <a:ext cx="527411" cy="119843"/>
          </a:xfrm>
          <a:prstGeom prst="rect">
            <a:avLst/>
          </a:prstGeom>
        </p:spPr>
        <p:txBody>
          <a:bodyPr vert="horz" wrap="square" lIns="0" tIns="12059" rIns="0" bIns="0" rtlCol="0">
            <a:spAutoFit/>
          </a:bodyPr>
          <a:lstStyle/>
          <a:p>
            <a:pPr marL="12692" defTabSz="457063">
              <a:spcBef>
                <a:spcPts val="95"/>
              </a:spcBef>
            </a:pPr>
            <a:r>
              <a:rPr sz="700" spc="-15">
                <a:solidFill>
                  <a:srgbClr val="37424A"/>
                </a:solidFill>
                <a:latin typeface="Open Sans"/>
                <a:cs typeface="Open Sans"/>
              </a:rPr>
              <a:t>Subscription</a:t>
            </a:r>
            <a:endParaRPr sz="700">
              <a:solidFill>
                <a:srgbClr val="37424A"/>
              </a:solidFill>
              <a:latin typeface="Open Sans"/>
              <a:cs typeface="Open Sans"/>
            </a:endParaRPr>
          </a:p>
        </p:txBody>
      </p:sp>
      <p:sp>
        <p:nvSpPr>
          <p:cNvPr id="238" name="object 145">
            <a:extLst>
              <a:ext uri="{FF2B5EF4-FFF2-40B4-BE49-F238E27FC236}">
                <a16:creationId xmlns:a16="http://schemas.microsoft.com/office/drawing/2014/main" id="{4A42A239-ACF3-6506-7041-7F8E1E8A95E7}"/>
              </a:ext>
            </a:extLst>
          </p:cNvPr>
          <p:cNvSpPr txBox="1"/>
          <p:nvPr/>
        </p:nvSpPr>
        <p:spPr>
          <a:xfrm>
            <a:off x="6396748" y="2485328"/>
            <a:ext cx="682269" cy="136504"/>
          </a:xfrm>
          <a:prstGeom prst="rect">
            <a:avLst/>
          </a:prstGeom>
        </p:spPr>
        <p:txBody>
          <a:bodyPr vert="horz" wrap="square" lIns="0" tIns="13329" rIns="0" bIns="0" rtlCol="0">
            <a:spAutoFit/>
          </a:bodyPr>
          <a:lstStyle/>
          <a:p>
            <a:pPr marL="12692" defTabSz="457063">
              <a:spcBef>
                <a:spcPts val="105"/>
              </a:spcBef>
            </a:pPr>
            <a:r>
              <a:rPr sz="800" spc="-15">
                <a:solidFill>
                  <a:srgbClr val="37424A"/>
                </a:solidFill>
                <a:latin typeface="Open Sans"/>
                <a:cs typeface="Open Sans"/>
              </a:rPr>
              <a:t>D</a:t>
            </a:r>
            <a:r>
              <a:rPr sz="800" spc="-20">
                <a:solidFill>
                  <a:srgbClr val="37424A"/>
                </a:solidFill>
                <a:latin typeface="Open Sans"/>
                <a:cs typeface="Open Sans"/>
              </a:rPr>
              <a:t>a</a:t>
            </a:r>
            <a:r>
              <a:rPr sz="800" spc="-10">
                <a:solidFill>
                  <a:srgbClr val="37424A"/>
                </a:solidFill>
                <a:latin typeface="Open Sans"/>
                <a:cs typeface="Open Sans"/>
              </a:rPr>
              <a:t>t</a:t>
            </a:r>
            <a:r>
              <a:rPr sz="800">
                <a:solidFill>
                  <a:srgbClr val="37424A"/>
                </a:solidFill>
                <a:latin typeface="Open Sans"/>
                <a:cs typeface="Open Sans"/>
              </a:rPr>
              <a:t>a</a:t>
            </a:r>
            <a:r>
              <a:rPr sz="800" spc="-10">
                <a:solidFill>
                  <a:srgbClr val="37424A"/>
                </a:solidFill>
                <a:latin typeface="Open Sans"/>
                <a:cs typeface="Open Sans"/>
              </a:rPr>
              <a:t> </a:t>
            </a:r>
            <a:r>
              <a:rPr sz="800" spc="-20">
                <a:solidFill>
                  <a:srgbClr val="37424A"/>
                </a:solidFill>
                <a:latin typeface="Open Sans"/>
                <a:cs typeface="Open Sans"/>
              </a:rPr>
              <a:t>Pro</a:t>
            </a:r>
            <a:r>
              <a:rPr sz="800" spc="-15">
                <a:solidFill>
                  <a:srgbClr val="37424A"/>
                </a:solidFill>
                <a:latin typeface="Open Sans"/>
                <a:cs typeface="Open Sans"/>
              </a:rPr>
              <a:t>duc</a:t>
            </a:r>
            <a:r>
              <a:rPr sz="800" spc="-10">
                <a:solidFill>
                  <a:srgbClr val="37424A"/>
                </a:solidFill>
                <a:latin typeface="Open Sans"/>
                <a:cs typeface="Open Sans"/>
              </a:rPr>
              <a:t>t</a:t>
            </a:r>
            <a:r>
              <a:rPr sz="800">
                <a:solidFill>
                  <a:srgbClr val="37424A"/>
                </a:solidFill>
                <a:latin typeface="Open Sans"/>
                <a:cs typeface="Open Sans"/>
              </a:rPr>
              <a:t>s</a:t>
            </a:r>
          </a:p>
        </p:txBody>
      </p:sp>
      <p:grpSp>
        <p:nvGrpSpPr>
          <p:cNvPr id="239" name="object 146">
            <a:extLst>
              <a:ext uri="{FF2B5EF4-FFF2-40B4-BE49-F238E27FC236}">
                <a16:creationId xmlns:a16="http://schemas.microsoft.com/office/drawing/2014/main" id="{559BFC3D-77C6-FD34-04A8-8C7643E4ECB1}"/>
              </a:ext>
            </a:extLst>
          </p:cNvPr>
          <p:cNvGrpSpPr/>
          <p:nvPr/>
        </p:nvGrpSpPr>
        <p:grpSpPr>
          <a:xfrm>
            <a:off x="2673039" y="1585920"/>
            <a:ext cx="4137409" cy="2631339"/>
            <a:chOff x="2672842" y="1584960"/>
            <a:chExt cx="4139565" cy="2632710"/>
          </a:xfrm>
        </p:grpSpPr>
        <p:pic>
          <p:nvPicPr>
            <p:cNvPr id="240" name="object 147">
              <a:extLst>
                <a:ext uri="{FF2B5EF4-FFF2-40B4-BE49-F238E27FC236}">
                  <a16:creationId xmlns:a16="http://schemas.microsoft.com/office/drawing/2014/main" id="{B8748543-9FF7-FA68-E73D-1F812FBD7B86}"/>
                </a:ext>
              </a:extLst>
            </p:cNvPr>
            <p:cNvPicPr/>
            <p:nvPr/>
          </p:nvPicPr>
          <p:blipFill>
            <a:blip r:embed="rId32" cstate="screen">
              <a:extLst>
                <a:ext uri="{28A0092B-C50C-407E-A947-70E740481C1C}">
                  <a14:useLocalDpi xmlns:a14="http://schemas.microsoft.com/office/drawing/2010/main"/>
                </a:ext>
              </a:extLst>
            </a:blip>
            <a:stretch>
              <a:fillRect/>
            </a:stretch>
          </p:blipFill>
          <p:spPr>
            <a:xfrm>
              <a:off x="6600444" y="2286000"/>
              <a:ext cx="211835" cy="210311"/>
            </a:xfrm>
            <a:prstGeom prst="rect">
              <a:avLst/>
            </a:prstGeom>
          </p:spPr>
        </p:pic>
        <p:sp>
          <p:nvSpPr>
            <p:cNvPr id="241" name="object 148">
              <a:extLst>
                <a:ext uri="{FF2B5EF4-FFF2-40B4-BE49-F238E27FC236}">
                  <a16:creationId xmlns:a16="http://schemas.microsoft.com/office/drawing/2014/main" id="{B32E7C32-EFD1-C6B1-7563-C0491E9F8F3E}"/>
                </a:ext>
              </a:extLst>
            </p:cNvPr>
            <p:cNvSpPr/>
            <p:nvPr/>
          </p:nvSpPr>
          <p:spPr>
            <a:xfrm>
              <a:off x="4974336" y="2535936"/>
              <a:ext cx="838200" cy="1675130"/>
            </a:xfrm>
            <a:custGeom>
              <a:avLst/>
              <a:gdLst/>
              <a:ahLst/>
              <a:cxnLst/>
              <a:rect l="l" t="t" r="r" b="b"/>
              <a:pathLst>
                <a:path w="838200" h="1675129">
                  <a:moveTo>
                    <a:pt x="0" y="1674876"/>
                  </a:moveTo>
                  <a:lnTo>
                    <a:pt x="0" y="1264767"/>
                  </a:lnTo>
                </a:path>
                <a:path w="838200" h="1675129">
                  <a:moveTo>
                    <a:pt x="0" y="1597952"/>
                  </a:moveTo>
                  <a:lnTo>
                    <a:pt x="125298" y="1597952"/>
                  </a:lnTo>
                  <a:lnTo>
                    <a:pt x="838200" y="0"/>
                  </a:lnTo>
                </a:path>
              </a:pathLst>
            </a:custGeom>
            <a:ln w="12192">
              <a:solidFill>
                <a:srgbClr val="808080"/>
              </a:solidFill>
            </a:ln>
          </p:spPr>
          <p:txBody>
            <a:bodyPr wrap="square" lIns="0" tIns="0" rIns="0" bIns="0" rtlCol="0"/>
            <a:lstStyle/>
            <a:p>
              <a:pPr defTabSz="457063"/>
              <a:endParaRPr sz="1798">
                <a:solidFill>
                  <a:srgbClr val="37424A"/>
                </a:solidFill>
                <a:latin typeface="Arial Narrow"/>
              </a:endParaRPr>
            </a:p>
          </p:txBody>
        </p:sp>
        <p:sp>
          <p:nvSpPr>
            <p:cNvPr id="242" name="object 149">
              <a:extLst>
                <a:ext uri="{FF2B5EF4-FFF2-40B4-BE49-F238E27FC236}">
                  <a16:creationId xmlns:a16="http://schemas.microsoft.com/office/drawing/2014/main" id="{0BAB202B-2D84-3575-DBE1-E5FB62F9DDFC}"/>
                </a:ext>
              </a:extLst>
            </p:cNvPr>
            <p:cNvSpPr/>
            <p:nvPr/>
          </p:nvSpPr>
          <p:spPr>
            <a:xfrm>
              <a:off x="2679192" y="2980944"/>
              <a:ext cx="693420" cy="1229995"/>
            </a:xfrm>
            <a:custGeom>
              <a:avLst/>
              <a:gdLst/>
              <a:ahLst/>
              <a:cxnLst/>
              <a:rect l="l" t="t" r="r" b="b"/>
              <a:pathLst>
                <a:path w="693420" h="1229995">
                  <a:moveTo>
                    <a:pt x="693419" y="1229867"/>
                  </a:moveTo>
                  <a:lnTo>
                    <a:pt x="693419" y="928725"/>
                  </a:lnTo>
                </a:path>
                <a:path w="693420" h="1229995">
                  <a:moveTo>
                    <a:pt x="693419" y="1173391"/>
                  </a:moveTo>
                  <a:lnTo>
                    <a:pt x="589762" y="1173391"/>
                  </a:lnTo>
                  <a:lnTo>
                    <a:pt x="0" y="0"/>
                  </a:lnTo>
                </a:path>
              </a:pathLst>
            </a:custGeom>
            <a:ln w="12192">
              <a:solidFill>
                <a:srgbClr val="808080"/>
              </a:solidFill>
            </a:ln>
          </p:spPr>
          <p:txBody>
            <a:bodyPr wrap="square" lIns="0" tIns="0" rIns="0" bIns="0" rtlCol="0"/>
            <a:lstStyle/>
            <a:p>
              <a:pPr defTabSz="457063"/>
              <a:endParaRPr sz="1798">
                <a:solidFill>
                  <a:srgbClr val="37424A"/>
                </a:solidFill>
                <a:latin typeface="Arial Narrow"/>
              </a:endParaRPr>
            </a:p>
          </p:txBody>
        </p:sp>
        <p:pic>
          <p:nvPicPr>
            <p:cNvPr id="243" name="object 150">
              <a:extLst>
                <a:ext uri="{FF2B5EF4-FFF2-40B4-BE49-F238E27FC236}">
                  <a16:creationId xmlns:a16="http://schemas.microsoft.com/office/drawing/2014/main" id="{D581C514-0FDB-F34D-B894-1D33964C118C}"/>
                </a:ext>
              </a:extLst>
            </p:cNvPr>
            <p:cNvPicPr/>
            <p:nvPr/>
          </p:nvPicPr>
          <p:blipFill>
            <a:blip r:embed="rId33" cstate="screen">
              <a:extLst>
                <a:ext uri="{28A0092B-C50C-407E-A947-70E740481C1C}">
                  <a14:useLocalDpi xmlns:a14="http://schemas.microsoft.com/office/drawing/2010/main"/>
                </a:ext>
              </a:extLst>
            </a:blip>
            <a:stretch>
              <a:fillRect/>
            </a:stretch>
          </p:blipFill>
          <p:spPr>
            <a:xfrm>
              <a:off x="6163056" y="1588008"/>
              <a:ext cx="213359" cy="213359"/>
            </a:xfrm>
            <a:prstGeom prst="rect">
              <a:avLst/>
            </a:prstGeom>
          </p:spPr>
        </p:pic>
        <p:pic>
          <p:nvPicPr>
            <p:cNvPr id="244" name="object 151">
              <a:extLst>
                <a:ext uri="{FF2B5EF4-FFF2-40B4-BE49-F238E27FC236}">
                  <a16:creationId xmlns:a16="http://schemas.microsoft.com/office/drawing/2014/main" id="{558005FC-03DD-E6A5-182E-98C222B2933E}"/>
                </a:ext>
              </a:extLst>
            </p:cNvPr>
            <p:cNvPicPr/>
            <p:nvPr/>
          </p:nvPicPr>
          <p:blipFill>
            <a:blip r:embed="rId34" cstate="screen">
              <a:extLst>
                <a:ext uri="{28A0092B-C50C-407E-A947-70E740481C1C}">
                  <a14:useLocalDpi xmlns:a14="http://schemas.microsoft.com/office/drawing/2010/main"/>
                </a:ext>
              </a:extLst>
            </a:blip>
            <a:stretch>
              <a:fillRect/>
            </a:stretch>
          </p:blipFill>
          <p:spPr>
            <a:xfrm>
              <a:off x="5143500" y="1584960"/>
              <a:ext cx="214883" cy="211835"/>
            </a:xfrm>
            <a:prstGeom prst="rect">
              <a:avLst/>
            </a:prstGeom>
          </p:spPr>
        </p:pic>
        <p:pic>
          <p:nvPicPr>
            <p:cNvPr id="245" name="object 152">
              <a:extLst>
                <a:ext uri="{FF2B5EF4-FFF2-40B4-BE49-F238E27FC236}">
                  <a16:creationId xmlns:a16="http://schemas.microsoft.com/office/drawing/2014/main" id="{F4137644-A18B-1E8F-CE22-A8D22DF0D334}"/>
                </a:ext>
              </a:extLst>
            </p:cNvPr>
            <p:cNvPicPr/>
            <p:nvPr/>
          </p:nvPicPr>
          <p:blipFill>
            <a:blip r:embed="rId35" cstate="screen">
              <a:extLst>
                <a:ext uri="{28A0092B-C50C-407E-A947-70E740481C1C}">
                  <a14:useLocalDpi xmlns:a14="http://schemas.microsoft.com/office/drawing/2010/main"/>
                </a:ext>
              </a:extLst>
            </a:blip>
            <a:stretch>
              <a:fillRect/>
            </a:stretch>
          </p:blipFill>
          <p:spPr>
            <a:xfrm>
              <a:off x="5507736" y="2516124"/>
              <a:ext cx="214883" cy="213359"/>
            </a:xfrm>
            <a:prstGeom prst="rect">
              <a:avLst/>
            </a:prstGeom>
          </p:spPr>
        </p:pic>
        <p:pic>
          <p:nvPicPr>
            <p:cNvPr id="246" name="object 153">
              <a:extLst>
                <a:ext uri="{FF2B5EF4-FFF2-40B4-BE49-F238E27FC236}">
                  <a16:creationId xmlns:a16="http://schemas.microsoft.com/office/drawing/2014/main" id="{A4E821CD-E20F-51EA-1C5B-B5E50EF5E132}"/>
                </a:ext>
              </a:extLst>
            </p:cNvPr>
            <p:cNvPicPr/>
            <p:nvPr/>
          </p:nvPicPr>
          <p:blipFill>
            <a:blip r:embed="rId36" cstate="screen">
              <a:extLst>
                <a:ext uri="{28A0092B-C50C-407E-A947-70E740481C1C}">
                  <a14:useLocalDpi xmlns:a14="http://schemas.microsoft.com/office/drawing/2010/main"/>
                </a:ext>
              </a:extLst>
            </a:blip>
            <a:stretch>
              <a:fillRect/>
            </a:stretch>
          </p:blipFill>
          <p:spPr>
            <a:xfrm>
              <a:off x="3143375" y="2408917"/>
              <a:ext cx="246785" cy="147393"/>
            </a:xfrm>
            <a:prstGeom prst="rect">
              <a:avLst/>
            </a:prstGeom>
          </p:spPr>
        </p:pic>
      </p:grpSp>
      <p:sp>
        <p:nvSpPr>
          <p:cNvPr id="247" name="object 154">
            <a:extLst>
              <a:ext uri="{FF2B5EF4-FFF2-40B4-BE49-F238E27FC236}">
                <a16:creationId xmlns:a16="http://schemas.microsoft.com/office/drawing/2014/main" id="{88330098-8F22-9491-E5F6-7DAB8F3FA06D}"/>
              </a:ext>
            </a:extLst>
          </p:cNvPr>
          <p:cNvSpPr txBox="1"/>
          <p:nvPr/>
        </p:nvSpPr>
        <p:spPr>
          <a:xfrm>
            <a:off x="3497905" y="3751052"/>
            <a:ext cx="1405793" cy="513447"/>
          </a:xfrm>
          <a:prstGeom prst="rect">
            <a:avLst/>
          </a:prstGeom>
        </p:spPr>
        <p:txBody>
          <a:bodyPr vert="horz" wrap="square" lIns="0" tIns="12694" rIns="0" bIns="0" rtlCol="0">
            <a:spAutoFit/>
          </a:bodyPr>
          <a:lstStyle/>
          <a:p>
            <a:pPr marL="12692" marR="5076" defTabSz="457063">
              <a:spcBef>
                <a:spcPts val="100"/>
              </a:spcBef>
            </a:pPr>
            <a:r>
              <a:rPr sz="800" b="1" spc="-5">
                <a:solidFill>
                  <a:srgbClr val="808080"/>
                </a:solidFill>
                <a:latin typeface="Open Sans"/>
                <a:cs typeface="Open Sans"/>
              </a:rPr>
              <a:t>Internationalization:</a:t>
            </a:r>
            <a:r>
              <a:rPr sz="800" b="1">
                <a:solidFill>
                  <a:srgbClr val="808080"/>
                </a:solidFill>
                <a:latin typeface="Open Sans"/>
                <a:cs typeface="Open Sans"/>
              </a:rPr>
              <a:t> </a:t>
            </a:r>
            <a:r>
              <a:rPr sz="800" spc="-5">
                <a:solidFill>
                  <a:srgbClr val="808080"/>
                </a:solidFill>
                <a:latin typeface="Open Sans"/>
                <a:cs typeface="Open Sans"/>
              </a:rPr>
              <a:t>GDPR, </a:t>
            </a:r>
            <a:r>
              <a:rPr sz="800" spc="-195">
                <a:solidFill>
                  <a:srgbClr val="808080"/>
                </a:solidFill>
                <a:latin typeface="Open Sans"/>
                <a:cs typeface="Open Sans"/>
              </a:rPr>
              <a:t> </a:t>
            </a:r>
            <a:r>
              <a:rPr sz="800" spc="-5">
                <a:solidFill>
                  <a:srgbClr val="808080"/>
                </a:solidFill>
                <a:latin typeface="Open Sans"/>
                <a:cs typeface="Open Sans"/>
              </a:rPr>
              <a:t>Brazil’s</a:t>
            </a:r>
            <a:r>
              <a:rPr sz="800">
                <a:solidFill>
                  <a:srgbClr val="808080"/>
                </a:solidFill>
                <a:latin typeface="Open Sans"/>
                <a:cs typeface="Open Sans"/>
              </a:rPr>
              <a:t> LGPD,</a:t>
            </a:r>
            <a:r>
              <a:rPr sz="800" spc="15">
                <a:solidFill>
                  <a:srgbClr val="808080"/>
                </a:solidFill>
                <a:latin typeface="Open Sans"/>
                <a:cs typeface="Open Sans"/>
              </a:rPr>
              <a:t> </a:t>
            </a:r>
            <a:r>
              <a:rPr sz="800" spc="-5">
                <a:solidFill>
                  <a:srgbClr val="808080"/>
                </a:solidFill>
                <a:latin typeface="Open Sans"/>
                <a:cs typeface="Open Sans"/>
              </a:rPr>
              <a:t>Argentina’s </a:t>
            </a:r>
            <a:r>
              <a:rPr sz="800">
                <a:solidFill>
                  <a:srgbClr val="808080"/>
                </a:solidFill>
                <a:latin typeface="Open Sans"/>
                <a:cs typeface="Open Sans"/>
              </a:rPr>
              <a:t> PDP(L/A)</a:t>
            </a:r>
            <a:r>
              <a:rPr sz="800" spc="15">
                <a:solidFill>
                  <a:srgbClr val="808080"/>
                </a:solidFill>
                <a:latin typeface="Open Sans"/>
                <a:cs typeface="Open Sans"/>
              </a:rPr>
              <a:t> </a:t>
            </a:r>
            <a:r>
              <a:rPr sz="800" spc="-5">
                <a:solidFill>
                  <a:srgbClr val="808080"/>
                </a:solidFill>
                <a:latin typeface="Open Sans"/>
                <a:cs typeface="Open Sans"/>
              </a:rPr>
              <a:t>and</a:t>
            </a:r>
            <a:r>
              <a:rPr sz="800" spc="-10">
                <a:solidFill>
                  <a:srgbClr val="808080"/>
                </a:solidFill>
                <a:latin typeface="Open Sans"/>
                <a:cs typeface="Open Sans"/>
              </a:rPr>
              <a:t> </a:t>
            </a:r>
            <a:r>
              <a:rPr sz="800" spc="-5">
                <a:solidFill>
                  <a:srgbClr val="808080"/>
                </a:solidFill>
                <a:latin typeface="Open Sans"/>
                <a:cs typeface="Open Sans"/>
              </a:rPr>
              <a:t>other </a:t>
            </a:r>
            <a:r>
              <a:rPr sz="800">
                <a:solidFill>
                  <a:srgbClr val="808080"/>
                </a:solidFill>
                <a:latin typeface="Open Sans"/>
                <a:cs typeface="Open Sans"/>
              </a:rPr>
              <a:t> </a:t>
            </a:r>
            <a:r>
              <a:rPr sz="800" spc="-5">
                <a:solidFill>
                  <a:srgbClr val="808080"/>
                </a:solidFill>
                <a:latin typeface="Open Sans"/>
                <a:cs typeface="Open Sans"/>
              </a:rPr>
              <a:t>regulatory</a:t>
            </a:r>
            <a:r>
              <a:rPr sz="800" spc="-10">
                <a:solidFill>
                  <a:srgbClr val="808080"/>
                </a:solidFill>
                <a:latin typeface="Open Sans"/>
                <a:cs typeface="Open Sans"/>
              </a:rPr>
              <a:t> </a:t>
            </a:r>
            <a:r>
              <a:rPr sz="800" spc="-5">
                <a:solidFill>
                  <a:srgbClr val="808080"/>
                </a:solidFill>
                <a:latin typeface="Open Sans"/>
                <a:cs typeface="Open Sans"/>
              </a:rPr>
              <a:t>compliance</a:t>
            </a:r>
            <a:endParaRPr sz="800">
              <a:solidFill>
                <a:srgbClr val="37424A"/>
              </a:solidFill>
              <a:latin typeface="Open Sans"/>
              <a:cs typeface="Open Sans"/>
            </a:endParaRPr>
          </a:p>
        </p:txBody>
      </p:sp>
      <p:sp>
        <p:nvSpPr>
          <p:cNvPr id="248" name="object 155">
            <a:extLst>
              <a:ext uri="{FF2B5EF4-FFF2-40B4-BE49-F238E27FC236}">
                <a16:creationId xmlns:a16="http://schemas.microsoft.com/office/drawing/2014/main" id="{7E41B30E-D594-92B7-2054-D67DAEDBD139}"/>
              </a:ext>
            </a:extLst>
          </p:cNvPr>
          <p:cNvSpPr txBox="1"/>
          <p:nvPr/>
        </p:nvSpPr>
        <p:spPr>
          <a:xfrm>
            <a:off x="3112583" y="2253670"/>
            <a:ext cx="621976" cy="119843"/>
          </a:xfrm>
          <a:prstGeom prst="rect">
            <a:avLst/>
          </a:prstGeom>
        </p:spPr>
        <p:txBody>
          <a:bodyPr vert="horz" wrap="square" lIns="0" tIns="12059" rIns="0" bIns="0" rtlCol="0">
            <a:spAutoFit/>
          </a:bodyPr>
          <a:lstStyle/>
          <a:p>
            <a:pPr marL="12692" defTabSz="457063">
              <a:spcBef>
                <a:spcPts val="95"/>
              </a:spcBef>
            </a:pPr>
            <a:r>
              <a:rPr sz="700" spc="-25">
                <a:solidFill>
                  <a:srgbClr val="37424A"/>
                </a:solidFill>
                <a:latin typeface="Open Sans"/>
                <a:cs typeface="Open Sans"/>
              </a:rPr>
              <a:t>Dat</a:t>
            </a:r>
            <a:r>
              <a:rPr sz="700" spc="-5">
                <a:solidFill>
                  <a:srgbClr val="37424A"/>
                </a:solidFill>
                <a:latin typeface="Open Sans"/>
                <a:cs typeface="Open Sans"/>
              </a:rPr>
              <a:t>a</a:t>
            </a:r>
            <a:r>
              <a:rPr sz="700" spc="15">
                <a:solidFill>
                  <a:srgbClr val="37424A"/>
                </a:solidFill>
                <a:latin typeface="Open Sans"/>
                <a:cs typeface="Open Sans"/>
              </a:rPr>
              <a:t> </a:t>
            </a:r>
            <a:r>
              <a:rPr sz="700" spc="-15">
                <a:solidFill>
                  <a:srgbClr val="37424A"/>
                </a:solidFill>
                <a:latin typeface="Open Sans"/>
                <a:cs typeface="Open Sans"/>
              </a:rPr>
              <a:t>C</a:t>
            </a:r>
            <a:r>
              <a:rPr sz="700" spc="-20">
                <a:solidFill>
                  <a:srgbClr val="37424A"/>
                </a:solidFill>
                <a:latin typeface="Open Sans"/>
                <a:cs typeface="Open Sans"/>
              </a:rPr>
              <a:t>o</a:t>
            </a:r>
            <a:r>
              <a:rPr sz="700" spc="-15">
                <a:solidFill>
                  <a:srgbClr val="37424A"/>
                </a:solidFill>
                <a:latin typeface="Open Sans"/>
                <a:cs typeface="Open Sans"/>
              </a:rPr>
              <a:t>n</a:t>
            </a:r>
            <a:r>
              <a:rPr sz="700" spc="-25">
                <a:solidFill>
                  <a:srgbClr val="37424A"/>
                </a:solidFill>
                <a:latin typeface="Open Sans"/>
                <a:cs typeface="Open Sans"/>
              </a:rPr>
              <a:t>t</a:t>
            </a:r>
            <a:r>
              <a:rPr sz="700" spc="-15">
                <a:solidFill>
                  <a:srgbClr val="37424A"/>
                </a:solidFill>
                <a:latin typeface="Open Sans"/>
                <a:cs typeface="Open Sans"/>
              </a:rPr>
              <a:t>r</a:t>
            </a:r>
            <a:r>
              <a:rPr sz="700" spc="-25">
                <a:solidFill>
                  <a:srgbClr val="37424A"/>
                </a:solidFill>
                <a:latin typeface="Open Sans"/>
                <a:cs typeface="Open Sans"/>
              </a:rPr>
              <a:t>a</a:t>
            </a:r>
            <a:r>
              <a:rPr sz="700" spc="-15">
                <a:solidFill>
                  <a:srgbClr val="37424A"/>
                </a:solidFill>
                <a:latin typeface="Open Sans"/>
                <a:cs typeface="Open Sans"/>
              </a:rPr>
              <a:t>c</a:t>
            </a:r>
            <a:r>
              <a:rPr sz="700" spc="-25">
                <a:solidFill>
                  <a:srgbClr val="37424A"/>
                </a:solidFill>
                <a:latin typeface="Open Sans"/>
                <a:cs typeface="Open Sans"/>
              </a:rPr>
              <a:t>t</a:t>
            </a:r>
            <a:r>
              <a:rPr sz="700" spc="-5">
                <a:solidFill>
                  <a:srgbClr val="37424A"/>
                </a:solidFill>
                <a:latin typeface="Open Sans"/>
                <a:cs typeface="Open Sans"/>
              </a:rPr>
              <a:t>s</a:t>
            </a:r>
            <a:endParaRPr sz="700">
              <a:solidFill>
                <a:srgbClr val="37424A"/>
              </a:solidFill>
              <a:latin typeface="Open Sans"/>
              <a:cs typeface="Open Sans"/>
            </a:endParaRPr>
          </a:p>
        </p:txBody>
      </p:sp>
      <p:pic>
        <p:nvPicPr>
          <p:cNvPr id="249" name="object 156">
            <a:extLst>
              <a:ext uri="{FF2B5EF4-FFF2-40B4-BE49-F238E27FC236}">
                <a16:creationId xmlns:a16="http://schemas.microsoft.com/office/drawing/2014/main" id="{DD9B6933-6B18-91BF-7D24-D45A96A583BE}"/>
              </a:ext>
            </a:extLst>
          </p:cNvPr>
          <p:cNvPicPr/>
          <p:nvPr/>
        </p:nvPicPr>
        <p:blipFill>
          <a:blip r:embed="rId37" cstate="screen">
            <a:extLst>
              <a:ext uri="{28A0092B-C50C-407E-A947-70E740481C1C}">
                <a14:useLocalDpi xmlns:a14="http://schemas.microsoft.com/office/drawing/2010/main"/>
              </a:ext>
            </a:extLst>
          </a:blip>
          <a:stretch>
            <a:fillRect/>
          </a:stretch>
        </p:blipFill>
        <p:spPr>
          <a:xfrm>
            <a:off x="1596384" y="2490707"/>
            <a:ext cx="239143" cy="239143"/>
          </a:xfrm>
          <a:prstGeom prst="rect">
            <a:avLst/>
          </a:prstGeom>
        </p:spPr>
      </p:pic>
      <p:sp>
        <p:nvSpPr>
          <p:cNvPr id="250" name="object 157">
            <a:extLst>
              <a:ext uri="{FF2B5EF4-FFF2-40B4-BE49-F238E27FC236}">
                <a16:creationId xmlns:a16="http://schemas.microsoft.com/office/drawing/2014/main" id="{E790E88D-DFEC-B472-7FA1-7F838A1B0BB0}"/>
              </a:ext>
            </a:extLst>
          </p:cNvPr>
          <p:cNvSpPr txBox="1"/>
          <p:nvPr/>
        </p:nvSpPr>
        <p:spPr>
          <a:xfrm>
            <a:off x="1347018" y="2768917"/>
            <a:ext cx="713368" cy="119843"/>
          </a:xfrm>
          <a:prstGeom prst="rect">
            <a:avLst/>
          </a:prstGeom>
        </p:spPr>
        <p:txBody>
          <a:bodyPr vert="horz" wrap="square" lIns="0" tIns="12059" rIns="0" bIns="0" rtlCol="0">
            <a:spAutoFit/>
          </a:bodyPr>
          <a:lstStyle/>
          <a:p>
            <a:pPr marL="12692" defTabSz="457063">
              <a:spcBef>
                <a:spcPts val="95"/>
              </a:spcBef>
            </a:pPr>
            <a:r>
              <a:rPr sz="700" spc="-25">
                <a:solidFill>
                  <a:srgbClr val="37424A"/>
                </a:solidFill>
                <a:latin typeface="Open Sans"/>
                <a:cs typeface="Open Sans"/>
              </a:rPr>
              <a:t>Dat</a:t>
            </a:r>
            <a:r>
              <a:rPr sz="700" spc="-5">
                <a:solidFill>
                  <a:srgbClr val="37424A"/>
                </a:solidFill>
                <a:latin typeface="Open Sans"/>
                <a:cs typeface="Open Sans"/>
              </a:rPr>
              <a:t>a</a:t>
            </a:r>
            <a:r>
              <a:rPr sz="700" spc="15">
                <a:solidFill>
                  <a:srgbClr val="37424A"/>
                </a:solidFill>
                <a:latin typeface="Open Sans"/>
                <a:cs typeface="Open Sans"/>
              </a:rPr>
              <a:t> </a:t>
            </a:r>
            <a:r>
              <a:rPr sz="700" spc="-20">
                <a:solidFill>
                  <a:srgbClr val="37424A"/>
                </a:solidFill>
                <a:latin typeface="Open Sans"/>
                <a:cs typeface="Open Sans"/>
              </a:rPr>
              <a:t>P</a:t>
            </a:r>
            <a:r>
              <a:rPr sz="700" spc="-15">
                <a:solidFill>
                  <a:srgbClr val="37424A"/>
                </a:solidFill>
                <a:latin typeface="Open Sans"/>
                <a:cs typeface="Open Sans"/>
              </a:rPr>
              <a:t>rep</a:t>
            </a:r>
            <a:r>
              <a:rPr sz="700" spc="-25">
                <a:solidFill>
                  <a:srgbClr val="37424A"/>
                </a:solidFill>
                <a:latin typeface="Open Sans"/>
                <a:cs typeface="Open Sans"/>
              </a:rPr>
              <a:t>a</a:t>
            </a:r>
            <a:r>
              <a:rPr sz="700" spc="-15">
                <a:solidFill>
                  <a:srgbClr val="37424A"/>
                </a:solidFill>
                <a:latin typeface="Open Sans"/>
                <a:cs typeface="Open Sans"/>
              </a:rPr>
              <a:t>r</a:t>
            </a:r>
            <a:r>
              <a:rPr sz="700" spc="-25">
                <a:solidFill>
                  <a:srgbClr val="37424A"/>
                </a:solidFill>
                <a:latin typeface="Open Sans"/>
                <a:cs typeface="Open Sans"/>
              </a:rPr>
              <a:t>at</a:t>
            </a:r>
            <a:r>
              <a:rPr sz="700" spc="-15">
                <a:solidFill>
                  <a:srgbClr val="37424A"/>
                </a:solidFill>
                <a:latin typeface="Open Sans"/>
                <a:cs typeface="Open Sans"/>
              </a:rPr>
              <a:t>i</a:t>
            </a:r>
            <a:r>
              <a:rPr sz="700" spc="-20">
                <a:solidFill>
                  <a:srgbClr val="37424A"/>
                </a:solidFill>
                <a:latin typeface="Open Sans"/>
                <a:cs typeface="Open Sans"/>
              </a:rPr>
              <a:t>o</a:t>
            </a:r>
            <a:r>
              <a:rPr sz="700" spc="-5">
                <a:solidFill>
                  <a:srgbClr val="37424A"/>
                </a:solidFill>
                <a:latin typeface="Open Sans"/>
                <a:cs typeface="Open Sans"/>
              </a:rPr>
              <a:t>n</a:t>
            </a:r>
            <a:endParaRPr sz="700">
              <a:solidFill>
                <a:srgbClr val="37424A"/>
              </a:solidFill>
              <a:latin typeface="Open Sans"/>
              <a:cs typeface="Open Sans"/>
            </a:endParaRPr>
          </a:p>
        </p:txBody>
      </p:sp>
      <p:sp>
        <p:nvSpPr>
          <p:cNvPr id="251" name="object 158">
            <a:extLst>
              <a:ext uri="{FF2B5EF4-FFF2-40B4-BE49-F238E27FC236}">
                <a16:creationId xmlns:a16="http://schemas.microsoft.com/office/drawing/2014/main" id="{2F5CD951-79EF-5559-73BA-E421F72D5D27}"/>
              </a:ext>
            </a:extLst>
          </p:cNvPr>
          <p:cNvSpPr txBox="1"/>
          <p:nvPr/>
        </p:nvSpPr>
        <p:spPr>
          <a:xfrm>
            <a:off x="458550" y="6523081"/>
            <a:ext cx="2174377" cy="89722"/>
          </a:xfrm>
          <a:prstGeom prst="rect">
            <a:avLst/>
          </a:prstGeom>
        </p:spPr>
        <p:txBody>
          <a:bodyPr vert="horz" wrap="square" lIns="0" tIns="0" rIns="0" bIns="0" rtlCol="0">
            <a:spAutoFit/>
          </a:bodyPr>
          <a:lstStyle/>
          <a:p>
            <a:pPr marL="12692" defTabSz="457063">
              <a:lnSpc>
                <a:spcPts val="715"/>
              </a:lnSpc>
            </a:pPr>
            <a:r>
              <a:rPr sz="650" spc="-30">
                <a:solidFill>
                  <a:srgbClr val="37424A"/>
                </a:solidFill>
                <a:latin typeface="Arial"/>
                <a:cs typeface="Arial"/>
              </a:rPr>
              <a:t>Copyright</a:t>
            </a:r>
            <a:r>
              <a:rPr sz="650" spc="-15">
                <a:solidFill>
                  <a:srgbClr val="37424A"/>
                </a:solidFill>
                <a:latin typeface="Arial"/>
                <a:cs typeface="Arial"/>
              </a:rPr>
              <a:t> </a:t>
            </a:r>
            <a:r>
              <a:rPr sz="650" spc="60">
                <a:solidFill>
                  <a:srgbClr val="37424A"/>
                </a:solidFill>
                <a:latin typeface="Arial"/>
                <a:cs typeface="Arial"/>
              </a:rPr>
              <a:t>©</a:t>
            </a:r>
            <a:r>
              <a:rPr sz="650" spc="-35">
                <a:solidFill>
                  <a:srgbClr val="37424A"/>
                </a:solidFill>
                <a:latin typeface="Arial"/>
                <a:cs typeface="Arial"/>
              </a:rPr>
              <a:t> </a:t>
            </a:r>
            <a:r>
              <a:rPr sz="650" spc="-40">
                <a:solidFill>
                  <a:srgbClr val="37424A"/>
                </a:solidFill>
                <a:latin typeface="Arial"/>
                <a:cs typeface="Arial"/>
              </a:rPr>
              <a:t>2021</a:t>
            </a:r>
            <a:r>
              <a:rPr sz="650" spc="-30">
                <a:solidFill>
                  <a:srgbClr val="37424A"/>
                </a:solidFill>
                <a:latin typeface="Arial"/>
                <a:cs typeface="Arial"/>
              </a:rPr>
              <a:t> </a:t>
            </a:r>
            <a:r>
              <a:rPr sz="650" spc="-20">
                <a:solidFill>
                  <a:srgbClr val="37424A"/>
                </a:solidFill>
                <a:latin typeface="Arial"/>
                <a:cs typeface="Arial"/>
              </a:rPr>
              <a:t>Deloitte</a:t>
            </a:r>
            <a:r>
              <a:rPr sz="650" spc="-10">
                <a:solidFill>
                  <a:srgbClr val="37424A"/>
                </a:solidFill>
                <a:latin typeface="Arial"/>
                <a:cs typeface="Arial"/>
              </a:rPr>
              <a:t> </a:t>
            </a:r>
            <a:r>
              <a:rPr sz="650" spc="-30">
                <a:solidFill>
                  <a:srgbClr val="37424A"/>
                </a:solidFill>
                <a:latin typeface="Arial"/>
                <a:cs typeface="Arial"/>
              </a:rPr>
              <a:t>Development</a:t>
            </a:r>
            <a:r>
              <a:rPr sz="650" spc="-15">
                <a:solidFill>
                  <a:srgbClr val="37424A"/>
                </a:solidFill>
                <a:latin typeface="Arial"/>
                <a:cs typeface="Arial"/>
              </a:rPr>
              <a:t> </a:t>
            </a:r>
            <a:r>
              <a:rPr sz="650" spc="-80">
                <a:solidFill>
                  <a:srgbClr val="37424A"/>
                </a:solidFill>
                <a:latin typeface="Arial"/>
                <a:cs typeface="Arial"/>
              </a:rPr>
              <a:t>LLC.</a:t>
            </a:r>
            <a:r>
              <a:rPr sz="650" spc="-30">
                <a:solidFill>
                  <a:srgbClr val="37424A"/>
                </a:solidFill>
                <a:latin typeface="Arial"/>
                <a:cs typeface="Arial"/>
              </a:rPr>
              <a:t> </a:t>
            </a:r>
            <a:r>
              <a:rPr sz="650" spc="-25">
                <a:solidFill>
                  <a:srgbClr val="37424A"/>
                </a:solidFill>
                <a:latin typeface="Arial"/>
                <a:cs typeface="Arial"/>
              </a:rPr>
              <a:t>All</a:t>
            </a:r>
            <a:r>
              <a:rPr sz="650" spc="-20">
                <a:solidFill>
                  <a:srgbClr val="37424A"/>
                </a:solidFill>
                <a:latin typeface="Arial"/>
                <a:cs typeface="Arial"/>
              </a:rPr>
              <a:t> </a:t>
            </a:r>
            <a:r>
              <a:rPr sz="650" spc="-25">
                <a:solidFill>
                  <a:srgbClr val="37424A"/>
                </a:solidFill>
                <a:latin typeface="Arial"/>
                <a:cs typeface="Arial"/>
              </a:rPr>
              <a:t>rights</a:t>
            </a:r>
            <a:r>
              <a:rPr sz="650" spc="-35">
                <a:solidFill>
                  <a:srgbClr val="37424A"/>
                </a:solidFill>
                <a:latin typeface="Arial"/>
                <a:cs typeface="Arial"/>
              </a:rPr>
              <a:t> </a:t>
            </a:r>
            <a:r>
              <a:rPr sz="650" spc="-30">
                <a:solidFill>
                  <a:srgbClr val="37424A"/>
                </a:solidFill>
                <a:latin typeface="Arial"/>
                <a:cs typeface="Arial"/>
              </a:rPr>
              <a:t>reserved.</a:t>
            </a:r>
            <a:endParaRPr sz="650">
              <a:solidFill>
                <a:srgbClr val="37424A"/>
              </a:solidFill>
              <a:latin typeface="Arial"/>
              <a:cs typeface="Arial"/>
            </a:endParaRPr>
          </a:p>
        </p:txBody>
      </p:sp>
      <p:sp>
        <p:nvSpPr>
          <p:cNvPr id="252" name="object 159">
            <a:extLst>
              <a:ext uri="{FF2B5EF4-FFF2-40B4-BE49-F238E27FC236}">
                <a16:creationId xmlns:a16="http://schemas.microsoft.com/office/drawing/2014/main" id="{1D660E0E-B8E6-C17E-A7E2-4578666EFA1D}"/>
              </a:ext>
            </a:extLst>
          </p:cNvPr>
          <p:cNvSpPr txBox="1"/>
          <p:nvPr/>
        </p:nvSpPr>
        <p:spPr>
          <a:xfrm>
            <a:off x="11593928" y="6567416"/>
            <a:ext cx="159302" cy="89722"/>
          </a:xfrm>
          <a:prstGeom prst="rect">
            <a:avLst/>
          </a:prstGeom>
        </p:spPr>
        <p:txBody>
          <a:bodyPr vert="horz" wrap="square" lIns="0" tIns="0" rIns="0" bIns="0" rtlCol="0">
            <a:spAutoFit/>
          </a:bodyPr>
          <a:lstStyle/>
          <a:p>
            <a:pPr marL="38078" defTabSz="457063">
              <a:lnSpc>
                <a:spcPts val="715"/>
              </a:lnSpc>
            </a:pPr>
            <a:fld id="{81D60167-4931-47E6-BA6A-407CBD079E47}" type="slidenum">
              <a:rPr sz="650" spc="-35" dirty="0">
                <a:solidFill>
                  <a:srgbClr val="37424A"/>
                </a:solidFill>
                <a:latin typeface="Arial"/>
                <a:cs typeface="Arial"/>
              </a:rPr>
              <a:pPr marL="38078" defTabSz="457063">
                <a:lnSpc>
                  <a:spcPts val="715"/>
                </a:lnSpc>
              </a:pPr>
              <a:t>16</a:t>
            </a:fld>
            <a:endParaRPr sz="650">
              <a:solidFill>
                <a:srgbClr val="37424A"/>
              </a:solidFill>
              <a:latin typeface="Arial"/>
              <a:cs typeface="Arial"/>
            </a:endParaRPr>
          </a:p>
        </p:txBody>
      </p:sp>
      <p:sp>
        <p:nvSpPr>
          <p:cNvPr id="253" name="Rectangle 252">
            <a:extLst>
              <a:ext uri="{FF2B5EF4-FFF2-40B4-BE49-F238E27FC236}">
                <a16:creationId xmlns:a16="http://schemas.microsoft.com/office/drawing/2014/main" id="{5E761B1E-EE82-A1F4-1CD4-971C1037F6D0}"/>
              </a:ext>
            </a:extLst>
          </p:cNvPr>
          <p:cNvSpPr/>
          <p:nvPr/>
        </p:nvSpPr>
        <p:spPr>
          <a:xfrm>
            <a:off x="10117034" y="1917975"/>
            <a:ext cx="310726" cy="738344"/>
          </a:xfrm>
          <a:prstGeom prst="rect">
            <a:avLst/>
          </a:prstGeom>
        </p:spPr>
        <p:txBody>
          <a:bodyPr wrap="none">
            <a:spAutoFit/>
          </a:bodyPr>
          <a:lstStyle/>
          <a:p>
            <a:r>
              <a:rPr lang="en-US" sz="4198" i="1" spc="-7" baseline="-16865">
                <a:solidFill>
                  <a:srgbClr val="37424A"/>
                </a:solidFill>
                <a:latin typeface="Open Sans"/>
                <a:cs typeface="Open Sans"/>
              </a:rPr>
              <a:t>”</a:t>
            </a:r>
            <a:endParaRPr lang="en-US"/>
          </a:p>
        </p:txBody>
      </p:sp>
      <p:sp>
        <p:nvSpPr>
          <p:cNvPr id="254" name="Rectangle 253">
            <a:extLst>
              <a:ext uri="{FF2B5EF4-FFF2-40B4-BE49-F238E27FC236}">
                <a16:creationId xmlns:a16="http://schemas.microsoft.com/office/drawing/2014/main" id="{FB392BCF-A576-08A8-36FB-8FAB7C573FEB}"/>
              </a:ext>
            </a:extLst>
          </p:cNvPr>
          <p:cNvSpPr/>
          <p:nvPr/>
        </p:nvSpPr>
        <p:spPr>
          <a:xfrm>
            <a:off x="9134487" y="1135836"/>
            <a:ext cx="1686872" cy="369332"/>
          </a:xfrm>
          <a:prstGeom prst="rect">
            <a:avLst/>
          </a:prstGeom>
        </p:spPr>
        <p:txBody>
          <a:bodyPr wrap="none">
            <a:spAutoFit/>
          </a:bodyPr>
          <a:lstStyle/>
          <a:p>
            <a:r>
              <a:rPr lang="en-US" b="1" spc="-5">
                <a:solidFill>
                  <a:schemeClr val="tx2"/>
                </a:solidFill>
                <a:latin typeface="Open Sans"/>
                <a:cs typeface="Open Sans"/>
              </a:rPr>
              <a:t>Data</a:t>
            </a:r>
            <a:r>
              <a:rPr lang="en-US" b="1" spc="-10">
                <a:solidFill>
                  <a:schemeClr val="tx2"/>
                </a:solidFill>
                <a:latin typeface="Open Sans"/>
                <a:cs typeface="Open Sans"/>
              </a:rPr>
              <a:t> Product</a:t>
            </a:r>
            <a:endParaRPr lang="en-US">
              <a:solidFill>
                <a:schemeClr val="tx2"/>
              </a:solidFill>
            </a:endParaRPr>
          </a:p>
        </p:txBody>
      </p:sp>
      <p:cxnSp>
        <p:nvCxnSpPr>
          <p:cNvPr id="255" name="Curved Connector 254">
            <a:extLst>
              <a:ext uri="{FF2B5EF4-FFF2-40B4-BE49-F238E27FC236}">
                <a16:creationId xmlns:a16="http://schemas.microsoft.com/office/drawing/2014/main" id="{CA376CB0-F3DD-8380-54CB-FA688560899A}"/>
              </a:ext>
            </a:extLst>
          </p:cNvPr>
          <p:cNvCxnSpPr>
            <a:cxnSpLocks/>
          </p:cNvCxnSpPr>
          <p:nvPr/>
        </p:nvCxnSpPr>
        <p:spPr>
          <a:xfrm rot="10800000">
            <a:off x="4603986" y="3106949"/>
            <a:ext cx="2296688" cy="568815"/>
          </a:xfrm>
          <a:prstGeom prst="curvedConnector3">
            <a:avLst>
              <a:gd name="adj1" fmla="val 46284"/>
            </a:avLst>
          </a:prstGeom>
          <a:ln w="12700" cap="flat" cmpd="sng" algn="ctr">
            <a:solidFill>
              <a:schemeClr val="bg2"/>
            </a:solidFill>
            <a:prstDash val="dash"/>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913271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4AB38-6526-47F8-9405-93BB813AF519}"/>
              </a:ext>
            </a:extLst>
          </p:cNvPr>
          <p:cNvSpPr txBox="1">
            <a:spLocks/>
          </p:cNvSpPr>
          <p:nvPr/>
        </p:nvSpPr>
        <p:spPr>
          <a:xfrm>
            <a:off x="463550" y="2632799"/>
            <a:ext cx="5095421" cy="1592403"/>
          </a:xfrm>
          <a:prstGeom prst="rect">
            <a:avLst/>
          </a:prstGeom>
        </p:spPr>
        <p:txBody>
          <a:bodyPr/>
          <a:lstStyle>
            <a:lvl1pPr algn="l" defTabSz="685800" rtl="0" eaLnBrk="1" latinLnBrk="0" hangingPunct="1">
              <a:spcBef>
                <a:spcPct val="0"/>
              </a:spcBef>
              <a:buNone/>
              <a:defRPr sz="2100" b="1" kern="1200">
                <a:solidFill>
                  <a:schemeClr val="tx1"/>
                </a:solidFill>
                <a:latin typeface="+mn-lt"/>
                <a:ea typeface="+mj-ea"/>
                <a:cs typeface="Calibri Light" panose="020F0302020204030204" pitchFamily="34" charset="0"/>
              </a:defRPr>
            </a:lvl1pPr>
          </a:lstStyle>
          <a:p>
            <a:r>
              <a:rPr lang="en-US" sz="3600">
                <a:solidFill>
                  <a:schemeClr val="bg1"/>
                </a:solidFill>
              </a:rPr>
              <a:t>Thank You</a:t>
            </a:r>
            <a:endParaRPr lang="en-US">
              <a:solidFill>
                <a:schemeClr val="bg1"/>
              </a:solidFill>
            </a:endParaRPr>
          </a:p>
        </p:txBody>
      </p:sp>
    </p:spTree>
    <p:extLst>
      <p:ext uri="{BB962C8B-B14F-4D97-AF65-F5344CB8AC3E}">
        <p14:creationId xmlns:p14="http://schemas.microsoft.com/office/powerpoint/2010/main" val="205654150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zUpnPSzKLUm66gXbapJ.X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D.FayZobC.EwcaOZvxphH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UGrjT19OhoT2Dym0TSk06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8G0lmsulMU7sa1hGtmVkd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9ie5KPV4TrkkVn6akYsn.Q"/>
</p:tagLst>
</file>

<file path=ppt/theme/theme1.xml><?xml version="1.0" encoding="utf-8"?>
<a:theme xmlns:a="http://schemas.openxmlformats.org/drawingml/2006/main" name="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9c8d6d9a-c3e2-44ee-b66a-466593c0fb39">
      <UserInfo>
        <DisplayName>Govindaraju, Shivakumar</DisplayName>
        <AccountId>23</AccountId>
        <AccountType/>
      </UserInfo>
      <UserInfo>
        <DisplayName>Rodriguez, Julie A</DisplayName>
        <AccountId>24</AccountId>
        <AccountType/>
      </UserInfo>
      <UserInfo>
        <DisplayName>Vanderslice, Peter</DisplayName>
        <AccountId>25</AccountId>
        <AccountType/>
      </UserInfo>
      <UserInfo>
        <DisplayName>Sarkar, Abhishek</DisplayName>
        <AccountId>26</AccountId>
        <AccountType/>
      </UserInfo>
      <UserInfo>
        <DisplayName>Sundaram, Prem Sagar</DisplayName>
        <AccountId>22</AccountId>
        <AccountType/>
      </UserInfo>
      <UserInfo>
        <DisplayName>Dandekar, Rupesh</DisplayName>
        <AccountId>18</AccountId>
        <AccountType/>
      </UserInfo>
      <UserInfo>
        <DisplayName>Gorantla, Deepti</DisplayName>
        <AccountId>21</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966EF7420D2ED4FB3F0D257FD1A4E37" ma:contentTypeVersion="5" ma:contentTypeDescription="Create a new document." ma:contentTypeScope="" ma:versionID="12f497ff4a9fb18dc626f52a6f4b4f3d">
  <xsd:schema xmlns:xsd="http://www.w3.org/2001/XMLSchema" xmlns:xs="http://www.w3.org/2001/XMLSchema" xmlns:p="http://schemas.microsoft.com/office/2006/metadata/properties" xmlns:ns2="346983e4-979d-4663-be29-3cdf14ab45f2" xmlns:ns3="9c8d6d9a-c3e2-44ee-b66a-466593c0fb39" targetNamespace="http://schemas.microsoft.com/office/2006/metadata/properties" ma:root="true" ma:fieldsID="b818cd1c7d0f0e5c0dc87c3598357974" ns2:_="" ns3:_="">
    <xsd:import namespace="346983e4-979d-4663-be29-3cdf14ab45f2"/>
    <xsd:import namespace="9c8d6d9a-c3e2-44ee-b66a-466593c0fb3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6983e4-979d-4663-be29-3cdf14ab45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c8d6d9a-c3e2-44ee-b66a-466593c0fb3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59A209-2639-4ACB-B991-ADC9B97FD5EB}">
  <ds:schemaRefs>
    <ds:schemaRef ds:uri="http://purl.org/dc/dcmitype/"/>
    <ds:schemaRef ds:uri="http://schemas.microsoft.com/office/2006/documentManagement/types"/>
    <ds:schemaRef ds:uri="346983e4-979d-4663-be29-3cdf14ab45f2"/>
    <ds:schemaRef ds:uri="http://schemas.microsoft.com/office/2006/metadata/properties"/>
    <ds:schemaRef ds:uri="http://purl.org/dc/terms/"/>
    <ds:schemaRef ds:uri="http://schemas.openxmlformats.org/package/2006/metadata/core-properties"/>
    <ds:schemaRef ds:uri="9c8d6d9a-c3e2-44ee-b66a-466593c0fb39"/>
    <ds:schemaRef ds:uri="http://www.w3.org/XML/1998/namespace"/>
    <ds:schemaRef ds:uri="http://purl.org/dc/elements/1.1/"/>
    <ds:schemaRef ds:uri="http://schemas.microsoft.com/office/infopath/2007/PartnerControls"/>
  </ds:schemaRefs>
</ds:datastoreItem>
</file>

<file path=customXml/itemProps2.xml><?xml version="1.0" encoding="utf-8"?>
<ds:datastoreItem xmlns:ds="http://schemas.openxmlformats.org/officeDocument/2006/customXml" ds:itemID="{9D65D00C-B792-415D-9E64-FF26FA808312}">
  <ds:schemaRefs>
    <ds:schemaRef ds:uri="http://schemas.microsoft.com/sharepoint/v3/contenttype/forms"/>
  </ds:schemaRefs>
</ds:datastoreItem>
</file>

<file path=customXml/itemProps3.xml><?xml version="1.0" encoding="utf-8"?>
<ds:datastoreItem xmlns:ds="http://schemas.openxmlformats.org/officeDocument/2006/customXml" ds:itemID="{ADDC96F0-FB85-42A1-8D2D-8BE399AAF53F}">
  <ds:schemaRefs>
    <ds:schemaRef ds:uri="346983e4-979d-4663-be29-3cdf14ab45f2"/>
    <ds:schemaRef ds:uri="9c8d6d9a-c3e2-44ee-b66a-466593c0fb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
  <TotalTime>272</TotalTime>
  <Words>3489</Words>
  <Application>Microsoft Office PowerPoint</Application>
  <PresentationFormat>Widescreen</PresentationFormat>
  <Paragraphs>460</Paragraphs>
  <Slides>17</Slides>
  <Notes>14</Notes>
  <HiddenSlides>0</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35" baseType="lpstr">
      <vt:lpstr>Arial</vt:lpstr>
      <vt:lpstr>Arial Narrow</vt:lpstr>
      <vt:lpstr>Calibri</vt:lpstr>
      <vt:lpstr>Calibri (Headings)</vt:lpstr>
      <vt:lpstr>Calibri Light</vt:lpstr>
      <vt:lpstr>Chronicle Display Light</vt:lpstr>
      <vt:lpstr>DM Sans</vt:lpstr>
      <vt:lpstr>DM Sans Medium</vt:lpstr>
      <vt:lpstr>Open Sans</vt:lpstr>
      <vt:lpstr>Open Sans Extrabold</vt:lpstr>
      <vt:lpstr>Open Sans Light</vt:lpstr>
      <vt:lpstr>Open Sans Semibold</vt:lpstr>
      <vt:lpstr>Open Sans Semibold</vt:lpstr>
      <vt:lpstr>OpenSans-BoldItalic</vt:lpstr>
      <vt:lpstr>Verdana</vt:lpstr>
      <vt:lpstr>Wingdings 2</vt:lpstr>
      <vt:lpstr>Deloitte Brand Theme</vt:lpstr>
      <vt:lpstr>think-cell Slide</vt:lpstr>
      <vt:lpstr>Data Marketplace  Deloitte PoV</vt:lpstr>
      <vt:lpstr>Data Marketplace - Guiding principles to seamlessly discover, access and utilize data</vt:lpstr>
      <vt:lpstr>Pain points addressed through Data Marketplace for Deloitte clients </vt:lpstr>
      <vt:lpstr>Common capabilities enabled for our clients</vt:lpstr>
      <vt:lpstr>Our understanding &amp; Perspective</vt:lpstr>
      <vt:lpstr>Our Approach to enable your Data Marketplace vision</vt:lpstr>
      <vt:lpstr>Capability Map for a Data Marketplace</vt:lpstr>
      <vt:lpstr>Data Marketplace – Tool Comparison</vt:lpstr>
      <vt:lpstr>PowerPoint Presentation</vt:lpstr>
      <vt:lpstr>High level activities by each release</vt:lpstr>
      <vt:lpstr>Capabilities, deliverables and business outcomes enabled in each release</vt:lpstr>
      <vt:lpstr>Deloitte’s implementation of Data Marketplace at Global Pharmaceutical Company</vt:lpstr>
      <vt:lpstr>Key user experiences enabled</vt:lpstr>
      <vt:lpstr>Data Marketplace – sample screenshots by experience</vt:lpstr>
      <vt:lpstr>Data Marketplace – "LeanIX for Data" and "Catalog of Catalogs" Design</vt:lpstr>
      <vt:lpstr>Our approach to enable a Marketplace to drive Data &amp; Analytics Products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Deloitte PoV</dc:title>
  <dc:creator>Rigaud, Marvin</dc:creator>
  <cp:lastModifiedBy>Dandekar, Rupesh</cp:lastModifiedBy>
  <cp:revision>21</cp:revision>
  <dcterms:created xsi:type="dcterms:W3CDTF">2023-10-06T18:20:43Z</dcterms:created>
  <dcterms:modified xsi:type="dcterms:W3CDTF">2026-04-30T10:40:11Z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2023-10-06T18:20:43Z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bfb3948d-8b6c-45c7-ae4a-789ba714761b</vt:lpwstr>
  </property>
  <property fmtid="{D5CDD505-2E9C-101B-9397-08002B2CF9AE}" pid="8" name="MSIP_Label_ea60d57e-af5b-4752-ac57-3e4f28ca11dc_ContentBits">
    <vt:lpwstr>0</vt:lpwstr>
  </property>
  <property fmtid="{D5CDD505-2E9C-101B-9397-08002B2CF9AE}" pid="9" name="ContentTypeId">
    <vt:lpwstr>0x0101005966EF7420D2ED4FB3F0D257FD1A4E37</vt:lpwstr>
  </property>
</Properties>
</file>